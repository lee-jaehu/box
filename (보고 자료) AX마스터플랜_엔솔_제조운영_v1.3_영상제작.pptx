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8" r:id="rId4"/>
  </p:sldMasterIdLst>
  <p:notesMasterIdLst>
    <p:notesMasterId r:id="rId9"/>
  </p:notesMasterIdLst>
  <p:handoutMasterIdLst>
    <p:handoutMasterId r:id="rId10"/>
  </p:handoutMasterIdLst>
  <p:sldIdLst>
    <p:sldId id="278" r:id="rId5"/>
    <p:sldId id="279" r:id="rId6"/>
    <p:sldId id="262" r:id="rId7"/>
    <p:sldId id="277" r:id="rId8"/>
  </p:sldIdLst>
  <p:sldSz cx="9906000" cy="6858000" type="A4"/>
  <p:notesSz cx="6797675" cy="98726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X 마스터플랜_제조운영" id="{0DBEFC87-91F2-4B81-95B2-10A4688CB4C1}">
          <p14:sldIdLst/>
        </p14:section>
        <p14:section name="Future PR" id="{26B49D7F-26A8-4686-A33B-777F95593624}">
          <p14:sldIdLst/>
        </p14:section>
        <p14:section name="보조" id="{0A0EE523-F65B-4761-AFE3-FD7796206600}">
          <p14:sldIdLst>
            <p14:sldId id="278"/>
            <p14:sldId id="279"/>
            <p14:sldId id="262"/>
            <p14:sldId id="27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976" userDrawn="1">
          <p15:clr>
            <a:srgbClr val="A4A3A4"/>
          </p15:clr>
        </p15:guide>
        <p15:guide id="3" pos="330" userDrawn="1">
          <p15:clr>
            <a:srgbClr val="A4A3A4"/>
          </p15:clr>
        </p15:guide>
        <p15:guide id="4" orient="horz" pos="935" userDrawn="1">
          <p15:clr>
            <a:srgbClr val="A4A3A4"/>
          </p15:clr>
        </p15:guide>
        <p15:guide id="5" orient="horz" pos="1321" userDrawn="1">
          <p15:clr>
            <a:srgbClr val="A4A3A4"/>
          </p15:clr>
        </p15:guide>
        <p15:guide id="11" pos="217" userDrawn="1">
          <p15:clr>
            <a:srgbClr val="A4A3A4"/>
          </p15:clr>
        </p15:guide>
        <p15:guide id="12" pos="6114" userDrawn="1">
          <p15:clr>
            <a:srgbClr val="A4A3A4"/>
          </p15:clr>
        </p15:guide>
        <p15:guide id="13" pos="4322" userDrawn="1">
          <p15:clr>
            <a:srgbClr val="A4A3A4"/>
          </p15:clr>
        </p15:guide>
        <p15:guide id="14" pos="3642" userDrawn="1">
          <p15:clr>
            <a:srgbClr val="A4A3A4"/>
          </p15:clr>
        </p15:guide>
        <p15:guide id="15" pos="3460" userDrawn="1">
          <p15:clr>
            <a:srgbClr val="A4A3A4"/>
          </p15:clr>
        </p15:guide>
        <p15:guide id="16" pos="225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신정철(Jungchul Shin)[shin.jc]/책임/파우치형빅데이터분석팀" initials="신S" lastIdx="1" clrIdx="0">
    <p:extLst>
      <p:ext uri="{19B8F6BF-5375-455C-9EA6-DF929625EA0E}">
        <p15:presenceInfo xmlns:p15="http://schemas.microsoft.com/office/powerpoint/2012/main" userId="S-1-5-21-886851358-1450416589-2733106619-3038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A9D18E"/>
    <a:srgbClr val="F0F0F0"/>
    <a:srgbClr val="D9D9D9"/>
    <a:srgbClr val="F9E6AC"/>
    <a:srgbClr val="C4C8C4"/>
    <a:srgbClr val="C68E99"/>
    <a:srgbClr val="D0CECE"/>
    <a:srgbClr val="404040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830" autoAdjust="0"/>
    <p:restoredTop sz="96279" autoAdjust="0"/>
  </p:normalViewPr>
  <p:slideViewPr>
    <p:cSldViewPr snapToGrid="0">
      <p:cViewPr varScale="1">
        <p:scale>
          <a:sx n="118" d="100"/>
          <a:sy n="118" d="100"/>
        </p:scale>
        <p:origin x="3725" y="86"/>
      </p:cViewPr>
      <p:guideLst>
        <p:guide orient="horz" pos="2976"/>
        <p:guide pos="330"/>
        <p:guide orient="horz" pos="935"/>
        <p:guide orient="horz" pos="1321"/>
        <p:guide pos="217"/>
        <p:guide pos="6114"/>
        <p:guide pos="4322"/>
        <p:guide pos="3642"/>
        <p:guide pos="3460"/>
        <p:guide pos="2258"/>
      </p:guideLst>
    </p:cSldViewPr>
  </p:slideViewPr>
  <p:outlineViewPr>
    <p:cViewPr>
      <p:scale>
        <a:sx n="33" d="100"/>
        <a:sy n="33" d="100"/>
      </p:scale>
      <p:origin x="0" y="-1386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7061" y="108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DD36276-5FDE-4F0A-A8CD-7C0F86AEB0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6D43526-B378-451A-B399-F558F987A35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84A6E3-8121-465D-BD96-77A40E228147}" type="datetimeFigureOut">
              <a:rPr lang="ko-KR" altLang="en-US" smtClean="0"/>
              <a:t>2026-01-27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89ABE0A-2692-4EB4-A275-3CE4F04182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21335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6FB6E3-428F-4D38-9225-BD4315E2E3B6}" type="datetimeFigureOut">
              <a:rPr lang="ko-KR" altLang="en-US" smtClean="0"/>
              <a:t>2026-01-27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1233488"/>
            <a:ext cx="4813300" cy="333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51220"/>
            <a:ext cx="5438140" cy="38873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7318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377318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ED3688-6197-4196-BEE6-9983BB0F1C3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0136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F9CCEEC-10E9-40C9-9C40-455672990A45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28421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F9CCEEC-10E9-40C9-9C40-455672990A45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05484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F9CCEEC-10E9-40C9-9C40-455672990A45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77450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F9CCEEC-10E9-40C9-9C40-455672990A45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2797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1.bin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2">
            <a:extLst>
              <a:ext uri="{FF2B5EF4-FFF2-40B4-BE49-F238E27FC236}">
                <a16:creationId xmlns:a16="http://schemas.microsoft.com/office/drawing/2014/main" id="{E555F44B-BE5E-496F-BDE9-EE6C74DAB245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442044" y="6660775"/>
            <a:ext cx="101501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dist" eaLnBrk="1" fontAlgn="auto" latinLnBrk="0" hangingPunct="1">
              <a:spcBef>
                <a:spcPct val="50000"/>
              </a:spcBef>
              <a:spcAft>
                <a:spcPts val="0"/>
              </a:spcAft>
            </a:pPr>
            <a:r>
              <a:rPr lang="ko-KR" altLang="en-US" sz="800" dirty="0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｜</a:t>
            </a:r>
            <a:r>
              <a:rPr lang="en-US" altLang="ko-KR" sz="800" b="0" dirty="0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CONFIDENTIAL</a:t>
            </a:r>
            <a:r>
              <a:rPr lang="ko-KR" altLang="en-US" sz="800" dirty="0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｜</a:t>
            </a:r>
            <a:endParaRPr lang="en-US" altLang="ko-KR" sz="800" dirty="0">
              <a:solidFill>
                <a:srgbClr val="A50034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9A112186-E944-446F-A20E-D06C1A12254A}"/>
              </a:ext>
            </a:extLst>
          </p:cNvPr>
          <p:cNvGrpSpPr/>
          <p:nvPr userDrawn="1"/>
        </p:nvGrpSpPr>
        <p:grpSpPr>
          <a:xfrm>
            <a:off x="200025" y="188913"/>
            <a:ext cx="9505950" cy="6480175"/>
            <a:chOff x="200025" y="188913"/>
            <a:chExt cx="9505950" cy="6480175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C85F6642-0628-4920-B733-91EFE40BAC6A}"/>
                </a:ext>
              </a:extLst>
            </p:cNvPr>
            <p:cNvGrpSpPr/>
            <p:nvPr/>
          </p:nvGrpSpPr>
          <p:grpSpPr>
            <a:xfrm>
              <a:off x="200025" y="188913"/>
              <a:ext cx="9505950" cy="6480175"/>
              <a:chOff x="200025" y="188913"/>
              <a:chExt cx="9505950" cy="6480175"/>
            </a:xfrm>
          </p:grpSpPr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ACAB1088-C31A-4EA8-B426-4AE4DEEAA327}"/>
                  </a:ext>
                </a:extLst>
              </p:cNvPr>
              <p:cNvSpPr/>
              <p:nvPr/>
            </p:nvSpPr>
            <p:spPr>
              <a:xfrm>
                <a:off x="200025" y="188913"/>
                <a:ext cx="9505950" cy="6480175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9" tIns="45715" rIns="91429" bIns="45715"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kumimoji="0" lang="ko-KR" altLang="en-US" sz="1800" dirty="0">
                  <a:solidFill>
                    <a:prstClr val="white"/>
                  </a:solidFill>
                </a:endParaRPr>
              </a:p>
            </p:txBody>
          </p:sp>
          <p:pic>
            <p:nvPicPr>
              <p:cNvPr id="12" name="Picture 2" descr="C:\ECM\TEMP\부서함\Brand담당\20년 연간업무계획\디지털 그래픽 모티브 개발★\★1st Manual Official Release\Graphic Asset_v1.0\1. Main motif - Solid color\png\Main_motif-LG_red_solid.png">
                <a:extLst>
                  <a:ext uri="{FF2B5EF4-FFF2-40B4-BE49-F238E27FC236}">
                    <a16:creationId xmlns:a16="http://schemas.microsoft.com/office/drawing/2014/main" id="{A89F3B66-EC11-4CF6-A214-A23F443CC50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8574" b="66436"/>
              <a:stretch/>
            </p:blipFill>
            <p:spPr bwMode="auto">
              <a:xfrm>
                <a:off x="200025" y="188913"/>
                <a:ext cx="735289" cy="216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3" name="Picture 2" descr="C:\ECM\TEMP\부서함\Brand담당\20년 연간업무계획\디지털 그래픽 모티브 개발★\★1st Manual Official Release\Graphic Asset_v1.0\1. Main motif - Solid color\png\Main_motif-LG_red_solid.png">
                <a:extLst>
                  <a:ext uri="{FF2B5EF4-FFF2-40B4-BE49-F238E27FC236}">
                    <a16:creationId xmlns:a16="http://schemas.microsoft.com/office/drawing/2014/main" id="{5AED32BB-8327-4C40-AC53-FA87A2DFAEE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7355" t="77614"/>
              <a:stretch/>
            </p:blipFill>
            <p:spPr bwMode="auto">
              <a:xfrm>
                <a:off x="8249308" y="5229088"/>
                <a:ext cx="1456667" cy="144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0" name="Picture 2" descr="C:\ECM\TEMP\부서함\Brand담당\CI 매뉴얼★\★로고파일-자회사名\14년ver\(주)LG\LG_가로조합.png">
              <a:extLst>
                <a:ext uri="{FF2B5EF4-FFF2-40B4-BE49-F238E27FC236}">
                  <a16:creationId xmlns:a16="http://schemas.microsoft.com/office/drawing/2014/main" id="{73F13BAB-F971-41EF-8339-F4376672B0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45866" y="5137700"/>
              <a:ext cx="824060" cy="361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88666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F07BE1-4857-7E64-BE82-920E30952A47}"/>
              </a:ext>
            </a:extLst>
          </p:cNvPr>
          <p:cNvSpPr txBox="1"/>
          <p:nvPr userDrawn="1"/>
        </p:nvSpPr>
        <p:spPr>
          <a:xfrm>
            <a:off x="8897888" y="6581001"/>
            <a:ext cx="10081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9CE5C33-8279-4203-B4FA-92F33E89D200}" type="slidenum">
              <a:rPr lang="ko-KR" altLang="en-US" sz="1100" b="1" smtClean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pPr algn="r"/>
              <a:t>‹#›</a:t>
            </a:fld>
            <a:r>
              <a:rPr lang="ko-KR" altLang="en-US" sz="11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9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/6</a:t>
            </a:r>
            <a:endParaRPr lang="ko-KR" altLang="en-US" sz="900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0403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개체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TCLayout.ActiveDocument.1">
                  <p:embed/>
                </p:oleObj>
              </mc:Choice>
              <mc:Fallback>
                <p:oleObj name="think-cell Slide" r:id="rId4" imgW="0" imgH="0" progId="TCLayout.ActiveDocument.1">
                  <p:embed/>
                  <p:pic>
                    <p:nvPicPr>
                      <p:cNvPr id="7" name="개체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990815696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1157" y="93487"/>
            <a:ext cx="9048391" cy="365125"/>
          </a:xfrm>
        </p:spPr>
        <p:txBody>
          <a:bodyPr>
            <a:noAutofit/>
          </a:bodyPr>
          <a:lstStyle>
            <a:lvl1pPr algn="l">
              <a:defRPr sz="1800" b="1" u="sng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0B9A5-A16A-4CCC-9556-BAE01051EEA3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t>2026-01-27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89DB46CE-9253-4DD7-89BF-80EED264BF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9037" y="628176"/>
            <a:ext cx="8915400" cy="365125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600"/>
              </a:spcBef>
              <a:buNone/>
              <a:defRPr sz="1600" b="1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  <a:lvl2pPr>
              <a:defRPr sz="14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2pPr>
            <a:lvl3pPr>
              <a:defRPr sz="14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3pPr>
            <a:lvl4pPr>
              <a:defRPr sz="14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4pPr>
            <a:lvl5pPr>
              <a:defRPr sz="14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77528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"/>
          <p:cNvSpPr txBox="1">
            <a:spLocks noChangeArrowheads="1"/>
          </p:cNvSpPr>
          <p:nvPr userDrawn="1"/>
        </p:nvSpPr>
        <p:spPr bwMode="gray">
          <a:xfrm>
            <a:off x="4442044" y="6660775"/>
            <a:ext cx="101501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dist" eaLnBrk="1" latinLnBrk="0" hangingPunct="1">
              <a:spcBef>
                <a:spcPct val="50000"/>
              </a:spcBef>
            </a:pPr>
            <a:r>
              <a:rPr lang="ko-KR" altLang="en-US" sz="800" dirty="0">
                <a:solidFill>
                  <a:srgbClr val="A50034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r>
              <a:rPr lang="en-US" altLang="ko-KR" sz="800" b="0" dirty="0">
                <a:solidFill>
                  <a:srgbClr val="A50034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CONFIDENTIAL</a:t>
            </a:r>
            <a:r>
              <a:rPr lang="ko-KR" altLang="en-US" sz="800" dirty="0">
                <a:solidFill>
                  <a:srgbClr val="A50034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endParaRPr lang="en-US" altLang="ko-KR" sz="800" dirty="0">
              <a:solidFill>
                <a:srgbClr val="A50034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200025" y="188913"/>
            <a:ext cx="9505950" cy="6480175"/>
            <a:chOff x="200025" y="188913"/>
            <a:chExt cx="9505950" cy="6480175"/>
          </a:xfrm>
        </p:grpSpPr>
        <p:grpSp>
          <p:nvGrpSpPr>
            <p:cNvPr id="12" name="그룹 11"/>
            <p:cNvGrpSpPr/>
            <p:nvPr/>
          </p:nvGrpSpPr>
          <p:grpSpPr>
            <a:xfrm>
              <a:off x="200025" y="188913"/>
              <a:ext cx="9505950" cy="6480175"/>
              <a:chOff x="200025" y="188913"/>
              <a:chExt cx="9505950" cy="6480175"/>
            </a:xfrm>
          </p:grpSpPr>
          <p:sp>
            <p:nvSpPr>
              <p:cNvPr id="14" name="직사각형 13"/>
              <p:cNvSpPr/>
              <p:nvPr/>
            </p:nvSpPr>
            <p:spPr>
              <a:xfrm>
                <a:off x="200025" y="188913"/>
                <a:ext cx="9505950" cy="6480175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9" tIns="45715" rIns="91429" bIns="45715"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pic>
            <p:nvPicPr>
              <p:cNvPr id="15" name="Picture 2" descr="C:\ECM\TEMP\부서함\Brand담당\20년 연간업무계획\디지털 그래픽 모티브 개발★\★1st Manual Official Release\Graphic Asset_v1.0\1. Main motif - Solid color\png\Main_motif-LG_red_solid.png"/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8574" b="66436"/>
              <a:stretch/>
            </p:blipFill>
            <p:spPr bwMode="auto">
              <a:xfrm>
                <a:off x="200025" y="188913"/>
                <a:ext cx="735289" cy="216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" name="Picture 2" descr="C:\ECM\TEMP\부서함\Brand담당\20년 연간업무계획\디지털 그래픽 모티브 개발★\★1st Manual Official Release\Graphic Asset_v1.0\1. Main motif - Solid color\png\Main_motif-LG_red_solid.png"/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7355" t="77614"/>
              <a:stretch/>
            </p:blipFill>
            <p:spPr bwMode="auto">
              <a:xfrm>
                <a:off x="8249308" y="5229088"/>
                <a:ext cx="1456667" cy="144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3" name="Picture 2" descr="C:\ECM\TEMP\부서함\Brand담당\CI 매뉴얼★\★로고파일-자회사名\14년ver\(주)LG\LG_가로조합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45866" y="5137700"/>
              <a:ext cx="824060" cy="361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430046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F11C1C-56B2-4F96-9AF8-B5D52723AE3D}"/>
              </a:ext>
            </a:extLst>
          </p:cNvPr>
          <p:cNvSpPr txBox="1"/>
          <p:nvPr userDrawn="1"/>
        </p:nvSpPr>
        <p:spPr>
          <a:xfrm>
            <a:off x="8897888" y="6581001"/>
            <a:ext cx="10081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9CE5C33-8279-4203-B4FA-92F33E89D200}" type="slidenum">
              <a:rPr lang="ko-KR" altLang="en-US" sz="1100" b="1" smtClean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pPr algn="r"/>
              <a:t>‹#›</a:t>
            </a:fld>
            <a:r>
              <a:rPr lang="ko-KR" altLang="en-US" sz="11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9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/7</a:t>
            </a:r>
            <a:endParaRPr lang="ko-KR" altLang="en-US" sz="900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50278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157E84-BEC6-4B1A-95B7-8CE6A868884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41258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7" r:id="rId3"/>
    <p:sldLayoutId id="2147483730" r:id="rId4"/>
    <p:sldLayoutId id="2147483721" r:id="rId5"/>
    <p:sldLayoutId id="2147483680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화살표: 오각형 202">
            <a:extLst>
              <a:ext uri="{FF2B5EF4-FFF2-40B4-BE49-F238E27FC236}">
                <a16:creationId xmlns:a16="http://schemas.microsoft.com/office/drawing/2014/main" id="{AAACBFE2-FA69-73C6-1B79-079EF3D0E71E}"/>
              </a:ext>
            </a:extLst>
          </p:cNvPr>
          <p:cNvSpPr/>
          <p:nvPr/>
        </p:nvSpPr>
        <p:spPr>
          <a:xfrm>
            <a:off x="7377100" y="103823"/>
            <a:ext cx="2016000" cy="396000"/>
          </a:xfrm>
          <a:prstGeom prst="homePlate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noFill/>
          </a:ln>
        </p:spPr>
        <p:txBody>
          <a:bodyPr wrap="none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1" i="0" u="sng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64E1DF25-C770-3D6A-C0E3-5A2939D081C8}"/>
              </a:ext>
            </a:extLst>
          </p:cNvPr>
          <p:cNvCxnSpPr>
            <a:cxnSpLocks/>
          </p:cNvCxnSpPr>
          <p:nvPr/>
        </p:nvCxnSpPr>
        <p:spPr>
          <a:xfrm>
            <a:off x="7485100" y="288448"/>
            <a:ext cx="1800000" cy="0"/>
          </a:xfrm>
          <a:prstGeom prst="line">
            <a:avLst/>
          </a:prstGeom>
          <a:ln w="127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396EC7DB-50EC-FCC8-5F63-B991DF98636F}"/>
              </a:ext>
            </a:extLst>
          </p:cNvPr>
          <p:cNvCxnSpPr>
            <a:cxnSpLocks/>
          </p:cNvCxnSpPr>
          <p:nvPr/>
        </p:nvCxnSpPr>
        <p:spPr>
          <a:xfrm>
            <a:off x="7485100" y="247594"/>
            <a:ext cx="0" cy="80403"/>
          </a:xfrm>
          <a:prstGeom prst="line">
            <a:avLst/>
          </a:prstGeom>
          <a:ln w="127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B662860-B29E-97F6-E497-C2F14EBA70F6}"/>
              </a:ext>
            </a:extLst>
          </p:cNvPr>
          <p:cNvCxnSpPr>
            <a:cxnSpLocks/>
          </p:cNvCxnSpPr>
          <p:nvPr/>
        </p:nvCxnSpPr>
        <p:spPr>
          <a:xfrm>
            <a:off x="7742243" y="247594"/>
            <a:ext cx="0" cy="80403"/>
          </a:xfrm>
          <a:prstGeom prst="line">
            <a:avLst/>
          </a:prstGeom>
          <a:ln w="127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20B123CD-0E12-A6EF-C12A-A4C2D7382D8D}"/>
              </a:ext>
            </a:extLst>
          </p:cNvPr>
          <p:cNvCxnSpPr/>
          <p:nvPr/>
        </p:nvCxnSpPr>
        <p:spPr>
          <a:xfrm>
            <a:off x="8256529" y="247594"/>
            <a:ext cx="0" cy="80403"/>
          </a:xfrm>
          <a:prstGeom prst="line">
            <a:avLst/>
          </a:prstGeom>
          <a:ln w="127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B8EE41F5-B21F-71BB-114D-927DB6A0E313}"/>
              </a:ext>
            </a:extLst>
          </p:cNvPr>
          <p:cNvCxnSpPr>
            <a:cxnSpLocks/>
          </p:cNvCxnSpPr>
          <p:nvPr/>
        </p:nvCxnSpPr>
        <p:spPr>
          <a:xfrm>
            <a:off x="9285100" y="247594"/>
            <a:ext cx="0" cy="80403"/>
          </a:xfrm>
          <a:prstGeom prst="line">
            <a:avLst/>
          </a:prstGeom>
          <a:ln w="127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33C97EC8-BAD1-7517-3F5A-09384AEC5C82}"/>
              </a:ext>
            </a:extLst>
          </p:cNvPr>
          <p:cNvCxnSpPr/>
          <p:nvPr/>
        </p:nvCxnSpPr>
        <p:spPr>
          <a:xfrm>
            <a:off x="8770815" y="247594"/>
            <a:ext cx="0" cy="80403"/>
          </a:xfrm>
          <a:prstGeom prst="line">
            <a:avLst/>
          </a:prstGeom>
          <a:ln w="127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8542A575-F0E0-2403-EF40-895469EDD933}"/>
              </a:ext>
            </a:extLst>
          </p:cNvPr>
          <p:cNvCxnSpPr>
            <a:cxnSpLocks/>
          </p:cNvCxnSpPr>
          <p:nvPr/>
        </p:nvCxnSpPr>
        <p:spPr>
          <a:xfrm>
            <a:off x="9027958" y="247594"/>
            <a:ext cx="0" cy="80403"/>
          </a:xfrm>
          <a:prstGeom prst="line">
            <a:avLst/>
          </a:prstGeom>
          <a:ln w="127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30">
            <a:extLst>
              <a:ext uri="{FF2B5EF4-FFF2-40B4-BE49-F238E27FC236}">
                <a16:creationId xmlns:a16="http://schemas.microsoft.com/office/drawing/2014/main" id="{91A88A39-F7D5-4326-8776-D341E3006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58" y="93487"/>
            <a:ext cx="2699476" cy="365125"/>
          </a:xfrm>
        </p:spPr>
        <p:txBody>
          <a:bodyPr/>
          <a:lstStyle/>
          <a:p>
            <a:r>
              <a:rPr lang="ko-KR" altLang="en-US" sz="1800" dirty="0"/>
              <a:t>보조</a:t>
            </a:r>
            <a:r>
              <a:rPr lang="en-US" altLang="ko-KR" sz="1800" dirty="0"/>
              <a:t>. </a:t>
            </a:r>
            <a:r>
              <a:rPr lang="ko-KR" altLang="en-US" dirty="0"/>
              <a:t>설비 가동 및 이상조치</a:t>
            </a:r>
            <a:endParaRPr lang="ko-KR" altLang="en-US" sz="18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2" name="텍스트 개체 틀 31">
            <a:extLst>
              <a:ext uri="{FF2B5EF4-FFF2-40B4-BE49-F238E27FC236}">
                <a16:creationId xmlns:a16="http://schemas.microsoft.com/office/drawing/2014/main" id="{D3EC65D4-53E7-40AC-B969-810FA76B40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4746" y="513156"/>
            <a:ext cx="9298018" cy="365125"/>
          </a:xfrm>
        </p:spPr>
        <p:txBody>
          <a:bodyPr vert="horz" lIns="91440" tIns="45720" rIns="91440" bIns="45720" rtlCol="0">
            <a:noAutofit/>
          </a:bodyPr>
          <a:lstStyle/>
          <a:p>
            <a:pPr fontAlgn="base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tabLst>
                <a:tab pos="809625" algn="l"/>
              </a:tabLst>
            </a:pPr>
            <a:r>
              <a:rPr kumimoji="1" lang="en-US" altLang="ko-KR" dirty="0">
                <a:solidFill>
                  <a:prstClr val="black"/>
                </a:solidFill>
                <a:ea typeface="LG스마트체 Regular"/>
                <a:cs typeface="Arial" panose="020B0604020202020204" pitchFamily="34" charset="0"/>
              </a:rPr>
              <a:t>AI </a:t>
            </a:r>
            <a:r>
              <a:rPr kumimoji="1" lang="ko-KR" altLang="en-US" dirty="0">
                <a:solidFill>
                  <a:prstClr val="black"/>
                </a:solidFill>
                <a:ea typeface="LG스마트체 Regular"/>
                <a:cs typeface="Arial" panose="020B0604020202020204" pitchFamily="34" charset="0"/>
              </a:rPr>
              <a:t>기반 복합 정보 모니터링 및 지능형 이상 감지</a:t>
            </a:r>
            <a:r>
              <a:rPr kumimoji="1" lang="en-US" altLang="ko-KR" dirty="0">
                <a:solidFill>
                  <a:prstClr val="black"/>
                </a:solidFill>
                <a:ea typeface="LG스마트체 Regular"/>
                <a:cs typeface="Arial" panose="020B0604020202020204" pitchFamily="34" charset="0"/>
              </a:rPr>
              <a:t>/</a:t>
            </a:r>
            <a:r>
              <a:rPr kumimoji="1" lang="ko-KR" altLang="en-US" dirty="0">
                <a:solidFill>
                  <a:prstClr val="black"/>
                </a:solidFill>
                <a:ea typeface="LG스마트체 Regular"/>
                <a:cs typeface="Arial" panose="020B0604020202020204" pitchFamily="34" charset="0"/>
              </a:rPr>
              <a:t>조치로 업무 </a:t>
            </a:r>
            <a:r>
              <a:rPr kumimoji="1" lang="en-US" altLang="ko-KR" dirty="0">
                <a:solidFill>
                  <a:prstClr val="black"/>
                </a:solidFill>
                <a:ea typeface="LG스마트체 Regular"/>
                <a:cs typeface="Arial" panose="020B0604020202020204" pitchFamily="34" charset="0"/>
              </a:rPr>
              <a:t>80% </a:t>
            </a:r>
            <a:r>
              <a:rPr kumimoji="1" lang="ko-KR" altLang="en-US" dirty="0">
                <a:solidFill>
                  <a:prstClr val="black"/>
                </a:solidFill>
                <a:ea typeface="LG스마트체 Regular"/>
                <a:cs typeface="Arial" panose="020B0604020202020204" pitchFamily="34" charset="0"/>
              </a:rPr>
              <a:t>절감 및 설비 가동률과 품질을 개선하고자 함</a:t>
            </a:r>
            <a:endParaRPr kumimoji="1" lang="en-US" altLang="ko-KR" dirty="0">
              <a:solidFill>
                <a:prstClr val="black"/>
              </a:solidFill>
              <a:ea typeface="LG스마트체 Regular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584451F-5AF0-4099-B3A1-8C1961C7481E}"/>
              </a:ext>
            </a:extLst>
          </p:cNvPr>
          <p:cNvSpPr txBox="1"/>
          <p:nvPr/>
        </p:nvSpPr>
        <p:spPr>
          <a:xfrm>
            <a:off x="5529541" y="2740772"/>
            <a:ext cx="4406202" cy="979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2pPr marL="182563" marR="0" lvl="1" indent="-182563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m"/>
              <a:tabLst/>
              <a:defRPr kumimoji="0" sz="13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2pPr>
          </a:lstStyle>
          <a:p>
            <a:pPr lvl="1"/>
            <a:r>
              <a:rPr lang="ko-KR" altLang="en-US" dirty="0"/>
              <a:t>추진 배경 및 </a:t>
            </a:r>
            <a:r>
              <a:rPr lang="en-US" altLang="ko-KR" dirty="0"/>
              <a:t>Pain Point</a:t>
            </a:r>
            <a:br>
              <a:rPr lang="en-US" altLang="ko-KR" dirty="0"/>
            </a:br>
            <a:r>
              <a:rPr lang="en-US" altLang="ko-KR" sz="1200" b="0" dirty="0"/>
              <a:t>- </a:t>
            </a:r>
            <a:r>
              <a:rPr lang="ko-KR" altLang="en-US" sz="1200" b="0" dirty="0"/>
              <a:t>설비 안정성 편차와</a:t>
            </a:r>
            <a:r>
              <a:rPr lang="en-US" altLang="ko-KR" sz="1200" b="0" dirty="0"/>
              <a:t> </a:t>
            </a:r>
            <a:r>
              <a:rPr lang="ko-KR" altLang="en-US" sz="1200" b="0" dirty="0"/>
              <a:t>공정 변동이 커서 조치해야 할 알람이 많고</a:t>
            </a:r>
            <a:r>
              <a:rPr lang="en-US" altLang="ko-KR" sz="1200" b="0" dirty="0"/>
              <a:t>,</a:t>
            </a:r>
            <a:br>
              <a:rPr lang="en-US" altLang="ko-KR" sz="1200" b="0" dirty="0"/>
            </a:br>
            <a:r>
              <a:rPr lang="en-US" altLang="ko-KR" sz="1200" b="0" dirty="0"/>
              <a:t>  </a:t>
            </a:r>
            <a:r>
              <a:rPr lang="ko-KR" altLang="en-US" sz="1200" b="0" dirty="0"/>
              <a:t>조치를 위해 확인해야 할  데이터가 많음</a:t>
            </a:r>
            <a:br>
              <a:rPr lang="en-US" altLang="ko-KR" sz="1200" b="0" dirty="0"/>
            </a:br>
            <a:r>
              <a:rPr lang="en-US" altLang="ko-KR" sz="1200" b="0" dirty="0"/>
              <a:t>- </a:t>
            </a:r>
            <a:r>
              <a:rPr lang="ko-KR" altLang="en-US" sz="1200" b="0" dirty="0"/>
              <a:t>실제 중요한 이상 징후를 놓치거나 대응이 지연되는 경우 발생</a:t>
            </a:r>
            <a:endParaRPr lang="en-US" altLang="ko-KR" b="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D4F9D8E-ED77-A75F-8ED0-7CDD68D351F0}"/>
              </a:ext>
            </a:extLst>
          </p:cNvPr>
          <p:cNvSpPr txBox="1"/>
          <p:nvPr/>
        </p:nvSpPr>
        <p:spPr>
          <a:xfrm>
            <a:off x="5529541" y="4939339"/>
            <a:ext cx="4257105" cy="1132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marR="0" lvl="1" indent="-182563" algn="l" defTabSz="4572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m"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기대 효과 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정성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정량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</a:p>
          <a:p>
            <a:pPr marL="268288" marR="0" lvl="2" indent="-92075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실시간 점검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이상감지 업무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80%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절감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268288" marR="0" lvl="2" indent="-92075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생산 이력 관리 업무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50%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절감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</a:p>
          <a:p>
            <a:pPr marL="268288" marR="0" lvl="2" indent="-92075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Global Site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수율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331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억원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년 개선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8C8D52-5DBF-32E3-8B37-69893AB5EB99}"/>
              </a:ext>
            </a:extLst>
          </p:cNvPr>
          <p:cNvSpPr txBox="1"/>
          <p:nvPr/>
        </p:nvSpPr>
        <p:spPr>
          <a:xfrm>
            <a:off x="5529541" y="1645304"/>
            <a:ext cx="4213013" cy="97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marR="0" lvl="1" indent="-182563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m"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업무 정의</a:t>
            </a:r>
            <a:b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 </a:t>
            </a: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생산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제조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현황을 각종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Data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를 활용하여 모니터링하고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이상상황을 판단하여 감지 후 조치 대응 및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생산 실적 마감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생산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설비 이력 및 시스템 알람 처리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8" name="실행 단추: 홈으로 이동 37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5B082C21-A57E-48ED-3CDC-90AC5E348C16}"/>
              </a:ext>
            </a:extLst>
          </p:cNvPr>
          <p:cNvSpPr/>
          <p:nvPr/>
        </p:nvSpPr>
        <p:spPr>
          <a:xfrm>
            <a:off x="9464696" y="179831"/>
            <a:ext cx="253492" cy="253492"/>
          </a:xfrm>
          <a:prstGeom prst="actionButtonHom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74F05C7-D033-D401-66CF-4F78A141FABA}"/>
              </a:ext>
            </a:extLst>
          </p:cNvPr>
          <p:cNvSpPr/>
          <p:nvPr/>
        </p:nvSpPr>
        <p:spPr>
          <a:xfrm>
            <a:off x="7446523" y="118460"/>
            <a:ext cx="80150" cy="116377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L0</a:t>
            </a:r>
            <a:endParaRPr kumimoji="0" lang="ko-KR" altLang="en-US" sz="800" b="0" i="0" u="none" strike="noStrike" kern="1200" cap="none" spc="-5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218" name="그룹 217">
            <a:extLst>
              <a:ext uri="{FF2B5EF4-FFF2-40B4-BE49-F238E27FC236}">
                <a16:creationId xmlns:a16="http://schemas.microsoft.com/office/drawing/2014/main" id="{620C2668-52DA-3DFA-17EA-8ADA32CB977C}"/>
              </a:ext>
            </a:extLst>
          </p:cNvPr>
          <p:cNvGrpSpPr/>
          <p:nvPr/>
        </p:nvGrpSpPr>
        <p:grpSpPr>
          <a:xfrm>
            <a:off x="8091589" y="237331"/>
            <a:ext cx="201864" cy="291903"/>
            <a:chOff x="8091589" y="237331"/>
            <a:chExt cx="201864" cy="291903"/>
          </a:xfrm>
        </p:grpSpPr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29CBA325-CC1C-582A-DDB6-9251800364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45801" y="237331"/>
              <a:ext cx="93441" cy="9025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9B6FBE93-3DB5-F62B-F99A-A88FD765BBD6}"/>
                </a:ext>
              </a:extLst>
            </p:cNvPr>
            <p:cNvSpPr/>
            <p:nvPr/>
          </p:nvSpPr>
          <p:spPr>
            <a:xfrm>
              <a:off x="8091589" y="313786"/>
              <a:ext cx="201864" cy="215448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5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’25</a:t>
              </a:r>
              <a:endParaRPr kumimoji="0" lang="ko-KR" altLang="en-US" sz="8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grpSp>
        <p:nvGrpSpPr>
          <p:cNvPr id="221" name="그룹 220">
            <a:extLst>
              <a:ext uri="{FF2B5EF4-FFF2-40B4-BE49-F238E27FC236}">
                <a16:creationId xmlns:a16="http://schemas.microsoft.com/office/drawing/2014/main" id="{D202F1B9-5551-62B7-C4D7-56773302200A}"/>
              </a:ext>
            </a:extLst>
          </p:cNvPr>
          <p:cNvGrpSpPr/>
          <p:nvPr/>
        </p:nvGrpSpPr>
        <p:grpSpPr>
          <a:xfrm>
            <a:off x="8922752" y="233530"/>
            <a:ext cx="201864" cy="295704"/>
            <a:chOff x="8910052" y="233530"/>
            <a:chExt cx="201864" cy="295704"/>
          </a:xfrm>
        </p:grpSpPr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169EBF81-F0E8-2646-3643-6A0BDA206AA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64264" y="233530"/>
              <a:ext cx="93441" cy="90257"/>
            </a:xfrm>
            <a:prstGeom prst="ellipse">
              <a:avLst/>
            </a:prstGeom>
            <a:solidFill>
              <a:srgbClr val="006600"/>
            </a:solidFill>
            <a:ln w="12700"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2D8ABC24-5C7A-E261-2C90-6AB625C26651}"/>
                </a:ext>
              </a:extLst>
            </p:cNvPr>
            <p:cNvSpPr/>
            <p:nvPr/>
          </p:nvSpPr>
          <p:spPr>
            <a:xfrm>
              <a:off x="8910052" y="313786"/>
              <a:ext cx="201864" cy="215448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5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’30</a:t>
              </a:r>
              <a:endParaRPr kumimoji="0" lang="ko-KR" altLang="en-US" sz="8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grpSp>
        <p:nvGrpSpPr>
          <p:cNvPr id="219" name="그룹 218">
            <a:extLst>
              <a:ext uri="{FF2B5EF4-FFF2-40B4-BE49-F238E27FC236}">
                <a16:creationId xmlns:a16="http://schemas.microsoft.com/office/drawing/2014/main" id="{33C5D80D-F378-BA20-A0AC-77F724E38DB7}"/>
              </a:ext>
            </a:extLst>
          </p:cNvPr>
          <p:cNvGrpSpPr/>
          <p:nvPr/>
        </p:nvGrpSpPr>
        <p:grpSpPr>
          <a:xfrm>
            <a:off x="8217925" y="229642"/>
            <a:ext cx="339167" cy="299592"/>
            <a:chOff x="8224275" y="229642"/>
            <a:chExt cx="339167" cy="299592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7E9F4CC5-9234-07D5-6A41-4FED7923D048}"/>
                </a:ext>
              </a:extLst>
            </p:cNvPr>
            <p:cNvSpPr/>
            <p:nvPr/>
          </p:nvSpPr>
          <p:spPr>
            <a:xfrm>
              <a:off x="8224275" y="313786"/>
              <a:ext cx="339167" cy="215448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spc="-5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경쟁사</a:t>
              </a:r>
            </a:p>
          </p:txBody>
        </p:sp>
        <p:sp>
          <p:nvSpPr>
            <p:cNvPr id="180" name="이등변 삼각형 179">
              <a:extLst>
                <a:ext uri="{FF2B5EF4-FFF2-40B4-BE49-F238E27FC236}">
                  <a16:creationId xmlns:a16="http://schemas.microsoft.com/office/drawing/2014/main" id="{B0253B48-67F9-C8BD-45B7-7414E0C32CA5}"/>
                </a:ext>
              </a:extLst>
            </p:cNvPr>
            <p:cNvSpPr/>
            <p:nvPr/>
          </p:nvSpPr>
          <p:spPr>
            <a:xfrm>
              <a:off x="8330649" y="229642"/>
              <a:ext cx="126418" cy="108982"/>
            </a:xfrm>
            <a:prstGeom prst="triangle">
              <a:avLst/>
            </a:prstGeom>
            <a:solidFill>
              <a:schemeClr val="bg1"/>
            </a:solidFill>
            <a:ln w="12700"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sp>
        <p:nvSpPr>
          <p:cNvPr id="202" name="직사각형 201">
            <a:extLst>
              <a:ext uri="{FF2B5EF4-FFF2-40B4-BE49-F238E27FC236}">
                <a16:creationId xmlns:a16="http://schemas.microsoft.com/office/drawing/2014/main" id="{97B49F0D-8A0A-B910-E171-A08F4F2CCA03}"/>
              </a:ext>
            </a:extLst>
          </p:cNvPr>
          <p:cNvSpPr/>
          <p:nvPr/>
        </p:nvSpPr>
        <p:spPr>
          <a:xfrm>
            <a:off x="9243050" y="122006"/>
            <a:ext cx="80150" cy="116377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L7</a:t>
            </a:r>
            <a:endParaRPr kumimoji="0" lang="ko-KR" altLang="en-US" sz="800" b="0" i="0" u="none" strike="noStrike" kern="1200" cap="none" spc="-5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0D003B52-E413-FB00-41A0-8D5F3C277E17}"/>
              </a:ext>
            </a:extLst>
          </p:cNvPr>
          <p:cNvSpPr/>
          <p:nvPr/>
        </p:nvSpPr>
        <p:spPr>
          <a:xfrm>
            <a:off x="419341" y="2683639"/>
            <a:ext cx="1188000" cy="18000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17967" tIns="45628" rIns="17967" bIns="45628" anchor="ctr"/>
          <a:lstStyle/>
          <a:p>
            <a:pPr marL="0" marR="0" lvl="0" indent="0" algn="ctr" defTabSz="91324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이상감지</a:t>
            </a:r>
            <a:endParaRPr kumimoji="1" lang="en-US" altLang="ko-KR" sz="1000" b="0" i="0" u="none" strike="noStrike" kern="0" cap="none" spc="-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FF69D6D-EDA2-A556-658F-7D67D4811557}"/>
              </a:ext>
            </a:extLst>
          </p:cNvPr>
          <p:cNvSpPr/>
          <p:nvPr/>
        </p:nvSpPr>
        <p:spPr>
          <a:xfrm>
            <a:off x="527341" y="2929795"/>
            <a:ext cx="1080000" cy="216000"/>
          </a:xfrm>
          <a:prstGeom prst="rect">
            <a:avLst/>
          </a:prstGeom>
          <a:solidFill>
            <a:schemeClr val="bg1"/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0" tIns="0" rIns="0" bIns="0" anchor="ctr"/>
          <a:lstStyle/>
          <a:p>
            <a:pPr marL="0" marR="0" lvl="0" indent="0" algn="ctr" defTabSz="91324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설비 알람</a:t>
            </a:r>
            <a:endParaRPr kumimoji="1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E0353013-882F-2EEC-D789-580F4BF64C85}"/>
              </a:ext>
            </a:extLst>
          </p:cNvPr>
          <p:cNvSpPr/>
          <p:nvPr/>
        </p:nvSpPr>
        <p:spPr>
          <a:xfrm>
            <a:off x="527341" y="3211951"/>
            <a:ext cx="1080000" cy="216000"/>
          </a:xfrm>
          <a:prstGeom prst="rect">
            <a:avLst/>
          </a:prstGeom>
          <a:solidFill>
            <a:schemeClr val="bg1"/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0" tIns="0" rIns="0" bIns="0" anchor="ctr"/>
          <a:lstStyle/>
          <a:p>
            <a:pPr marL="0" marR="0" lvl="0" indent="0" algn="ctr" defTabSz="913246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시스템 알람</a:t>
            </a:r>
            <a:endParaRPr kumimoji="1" lang="en-US" altLang="ko-KR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marR="0" lvl="0" indent="0" algn="ctr" defTabSz="913246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(SPC</a:t>
            </a:r>
            <a:r>
              <a:rPr kumimoji="0" lang="en-US" altLang="ko-KR" sz="8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1)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/RMS</a:t>
            </a:r>
            <a:r>
              <a:rPr kumimoji="0" lang="en-US" altLang="ko-KR" sz="8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2)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/FDC</a:t>
            </a:r>
            <a:r>
              <a:rPr kumimoji="0" lang="en-US" altLang="ko-KR" sz="8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3)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/APC</a:t>
            </a:r>
            <a:r>
              <a:rPr lang="en-US" altLang="ko-KR" sz="800" kern="0" baseline="30000" dirty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4)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  <a:endParaRPr kumimoji="1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6E9A998D-08C3-9C1B-4945-684F64DE1455}"/>
              </a:ext>
            </a:extLst>
          </p:cNvPr>
          <p:cNvSpPr/>
          <p:nvPr/>
        </p:nvSpPr>
        <p:spPr>
          <a:xfrm>
            <a:off x="527341" y="3494107"/>
            <a:ext cx="1080000" cy="216000"/>
          </a:xfrm>
          <a:prstGeom prst="rect">
            <a:avLst/>
          </a:prstGeom>
          <a:solidFill>
            <a:schemeClr val="bg1"/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0" tIns="0" rIns="0" bIns="0" anchor="ctr"/>
          <a:lstStyle/>
          <a:p>
            <a:pPr marL="0" marR="0" lvl="0" indent="0" algn="ctr" defTabSz="913246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*</a:t>
            </a:r>
            <a:r>
              <a:rPr kumimoji="1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자동 영상 감지</a:t>
            </a:r>
            <a:endParaRPr kumimoji="1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DF554611-F10C-D57F-198C-39750CA2F889}"/>
              </a:ext>
            </a:extLst>
          </p:cNvPr>
          <p:cNvSpPr/>
          <p:nvPr/>
        </p:nvSpPr>
        <p:spPr>
          <a:xfrm>
            <a:off x="527341" y="3776263"/>
            <a:ext cx="1080000" cy="216000"/>
          </a:xfrm>
          <a:prstGeom prst="rect">
            <a:avLst/>
          </a:prstGeom>
          <a:solidFill>
            <a:schemeClr val="bg1"/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0" tIns="0" rIns="0" bIns="0" anchor="ctr"/>
          <a:lstStyle/>
          <a:p>
            <a:pPr marL="0" marR="0" lvl="0" indent="0" algn="ctr" defTabSz="913246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품질검사 결과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marR="0" lvl="0" indent="0" algn="ctr" defTabSz="913246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품질</a:t>
            </a:r>
            <a:r>
              <a:rPr kumimoji="1" lang="en-US" altLang="ko-K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/CS</a:t>
            </a:r>
            <a:r>
              <a:rPr kumimoji="1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부서 피드백</a:t>
            </a:r>
            <a:endParaRPr kumimoji="1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525608CC-CF63-EC3B-1B14-ED47E6DF1D22}"/>
              </a:ext>
            </a:extLst>
          </p:cNvPr>
          <p:cNvSpPr/>
          <p:nvPr/>
        </p:nvSpPr>
        <p:spPr>
          <a:xfrm>
            <a:off x="416055" y="1654159"/>
            <a:ext cx="1188000" cy="18000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17967" tIns="45628" rIns="17967" bIns="45628" anchor="ctr"/>
          <a:lstStyle/>
          <a:p>
            <a:pPr marL="0" marR="0" lvl="0" indent="0" algn="ctr" defTabSz="91324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실시간 점검</a:t>
            </a:r>
            <a:endParaRPr kumimoji="1" lang="en-US" altLang="ko-KR" sz="1000" b="0" i="0" u="none" strike="noStrike" kern="0" cap="none" spc="-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4F972694-075E-2F49-16B7-1DF7CEFB4855}"/>
              </a:ext>
            </a:extLst>
          </p:cNvPr>
          <p:cNvSpPr/>
          <p:nvPr/>
        </p:nvSpPr>
        <p:spPr>
          <a:xfrm>
            <a:off x="524055" y="1900315"/>
            <a:ext cx="1080000" cy="216000"/>
          </a:xfrm>
          <a:prstGeom prst="rect">
            <a:avLst/>
          </a:prstGeom>
          <a:solidFill>
            <a:schemeClr val="bg1"/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0" tIns="0" rIns="0" bIns="0" anchor="ctr"/>
          <a:lstStyle/>
          <a:p>
            <a:pPr marL="0" marR="0" lvl="0" indent="0" algn="ctr" defTabSz="91324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생산 계획 대비 실적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실시간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  <a:endParaRPr kumimoji="1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DC00F16E-98B3-5225-12B6-63BF72A6F7FC}"/>
              </a:ext>
            </a:extLst>
          </p:cNvPr>
          <p:cNvSpPr/>
          <p:nvPr/>
        </p:nvSpPr>
        <p:spPr>
          <a:xfrm>
            <a:off x="524055" y="2182471"/>
            <a:ext cx="1080000" cy="216000"/>
          </a:xfrm>
          <a:prstGeom prst="rect">
            <a:avLst/>
          </a:prstGeom>
          <a:solidFill>
            <a:schemeClr val="bg1"/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0" tIns="0" rIns="0" bIns="0" anchor="ctr"/>
          <a:lstStyle/>
          <a:p>
            <a:pPr marL="0" marR="0" lvl="0" indent="0" algn="ctr" defTabSz="913246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생산 관련 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Data 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경향성</a:t>
            </a:r>
            <a:endParaRPr kumimoji="1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CD2156ED-7271-89CE-AAE5-66F1E15F3553}"/>
              </a:ext>
            </a:extLst>
          </p:cNvPr>
          <p:cNvSpPr/>
          <p:nvPr/>
        </p:nvSpPr>
        <p:spPr>
          <a:xfrm>
            <a:off x="416055" y="4339294"/>
            <a:ext cx="1188000" cy="18000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17967" tIns="45628" rIns="17967" bIns="45628" anchor="ctr"/>
          <a:lstStyle/>
          <a:p>
            <a:pPr marL="0" marR="0" lvl="0" indent="0" algn="ctr" defTabSz="91324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0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생산이력 관리</a:t>
            </a:r>
            <a:endParaRPr kumimoji="1" lang="en-US" altLang="ko-KR" sz="1000" b="0" i="0" u="none" strike="noStrike" kern="0" cap="none" spc="-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47BD30F8-F027-D91C-E065-FAB6E9BA6C19}"/>
              </a:ext>
            </a:extLst>
          </p:cNvPr>
          <p:cNvSpPr/>
          <p:nvPr/>
        </p:nvSpPr>
        <p:spPr>
          <a:xfrm>
            <a:off x="524055" y="4585450"/>
            <a:ext cx="1080000" cy="216000"/>
          </a:xfrm>
          <a:prstGeom prst="rect">
            <a:avLst/>
          </a:prstGeom>
          <a:solidFill>
            <a:schemeClr val="bg1"/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0" tIns="0" rIns="0" bIns="0" anchor="ctr"/>
          <a:lstStyle/>
          <a:p>
            <a:pPr marL="0" marR="0" lvl="0" indent="0" algn="ctr" defTabSz="91324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생산실적 확정</a:t>
            </a:r>
            <a:b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불량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/Loss 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수량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  <a:endParaRPr kumimoji="1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BF62E526-29DA-6770-6138-69789A22CB64}"/>
              </a:ext>
            </a:extLst>
          </p:cNvPr>
          <p:cNvSpPr/>
          <p:nvPr/>
        </p:nvSpPr>
        <p:spPr>
          <a:xfrm>
            <a:off x="524055" y="4867606"/>
            <a:ext cx="1080000" cy="216000"/>
          </a:xfrm>
          <a:prstGeom prst="rect">
            <a:avLst/>
          </a:prstGeom>
          <a:solidFill>
            <a:schemeClr val="bg1"/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0" tIns="0" rIns="0" bIns="0" anchor="ctr"/>
          <a:lstStyle/>
          <a:p>
            <a:pPr marL="0" marR="0" lvl="0" indent="0" algn="ctr" defTabSz="91324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설비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Loss 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및 이력 입력</a:t>
            </a:r>
            <a:endParaRPr kumimoji="1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FA98E8A4-20C0-BB1B-F90B-4C1D3E411494}"/>
              </a:ext>
            </a:extLst>
          </p:cNvPr>
          <p:cNvSpPr/>
          <p:nvPr/>
        </p:nvSpPr>
        <p:spPr>
          <a:xfrm>
            <a:off x="524055" y="5149762"/>
            <a:ext cx="1080000" cy="216000"/>
          </a:xfrm>
          <a:prstGeom prst="rect">
            <a:avLst/>
          </a:prstGeom>
          <a:solidFill>
            <a:schemeClr val="bg1"/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0" tIns="0" rIns="0" bIns="0" anchor="ctr"/>
          <a:lstStyle/>
          <a:p>
            <a:pPr marL="0" marR="0" lvl="0" indent="0" algn="ctr" defTabSz="91324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시스템 알람 완료 처리</a:t>
            </a:r>
            <a:endParaRPr kumimoji="1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5CA3333B-284A-470A-F03C-C1E9EA27E012}"/>
              </a:ext>
            </a:extLst>
          </p:cNvPr>
          <p:cNvSpPr/>
          <p:nvPr/>
        </p:nvSpPr>
        <p:spPr>
          <a:xfrm>
            <a:off x="524055" y="5431920"/>
            <a:ext cx="1080000" cy="216000"/>
          </a:xfrm>
          <a:prstGeom prst="rect">
            <a:avLst/>
          </a:prstGeom>
          <a:solidFill>
            <a:schemeClr val="bg1"/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0" tIns="0" rIns="0" bIns="0" anchor="ctr"/>
          <a:lstStyle/>
          <a:p>
            <a:pPr marL="0" marR="0" lvl="0" indent="0" algn="ctr" defTabSz="91324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설비</a:t>
            </a: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 PM </a:t>
            </a:r>
            <a:r>
              <a:rPr kumimoji="1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실적</a:t>
            </a: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(EMS</a:t>
            </a:r>
            <a:r>
              <a:rPr kumimoji="1" lang="en-US" altLang="ko-KR" sz="8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5)</a:t>
            </a: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  <a:r>
              <a:rPr kumimoji="1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 관리</a:t>
            </a: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3188EE7A-40CD-E997-F546-A289B3692BAD}"/>
              </a:ext>
            </a:extLst>
          </p:cNvPr>
          <p:cNvSpPr/>
          <p:nvPr/>
        </p:nvSpPr>
        <p:spPr>
          <a:xfrm>
            <a:off x="3009096" y="2683639"/>
            <a:ext cx="2935350" cy="1272134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87313" marR="0" lvl="0" indent="-87313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IVS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신규 개소 발굴 통한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검출력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강화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- IVS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감지알고리즘 개발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Agent</a:t>
            </a:r>
          </a:p>
          <a:p>
            <a:pPr marL="87313" marR="0" lvl="0" indent="-87313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이상감지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CBM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영역 확대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(BM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의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PM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化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)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및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FDC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사전 예측 검증 정확도 개선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설비 예지보전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Agent</a:t>
            </a:r>
          </a:p>
          <a:p>
            <a:pPr marL="87313" marR="0" lvl="0" indent="-87313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FDC Data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연동한 자동보정 고도화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자동보정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Agent</a:t>
            </a: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DF2FF01D-7136-FD92-F547-9097A609428B}"/>
              </a:ext>
            </a:extLst>
          </p:cNvPr>
          <p:cNvSpPr/>
          <p:nvPr/>
        </p:nvSpPr>
        <p:spPr>
          <a:xfrm>
            <a:off x="3009096" y="4339294"/>
            <a:ext cx="2302890" cy="710442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87313" marR="0" lvl="0" indent="-87313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시스템에서 발생 하는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Data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를 통합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/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분석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하여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Data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기반 생산량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/Loss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정보 입력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자동화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</a:t>
            </a:r>
            <a:b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-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생산량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/Loss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정보 입력 자동화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Agent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C79D701-7864-FF3F-7552-4A5338E5F000}"/>
              </a:ext>
            </a:extLst>
          </p:cNvPr>
          <p:cNvSpPr txBox="1"/>
          <p:nvPr/>
        </p:nvSpPr>
        <p:spPr>
          <a:xfrm>
            <a:off x="1164519" y="1289317"/>
            <a:ext cx="1399743" cy="271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 Arial Narrow" panose="020B0600000101010101"/>
                <a:ea typeface="LG스마트체 Regular" panose="020B0600000101010101" pitchFamily="50" charset="-127"/>
                <a:cs typeface="+mn-cs"/>
              </a:rPr>
              <a:t>As-Is / Pain-Point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 Arial Narrow" panose="020B0600000101010101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E436B902-129C-EC11-41B3-EFA464AB0C4F}"/>
              </a:ext>
            </a:extLst>
          </p:cNvPr>
          <p:cNvSpPr txBox="1"/>
          <p:nvPr/>
        </p:nvSpPr>
        <p:spPr>
          <a:xfrm>
            <a:off x="6905711" y="1207691"/>
            <a:ext cx="1765227" cy="3579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 Arial Narrow" panose="020B0600000101010101"/>
                <a:ea typeface="LG스마트체 Regular" panose="020B0600000101010101" pitchFamily="50" charset="-127"/>
                <a:cs typeface="+mn-cs"/>
              </a:rPr>
              <a:t>추진 배경 및 기대 효과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 Arial Narrow" panose="020B0600000101010101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113C72E2-EB92-D759-C0B1-DBF5D507B101}"/>
              </a:ext>
            </a:extLst>
          </p:cNvPr>
          <p:cNvSpPr txBox="1"/>
          <p:nvPr/>
        </p:nvSpPr>
        <p:spPr>
          <a:xfrm>
            <a:off x="3448605" y="1289317"/>
            <a:ext cx="1344087" cy="271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 Arial Narrow" panose="020B0600000101010101"/>
                <a:ea typeface="LG스마트체 Regular" panose="020B0600000101010101" pitchFamily="50" charset="-127"/>
                <a:cs typeface="+mn-cs"/>
              </a:rPr>
              <a:t>To-Be / </a:t>
            </a:r>
            <a:r>
              <a:rPr kumimoji="0" lang="ko-KR" altLang="en-US" sz="1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 Arial Narrow" panose="020B0600000101010101"/>
                <a:ea typeface="LG스마트체 Regular" panose="020B0600000101010101" pitchFamily="50" charset="-127"/>
                <a:cs typeface="+mn-cs"/>
              </a:rPr>
              <a:t>해결방안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 Arial Narrow" panose="020B0600000101010101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244A2A5A-CBE9-80C9-8A9D-29279D8CA4F3}"/>
              </a:ext>
            </a:extLst>
          </p:cNvPr>
          <p:cNvSpPr/>
          <p:nvPr/>
        </p:nvSpPr>
        <p:spPr>
          <a:xfrm>
            <a:off x="1679313" y="2683639"/>
            <a:ext cx="1403532" cy="1411531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92075" marR="0" lvl="0" indent="-9207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이상감지 통보 알람 등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</a:b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많은 정보에 따라 전체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</a:b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대응 불가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</a:br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Noto Sans KR" pitchFamily="34" charset="-120"/>
            </a:endParaRPr>
          </a:p>
          <a:p>
            <a:pPr marL="92075" marR="0" lvl="0" indent="-9207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복합적인 분석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/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판단보다는 적정 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관리선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 이탈을 인지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</a:b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하는 방식의 단순 이상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</a:b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감지 구조가 대다수임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Noto Sans KR" pitchFamily="34" charset="-120"/>
            </a:endParaRPr>
          </a:p>
          <a:p>
            <a:pPr marL="92075" marR="0" lvl="0" indent="-9207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Noto Sans KR" pitchFamily="34" charset="-120"/>
            </a:endParaRPr>
          </a:p>
          <a:p>
            <a:pPr marL="92075" marR="0" lvl="0" indent="-9207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설비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/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시스템 각 알람 기준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정보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체계 이해 필요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Noto Sans KR" pitchFamily="34" charset="-120"/>
            </a:endParaRP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962506A9-4960-2FC5-1E3E-D83CB7B1A1C9}"/>
              </a:ext>
            </a:extLst>
          </p:cNvPr>
          <p:cNvSpPr/>
          <p:nvPr/>
        </p:nvSpPr>
        <p:spPr>
          <a:xfrm>
            <a:off x="1679314" y="4339294"/>
            <a:ext cx="1403532" cy="1134532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88900" marR="0" lvl="0" indent="-88900" algn="l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작업자가 생산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/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불량 수량 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</a:b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등을 점검하고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,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설비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Loss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를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System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에 등록하고 있음</a:t>
            </a:r>
          </a:p>
          <a:p>
            <a:pPr marL="88900" marR="0" lvl="0" indent="-88900" algn="l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Noto Sans KR" pitchFamily="34" charset="-120"/>
            </a:endParaRPr>
          </a:p>
          <a:p>
            <a:pPr marL="88900" marR="0" lvl="0" indent="-88900" algn="l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실제 현상과 일치 하지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</a:b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않는 정보 등록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</a:br>
            <a:endParaRPr kumimoji="0" lang="ko-KR" altLang="en-US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Noto Sans KR" pitchFamily="34" charset="-120"/>
            </a:endParaRPr>
          </a:p>
          <a:p>
            <a:pPr marL="88900" marR="0" lvl="0" indent="-88900" algn="l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개인별 작성 편차로 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</a:b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인해 정보화  활용 불가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2E2CE06C-2D28-5968-C213-690CE8B7B7D0}"/>
              </a:ext>
            </a:extLst>
          </p:cNvPr>
          <p:cNvSpPr/>
          <p:nvPr/>
        </p:nvSpPr>
        <p:spPr>
          <a:xfrm>
            <a:off x="1679313" y="1628149"/>
            <a:ext cx="1403532" cy="949866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92075" marR="0" lvl="0" indent="-9207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동시에 다수 설비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/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항목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</a:b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실시간 점검 어려움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Noto Sans KR" pitchFamily="34" charset="-120"/>
            </a:endParaRPr>
          </a:p>
          <a:p>
            <a:pPr marL="92075" marR="0" lvl="0" indent="-9207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Noto Sans KR" pitchFamily="34" charset="-120"/>
            </a:endParaRPr>
          </a:p>
          <a:p>
            <a:pPr marL="92075" marR="0" lvl="0" indent="-9207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사람 경험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/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역량에 따라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활용 차이 발생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(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시스템별 개별 학습 및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이해도 필요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)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3A026E0C-899D-1C2A-4AA1-F858108B1C58}"/>
              </a:ext>
            </a:extLst>
          </p:cNvPr>
          <p:cNvSpPr txBox="1"/>
          <p:nvPr/>
        </p:nvSpPr>
        <p:spPr>
          <a:xfrm>
            <a:off x="1702315" y="1628149"/>
            <a:ext cx="72000" cy="900000"/>
          </a:xfrm>
          <a:prstGeom prst="roundRect">
            <a:avLst>
              <a:gd name="adj" fmla="val 7352"/>
            </a:avLst>
          </a:prstGeom>
          <a:solidFill>
            <a:schemeClr val="accent5">
              <a:lumMod val="40000"/>
              <a:lumOff val="60000"/>
              <a:alpha val="50196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000" b="1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41984260-1BA7-1AE9-9728-1C78769CBFB3}"/>
              </a:ext>
            </a:extLst>
          </p:cNvPr>
          <p:cNvSpPr txBox="1"/>
          <p:nvPr/>
        </p:nvSpPr>
        <p:spPr>
          <a:xfrm>
            <a:off x="1702315" y="2683639"/>
            <a:ext cx="72000" cy="1332000"/>
          </a:xfrm>
          <a:prstGeom prst="roundRect">
            <a:avLst>
              <a:gd name="adj" fmla="val 7352"/>
            </a:avLst>
          </a:prstGeom>
          <a:solidFill>
            <a:schemeClr val="accent5">
              <a:lumMod val="40000"/>
              <a:lumOff val="60000"/>
              <a:alpha val="50196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000" b="1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5B0C0EE1-CAF6-A70E-DD49-9B1B577B322C}"/>
              </a:ext>
            </a:extLst>
          </p:cNvPr>
          <p:cNvSpPr txBox="1"/>
          <p:nvPr/>
        </p:nvSpPr>
        <p:spPr>
          <a:xfrm>
            <a:off x="1702315" y="4339294"/>
            <a:ext cx="72000" cy="1296000"/>
          </a:xfrm>
          <a:prstGeom prst="roundRect">
            <a:avLst>
              <a:gd name="adj" fmla="val 7352"/>
            </a:avLst>
          </a:prstGeom>
          <a:solidFill>
            <a:schemeClr val="accent5">
              <a:lumMod val="40000"/>
              <a:lumOff val="60000"/>
              <a:alpha val="50196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000" b="1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8831BCEF-EB33-74AD-B0E7-A0B28D1A542D}"/>
              </a:ext>
            </a:extLst>
          </p:cNvPr>
          <p:cNvSpPr txBox="1"/>
          <p:nvPr/>
        </p:nvSpPr>
        <p:spPr>
          <a:xfrm>
            <a:off x="7511680" y="4840817"/>
            <a:ext cx="202266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000" b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1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일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12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시간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(720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분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)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현장직군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기준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190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분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→ 48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분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72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분 →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30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분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8D6371B0-72A7-96E2-3830-543C82FC32FC}"/>
              </a:ext>
            </a:extLst>
          </p:cNvPr>
          <p:cNvSpPr/>
          <p:nvPr/>
        </p:nvSpPr>
        <p:spPr>
          <a:xfrm>
            <a:off x="3009096" y="1628149"/>
            <a:ext cx="2807064" cy="710442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87313" marR="0" lvl="0" indent="-87313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모니터링 정보를 종합 분석하여 유효한 알람을 필터링하고 실제 조치가 필요한 알람을 선별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,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생산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Data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경향성 자동 분석을 포함하여 통보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-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복합 정보 모니터링 및 연계성 분석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Agent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64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B1D09E-D00C-F922-F81A-151A33D7B1C4}"/>
              </a:ext>
            </a:extLst>
          </p:cNvPr>
          <p:cNvSpPr txBox="1"/>
          <p:nvPr/>
        </p:nvSpPr>
        <p:spPr>
          <a:xfrm>
            <a:off x="355515" y="1458559"/>
            <a:ext cx="792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000" b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Tech/Operator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7D522A-10C0-8800-3710-4F26B4228FC9}"/>
              </a:ext>
            </a:extLst>
          </p:cNvPr>
          <p:cNvSpPr txBox="1"/>
          <p:nvPr/>
        </p:nvSpPr>
        <p:spPr>
          <a:xfrm>
            <a:off x="5529541" y="3840023"/>
            <a:ext cx="4257105" cy="979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2pPr marL="182563" marR="0" lvl="1" indent="-182563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m"/>
              <a:tabLst/>
              <a:defRPr kumimoji="0" sz="13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2pPr>
          </a:lstStyle>
          <a:p>
            <a:pPr lvl="1"/>
            <a:r>
              <a:rPr lang="ko-KR" altLang="en-US" dirty="0"/>
              <a:t>추진 방향</a:t>
            </a:r>
            <a:br>
              <a:rPr lang="en-US" altLang="ko-KR" dirty="0"/>
            </a:br>
            <a:r>
              <a:rPr lang="en-US" altLang="ko-KR" sz="1200" b="0" dirty="0"/>
              <a:t>- </a:t>
            </a:r>
            <a:r>
              <a:rPr lang="ko-KR" altLang="en-US" sz="1200" b="0" dirty="0"/>
              <a:t>실시간 점검</a:t>
            </a:r>
            <a:r>
              <a:rPr lang="en-US" altLang="ko-KR" sz="1200" b="0" dirty="0"/>
              <a:t>, </a:t>
            </a:r>
            <a:r>
              <a:rPr lang="ko-KR" altLang="en-US" sz="1200" b="0" dirty="0"/>
              <a:t>이상감지</a:t>
            </a:r>
            <a:r>
              <a:rPr lang="en-US" altLang="ko-KR" sz="1200" b="0" dirty="0"/>
              <a:t>, </a:t>
            </a:r>
            <a:r>
              <a:rPr lang="ko-KR" altLang="en-US" sz="1200" b="0" dirty="0"/>
              <a:t>예지보전</a:t>
            </a:r>
            <a:r>
              <a:rPr lang="en-US" altLang="ko-KR" sz="1200" b="0" dirty="0"/>
              <a:t>, </a:t>
            </a:r>
            <a:r>
              <a:rPr lang="ko-KR" altLang="en-US" sz="1200" b="0" dirty="0"/>
              <a:t>자동보정</a:t>
            </a:r>
            <a:r>
              <a:rPr lang="en-US" altLang="ko-KR" sz="1200" b="0" dirty="0"/>
              <a:t>, </a:t>
            </a:r>
            <a:r>
              <a:rPr lang="ko-KR" altLang="en-US" sz="1200" b="0" dirty="0"/>
              <a:t>생산량</a:t>
            </a:r>
            <a:r>
              <a:rPr lang="en-US" altLang="ko-KR" sz="1200" b="0" dirty="0"/>
              <a:t>/Loss </a:t>
            </a:r>
            <a:r>
              <a:rPr lang="ko-KR" altLang="en-US" sz="1200" b="0" dirty="0"/>
              <a:t>정보</a:t>
            </a:r>
            <a:br>
              <a:rPr lang="en-US" altLang="ko-KR" sz="1200" b="0" dirty="0"/>
            </a:br>
            <a:r>
              <a:rPr lang="en-US" altLang="ko-KR" sz="1200" b="0" dirty="0"/>
              <a:t>  </a:t>
            </a:r>
            <a:r>
              <a:rPr lang="ko-KR" altLang="en-US" sz="1200" b="0" dirty="0"/>
              <a:t>입력은 </a:t>
            </a:r>
            <a:r>
              <a:rPr lang="en-US" altLang="ko-KR" sz="1200" b="0" dirty="0"/>
              <a:t>AI Agent</a:t>
            </a:r>
            <a:r>
              <a:rPr lang="ko-KR" altLang="en-US" sz="1200" b="0" dirty="0"/>
              <a:t>가 담당하고</a:t>
            </a:r>
            <a:r>
              <a:rPr lang="en-US" altLang="ko-KR" sz="1200" b="0" dirty="0"/>
              <a:t>, </a:t>
            </a:r>
            <a:r>
              <a:rPr lang="ko-KR" altLang="en-US" sz="1200" b="0" dirty="0"/>
              <a:t>사람은 결과에 대한 비교</a:t>
            </a:r>
            <a:r>
              <a:rPr lang="en-US" altLang="ko-KR" sz="1200" b="0" dirty="0"/>
              <a:t>/</a:t>
            </a:r>
            <a:r>
              <a:rPr lang="ko-KR" altLang="en-US" sz="1200" b="0" dirty="0"/>
              <a:t>검증을</a:t>
            </a:r>
            <a:br>
              <a:rPr lang="en-US" altLang="ko-KR" sz="1200" b="0" dirty="0"/>
            </a:br>
            <a:r>
              <a:rPr lang="en-US" altLang="ko-KR" sz="1200" b="0" dirty="0"/>
              <a:t>  </a:t>
            </a:r>
            <a:r>
              <a:rPr lang="ko-KR" altLang="en-US" sz="1200" b="0" dirty="0"/>
              <a:t>통해 알람에 대한 최적 조치를 수행 함</a:t>
            </a:r>
            <a:endParaRPr lang="en-US" altLang="ko-KR" sz="1200" b="0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A3425C2C-BF1E-C643-8DCE-6415C61DD0B4}"/>
              </a:ext>
            </a:extLst>
          </p:cNvPr>
          <p:cNvGrpSpPr/>
          <p:nvPr/>
        </p:nvGrpSpPr>
        <p:grpSpPr>
          <a:xfrm>
            <a:off x="91623" y="6574492"/>
            <a:ext cx="8241865" cy="230832"/>
            <a:chOff x="91623" y="6574492"/>
            <a:chExt cx="8241865" cy="23083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4C9E6FA-6823-8ED7-57C9-EA7552F0504A}"/>
                </a:ext>
              </a:extLst>
            </p:cNvPr>
            <p:cNvSpPr txBox="1"/>
            <p:nvPr/>
          </p:nvSpPr>
          <p:spPr>
            <a:xfrm>
              <a:off x="91623" y="6574492"/>
              <a:ext cx="824186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1) Statistical Process Control system  2) Recipe Management System  3) Fault Detection &amp; Classification system  4) Autonomous Process Control system  5) Equipment Management System  </a:t>
              </a:r>
              <a:endPara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F6A0CBB0-DFE1-1073-B6FA-4BCE96633501}"/>
                </a:ext>
              </a:extLst>
            </p:cNvPr>
            <p:cNvCxnSpPr>
              <a:cxnSpLocks/>
            </p:cNvCxnSpPr>
            <p:nvPr/>
          </p:nvCxnSpPr>
          <p:spPr>
            <a:xfrm>
              <a:off x="183278" y="6600052"/>
              <a:ext cx="8150210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D019C90-C378-96D9-31BC-146656B757FF}"/>
              </a:ext>
            </a:extLst>
          </p:cNvPr>
          <p:cNvSpPr txBox="1"/>
          <p:nvPr/>
        </p:nvSpPr>
        <p:spPr>
          <a:xfrm>
            <a:off x="6520982" y="103823"/>
            <a:ext cx="646406" cy="230832"/>
          </a:xfrm>
          <a:prstGeom prst="rect">
            <a:avLst/>
          </a:prstGeom>
          <a:noFill/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R="0" lvl="0" indent="0" fontAlgn="base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900" b="1" i="0" u="sng" strike="noStrike" kern="0" cap="none" spc="0" normalizeH="0" baseline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/>
                <a:cs typeface="Arial" charset="0"/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1" i="0" u="none" strike="noStrike" kern="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/>
                <a:cs typeface="Arial" charset="0"/>
                <a:sym typeface="Wingdings"/>
              </a:rPr>
              <a:t>AX</a:t>
            </a:r>
            <a:r>
              <a:rPr kumimoji="1" lang="ko-KR" altLang="en-US" sz="900" b="1" i="0" u="none" strike="noStrike" kern="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/>
                <a:cs typeface="Arial" charset="0"/>
                <a:sym typeface="Wingdings"/>
              </a:rPr>
              <a:t> 성숙 단계</a:t>
            </a:r>
            <a:endParaRPr kumimoji="1" lang="en-US" altLang="ko-KR" sz="900" b="1" i="0" u="none" strike="noStrike" kern="0" cap="none" spc="0" normalizeH="0" baseline="0" noProof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/>
              <a:cs typeface="Arial" charset="0"/>
              <a:sym typeface="Wingdings"/>
            </a:endParaRPr>
          </a:p>
        </p:txBody>
      </p:sp>
      <p:sp>
        <p:nvSpPr>
          <p:cNvPr id="6" name="실행 단추: 앞으로 또는 다음으로 이동 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B99F0CDF-9009-C125-0F5C-B4401FE8AAA5}"/>
              </a:ext>
            </a:extLst>
          </p:cNvPr>
          <p:cNvSpPr/>
          <p:nvPr/>
        </p:nvSpPr>
        <p:spPr>
          <a:xfrm>
            <a:off x="7165453" y="147239"/>
            <a:ext cx="144000" cy="144000"/>
          </a:xfrm>
          <a:prstGeom prst="actionButtonForwardNex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DDE1A4A-6811-E1A0-A82A-193E08280109}"/>
              </a:ext>
            </a:extLst>
          </p:cNvPr>
          <p:cNvCxnSpPr>
            <a:cxnSpLocks/>
          </p:cNvCxnSpPr>
          <p:nvPr/>
        </p:nvCxnSpPr>
        <p:spPr>
          <a:xfrm>
            <a:off x="7999386" y="247594"/>
            <a:ext cx="0" cy="80403"/>
          </a:xfrm>
          <a:prstGeom prst="line">
            <a:avLst/>
          </a:prstGeom>
          <a:ln w="127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B0E2FC5-6E08-399E-F45F-6DD1D3F0872F}"/>
              </a:ext>
            </a:extLst>
          </p:cNvPr>
          <p:cNvCxnSpPr>
            <a:cxnSpLocks/>
          </p:cNvCxnSpPr>
          <p:nvPr/>
        </p:nvCxnSpPr>
        <p:spPr>
          <a:xfrm>
            <a:off x="8513672" y="247594"/>
            <a:ext cx="0" cy="80403"/>
          </a:xfrm>
          <a:prstGeom prst="line">
            <a:avLst/>
          </a:prstGeom>
          <a:ln w="127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6662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제목 30">
            <a:extLst>
              <a:ext uri="{FF2B5EF4-FFF2-40B4-BE49-F238E27FC236}">
                <a16:creationId xmlns:a16="http://schemas.microsoft.com/office/drawing/2014/main" id="{91A88A39-F7D5-4326-8776-D341E3006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58" y="93487"/>
            <a:ext cx="2699476" cy="365125"/>
          </a:xfrm>
        </p:spPr>
        <p:txBody>
          <a:bodyPr/>
          <a:lstStyle/>
          <a:p>
            <a:r>
              <a:rPr lang="ko-KR" altLang="en-US" sz="1800" dirty="0"/>
              <a:t>보조</a:t>
            </a:r>
            <a:r>
              <a:rPr lang="en-US" altLang="ko-KR" sz="1800" dirty="0"/>
              <a:t>. </a:t>
            </a:r>
            <a:r>
              <a:rPr lang="ko-KR" altLang="en-US" dirty="0"/>
              <a:t>공정</a:t>
            </a:r>
            <a:r>
              <a:rPr lang="en-US" altLang="ko-KR" dirty="0"/>
              <a:t>/</a:t>
            </a:r>
            <a:r>
              <a:rPr lang="ko-KR" altLang="en-US" dirty="0"/>
              <a:t>품질 관리</a:t>
            </a:r>
            <a:endParaRPr lang="ko-KR" altLang="en-US" sz="18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2" name="텍스트 개체 틀 31">
            <a:extLst>
              <a:ext uri="{FF2B5EF4-FFF2-40B4-BE49-F238E27FC236}">
                <a16:creationId xmlns:a16="http://schemas.microsoft.com/office/drawing/2014/main" id="{D3EC65D4-53E7-40AC-B969-810FA76B40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4746" y="513156"/>
            <a:ext cx="9298018" cy="365125"/>
          </a:xfrm>
        </p:spPr>
        <p:txBody>
          <a:bodyPr vert="horz" lIns="91440" tIns="45720" rIns="91440" bIns="45720" rtlCol="0">
            <a:noAutofit/>
          </a:bodyPr>
          <a:lstStyle/>
          <a:p>
            <a:pPr fontAlgn="base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tabLst>
                <a:tab pos="809625" algn="l"/>
              </a:tabLst>
            </a:pPr>
            <a:r>
              <a:rPr kumimoji="1" lang="en-US" altLang="ko-KR" dirty="0">
                <a:solidFill>
                  <a:prstClr val="black"/>
                </a:solidFill>
                <a:ea typeface="LG스마트체 Regular"/>
                <a:cs typeface="Arial" panose="020B0604020202020204" pitchFamily="34" charset="0"/>
              </a:rPr>
              <a:t>AI </a:t>
            </a:r>
            <a:r>
              <a:rPr kumimoji="1" lang="ko-KR" altLang="en-US" dirty="0">
                <a:solidFill>
                  <a:prstClr val="black"/>
                </a:solidFill>
                <a:ea typeface="LG스마트체 Regular"/>
                <a:cs typeface="Arial" panose="020B0604020202020204" pitchFamily="34" charset="0"/>
              </a:rPr>
              <a:t>기반 데이터 수집</a:t>
            </a:r>
            <a:r>
              <a:rPr kumimoji="1" lang="en-US" altLang="ko-KR" dirty="0">
                <a:solidFill>
                  <a:prstClr val="black"/>
                </a:solidFill>
                <a:ea typeface="LG스마트체 Regular"/>
                <a:cs typeface="Arial" panose="020B0604020202020204" pitchFamily="34" charset="0"/>
              </a:rPr>
              <a:t>/</a:t>
            </a:r>
            <a:r>
              <a:rPr kumimoji="1" lang="ko-KR" altLang="en-US" dirty="0">
                <a:solidFill>
                  <a:prstClr val="black"/>
                </a:solidFill>
                <a:ea typeface="LG스마트체 Regular"/>
                <a:cs typeface="Arial" panose="020B0604020202020204" pitchFamily="34" charset="0"/>
              </a:rPr>
              <a:t>분석으로 </a:t>
            </a:r>
            <a:r>
              <a:rPr kumimoji="1" lang="en-US" altLang="ko-KR" dirty="0">
                <a:solidFill>
                  <a:prstClr val="black"/>
                </a:solidFill>
                <a:ea typeface="LG스마트체 Regular"/>
                <a:cs typeface="Arial" panose="020B0604020202020204" pitchFamily="34" charset="0"/>
              </a:rPr>
              <a:t>90% </a:t>
            </a:r>
            <a:r>
              <a:rPr kumimoji="1" lang="ko-KR" altLang="en-US" dirty="0">
                <a:solidFill>
                  <a:prstClr val="black"/>
                </a:solidFill>
                <a:ea typeface="LG스마트체 Regular"/>
                <a:cs typeface="Arial" panose="020B0604020202020204" pitchFamily="34" charset="0"/>
              </a:rPr>
              <a:t>자동화</a:t>
            </a:r>
            <a:r>
              <a:rPr kumimoji="1" lang="en-US" altLang="ko-KR" dirty="0">
                <a:solidFill>
                  <a:prstClr val="black"/>
                </a:solidFill>
                <a:ea typeface="LG스마트체 Regular"/>
                <a:cs typeface="Arial" panose="020B0604020202020204" pitchFamily="34" charset="0"/>
              </a:rPr>
              <a:t> </a:t>
            </a:r>
            <a:r>
              <a:rPr kumimoji="1" lang="ko-KR" altLang="en-US" dirty="0">
                <a:solidFill>
                  <a:prstClr val="black"/>
                </a:solidFill>
                <a:ea typeface="LG스마트체 Regular"/>
                <a:cs typeface="Arial" panose="020B0604020202020204" pitchFamily="34" charset="0"/>
              </a:rPr>
              <a:t>및</a:t>
            </a:r>
            <a:r>
              <a:rPr kumimoji="1" lang="en-US" altLang="ko-KR" dirty="0">
                <a:solidFill>
                  <a:prstClr val="black"/>
                </a:solidFill>
                <a:ea typeface="LG스마트체 Regular"/>
                <a:cs typeface="Arial" panose="020B0604020202020204" pitchFamily="34" charset="0"/>
              </a:rPr>
              <a:t> </a:t>
            </a:r>
            <a:r>
              <a:rPr kumimoji="1" lang="ko-KR" altLang="en-US" dirty="0">
                <a:solidFill>
                  <a:prstClr val="black"/>
                </a:solidFill>
                <a:ea typeface="LG스마트체 Regular"/>
                <a:cs typeface="Arial" panose="020B0604020202020204" pitchFamily="34" charset="0"/>
              </a:rPr>
              <a:t>사무 업무 </a:t>
            </a:r>
            <a:r>
              <a:rPr kumimoji="1" lang="en-US" altLang="ko-KR" dirty="0">
                <a:solidFill>
                  <a:prstClr val="black"/>
                </a:solidFill>
                <a:ea typeface="LG스마트체 Regular"/>
                <a:cs typeface="Arial" panose="020B0604020202020204" pitchFamily="34" charset="0"/>
              </a:rPr>
              <a:t>50% </a:t>
            </a:r>
            <a:r>
              <a:rPr kumimoji="1" lang="ko-KR" altLang="en-US" dirty="0">
                <a:solidFill>
                  <a:prstClr val="black"/>
                </a:solidFill>
                <a:ea typeface="LG스마트체 Regular"/>
                <a:cs typeface="Arial" panose="020B0604020202020204" pitchFamily="34" charset="0"/>
              </a:rPr>
              <a:t>절감하고</a:t>
            </a:r>
            <a:r>
              <a:rPr kumimoji="1" lang="en-US" altLang="ko-KR" dirty="0">
                <a:solidFill>
                  <a:prstClr val="black"/>
                </a:solidFill>
                <a:ea typeface="LG스마트체 Regular"/>
                <a:cs typeface="Arial" panose="020B0604020202020204" pitchFamily="34" charset="0"/>
              </a:rPr>
              <a:t>, 24</a:t>
            </a:r>
            <a:r>
              <a:rPr kumimoji="1" lang="ko-KR" altLang="en-US" dirty="0">
                <a:solidFill>
                  <a:prstClr val="black"/>
                </a:solidFill>
                <a:ea typeface="LG스마트체 Regular"/>
                <a:cs typeface="Arial" panose="020B0604020202020204" pitchFamily="34" charset="0"/>
              </a:rPr>
              <a:t>시간 연속 분석 체계를 구축하고자 함</a:t>
            </a:r>
            <a:endParaRPr kumimoji="1" lang="en-US" altLang="ko-KR" dirty="0">
              <a:solidFill>
                <a:prstClr val="black"/>
              </a:solidFill>
              <a:ea typeface="LG스마트체 Regular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584451F-5AF0-4099-B3A1-8C1961C7481E}"/>
              </a:ext>
            </a:extLst>
          </p:cNvPr>
          <p:cNvSpPr txBox="1"/>
          <p:nvPr/>
        </p:nvSpPr>
        <p:spPr>
          <a:xfrm>
            <a:off x="5529541" y="2657448"/>
            <a:ext cx="4406202" cy="1201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lvl="1" indent="-182563">
              <a:lnSpc>
                <a:spcPct val="120000"/>
              </a:lnSpc>
              <a:buFont typeface="Wingdings" panose="05000000000000000000" pitchFamily="2" charset="2"/>
              <a:buChar char="m"/>
              <a:defRPr/>
            </a:pPr>
            <a:r>
              <a:rPr lang="ko-KR" altLang="en-US" sz="13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추진 배경 및 </a:t>
            </a:r>
            <a:r>
              <a:rPr lang="en-US" altLang="ko-KR" sz="13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Pain Point</a:t>
            </a:r>
            <a:br>
              <a:rPr lang="en-US" altLang="ko-KR" sz="13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 </a:t>
            </a: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방대한 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Data</a:t>
            </a: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와 관련 정보에서 주요 인자를 특정하기 어려움</a:t>
            </a:r>
            <a:b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 </a:t>
            </a: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공정 이상 발생 시 원인 분석 및 개선안 도출 과정이 수작업</a:t>
            </a:r>
            <a:b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위주로 진행되어 많은 시간이 소요되며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엔지니어의 개인 </a:t>
            </a:r>
            <a:b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 </a:t>
            </a: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역량에 따라 분석 결과의 품질 편차가 존재함</a:t>
            </a:r>
            <a:endParaRPr lang="en-US" altLang="ko-KR" sz="12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D4F9D8E-ED77-A75F-8ED0-7CDD68D351F0}"/>
              </a:ext>
            </a:extLst>
          </p:cNvPr>
          <p:cNvSpPr txBox="1"/>
          <p:nvPr/>
        </p:nvSpPr>
        <p:spPr>
          <a:xfrm>
            <a:off x="5529541" y="4937581"/>
            <a:ext cx="4257105" cy="1682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marR="0" lvl="1" indent="-182563" algn="l" defTabSz="4572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m"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기대 효과 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정성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정량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</a:p>
          <a:p>
            <a:pPr marL="268288" marR="0" lvl="2" indent="-92075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분석 업무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90%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자동화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268288" marR="0" lvl="2" indent="-92075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사무 업무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50%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절감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268288" marR="0" lvl="2" indent="-92075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365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일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24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시간 상시 모니터링 및 연속 분석 체계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268288" marR="0" lvl="2" indent="-92075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편차 없는 표준화된 분석 품질 확보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268288" marR="0" lvl="2" indent="-92075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복합 인자 분석을 통한 근본적 품질 문제 해결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8C8D52-5DBF-32E3-8B37-69893AB5EB99}"/>
              </a:ext>
            </a:extLst>
          </p:cNvPr>
          <p:cNvSpPr txBox="1"/>
          <p:nvPr/>
        </p:nvSpPr>
        <p:spPr>
          <a:xfrm>
            <a:off x="5529541" y="1628149"/>
            <a:ext cx="4213013" cy="979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marR="0" lvl="1" indent="-182563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m"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업무 정의</a:t>
            </a:r>
            <a:b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이상상황 해결을 위해 관련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Data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수집하여 분석 후 개선안을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확정하고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생산 실행하면서 발생한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Normal/Abnormal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상황에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대해 회의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및 점검하여 자료 작성 후 보고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8" name="실행 단추: 홈으로 이동 37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5B082C21-A57E-48ED-3CDC-90AC5E348C16}"/>
              </a:ext>
            </a:extLst>
          </p:cNvPr>
          <p:cNvSpPr/>
          <p:nvPr/>
        </p:nvSpPr>
        <p:spPr>
          <a:xfrm>
            <a:off x="9464696" y="179831"/>
            <a:ext cx="253492" cy="253492"/>
          </a:xfrm>
          <a:prstGeom prst="actionButtonHom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DF2FF01D-7136-FD92-F547-9097A609428B}"/>
              </a:ext>
            </a:extLst>
          </p:cNvPr>
          <p:cNvSpPr/>
          <p:nvPr/>
        </p:nvSpPr>
        <p:spPr>
          <a:xfrm>
            <a:off x="3009096" y="4807605"/>
            <a:ext cx="2302890" cy="1433717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87313" marR="0" lvl="0" indent="-87313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AI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회의 어시스턴트 및 자동 요약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-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회의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보고 어시스턴트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Agent</a:t>
            </a:r>
          </a:p>
          <a:p>
            <a:pPr marL="87313" marR="0" lvl="0" indent="-87313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/>
            </a:endParaRPr>
          </a:p>
          <a:p>
            <a:pPr marL="87313" marR="0" lvl="0" indent="-87313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프로젝트의 진행상황을 자동으로 추적하고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,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각 부서의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진척률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/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일정을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시각화하여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실시간 확인 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-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PMA(Project Management AI)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기반 진척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자동 추적 및 자동 보고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C79D701-7864-FF3F-7552-4A5338E5F000}"/>
              </a:ext>
            </a:extLst>
          </p:cNvPr>
          <p:cNvSpPr txBox="1"/>
          <p:nvPr/>
        </p:nvSpPr>
        <p:spPr>
          <a:xfrm>
            <a:off x="1164519" y="1289317"/>
            <a:ext cx="1399743" cy="271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 Arial Narrow" panose="020B0600000101010101"/>
                <a:ea typeface="LG스마트체 Regular" panose="020B0600000101010101" pitchFamily="50" charset="-127"/>
                <a:cs typeface="+mn-cs"/>
              </a:rPr>
              <a:t>As-Is / Pain-Point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 Arial Narrow" panose="020B0600000101010101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E436B902-129C-EC11-41B3-EFA464AB0C4F}"/>
              </a:ext>
            </a:extLst>
          </p:cNvPr>
          <p:cNvSpPr txBox="1"/>
          <p:nvPr/>
        </p:nvSpPr>
        <p:spPr>
          <a:xfrm>
            <a:off x="6905711" y="1207691"/>
            <a:ext cx="1765227" cy="3579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 Arial Narrow" panose="020B0600000101010101"/>
                <a:ea typeface="LG스마트체 Regular" panose="020B0600000101010101" pitchFamily="50" charset="-127"/>
                <a:cs typeface="+mn-cs"/>
              </a:rPr>
              <a:t>추진 배경 및 기대 효과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 Arial Narrow" panose="020B0600000101010101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113C72E2-EB92-D759-C0B1-DBF5D507B101}"/>
              </a:ext>
            </a:extLst>
          </p:cNvPr>
          <p:cNvSpPr txBox="1"/>
          <p:nvPr/>
        </p:nvSpPr>
        <p:spPr>
          <a:xfrm>
            <a:off x="3448605" y="1289317"/>
            <a:ext cx="1344087" cy="271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 Arial Narrow" panose="020B0600000101010101"/>
                <a:ea typeface="LG스마트체 Regular" panose="020B0600000101010101" pitchFamily="50" charset="-127"/>
                <a:cs typeface="+mn-cs"/>
              </a:rPr>
              <a:t>To-Be / </a:t>
            </a:r>
            <a:r>
              <a:rPr kumimoji="0" lang="ko-KR" altLang="en-US" sz="1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 Arial Narrow" panose="020B0600000101010101"/>
                <a:ea typeface="LG스마트체 Regular" panose="020B0600000101010101" pitchFamily="50" charset="-127"/>
                <a:cs typeface="+mn-cs"/>
              </a:rPr>
              <a:t>해결방안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 Arial Narrow" panose="020B0600000101010101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962506A9-4960-2FC5-1E3E-D83CB7B1A1C9}"/>
              </a:ext>
            </a:extLst>
          </p:cNvPr>
          <p:cNvSpPr/>
          <p:nvPr/>
        </p:nvSpPr>
        <p:spPr>
          <a:xfrm>
            <a:off x="1679314" y="4807605"/>
            <a:ext cx="1403532" cy="1319198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88900" marR="0" lvl="0" indent="-88900" algn="l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수평전개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,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로드맵 등을 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</a:b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엑셀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/PPT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기반으로 작성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</a:b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하여 관리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(DB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화 되지 않음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)</a:t>
            </a:r>
          </a:p>
          <a:p>
            <a:pPr marL="88900" marR="0" lvl="0" indent="-88900" algn="l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Noto Sans KR" pitchFamily="34" charset="-120"/>
            </a:endParaRPr>
          </a:p>
          <a:p>
            <a:pPr marL="88900" marR="0" lvl="0" indent="-88900" algn="l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실적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/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결과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,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의사결정을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</a:b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위한 보고 자료를 엑셀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/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</a:b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PPT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기반으로 작성하여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</a:b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관리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(DB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화 되지 않음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Noto Sans KR" pitchFamily="34" charset="-120"/>
            </a:endParaRPr>
          </a:p>
          <a:p>
            <a:pPr marL="0" marR="0" lvl="0" indent="0" algn="l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Noto Sans KR" pitchFamily="34" charset="-120"/>
            </a:endParaRP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2E2CE06C-2D28-5968-C213-690CE8B7B7D0}"/>
              </a:ext>
            </a:extLst>
          </p:cNvPr>
          <p:cNvSpPr/>
          <p:nvPr/>
        </p:nvSpPr>
        <p:spPr>
          <a:xfrm>
            <a:off x="1679313" y="1628149"/>
            <a:ext cx="1403532" cy="1688530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92075" marR="0" lvl="0" indent="-9207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개별 </a:t>
            </a:r>
            <a:r>
              <a:rPr kumimoji="1" lang="en-US" altLang="ko-KR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System에서</a:t>
            </a:r>
            <a:r>
              <a: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1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Data</a:t>
            </a:r>
            <a:r>
              <a: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를</a:t>
            </a:r>
            <a:br>
              <a:rPr kumimoji="1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수집하고</a:t>
            </a:r>
            <a:r>
              <a:rPr kumimoji="1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, </a:t>
            </a:r>
            <a:r>
              <a: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많은 정보에서</a:t>
            </a:r>
            <a:br>
              <a:rPr kumimoji="1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주요인자를 특정하기</a:t>
            </a:r>
            <a:br>
              <a:rPr kumimoji="1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어려움 </a:t>
            </a:r>
            <a:br>
              <a:rPr kumimoji="1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Noto Sans KR" pitchFamily="34" charset="-120"/>
            </a:endParaRPr>
          </a:p>
          <a:p>
            <a:pPr marL="92075" marR="0" lvl="0" indent="-9207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분석 방법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(Data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필터링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,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분석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Tool,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절차 등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)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 비표준화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</a:b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및 경험적 판단 높음</a:t>
            </a:r>
          </a:p>
          <a:p>
            <a:pPr marL="92075" marR="0" lvl="0" indent="-9207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Noto Sans KR" pitchFamily="34" charset="-120"/>
            </a:endParaRPr>
          </a:p>
          <a:p>
            <a:pPr marL="92075" marR="0" lvl="0" indent="-9207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설비적 개선안 외 재료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/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공정조건 변경 시 발생되는</a:t>
            </a:r>
            <a:b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</a:b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교호작용에 의한 변동을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</a:b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예측하기 어려움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3A026E0C-899D-1C2A-4AA1-F858108B1C58}"/>
              </a:ext>
            </a:extLst>
          </p:cNvPr>
          <p:cNvSpPr txBox="1"/>
          <p:nvPr/>
        </p:nvSpPr>
        <p:spPr>
          <a:xfrm>
            <a:off x="1702315" y="1628149"/>
            <a:ext cx="72000" cy="2160000"/>
          </a:xfrm>
          <a:prstGeom prst="roundRect">
            <a:avLst>
              <a:gd name="adj" fmla="val 7352"/>
            </a:avLst>
          </a:prstGeom>
          <a:solidFill>
            <a:schemeClr val="accent5">
              <a:lumMod val="40000"/>
              <a:lumOff val="60000"/>
              <a:alpha val="50196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000" b="1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BEF0066-A4FE-96A7-68C9-13249B800947}"/>
              </a:ext>
            </a:extLst>
          </p:cNvPr>
          <p:cNvSpPr/>
          <p:nvPr/>
        </p:nvSpPr>
        <p:spPr>
          <a:xfrm>
            <a:off x="333875" y="2739585"/>
            <a:ext cx="1296000" cy="21600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17967" tIns="45628" rIns="17967" bIns="45628" anchor="ctr"/>
          <a:lstStyle/>
          <a:p>
            <a:pPr marL="0" marR="0" lvl="0" indent="0" algn="ctr" defTabSz="913246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0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주요원인 선정 및 대책 수립</a:t>
            </a:r>
            <a:endParaRPr kumimoji="1" lang="en-US" altLang="ko-KR" sz="1000" b="0" i="0" u="none" strike="noStrike" kern="0" cap="none" spc="-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8FE3364-F370-021D-7094-D8EDDAFED0F2}"/>
              </a:ext>
            </a:extLst>
          </p:cNvPr>
          <p:cNvSpPr/>
          <p:nvPr/>
        </p:nvSpPr>
        <p:spPr>
          <a:xfrm>
            <a:off x="441875" y="3017444"/>
            <a:ext cx="1188000" cy="216000"/>
          </a:xfrm>
          <a:prstGeom prst="rect">
            <a:avLst/>
          </a:prstGeom>
          <a:solidFill>
            <a:schemeClr val="bg1"/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0" tIns="0" rIns="0" bIns="0" anchor="ctr"/>
          <a:lstStyle/>
          <a:p>
            <a:pPr marL="0" marR="0" lvl="0" indent="0" algn="ctr" defTabSz="91324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주요원인 및 핵심인자 선정</a:t>
            </a:r>
            <a:endParaRPr kumimoji="1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9C486B6-E391-2EB5-655D-EFD776089C0C}"/>
              </a:ext>
            </a:extLst>
          </p:cNvPr>
          <p:cNvSpPr/>
          <p:nvPr/>
        </p:nvSpPr>
        <p:spPr>
          <a:xfrm>
            <a:off x="441875" y="3295303"/>
            <a:ext cx="1188000" cy="216000"/>
          </a:xfrm>
          <a:prstGeom prst="rect">
            <a:avLst/>
          </a:prstGeom>
          <a:solidFill>
            <a:schemeClr val="bg1"/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0" tIns="0" rIns="0" bIns="0" anchor="ctr"/>
          <a:lstStyle/>
          <a:p>
            <a:pPr marL="0" marR="0" lvl="0" indent="0" algn="ctr" defTabSz="913246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개선방안 검토</a:t>
            </a:r>
            <a:r>
              <a:rPr kumimoji="1" lang="en-US" altLang="ko-K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1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확정</a:t>
            </a:r>
            <a:endParaRPr kumimoji="1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40D3505-07A6-4542-0907-58552067057B}"/>
              </a:ext>
            </a:extLst>
          </p:cNvPr>
          <p:cNvSpPr/>
          <p:nvPr/>
        </p:nvSpPr>
        <p:spPr>
          <a:xfrm>
            <a:off x="441875" y="3573161"/>
            <a:ext cx="1188000" cy="216000"/>
          </a:xfrm>
          <a:prstGeom prst="rect">
            <a:avLst/>
          </a:prstGeom>
          <a:solidFill>
            <a:schemeClr val="bg1"/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0" tIns="0" rIns="0" bIns="0" anchor="ctr"/>
          <a:lstStyle/>
          <a:p>
            <a:pPr marL="0" marR="0" lvl="0" indent="0" algn="ctr" defTabSz="913246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개선방안 실행계획 수립</a:t>
            </a:r>
            <a:endParaRPr kumimoji="1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5A0959E-AE2E-D11A-E78A-AD6190D92610}"/>
              </a:ext>
            </a:extLst>
          </p:cNvPr>
          <p:cNvSpPr/>
          <p:nvPr/>
        </p:nvSpPr>
        <p:spPr>
          <a:xfrm>
            <a:off x="331764" y="5628666"/>
            <a:ext cx="1296000" cy="21600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17967" tIns="45628" rIns="17967" bIns="45628" anchor="ctr"/>
          <a:lstStyle/>
          <a:p>
            <a:pPr marL="0" marR="0" lvl="0" indent="0" algn="ctr" defTabSz="91324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회의</a:t>
            </a:r>
            <a:r>
              <a:rPr kumimoji="0" lang="en-US" altLang="ko-KR" sz="1000" b="0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0" lang="ko-KR" altLang="en-US" sz="1000" b="0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보고</a:t>
            </a:r>
            <a:endParaRPr kumimoji="1" lang="en-US" altLang="ko-KR" sz="1000" b="0" i="0" u="none" strike="noStrike" kern="0" cap="none" spc="-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2E9C3E2-6A6A-E557-B2C9-F6B2C36AC9F2}"/>
              </a:ext>
            </a:extLst>
          </p:cNvPr>
          <p:cNvSpPr/>
          <p:nvPr/>
        </p:nvSpPr>
        <p:spPr>
          <a:xfrm>
            <a:off x="439764" y="5902353"/>
            <a:ext cx="1188000" cy="216000"/>
          </a:xfrm>
          <a:prstGeom prst="rect">
            <a:avLst/>
          </a:prstGeom>
          <a:solidFill>
            <a:schemeClr val="bg1"/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0" tIns="0" rIns="0" bIns="0" anchor="ctr"/>
          <a:lstStyle/>
          <a:p>
            <a:pPr marL="0" marR="0" lvl="0" indent="0" algn="ctr" defTabSz="91324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정기 회의</a:t>
            </a:r>
            <a:endParaRPr kumimoji="1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marR="0" lvl="0" indent="0" algn="ctr" defTabSz="91324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실무자 간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  <a:endParaRPr kumimoji="1" lang="ko-KR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C3E3932-3DE0-1FF1-0483-8BDC492C461A}"/>
              </a:ext>
            </a:extLst>
          </p:cNvPr>
          <p:cNvSpPr/>
          <p:nvPr/>
        </p:nvSpPr>
        <p:spPr>
          <a:xfrm>
            <a:off x="439764" y="6176040"/>
            <a:ext cx="1188000" cy="216000"/>
          </a:xfrm>
          <a:prstGeom prst="rect">
            <a:avLst/>
          </a:prstGeom>
          <a:solidFill>
            <a:schemeClr val="bg1"/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0" tIns="0" rIns="0" bIns="0" anchor="ctr"/>
          <a:lstStyle/>
          <a:p>
            <a:pPr marL="0" marR="0" lvl="0" indent="0" algn="ctr" defTabSz="91324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이슈해결 </a:t>
            </a:r>
            <a:r>
              <a:rPr kumimoji="1" lang="ko-KR" altLang="en-US" sz="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비정기</a:t>
            </a:r>
            <a:r>
              <a:rPr kumimoji="1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 대책회의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D9D27BF-AF73-CE46-366E-889AB0011ACE}"/>
              </a:ext>
            </a:extLst>
          </p:cNvPr>
          <p:cNvSpPr/>
          <p:nvPr/>
        </p:nvSpPr>
        <p:spPr>
          <a:xfrm>
            <a:off x="439764" y="6449725"/>
            <a:ext cx="1188000" cy="216000"/>
          </a:xfrm>
          <a:prstGeom prst="rect">
            <a:avLst/>
          </a:prstGeom>
          <a:solidFill>
            <a:schemeClr val="bg1"/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0" tIns="0" rIns="0" bIns="0" anchor="ctr"/>
          <a:lstStyle/>
          <a:p>
            <a:pPr marL="0" marR="0" lvl="0" indent="0" algn="ctr" defTabSz="91324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업무보고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marR="0" lvl="0" indent="0" algn="ctr" defTabSz="91324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1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담당</a:t>
            </a: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임원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向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  <a:endParaRPr kumimoji="1" lang="ko-KR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411C695-DD42-F368-E699-D0AECE1A3BC1}"/>
              </a:ext>
            </a:extLst>
          </p:cNvPr>
          <p:cNvSpPr/>
          <p:nvPr/>
        </p:nvSpPr>
        <p:spPr>
          <a:xfrm>
            <a:off x="331764" y="4807605"/>
            <a:ext cx="1296000" cy="21600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17967" tIns="45628" rIns="17967" bIns="45628" anchor="ctr"/>
          <a:lstStyle/>
          <a:p>
            <a:pPr marL="0" marR="0" lvl="0" indent="0" algn="ctr" defTabSz="91324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자료작성</a:t>
            </a:r>
            <a:endParaRPr kumimoji="1" lang="en-US" altLang="ko-KR" sz="1000" b="0" i="0" u="none" strike="noStrike" kern="0" cap="none" spc="-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58CAB64-2B74-7A07-6E37-AB107D21550D}"/>
              </a:ext>
            </a:extLst>
          </p:cNvPr>
          <p:cNvSpPr/>
          <p:nvPr/>
        </p:nvSpPr>
        <p:spPr>
          <a:xfrm>
            <a:off x="439764" y="5081292"/>
            <a:ext cx="1188000" cy="216000"/>
          </a:xfrm>
          <a:prstGeom prst="rect">
            <a:avLst/>
          </a:prstGeom>
          <a:solidFill>
            <a:schemeClr val="bg1"/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0" tIns="0" rIns="0" bIns="0" anchor="ctr"/>
          <a:lstStyle/>
          <a:p>
            <a:pPr marL="0" marR="0" lvl="0" indent="0" algn="ctr" defTabSz="91324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보고자료</a:t>
            </a:r>
            <a:endParaRPr kumimoji="1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marR="0" lvl="0" indent="0" algn="ctr" defTabSz="91324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발의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,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실적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결과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,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의사결정</a:t>
            </a: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  <a:endParaRPr kumimoji="1" lang="ko-KR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294ACCD-965E-C5D6-9C69-5F3EFDCED7E8}"/>
              </a:ext>
            </a:extLst>
          </p:cNvPr>
          <p:cNvSpPr/>
          <p:nvPr/>
        </p:nvSpPr>
        <p:spPr>
          <a:xfrm>
            <a:off x="439764" y="5354979"/>
            <a:ext cx="1188000" cy="216000"/>
          </a:xfrm>
          <a:prstGeom prst="rect">
            <a:avLst/>
          </a:prstGeom>
          <a:solidFill>
            <a:schemeClr val="bg1"/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0" tIns="0" rIns="0" bIns="0" anchor="ctr"/>
          <a:lstStyle/>
          <a:p>
            <a:pPr marL="0" marR="0" lvl="0" indent="0" algn="ctr" defTabSz="91324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진척현황</a:t>
            </a:r>
            <a:endParaRPr kumimoji="1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marR="0" lvl="0" indent="0" algn="ctr" defTabSz="91324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수평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확산전개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로드맵 등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  <a:endParaRPr kumimoji="1" lang="ko-KR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812DAB1-6034-518D-9F4C-A16E11E3ECB9}"/>
              </a:ext>
            </a:extLst>
          </p:cNvPr>
          <p:cNvSpPr/>
          <p:nvPr/>
        </p:nvSpPr>
        <p:spPr>
          <a:xfrm>
            <a:off x="331764" y="1628149"/>
            <a:ext cx="1296000" cy="21600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17967" tIns="45628" rIns="17967" bIns="45628" anchor="ctr"/>
          <a:lstStyle/>
          <a:p>
            <a:pPr marL="0" marR="0" lvl="0" indent="0" algn="ctr" defTabSz="91324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Data </a:t>
            </a:r>
            <a:r>
              <a:rPr kumimoji="0" lang="ko-KR" altLang="en-US" sz="1000" b="0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수집</a:t>
            </a:r>
            <a:r>
              <a:rPr kumimoji="0" lang="en-US" altLang="ko-KR" sz="1000" b="0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0" lang="ko-KR" altLang="en-US" sz="1000" b="0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분석</a:t>
            </a:r>
            <a:endParaRPr kumimoji="1" lang="en-US" altLang="ko-KR" sz="1000" b="0" i="0" u="none" strike="noStrike" kern="0" cap="none" spc="-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A8F0920-E5B6-723A-B0DA-37A21D419108}"/>
              </a:ext>
            </a:extLst>
          </p:cNvPr>
          <p:cNvSpPr/>
          <p:nvPr/>
        </p:nvSpPr>
        <p:spPr>
          <a:xfrm>
            <a:off x="439764" y="1906008"/>
            <a:ext cx="1188000" cy="216000"/>
          </a:xfrm>
          <a:prstGeom prst="rect">
            <a:avLst/>
          </a:prstGeom>
          <a:solidFill>
            <a:schemeClr val="bg1"/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0" tIns="0" rIns="0" bIns="0" anchor="ctr"/>
          <a:lstStyle/>
          <a:p>
            <a:pPr marL="0" marR="0" lvl="0" indent="0" algn="ctr" defTabSz="91324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검사이미지 수집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분석</a:t>
            </a:r>
            <a:endParaRPr kumimoji="1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423CE5F-2778-3F4C-7C7E-E0B9629F2B1B}"/>
              </a:ext>
            </a:extLst>
          </p:cNvPr>
          <p:cNvSpPr/>
          <p:nvPr/>
        </p:nvSpPr>
        <p:spPr>
          <a:xfrm>
            <a:off x="439764" y="2183867"/>
            <a:ext cx="1188000" cy="216000"/>
          </a:xfrm>
          <a:prstGeom prst="rect">
            <a:avLst/>
          </a:prstGeom>
          <a:solidFill>
            <a:schemeClr val="bg1"/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0" tIns="0" rIns="0" bIns="0" anchor="ctr"/>
          <a:lstStyle/>
          <a:p>
            <a:pPr marL="0" marR="0" lvl="0" indent="0" algn="ctr" defTabSz="913246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시스템별 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Data 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수집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분석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marR="0" lvl="0" indent="0" algn="ctr" defTabSz="913246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(MES/SPC/RMS/FDC </a:t>
            </a:r>
            <a:r>
              <a:rPr kumimoji="1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등</a:t>
            </a: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  <a:endParaRPr kumimoji="1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0201D55-467B-FF9C-EE95-662D598EF095}"/>
              </a:ext>
            </a:extLst>
          </p:cNvPr>
          <p:cNvSpPr/>
          <p:nvPr/>
        </p:nvSpPr>
        <p:spPr>
          <a:xfrm>
            <a:off x="439764" y="2461726"/>
            <a:ext cx="1188000" cy="216000"/>
          </a:xfrm>
          <a:prstGeom prst="rect">
            <a:avLst/>
          </a:prstGeom>
          <a:solidFill>
            <a:schemeClr val="bg1"/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0" tIns="0" rIns="0" bIns="0" anchor="ctr"/>
          <a:lstStyle/>
          <a:p>
            <a:pPr marL="0" marR="0" lvl="0" indent="0" algn="ctr" defTabSz="913246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정형화된 이슈 분석 시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  <a:b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*Davinci Workflow 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활용</a:t>
            </a:r>
            <a:endParaRPr kumimoji="1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AFD3E71-57FF-4EA5-A7BF-18B73C264EDB}"/>
              </a:ext>
            </a:extLst>
          </p:cNvPr>
          <p:cNvSpPr txBox="1"/>
          <p:nvPr/>
        </p:nvSpPr>
        <p:spPr>
          <a:xfrm>
            <a:off x="1702315" y="4807605"/>
            <a:ext cx="72000" cy="1872000"/>
          </a:xfrm>
          <a:prstGeom prst="roundRect">
            <a:avLst>
              <a:gd name="adj" fmla="val 7352"/>
            </a:avLst>
          </a:prstGeom>
          <a:solidFill>
            <a:schemeClr val="accent5">
              <a:lumMod val="40000"/>
              <a:lumOff val="60000"/>
              <a:alpha val="50196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000" b="1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DD9FF43-AEAE-BBC5-CBB1-524C50215D45}"/>
              </a:ext>
            </a:extLst>
          </p:cNvPr>
          <p:cNvSpPr txBox="1"/>
          <p:nvPr/>
        </p:nvSpPr>
        <p:spPr>
          <a:xfrm>
            <a:off x="6721309" y="4851104"/>
            <a:ext cx="202266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000" b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1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주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5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일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40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시간 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(2,400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분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)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사무직군 기준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960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분 →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60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분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480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분 →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240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분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6FD40ECC-A4A0-A54D-29A8-81347FEFA580}"/>
              </a:ext>
            </a:extLst>
          </p:cNvPr>
          <p:cNvSpPr/>
          <p:nvPr/>
        </p:nvSpPr>
        <p:spPr>
          <a:xfrm>
            <a:off x="335478" y="3916697"/>
            <a:ext cx="1296000" cy="21600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17967" tIns="45628" rIns="17967" bIns="45628" anchor="ctr"/>
          <a:lstStyle/>
          <a:p>
            <a:pPr marL="0" marR="0" lvl="0" indent="0" algn="ctr" defTabSz="91324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부적합 관리 </a:t>
            </a:r>
            <a:r>
              <a:rPr kumimoji="0" lang="en-US" altLang="ko-KR" sz="1000" b="0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/ </a:t>
            </a:r>
            <a:r>
              <a:rPr kumimoji="0" lang="ko-KR" altLang="en-US" sz="1000" b="0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개선</a:t>
            </a:r>
            <a:endParaRPr kumimoji="1" lang="en-US" altLang="ko-KR" sz="1000" b="0" i="0" u="none" strike="noStrike" kern="0" cap="none" spc="-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A8CF0AB0-6084-5608-31A8-7FDF8A69FB57}"/>
              </a:ext>
            </a:extLst>
          </p:cNvPr>
          <p:cNvSpPr/>
          <p:nvPr/>
        </p:nvSpPr>
        <p:spPr>
          <a:xfrm>
            <a:off x="443478" y="4189113"/>
            <a:ext cx="1188000" cy="216000"/>
          </a:xfrm>
          <a:prstGeom prst="rect">
            <a:avLst/>
          </a:prstGeom>
          <a:solidFill>
            <a:schemeClr val="bg1"/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0" tIns="0" rIns="0" bIns="0" anchor="ctr"/>
          <a:lstStyle/>
          <a:p>
            <a:pPr marL="0" marR="0" lvl="0" indent="0" algn="ctr" defTabSz="91324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부적합 발행 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/ 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관리</a:t>
            </a:r>
            <a:endParaRPr kumimoji="1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7BC33EB3-3DBE-3314-AEFD-C80D5338C799}"/>
              </a:ext>
            </a:extLst>
          </p:cNvPr>
          <p:cNvSpPr/>
          <p:nvPr/>
        </p:nvSpPr>
        <p:spPr>
          <a:xfrm>
            <a:off x="443478" y="4461529"/>
            <a:ext cx="1188000" cy="216000"/>
          </a:xfrm>
          <a:prstGeom prst="rect">
            <a:avLst/>
          </a:prstGeom>
          <a:solidFill>
            <a:schemeClr val="bg1"/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0" tIns="0" rIns="0" bIns="0" anchor="ctr"/>
          <a:lstStyle/>
          <a:p>
            <a:pPr marL="0" marR="0" lvl="0" indent="0" algn="ctr" defTabSz="913246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부적합 개선 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/ 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확산 전개</a:t>
            </a:r>
            <a:endParaRPr kumimoji="1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87BA134B-F07B-0C35-844B-75F696A3A090}"/>
              </a:ext>
            </a:extLst>
          </p:cNvPr>
          <p:cNvSpPr/>
          <p:nvPr/>
        </p:nvSpPr>
        <p:spPr>
          <a:xfrm>
            <a:off x="1679313" y="3916697"/>
            <a:ext cx="1403532" cy="488201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92075" marR="0" lvl="0" indent="-9207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부적합 발생시 과거 유사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</a:b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사례 분석 및 조치 결과를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</a:b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매칭하기 어려움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Noto Sans KR" pitchFamily="34" charset="-120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BFEDF271-1F5C-A8C7-C190-0785F21E4CEF}"/>
              </a:ext>
            </a:extLst>
          </p:cNvPr>
          <p:cNvSpPr txBox="1"/>
          <p:nvPr/>
        </p:nvSpPr>
        <p:spPr>
          <a:xfrm>
            <a:off x="1702315" y="3916697"/>
            <a:ext cx="72000" cy="792000"/>
          </a:xfrm>
          <a:prstGeom prst="roundRect">
            <a:avLst>
              <a:gd name="adj" fmla="val 7352"/>
            </a:avLst>
          </a:prstGeom>
          <a:solidFill>
            <a:schemeClr val="accent5">
              <a:lumMod val="40000"/>
              <a:lumOff val="60000"/>
              <a:alpha val="50196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000" b="1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41E00579-068B-1002-3FBA-5846038180D6}"/>
              </a:ext>
            </a:extLst>
          </p:cNvPr>
          <p:cNvSpPr/>
          <p:nvPr/>
        </p:nvSpPr>
        <p:spPr>
          <a:xfrm>
            <a:off x="3009096" y="3929397"/>
            <a:ext cx="2302890" cy="54565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87313" marR="0" lvl="0" indent="-87313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과거 불량패턴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분석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조치 지식화 및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최적의 조치 방안 자동 추천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불량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/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분석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/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조치 지식화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Agent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602433-6887-3510-B1FD-5F4ABD8C7A9C}"/>
              </a:ext>
            </a:extLst>
          </p:cNvPr>
          <p:cNvSpPr txBox="1"/>
          <p:nvPr/>
        </p:nvSpPr>
        <p:spPr>
          <a:xfrm>
            <a:off x="156140" y="1417309"/>
            <a:ext cx="7819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000" b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Engineer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CCE025D-43FF-B970-2CAD-1E65B5D09768}"/>
              </a:ext>
            </a:extLst>
          </p:cNvPr>
          <p:cNvSpPr/>
          <p:nvPr/>
        </p:nvSpPr>
        <p:spPr>
          <a:xfrm>
            <a:off x="3009096" y="1628149"/>
            <a:ext cx="2935350" cy="1956937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87313" marR="0" lvl="0" indent="-87313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이상 상황 접수 시 유관 데이터를 자동 수집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,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유효 데이터 자동 필터링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분석방안 자동 추천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,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분석과정 검증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과거 유사이력 자동 확인 및 비교</a:t>
            </a:r>
            <a:b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- DAVINCI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분석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Agent</a:t>
            </a:r>
          </a:p>
          <a:p>
            <a:pPr marL="87313" marR="0" lvl="0" indent="-87313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딥러닝 활용 검사 이미지 분석 고도화 </a:t>
            </a:r>
            <a:b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검사 이미지 분석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Agent</a:t>
            </a:r>
          </a:p>
          <a:p>
            <a:pPr marL="87313" marR="0" lvl="0" indent="-87313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복합 인자 및 교호작용을 고려한 개선인자 추천</a:t>
            </a:r>
            <a:b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- ADE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기반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다변량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복합 분석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Agent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/>
            </a:endParaRPr>
          </a:p>
          <a:p>
            <a:pPr marL="87313" marR="0" lvl="0" indent="-87313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이상감지 영역 확장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설비 → 공정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)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을 통한</a:t>
            </a:r>
            <a:b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핵심인자 분석 가속화</a:t>
            </a:r>
            <a:b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- 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핵심 인자 추출 자동화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Agent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569240D-ABF1-CE06-3152-7E9F9753C673}"/>
              </a:ext>
            </a:extLst>
          </p:cNvPr>
          <p:cNvSpPr txBox="1"/>
          <p:nvPr/>
        </p:nvSpPr>
        <p:spPr>
          <a:xfrm>
            <a:off x="3016062" y="4605981"/>
            <a:ext cx="22091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000" b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※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계열사 활용 중인 솔루션 도입 검토 예정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6AFF2A7-A22D-9283-FFBA-15C44346B730}"/>
              </a:ext>
            </a:extLst>
          </p:cNvPr>
          <p:cNvSpPr txBox="1"/>
          <p:nvPr/>
        </p:nvSpPr>
        <p:spPr>
          <a:xfrm>
            <a:off x="5529541" y="3908282"/>
            <a:ext cx="4257105" cy="979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2pPr marL="182563" marR="0" lvl="1" indent="-182563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m"/>
              <a:tabLst/>
              <a:defRPr kumimoji="0" sz="13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2pPr>
          </a:lstStyle>
          <a:p>
            <a:pPr lvl="1"/>
            <a:r>
              <a:rPr lang="ko-KR" altLang="en-US" dirty="0"/>
              <a:t>추진 방향</a:t>
            </a:r>
            <a:br>
              <a:rPr lang="en-US" altLang="ko-KR" dirty="0"/>
            </a:br>
            <a:r>
              <a:rPr lang="en-US" altLang="ko-KR" sz="1200" b="0" dirty="0"/>
              <a:t>- Data</a:t>
            </a:r>
            <a:r>
              <a:rPr lang="ko-KR" altLang="en-US" sz="1200" b="0" dirty="0"/>
              <a:t> 수집</a:t>
            </a:r>
            <a:r>
              <a:rPr lang="en-US" altLang="ko-KR" sz="1200" b="0" dirty="0"/>
              <a:t>/</a:t>
            </a:r>
            <a:r>
              <a:rPr lang="ko-KR" altLang="en-US" sz="1200" b="0" dirty="0"/>
              <a:t>분석</a:t>
            </a:r>
            <a:r>
              <a:rPr lang="en-US" altLang="ko-KR" sz="1200" b="0" dirty="0"/>
              <a:t>, </a:t>
            </a:r>
            <a:r>
              <a:rPr lang="ko-KR" altLang="en-US" sz="1200" b="0" dirty="0"/>
              <a:t>주요 원인 선정</a:t>
            </a:r>
            <a:r>
              <a:rPr lang="en-US" altLang="ko-KR" sz="1200" b="0" dirty="0"/>
              <a:t>, </a:t>
            </a:r>
            <a:r>
              <a:rPr lang="ko-KR" altLang="en-US" sz="1200" b="0" dirty="0"/>
              <a:t>불량</a:t>
            </a:r>
            <a:r>
              <a:rPr lang="en-US" altLang="ko-KR" sz="1200" b="0" dirty="0"/>
              <a:t>/</a:t>
            </a:r>
            <a:r>
              <a:rPr lang="ko-KR" altLang="en-US" sz="1200" b="0" dirty="0"/>
              <a:t>분석</a:t>
            </a:r>
            <a:r>
              <a:rPr lang="en-US" altLang="ko-KR" sz="1200" b="0" dirty="0"/>
              <a:t>/</a:t>
            </a:r>
            <a:r>
              <a:rPr lang="ko-KR" altLang="en-US" sz="1200" b="0" dirty="0"/>
              <a:t>조치 지식화</a:t>
            </a:r>
            <a:r>
              <a:rPr lang="en-US" altLang="ko-KR" sz="1200" b="0" dirty="0"/>
              <a:t>, </a:t>
            </a:r>
            <a:br>
              <a:rPr lang="en-US" altLang="ko-KR" sz="1200" b="0" dirty="0"/>
            </a:br>
            <a:r>
              <a:rPr lang="en-US" altLang="ko-KR" sz="1200" b="0" dirty="0"/>
              <a:t>  </a:t>
            </a:r>
            <a:r>
              <a:rPr lang="ko-KR" altLang="en-US" sz="1200" b="0" dirty="0"/>
              <a:t>자료작성</a:t>
            </a:r>
            <a:r>
              <a:rPr lang="en-US" altLang="ko-KR" sz="1200" b="0" dirty="0"/>
              <a:t>, </a:t>
            </a:r>
            <a:r>
              <a:rPr lang="ko-KR" altLang="en-US" sz="1200" b="0" dirty="0" err="1"/>
              <a:t>진척률</a:t>
            </a:r>
            <a:r>
              <a:rPr lang="ko-KR" altLang="en-US" sz="1200" b="0" dirty="0"/>
              <a:t> 관리는 </a:t>
            </a:r>
            <a:r>
              <a:rPr lang="en-US" altLang="ko-KR" sz="1200" b="0" dirty="0"/>
              <a:t>AI Agent</a:t>
            </a:r>
            <a:r>
              <a:rPr lang="ko-KR" altLang="en-US" sz="1200" b="0" dirty="0"/>
              <a:t>가 담당하고</a:t>
            </a:r>
            <a:r>
              <a:rPr lang="en-US" altLang="ko-KR" sz="1200" b="0" dirty="0"/>
              <a:t>, </a:t>
            </a:r>
            <a:r>
              <a:rPr lang="ko-KR" altLang="en-US" sz="1200" b="0" dirty="0"/>
              <a:t>사람은 결과에</a:t>
            </a:r>
            <a:br>
              <a:rPr lang="en-US" altLang="ko-KR" sz="1200" b="0" dirty="0"/>
            </a:br>
            <a:r>
              <a:rPr lang="en-US" altLang="ko-KR" sz="1200" b="0" dirty="0"/>
              <a:t>  </a:t>
            </a:r>
            <a:r>
              <a:rPr lang="ko-KR" altLang="en-US" sz="1200" b="0" dirty="0"/>
              <a:t>대한 비교 검증을 수행</a:t>
            </a:r>
            <a:endParaRPr lang="en-US" altLang="ko-KR" sz="1200" b="0" dirty="0"/>
          </a:p>
        </p:txBody>
      </p:sp>
      <p:sp>
        <p:nvSpPr>
          <p:cNvPr id="143" name="화살표: 오각형 142">
            <a:extLst>
              <a:ext uri="{FF2B5EF4-FFF2-40B4-BE49-F238E27FC236}">
                <a16:creationId xmlns:a16="http://schemas.microsoft.com/office/drawing/2014/main" id="{7C77E3A2-A607-8187-746F-CF4518CA7FC4}"/>
              </a:ext>
            </a:extLst>
          </p:cNvPr>
          <p:cNvSpPr/>
          <p:nvPr/>
        </p:nvSpPr>
        <p:spPr>
          <a:xfrm>
            <a:off x="7377100" y="103823"/>
            <a:ext cx="2016000" cy="396000"/>
          </a:xfrm>
          <a:prstGeom prst="homePlate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noFill/>
          </a:ln>
        </p:spPr>
        <p:txBody>
          <a:bodyPr wrap="none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1" i="0" u="sng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A2D9D269-339B-BC0C-D458-3A359ED19851}"/>
              </a:ext>
            </a:extLst>
          </p:cNvPr>
          <p:cNvCxnSpPr>
            <a:cxnSpLocks/>
          </p:cNvCxnSpPr>
          <p:nvPr/>
        </p:nvCxnSpPr>
        <p:spPr>
          <a:xfrm>
            <a:off x="7485100" y="288448"/>
            <a:ext cx="1800000" cy="0"/>
          </a:xfrm>
          <a:prstGeom prst="line">
            <a:avLst/>
          </a:prstGeom>
          <a:ln w="127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42364AFC-9D54-DD7E-D1DF-FD1EC36C6C68}"/>
              </a:ext>
            </a:extLst>
          </p:cNvPr>
          <p:cNvCxnSpPr>
            <a:cxnSpLocks/>
          </p:cNvCxnSpPr>
          <p:nvPr/>
        </p:nvCxnSpPr>
        <p:spPr>
          <a:xfrm>
            <a:off x="7485100" y="247594"/>
            <a:ext cx="0" cy="80403"/>
          </a:xfrm>
          <a:prstGeom prst="line">
            <a:avLst/>
          </a:prstGeom>
          <a:ln w="127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8D29D6E1-6D12-8644-A4B6-70982758A08F}"/>
              </a:ext>
            </a:extLst>
          </p:cNvPr>
          <p:cNvCxnSpPr>
            <a:cxnSpLocks/>
          </p:cNvCxnSpPr>
          <p:nvPr/>
        </p:nvCxnSpPr>
        <p:spPr>
          <a:xfrm>
            <a:off x="7742243" y="247594"/>
            <a:ext cx="0" cy="80403"/>
          </a:xfrm>
          <a:prstGeom prst="line">
            <a:avLst/>
          </a:prstGeom>
          <a:ln w="127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연결선 155">
            <a:extLst>
              <a:ext uri="{FF2B5EF4-FFF2-40B4-BE49-F238E27FC236}">
                <a16:creationId xmlns:a16="http://schemas.microsoft.com/office/drawing/2014/main" id="{DB3A9BB0-BDD8-21F6-C083-6D9E492081EE}"/>
              </a:ext>
            </a:extLst>
          </p:cNvPr>
          <p:cNvCxnSpPr/>
          <p:nvPr/>
        </p:nvCxnSpPr>
        <p:spPr>
          <a:xfrm>
            <a:off x="8256529" y="247594"/>
            <a:ext cx="0" cy="80403"/>
          </a:xfrm>
          <a:prstGeom prst="line">
            <a:avLst/>
          </a:prstGeom>
          <a:ln w="127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직선 연결선 156">
            <a:extLst>
              <a:ext uri="{FF2B5EF4-FFF2-40B4-BE49-F238E27FC236}">
                <a16:creationId xmlns:a16="http://schemas.microsoft.com/office/drawing/2014/main" id="{24226AC2-A695-36D8-CA36-149B23B0C530}"/>
              </a:ext>
            </a:extLst>
          </p:cNvPr>
          <p:cNvCxnSpPr>
            <a:cxnSpLocks/>
          </p:cNvCxnSpPr>
          <p:nvPr/>
        </p:nvCxnSpPr>
        <p:spPr>
          <a:xfrm>
            <a:off x="9285100" y="247594"/>
            <a:ext cx="0" cy="80403"/>
          </a:xfrm>
          <a:prstGeom prst="line">
            <a:avLst/>
          </a:prstGeom>
          <a:ln w="127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직선 연결선 206">
            <a:extLst>
              <a:ext uri="{FF2B5EF4-FFF2-40B4-BE49-F238E27FC236}">
                <a16:creationId xmlns:a16="http://schemas.microsoft.com/office/drawing/2014/main" id="{80AFD9BE-5DCD-8A58-A654-E3E889CF7C5F}"/>
              </a:ext>
            </a:extLst>
          </p:cNvPr>
          <p:cNvCxnSpPr/>
          <p:nvPr/>
        </p:nvCxnSpPr>
        <p:spPr>
          <a:xfrm>
            <a:off x="8770815" y="247594"/>
            <a:ext cx="0" cy="80403"/>
          </a:xfrm>
          <a:prstGeom prst="line">
            <a:avLst/>
          </a:prstGeom>
          <a:ln w="127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9342B9D2-336A-FFB9-9A3A-7DB34E8F3FD9}"/>
              </a:ext>
            </a:extLst>
          </p:cNvPr>
          <p:cNvCxnSpPr>
            <a:cxnSpLocks/>
          </p:cNvCxnSpPr>
          <p:nvPr/>
        </p:nvCxnSpPr>
        <p:spPr>
          <a:xfrm>
            <a:off x="9027958" y="247594"/>
            <a:ext cx="0" cy="80403"/>
          </a:xfrm>
          <a:prstGeom prst="line">
            <a:avLst/>
          </a:prstGeom>
          <a:ln w="127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직사각형 217">
            <a:extLst>
              <a:ext uri="{FF2B5EF4-FFF2-40B4-BE49-F238E27FC236}">
                <a16:creationId xmlns:a16="http://schemas.microsoft.com/office/drawing/2014/main" id="{A0A8477B-D24A-F8A1-BEC0-D11D2D8D5F6F}"/>
              </a:ext>
            </a:extLst>
          </p:cNvPr>
          <p:cNvSpPr/>
          <p:nvPr/>
        </p:nvSpPr>
        <p:spPr>
          <a:xfrm>
            <a:off x="7446523" y="118460"/>
            <a:ext cx="80150" cy="116377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L0</a:t>
            </a:r>
            <a:endParaRPr kumimoji="0" lang="ko-KR" altLang="en-US" sz="800" b="0" i="0" u="none" strike="noStrike" kern="1200" cap="none" spc="-5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219" name="그룹 218">
            <a:extLst>
              <a:ext uri="{FF2B5EF4-FFF2-40B4-BE49-F238E27FC236}">
                <a16:creationId xmlns:a16="http://schemas.microsoft.com/office/drawing/2014/main" id="{1F7ED304-C418-7B75-C33A-34D7A76F9E21}"/>
              </a:ext>
            </a:extLst>
          </p:cNvPr>
          <p:cNvGrpSpPr/>
          <p:nvPr/>
        </p:nvGrpSpPr>
        <p:grpSpPr>
          <a:xfrm>
            <a:off x="8021739" y="237331"/>
            <a:ext cx="201864" cy="291903"/>
            <a:chOff x="8091589" y="237331"/>
            <a:chExt cx="201864" cy="291903"/>
          </a:xfrm>
        </p:grpSpPr>
        <p:sp>
          <p:nvSpPr>
            <p:cNvPr id="220" name="타원 219">
              <a:extLst>
                <a:ext uri="{FF2B5EF4-FFF2-40B4-BE49-F238E27FC236}">
                  <a16:creationId xmlns:a16="http://schemas.microsoft.com/office/drawing/2014/main" id="{E2C70193-4148-0DEF-6932-1BA75D815CC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45801" y="237331"/>
              <a:ext cx="93441" cy="9025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221" name="직사각형 220">
              <a:extLst>
                <a:ext uri="{FF2B5EF4-FFF2-40B4-BE49-F238E27FC236}">
                  <a16:creationId xmlns:a16="http://schemas.microsoft.com/office/drawing/2014/main" id="{C42DB0C3-0816-BD40-20A2-E5DBA7EB9FBE}"/>
                </a:ext>
              </a:extLst>
            </p:cNvPr>
            <p:cNvSpPr/>
            <p:nvPr/>
          </p:nvSpPr>
          <p:spPr>
            <a:xfrm>
              <a:off x="8091589" y="313786"/>
              <a:ext cx="201864" cy="215448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5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’25</a:t>
              </a:r>
              <a:endParaRPr kumimoji="0" lang="ko-KR" altLang="en-US" sz="8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grpSp>
        <p:nvGrpSpPr>
          <p:cNvPr id="222" name="그룹 221">
            <a:extLst>
              <a:ext uri="{FF2B5EF4-FFF2-40B4-BE49-F238E27FC236}">
                <a16:creationId xmlns:a16="http://schemas.microsoft.com/office/drawing/2014/main" id="{4AD864FB-D86A-55DB-7836-0494430345F5}"/>
              </a:ext>
            </a:extLst>
          </p:cNvPr>
          <p:cNvGrpSpPr/>
          <p:nvPr/>
        </p:nvGrpSpPr>
        <p:grpSpPr>
          <a:xfrm>
            <a:off x="8789402" y="233530"/>
            <a:ext cx="201864" cy="295704"/>
            <a:chOff x="8910052" y="233530"/>
            <a:chExt cx="201864" cy="295704"/>
          </a:xfrm>
        </p:grpSpPr>
        <p:sp>
          <p:nvSpPr>
            <p:cNvPr id="223" name="타원 222">
              <a:extLst>
                <a:ext uri="{FF2B5EF4-FFF2-40B4-BE49-F238E27FC236}">
                  <a16:creationId xmlns:a16="http://schemas.microsoft.com/office/drawing/2014/main" id="{F0FB26FD-2D45-4E85-B253-B5E8FFE256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64264" y="233530"/>
              <a:ext cx="93441" cy="90257"/>
            </a:xfrm>
            <a:prstGeom prst="ellipse">
              <a:avLst/>
            </a:prstGeom>
            <a:solidFill>
              <a:srgbClr val="006600"/>
            </a:solidFill>
            <a:ln w="12700"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224" name="직사각형 223">
              <a:extLst>
                <a:ext uri="{FF2B5EF4-FFF2-40B4-BE49-F238E27FC236}">
                  <a16:creationId xmlns:a16="http://schemas.microsoft.com/office/drawing/2014/main" id="{B3F33D27-2B04-E74B-51EE-B21F81276D70}"/>
                </a:ext>
              </a:extLst>
            </p:cNvPr>
            <p:cNvSpPr/>
            <p:nvPr/>
          </p:nvSpPr>
          <p:spPr>
            <a:xfrm>
              <a:off x="8910052" y="313786"/>
              <a:ext cx="201864" cy="215448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5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’30</a:t>
              </a:r>
              <a:endParaRPr kumimoji="0" lang="ko-KR" altLang="en-US" sz="8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grpSp>
        <p:nvGrpSpPr>
          <p:cNvPr id="225" name="그룹 224">
            <a:extLst>
              <a:ext uri="{FF2B5EF4-FFF2-40B4-BE49-F238E27FC236}">
                <a16:creationId xmlns:a16="http://schemas.microsoft.com/office/drawing/2014/main" id="{6D418FB4-93A1-9C1B-C841-BB0BE12DF41F}"/>
              </a:ext>
            </a:extLst>
          </p:cNvPr>
          <p:cNvGrpSpPr/>
          <p:nvPr/>
        </p:nvGrpSpPr>
        <p:grpSpPr>
          <a:xfrm>
            <a:off x="8217925" y="229642"/>
            <a:ext cx="339167" cy="299592"/>
            <a:chOff x="8224275" y="229642"/>
            <a:chExt cx="339167" cy="299592"/>
          </a:xfrm>
        </p:grpSpPr>
        <p:sp>
          <p:nvSpPr>
            <p:cNvPr id="226" name="직사각형 225">
              <a:extLst>
                <a:ext uri="{FF2B5EF4-FFF2-40B4-BE49-F238E27FC236}">
                  <a16:creationId xmlns:a16="http://schemas.microsoft.com/office/drawing/2014/main" id="{1FA18BDF-ADB3-0217-32B6-51EB7DBBFF9F}"/>
                </a:ext>
              </a:extLst>
            </p:cNvPr>
            <p:cNvSpPr/>
            <p:nvPr/>
          </p:nvSpPr>
          <p:spPr>
            <a:xfrm>
              <a:off x="8224275" y="313786"/>
              <a:ext cx="339167" cy="215448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spc="-5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경쟁사</a:t>
              </a:r>
            </a:p>
          </p:txBody>
        </p:sp>
        <p:sp>
          <p:nvSpPr>
            <p:cNvPr id="227" name="이등변 삼각형 226">
              <a:extLst>
                <a:ext uri="{FF2B5EF4-FFF2-40B4-BE49-F238E27FC236}">
                  <a16:creationId xmlns:a16="http://schemas.microsoft.com/office/drawing/2014/main" id="{3CD2BBA2-2B6F-314E-EBFB-1377CE9A73C8}"/>
                </a:ext>
              </a:extLst>
            </p:cNvPr>
            <p:cNvSpPr/>
            <p:nvPr/>
          </p:nvSpPr>
          <p:spPr>
            <a:xfrm>
              <a:off x="8330649" y="229642"/>
              <a:ext cx="126418" cy="108982"/>
            </a:xfrm>
            <a:prstGeom prst="triangle">
              <a:avLst/>
            </a:prstGeom>
            <a:solidFill>
              <a:schemeClr val="bg1"/>
            </a:solidFill>
            <a:ln w="12700"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D44DD976-B06C-538A-23FA-45C4D824BBFF}"/>
              </a:ext>
            </a:extLst>
          </p:cNvPr>
          <p:cNvSpPr/>
          <p:nvPr/>
        </p:nvSpPr>
        <p:spPr>
          <a:xfrm>
            <a:off x="9243050" y="122006"/>
            <a:ext cx="80150" cy="116377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L7</a:t>
            </a:r>
            <a:endParaRPr kumimoji="0" lang="ko-KR" altLang="en-US" sz="800" b="0" i="0" u="none" strike="noStrike" kern="1200" cap="none" spc="-5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229" name="직선 연결선 228">
            <a:extLst>
              <a:ext uri="{FF2B5EF4-FFF2-40B4-BE49-F238E27FC236}">
                <a16:creationId xmlns:a16="http://schemas.microsoft.com/office/drawing/2014/main" id="{7814E7C2-2995-6CDB-A7C6-5A9510A52F90}"/>
              </a:ext>
            </a:extLst>
          </p:cNvPr>
          <p:cNvCxnSpPr>
            <a:cxnSpLocks/>
          </p:cNvCxnSpPr>
          <p:nvPr/>
        </p:nvCxnSpPr>
        <p:spPr>
          <a:xfrm>
            <a:off x="7999386" y="247594"/>
            <a:ext cx="0" cy="80403"/>
          </a:xfrm>
          <a:prstGeom prst="line">
            <a:avLst/>
          </a:prstGeom>
          <a:ln w="127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직선 연결선 229">
            <a:extLst>
              <a:ext uri="{FF2B5EF4-FFF2-40B4-BE49-F238E27FC236}">
                <a16:creationId xmlns:a16="http://schemas.microsoft.com/office/drawing/2014/main" id="{5C275E30-1CE1-97C9-C363-A9BACB0C310F}"/>
              </a:ext>
            </a:extLst>
          </p:cNvPr>
          <p:cNvCxnSpPr>
            <a:cxnSpLocks/>
          </p:cNvCxnSpPr>
          <p:nvPr/>
        </p:nvCxnSpPr>
        <p:spPr>
          <a:xfrm>
            <a:off x="8513672" y="247594"/>
            <a:ext cx="0" cy="80403"/>
          </a:xfrm>
          <a:prstGeom prst="line">
            <a:avLst/>
          </a:prstGeom>
          <a:ln w="127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5085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제목 30">
            <a:extLst>
              <a:ext uri="{FF2B5EF4-FFF2-40B4-BE49-F238E27FC236}">
                <a16:creationId xmlns:a16="http://schemas.microsoft.com/office/drawing/2014/main" id="{91A88A39-F7D5-4326-8776-D341E3006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58" y="93487"/>
            <a:ext cx="2699476" cy="365125"/>
          </a:xfrm>
        </p:spPr>
        <p:txBody>
          <a:bodyPr/>
          <a:lstStyle/>
          <a:p>
            <a:r>
              <a:rPr lang="ko-KR" altLang="en-US" sz="1800" dirty="0"/>
              <a:t>보조</a:t>
            </a:r>
            <a:r>
              <a:rPr lang="en-US" altLang="ko-KR" sz="1800" dirty="0"/>
              <a:t>. </a:t>
            </a:r>
            <a:r>
              <a:rPr lang="ko-KR" altLang="en-US" sz="1800" dirty="0"/>
              <a:t>가동</a:t>
            </a:r>
            <a:r>
              <a:rPr lang="ko-KR" altLang="en-US" dirty="0"/>
              <a:t> 준비</a:t>
            </a:r>
            <a:endParaRPr lang="ko-KR" altLang="en-US" sz="1800" dirty="0"/>
          </a:p>
        </p:txBody>
      </p:sp>
      <p:sp>
        <p:nvSpPr>
          <p:cNvPr id="32" name="텍스트 개체 틀 31">
            <a:extLst>
              <a:ext uri="{FF2B5EF4-FFF2-40B4-BE49-F238E27FC236}">
                <a16:creationId xmlns:a16="http://schemas.microsoft.com/office/drawing/2014/main" id="{D3EC65D4-53E7-40AC-B969-810FA76B40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4746" y="513156"/>
            <a:ext cx="9298018" cy="365125"/>
          </a:xfrm>
        </p:spPr>
        <p:txBody>
          <a:bodyPr vert="horz" lIns="91440" tIns="45720" rIns="91440" bIns="45720" rtlCol="0">
            <a:noAutofit/>
          </a:bodyPr>
          <a:lstStyle/>
          <a:p>
            <a:pPr fontAlgn="base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tabLst>
                <a:tab pos="809625" algn="l"/>
              </a:tabLst>
            </a:pPr>
            <a:r>
              <a:rPr kumimoji="1" lang="ko-KR" altLang="en-US" dirty="0">
                <a:solidFill>
                  <a:prstClr val="black"/>
                </a:solidFill>
                <a:cs typeface="Arial" panose="020B0604020202020204" pitchFamily="34" charset="0"/>
              </a:rPr>
              <a:t>데이터</a:t>
            </a:r>
            <a:r>
              <a:rPr kumimoji="1" lang="en-US" altLang="ko-KR" dirty="0">
                <a:solidFill>
                  <a:prstClr val="black"/>
                </a:solidFill>
                <a:cs typeface="Arial" panose="020B0604020202020204" pitchFamily="34" charset="0"/>
              </a:rPr>
              <a:t>, W/O </a:t>
            </a:r>
            <a:r>
              <a:rPr kumimoji="1" lang="ko-KR" altLang="en-US" dirty="0">
                <a:solidFill>
                  <a:prstClr val="black"/>
                </a:solidFill>
                <a:cs typeface="Arial" panose="020B0604020202020204" pitchFamily="34" charset="0"/>
              </a:rPr>
              <a:t>기반 가동 준비 자동화로 가동 준비 시간 </a:t>
            </a:r>
            <a:r>
              <a:rPr kumimoji="1" lang="en-US" altLang="ko-KR" dirty="0">
                <a:solidFill>
                  <a:prstClr val="black"/>
                </a:solidFill>
                <a:cs typeface="Arial" panose="020B0604020202020204" pitchFamily="34" charset="0"/>
              </a:rPr>
              <a:t>60% </a:t>
            </a:r>
            <a:r>
              <a:rPr kumimoji="1" lang="ko-KR" altLang="en-US" dirty="0">
                <a:solidFill>
                  <a:prstClr val="black"/>
                </a:solidFill>
                <a:cs typeface="Arial" panose="020B0604020202020204" pitchFamily="34" charset="0"/>
              </a:rPr>
              <a:t>단축 하고</a:t>
            </a:r>
            <a:r>
              <a:rPr kumimoji="1" lang="en-US" altLang="ko-KR" dirty="0">
                <a:solidFill>
                  <a:prstClr val="black"/>
                </a:solidFill>
                <a:cs typeface="Arial" panose="020B0604020202020204" pitchFamily="34" charset="0"/>
              </a:rPr>
              <a:t>, </a:t>
            </a:r>
            <a:r>
              <a:rPr kumimoji="1" lang="ko-KR" altLang="en-US" dirty="0">
                <a:solidFill>
                  <a:prstClr val="black"/>
                </a:solidFill>
                <a:cs typeface="Arial" panose="020B0604020202020204" pitchFamily="34" charset="0"/>
              </a:rPr>
              <a:t>생산 </a:t>
            </a:r>
            <a:r>
              <a:rPr kumimoji="1" lang="en-US" altLang="ko-KR" dirty="0">
                <a:solidFill>
                  <a:prstClr val="black"/>
                </a:solidFill>
                <a:cs typeface="Arial" panose="020B0604020202020204" pitchFamily="34" charset="0"/>
              </a:rPr>
              <a:t>Recipe </a:t>
            </a:r>
            <a:r>
              <a:rPr kumimoji="1" lang="ko-KR" altLang="en-US" dirty="0">
                <a:solidFill>
                  <a:prstClr val="black"/>
                </a:solidFill>
                <a:cs typeface="Arial" panose="020B0604020202020204" pitchFamily="34" charset="0"/>
              </a:rPr>
              <a:t>변경 오류를 </a:t>
            </a:r>
            <a:r>
              <a:rPr kumimoji="1" lang="en-US" altLang="ko-KR" dirty="0">
                <a:solidFill>
                  <a:prstClr val="black"/>
                </a:solidFill>
                <a:cs typeface="Arial" panose="020B0604020202020204" pitchFamily="34" charset="0"/>
              </a:rPr>
              <a:t>Zero</a:t>
            </a:r>
            <a:r>
              <a:rPr kumimoji="1" lang="ko-KR" altLang="en-US" dirty="0">
                <a:solidFill>
                  <a:prstClr val="black"/>
                </a:solidFill>
                <a:cs typeface="Arial" panose="020B0604020202020204" pitchFamily="34" charset="0"/>
              </a:rPr>
              <a:t>화 하고자 함</a:t>
            </a:r>
            <a:endParaRPr kumimoji="1" lang="en-US" altLang="ko-KR" dirty="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584451F-5AF0-4099-B3A1-8C1961C7481E}"/>
              </a:ext>
            </a:extLst>
          </p:cNvPr>
          <p:cNvSpPr txBox="1"/>
          <p:nvPr/>
        </p:nvSpPr>
        <p:spPr>
          <a:xfrm>
            <a:off x="5532966" y="2554578"/>
            <a:ext cx="4406202" cy="758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lvl="1" indent="-182563">
              <a:lnSpc>
                <a:spcPct val="120000"/>
              </a:lnSpc>
              <a:buFont typeface="Wingdings" panose="05000000000000000000" pitchFamily="2" charset="2"/>
              <a:buChar char="m"/>
              <a:defRPr/>
            </a:pPr>
            <a:r>
              <a:rPr lang="ko-KR" altLang="en-US" sz="13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추진 배경 및 </a:t>
            </a:r>
            <a:r>
              <a:rPr lang="en-US" altLang="ko-KR" sz="13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Pain Point</a:t>
            </a:r>
            <a:br>
              <a:rPr lang="en-US" altLang="ko-KR" sz="13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 </a:t>
            </a: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대부분의 준비 및 점검 업무가 작업자와 작업자의 경험에</a:t>
            </a:r>
            <a:b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 </a:t>
            </a: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의존하고 있어 표준화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효율화</a:t>
            </a:r>
            <a:r>
              <a:rPr lang="en-US" altLang="ko-KR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자동화 시급함</a:t>
            </a:r>
            <a:endParaRPr lang="en-US" altLang="ko-KR" sz="12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D4F9D8E-ED77-A75F-8ED0-7CDD68D351F0}"/>
              </a:ext>
            </a:extLst>
          </p:cNvPr>
          <p:cNvSpPr txBox="1"/>
          <p:nvPr/>
        </p:nvSpPr>
        <p:spPr>
          <a:xfrm>
            <a:off x="5532966" y="4407435"/>
            <a:ext cx="4257105" cy="1409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marR="0" lvl="1" indent="-182563" algn="l" defTabSz="4572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m"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기대 효과 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정성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정량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</a:p>
          <a:p>
            <a:pPr marL="268288" marR="0" lvl="2" indent="-92075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가동 준비 시간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60%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단축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268288" marR="0" lvl="2" indent="-92075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생산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Recipe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변경 오류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Zero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화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268288" marR="0" lvl="2" indent="-92075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준비 시간 단축 및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Human Error Zero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화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268288" marR="0" lvl="2" indent="-92075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데이터 기반의 객관적 가동 승인 절차 확립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8C8D52-5DBF-32E3-8B37-69893AB5EB99}"/>
              </a:ext>
            </a:extLst>
          </p:cNvPr>
          <p:cNvSpPr txBox="1"/>
          <p:nvPr/>
        </p:nvSpPr>
        <p:spPr>
          <a:xfrm>
            <a:off x="5532966" y="1628149"/>
            <a:ext cx="4281593" cy="758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marR="0" lvl="1" indent="-182563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m"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업무 정의</a:t>
            </a:r>
            <a:b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생산 가동 전 인원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자재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설비 준비부터 일상적인 반복 점검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업무까지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라인의 정상 가동을 위한 사전 준비 활동 전반을 포함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8" name="실행 단추: 홈으로 이동 37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5B082C21-A57E-48ED-3CDC-90AC5E348C16}"/>
              </a:ext>
            </a:extLst>
          </p:cNvPr>
          <p:cNvSpPr/>
          <p:nvPr/>
        </p:nvSpPr>
        <p:spPr>
          <a:xfrm>
            <a:off x="9464696" y="179831"/>
            <a:ext cx="253492" cy="253492"/>
          </a:xfrm>
          <a:prstGeom prst="actionButtonHom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62F7FD31-9E88-3A27-04AD-148467B6FA83}"/>
              </a:ext>
            </a:extLst>
          </p:cNvPr>
          <p:cNvSpPr/>
          <p:nvPr/>
        </p:nvSpPr>
        <p:spPr>
          <a:xfrm>
            <a:off x="3009096" y="3032908"/>
            <a:ext cx="2935350" cy="872025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87313" marR="0" lvl="0" indent="-87313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데이터 기반 점검 가능한 모든 항목에 대해</a:t>
            </a:r>
            <a:br>
              <a:rPr kumimoji="0" lang="en-US" altLang="ko-KR" sz="1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W/O </a:t>
            </a:r>
            <a:r>
              <a:rPr kumimoji="0" lang="ko-KR" altLang="en-US" sz="1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기반 </a:t>
            </a:r>
            <a:r>
              <a:rPr kumimoji="0" lang="en-US" altLang="ko-KR" sz="1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점검 자동화 및 </a:t>
            </a:r>
            <a:r>
              <a:rPr kumimoji="0" lang="en-US" altLang="ko-KR" sz="1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Alarm </a:t>
            </a:r>
            <a:r>
              <a:rPr kumimoji="0" lang="ko-KR" altLang="en-US" sz="1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체계 구축</a:t>
            </a:r>
            <a:br>
              <a:rPr kumimoji="0" lang="en-US" altLang="ko-KR" sz="1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1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각 기준정보</a:t>
            </a:r>
            <a:r>
              <a:rPr kumimoji="0" lang="en-US" altLang="ko-KR" sz="1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Recipe </a:t>
            </a:r>
            <a:r>
              <a:rPr kumimoji="0" lang="ko-KR" altLang="en-US" sz="1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등록 여부</a:t>
            </a:r>
            <a:r>
              <a:rPr kumimoji="0" lang="en-US" altLang="ko-KR" sz="1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원자재 안전 </a:t>
            </a:r>
            <a:br>
              <a:rPr kumimoji="0" lang="en-US" altLang="ko-KR" sz="1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재고 여부</a:t>
            </a:r>
            <a:r>
              <a:rPr kumimoji="0" lang="en-US" altLang="ko-KR" sz="1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반제품 수량 등</a:t>
            </a:r>
            <a:r>
              <a:rPr kumimoji="0" lang="en-US" altLang="ko-KR" sz="1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br>
              <a:rPr kumimoji="0" lang="en-US" altLang="ko-KR" sz="1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-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데이터 기반 초기 가동 점검 고도화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2006FC8-7E7A-43E1-0FFC-FC53099D0401}"/>
              </a:ext>
            </a:extLst>
          </p:cNvPr>
          <p:cNvSpPr/>
          <p:nvPr/>
        </p:nvSpPr>
        <p:spPr>
          <a:xfrm>
            <a:off x="330893" y="1669261"/>
            <a:ext cx="1296000" cy="25200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17967" tIns="45628" rIns="17967" bIns="45628" anchor="ctr"/>
          <a:lstStyle/>
          <a:p>
            <a:pPr marL="0" marR="0" lvl="0" indent="0" algn="ctr" defTabSz="91324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0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가동 준비</a:t>
            </a:r>
            <a:endParaRPr kumimoji="1" lang="en-US" altLang="ko-KR" sz="1000" b="0" i="0" u="none" strike="noStrike" kern="0" cap="none" spc="-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2B53610-3C95-18E3-D957-2E7D34D4E73F}"/>
              </a:ext>
            </a:extLst>
          </p:cNvPr>
          <p:cNvSpPr/>
          <p:nvPr/>
        </p:nvSpPr>
        <p:spPr>
          <a:xfrm>
            <a:off x="438893" y="1982939"/>
            <a:ext cx="1188000" cy="252000"/>
          </a:xfrm>
          <a:prstGeom prst="rect">
            <a:avLst/>
          </a:prstGeom>
          <a:solidFill>
            <a:schemeClr val="bg1"/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0" tIns="0" rIns="0" bIns="0" anchor="ctr"/>
          <a:lstStyle/>
          <a:p>
            <a:pPr marL="0" marR="0" lvl="0" indent="0" algn="ctr" defTabSz="91324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생산 준비</a:t>
            </a:r>
            <a:b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1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원자재</a:t>
            </a: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1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인원 등</a:t>
            </a: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  <a:endParaRPr kumimoji="1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6454ADF-A15D-D6F7-5C50-BC3E82C5220E}"/>
              </a:ext>
            </a:extLst>
          </p:cNvPr>
          <p:cNvSpPr/>
          <p:nvPr/>
        </p:nvSpPr>
        <p:spPr>
          <a:xfrm>
            <a:off x="438893" y="2296617"/>
            <a:ext cx="1188000" cy="252000"/>
          </a:xfrm>
          <a:prstGeom prst="rect">
            <a:avLst/>
          </a:prstGeom>
          <a:solidFill>
            <a:schemeClr val="bg1"/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0" tIns="0" rIns="0" bIns="0" anchor="ctr"/>
          <a:lstStyle/>
          <a:p>
            <a:pPr marL="0" marR="0" lvl="0" indent="0" algn="ctr" defTabSz="913246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Recipe 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세팅</a:t>
            </a:r>
            <a:b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(Recipe 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설정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W/O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확인 등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  <a:endParaRPr kumimoji="1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0B3D40A-63D5-FDFC-F966-6EA082E7D449}"/>
              </a:ext>
            </a:extLst>
          </p:cNvPr>
          <p:cNvSpPr/>
          <p:nvPr/>
        </p:nvSpPr>
        <p:spPr>
          <a:xfrm>
            <a:off x="438893" y="2610295"/>
            <a:ext cx="1188000" cy="252000"/>
          </a:xfrm>
          <a:prstGeom prst="rect">
            <a:avLst/>
          </a:prstGeom>
          <a:solidFill>
            <a:schemeClr val="bg1"/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0" tIns="0" rIns="0" bIns="0" anchor="ctr"/>
          <a:lstStyle/>
          <a:p>
            <a:pPr marL="0" marR="0" lvl="0" indent="0" algn="ctr" defTabSz="913246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재가동 점검</a:t>
            </a:r>
            <a:b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1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점검 항목 확인</a:t>
            </a: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  <a:endParaRPr kumimoji="1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F9845B68-BF76-E90C-3557-DD557C5023DE}"/>
              </a:ext>
            </a:extLst>
          </p:cNvPr>
          <p:cNvSpPr/>
          <p:nvPr/>
        </p:nvSpPr>
        <p:spPr>
          <a:xfrm>
            <a:off x="330893" y="4011757"/>
            <a:ext cx="1296000" cy="25200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17967" tIns="45628" rIns="17967" bIns="45628" anchor="ctr"/>
          <a:lstStyle/>
          <a:p>
            <a:pPr marL="0" marR="0" lvl="0" indent="0" algn="ctr" defTabSz="91324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0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품질 관리</a:t>
            </a:r>
            <a:endParaRPr kumimoji="1" lang="en-US" altLang="ko-KR" sz="1000" b="0" i="0" u="none" strike="noStrike" kern="0" cap="none" spc="-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F5F4FBAE-3EB4-47D4-6A40-C0D805EB1CC5}"/>
              </a:ext>
            </a:extLst>
          </p:cNvPr>
          <p:cNvSpPr/>
          <p:nvPr/>
        </p:nvSpPr>
        <p:spPr>
          <a:xfrm>
            <a:off x="438893" y="4325435"/>
            <a:ext cx="1188000" cy="252000"/>
          </a:xfrm>
          <a:prstGeom prst="rect">
            <a:avLst/>
          </a:prstGeom>
          <a:solidFill>
            <a:schemeClr val="bg1"/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0" tIns="0" rIns="0" bIns="0" anchor="ctr"/>
          <a:lstStyle/>
          <a:p>
            <a:pPr marL="0" marR="0" lvl="0" indent="0" algn="ctr" defTabSz="91324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공정 검사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5E75837C-1B69-6D46-3AFF-A548112603AB}"/>
              </a:ext>
            </a:extLst>
          </p:cNvPr>
          <p:cNvSpPr/>
          <p:nvPr/>
        </p:nvSpPr>
        <p:spPr>
          <a:xfrm>
            <a:off x="438893" y="4639113"/>
            <a:ext cx="1188000" cy="252000"/>
          </a:xfrm>
          <a:prstGeom prst="rect">
            <a:avLst/>
          </a:prstGeom>
          <a:solidFill>
            <a:schemeClr val="bg1"/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0" tIns="0" rIns="0" bIns="0" anchor="ctr"/>
          <a:lstStyle/>
          <a:p>
            <a:pPr marL="0" marR="0" lvl="0" indent="0" algn="ctr" defTabSz="913246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제</a:t>
            </a:r>
            <a:r>
              <a:rPr kumimoji="1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품 검사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20DC8D69-92AD-AD28-A51D-5E865A87E391}"/>
              </a:ext>
            </a:extLst>
          </p:cNvPr>
          <p:cNvSpPr/>
          <p:nvPr/>
        </p:nvSpPr>
        <p:spPr>
          <a:xfrm>
            <a:off x="330893" y="3032908"/>
            <a:ext cx="1296000" cy="25200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17967" tIns="45628" rIns="17967" bIns="45628" anchor="ctr"/>
          <a:lstStyle/>
          <a:p>
            <a:pPr marL="0" marR="0" lvl="0" indent="0" algn="ctr" defTabSz="91324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0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현장 및 실물 점검</a:t>
            </a:r>
            <a:endParaRPr kumimoji="1" lang="en-US" altLang="ko-KR" sz="1000" b="0" i="0" u="none" strike="noStrike" kern="0" cap="none" spc="-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4DBE815C-94CC-2BB1-11A6-6077B51FB46B}"/>
              </a:ext>
            </a:extLst>
          </p:cNvPr>
          <p:cNvSpPr/>
          <p:nvPr/>
        </p:nvSpPr>
        <p:spPr>
          <a:xfrm>
            <a:off x="438893" y="3346586"/>
            <a:ext cx="1188000" cy="252000"/>
          </a:xfrm>
          <a:prstGeom prst="rect">
            <a:avLst/>
          </a:prstGeom>
          <a:solidFill>
            <a:schemeClr val="bg1"/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0" tIns="0" rIns="0" bIns="0" anchor="ctr"/>
          <a:lstStyle/>
          <a:p>
            <a:pPr marL="0" marR="0" lvl="0" indent="0" algn="ctr" defTabSz="91324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제품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반제품 점검</a:t>
            </a:r>
            <a:endParaRPr kumimoji="1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4CEAA6C9-15EA-F489-EC83-A94ADB833736}"/>
              </a:ext>
            </a:extLst>
          </p:cNvPr>
          <p:cNvSpPr/>
          <p:nvPr/>
        </p:nvSpPr>
        <p:spPr>
          <a:xfrm>
            <a:off x="438893" y="3660265"/>
            <a:ext cx="1188000" cy="252000"/>
          </a:xfrm>
          <a:prstGeom prst="rect">
            <a:avLst/>
          </a:prstGeom>
          <a:solidFill>
            <a:schemeClr val="bg1"/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0" tIns="0" rIns="0" bIns="0" anchor="ctr"/>
          <a:lstStyle/>
          <a:p>
            <a:pPr marL="0" marR="0" lvl="0" indent="0" algn="ctr" defTabSz="913246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설비 상태 및 작동 점검</a:t>
            </a:r>
            <a:endParaRPr kumimoji="1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C21A86F9-1103-8B33-6FD3-5412CBC44062}"/>
              </a:ext>
            </a:extLst>
          </p:cNvPr>
          <p:cNvSpPr txBox="1"/>
          <p:nvPr/>
        </p:nvSpPr>
        <p:spPr>
          <a:xfrm>
            <a:off x="1164520" y="1289317"/>
            <a:ext cx="1399742" cy="271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As-Is / Pain-Point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59C985FB-ABF2-DF0A-7530-02F72B979501}"/>
              </a:ext>
            </a:extLst>
          </p:cNvPr>
          <p:cNvSpPr txBox="1"/>
          <p:nvPr/>
        </p:nvSpPr>
        <p:spPr>
          <a:xfrm>
            <a:off x="6889681" y="1207691"/>
            <a:ext cx="1797288" cy="3592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추진 배경 및 기대 효과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D751BBF-DC16-8B5D-4837-5F890B69C4E0}"/>
              </a:ext>
            </a:extLst>
          </p:cNvPr>
          <p:cNvSpPr txBox="1"/>
          <p:nvPr/>
        </p:nvSpPr>
        <p:spPr>
          <a:xfrm>
            <a:off x="3448606" y="1289317"/>
            <a:ext cx="1344086" cy="271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To-Be / </a:t>
            </a:r>
            <a:r>
              <a:rPr kumimoji="0" lang="ko-KR" altLang="en-US" sz="1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해결방안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1ED881DD-BC1E-F0DF-02E0-9F6B83854CCA}"/>
              </a:ext>
            </a:extLst>
          </p:cNvPr>
          <p:cNvSpPr/>
          <p:nvPr/>
        </p:nvSpPr>
        <p:spPr>
          <a:xfrm>
            <a:off x="1679313" y="3032908"/>
            <a:ext cx="1403532" cy="672867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92075" marR="0" lvl="0" indent="-9207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사람 경험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/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역량에 따라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</a:b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점검 수준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/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시간 차이 발생</a:t>
            </a:r>
          </a:p>
          <a:p>
            <a:pPr marL="92075" marR="0" lvl="0" indent="-9207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Noto Sans KR" pitchFamily="34" charset="-120"/>
            </a:endParaRPr>
          </a:p>
          <a:p>
            <a:pPr marL="92075" marR="0" lvl="0" indent="-9207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설비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/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자재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/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재고 상태 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</a:b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시스템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개별 접속 확인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/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0B9A8D1A-12D0-E7E6-FEF1-3A6C16F56048}"/>
              </a:ext>
            </a:extLst>
          </p:cNvPr>
          <p:cNvSpPr/>
          <p:nvPr/>
        </p:nvSpPr>
        <p:spPr>
          <a:xfrm>
            <a:off x="1679313" y="1628149"/>
            <a:ext cx="1403532" cy="1134532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92075" marR="0" lvl="0" indent="-9207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수작업으로 생산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W/O 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</a:b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확인 후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Recipe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세팅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</a:br>
            <a:endParaRPr kumimoji="0" lang="ko-KR" altLang="en-US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Noto Sans KR" pitchFamily="34" charset="-120"/>
            </a:endParaRPr>
          </a:p>
          <a:p>
            <a:pPr marL="92075" marR="0" lvl="0" indent="-9207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변경 오류 발생 가능성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</a:b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및 시간 소요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</a:br>
            <a:endParaRPr kumimoji="0" lang="ko-KR" altLang="en-US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Noto Sans KR" pitchFamily="34" charset="-120"/>
            </a:endParaRPr>
          </a:p>
          <a:p>
            <a:pPr marL="92075" marR="0" lvl="0" indent="-9207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작업자 숙련도에 따른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</a:b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세팅 편차</a:t>
            </a:r>
          </a:p>
          <a:p>
            <a:pPr marL="92075" marR="0" lvl="0" indent="-9207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A59089EE-76E7-727A-DAD8-F66B5AAA9D36}"/>
              </a:ext>
            </a:extLst>
          </p:cNvPr>
          <p:cNvSpPr txBox="1"/>
          <p:nvPr/>
        </p:nvSpPr>
        <p:spPr>
          <a:xfrm>
            <a:off x="1702315" y="1628149"/>
            <a:ext cx="72000" cy="1260000"/>
          </a:xfrm>
          <a:prstGeom prst="roundRect">
            <a:avLst>
              <a:gd name="adj" fmla="val 7352"/>
            </a:avLst>
          </a:prstGeom>
          <a:solidFill>
            <a:schemeClr val="accent5">
              <a:lumMod val="40000"/>
              <a:lumOff val="60000"/>
              <a:alpha val="50196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000" b="1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6BEE80D0-D9AC-1A4C-1E52-27674D982807}"/>
              </a:ext>
            </a:extLst>
          </p:cNvPr>
          <p:cNvSpPr txBox="1"/>
          <p:nvPr/>
        </p:nvSpPr>
        <p:spPr>
          <a:xfrm>
            <a:off x="1702315" y="3032908"/>
            <a:ext cx="72000" cy="2196000"/>
          </a:xfrm>
          <a:prstGeom prst="roundRect">
            <a:avLst>
              <a:gd name="adj" fmla="val 7352"/>
            </a:avLst>
          </a:prstGeom>
          <a:solidFill>
            <a:schemeClr val="accent5">
              <a:lumMod val="40000"/>
              <a:lumOff val="60000"/>
              <a:alpha val="50196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000" b="1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6AA7410-7F1B-7224-7C3C-B2C8D6A62251}"/>
              </a:ext>
            </a:extLst>
          </p:cNvPr>
          <p:cNvSpPr/>
          <p:nvPr/>
        </p:nvSpPr>
        <p:spPr>
          <a:xfrm>
            <a:off x="438893" y="4956619"/>
            <a:ext cx="1188000" cy="252000"/>
          </a:xfrm>
          <a:prstGeom prst="rect">
            <a:avLst/>
          </a:prstGeom>
          <a:solidFill>
            <a:schemeClr val="bg1"/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0" tIns="0" rIns="0" bIns="0" anchor="ctr"/>
          <a:lstStyle/>
          <a:p>
            <a:pPr marL="0" marR="0" lvl="0" indent="0" algn="ctr" defTabSz="913246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출하 검사 및 </a:t>
            </a: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FPO</a:t>
            </a:r>
            <a:endParaRPr kumimoji="1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5CF9D52F-5623-3A8B-A3CC-8F4913078628}"/>
              </a:ext>
            </a:extLst>
          </p:cNvPr>
          <p:cNvSpPr/>
          <p:nvPr/>
        </p:nvSpPr>
        <p:spPr>
          <a:xfrm>
            <a:off x="3009096" y="1628149"/>
            <a:ext cx="2807064" cy="710442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87313" marR="0" lvl="0" indent="-87313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동일모델 과거 생산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/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품질 데이터를 기반으로 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최적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Recipe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값을 자동 도출하여 추천 및 </a:t>
            </a:r>
            <a:r>
              <a:rPr kumimoji="0" lang="ko-KR" altLang="en-US" sz="1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설비</a:t>
            </a:r>
            <a:br>
              <a:rPr kumimoji="0" lang="en-US" altLang="ko-KR" sz="1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ko-KR" altLang="en-US" sz="1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자동 적용 </a:t>
            </a:r>
            <a:br>
              <a:rPr kumimoji="0" lang="en-US" altLang="ko-KR" sz="1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-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생산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Recipe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자동 변경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Agent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64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7DCF13-66D7-F901-DB39-C2F02E38FFB0}"/>
              </a:ext>
            </a:extLst>
          </p:cNvPr>
          <p:cNvSpPr txBox="1"/>
          <p:nvPr/>
        </p:nvSpPr>
        <p:spPr>
          <a:xfrm>
            <a:off x="279890" y="1472309"/>
            <a:ext cx="792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000" b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Tech/Operator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541D7C-EAB9-06E7-32F1-98334B4F46B5}"/>
              </a:ext>
            </a:extLst>
          </p:cNvPr>
          <p:cNvSpPr txBox="1"/>
          <p:nvPr/>
        </p:nvSpPr>
        <p:spPr>
          <a:xfrm>
            <a:off x="5532966" y="3481007"/>
            <a:ext cx="4257105" cy="758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2pPr marL="182563" marR="0" lvl="1" indent="-182563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m"/>
              <a:tabLst/>
              <a:defRPr kumimoji="0" sz="13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2pPr>
          </a:lstStyle>
          <a:p>
            <a:pPr lvl="1"/>
            <a:r>
              <a:rPr lang="ko-KR" altLang="en-US" dirty="0"/>
              <a:t>추진 방향</a:t>
            </a:r>
            <a:br>
              <a:rPr lang="en-US" altLang="ko-KR" dirty="0"/>
            </a:br>
            <a:r>
              <a:rPr lang="en-US" altLang="ko-KR" sz="1200" b="0" dirty="0"/>
              <a:t>- </a:t>
            </a:r>
            <a:r>
              <a:rPr lang="ko-KR" altLang="en-US" sz="1200" b="0" dirty="0"/>
              <a:t>최적 </a:t>
            </a:r>
            <a:r>
              <a:rPr lang="en-US" altLang="ko-KR" sz="1200" b="0" dirty="0"/>
              <a:t>Recipe</a:t>
            </a:r>
            <a:r>
              <a:rPr lang="ko-KR" altLang="en-US" sz="1200" b="0" dirty="0"/>
              <a:t>값 도출 및 추천</a:t>
            </a:r>
            <a:r>
              <a:rPr lang="en-US" altLang="ko-KR" sz="1200" b="0" dirty="0"/>
              <a:t>,</a:t>
            </a:r>
            <a:r>
              <a:rPr lang="ko-KR" altLang="en-US" sz="1200" b="0" dirty="0"/>
              <a:t> 초기 가동 점검은 </a:t>
            </a:r>
            <a:r>
              <a:rPr lang="en-US" altLang="ko-KR" sz="1200" b="0" dirty="0"/>
              <a:t>AI Agent</a:t>
            </a:r>
            <a:r>
              <a:rPr lang="ko-KR" altLang="en-US" sz="1200" b="0" dirty="0"/>
              <a:t>가</a:t>
            </a:r>
            <a:br>
              <a:rPr lang="en-US" altLang="ko-KR" sz="1200" b="0" dirty="0"/>
            </a:br>
            <a:r>
              <a:rPr lang="en-US" altLang="ko-KR" sz="1200" b="0" dirty="0"/>
              <a:t>  </a:t>
            </a:r>
            <a:r>
              <a:rPr lang="ko-KR" altLang="en-US" sz="1200" b="0" dirty="0"/>
              <a:t>담당하고</a:t>
            </a:r>
            <a:r>
              <a:rPr lang="en-US" altLang="ko-KR" sz="1200" b="0" dirty="0"/>
              <a:t>, </a:t>
            </a:r>
            <a:r>
              <a:rPr lang="ko-KR" altLang="en-US" sz="1200" b="0" dirty="0"/>
              <a:t>사람은 결과에 대한 비교</a:t>
            </a:r>
            <a:r>
              <a:rPr lang="en-US" altLang="ko-KR" sz="1200" b="0" dirty="0"/>
              <a:t>/</a:t>
            </a:r>
            <a:r>
              <a:rPr lang="ko-KR" altLang="en-US" sz="1200" b="0" dirty="0"/>
              <a:t>검증을 수행</a:t>
            </a:r>
            <a:endParaRPr lang="en-US" altLang="ko-KR" sz="1200" b="0" dirty="0"/>
          </a:p>
        </p:txBody>
      </p:sp>
      <p:sp>
        <p:nvSpPr>
          <p:cNvPr id="6" name="화살표: 오각형 5">
            <a:extLst>
              <a:ext uri="{FF2B5EF4-FFF2-40B4-BE49-F238E27FC236}">
                <a16:creationId xmlns:a16="http://schemas.microsoft.com/office/drawing/2014/main" id="{3347872C-803D-7D56-724D-372714D3DA05}"/>
              </a:ext>
            </a:extLst>
          </p:cNvPr>
          <p:cNvSpPr/>
          <p:nvPr/>
        </p:nvSpPr>
        <p:spPr>
          <a:xfrm>
            <a:off x="7377100" y="103823"/>
            <a:ext cx="2016000" cy="396000"/>
          </a:xfrm>
          <a:prstGeom prst="homePlate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noFill/>
          </a:ln>
        </p:spPr>
        <p:txBody>
          <a:bodyPr wrap="none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1" i="0" u="sng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09EFFCC-07AB-1677-4654-3D11FD98945F}"/>
              </a:ext>
            </a:extLst>
          </p:cNvPr>
          <p:cNvCxnSpPr>
            <a:cxnSpLocks/>
          </p:cNvCxnSpPr>
          <p:nvPr/>
        </p:nvCxnSpPr>
        <p:spPr>
          <a:xfrm>
            <a:off x="7485100" y="288448"/>
            <a:ext cx="1800000" cy="0"/>
          </a:xfrm>
          <a:prstGeom prst="line">
            <a:avLst/>
          </a:prstGeom>
          <a:ln w="127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35B18B5-16F1-3819-644A-08E4851786E3}"/>
              </a:ext>
            </a:extLst>
          </p:cNvPr>
          <p:cNvCxnSpPr>
            <a:cxnSpLocks/>
          </p:cNvCxnSpPr>
          <p:nvPr/>
        </p:nvCxnSpPr>
        <p:spPr>
          <a:xfrm>
            <a:off x="7485100" y="247594"/>
            <a:ext cx="0" cy="80403"/>
          </a:xfrm>
          <a:prstGeom prst="line">
            <a:avLst/>
          </a:prstGeom>
          <a:ln w="127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6C350DCD-F8EA-0D0B-806E-85CA8B882047}"/>
              </a:ext>
            </a:extLst>
          </p:cNvPr>
          <p:cNvCxnSpPr>
            <a:cxnSpLocks/>
          </p:cNvCxnSpPr>
          <p:nvPr/>
        </p:nvCxnSpPr>
        <p:spPr>
          <a:xfrm>
            <a:off x="7742243" y="247594"/>
            <a:ext cx="0" cy="80403"/>
          </a:xfrm>
          <a:prstGeom prst="line">
            <a:avLst/>
          </a:prstGeom>
          <a:ln w="127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280369C-214D-513D-0E58-45A9D4E6794B}"/>
              </a:ext>
            </a:extLst>
          </p:cNvPr>
          <p:cNvCxnSpPr/>
          <p:nvPr/>
        </p:nvCxnSpPr>
        <p:spPr>
          <a:xfrm>
            <a:off x="8256529" y="247594"/>
            <a:ext cx="0" cy="80403"/>
          </a:xfrm>
          <a:prstGeom prst="line">
            <a:avLst/>
          </a:prstGeom>
          <a:ln w="127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8D429EA-53A2-3EE2-B46B-01D13178E28F}"/>
              </a:ext>
            </a:extLst>
          </p:cNvPr>
          <p:cNvCxnSpPr>
            <a:cxnSpLocks/>
          </p:cNvCxnSpPr>
          <p:nvPr/>
        </p:nvCxnSpPr>
        <p:spPr>
          <a:xfrm>
            <a:off x="9285100" y="247594"/>
            <a:ext cx="0" cy="80403"/>
          </a:xfrm>
          <a:prstGeom prst="line">
            <a:avLst/>
          </a:prstGeom>
          <a:ln w="127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F9D2D435-4F53-077D-7F17-BEC22C7DE31A}"/>
              </a:ext>
            </a:extLst>
          </p:cNvPr>
          <p:cNvCxnSpPr/>
          <p:nvPr/>
        </p:nvCxnSpPr>
        <p:spPr>
          <a:xfrm>
            <a:off x="8770815" y="247594"/>
            <a:ext cx="0" cy="80403"/>
          </a:xfrm>
          <a:prstGeom prst="line">
            <a:avLst/>
          </a:prstGeom>
          <a:ln w="127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810928F4-F316-514B-5F26-68CBD582AA3D}"/>
              </a:ext>
            </a:extLst>
          </p:cNvPr>
          <p:cNvCxnSpPr>
            <a:cxnSpLocks/>
          </p:cNvCxnSpPr>
          <p:nvPr/>
        </p:nvCxnSpPr>
        <p:spPr>
          <a:xfrm>
            <a:off x="9027958" y="247594"/>
            <a:ext cx="0" cy="80403"/>
          </a:xfrm>
          <a:prstGeom prst="line">
            <a:avLst/>
          </a:prstGeom>
          <a:ln w="127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70E4D85-1DCE-07F9-C8AD-4028A5057E19}"/>
              </a:ext>
            </a:extLst>
          </p:cNvPr>
          <p:cNvSpPr/>
          <p:nvPr/>
        </p:nvSpPr>
        <p:spPr>
          <a:xfrm>
            <a:off x="7446523" y="118460"/>
            <a:ext cx="80150" cy="116377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L0</a:t>
            </a:r>
            <a:endParaRPr kumimoji="0" lang="ko-KR" altLang="en-US" sz="800" b="0" i="0" u="none" strike="noStrike" kern="1200" cap="none" spc="-5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2F6E2E09-AF4B-2D89-70A4-3D7ADF7CFC16}"/>
              </a:ext>
            </a:extLst>
          </p:cNvPr>
          <p:cNvGrpSpPr/>
          <p:nvPr/>
        </p:nvGrpSpPr>
        <p:grpSpPr>
          <a:xfrm>
            <a:off x="7839134" y="237331"/>
            <a:ext cx="201864" cy="291903"/>
            <a:chOff x="8091589" y="237331"/>
            <a:chExt cx="201864" cy="291903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F67A1179-05CA-A738-6827-A072EF443CB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45801" y="237331"/>
              <a:ext cx="93441" cy="9025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C3FE2888-8269-782C-968D-0C78734B9D97}"/>
                </a:ext>
              </a:extLst>
            </p:cNvPr>
            <p:cNvSpPr/>
            <p:nvPr/>
          </p:nvSpPr>
          <p:spPr>
            <a:xfrm>
              <a:off x="8091589" y="313786"/>
              <a:ext cx="201864" cy="215448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5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’25</a:t>
              </a:r>
              <a:endParaRPr kumimoji="0" lang="ko-KR" altLang="en-US" sz="8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5EA26DDB-2834-2409-1103-569F2C8C7A43}"/>
              </a:ext>
            </a:extLst>
          </p:cNvPr>
          <p:cNvGrpSpPr/>
          <p:nvPr/>
        </p:nvGrpSpPr>
        <p:grpSpPr>
          <a:xfrm>
            <a:off x="8789402" y="233530"/>
            <a:ext cx="201864" cy="295704"/>
            <a:chOff x="8910052" y="233530"/>
            <a:chExt cx="201864" cy="295704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7268B7D4-7515-9F22-9AAF-1F222B605D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64264" y="233530"/>
              <a:ext cx="93441" cy="90257"/>
            </a:xfrm>
            <a:prstGeom prst="ellipse">
              <a:avLst/>
            </a:prstGeom>
            <a:solidFill>
              <a:srgbClr val="006600"/>
            </a:solidFill>
            <a:ln w="12700"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532BA702-CC7F-3FD7-92F6-0B0D1AD9834F}"/>
                </a:ext>
              </a:extLst>
            </p:cNvPr>
            <p:cNvSpPr/>
            <p:nvPr/>
          </p:nvSpPr>
          <p:spPr>
            <a:xfrm>
              <a:off x="8910052" y="313786"/>
              <a:ext cx="201864" cy="215448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5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’30</a:t>
              </a:r>
              <a:endParaRPr kumimoji="0" lang="ko-KR" altLang="en-US" sz="8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3BC8F09D-8798-025C-521E-57E5E9B6961A}"/>
              </a:ext>
            </a:extLst>
          </p:cNvPr>
          <p:cNvGrpSpPr/>
          <p:nvPr/>
        </p:nvGrpSpPr>
        <p:grpSpPr>
          <a:xfrm>
            <a:off x="8268725" y="229642"/>
            <a:ext cx="339167" cy="299592"/>
            <a:chOff x="8224275" y="229642"/>
            <a:chExt cx="339167" cy="299592"/>
          </a:xfrm>
        </p:grpSpPr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75C6D02E-8FFC-73BB-1D16-89EFD031A59D}"/>
                </a:ext>
              </a:extLst>
            </p:cNvPr>
            <p:cNvSpPr/>
            <p:nvPr/>
          </p:nvSpPr>
          <p:spPr>
            <a:xfrm>
              <a:off x="8224275" y="313786"/>
              <a:ext cx="339167" cy="215448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spc="-5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경쟁사</a:t>
              </a:r>
            </a:p>
          </p:txBody>
        </p:sp>
        <p:sp>
          <p:nvSpPr>
            <p:cNvPr id="46" name="이등변 삼각형 45">
              <a:extLst>
                <a:ext uri="{FF2B5EF4-FFF2-40B4-BE49-F238E27FC236}">
                  <a16:creationId xmlns:a16="http://schemas.microsoft.com/office/drawing/2014/main" id="{C3C4DEA7-B5F5-1FEE-1747-AFFD2151418E}"/>
                </a:ext>
              </a:extLst>
            </p:cNvPr>
            <p:cNvSpPr/>
            <p:nvPr/>
          </p:nvSpPr>
          <p:spPr>
            <a:xfrm>
              <a:off x="8330649" y="229642"/>
              <a:ext cx="126418" cy="108982"/>
            </a:xfrm>
            <a:prstGeom prst="triangle">
              <a:avLst/>
            </a:prstGeom>
            <a:solidFill>
              <a:schemeClr val="bg1"/>
            </a:solidFill>
            <a:ln w="12700"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9C82C8D-161B-F274-336B-C7A3A9C5E8A2}"/>
              </a:ext>
            </a:extLst>
          </p:cNvPr>
          <p:cNvSpPr/>
          <p:nvPr/>
        </p:nvSpPr>
        <p:spPr>
          <a:xfrm>
            <a:off x="9243050" y="122006"/>
            <a:ext cx="80150" cy="116377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L7</a:t>
            </a:r>
            <a:endParaRPr kumimoji="0" lang="ko-KR" altLang="en-US" sz="800" b="0" i="0" u="none" strike="noStrike" kern="1200" cap="none" spc="-5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3FDB0B67-BB02-2078-6C1B-C53D70F88606}"/>
              </a:ext>
            </a:extLst>
          </p:cNvPr>
          <p:cNvCxnSpPr>
            <a:cxnSpLocks/>
          </p:cNvCxnSpPr>
          <p:nvPr/>
        </p:nvCxnSpPr>
        <p:spPr>
          <a:xfrm>
            <a:off x="7999386" y="247594"/>
            <a:ext cx="0" cy="80403"/>
          </a:xfrm>
          <a:prstGeom prst="line">
            <a:avLst/>
          </a:prstGeom>
          <a:ln w="127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21BE3739-4862-BF45-18F7-286FC7089CB2}"/>
              </a:ext>
            </a:extLst>
          </p:cNvPr>
          <p:cNvCxnSpPr>
            <a:cxnSpLocks/>
          </p:cNvCxnSpPr>
          <p:nvPr/>
        </p:nvCxnSpPr>
        <p:spPr>
          <a:xfrm>
            <a:off x="8513672" y="247594"/>
            <a:ext cx="0" cy="80403"/>
          </a:xfrm>
          <a:prstGeom prst="line">
            <a:avLst/>
          </a:prstGeom>
          <a:ln w="127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43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제목 30">
            <a:extLst>
              <a:ext uri="{FF2B5EF4-FFF2-40B4-BE49-F238E27FC236}">
                <a16:creationId xmlns:a16="http://schemas.microsoft.com/office/drawing/2014/main" id="{91A88A39-F7D5-4326-8776-D341E3006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58" y="93487"/>
            <a:ext cx="2699476" cy="365125"/>
          </a:xfrm>
        </p:spPr>
        <p:txBody>
          <a:bodyPr/>
          <a:lstStyle/>
          <a:p>
            <a:r>
              <a:rPr lang="ko-KR" altLang="en-US" sz="1800" dirty="0"/>
              <a:t>보조</a:t>
            </a:r>
            <a:r>
              <a:rPr lang="en-US" altLang="ko-KR" sz="1800" dirty="0"/>
              <a:t>. </a:t>
            </a:r>
            <a:r>
              <a:rPr lang="ko-KR" altLang="en-US" dirty="0"/>
              <a:t>생산 계획</a:t>
            </a:r>
            <a:endParaRPr lang="ko-KR" altLang="en-US" sz="18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2" name="텍스트 개체 틀 31">
            <a:extLst>
              <a:ext uri="{FF2B5EF4-FFF2-40B4-BE49-F238E27FC236}">
                <a16:creationId xmlns:a16="http://schemas.microsoft.com/office/drawing/2014/main" id="{D3EC65D4-53E7-40AC-B969-810FA76B40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4746" y="513156"/>
            <a:ext cx="9298018" cy="365125"/>
          </a:xfrm>
        </p:spPr>
        <p:txBody>
          <a:bodyPr/>
          <a:lstStyle/>
          <a:p>
            <a:pPr fontAlgn="base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tabLst>
                <a:tab pos="809625" algn="l"/>
              </a:tabLst>
            </a:pPr>
            <a:r>
              <a:rPr kumimoji="1" lang="en-US" altLang="ko-KR" dirty="0">
                <a:solidFill>
                  <a:prstClr val="black"/>
                </a:solidFill>
                <a:ea typeface="LG스마트체 Regular"/>
                <a:cs typeface="Arial" panose="020B0604020202020204" pitchFamily="34" charset="0"/>
              </a:rPr>
              <a:t>AI </a:t>
            </a:r>
            <a:r>
              <a:rPr kumimoji="1" lang="ko-KR" altLang="en-US" dirty="0">
                <a:solidFill>
                  <a:prstClr val="black"/>
                </a:solidFill>
                <a:ea typeface="LG스마트체 Regular"/>
                <a:cs typeface="Arial" panose="020B0604020202020204" pitchFamily="34" charset="0"/>
              </a:rPr>
              <a:t>기반 생산 계획 수립으로 </a:t>
            </a:r>
            <a:r>
              <a:rPr kumimoji="1" lang="en-US" altLang="ko-KR" dirty="0">
                <a:solidFill>
                  <a:prstClr val="black"/>
                </a:solidFill>
                <a:ea typeface="LG스마트체 Regular"/>
                <a:cs typeface="Arial" panose="020B0604020202020204" pitchFamily="34" charset="0"/>
              </a:rPr>
              <a:t>90% </a:t>
            </a:r>
            <a:r>
              <a:rPr kumimoji="1" lang="ko-KR" altLang="en-US" dirty="0">
                <a:solidFill>
                  <a:prstClr val="black"/>
                </a:solidFill>
                <a:ea typeface="LG스마트체 Regular"/>
                <a:cs typeface="Arial" panose="020B0604020202020204" pitchFamily="34" charset="0"/>
              </a:rPr>
              <a:t>업무 자동화 및 긴급 수요 변경에 대하여 즉시 대응 가능한 체계를 구축하고자 함 </a:t>
            </a:r>
            <a:endParaRPr kumimoji="1" lang="en-US" altLang="ko-KR" dirty="0">
              <a:solidFill>
                <a:prstClr val="black"/>
              </a:solidFill>
              <a:ea typeface="LG스마트체 Regular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D6B58AE-F769-E24F-069B-B99F8181F7AF}"/>
              </a:ext>
            </a:extLst>
          </p:cNvPr>
          <p:cNvSpPr txBox="1"/>
          <p:nvPr/>
        </p:nvSpPr>
        <p:spPr>
          <a:xfrm>
            <a:off x="1164519" y="1289317"/>
            <a:ext cx="1399743" cy="271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 Arial Narrow" panose="020B0600000101010101"/>
                <a:ea typeface="LG스마트체 Regular" panose="020B0600000101010101" pitchFamily="50" charset="-127"/>
                <a:cs typeface="+mn-cs"/>
              </a:rPr>
              <a:t>As-Is / Pain-Point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 Arial Narrow" panose="020B0600000101010101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584451F-5AF0-4099-B3A1-8C1961C7481E}"/>
              </a:ext>
            </a:extLst>
          </p:cNvPr>
          <p:cNvSpPr txBox="1"/>
          <p:nvPr/>
        </p:nvSpPr>
        <p:spPr>
          <a:xfrm>
            <a:off x="5532966" y="2461019"/>
            <a:ext cx="4257105" cy="915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marR="0" lvl="1" indent="-182563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m"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추진 배경 및 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Pain Point</a:t>
            </a:r>
            <a:b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계획 수립 및 변경 과정에서 수작업 비율이 높음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긴급 변동 사항에 대한 대응 속도가 늦어지는 문제 발생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D4F9D8E-ED77-A75F-8ED0-7CDD68D351F0}"/>
              </a:ext>
            </a:extLst>
          </p:cNvPr>
          <p:cNvSpPr txBox="1"/>
          <p:nvPr/>
        </p:nvSpPr>
        <p:spPr>
          <a:xfrm>
            <a:off x="5532966" y="4381666"/>
            <a:ext cx="4257105" cy="112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marR="0" lvl="1" indent="-182563" algn="l" defTabSz="4572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m"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기대 효과 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정성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정량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</a:p>
          <a:p>
            <a:pPr marL="268288" marR="0" lvl="2" indent="-92075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업무 소요 시간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90%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단축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268288" marR="0" lvl="2" indent="-92075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계획 정확도 향상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268288" marR="0" lvl="2" indent="-92075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시장 변화 등 긴급 수요 변경에 대한 즉 대응 가능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41AD17-6B42-5957-5509-B74B800D37EF}"/>
              </a:ext>
            </a:extLst>
          </p:cNvPr>
          <p:cNvSpPr txBox="1"/>
          <p:nvPr/>
        </p:nvSpPr>
        <p:spPr>
          <a:xfrm>
            <a:off x="6905711" y="1207691"/>
            <a:ext cx="1765227" cy="3579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 Arial Narrow" panose="020B0600000101010101"/>
                <a:ea typeface="LG스마트체 Regular" panose="020B0600000101010101" pitchFamily="50" charset="-127"/>
                <a:cs typeface="+mn-cs"/>
              </a:rPr>
              <a:t>추진 배경 및 기대 효과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 Arial Narrow" panose="020B0600000101010101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8C8D52-5DBF-32E3-8B37-69893AB5EB99}"/>
              </a:ext>
            </a:extLst>
          </p:cNvPr>
          <p:cNvSpPr txBox="1"/>
          <p:nvPr/>
        </p:nvSpPr>
        <p:spPr>
          <a:xfrm>
            <a:off x="5532966" y="1579179"/>
            <a:ext cx="4213013" cy="758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marR="0" lvl="1" indent="-182563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m"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업무 정의</a:t>
            </a:r>
            <a:b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반제품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제품 생산계획을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수립하고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수요 예측 기반 공급 계획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최적화</a:t>
            </a:r>
            <a:r>
              <a:rPr lang="ko-KR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와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생산량 시뮬레이션을 통해 실시간 수요 변경 대응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8" name="실행 단추: 홈으로 이동 37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5B082C21-A57E-48ED-3CDC-90AC5E348C16}"/>
              </a:ext>
            </a:extLst>
          </p:cNvPr>
          <p:cNvSpPr/>
          <p:nvPr/>
        </p:nvSpPr>
        <p:spPr>
          <a:xfrm>
            <a:off x="9464696" y="179831"/>
            <a:ext cx="253492" cy="253492"/>
          </a:xfrm>
          <a:prstGeom prst="actionButtonHom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E235A92-3A31-886B-2FD7-2C6AD662EBF8}"/>
              </a:ext>
            </a:extLst>
          </p:cNvPr>
          <p:cNvSpPr txBox="1"/>
          <p:nvPr/>
        </p:nvSpPr>
        <p:spPr>
          <a:xfrm>
            <a:off x="3448605" y="1289317"/>
            <a:ext cx="1344087" cy="271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 Arial Narrow" panose="020B0600000101010101"/>
                <a:ea typeface="LG스마트체 Regular" panose="020B0600000101010101" pitchFamily="50" charset="-127"/>
                <a:cs typeface="+mn-cs"/>
              </a:rPr>
              <a:t>To-Be / </a:t>
            </a:r>
            <a:r>
              <a:rPr kumimoji="0" lang="ko-KR" altLang="en-US" sz="1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 Arial Narrow" panose="020B0600000101010101"/>
                <a:ea typeface="LG스마트체 Regular" panose="020B0600000101010101" pitchFamily="50" charset="-127"/>
                <a:cs typeface="+mn-cs"/>
              </a:rPr>
              <a:t>해결방안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 Arial Narrow" panose="020B0600000101010101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62F7FD31-9E88-3A27-04AD-148467B6FA83}"/>
              </a:ext>
            </a:extLst>
          </p:cNvPr>
          <p:cNvSpPr/>
          <p:nvPr/>
        </p:nvSpPr>
        <p:spPr>
          <a:xfrm>
            <a:off x="1679313" y="4931008"/>
            <a:ext cx="1403532" cy="811367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92075" marR="0" lvl="0" indent="-9207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Tray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및 운송 부자재 회수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</a:b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등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Shortage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여부를 유관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</a:b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부서를 통해 확인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</a:br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Noto Sans KR" pitchFamily="34" charset="-120"/>
            </a:endParaRPr>
          </a:p>
          <a:p>
            <a:pPr marL="92075" marR="0" lvl="0" indent="-9207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전수 실적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,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보류재고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</a:b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수작업 파악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/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분석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/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C358E161-953B-8D43-11E3-1120835E097A}"/>
              </a:ext>
            </a:extLst>
          </p:cNvPr>
          <p:cNvSpPr/>
          <p:nvPr/>
        </p:nvSpPr>
        <p:spPr>
          <a:xfrm>
            <a:off x="1679314" y="3733364"/>
            <a:ext cx="1403532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88900" marR="0" lvl="0" indent="-88900" algn="l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긴급 수요 변경 시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,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</a:b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검토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/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회신 오래 걸림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(3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일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)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</a:br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Noto Sans KR" pitchFamily="34" charset="-120"/>
            </a:endParaRPr>
          </a:p>
          <a:p>
            <a:pPr marL="88900" marR="0" lvl="0" indent="-88900" algn="l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사람 경험적 판단에 의한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</a:b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검토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(8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주치 계획 수립 후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</a:b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주단위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Rolling)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</a:br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Noto Sans KR" pitchFamily="34" charset="-120"/>
            </a:endParaRPr>
          </a:p>
          <a:p>
            <a:pPr marL="88900" marR="0" lvl="0" indent="-88900" algn="l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엑셀 기반 관리 및 업로드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DC5C92-BFB6-6B96-0432-E7958CE41974}"/>
              </a:ext>
            </a:extLst>
          </p:cNvPr>
          <p:cNvSpPr txBox="1"/>
          <p:nvPr/>
        </p:nvSpPr>
        <p:spPr>
          <a:xfrm>
            <a:off x="7145743" y="4721242"/>
            <a:ext cx="202266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000" b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1,440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분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(3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일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 → 120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분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(2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시간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7D75DAE-75F0-72FD-A351-4AC30BF64AC4}"/>
              </a:ext>
            </a:extLst>
          </p:cNvPr>
          <p:cNvSpPr/>
          <p:nvPr/>
        </p:nvSpPr>
        <p:spPr>
          <a:xfrm>
            <a:off x="331240" y="1628149"/>
            <a:ext cx="1296000" cy="25200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17967" tIns="45628" rIns="17967" bIns="45628" anchor="ctr"/>
          <a:lstStyle/>
          <a:p>
            <a:pPr marL="0" marR="0" lvl="0" indent="0" algn="ctr" defTabSz="91324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정보 확인</a:t>
            </a:r>
            <a:endParaRPr kumimoji="1" lang="en-US" altLang="ko-KR" sz="1000" b="0" i="0" u="none" strike="noStrike" kern="0" cap="none" spc="-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E076DF2-987B-0553-656C-C4EC58BA7472}"/>
              </a:ext>
            </a:extLst>
          </p:cNvPr>
          <p:cNvSpPr/>
          <p:nvPr/>
        </p:nvSpPr>
        <p:spPr>
          <a:xfrm>
            <a:off x="439240" y="1916746"/>
            <a:ext cx="1188000" cy="252000"/>
          </a:xfrm>
          <a:prstGeom prst="rect">
            <a:avLst/>
          </a:prstGeom>
          <a:solidFill>
            <a:schemeClr val="bg1"/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0" tIns="0" rIns="0" bIns="0" anchor="ctr"/>
          <a:lstStyle/>
          <a:p>
            <a:pPr marL="0" marR="0" lvl="0" indent="0" algn="ctr" defTabSz="91324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Capa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.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산출 관련 기준정보</a:t>
            </a:r>
            <a:b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0" lang="ko-KR" altLang="en-US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수율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가동률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/Tact time 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등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  <a:endParaRPr kumimoji="1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0D71E92-FDF2-7384-015E-6D42F9D27029}"/>
              </a:ext>
            </a:extLst>
          </p:cNvPr>
          <p:cNvSpPr/>
          <p:nvPr/>
        </p:nvSpPr>
        <p:spPr>
          <a:xfrm>
            <a:off x="439240" y="2208340"/>
            <a:ext cx="1188000" cy="252000"/>
          </a:xfrm>
          <a:prstGeom prst="rect">
            <a:avLst/>
          </a:prstGeom>
          <a:solidFill>
            <a:schemeClr val="bg1"/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0" tIns="0" rIns="0" bIns="0" anchor="ctr"/>
          <a:lstStyle/>
          <a:p>
            <a:pPr marL="0" marR="0" lvl="0" indent="0" algn="ctr" defTabSz="91324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고객 수요 변동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marR="0" lvl="0" indent="0" algn="ctr" defTabSz="91324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SCM 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중장기 계획</a:t>
            </a:r>
            <a:endParaRPr kumimoji="1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EDABA48-66F0-FB83-2A1C-A24E04AF936D}"/>
              </a:ext>
            </a:extLst>
          </p:cNvPr>
          <p:cNvSpPr/>
          <p:nvPr/>
        </p:nvSpPr>
        <p:spPr>
          <a:xfrm>
            <a:off x="331240" y="4931008"/>
            <a:ext cx="1296000" cy="25200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17967" tIns="45628" rIns="17967" bIns="45628" anchor="ctr"/>
          <a:lstStyle/>
          <a:p>
            <a:pPr marL="0" marR="0" lvl="0" indent="0" algn="ctr" defTabSz="91324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0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생산 </a:t>
            </a:r>
            <a:r>
              <a:rPr kumimoji="0" lang="ko-KR" altLang="en-US" sz="1000" b="0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실적 및 출하 관리</a:t>
            </a:r>
            <a:endParaRPr kumimoji="1" lang="en-US" altLang="ko-KR" sz="1000" b="0" i="0" u="none" strike="noStrike" kern="0" cap="none" spc="-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D5ABA8A-8013-2B0F-D217-35E17FC5C4CB}"/>
              </a:ext>
            </a:extLst>
          </p:cNvPr>
          <p:cNvSpPr/>
          <p:nvPr/>
        </p:nvSpPr>
        <p:spPr>
          <a:xfrm>
            <a:off x="439240" y="5229130"/>
            <a:ext cx="1188000" cy="252000"/>
          </a:xfrm>
          <a:prstGeom prst="rect">
            <a:avLst/>
          </a:prstGeom>
          <a:solidFill>
            <a:schemeClr val="bg1"/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0" tIns="0" rIns="0" bIns="0" anchor="ctr"/>
          <a:lstStyle/>
          <a:p>
            <a:pPr marL="0" marR="0" lvl="0" indent="0" algn="ctr" defTabSz="91324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계획 대 초과</a:t>
            </a:r>
            <a:r>
              <a:rPr kumimoji="1" lang="en-US" altLang="ko-K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1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미달 실적 확인</a:t>
            </a:r>
            <a:endParaRPr kumimoji="1" lang="en-US" altLang="ko-KR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marR="0" lvl="0" indent="0" algn="ctr" defTabSz="91324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보류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/Hold 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재고건정성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_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순환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  <a:endParaRPr kumimoji="1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8BA956F-4836-2825-68FB-DCD953BC6AD9}"/>
              </a:ext>
            </a:extLst>
          </p:cNvPr>
          <p:cNvSpPr/>
          <p:nvPr/>
        </p:nvSpPr>
        <p:spPr>
          <a:xfrm>
            <a:off x="439240" y="5522601"/>
            <a:ext cx="1188000" cy="252000"/>
          </a:xfrm>
          <a:prstGeom prst="rect">
            <a:avLst/>
          </a:prstGeom>
          <a:solidFill>
            <a:schemeClr val="bg1"/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0" tIns="0" rIns="0" bIns="0" anchor="ctr"/>
          <a:lstStyle/>
          <a:p>
            <a:pPr marL="0" marR="0" lvl="0" indent="0" algn="ctr" defTabSz="91324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출하 실적 확인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marR="0" lvl="0" indent="0" algn="ctr" defTabSz="91324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1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운송 부자재 회수 등</a:t>
            </a:r>
            <a:r>
              <a:rPr kumimoji="1" lang="en-US" altLang="ko-K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  <a:endParaRPr kumimoji="1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DCCCC13-2FED-4355-84F1-E789C38FA4D8}"/>
              </a:ext>
            </a:extLst>
          </p:cNvPr>
          <p:cNvSpPr/>
          <p:nvPr/>
        </p:nvSpPr>
        <p:spPr>
          <a:xfrm>
            <a:off x="439240" y="5816072"/>
            <a:ext cx="1188000" cy="252000"/>
          </a:xfrm>
          <a:prstGeom prst="rect">
            <a:avLst/>
          </a:prstGeom>
          <a:solidFill>
            <a:schemeClr val="bg1"/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0" tIns="0" rIns="0" bIns="0" anchor="ctr"/>
          <a:lstStyle/>
          <a:p>
            <a:pPr marL="0" marR="0" lvl="0" indent="0" algn="ctr" defTabSz="91324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재작업 물량 운영 계획 확인</a:t>
            </a:r>
            <a:endParaRPr kumimoji="1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649E6882-C56E-5A41-168F-AA0643BBCA4C}"/>
              </a:ext>
            </a:extLst>
          </p:cNvPr>
          <p:cNvSpPr/>
          <p:nvPr/>
        </p:nvSpPr>
        <p:spPr>
          <a:xfrm>
            <a:off x="439240" y="2499933"/>
            <a:ext cx="1188000" cy="252000"/>
          </a:xfrm>
          <a:prstGeom prst="rect">
            <a:avLst/>
          </a:prstGeom>
          <a:solidFill>
            <a:schemeClr val="bg1"/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0" tIns="0" rIns="0" bIns="0" anchor="ctr"/>
          <a:lstStyle/>
          <a:p>
            <a:pPr marL="0" marR="0" lvl="0" indent="0" algn="ctr" defTabSz="91324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운영상태 정보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marR="0" lvl="0" indent="0" algn="ctr" defTabSz="91324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1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재공</a:t>
            </a:r>
            <a:r>
              <a:rPr kumimoji="1" lang="en-US" altLang="ko-K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1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재고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원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.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부자재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창고 등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  <a:endParaRPr kumimoji="1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B9F99808-7206-74B2-2178-AD3B4D7B5353}"/>
              </a:ext>
            </a:extLst>
          </p:cNvPr>
          <p:cNvSpPr/>
          <p:nvPr/>
        </p:nvSpPr>
        <p:spPr>
          <a:xfrm>
            <a:off x="439240" y="2792020"/>
            <a:ext cx="1188000" cy="252000"/>
          </a:xfrm>
          <a:prstGeom prst="rect">
            <a:avLst/>
          </a:prstGeom>
          <a:solidFill>
            <a:schemeClr val="bg1"/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0" tIns="0" rIns="0" bIns="0" anchor="ctr"/>
          <a:lstStyle/>
          <a:p>
            <a:pPr marL="0" marR="0" lvl="0" indent="0" algn="ctr" defTabSz="91324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Test 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물동 점검</a:t>
            </a:r>
            <a:endParaRPr kumimoji="1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AB2751FF-7199-1ADA-5576-A27BFF117013}"/>
              </a:ext>
            </a:extLst>
          </p:cNvPr>
          <p:cNvSpPr/>
          <p:nvPr/>
        </p:nvSpPr>
        <p:spPr>
          <a:xfrm>
            <a:off x="439240" y="3084107"/>
            <a:ext cx="1188000" cy="252000"/>
          </a:xfrm>
          <a:prstGeom prst="rect">
            <a:avLst/>
          </a:prstGeom>
          <a:solidFill>
            <a:schemeClr val="bg1"/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0" tIns="0" rIns="0" bIns="0" anchor="ctr"/>
          <a:lstStyle/>
          <a:p>
            <a:pPr marL="0" marR="0" lvl="0" indent="0" algn="ctr" defTabSz="91324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설비 개선</a:t>
            </a:r>
            <a:r>
              <a:rPr kumimoji="1" lang="en-US" altLang="ko-K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1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개조 공사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marR="0" lvl="0" indent="0" algn="ctr" defTabSz="91324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1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형개발 포함</a:t>
            </a:r>
            <a:r>
              <a:rPr kumimoji="1" lang="en-US" altLang="ko-K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  <a:endParaRPr kumimoji="1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E9A98ED7-38E2-CC6C-D011-D3B08F2F734A}"/>
              </a:ext>
            </a:extLst>
          </p:cNvPr>
          <p:cNvSpPr/>
          <p:nvPr/>
        </p:nvSpPr>
        <p:spPr>
          <a:xfrm>
            <a:off x="439240" y="3378389"/>
            <a:ext cx="1188000" cy="252000"/>
          </a:xfrm>
          <a:prstGeom prst="rect">
            <a:avLst/>
          </a:prstGeom>
          <a:solidFill>
            <a:schemeClr val="bg1"/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0" tIns="0" rIns="0" bIns="0" anchor="ctr"/>
          <a:lstStyle/>
          <a:p>
            <a:pPr marL="0" marR="0" lvl="0" indent="0" algn="ctr" defTabSz="91324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원자재 수급</a:t>
            </a:r>
            <a:r>
              <a:rPr kumimoji="1" lang="en-US" altLang="ko-K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kumimoji="1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사외 물류</a:t>
            </a:r>
            <a:endParaRPr kumimoji="1" lang="en-US" altLang="ko-KR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marR="0" lvl="0" indent="0" algn="ctr" defTabSz="91324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이슈 등 기타 이슈</a:t>
            </a:r>
            <a:endParaRPr kumimoji="1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F159D907-6A06-251E-4477-8BAA3E6C7856}"/>
              </a:ext>
            </a:extLst>
          </p:cNvPr>
          <p:cNvSpPr/>
          <p:nvPr/>
        </p:nvSpPr>
        <p:spPr>
          <a:xfrm>
            <a:off x="331240" y="3733364"/>
            <a:ext cx="1296000" cy="25200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17967" tIns="45628" rIns="17967" bIns="45628" anchor="ctr"/>
          <a:lstStyle/>
          <a:p>
            <a:pPr marL="0" marR="0" lvl="0" indent="0" algn="ctr" defTabSz="91324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0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생산 실행 계획 수립</a:t>
            </a:r>
            <a:r>
              <a:rPr kumimoji="1" lang="en-US" altLang="ko-KR" sz="1000" b="0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1" lang="ko-KR" altLang="en-US" sz="1000" b="0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배포</a:t>
            </a:r>
            <a:endParaRPr kumimoji="1" lang="en-US" altLang="ko-KR" sz="1000" b="0" i="0" u="none" strike="noStrike" kern="0" cap="none" spc="-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9672E3D6-C3A2-09E6-E76E-5E86A82BF1FF}"/>
              </a:ext>
            </a:extLst>
          </p:cNvPr>
          <p:cNvSpPr/>
          <p:nvPr/>
        </p:nvSpPr>
        <p:spPr>
          <a:xfrm>
            <a:off x="439240" y="4031486"/>
            <a:ext cx="1188000" cy="252000"/>
          </a:xfrm>
          <a:prstGeom prst="rect">
            <a:avLst/>
          </a:prstGeom>
          <a:solidFill>
            <a:schemeClr val="bg1"/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0" tIns="0" rIns="0" bIns="0" anchor="ctr"/>
          <a:lstStyle/>
          <a:p>
            <a:pPr marL="0" marR="0" lvl="0" indent="0" algn="ctr" defTabSz="91324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FP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계획 작성 및 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Simulation</a:t>
            </a:r>
            <a:endParaRPr kumimoji="1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F1EA0966-BE64-03D6-7E37-41831F9F9EE8}"/>
              </a:ext>
            </a:extLst>
          </p:cNvPr>
          <p:cNvSpPr/>
          <p:nvPr/>
        </p:nvSpPr>
        <p:spPr>
          <a:xfrm>
            <a:off x="439240" y="4329608"/>
            <a:ext cx="1188000" cy="252000"/>
          </a:xfrm>
          <a:prstGeom prst="rect">
            <a:avLst/>
          </a:prstGeom>
          <a:solidFill>
            <a:schemeClr val="bg1"/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</p:spPr>
        <p:txBody>
          <a:bodyPr wrap="square" lIns="0" tIns="0" rIns="0" bIns="0" anchor="ctr"/>
          <a:lstStyle/>
          <a:p>
            <a:pPr marL="0" marR="0" lvl="0" indent="0" algn="ctr" defTabSz="91324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공정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호기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일자별 계획 </a:t>
            </a:r>
            <a:r>
              <a:rPr kumimoji="1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확정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72BF3FA1-824D-5BB1-0351-09577F13A8E6}"/>
              </a:ext>
            </a:extLst>
          </p:cNvPr>
          <p:cNvSpPr/>
          <p:nvPr/>
        </p:nvSpPr>
        <p:spPr>
          <a:xfrm>
            <a:off x="3009096" y="1628149"/>
            <a:ext cx="2807064" cy="1595299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87313" marR="0" lvl="0" indent="-87313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주요 기준 정보 실적치 모니터링을 통한 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자동 업데이트 및 최적 값 제안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기준정보 최적화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Agent</a:t>
            </a:r>
          </a:p>
          <a:p>
            <a:pPr marL="87313" marR="0" lvl="0" indent="-87313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고객 수요 및 시장 데이터 연동을 통한 실시간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단기 수요 변동 포착 및 리스크 사전 알람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수요 변동 리스크 감지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Agent</a:t>
            </a:r>
          </a:p>
          <a:p>
            <a:pPr marL="87313" marR="0" lvl="0" indent="-87313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재공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/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재고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/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원부자재 현황 실시간 파악 및 수급 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이슈 사전 모니터링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재고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/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원자재 수급 현황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Agent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193B0B6B-87CA-23A0-D673-AB6B70B1C038}"/>
              </a:ext>
            </a:extLst>
          </p:cNvPr>
          <p:cNvSpPr/>
          <p:nvPr/>
        </p:nvSpPr>
        <p:spPr>
          <a:xfrm>
            <a:off x="3009096" y="3733364"/>
            <a:ext cx="2807064" cy="1072079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87313" marR="0" lvl="0" indent="-87313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계획 대비 실적 실시간 대조 및 차이 발생 시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원인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설비 고장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원자재 지연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)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자동 분석</a:t>
            </a:r>
            <a:b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실적 자동 분석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Agent</a:t>
            </a:r>
          </a:p>
          <a:p>
            <a:pPr marL="87313" marR="0" lvl="0" indent="-87313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출하 및 운송 부자재 회수실적 실시간 확인 및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운송 지연 시 도착 예정 시간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재산출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출하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/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운송 관리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Agent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D7808E09-4EA0-57B5-BEF5-19DE4B682C41}"/>
              </a:ext>
            </a:extLst>
          </p:cNvPr>
          <p:cNvSpPr/>
          <p:nvPr/>
        </p:nvSpPr>
        <p:spPr>
          <a:xfrm>
            <a:off x="3009096" y="4931008"/>
            <a:ext cx="2807064" cy="1395245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87313" marR="0" lvl="0" indent="-87313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설비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인력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자재 등 복잡한 제조 제약 조건을 실시간으로 반영하여 실행 가능한 계획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(FP)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을 자동으로 생성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계획 자동 수립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Agent</a:t>
            </a:r>
          </a:p>
          <a:p>
            <a:pPr marL="87313" marR="0" lvl="0" indent="-87313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수립된 계획을 가상 환경에서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시뮬레이션하여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병목 구간을 사전에 파악하고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자원 효율을 극대화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할 수 있는 대안을 제시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-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계획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Simulation Agent</a:t>
            </a: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799B5DCF-D2E0-3585-39F0-4CB7949B1A04}"/>
              </a:ext>
            </a:extLst>
          </p:cNvPr>
          <p:cNvSpPr/>
          <p:nvPr/>
        </p:nvSpPr>
        <p:spPr>
          <a:xfrm>
            <a:off x="1679313" y="1628149"/>
            <a:ext cx="1403532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92075" marR="0" lvl="0" indent="-9207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수작업 엑셀 기반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관리 및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</a:b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시스템 업로드 진행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</a:br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Noto Sans KR" pitchFamily="34" charset="-120"/>
            </a:endParaRPr>
          </a:p>
          <a:p>
            <a:pPr marL="92075" marR="0" lvl="0" indent="-9207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Capa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, Tact Time,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가동률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등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</a:b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Noto Sans KR" pitchFamily="34" charset="-120"/>
              </a:rPr>
              <a:t>기준정보 수작업 관리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Noto Sans KR" pitchFamily="34" charset="-120"/>
            </a:endParaRPr>
          </a:p>
          <a:p>
            <a:pPr marL="92075" marR="0" lvl="0" indent="-9207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Noto Sans KR" pitchFamily="34" charset="-120"/>
            </a:endParaRPr>
          </a:p>
          <a:p>
            <a:pPr marL="92075" marR="0" lvl="0" indent="-9207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운영상태 정보 수작업 확인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(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재공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/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재고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/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원자재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/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창고 등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)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89ECE553-62FD-8740-A9DF-F64A5BFC5819}"/>
              </a:ext>
            </a:extLst>
          </p:cNvPr>
          <p:cNvSpPr txBox="1"/>
          <p:nvPr/>
        </p:nvSpPr>
        <p:spPr>
          <a:xfrm>
            <a:off x="1702315" y="1628149"/>
            <a:ext cx="72000" cy="2016000"/>
          </a:xfrm>
          <a:prstGeom prst="roundRect">
            <a:avLst>
              <a:gd name="adj" fmla="val 7352"/>
            </a:avLst>
          </a:prstGeom>
          <a:solidFill>
            <a:schemeClr val="accent5">
              <a:lumMod val="40000"/>
              <a:lumOff val="60000"/>
              <a:alpha val="50196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000" b="1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D609D5B1-A9FB-9F6E-4D3F-C47C380E58F1}"/>
              </a:ext>
            </a:extLst>
          </p:cNvPr>
          <p:cNvSpPr txBox="1"/>
          <p:nvPr/>
        </p:nvSpPr>
        <p:spPr>
          <a:xfrm>
            <a:off x="1702315" y="4931008"/>
            <a:ext cx="72000" cy="1152000"/>
          </a:xfrm>
          <a:prstGeom prst="roundRect">
            <a:avLst>
              <a:gd name="adj" fmla="val 7352"/>
            </a:avLst>
          </a:prstGeom>
          <a:solidFill>
            <a:schemeClr val="accent5">
              <a:lumMod val="40000"/>
              <a:lumOff val="60000"/>
              <a:alpha val="50196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000" b="1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69263CD0-F279-2749-239F-4358AFFBCEF1}"/>
              </a:ext>
            </a:extLst>
          </p:cNvPr>
          <p:cNvSpPr txBox="1"/>
          <p:nvPr/>
        </p:nvSpPr>
        <p:spPr>
          <a:xfrm>
            <a:off x="1702315" y="3733364"/>
            <a:ext cx="72000" cy="936000"/>
          </a:xfrm>
          <a:prstGeom prst="roundRect">
            <a:avLst>
              <a:gd name="adj" fmla="val 7352"/>
            </a:avLst>
          </a:prstGeom>
          <a:solidFill>
            <a:schemeClr val="accent5">
              <a:lumMod val="40000"/>
              <a:lumOff val="60000"/>
              <a:alpha val="50196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000" b="1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93B06C-02B8-E751-D155-B38C443329E0}"/>
              </a:ext>
            </a:extLst>
          </p:cNvPr>
          <p:cNvSpPr txBox="1"/>
          <p:nvPr/>
        </p:nvSpPr>
        <p:spPr>
          <a:xfrm>
            <a:off x="156140" y="1417309"/>
            <a:ext cx="7819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000" b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Engineer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23FEE7-0B9D-B8B6-F0F1-6E580E0520E5}"/>
              </a:ext>
            </a:extLst>
          </p:cNvPr>
          <p:cNvSpPr txBox="1"/>
          <p:nvPr/>
        </p:nvSpPr>
        <p:spPr>
          <a:xfrm>
            <a:off x="5532966" y="3499825"/>
            <a:ext cx="4257105" cy="758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2pPr marL="182563" marR="0" lvl="1" indent="-182563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m"/>
              <a:tabLst/>
              <a:defRPr kumimoji="0" sz="13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2pPr>
          </a:lstStyle>
          <a:p>
            <a:pPr lvl="1"/>
            <a:r>
              <a:rPr lang="ko-KR" altLang="en-US" dirty="0"/>
              <a:t>추진 방향</a:t>
            </a:r>
            <a:br>
              <a:rPr lang="en-US" altLang="ko-KR" dirty="0"/>
            </a:br>
            <a:r>
              <a:rPr lang="en-US" altLang="ko-KR" sz="1200" b="0" dirty="0"/>
              <a:t>- </a:t>
            </a:r>
            <a:r>
              <a:rPr lang="ko-KR" altLang="en-US" sz="1200" b="0" dirty="0"/>
              <a:t>계획 수립</a:t>
            </a:r>
            <a:r>
              <a:rPr lang="en-US" altLang="ko-KR" sz="1200" b="0" dirty="0"/>
              <a:t>, </a:t>
            </a:r>
            <a:r>
              <a:rPr lang="ko-KR" altLang="en-US" sz="1200" b="0" dirty="0"/>
              <a:t>수요 변경 시뮬레이션</a:t>
            </a:r>
            <a:r>
              <a:rPr lang="en-US" altLang="ko-KR" sz="1200" b="0" dirty="0"/>
              <a:t>, </a:t>
            </a:r>
            <a:r>
              <a:rPr lang="ko-KR" altLang="en-US" sz="1200" b="0" dirty="0"/>
              <a:t>실적 자동 분석은 </a:t>
            </a:r>
            <a:r>
              <a:rPr lang="en-US" altLang="ko-KR" sz="1200" b="0" dirty="0"/>
              <a:t>AI Agent</a:t>
            </a:r>
            <a:r>
              <a:rPr lang="ko-KR" altLang="en-US" sz="1200" b="0" dirty="0"/>
              <a:t>가</a:t>
            </a:r>
            <a:br>
              <a:rPr lang="en-US" altLang="ko-KR" sz="1200" b="0" dirty="0"/>
            </a:br>
            <a:r>
              <a:rPr lang="en-US" altLang="ko-KR" sz="1200" b="0" dirty="0"/>
              <a:t>  </a:t>
            </a:r>
            <a:r>
              <a:rPr lang="ko-KR" altLang="en-US" sz="1200" b="0" dirty="0"/>
              <a:t>담당하고</a:t>
            </a:r>
            <a:r>
              <a:rPr lang="en-US" altLang="ko-KR" sz="1200" b="0" dirty="0"/>
              <a:t>, </a:t>
            </a:r>
            <a:r>
              <a:rPr lang="ko-KR" altLang="en-US" sz="1200" b="0" dirty="0"/>
              <a:t>사람은 결과에 대한 비교</a:t>
            </a:r>
            <a:r>
              <a:rPr lang="en-US" altLang="ko-KR" sz="1200" b="0" dirty="0"/>
              <a:t>/</a:t>
            </a:r>
            <a:r>
              <a:rPr lang="ko-KR" altLang="en-US" sz="1200" b="0" dirty="0"/>
              <a:t>검증을 수행</a:t>
            </a:r>
            <a:endParaRPr lang="en-US" altLang="ko-KR" sz="1200" b="0" dirty="0"/>
          </a:p>
        </p:txBody>
      </p:sp>
      <p:sp>
        <p:nvSpPr>
          <p:cNvPr id="4" name="화살표: 오각형 3">
            <a:extLst>
              <a:ext uri="{FF2B5EF4-FFF2-40B4-BE49-F238E27FC236}">
                <a16:creationId xmlns:a16="http://schemas.microsoft.com/office/drawing/2014/main" id="{5823F71A-855A-D288-AD16-D37E77DDA2F0}"/>
              </a:ext>
            </a:extLst>
          </p:cNvPr>
          <p:cNvSpPr/>
          <p:nvPr/>
        </p:nvSpPr>
        <p:spPr>
          <a:xfrm>
            <a:off x="7377100" y="103823"/>
            <a:ext cx="2016000" cy="396000"/>
          </a:xfrm>
          <a:prstGeom prst="homePlate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noFill/>
          </a:ln>
        </p:spPr>
        <p:txBody>
          <a:bodyPr wrap="none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1" i="0" u="sng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251C2A2-1F75-1AA8-BB87-73ABA535E345}"/>
              </a:ext>
            </a:extLst>
          </p:cNvPr>
          <p:cNvCxnSpPr>
            <a:cxnSpLocks/>
          </p:cNvCxnSpPr>
          <p:nvPr/>
        </p:nvCxnSpPr>
        <p:spPr>
          <a:xfrm>
            <a:off x="7485100" y="288448"/>
            <a:ext cx="1800000" cy="0"/>
          </a:xfrm>
          <a:prstGeom prst="line">
            <a:avLst/>
          </a:prstGeom>
          <a:ln w="127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33089C11-5C1B-78C1-1AD4-40379C3B6CB6}"/>
              </a:ext>
            </a:extLst>
          </p:cNvPr>
          <p:cNvCxnSpPr>
            <a:cxnSpLocks/>
          </p:cNvCxnSpPr>
          <p:nvPr/>
        </p:nvCxnSpPr>
        <p:spPr>
          <a:xfrm>
            <a:off x="7485100" y="247594"/>
            <a:ext cx="0" cy="80403"/>
          </a:xfrm>
          <a:prstGeom prst="line">
            <a:avLst/>
          </a:prstGeom>
          <a:ln w="127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EDB51C5C-2232-8404-0913-27A92910ADC9}"/>
              </a:ext>
            </a:extLst>
          </p:cNvPr>
          <p:cNvCxnSpPr>
            <a:cxnSpLocks/>
          </p:cNvCxnSpPr>
          <p:nvPr/>
        </p:nvCxnSpPr>
        <p:spPr>
          <a:xfrm>
            <a:off x="7742243" y="247594"/>
            <a:ext cx="0" cy="80403"/>
          </a:xfrm>
          <a:prstGeom prst="line">
            <a:avLst/>
          </a:prstGeom>
          <a:ln w="127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5C67106B-D2BD-36E4-9E0A-6CA431D69333}"/>
              </a:ext>
            </a:extLst>
          </p:cNvPr>
          <p:cNvCxnSpPr/>
          <p:nvPr/>
        </p:nvCxnSpPr>
        <p:spPr>
          <a:xfrm>
            <a:off x="8256529" y="247594"/>
            <a:ext cx="0" cy="80403"/>
          </a:xfrm>
          <a:prstGeom prst="line">
            <a:avLst/>
          </a:prstGeom>
          <a:ln w="127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73269377-835F-DEEB-27D0-48DAC6AD6805}"/>
              </a:ext>
            </a:extLst>
          </p:cNvPr>
          <p:cNvCxnSpPr>
            <a:cxnSpLocks/>
          </p:cNvCxnSpPr>
          <p:nvPr/>
        </p:nvCxnSpPr>
        <p:spPr>
          <a:xfrm>
            <a:off x="9285100" y="247594"/>
            <a:ext cx="0" cy="80403"/>
          </a:xfrm>
          <a:prstGeom prst="line">
            <a:avLst/>
          </a:prstGeom>
          <a:ln w="127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D92F6CEC-5919-A935-56DB-8BCA15DBDB49}"/>
              </a:ext>
            </a:extLst>
          </p:cNvPr>
          <p:cNvCxnSpPr/>
          <p:nvPr/>
        </p:nvCxnSpPr>
        <p:spPr>
          <a:xfrm>
            <a:off x="8770815" y="247594"/>
            <a:ext cx="0" cy="80403"/>
          </a:xfrm>
          <a:prstGeom prst="line">
            <a:avLst/>
          </a:prstGeom>
          <a:ln w="127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653AEEA4-3685-F814-2CFC-65933A84E49C}"/>
              </a:ext>
            </a:extLst>
          </p:cNvPr>
          <p:cNvCxnSpPr>
            <a:cxnSpLocks/>
          </p:cNvCxnSpPr>
          <p:nvPr/>
        </p:nvCxnSpPr>
        <p:spPr>
          <a:xfrm>
            <a:off x="9027958" y="247594"/>
            <a:ext cx="0" cy="80403"/>
          </a:xfrm>
          <a:prstGeom prst="line">
            <a:avLst/>
          </a:prstGeom>
          <a:ln w="127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BF75CFC-7A4F-3D9A-84B1-3693A79768DA}"/>
              </a:ext>
            </a:extLst>
          </p:cNvPr>
          <p:cNvSpPr/>
          <p:nvPr/>
        </p:nvSpPr>
        <p:spPr>
          <a:xfrm>
            <a:off x="7446523" y="118460"/>
            <a:ext cx="80150" cy="116377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L0</a:t>
            </a:r>
            <a:endParaRPr kumimoji="0" lang="ko-KR" altLang="en-US" sz="800" b="0" i="0" u="none" strike="noStrike" kern="1200" cap="none" spc="-5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D9625A03-3121-AA33-073B-B5F8118BD55B}"/>
              </a:ext>
            </a:extLst>
          </p:cNvPr>
          <p:cNvGrpSpPr/>
          <p:nvPr/>
        </p:nvGrpSpPr>
        <p:grpSpPr>
          <a:xfrm>
            <a:off x="7894739" y="237331"/>
            <a:ext cx="201864" cy="291903"/>
            <a:chOff x="8091589" y="237331"/>
            <a:chExt cx="201864" cy="291903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FFCB0E3A-7635-7537-09F3-B79428B851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45801" y="237331"/>
              <a:ext cx="93441" cy="9025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405BC7C1-252A-1143-3848-A4CC186832BB}"/>
                </a:ext>
              </a:extLst>
            </p:cNvPr>
            <p:cNvSpPr/>
            <p:nvPr/>
          </p:nvSpPr>
          <p:spPr>
            <a:xfrm>
              <a:off x="8091589" y="313786"/>
              <a:ext cx="201864" cy="215448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5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’25</a:t>
              </a:r>
              <a:endParaRPr kumimoji="0" lang="ko-KR" altLang="en-US" sz="8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7FA1388F-1810-79AC-C0F0-79FE298EA26D}"/>
              </a:ext>
            </a:extLst>
          </p:cNvPr>
          <p:cNvGrpSpPr/>
          <p:nvPr/>
        </p:nvGrpSpPr>
        <p:grpSpPr>
          <a:xfrm>
            <a:off x="8789402" y="233530"/>
            <a:ext cx="201864" cy="295704"/>
            <a:chOff x="8910052" y="233530"/>
            <a:chExt cx="201864" cy="295704"/>
          </a:xfrm>
        </p:grpSpPr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E3A76C3A-B238-767B-155A-F1E59E6F415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64264" y="233530"/>
              <a:ext cx="93441" cy="90257"/>
            </a:xfrm>
            <a:prstGeom prst="ellipse">
              <a:avLst/>
            </a:prstGeom>
            <a:solidFill>
              <a:srgbClr val="006600"/>
            </a:solidFill>
            <a:ln w="12700"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09736276-DBC2-DA9C-317B-5E6DEC98FCEB}"/>
                </a:ext>
              </a:extLst>
            </p:cNvPr>
            <p:cNvSpPr/>
            <p:nvPr/>
          </p:nvSpPr>
          <p:spPr>
            <a:xfrm>
              <a:off x="8910052" y="313786"/>
              <a:ext cx="201864" cy="215448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5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’30</a:t>
              </a:r>
              <a:endParaRPr kumimoji="0" lang="ko-KR" altLang="en-US" sz="8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76B10AA9-6041-A58C-A314-F9A8CB7BBA88}"/>
              </a:ext>
            </a:extLst>
          </p:cNvPr>
          <p:cNvGrpSpPr/>
          <p:nvPr/>
        </p:nvGrpSpPr>
        <p:grpSpPr>
          <a:xfrm>
            <a:off x="8287775" y="229642"/>
            <a:ext cx="339167" cy="299592"/>
            <a:chOff x="8224275" y="229642"/>
            <a:chExt cx="339167" cy="299592"/>
          </a:xfrm>
        </p:grpSpPr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F806D532-8D4E-2F18-1162-AD0825C85FC5}"/>
                </a:ext>
              </a:extLst>
            </p:cNvPr>
            <p:cNvSpPr/>
            <p:nvPr/>
          </p:nvSpPr>
          <p:spPr>
            <a:xfrm>
              <a:off x="8224275" y="313786"/>
              <a:ext cx="339167" cy="215448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spc="-5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경쟁사</a:t>
              </a:r>
            </a:p>
          </p:txBody>
        </p:sp>
        <p:sp>
          <p:nvSpPr>
            <p:cNvPr id="51" name="이등변 삼각형 50">
              <a:extLst>
                <a:ext uri="{FF2B5EF4-FFF2-40B4-BE49-F238E27FC236}">
                  <a16:creationId xmlns:a16="http://schemas.microsoft.com/office/drawing/2014/main" id="{B8004790-4F3C-80C9-D927-30372EF7FC59}"/>
                </a:ext>
              </a:extLst>
            </p:cNvPr>
            <p:cNvSpPr/>
            <p:nvPr/>
          </p:nvSpPr>
          <p:spPr>
            <a:xfrm>
              <a:off x="8330649" y="229642"/>
              <a:ext cx="126418" cy="108982"/>
            </a:xfrm>
            <a:prstGeom prst="triangle">
              <a:avLst/>
            </a:prstGeom>
            <a:solidFill>
              <a:schemeClr val="bg1"/>
            </a:solidFill>
            <a:ln w="12700"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5642A822-B727-569F-CCC2-8C79676D2FE8}"/>
              </a:ext>
            </a:extLst>
          </p:cNvPr>
          <p:cNvSpPr/>
          <p:nvPr/>
        </p:nvSpPr>
        <p:spPr>
          <a:xfrm>
            <a:off x="9243050" y="122006"/>
            <a:ext cx="80150" cy="116377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L7</a:t>
            </a:r>
            <a:endParaRPr kumimoji="0" lang="ko-KR" altLang="en-US" sz="800" b="0" i="0" u="none" strike="noStrike" kern="1200" cap="none" spc="-5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9AF65884-AAAF-1F2F-C566-B4637A9280D8}"/>
              </a:ext>
            </a:extLst>
          </p:cNvPr>
          <p:cNvCxnSpPr>
            <a:cxnSpLocks/>
          </p:cNvCxnSpPr>
          <p:nvPr/>
        </p:nvCxnSpPr>
        <p:spPr>
          <a:xfrm>
            <a:off x="7999386" y="247594"/>
            <a:ext cx="0" cy="80403"/>
          </a:xfrm>
          <a:prstGeom prst="line">
            <a:avLst/>
          </a:prstGeom>
          <a:ln w="127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3D143021-9F59-1C61-683C-8F1E54AB66F3}"/>
              </a:ext>
            </a:extLst>
          </p:cNvPr>
          <p:cNvCxnSpPr>
            <a:cxnSpLocks/>
          </p:cNvCxnSpPr>
          <p:nvPr/>
        </p:nvCxnSpPr>
        <p:spPr>
          <a:xfrm>
            <a:off x="8513672" y="247594"/>
            <a:ext cx="0" cy="80403"/>
          </a:xfrm>
          <a:prstGeom prst="line">
            <a:avLst/>
          </a:prstGeom>
          <a:ln w="127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88086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657ED67A9BFDAE418AF0D462668B0523" ma:contentTypeVersion="66" ma:contentTypeDescription="새 문서를 만듭니다." ma:contentTypeScope="" ma:versionID="d2c9aa81d20f4117baaf7301d74e3a9d">
  <xsd:schema xmlns:xsd="http://www.w3.org/2001/XMLSchema" xmlns:xs="http://www.w3.org/2001/XMLSchema" xmlns:p="http://schemas.microsoft.com/office/2006/metadata/properties" xmlns:ns2="58c874d3-49a4-4e44-8a2b-c3b171e6655c" xmlns:ns3="f8b19b4c-385c-46c6-a897-77cfed882e6b" xmlns:ns4="877db2e6-e2b6-4b53-bc89-7ef2b82f86e0" xmlns:ns5="c2ebb65e-2445-4cb1-8a22-b0d327c21b58" targetNamespace="http://schemas.microsoft.com/office/2006/metadata/properties" ma:root="true" ma:fieldsID="9d91d162f1f305a0ca47014edbebd072" ns2:_="" ns3:_="" ns4:_="" ns5:_="">
    <xsd:import namespace="58c874d3-49a4-4e44-8a2b-c3b171e6655c"/>
    <xsd:import namespace="f8b19b4c-385c-46c6-a897-77cfed882e6b"/>
    <xsd:import namespace="877db2e6-e2b6-4b53-bc89-7ef2b82f86e0"/>
    <xsd:import namespace="c2ebb65e-2445-4cb1-8a22-b0d327c21b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4:lcf76f155ced4ddcb4097134ff3c332f" minOccurs="0"/>
                <xsd:element ref="ns5:TaxCatchAll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LengthInSeconds" minOccurs="0"/>
                <xsd:element ref="ns4:MediaServiceObjectDetectorVersion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c874d3-49a4-4e44-8a2b-c3b171e6655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b19b4c-385c-46c6-a897-77cfed882e6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7db2e6-e2b6-4b53-bc89-7ef2b82f86e0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13" nillable="true" ma:taxonomy="true" ma:internalName="lcf76f155ced4ddcb4097134ff3c332f" ma:taxonomyFieldName="MediaServiceImageTags" ma:displayName="이미지 태그" ma:readOnly="false" ma:fieldId="{5cf76f15-5ced-4ddc-b409-7134ff3c332f}" ma:taxonomyMulti="true" ma:sspId="86b6c907-f9fa-4eeb-aa90-8a0f9d8669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ebb65e-2445-4cb1-8a22-b0d327c21b5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e091090-a106-4680-9665-9d0abc45243b}" ma:internalName="TaxCatchAll" ma:showField="CatchAllData" ma:web="c2ebb65e-2445-4cb1-8a22-b0d327c21b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2ebb65e-2445-4cb1-8a22-b0d327c21b58" xsi:nil="true"/>
    <lcf76f155ced4ddcb4097134ff3c332f xmlns="877db2e6-e2b6-4b53-bc89-7ef2b82f86e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42685D1-B4FD-4889-97B3-E1B64638A5D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629A950-C277-43F1-B404-9A07FEAD1877}">
  <ds:schemaRefs>
    <ds:schemaRef ds:uri="58c874d3-49a4-4e44-8a2b-c3b171e6655c"/>
    <ds:schemaRef ds:uri="877db2e6-e2b6-4b53-bc89-7ef2b82f86e0"/>
    <ds:schemaRef ds:uri="c2ebb65e-2445-4cb1-8a22-b0d327c21b58"/>
    <ds:schemaRef ds:uri="f8b19b4c-385c-46c6-a897-77cfed882e6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06021BF-088B-4D3C-AEDA-C9271F249E0E}">
  <ds:schemaRefs>
    <ds:schemaRef ds:uri="http://schemas.microsoft.com/office/infopath/2007/PartnerControls"/>
    <ds:schemaRef ds:uri="http://schemas.microsoft.com/office/2006/documentManagement/types"/>
    <ds:schemaRef ds:uri="f8b19b4c-385c-46c6-a897-77cfed882e6b"/>
    <ds:schemaRef ds:uri="http://purl.org/dc/terms/"/>
    <ds:schemaRef ds:uri="http://purl.org/dc/dcmitype/"/>
    <ds:schemaRef ds:uri="http://www.w3.org/XML/1998/namespace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c2ebb65e-2445-4cb1-8a22-b0d327c21b58"/>
    <ds:schemaRef ds:uri="877db2e6-e2b6-4b53-bc89-7ef2b82f86e0"/>
    <ds:schemaRef ds:uri="58c874d3-49a4-4e44-8a2b-c3b171e6655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2451</TotalTime>
  <Words>1987</Words>
  <Application>Microsoft Office PowerPoint</Application>
  <PresentationFormat>A4 용지(210x297mm)</PresentationFormat>
  <Paragraphs>217</Paragraphs>
  <Slides>4</Slides>
  <Notes>4</Notes>
  <HiddenSlides>0</HiddenSlides>
  <MMClips>0</MMClips>
  <ScaleCrop>false</ScaleCrop>
  <HeadingPairs>
    <vt:vector size="8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6" baseType="lpstr">
      <vt:lpstr> Arial Narrow</vt:lpstr>
      <vt:lpstr>LG스마트체 Regular</vt:lpstr>
      <vt:lpstr>LG스마트체2.0 Bold</vt:lpstr>
      <vt:lpstr>LG스마트체2.0 SemiBold</vt:lpstr>
      <vt:lpstr>맑은 고딕</vt:lpstr>
      <vt:lpstr>Arial</vt:lpstr>
      <vt:lpstr>Arial Narrow</vt:lpstr>
      <vt:lpstr>Calibri</vt:lpstr>
      <vt:lpstr>Calibri Light</vt:lpstr>
      <vt:lpstr>Wingdings</vt:lpstr>
      <vt:lpstr>2_Office 테마</vt:lpstr>
      <vt:lpstr>think-cell Slide</vt:lpstr>
      <vt:lpstr>보조. 설비 가동 및 이상조치</vt:lpstr>
      <vt:lpstr>보조. 공정/품질 관리</vt:lpstr>
      <vt:lpstr>보조. 가동 준비</vt:lpstr>
      <vt:lpstr>보조. 생산 계획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이승희</dc:creator>
  <cp:lastModifiedBy>심민규(MIN KYU SIM)[minkyu.sim]/책임/제조DX.제조운영AX전략P</cp:lastModifiedBy>
  <cp:revision>69</cp:revision>
  <cp:lastPrinted>2025-09-08T08:49:55Z</cp:lastPrinted>
  <dcterms:created xsi:type="dcterms:W3CDTF">2025-08-18T02:30:46Z</dcterms:created>
  <dcterms:modified xsi:type="dcterms:W3CDTF">2026-01-27T01:07:56Z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0x010100657ED67A9BFDAE418AF0D462668B0523</vt:lpwstr>
  </property>
  <property fmtid="{D5CDD505-2E9C-101B-9397-08002B2CF9AE}" pid="3" name="MediaServiceImageTags">
    <vt:lpwstr/>
  </property>
</Properties>
</file>