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6" r:id="rId3"/>
  </p:sldMasterIdLst>
  <p:notesMasterIdLst>
    <p:notesMasterId r:id="rId19"/>
  </p:notesMasterIdLst>
  <p:sldIdLst>
    <p:sldId id="2147481886" r:id="rId4"/>
    <p:sldId id="2147483442" r:id="rId5"/>
    <p:sldId id="2147483443" r:id="rId6"/>
    <p:sldId id="262" r:id="rId7"/>
    <p:sldId id="260" r:id="rId8"/>
    <p:sldId id="259" r:id="rId9"/>
    <p:sldId id="2147483643" r:id="rId10"/>
    <p:sldId id="265" r:id="rId11"/>
    <p:sldId id="2147483647" r:id="rId12"/>
    <p:sldId id="258" r:id="rId13"/>
    <p:sldId id="256" r:id="rId14"/>
    <p:sldId id="2147483639" r:id="rId15"/>
    <p:sldId id="257" r:id="rId16"/>
    <p:sldId id="2147481897" r:id="rId17"/>
    <p:sldId id="2147481902" r:id="rId18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목표합의서_제조DX그룹장" id="{7636CBBA-EA1F-4FD0-95A2-EB2F738B7BE5}">
          <p14:sldIdLst>
            <p14:sldId id="2147481886"/>
            <p14:sldId id="2147483442"/>
            <p14:sldId id="2147483443"/>
            <p14:sldId id="262"/>
            <p14:sldId id="260"/>
            <p14:sldId id="259"/>
            <p14:sldId id="2147483643"/>
            <p14:sldId id="265"/>
            <p14:sldId id="2147483647"/>
            <p14:sldId id="258"/>
            <p14:sldId id="256"/>
            <p14:sldId id="2147483639"/>
            <p14:sldId id="257"/>
          </p14:sldIdLst>
        </p14:section>
        <p14:section name="KPI 변경 검토" id="{466C8448-23C2-483E-B8A1-20E520145E38}">
          <p14:sldIdLst>
            <p14:sldId id="2147481897"/>
          </p14:sldIdLst>
        </p14:section>
        <p14:section name="KPI 수정 근거_제조DX그룹장" id="{02A024D9-1BF4-4E53-A21A-87D23FDDCD7E}">
          <p14:sldIdLst>
            <p14:sldId id="21474819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6114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pos="5796" userDrawn="1">
          <p15:clr>
            <a:srgbClr val="A4A3A4"/>
          </p15:clr>
        </p15:guide>
        <p15:guide id="6" pos="126" userDrawn="1">
          <p15:clr>
            <a:srgbClr val="A4A3A4"/>
          </p15:clr>
        </p15:guide>
        <p15:guide id="7" pos="489" userDrawn="1">
          <p15:clr>
            <a:srgbClr val="A4A3A4"/>
          </p15:clr>
        </p15:guide>
        <p15:guide id="8" pos="580" userDrawn="1">
          <p15:clr>
            <a:srgbClr val="A4A3A4"/>
          </p15:clr>
        </p15:guide>
        <p15:guide id="9" orient="horz" pos="4156" userDrawn="1">
          <p15:clr>
            <a:srgbClr val="A4A3A4"/>
          </p15:clr>
        </p15:guide>
        <p15:guide id="10" orient="horz" pos="2908" userDrawn="1">
          <p15:clr>
            <a:srgbClr val="A4A3A4"/>
          </p15:clr>
        </p15:guide>
        <p15:guide id="11" orient="horz" pos="3113" userDrawn="1">
          <p15:clr>
            <a:srgbClr val="A4A3A4"/>
          </p15:clr>
        </p15:guide>
        <p15:guide id="12" orient="horz" pos="3430" userDrawn="1">
          <p15:clr>
            <a:srgbClr val="A4A3A4"/>
          </p15:clr>
        </p15:guide>
        <p15:guide id="13" pos="1079" userDrawn="1">
          <p15:clr>
            <a:srgbClr val="A4A3A4"/>
          </p15:clr>
        </p15:guide>
        <p15:guide id="14" pos="1669" userDrawn="1">
          <p15:clr>
            <a:srgbClr val="A4A3A4"/>
          </p15:clr>
        </p15:guide>
        <p15:guide id="15" pos="1850" userDrawn="1">
          <p15:clr>
            <a:srgbClr val="A4A3A4"/>
          </p15:clr>
        </p15:guide>
        <p15:guide id="16" pos="3619" userDrawn="1">
          <p15:clr>
            <a:srgbClr val="A4A3A4"/>
          </p15:clr>
        </p15:guide>
        <p15:guide id="17" pos="3778" userDrawn="1">
          <p15:clr>
            <a:srgbClr val="A4A3A4"/>
          </p15:clr>
        </p15:guide>
        <p15:guide id="18" orient="horz" pos="890" userDrawn="1">
          <p15:clr>
            <a:srgbClr val="A4A3A4"/>
          </p15:clr>
        </p15:guide>
        <p15:guide id="19" orient="horz" pos="1162" userDrawn="1">
          <p15:clr>
            <a:srgbClr val="A4A3A4"/>
          </p15:clr>
        </p15:guide>
        <p15:guide id="20" orient="horz" pos="1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006600"/>
    <a:srgbClr val="FFFF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4667" autoAdjust="0"/>
  </p:normalViewPr>
  <p:slideViewPr>
    <p:cSldViewPr snapToGrid="0" showGuides="1">
      <p:cViewPr varScale="1">
        <p:scale>
          <a:sx n="101" d="100"/>
          <a:sy n="101" d="100"/>
        </p:scale>
        <p:origin x="1692" y="96"/>
      </p:cViewPr>
      <p:guideLst>
        <p:guide orient="horz" pos="391"/>
        <p:guide pos="6114"/>
        <p:guide orient="horz" pos="618"/>
        <p:guide pos="5796"/>
        <p:guide pos="126"/>
        <p:guide pos="489"/>
        <p:guide pos="580"/>
        <p:guide orient="horz" pos="4156"/>
        <p:guide orient="horz" pos="2908"/>
        <p:guide orient="horz" pos="3113"/>
        <p:guide orient="horz" pos="3430"/>
        <p:guide pos="1079"/>
        <p:guide pos="1669"/>
        <p:guide pos="1850"/>
        <p:guide pos="3619"/>
        <p:guide pos="3778"/>
        <p:guide orient="horz" pos="890"/>
        <p:guide orient="horz" pos="1162"/>
        <p:guide orient="horz" pos="14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A317-D649-4A5F-9D2F-E5B84DA77317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44F66-54D9-4BCF-8DFA-2EE3BF76F9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09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047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43E43C-B210-4C7B-86E8-F100C48959A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08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9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39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572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9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39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49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1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08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5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04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33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7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2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64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66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34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20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882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599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906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841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322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97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304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433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095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282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277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261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993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466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916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373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2058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13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F6ED3-60AD-48CD-B581-5C42264DF849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2E71F-F707-45AA-B0CF-027E940F60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2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9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9037C-F6BC-4C17-B680-989F54A9FCB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4C55D-DB26-4D49-B0C6-9213ECDD09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07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054477"/>
              </p:ext>
            </p:extLst>
          </p:nvPr>
        </p:nvGraphicFramePr>
        <p:xfrm>
          <a:off x="200026" y="542538"/>
          <a:ext cx="9577388" cy="5425900"/>
        </p:xfrm>
        <a:graphic>
          <a:graphicData uri="http://schemas.openxmlformats.org/drawingml/2006/table">
            <a:tbl>
              <a:tblPr/>
              <a:tblGrid>
                <a:gridCol w="511838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89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533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63502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460244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464374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74390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실행 계획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0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성과지표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(25%)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재무목표 달성</a:t>
                      </a:r>
                      <a:br>
                        <a:rPr kumimoji="1" lang="en-US" altLang="ko-KR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9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0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9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225254"/>
                  </a:ext>
                </a:extLst>
              </a:tr>
              <a:tr h="24796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실행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가속화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(15%)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5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9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물리적 작업 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사람 판단 필수 작업 제외한 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전환 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(BM / PD Loss 20%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단위 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개발을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혁신 실행 과제 목표 달성 추진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계획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준비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가동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조치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 개선</a:t>
                      </a:r>
                      <a:r>
                        <a:rPr lang="en-US" altLang="ko-KR" sz="1000" b="0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0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626338"/>
                  </a:ext>
                </a:extLst>
              </a:tr>
              <a:tr h="24796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</a:t>
                      </a:r>
                      <a:endParaRPr kumimoji="1" lang="en-US" altLang="ko-KR" sz="1000" b="1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전략과제</a:t>
                      </a:r>
                      <a:endParaRPr kumimoji="1" lang="en-US" altLang="ko-KR" sz="1000" b="1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(45%)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수율개선</a:t>
                      </a:r>
                      <a:endParaRPr kumimoji="1" lang="en-US" altLang="ko-KR" sz="1000" b="1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(45%)</a:t>
                      </a:r>
                      <a:endParaRPr kumimoji="1" lang="ko-KR" altLang="en-US" sz="1000" b="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ESMI, MI_LS, OT, HD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/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Data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분석을 통한 주요 불량 근본 원인 도출 및 개선 기여</a:t>
                      </a:r>
                      <a:endParaRPr lang="en-US" altLang="ko-KR" sz="1000" b="1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추적데이터 활용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예측 모델 및 설비 제어 고도화 적용</a:t>
                      </a:r>
                      <a:endParaRPr lang="en-US" altLang="ko-KR" sz="1000" b="1" strike="noStrike" kern="1200" spc="-3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 </a:t>
                      </a:r>
                      <a:r>
                        <a:rPr lang="en-US" altLang="ko-KR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1" strike="noStrike" kern="1200" spc="-3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감지를 통한 불량 개선 기여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236509"/>
                  </a:ext>
                </a:extLst>
              </a:tr>
              <a:tr h="2479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/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177887"/>
                  </a:ext>
                </a:extLst>
              </a:tr>
              <a:tr h="5220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1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자동차전지</a:t>
                      </a:r>
                      <a:b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  <a:endParaRPr lang="ko-KR" altLang="en-US" sz="9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ko-KR" altLang="en-US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추적성 솔루션 기반 셀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주요 불량 분석 체계 구축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그룹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(FDC/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솔루션 적용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관리를 통한 주요 불량 근본 원인 도출 및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간 </a:t>
                      </a:r>
                      <a:r>
                        <a:rPr kumimoji="0" lang="ko-KR" altLang="en-US" sz="9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불량 원인 비교 분석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기반 개선 활동 진행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724"/>
                  </a:ext>
                </a:extLst>
              </a:tr>
              <a:tr h="39152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kern="1200" spc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소형전지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전극 </a:t>
                      </a:r>
                      <a:r>
                        <a:rPr kumimoji="1" lang="ko-KR" altLang="en-US" sz="9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98.8% </a:t>
                      </a:r>
                      <a:r>
                        <a:rPr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lang="ko-KR" altLang="en-US" sz="9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br>
                        <a:rPr lang="en-US" altLang="ko-KR" sz="9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D: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‘26.12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코터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설비부동 후 재가동 구간 프로세스 및 데이터 분석을 통한 자동보정 알고리즘 개발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수평 다이 온도 자동보정 개발 및 적용을 통한 설비 부동 후 재가동 </a:t>
                      </a:r>
                      <a:r>
                        <a:rPr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681181"/>
                  </a:ext>
                </a:extLst>
              </a:tr>
              <a:tr h="39152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ko-KR" altLang="en-US" sz="900" b="1" kern="1200" spc="-10" baseline="0" dirty="0">
                        <a:solidFill>
                          <a:schemeClr val="tx1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9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 달성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EP2 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‘26.12 (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기반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권취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구간길이 자동설정기능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투입량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(S2, C2),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분리막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잔량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(S7)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기반 주행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포밍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각도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권심별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사행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Tab,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사행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CBD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비틀림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CIT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테이프 개선 불량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443684"/>
                  </a:ext>
                </a:extLst>
              </a:tr>
              <a:tr h="522039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구조적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경쟁력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(30%)</a:t>
                      </a:r>
                      <a:endParaRPr lang="ko-KR" altLang="en-US" sz="1000" b="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개선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(15%)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경쟁력강화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Safety Risk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판단 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Fast Track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체계 구축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분석업무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효율화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절감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Safety Issue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L/T 28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→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운영 로그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표준안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정의 및 프로세스 현황 분석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Pack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추적성 확보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DAVINCI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 표준 운영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수집 및 분석 체계 확보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조기 이상 감지 체계 구축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358884"/>
                  </a:ext>
                </a:extLst>
              </a:tr>
              <a:tr h="52203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자동보정을 활용한</a:t>
                      </a:r>
                      <a:b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재료비 저감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9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영역 확대를 통한 원가 절감 기여</a:t>
                      </a:r>
                      <a:br>
                        <a:rPr kumimoji="1" lang="en-US" altLang="ko-KR" sz="9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기여</a:t>
                      </a:r>
                      <a:b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CTP(Cell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to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Pack)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공정 레진 도포 자동보정 개발</a:t>
                      </a:r>
                      <a:b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상관성 분석 기반 레진 산포 발생 근본 원인 인자 활용 예측모델 개발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질량유량계 기반 자동보정 고도화를 통한 </a:t>
                      </a:r>
                      <a:r>
                        <a:rPr kumimoji="1" lang="ko-KR" altLang="en-US" sz="1000" b="1" i="0" u="none" strike="noStrike" kern="1200" cap="none" spc="-3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슬러리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폐기량 저감</a:t>
                      </a:r>
                      <a:endParaRPr kumimoji="1" lang="en-US" altLang="ko-KR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자동보정을 활용한 재료비 저감 기여 과제 추가 발굴 및 개발</a:t>
                      </a:r>
                      <a:endParaRPr kumimoji="1" lang="en-US" altLang="ko-KR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457583"/>
                  </a:ext>
                </a:extLst>
              </a:tr>
              <a:tr h="5220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endParaRPr lang="en-US" altLang="ko-KR" sz="1000" b="1" kern="1200" spc="-1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업무효율화</a:t>
                      </a:r>
                      <a:br>
                        <a:rPr lang="en-US" altLang="ko-KR" sz="1000" b="1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1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(15%)</a:t>
                      </a: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진단 솔루션개발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불량 항목 원인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추천 솔루션 개발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ESHD (ESS)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위치 불량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‘26.11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현상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조치에 대해 자동으로 확인 가능한 솔루션 구축 및 활용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 Checklist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이상 진단 솔루션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ESHD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(ESS)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적용을 통한 라미 위치 불량 조기 조치 및 대응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’26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년도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위치 불량 대상 원인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적확도 확보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’27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이후 공정 확대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007511"/>
                  </a:ext>
                </a:extLst>
              </a:tr>
              <a:tr h="52203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kern="1200" spc="-1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자동화</a:t>
                      </a:r>
                      <a:endParaRPr lang="ko-KR" altLang="en-US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9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PPAP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문서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 및 분석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검교정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성적서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검토 및 자동 입력을 통한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 판정 알고리즘 관리 자동화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(ESAZ)</a:t>
                      </a:r>
                    </a:p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친환경문서 자동 검토를 통한 업무 효율화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977806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41031E6-AA7A-418F-B084-5279C9BE1351}"/>
              </a:ext>
            </a:extLst>
          </p:cNvPr>
          <p:cNvSpPr/>
          <p:nvPr/>
        </p:nvSpPr>
        <p:spPr>
          <a:xfrm>
            <a:off x="1639003" y="1554621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4D0B8A9-9598-4422-A069-CD297AD70579}"/>
              </a:ext>
            </a:extLst>
          </p:cNvPr>
          <p:cNvSpPr/>
          <p:nvPr/>
        </p:nvSpPr>
        <p:spPr>
          <a:xfrm>
            <a:off x="1641066" y="1091441"/>
            <a:ext cx="252000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 I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05843B2-04C1-40B4-3732-1CB0483DC850}"/>
              </a:ext>
            </a:extLst>
          </p:cNvPr>
          <p:cNvSpPr/>
          <p:nvPr/>
        </p:nvSpPr>
        <p:spPr>
          <a:xfrm>
            <a:off x="1934532" y="1086662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AA4E82-15E1-F6E6-DCEE-02A37325EEEC}"/>
              </a:ext>
            </a:extLst>
          </p:cNvPr>
          <p:cNvSpPr txBox="1"/>
          <p:nvPr/>
        </p:nvSpPr>
        <p:spPr>
          <a:xfrm>
            <a:off x="3778611" y="5763012"/>
            <a:ext cx="85377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20,592hr/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315A0-AFD2-3084-F0C3-81D7E77F8D28}"/>
              </a:ext>
            </a:extLst>
          </p:cNvPr>
          <p:cNvSpPr txBox="1"/>
          <p:nvPr/>
        </p:nvSpPr>
        <p:spPr>
          <a:xfrm>
            <a:off x="95895" y="166327"/>
            <a:ext cx="315829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그룹장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lang="ko-KR" altLang="en-US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41EC3-D209-A2DD-235E-09C1D325DE7F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3B7AC-1BA8-C314-21EE-DAC37FC9FBBF}"/>
              </a:ext>
            </a:extLst>
          </p:cNvPr>
          <p:cNvSpPr txBox="1"/>
          <p:nvPr/>
        </p:nvSpPr>
        <p:spPr>
          <a:xfrm>
            <a:off x="7224093" y="135047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➊ 목표 합의서</a:t>
            </a:r>
          </a:p>
        </p:txBody>
      </p:sp>
    </p:spTree>
    <p:extLst>
      <p:ext uri="{BB962C8B-B14F-4D97-AF65-F5344CB8AC3E}">
        <p14:creationId xmlns:p14="http://schemas.microsoft.com/office/powerpoint/2010/main" val="13723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14014"/>
              </p:ext>
            </p:extLst>
          </p:nvPr>
        </p:nvGraphicFramePr>
        <p:xfrm>
          <a:off x="182233" y="536045"/>
          <a:ext cx="9582666" cy="5926786"/>
        </p:xfrm>
        <a:graphic>
          <a:graphicData uri="http://schemas.openxmlformats.org/drawingml/2006/table">
            <a:tbl>
              <a:tblPr/>
              <a:tblGrid>
                <a:gridCol w="853200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345066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459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'26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200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BM/PD 20%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(25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比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설비별 주요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파악 및 선정 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적용을 위한 현상 분석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과제 도출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 설비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Para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최적화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동작별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데이터 패턴 분석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영향인자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적용 및</a:t>
                      </a: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이상감지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로딩량을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고려한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Feedforward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 적용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FDC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고도화 기반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및 유지 관리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Coverage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확대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제어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자동보정 관련 단계별 확산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4592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24%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22%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16%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22%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3C572D3-1560-496D-9648-77117FE761B3}"/>
              </a:ext>
            </a:extLst>
          </p:cNvPr>
          <p:cNvGraphicFramePr>
            <a:graphicFrameLocks noGrp="1"/>
          </p:cNvGraphicFramePr>
          <p:nvPr/>
        </p:nvGraphicFramePr>
        <p:xfrm>
          <a:off x="2366039" y="885999"/>
          <a:ext cx="3549205" cy="648000"/>
        </p:xfrm>
        <a:graphic>
          <a:graphicData uri="http://schemas.openxmlformats.org/drawingml/2006/table">
            <a:tbl>
              <a:tblPr/>
              <a:tblGrid>
                <a:gridCol w="338296">
                  <a:extLst>
                    <a:ext uri="{9D8B030D-6E8A-4147-A177-3AD203B41FA5}">
                      <a16:colId xmlns:a16="http://schemas.microsoft.com/office/drawing/2014/main" val="448372699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53196185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76058939"/>
                    </a:ext>
                  </a:extLst>
                </a:gridCol>
                <a:gridCol w="325437">
                  <a:extLst>
                    <a:ext uri="{9D8B030D-6E8A-4147-A177-3AD203B41FA5}">
                      <a16:colId xmlns:a16="http://schemas.microsoft.com/office/drawing/2014/main" val="11445783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58194912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169071675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938954016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2741989067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3800816768"/>
                    </a:ext>
                  </a:extLst>
                </a:gridCol>
                <a:gridCol w="318397">
                  <a:extLst>
                    <a:ext uri="{9D8B030D-6E8A-4147-A177-3AD203B41FA5}">
                      <a16:colId xmlns:a16="http://schemas.microsoft.com/office/drawing/2014/main" val="672968338"/>
                    </a:ext>
                  </a:extLst>
                </a:gridCol>
                <a:gridCol w="338296">
                  <a:extLst>
                    <a:ext uri="{9D8B030D-6E8A-4147-A177-3AD203B41FA5}">
                      <a16:colId xmlns:a16="http://schemas.microsoft.com/office/drawing/2014/main" val="1593203743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altLang="en-US" sz="900" b="1" i="0" u="none" strike="noStrike" dirty="0">
                        <a:solidFill>
                          <a:srgbClr val="FFF2CC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FFF2CC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9082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8428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20.0%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43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156D26-62D4-4E32-9751-019749323187}"/>
              </a:ext>
            </a:extLst>
          </p:cNvPr>
          <p:cNvSpPr txBox="1"/>
          <p:nvPr/>
        </p:nvSpPr>
        <p:spPr>
          <a:xfrm>
            <a:off x="2319691" y="1562102"/>
            <a:ext cx="4736613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공정 개선율의 산술평균으로 목표 산정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342E4-A7ED-0953-5E00-5A81B0EDCBA8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478880-BA28-AC18-8542-540CA86BA26F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93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399008"/>
              </p:ext>
            </p:extLst>
          </p:nvPr>
        </p:nvGraphicFramePr>
        <p:xfrm>
          <a:off x="173693" y="620689"/>
          <a:ext cx="9535408" cy="6079860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09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6092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(94.3%)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ESS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 90.5%, OT 79.9% (’25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누적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MI, MI_L, OT, HD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 종합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전라인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공급 극대화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MI,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MI_L, OT,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HD ESS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 라인 기준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 기준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평균 기준 목표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93.5%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93.7%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93.6%)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94.4%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(3Q </a:t>
                      </a:r>
                      <a:r>
                        <a:rPr lang="ko-KR" altLang="en-US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 </a:t>
                      </a:r>
                      <a:r>
                        <a:rPr lang="en-US" altLang="ko-KR" sz="1000" b="1" kern="1200" spc="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93.9%)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88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개선 아이템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ESMI_HL, ESOT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(’26.03)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공정별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Drilldown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적용 및 활용</a:t>
                      </a:r>
                      <a:b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L&amp;S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PKG,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활성화 대상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Drilldown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개발 및 적용</a:t>
                      </a:r>
                      <a:b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FDC, APC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사전 감지 및 조기 대응 방안 활용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아이템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ESMI_LS, ESHD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(’26.06)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공정별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Drilldown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적용 및 활용</a:t>
                      </a:r>
                      <a:b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L&amp;S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PKG,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대상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Drilldown </a:t>
                      </a:r>
                      <a:r>
                        <a:rPr lang="ko-KR" altLang="en-US" sz="900" b="0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레포트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적용 및 활용</a:t>
                      </a:r>
                      <a:b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FDC, APC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사전 감지 및 조기 대응 방안 활용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솔루션 활용 근본 원인 도출 및 개선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(’26.09) 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lang="en-US" altLang="ko-KR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9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분석 솔루션 활용</a:t>
                      </a:r>
                      <a:endParaRPr lang="en-US" altLang="ko-KR" sz="9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09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B7232E-7AAB-4660-A254-D34B70EF9005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3A5B3-E5DD-1564-7825-307D35C69B55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467E08F-D707-CB18-894F-35FB6D2E3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453637"/>
              </p:ext>
            </p:extLst>
          </p:nvPr>
        </p:nvGraphicFramePr>
        <p:xfrm>
          <a:off x="2427677" y="2087344"/>
          <a:ext cx="2611047" cy="1210692"/>
        </p:xfrm>
        <a:graphic>
          <a:graphicData uri="http://schemas.openxmlformats.org/drawingml/2006/table">
            <a:tbl>
              <a:tblPr/>
              <a:tblGrid>
                <a:gridCol w="70895">
                  <a:extLst>
                    <a:ext uri="{9D8B030D-6E8A-4147-A177-3AD203B41FA5}">
                      <a16:colId xmlns:a16="http://schemas.microsoft.com/office/drawing/2014/main" val="434980051"/>
                    </a:ext>
                  </a:extLst>
                </a:gridCol>
                <a:gridCol w="517930">
                  <a:extLst>
                    <a:ext uri="{9D8B030D-6E8A-4147-A177-3AD203B41FA5}">
                      <a16:colId xmlns:a16="http://schemas.microsoft.com/office/drawing/2014/main" val="398871790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045084814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69027881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881494102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4186657930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2697388443"/>
                    </a:ext>
                  </a:extLst>
                </a:gridCol>
                <a:gridCol w="337037">
                  <a:extLst>
                    <a:ext uri="{9D8B030D-6E8A-4147-A177-3AD203B41FA5}">
                      <a16:colId xmlns:a16="http://schemas.microsoft.com/office/drawing/2014/main" val="3166372132"/>
                    </a:ext>
                  </a:extLst>
                </a:gridCol>
              </a:tblGrid>
              <a:tr h="172956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 분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(%)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25</a:t>
                      </a:r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26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906540"/>
                  </a:ext>
                </a:extLst>
              </a:tr>
              <a:tr h="1729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365867"/>
                  </a:ext>
                </a:extLst>
              </a:tr>
              <a:tr h="17295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북미 </a:t>
                      </a:r>
                      <a:r>
                        <a:rPr lang="en-US" altLang="ko-KR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9967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ESMI_HL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17106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ESMI_LS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3138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ESOT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93.5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36553"/>
                  </a:ext>
                </a:extLst>
              </a:tr>
              <a:tr h="172956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8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ESHD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89.7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27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2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03FF-5AEC-ABC9-076D-E6E359FD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999B363-8A50-9BC1-2522-BE411CF6A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57854"/>
              </p:ext>
            </p:extLst>
          </p:nvPr>
        </p:nvGraphicFramePr>
        <p:xfrm>
          <a:off x="173693" y="620689"/>
          <a:ext cx="9535408" cy="6079860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09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6092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WA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ESS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92.7%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94.1%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93.5%)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35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95.3%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94.2%)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88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NG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마킹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라미위치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미스매치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장변실링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모노세파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모노스택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스택외관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스택치수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용접비전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/IR/EOL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치수 불량 개선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(11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*.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대상 항목은 </a:t>
                      </a:r>
                      <a:r>
                        <a:rPr kumimoji="0" lang="ko-KR" alt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셀수율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 목적으로 지속 발굴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활동 진행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기반 공정 핵심 불량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ESWA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혼용 생산 물동 비중 높은 모델 집중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L&amp;S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적용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확대 및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활용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관점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지속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불량 분석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Drill down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 확대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총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신호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Cell ID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분석 솔루션 </a:t>
                      </a:r>
                      <a:r>
                        <a:rPr kumimoji="0" lang="ko-KR" altLang="en-US" sz="9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타공정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검토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2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불량 중점 현황 점검 및 집중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간 불량 원인 비교를 통한 기술 고도화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092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0529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CB3CB4-4C25-3334-41E4-E6B3DD48D931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lang="en-US" altLang="ko-KR" sz="16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533C8-1177-E235-7BF8-283214291C52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86ED322-0B9D-239D-8A22-6D8578E63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227888"/>
              </p:ext>
            </p:extLst>
          </p:nvPr>
        </p:nvGraphicFramePr>
        <p:xfrm>
          <a:off x="2475516" y="1375502"/>
          <a:ext cx="2648746" cy="652595"/>
        </p:xfrm>
        <a:graphic>
          <a:graphicData uri="http://schemas.openxmlformats.org/drawingml/2006/table">
            <a:tbl>
              <a:tblPr/>
              <a:tblGrid>
                <a:gridCol w="382704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35890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423592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03078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75101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34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34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ESWA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72.5</a:t>
                      </a: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92.7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74.8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6.2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94.6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95.7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96.9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475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728F4-E1CC-33F1-6841-7551C37B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98974C-6BCA-6191-455C-D4D90661A4C2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5F27F47-D6CB-E712-4C98-F1BC09A9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873488"/>
              </p:ext>
            </p:extLst>
          </p:nvPr>
        </p:nvGraphicFramePr>
        <p:xfrm>
          <a:off x="173693" y="620689"/>
          <a:ext cx="9535408" cy="6070583"/>
        </p:xfrm>
        <a:graphic>
          <a:graphicData uri="http://schemas.openxmlformats.org/drawingml/2006/table">
            <a:tbl>
              <a:tblPr/>
              <a:tblGrid>
                <a:gridCol w="794495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02856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03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4142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자동차 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ESWA, NA, NB, HM, MI, HG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WA, NA,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NB,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HM,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MI,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HG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달성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994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97.7%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(2Q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97.7%)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818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97.9%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(3Q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46392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type/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별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기반 공정 핵심 불량 개선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- 6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 법인 공정 핵심 불량 및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항목 분석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FDC, AX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0" lang="ko-KR" altLang="en-US" sz="9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진단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기술 개발 및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Pilot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설비별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Sameness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분석을 통한 공통 개선과제 도출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수평전개 및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 / 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솔루션 활용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전사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DX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전법인 확대 적용 및 최적화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실시간 이상감지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및 </a:t>
                      </a:r>
                      <a:r>
                        <a:rPr kumimoji="0" lang="ko-KR" altLang="en-US" sz="9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분석 솔루션 적용 확대 가속화</a:t>
                      </a: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lang="ko-KR" altLang="en-US" sz="1000" b="1" kern="1200" spc="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불량 중점 현황 점검 및 집중 개선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간 </a:t>
                      </a:r>
                      <a:r>
                        <a:rPr kumimoji="0" lang="ko-KR" altLang="en-US" sz="9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및 불량 원인 비교 분석을 통한 고도화 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Point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발굴 및 개선</a:t>
                      </a:r>
                      <a:b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AX 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이상감지</a:t>
                      </a:r>
                      <a:r>
                        <a:rPr kumimoji="0" lang="en-US" altLang="ko-KR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모델 고도화 및 안정화</a:t>
                      </a: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0358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8863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Loss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증가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8863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8863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8863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88636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C88323D-49CC-849B-2EFE-861EA54F9D41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91B3DD5-B050-EDC1-60E1-ABD6F3FA4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515070"/>
              </p:ext>
            </p:extLst>
          </p:nvPr>
        </p:nvGraphicFramePr>
        <p:xfrm>
          <a:off x="2559559" y="1320954"/>
          <a:ext cx="2779757" cy="2727617"/>
        </p:xfrm>
        <a:graphic>
          <a:graphicData uri="http://schemas.openxmlformats.org/drawingml/2006/table">
            <a:tbl>
              <a:tblPr/>
              <a:tblGrid>
                <a:gridCol w="401633">
                  <a:extLst>
                    <a:ext uri="{9D8B030D-6E8A-4147-A177-3AD203B41FA5}">
                      <a16:colId xmlns:a16="http://schemas.microsoft.com/office/drawing/2014/main" val="4082950932"/>
                    </a:ext>
                  </a:extLst>
                </a:gridCol>
                <a:gridCol w="142611">
                  <a:extLst>
                    <a:ext uri="{9D8B030D-6E8A-4147-A177-3AD203B41FA5}">
                      <a16:colId xmlns:a16="http://schemas.microsoft.com/office/drawing/2014/main" val="1096110141"/>
                    </a:ext>
                  </a:extLst>
                </a:gridCol>
                <a:gridCol w="397511">
                  <a:extLst>
                    <a:ext uri="{9D8B030D-6E8A-4147-A177-3AD203B41FA5}">
                      <a16:colId xmlns:a16="http://schemas.microsoft.com/office/drawing/2014/main" val="2036386905"/>
                    </a:ext>
                  </a:extLst>
                </a:gridCol>
                <a:gridCol w="365101">
                  <a:extLst>
                    <a:ext uri="{9D8B030D-6E8A-4147-A177-3AD203B41FA5}">
                      <a16:colId xmlns:a16="http://schemas.microsoft.com/office/drawing/2014/main" val="339126080"/>
                    </a:ext>
                  </a:extLst>
                </a:gridCol>
                <a:gridCol w="318069">
                  <a:extLst>
                    <a:ext uri="{9D8B030D-6E8A-4147-A177-3AD203B41FA5}">
                      <a16:colId xmlns:a16="http://schemas.microsoft.com/office/drawing/2014/main" val="229057669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14294635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1269118703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3491950287"/>
                    </a:ext>
                  </a:extLst>
                </a:gridCol>
                <a:gridCol w="288708">
                  <a:extLst>
                    <a:ext uri="{9D8B030D-6E8A-4147-A177-3AD203B41FA5}">
                      <a16:colId xmlns:a16="http://schemas.microsoft.com/office/drawing/2014/main" val="49544202"/>
                    </a:ext>
                  </a:extLst>
                </a:gridCol>
              </a:tblGrid>
              <a:tr h="93882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Site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599" marR="8599" marT="8599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구분(%)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목표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89414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99062"/>
                  </a:ext>
                </a:extLst>
              </a:tr>
              <a:tr h="93882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Total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30957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0336"/>
                  </a:ext>
                </a:extLst>
              </a:tr>
              <a:tr h="93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12537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96.0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97865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64898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01224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40837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99.1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6238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22582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19001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3267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304851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98.7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72683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99.2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76053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1753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91.0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612738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63712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95.8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613245"/>
                  </a:ext>
                </a:extLst>
              </a:tr>
              <a:tr h="8292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8599" marR="8599" marT="8599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6930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rtl="0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53426"/>
                  </a:ext>
                </a:extLst>
              </a:tr>
              <a:tr h="82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8599" marR="8599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>
                        <a:buNone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36000" marT="8599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2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D6EA4F-6A09-D284-505A-7E7C696EE1F0}"/>
              </a:ext>
            </a:extLst>
          </p:cNvPr>
          <p:cNvSpPr txBox="1"/>
          <p:nvPr/>
        </p:nvSpPr>
        <p:spPr>
          <a:xfrm>
            <a:off x="3710632" y="1120899"/>
            <a:ext cx="171944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*Total 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산출 로직 </a:t>
            </a:r>
            <a:r>
              <a:rPr kumimoji="1" lang="en-US" altLang="ko-KR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7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법인별</a:t>
            </a:r>
            <a:r>
              <a:rPr kumimoji="1" lang="ko-KR" altLang="en-US" sz="7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물동 가중 평균</a:t>
            </a:r>
          </a:p>
        </p:txBody>
      </p:sp>
    </p:spTree>
    <p:extLst>
      <p:ext uri="{BB962C8B-B14F-4D97-AF65-F5344CB8AC3E}">
        <p14:creationId xmlns:p14="http://schemas.microsoft.com/office/powerpoint/2010/main" val="36812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442688"/>
              </p:ext>
            </p:extLst>
          </p:nvPr>
        </p:nvGraphicFramePr>
        <p:xfrm>
          <a:off x="173693" y="620688"/>
          <a:ext cx="9541529" cy="5917186"/>
        </p:xfrm>
        <a:graphic>
          <a:graphicData uri="http://schemas.openxmlformats.org/drawingml/2006/table">
            <a:tbl>
              <a:tblPr/>
              <a:tblGrid>
                <a:gridCol w="61244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3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7999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7999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19999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612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52000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소형전지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NFF 전극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전극 </a:t>
                      </a:r>
                      <a:r>
                        <a:rPr kumimoji="1" lang="ko-KR" altLang="en-US" sz="9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98.8% ,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수동 보정 횟수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60%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저감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D: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‘26.12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(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5%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] ’25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년 </a:t>
                      </a: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12</a:t>
                      </a:r>
                      <a:r>
                        <a:rPr kumimoji="0" lang="ko-KR" altLang="en-US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 실적 </a:t>
                      </a:r>
                      <a:r>
                        <a:rPr kumimoji="0" lang="en-US" altLang="ko-KR" sz="1000" b="1" i="0" u="none" strike="noStrike" kern="1200" cap="none" spc="-4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97.0%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40" normalizeH="0" baseline="0" noProof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’25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년 실적 대비 수율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58%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개선</a:t>
                      </a:r>
                      <a:endParaRPr kumimoji="1" lang="en-US" altLang="ko-KR" sz="10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’26.12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월 누적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98.8%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전극수율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(%) = ’25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년 실적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+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예상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Loss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율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* 58%</a:t>
                      </a:r>
                      <a:b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- 98.8%  =  97.0% + (1 – 97.0%) * 58%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대상라인</a:t>
                      </a:r>
                      <a:br>
                        <a:rPr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COT: EP2 1라인</a:t>
                      </a:r>
                      <a:b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ROL : EP2 1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라인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음극</a:t>
                      </a:r>
                      <a:r>
                        <a:rPr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98.1% 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98.4% 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1~6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98.6% 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1~9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98.8% 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가중평균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1~12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47809"/>
                  </a:ext>
                </a:extLst>
              </a:tr>
              <a:tr h="223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1)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COT 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분할 밸브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(</a:t>
                      </a:r>
                      <a:r>
                        <a:rPr lang="ko-KR" altLang="en-US" sz="900" dirty="0" err="1">
                          <a:latin typeface="Arial Narrow"/>
                          <a:ea typeface="LG스마트체 Regular"/>
                          <a:cs typeface="Microsoft GothicNeo"/>
                        </a:rPr>
                        <a:t>매니폴드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) 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설비 변경 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(3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분할 → 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7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분할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) 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대응 자동보정 </a:t>
                      </a:r>
                      <a:b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</a:b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     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개발 및 적용 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(‘26.02), R/P </a:t>
                      </a:r>
                      <a:r>
                        <a:rPr lang="en-US" altLang="ko-KR" sz="900" dirty="0" err="1">
                          <a:latin typeface="Arial Narrow"/>
                          <a:ea typeface="LG스마트체 Regular"/>
                          <a:cs typeface="Microsoft GothicNeo"/>
                        </a:rPr>
                        <a:t>재조건조정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 </a:t>
                      </a:r>
                      <a:r>
                        <a:rPr lang="en-US" altLang="ko-KR" sz="900" dirty="0" err="1">
                          <a:latin typeface="Arial Narrow"/>
                          <a:ea typeface="LG스마트체 Regular"/>
                          <a:cs typeface="Microsoft GothicNeo"/>
                        </a:rPr>
                        <a:t>고도화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(~'26.01), </a:t>
                      </a:r>
                      <a:r>
                        <a:rPr lang="en-US" altLang="ko-KR" sz="900" dirty="0" err="1">
                          <a:latin typeface="Arial Narrow"/>
                          <a:ea typeface="LG스마트체 Regular"/>
                          <a:cs typeface="Microsoft GothicNeo"/>
                        </a:rPr>
                        <a:t>수평전개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('26.02)</a:t>
                      </a:r>
                      <a:b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</a:b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2) 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온도 자동보정 개발 및 적용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(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양산구간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) (‘26.03)</a:t>
                      </a:r>
                      <a:b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3)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초기 조건 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코팅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최적 조건 도출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코팅 반복 프로세스 자동화 검토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(‘26.03)</a:t>
                      </a:r>
                      <a:b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0" lang="ko-KR" altLang="en-US" sz="900" i="0" u="none" strike="noStrike" kern="1200" cap="none" spc="0" normalizeH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웹게이지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Wet–Dry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간 공정 상태 차이를 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Offset</a:t>
                      </a:r>
                      <a:r>
                        <a:rPr kumimoji="0" lang="ko-KR" altLang="en-US" sz="900" i="0" u="none" strike="noStrike" kern="1200" cap="none" spc="0" normalizeH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으로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정식화하고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  </a:t>
                      </a:r>
                      <a:endParaRPr kumimoji="0" lang="en-US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Wet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측정값에 이를 적용하여 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Dry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상태를 예측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(Dry ≈ Wet + Offset)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하는</a:t>
                      </a:r>
                      <a:b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기술 개발 및 적용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(’26.06)</a:t>
                      </a:r>
                      <a:b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질량 유량계 유량 기준 음극 상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,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하층 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RPM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자동보정 </a:t>
                      </a:r>
                      <a:b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(‘26.06, </a:t>
                      </a:r>
                      <a:r>
                        <a:rPr kumimoji="0" lang="ko-KR" altLang="en-US" sz="900" i="0" u="none" strike="noStrike" kern="1200" cap="none" spc="0" normalizeH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슬러리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저감 효과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6)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양극 </a:t>
                      </a:r>
                      <a:r>
                        <a:rPr lang="ko-KR" altLang="en-US" sz="900" dirty="0" err="1">
                          <a:latin typeface="Arial Narrow"/>
                          <a:ea typeface="LG스마트체 Regular"/>
                          <a:cs typeface="Microsoft GothicNeo"/>
                        </a:rPr>
                        <a:t>냉각롤</a:t>
                      </a:r>
                      <a:r>
                        <a:rPr lang="ko-KR" altLang="en-US" sz="900" dirty="0">
                          <a:latin typeface="Arial Narrow"/>
                          <a:ea typeface="LG스마트체 Regular"/>
                          <a:cs typeface="Microsoft GothicNeo"/>
                        </a:rPr>
                        <a:t> 온도 자동 보정 </a:t>
                      </a:r>
                      <a:r>
                        <a:rPr lang="en-US" altLang="ko-KR" sz="900" u="none" dirty="0">
                          <a:latin typeface="Arial Narrow"/>
                          <a:ea typeface="LG스마트체 Regular"/>
                        </a:rPr>
                        <a:t>(</a:t>
                      </a:r>
                      <a:r>
                        <a:rPr lang="en-US" altLang="ko-KR" sz="900" dirty="0">
                          <a:latin typeface="Arial Narrow"/>
                          <a:ea typeface="LG스마트체 Regular"/>
                          <a:cs typeface="Microsoft GothicNeo"/>
                        </a:rPr>
                        <a:t>‘26.06)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7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재조건조정 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양산 데이터 확보 후 자동보정 모델 개발</a:t>
                      </a:r>
                      <a:b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                           (‘26.08, 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온도 및 </a:t>
                      </a:r>
                      <a:r>
                        <a:rPr kumimoji="0" lang="ko-KR" altLang="en-US" sz="900" i="0" u="none" strike="noStrike" kern="1200" cap="none" spc="0" normalizeH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개도율</a:t>
                      </a:r>
                      <a:r>
                        <a:rPr kumimoji="0" lang="ko-KR" altLang="en-US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검토</a:t>
                      </a:r>
                      <a:r>
                        <a:rPr kumimoji="0" lang="en-US" altLang="ko-KR" sz="900" i="0" u="none" strike="noStrike" kern="1200" cap="none" spc="0" normalizeH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kumimoji="0" lang="en-US" altLang="ko-KR" sz="900" i="0" u="none" strike="noStrike" kern="1200" cap="none" spc="0" normalizeH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6126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추가 개선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)*20%), 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50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추가 저감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)*50%)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추가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개선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)*10%)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25%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추가 저감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감소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25%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증가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b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수율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20%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초과 감소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)*20%)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</a:t>
                      </a:r>
                      <a:b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      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25%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초과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증가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(100%-</a:t>
                      </a:r>
                      <a:r>
                        <a:rPr kumimoji="0" lang="ko-KR" altLang="en-US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)*25%)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99.0%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8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0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98.9%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70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98.8%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6</a:t>
                      </a:r>
                      <a:r>
                        <a:rPr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0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98.5%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50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이상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전극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98.5%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미만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수동 보정 횟수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5</a:t>
                      </a:r>
                      <a:r>
                        <a:rPr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0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미만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’26.12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6ED674-58FB-C6DC-0735-33629634BDCE}"/>
              </a:ext>
            </a:extLst>
          </p:cNvPr>
          <p:cNvGraphicFramePr>
            <a:graphicFrameLocks noGrp="1"/>
          </p:cNvGraphicFramePr>
          <p:nvPr/>
        </p:nvGraphicFramePr>
        <p:xfrm>
          <a:off x="2366382" y="2177438"/>
          <a:ext cx="3530576" cy="923570"/>
        </p:xfrm>
        <a:graphic>
          <a:graphicData uri="http://schemas.openxmlformats.org/drawingml/2006/table">
            <a:tbl>
              <a:tblPr/>
              <a:tblGrid>
                <a:gridCol w="489740">
                  <a:extLst>
                    <a:ext uri="{9D8B030D-6E8A-4147-A177-3AD203B41FA5}">
                      <a16:colId xmlns:a16="http://schemas.microsoft.com/office/drawing/2014/main" val="574979462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1665369563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33106279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88241592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85040347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1357906765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1245209320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078433566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334010807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542405718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63374019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150365164"/>
                    </a:ext>
                  </a:extLst>
                </a:gridCol>
                <a:gridCol w="253403">
                  <a:extLst>
                    <a:ext uri="{9D8B030D-6E8A-4147-A177-3AD203B41FA5}">
                      <a16:colId xmlns:a16="http://schemas.microsoft.com/office/drawing/2014/main" val="2718676677"/>
                    </a:ext>
                  </a:extLst>
                </a:gridCol>
              </a:tblGrid>
              <a:tr h="1882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49193"/>
                  </a:ext>
                </a:extLst>
              </a:tr>
              <a:tr h="1882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전극수율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(%)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99.0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387325"/>
                  </a:ext>
                </a:extLst>
              </a:tr>
              <a:tr h="1882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물동</a:t>
                      </a:r>
                      <a:r>
                        <a:rPr lang="en-US" altLang="ko-KR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Km)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5,462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4,407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6,179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4,943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6,215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4,861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5,116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5,708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11,263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11,009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10,268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8,988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887267"/>
                  </a:ext>
                </a:extLst>
              </a:tr>
              <a:tr h="3587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가중평균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누적수율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98.1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98.2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98.3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98.4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98.5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98.6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98.7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98.8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034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7B33BE60-3AF8-F085-3CFE-7E06057E5F4D}"/>
              </a:ext>
            </a:extLst>
          </p:cNvPr>
          <p:cNvSpPr/>
          <p:nvPr/>
        </p:nvSpPr>
        <p:spPr>
          <a:xfrm>
            <a:off x="3842599" y="3091659"/>
            <a:ext cx="2269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 로직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가중평균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누적 </a:t>
            </a:r>
            <a:r>
              <a:rPr kumimoji="0" lang="ko-KR" altLang="en-US" sz="900" b="0" i="0" u="none" strike="noStrike" kern="1200" cap="none" spc="-3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누적 생산량 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23612C-55FC-094A-5F96-EAA5A53280BC}"/>
              </a:ext>
            </a:extLst>
          </p:cNvPr>
          <p:cNvSpPr/>
          <p:nvPr/>
        </p:nvSpPr>
        <p:spPr>
          <a:xfrm>
            <a:off x="4475366" y="4222801"/>
            <a:ext cx="153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대비 평가 </a:t>
            </a:r>
            <a:r>
              <a:rPr kumimoji="0" lang="en-US" altLang="ko-KR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Scale </a:t>
            </a:r>
            <a:r>
              <a:rPr kumimoji="0" lang="ko-KR" altLang="en-US" sz="900" b="0" i="0" u="none" strike="noStrike" kern="1200" cap="none" spc="-3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산출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74D89-3DB6-7050-EEA5-8554C53A2A03}"/>
              </a:ext>
            </a:extLst>
          </p:cNvPr>
          <p:cNvSpPr txBox="1"/>
          <p:nvPr/>
        </p:nvSpPr>
        <p:spPr>
          <a:xfrm>
            <a:off x="5124262" y="17680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4A4E6-7FF1-858E-E643-74838E2A4BCD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311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34" cy="6166380"/>
        </p:xfrm>
        <a:graphic>
          <a:graphicData uri="http://schemas.openxmlformats.org/drawingml/2006/table">
            <a:tbl>
              <a:tblPr/>
              <a:tblGrid>
                <a:gridCol w="61244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79356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348343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88301">
                  <a:extLst>
                    <a:ext uri="{9D8B030D-6E8A-4147-A177-3AD203B41FA5}">
                      <a16:colId xmlns:a16="http://schemas.microsoft.com/office/drawing/2014/main" val="2455070836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144000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소형전지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1755" marR="0" lvl="0" indent="-7175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 달성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EP2 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‘26.12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실적 없음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(’25.12/23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부터 양산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달성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NFF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26.12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산출 로직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=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*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활성화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96.9% (1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~ 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97.4% (1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~ 6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LG스마트체 Regular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97.5%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(1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~ 9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월 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327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권취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구간길이 자동설정 기능 개발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와인더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주행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포밍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각도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전극 투입량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분리막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잔량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권심별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사행 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자동보정 기술 개발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[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전극 주행 중 떨림 관련 치명인자 도출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EP2 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라인 대표호기 적용 및 효과 검증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조립 불량별 원인 인자 도출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이상감지를 통한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CBD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비틀림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CIT</a:t>
                      </a:r>
                      <a:b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테이프 개선 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현황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현상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 분석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프로세스 구축을 통한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Worst</a:t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개선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85725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EP2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호기 수평전개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23413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달성에 대한 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달성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98.2%(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97.9%(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97.7%(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97.2%(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31095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97.2%(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누적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미만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EB71074-8D73-87B6-B212-7838039CD441}"/>
              </a:ext>
            </a:extLst>
          </p:cNvPr>
          <p:cNvGraphicFramePr>
            <a:graphicFrameLocks noGrp="1"/>
          </p:cNvGraphicFramePr>
          <p:nvPr/>
        </p:nvGraphicFramePr>
        <p:xfrm>
          <a:off x="2335083" y="2567460"/>
          <a:ext cx="3652470" cy="11532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054">
                  <a:extLst>
                    <a:ext uri="{9D8B030D-6E8A-4147-A177-3AD203B41FA5}">
                      <a16:colId xmlns:a16="http://schemas.microsoft.com/office/drawing/2014/main" val="120312897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527159767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689088534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99128332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879541565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150445287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570115129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794204350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314716314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3406347630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325014861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024673014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1660441626"/>
                    </a:ext>
                  </a:extLst>
                </a:gridCol>
                <a:gridCol w="262368">
                  <a:extLst>
                    <a:ext uri="{9D8B030D-6E8A-4147-A177-3AD203B41FA5}">
                      <a16:colId xmlns:a16="http://schemas.microsoft.com/office/drawing/2014/main" val="2648192283"/>
                    </a:ext>
                  </a:extLst>
                </a:gridCol>
              </a:tblGrid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951128"/>
                  </a:ext>
                </a:extLst>
              </a:tr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Cell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659236"/>
                  </a:ext>
                </a:extLst>
              </a:tr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876589"/>
                  </a:ext>
                </a:extLst>
              </a:tr>
              <a:tr h="12635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Winder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92471"/>
                  </a:ext>
                </a:extLst>
              </a:tr>
              <a:tr h="12635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75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528477"/>
                  </a:ext>
                </a:extLst>
              </a:tr>
              <a:tr h="12635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890945"/>
                  </a:ext>
                </a:extLst>
              </a:tr>
              <a:tr h="1846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물동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7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Kcell</a:t>
                      </a:r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4,241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3,301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4,295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4,315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4,332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4,187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3,901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4,274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3,765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4,532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4,164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4,289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839192"/>
                  </a:ext>
                </a:extLst>
              </a:tr>
              <a:tr h="21056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누적수율</a:t>
                      </a:r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b="1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4471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E842A1-4395-F5AD-BF5B-D1C3084AFD06}"/>
              </a:ext>
            </a:extLst>
          </p:cNvPr>
          <p:cNvSpPr txBox="1"/>
          <p:nvPr/>
        </p:nvSpPr>
        <p:spPr>
          <a:xfrm>
            <a:off x="4953000" y="119658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(6/10)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67765-214A-3A43-9437-002A2CF7E877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14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33B06-C9A8-CC75-14B1-F2863D2181E3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(7/10)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454333"/>
              </p:ext>
            </p:extLst>
          </p:nvPr>
        </p:nvGraphicFramePr>
        <p:xfrm>
          <a:off x="173693" y="620689"/>
          <a:ext cx="9657626" cy="5973212"/>
        </p:xfrm>
        <a:graphic>
          <a:graphicData uri="http://schemas.openxmlformats.org/drawingml/2006/table">
            <a:tbl>
              <a:tblPr/>
              <a:tblGrid>
                <a:gridCol w="61244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40430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48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354344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경쟁력강화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Safety Risk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판단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Fast Track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체계 구축</a:t>
                      </a:r>
                      <a:b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C :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분석업무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효율화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절감</a:t>
                      </a:r>
                      <a:b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Safety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L/T17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단축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ko-KR" altLang="en-US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JH4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모델 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Safety Issue buyback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63%</a:t>
                      </a:r>
                    </a:p>
                    <a:p>
                      <a:pPr marL="90000" marR="0" lvl="0" indent="-90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목표설정 근거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ECS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설치 정보 기준</a:t>
                      </a:r>
                      <a:r>
                        <a:rPr kumimoji="0" lang="ko-KR" altLang="en-US" sz="1000" b="0" i="0" u="none" strike="noStrike" kern="1200" cap="none" spc="-3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‘25.10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71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개국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1,572 Site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중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EBM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연동된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507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VT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AEORS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연동된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124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대상으로 과거 생산 데이터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결합 이력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 관리되지 않아 품질 원인 분석을 위한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Cell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추적성 미흡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93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현재 수집되는 운영 데이터도 비표준화로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데이터 구성 및 타입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인해 실시간 이상 발생에 대한 오진단과 분석 시스템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(DAVINCI)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연계하여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빅데이터 분석으로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Risk Range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교체 대상의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(63%)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개선과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핵심 과제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자동화를 통한 운영 효율성 제고 필요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1793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배터리의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Safety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품질 이슈를 사전예방 및 품질 불량에 대한 민첩한 대응 을 위한 </a:t>
                      </a:r>
                      <a:r>
                        <a:rPr kumimoji="0" lang="en-US" altLang="ko-KR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‘ESS </a:t>
                      </a:r>
                      <a:r>
                        <a:rPr kumimoji="0" lang="ko-KR" altLang="en-US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</a:t>
                      </a:r>
                      <a:r>
                        <a:rPr kumimoji="0" lang="en-US" altLang="ko-KR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통합 분석 체계</a:t>
                      </a:r>
                      <a:r>
                        <a:rPr kumimoji="0" lang="en-US" altLang="ko-KR" sz="1000" b="1" i="0" u="sng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’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를 마련하여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실시간 조기 이상 감지 체제 운영과 빅데이터 분석 플랫폼 기반으로 연간 약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15,000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시간 이상 업무 발생 비용을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줄이고자함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1793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Char char="−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JH4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Safety Issue Buyback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(63%), RMA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진단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(12%)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간의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51%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차이가 있으며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향후 데이터 표준화와 알고리즘 개선을 통하여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개선효과의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데이터 정비에 따른 기여도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반영하여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개선을 목표로 설정함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 Narrow" panose="020B060602020203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설정목표에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JH4 Safety Buyback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후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0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로그 데이터 표준안 확정 및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Pain Point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도출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018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구성정보 및 추적성 확보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161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생산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통합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100%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31774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로그 데이터 표준안 정의 및 현황 분석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표준화 대상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 BSC/BSM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SW 8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SW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버전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조합으로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                      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약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530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종 이상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Site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별 운영 로그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표준안  및 적용 방안 수립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lang="en-US" altLang="ko-KR" sz="7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Pack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추적성 확보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100%)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- PSCM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내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Pack, Rack, LINK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결합 이력 등록 관리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과거 설치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Site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결합 이력 확보 및 재발방지 대책 수립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DAVINCI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내 표준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수집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및 분석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(0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100%)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 수집 운영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표준 템플릿 전환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API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운영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Data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및 분석 환경 구축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ea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[4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ESS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조기 이상 감지 체계 구축</a:t>
                      </a:r>
                      <a:b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BMS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진단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알람과 수집된 표준화 데이터를 이용한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ML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진단 </a:t>
                      </a:r>
                      <a:b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통합 조기 이상감지 체계</a:t>
                      </a:r>
                      <a:b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처리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감지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~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알람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~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조치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프로세스 및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R&amp;R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정의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4887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9.6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21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17.5%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8.8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19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6.4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10%↓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업무 효율화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6.4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일↓ 단축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9.6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21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17.5%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C: 8.8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19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8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17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C: 6.4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3073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 개선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C: 6.44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↓ 절감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D: 14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↓ 단축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D43187-A4B1-D2E2-B1A0-7C43751FD7F8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41533" cy="6080177"/>
        </p:xfrm>
        <a:graphic>
          <a:graphicData uri="http://schemas.openxmlformats.org/drawingml/2006/table">
            <a:tbl>
              <a:tblPr/>
              <a:tblGrid>
                <a:gridCol w="612441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488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88208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00798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자동보정을 활용한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재료비 절감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‘26.12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실적 없음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Coverage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확대를 통한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경영 기여 극대화 필요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제품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가동률 외 기여 과제 추가 발굴 및 적용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.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공정 내 투입 재료 절감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원재료 폐기량 저감을 통한 경영 기여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원가절감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제조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공정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믹서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Pack)</a:t>
                      </a:r>
                      <a:endParaRPr kumimoji="0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과제 도출 및 개발 착수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6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억원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10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억원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15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억원 저감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647809"/>
                  </a:ext>
                </a:extLst>
              </a:tr>
              <a:tr h="972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CTP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대상 레진 산포 발생 원인 인자 발굴 및 예측모델 개발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질량 유량계 기반 자동보정 로직 고도화</a:t>
                      </a: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1</a:t>
                      </a:r>
                      <a:r>
                        <a:rPr lang="en-US" altLang="ko-KR" sz="1000" baseline="30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대표호기 대상 기술 검증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적용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재료비 절감 기여 과제 추가 발굴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데이터 분석</a:t>
                      </a: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Global 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대상 수평전개 진행 및 기술 이관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신규 도출 항목 개발 및 양산 적용</a:t>
                      </a: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b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[4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en-US" altLang="ko-KR" sz="1000" b="0" kern="120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</a:t>
                      </a:r>
                      <a:r>
                        <a:rPr lang="ko-KR" altLang="en-US" sz="1000" b="0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개선안 적용 후 결과 모니터링 및 유지관리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1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‘26.12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B7232E-7AAB-4660-A254-D34B70EF9005}"/>
              </a:ext>
            </a:extLst>
          </p:cNvPr>
          <p:cNvSpPr txBox="1"/>
          <p:nvPr/>
        </p:nvSpPr>
        <p:spPr>
          <a:xfrm>
            <a:off x="5124262" y="119658"/>
            <a:ext cx="4645564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(8/10)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EC998-7C15-6D19-DB9A-4226A303F7A4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16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6480F9C-C83F-350F-5999-79E4FDED6D2B}"/>
              </a:ext>
            </a:extLst>
          </p:cNvPr>
          <p:cNvSpPr txBox="1"/>
          <p:nvPr/>
        </p:nvSpPr>
        <p:spPr>
          <a:xfrm>
            <a:off x="4953000" y="119658"/>
            <a:ext cx="4816826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C9D7984-7EEC-4652-82F7-025067A514C5}"/>
              </a:ext>
            </a:extLst>
          </p:cNvPr>
          <p:cNvGraphicFramePr>
            <a:graphicFrameLocks noGrp="1"/>
          </p:cNvGraphicFramePr>
          <p:nvPr/>
        </p:nvGraphicFramePr>
        <p:xfrm>
          <a:off x="173693" y="620688"/>
          <a:ext cx="9535408" cy="6179549"/>
        </p:xfrm>
        <a:graphic>
          <a:graphicData uri="http://schemas.openxmlformats.org/drawingml/2006/table">
            <a:tbl>
              <a:tblPr/>
              <a:tblGrid>
                <a:gridCol w="853563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969495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96350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1796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72525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진단 솔루션</a:t>
                      </a: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endParaRPr kumimoji="1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항목 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추천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솔루션 개발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ESHD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(ESS)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위치 불량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30%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‘26.11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SOP ‘26.5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경쟁지표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ESMI2 SOP ‘25.5 0.41%, ‘25.8 0.44% (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출처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SRPT_M293)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ESMI2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협업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‘25.8 0.44%, ‘25.11 0.34% (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출처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SRPT_M293)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SOP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당월 대비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M+3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동안 물량 증가로 인한 가동 라인 추가로 </a:t>
                      </a:r>
                      <a:b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안정화에 어려움이 있음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ESMI2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협업을 시작한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’25.8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월과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(M+3) ’25.11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월의 위치불량률 비교시</a:t>
                      </a: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23%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개선됨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(‘25.8 0.44%, 25.11 0.34%)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’25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실적 기준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23%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수준이나 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년에는 수율 개선 활동을 </a:t>
                      </a:r>
                      <a:b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보완하여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초과 달성하겠음</a:t>
                      </a:r>
                      <a:r>
                        <a:rPr kumimoji="0" lang="en-US" altLang="ko-KR" sz="1000" b="0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0488" marR="0" lvl="0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불량 항목 원인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조치 추천 솔루션 개발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ESHD (ESS)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위치 불량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 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11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현상 및 연관 인자 자동 확인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(’26.03)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338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연관 인자간 유의차 자동 선별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(’26.06)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318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인자별 조치 필요 사항 자동 확인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(’26.09) 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19487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[1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현상 및 연관 인자 자동 확인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(’26.03)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불량 현상에 따른 발생 유닛 자동 확인 가능 로직 개발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발생 유닛별 연관 인자 자동 확인 가능 로직 개발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ESWA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(~‘26.3)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[2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 자동 선별 가능 로직 개발 및 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(’26.06)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ESWA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고도화를 통한 적확도 확보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(~’26.4)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조치 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Delay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활용</a:t>
                      </a:r>
                      <a:b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ESMI2, ESST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검증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(~’26.4)</a:t>
                      </a:r>
                      <a:endParaRPr lang="en-US" altLang="ko-KR" sz="1000" b="1" kern="12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ESHD (ESS)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SOP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 활용 및 기능 보완</a:t>
                      </a:r>
                      <a:b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인자별 조치 필요 사항 자동 확인 가능 로직 개발</a:t>
                      </a:r>
                      <a:r>
                        <a:rPr lang="en-US" altLang="ko-KR" sz="1000" b="1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(’26.09) </a:t>
                      </a:r>
                      <a:b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유의 인자에 따른 조치 방안 맵핑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- ESHD </a:t>
                      </a:r>
                      <a:r>
                        <a:rPr lang="ko-KR" altLang="en-US" sz="1000" b="1" kern="1200" spc="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 타 법인 수평전개</a:t>
                      </a:r>
                      <a:endParaRPr lang="en-US" altLang="ko-KR" sz="1000" b="1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179653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27%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3600" marR="0" lvl="0" indent="-936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(30%) 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= { (SOP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당월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– ‘26.11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위치불량률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/ SOP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당월 위치불량률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} *100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36%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33%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30%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27%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551580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위치불량 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24%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이상 개선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 : ‘26.11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679042-7457-C54D-1F19-C77C29AABBE2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170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11C1EE4-747E-4E35-871A-928FDC248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41111"/>
              </p:ext>
            </p:extLst>
          </p:nvPr>
        </p:nvGraphicFramePr>
        <p:xfrm>
          <a:off x="173693" y="620687"/>
          <a:ext cx="9541534" cy="5968590"/>
        </p:xfrm>
        <a:graphic>
          <a:graphicData uri="http://schemas.openxmlformats.org/drawingml/2006/table">
            <a:tbl>
              <a:tblPr/>
              <a:tblGrid>
                <a:gridCol w="616882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1220444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260543">
                  <a:extLst>
                    <a:ext uri="{9D8B030D-6E8A-4147-A177-3AD203B41FA5}">
                      <a16:colId xmlns:a16="http://schemas.microsoft.com/office/drawing/2014/main" val="2487817271"/>
                    </a:ext>
                  </a:extLst>
                </a:gridCol>
                <a:gridCol w="3735665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</a:tblGrid>
              <a:tr h="2041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204189">
                <a:tc row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자동화</a:t>
                      </a:r>
                      <a:endParaRPr lang="ko-KR" altLang="en-US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제거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10%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9535" marR="0" lvl="0" indent="-89535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수작업으로 수행하거나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반복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중복적으로 실행하는 업무를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전환으로 효율성을 향상 시키고자 함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1) PPAP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 체계를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매뉴얼 기반 문서작성 여부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Human error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발생 가능성 차단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2)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검교정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성적서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검토 및 자동 입력을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AI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검증으로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오등록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차단 및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업무 완성도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향상​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검사기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딥러닝을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활용한 수작업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원통형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비전 알고리즘 자동 학습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배포와 딥러닝 모델 정합성 향상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4)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친환경문서 자동 검토를 통한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유해물질문서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균질재질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친환경자재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자동판독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통한 품질 확보 및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업무 단축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시간</a:t>
                      </a: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/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b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효율화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Tool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발굴 및 분석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학습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및 적용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4Q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시스템 안정화 및 변화 관리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649639"/>
                  </a:ext>
                </a:extLst>
              </a:tr>
              <a:tr h="29275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[1Q]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 검증 대상 정의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기술 활용한 개선 방안 도출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알고리즘 학습용 이미지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인프라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[2Q] AX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Tool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학습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OCR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검토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및 추출 대상 정의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DAP – 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및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ESAZ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[3Q]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및 적용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PPAP 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검토 자동화 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검교정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성적서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 </a:t>
                      </a:r>
                      <a:r>
                        <a:rPr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검사기 학습용 이미지 자동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Upload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Open</a:t>
                      </a: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DFS(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이미지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/ SPC(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/ DAP(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딥러닝 학습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연계환경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유해물질 문서 판독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적용 및 정확도 검증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[4Q]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시스템 안정화 및 변화 관리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204189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산출 로직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Description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705988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89535" marR="0" lvl="0" indent="-8953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달성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절감시간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95.0hr/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일 이상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52368"/>
                  </a:ext>
                </a:extLst>
              </a:tr>
              <a:tr h="35869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절감시간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87.1hr/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일 이상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’25.4Q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312169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절감시간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일 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81511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2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절감시간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63.4hr/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일 이상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170501"/>
                  </a:ext>
                </a:extLst>
              </a:tr>
              <a:tr h="364304"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1" i="0" u="none" strike="noStrike" kern="1200" cap="none" spc="-3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1</a:t>
                      </a:r>
                      <a:r>
                        <a:rPr kumimoji="1" lang="ko-KR" altLang="en-US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점</a:t>
                      </a:r>
                      <a:endParaRPr kumimoji="1" lang="en-US" altLang="ko-KR" sz="10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C 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절감시간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63.4hr/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일 미만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’25.4Q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3057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5FC40EF-E74D-DEC9-58D4-8608D71739D1}"/>
              </a:ext>
            </a:extLst>
          </p:cNvPr>
          <p:cNvSpPr txBox="1"/>
          <p:nvPr/>
        </p:nvSpPr>
        <p:spPr>
          <a:xfrm>
            <a:off x="4528586" y="3863645"/>
            <a:ext cx="1191352" cy="25558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1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년 업무일 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260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일 기준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724EDF-E2CD-F593-BD9B-30FB524CBB5B}"/>
              </a:ext>
            </a:extLst>
          </p:cNvPr>
          <p:cNvSpPr txBox="1"/>
          <p:nvPr/>
        </p:nvSpPr>
        <p:spPr>
          <a:xfrm>
            <a:off x="7735213" y="5490264"/>
            <a:ext cx="2170787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PPAP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문서 업무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4.0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 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검교정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성적서 업무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1.9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검사기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3.0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유해물질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1.0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명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62356-B122-0047-CC98-B2FD8931ED3A}"/>
              </a:ext>
            </a:extLst>
          </p:cNvPr>
          <p:cNvSpPr txBox="1"/>
          <p:nvPr/>
        </p:nvSpPr>
        <p:spPr>
          <a:xfrm>
            <a:off x="4752975" y="119658"/>
            <a:ext cx="5016851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➋ 목표 산정 근거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분기 목표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(10/10)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2B9D0-1A64-2919-EE8A-5834243B062D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77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531696"/>
              </p:ext>
            </p:extLst>
          </p:nvPr>
        </p:nvGraphicFramePr>
        <p:xfrm>
          <a:off x="200025" y="701080"/>
          <a:ext cx="9643221" cy="5341196"/>
        </p:xfrm>
        <a:graphic>
          <a:graphicData uri="http://schemas.openxmlformats.org/drawingml/2006/table">
            <a:tbl>
              <a:tblPr/>
              <a:tblGrid>
                <a:gridCol w="1029405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536598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280313">
                  <a:extLst>
                    <a:ext uri="{9D8B030D-6E8A-4147-A177-3AD203B41FA5}">
                      <a16:colId xmlns:a16="http://schemas.microsoft.com/office/drawing/2014/main" val="185255041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1923265575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905851894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3300058648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3159466843"/>
                    </a:ext>
                  </a:extLst>
                </a:gridCol>
                <a:gridCol w="1225466">
                  <a:extLst>
                    <a:ext uri="{9D8B030D-6E8A-4147-A177-3AD203B41FA5}">
                      <a16:colId xmlns:a16="http://schemas.microsoft.com/office/drawing/2014/main" val="819276790"/>
                    </a:ext>
                  </a:extLst>
                </a:gridCol>
                <a:gridCol w="289683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65055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" marR="3600" marT="10800" marB="108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지표</a:t>
                      </a:r>
                      <a:endParaRPr lang="en-US" sz="10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9136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3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en-US" sz="11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686049"/>
                  </a:ext>
                </a:extLst>
              </a:tr>
              <a:tr h="193172"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30.05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36.06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 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33.055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30.05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24.04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172">
                <a:tc vMerge="1">
                  <a:txBody>
                    <a:bodyPr/>
                    <a:lstStyle/>
                    <a:p>
                      <a:pPr marL="108000" marR="0" lvl="0" indent="-108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4,800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4,400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3,200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미만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379521"/>
                  </a:ext>
                </a:extLst>
              </a:tr>
              <a:tr h="333465"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b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제조운영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/ESS BM/PD 20%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endParaRPr kumimoji="1" lang="en-US" altLang="ko-KR" sz="1000" b="0" kern="1200" spc="-6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22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1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16</a:t>
                      </a:r>
                      <a:r>
                        <a:rPr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%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개선</a:t>
                      </a:r>
                      <a:endParaRPr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654550"/>
                  </a:ext>
                </a:extLst>
              </a:tr>
              <a:tr h="921639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 라인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95.4%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94.9%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93.2%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921639">
                <a:tc vMerge="1"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ESWA ESS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95.6%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93.4%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355346"/>
                  </a:ext>
                </a:extLst>
              </a:tr>
              <a:tr h="636089">
                <a:tc>
                  <a:txBody>
                    <a:bodyPr/>
                    <a:lstStyle/>
                    <a:p>
                      <a:pPr marL="92075" indent="-9207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자동차전지</a:t>
                      </a:r>
                      <a:br>
                        <a:rPr lang="en-US" altLang="ko-KR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목표 달성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 셀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97.8%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  <a:endParaRPr lang="ko-KR" altLang="en-US" sz="1000" b="1" i="0" u="none" strike="noStrike" spc="-1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lang="en-US" altLang="ko-KR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98.3% </a:t>
                      </a:r>
                      <a:r>
                        <a:rPr lang="ko-KR" altLang="en-US" sz="1000" b="0" kern="12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98.1%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Q: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97.4%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D: ’26.12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02411"/>
                  </a:ext>
                </a:extLst>
              </a:tr>
              <a:tr h="578262">
                <a:tc rowSpan="2">
                  <a:txBody>
                    <a:bodyPr/>
                    <a:lstStyle/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소형전지</a:t>
                      </a:r>
                      <a:b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1" lang="ko-KR" altLang="en-US" sz="1000" b="1" kern="1200" spc="-6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1" lang="ko-KR" altLang="en-US" sz="1000" b="0" kern="1200" spc="-6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98.8% 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b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98.9%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98.8%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저감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98.5%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수동 보정 횟수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저감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14913"/>
                  </a:ext>
                </a:extLst>
              </a:tr>
              <a:tr h="506943">
                <a:tc vMerge="1">
                  <a:txBody>
                    <a:bodyPr/>
                    <a:lstStyle/>
                    <a:p>
                      <a:pPr marL="92075" indent="-92075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endParaRPr lang="ko-KR" altLang="en-US" sz="1000" b="1" kern="1200" spc="-1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1000" b="1" kern="1200" spc="-6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br>
                        <a:rPr kumimoji="1" lang="en-US" altLang="ko-KR" sz="1000" b="1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Q: 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1000" b="0" kern="1200" spc="-60" baseline="0" noProof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b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D: </a:t>
                      </a:r>
                      <a:r>
                        <a:rPr kumimoji="1" lang="en-US" altLang="ko-KR" sz="1000" b="0" kern="1200" spc="-6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‘26.12</a:t>
                      </a:r>
                      <a:r>
                        <a:rPr kumimoji="1" lang="ko-KR" altLang="en-US" sz="1000" b="0" kern="1200" spc="-6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kumimoji="1" lang="ko-KR" altLang="en-US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0" kern="1200" spc="-6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98.2%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97.9%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97.7%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54000" marB="360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97.2%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</a:p>
                  </a:txBody>
                  <a:tcPr marL="18000" marR="0" marT="54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16744"/>
                  </a:ext>
                </a:extLst>
              </a:tr>
              <a:tr h="5782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경쟁력강화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 Safety Risk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판단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Fast Track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체계 구축</a:t>
                      </a:r>
                      <a:b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과검률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15%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b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C :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분석업무 효율화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억 절감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Safety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분석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L/T17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단축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ko-KR" altLang="en-US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9.6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8.8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8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6.4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단축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과검률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 : 6.4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↓ 절감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21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↓ 단축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4224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6FC5BA-7E40-4398-94C6-553D4E6FC6CA}"/>
              </a:ext>
            </a:extLst>
          </p:cNvPr>
          <p:cNvSpPr txBox="1"/>
          <p:nvPr/>
        </p:nvSpPr>
        <p:spPr>
          <a:xfrm>
            <a:off x="7224092" y="119658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➌ 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60395-ED88-B8B7-A584-F325868D00BB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129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DEA82D8-838B-4BB7-8CC3-D776D5B45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746598"/>
              </p:ext>
            </p:extLst>
          </p:nvPr>
        </p:nvGraphicFramePr>
        <p:xfrm>
          <a:off x="200025" y="701079"/>
          <a:ext cx="9643221" cy="2705843"/>
        </p:xfrm>
        <a:graphic>
          <a:graphicData uri="http://schemas.openxmlformats.org/drawingml/2006/table">
            <a:tbl>
              <a:tblPr/>
              <a:tblGrid>
                <a:gridCol w="1029405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536598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280313">
                  <a:extLst>
                    <a:ext uri="{9D8B030D-6E8A-4147-A177-3AD203B41FA5}">
                      <a16:colId xmlns:a16="http://schemas.microsoft.com/office/drawing/2014/main" val="185255041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1923265575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905851894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3300058648"/>
                    </a:ext>
                  </a:extLst>
                </a:gridCol>
                <a:gridCol w="1070439">
                  <a:extLst>
                    <a:ext uri="{9D8B030D-6E8A-4147-A177-3AD203B41FA5}">
                      <a16:colId xmlns:a16="http://schemas.microsoft.com/office/drawing/2014/main" val="3159466843"/>
                    </a:ext>
                  </a:extLst>
                </a:gridCol>
                <a:gridCol w="1225466">
                  <a:extLst>
                    <a:ext uri="{9D8B030D-6E8A-4147-A177-3AD203B41FA5}">
                      <a16:colId xmlns:a16="http://schemas.microsoft.com/office/drawing/2014/main" val="819276790"/>
                    </a:ext>
                  </a:extLst>
                </a:gridCol>
                <a:gridCol w="289683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199442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" marR="3600" marT="10800" marB="1080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지표</a:t>
                      </a:r>
                      <a:endParaRPr lang="en-US" sz="10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9136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0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 b="1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en-US" sz="1100" b="1" i="0" u="none" strike="noStrike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686049"/>
                  </a:ext>
                </a:extLst>
              </a:tr>
              <a:tr h="183380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자동보정을 활용한 재료비 절감​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자동보정 영역 확대를 통한 원가 절감 기여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 기여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원가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654550"/>
                  </a:ext>
                </a:extLst>
              </a:tr>
              <a:tr h="11414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1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진단 솔루션개발</a:t>
                      </a:r>
                      <a:endParaRPr lang="en-US" altLang="ko-KR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불량 항목 원인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조치 추천 솔루션 개발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ESHD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위치 불량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(SOP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이후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M+3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36%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33%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27%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위치 불량</a:t>
                      </a:r>
                      <a:b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24%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개선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’26.11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706710"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자동화</a:t>
                      </a:r>
                      <a:endParaRPr lang="ko-KR" altLang="en-US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기반 수작업 업무 제거</a:t>
                      </a:r>
                      <a:b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C :  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업무 시간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일 절감 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(9.9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 절감효과</a:t>
                      </a: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95.0hr/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87.1hr/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79.2hr/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C: 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 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↓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D: ‘25.4Q</a:t>
                      </a: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0024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6FC5BA-7E40-4398-94C6-553D4E6FC6CA}"/>
              </a:ext>
            </a:extLst>
          </p:cNvPr>
          <p:cNvSpPr txBox="1"/>
          <p:nvPr/>
        </p:nvSpPr>
        <p:spPr>
          <a:xfrm>
            <a:off x="7224092" y="119658"/>
            <a:ext cx="2545733" cy="33855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➌ 평가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Description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60395-ED88-B8B7-A584-F325868D00BB}"/>
              </a:ext>
            </a:extLst>
          </p:cNvPr>
          <p:cNvSpPr txBox="1"/>
          <p:nvPr/>
        </p:nvSpPr>
        <p:spPr>
          <a:xfrm>
            <a:off x="95895" y="174087"/>
            <a:ext cx="385354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제조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DX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5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FA3ADA6-01DE-4292-8CB6-A80B3EA94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617638"/>
              </p:ext>
            </p:extLst>
          </p:nvPr>
        </p:nvGraphicFramePr>
        <p:xfrm>
          <a:off x="112932" y="625053"/>
          <a:ext cx="9680135" cy="211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234">
                  <a:extLst>
                    <a:ext uri="{9D8B030D-6E8A-4147-A177-3AD203B41FA5}">
                      <a16:colId xmlns:a16="http://schemas.microsoft.com/office/drawing/2014/main" val="2812083310"/>
                    </a:ext>
                  </a:extLst>
                </a:gridCol>
                <a:gridCol w="1516625">
                  <a:extLst>
                    <a:ext uri="{9D8B030D-6E8A-4147-A177-3AD203B41FA5}">
                      <a16:colId xmlns:a16="http://schemas.microsoft.com/office/drawing/2014/main" val="3081028036"/>
                    </a:ext>
                  </a:extLst>
                </a:gridCol>
                <a:gridCol w="1965888">
                  <a:extLst>
                    <a:ext uri="{9D8B030D-6E8A-4147-A177-3AD203B41FA5}">
                      <a16:colId xmlns:a16="http://schemas.microsoft.com/office/drawing/2014/main" val="286802300"/>
                    </a:ext>
                  </a:extLst>
                </a:gridCol>
                <a:gridCol w="2029388">
                  <a:extLst>
                    <a:ext uri="{9D8B030D-6E8A-4147-A177-3AD203B41FA5}">
                      <a16:colId xmlns:a16="http://schemas.microsoft.com/office/drawing/2014/main" val="1983613499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421180291"/>
                    </a:ext>
                  </a:extLst>
                </a:gridCol>
              </a:tblGrid>
              <a:tr h="181311"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대상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 </a:t>
                      </a: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사유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77804"/>
                  </a:ext>
                </a:extLst>
              </a:tr>
              <a:tr h="181311"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전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변경 후 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82961"/>
                  </a:ext>
                </a:extLst>
              </a:tr>
              <a:tr h="875297">
                <a:tc rowSpan="2">
                  <a:txBody>
                    <a:bodyPr/>
                    <a:lstStyle/>
                    <a:p>
                      <a:pPr marL="34925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목표 범위</a:t>
                      </a:r>
                      <a:endParaRPr kumimoji="1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삭제로 인한 비중 확대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 </a:t>
                      </a:r>
                      <a:r>
                        <a:rPr lang="en-US" altLang="ko-KR" sz="900" b="1" kern="1200" spc="-5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(5%)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 </a:t>
                      </a:r>
                      <a:r>
                        <a:rPr lang="en-US" altLang="ko-KR" sz="900" b="1" kern="1200" spc="-5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  <a:br>
                        <a:rPr kumimoji="1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CQO </a:t>
                      </a:r>
                      <a:r>
                        <a:rPr lang="ko-KR" altLang="en-US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조직 </a:t>
                      </a:r>
                      <a: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 </a:t>
                      </a:r>
                      <a:r>
                        <a:rPr lang="ko-KR" altLang="en-US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변경에 따른 </a:t>
                      </a:r>
                      <a: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Co-KPI Align</a:t>
                      </a:r>
                      <a:br>
                        <a:rPr lang="en-US" altLang="ko-KR" sz="1200" b="1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CQO,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신뢰성품질담당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Palantir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비용 통제에 따른 데이터 전송 및 플랫폼 활용이 제한되어 당초 계획대비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추진 및 성과 측정이 어려움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(CQO)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Palantir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List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1) </a:t>
                      </a: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사외 품질 비용 검증 체계 고도화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2)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통합 품질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생태계 구축  → </a:t>
                      </a:r>
                      <a: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KPI </a:t>
                      </a:r>
                      <a:r>
                        <a:rPr lang="ko-KR" altLang="en-US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제외 </a:t>
                      </a:r>
                      <a:br>
                        <a:rPr lang="en-US" altLang="ko-KR" sz="1100" b="0" kern="12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3) Field </a:t>
                      </a: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조기 이상 감지</a:t>
                      </a:r>
                      <a:b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4) Field </a:t>
                      </a:r>
                      <a:r>
                        <a:rPr lang="ko-KR" altLang="en-US" sz="1100" b="0" kern="1200" spc="-3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이슈 원인 분석 및 개선 가속화</a:t>
                      </a:r>
                      <a:endParaRPr lang="en-US" altLang="ko-KR" sz="1200" b="0" kern="1200" spc="-30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08184"/>
                  </a:ext>
                </a:extLst>
              </a:tr>
              <a:tr h="8752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삭제</a:t>
                      </a:r>
                      <a:endParaRPr kumimoji="1" lang="en-US" altLang="ko-KR" sz="9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1" lang="ko-KR" altLang="en-US" sz="9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통합 품질 </a:t>
                      </a:r>
                      <a:r>
                        <a:rPr kumimoji="1" lang="en-US" altLang="ko-KR" sz="9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kumimoji="1" lang="ko-KR" altLang="en-US" sz="9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구축</a:t>
                      </a:r>
                      <a:r>
                        <a:rPr kumimoji="1" lang="en-US" altLang="ko-KR" sz="9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(5%)</a:t>
                      </a:r>
                      <a:br>
                        <a:rPr kumimoji="1" lang="ko-KR" altLang="en-US" sz="900" b="1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/ C : EBM/AEROS, </a:t>
                      </a:r>
                      <a:r>
                        <a:rPr kumimoji="1" lang="ko-KR" altLang="en-US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다빈치 공정</a:t>
                      </a:r>
                      <a:r>
                        <a:rPr kumimoji="1" lang="en-US" altLang="ko-KR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 </a:t>
                      </a:r>
                      <a:r>
                        <a:rPr kumimoji="1" lang="en-US" altLang="ko-KR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br>
                        <a:rPr kumimoji="1" lang="en-US" altLang="ko-KR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</a:t>
                      </a:r>
                      <a:r>
                        <a:rPr kumimoji="1" lang="ko-KR" altLang="en-US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생태계 구축</a:t>
                      </a:r>
                      <a:br>
                        <a:rPr kumimoji="1" lang="ko-KR" altLang="en-US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26.12</a:t>
                      </a:r>
                      <a:r>
                        <a:rPr kumimoji="1" lang="ko-KR" altLang="en-US" sz="8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9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90488" marR="0" lvl="0" indent="-555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1" kern="12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935581"/>
                  </a:ext>
                </a:extLst>
              </a:tr>
            </a:tbl>
          </a:graphicData>
        </a:graphic>
      </p:graphicFrame>
      <p:sp>
        <p:nvSpPr>
          <p:cNvPr id="12" name="Text Box 3">
            <a:extLst>
              <a:ext uri="{FF2B5EF4-FFF2-40B4-BE49-F238E27FC236}">
                <a16:creationId xmlns:a16="http://schemas.microsoft.com/office/drawing/2014/main" id="{FEFC288F-77CA-406B-9803-9093227EC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6699" y="115888"/>
            <a:ext cx="938325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algn="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KPI </a:t>
            </a:r>
            <a:r>
              <a:rPr kumimoji="1" lang="ko-KR" altLang="en-US" sz="16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수정안</a:t>
            </a:r>
            <a:endParaRPr kumimoji="1" lang="ko-KR" altLang="en-US" sz="1600" dirty="0">
              <a:solidFill>
                <a:prstClr val="black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1" name="실행 단추: 앞으로 또는 다음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27716D6-DE28-C225-C7D7-EEC51F8F4BEB}"/>
              </a:ext>
            </a:extLst>
          </p:cNvPr>
          <p:cNvSpPr/>
          <p:nvPr/>
        </p:nvSpPr>
        <p:spPr>
          <a:xfrm>
            <a:off x="6131319" y="999321"/>
            <a:ext cx="140400" cy="133200"/>
          </a:xfrm>
          <a:prstGeom prst="actionButtonForwardNex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68768-B88C-D0BD-CEA5-AEFF2E5352EE}"/>
              </a:ext>
            </a:extLst>
          </p:cNvPr>
          <p:cNvSpPr txBox="1"/>
          <p:nvPr/>
        </p:nvSpPr>
        <p:spPr>
          <a:xfrm>
            <a:off x="95895" y="166327"/>
            <a:ext cx="3158293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그룹장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lang="ko-KR" altLang="en-US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E86E6-57D7-4FCA-8318-6CA28D5A88FF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 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482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0805-9E7C-9A3F-84FE-1EFEDDDD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E452FB-57A8-3EBA-6627-0BA7E0E75EE1}"/>
              </a:ext>
            </a:extLst>
          </p:cNvPr>
          <p:cNvSpPr txBox="1"/>
          <p:nvPr/>
        </p:nvSpPr>
        <p:spPr>
          <a:xfrm>
            <a:off x="95895" y="166327"/>
            <a:ext cx="5269735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lvl="0">
              <a:defRPr/>
            </a:pP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[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제조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DX</a:t>
            </a:r>
            <a:r>
              <a:rPr kumimoji="1" lang="ko-KR" altLang="en-US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그룹장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김민수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kumimoji="1"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상무 </a:t>
            </a:r>
            <a:r>
              <a:rPr kumimoji="1"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]</a:t>
            </a:r>
            <a:endParaRPr kumimoji="0" lang="ko-KR" altLang="en-US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4B39C99-34F6-DF83-2F9F-DB1EC14C9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737713"/>
              </p:ext>
            </p:extLst>
          </p:nvPr>
        </p:nvGraphicFramePr>
        <p:xfrm>
          <a:off x="917420" y="620690"/>
          <a:ext cx="8798080" cy="5996915"/>
        </p:xfrm>
        <a:graphic>
          <a:graphicData uri="http://schemas.openxmlformats.org/drawingml/2006/table">
            <a:tbl>
              <a:tblPr/>
              <a:tblGrid>
                <a:gridCol w="792000">
                  <a:extLst>
                    <a:ext uri="{9D8B030D-6E8A-4147-A177-3AD203B41FA5}">
                      <a16:colId xmlns:a16="http://schemas.microsoft.com/office/drawing/2014/main" val="1583461695"/>
                    </a:ext>
                  </a:extLst>
                </a:gridCol>
                <a:gridCol w="263922">
                  <a:extLst>
                    <a:ext uri="{9D8B030D-6E8A-4147-A177-3AD203B41FA5}">
                      <a16:colId xmlns:a16="http://schemas.microsoft.com/office/drawing/2014/main" val="4227781156"/>
                    </a:ext>
                  </a:extLst>
                </a:gridCol>
                <a:gridCol w="674608">
                  <a:extLst>
                    <a:ext uri="{9D8B030D-6E8A-4147-A177-3AD203B41FA5}">
                      <a16:colId xmlns:a16="http://schemas.microsoft.com/office/drawing/2014/main" val="940625267"/>
                    </a:ext>
                  </a:extLst>
                </a:gridCol>
                <a:gridCol w="188163">
                  <a:extLst>
                    <a:ext uri="{9D8B030D-6E8A-4147-A177-3AD203B41FA5}">
                      <a16:colId xmlns:a16="http://schemas.microsoft.com/office/drawing/2014/main" val="3142531987"/>
                    </a:ext>
                  </a:extLst>
                </a:gridCol>
                <a:gridCol w="107112">
                  <a:extLst>
                    <a:ext uri="{9D8B030D-6E8A-4147-A177-3AD203B41FA5}">
                      <a16:colId xmlns:a16="http://schemas.microsoft.com/office/drawing/2014/main" val="4057220351"/>
                    </a:ext>
                  </a:extLst>
                </a:gridCol>
                <a:gridCol w="654445">
                  <a:extLst>
                    <a:ext uri="{9D8B030D-6E8A-4147-A177-3AD203B41FA5}">
                      <a16:colId xmlns:a16="http://schemas.microsoft.com/office/drawing/2014/main" val="4115920672"/>
                    </a:ext>
                  </a:extLst>
                </a:gridCol>
                <a:gridCol w="898808">
                  <a:extLst>
                    <a:ext uri="{9D8B030D-6E8A-4147-A177-3AD203B41FA5}">
                      <a16:colId xmlns:a16="http://schemas.microsoft.com/office/drawing/2014/main" val="2558446385"/>
                    </a:ext>
                  </a:extLst>
                </a:gridCol>
                <a:gridCol w="1256622">
                  <a:extLst>
                    <a:ext uri="{9D8B030D-6E8A-4147-A177-3AD203B41FA5}">
                      <a16:colId xmlns:a16="http://schemas.microsoft.com/office/drawing/2014/main" val="407420043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409402569"/>
                    </a:ext>
                  </a:extLst>
                </a:gridCol>
                <a:gridCol w="3209925">
                  <a:extLst>
                    <a:ext uri="{9D8B030D-6E8A-4147-A177-3AD203B41FA5}">
                      <a16:colId xmlns:a16="http://schemas.microsoft.com/office/drawing/2014/main" val="328246694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303836669"/>
                    </a:ext>
                  </a:extLst>
                </a:gridCol>
              </a:tblGrid>
              <a:tr h="343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kern="1200" spc="-1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비중</a:t>
                      </a:r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 설정 근거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 목표 및 실행 계획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진척평가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57706"/>
                  </a:ext>
                </a:extLst>
              </a:tr>
              <a:tr h="43920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자동화</a:t>
                      </a:r>
                      <a:endParaRPr lang="ko-KR" altLang="en-US" sz="10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71755" marR="0" lvl="0" indent="-71755" algn="l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수작업 업무 제거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C : 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시간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절감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(9.9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절감효과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D : ’26.12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1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전년실적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없음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신규과제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9535" marR="0" lvl="0" indent="-89535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목표설정 근거</a:t>
                      </a:r>
                      <a:r>
                        <a:rPr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수작업으로 수행하거나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반복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중복적으로 실행하는 업무를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전환으로 효율성을 향상 시키고자 함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1) PPAP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 체계를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매뉴얼 기반 문서작성 여부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 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Human error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발생 가능성 차단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2)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검교정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성적서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검토 및 자동 입력을 통한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Workload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감소 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AI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 검증으로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오등록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차단 및</a:t>
                      </a:r>
                      <a:r>
                        <a:rPr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업무 완성도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향상​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검사기 </a:t>
                      </a:r>
                      <a:r>
                        <a:rPr kumimoji="0" lang="ko-KR" altLang="en-US" sz="1000" b="1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딥러닝을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활용한 수작업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원통형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비전 알고리즘 자동 학습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배포와 딥러닝 모델 정합성 향상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4)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친환경문서 자동 검토를 통한 업무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유해물질문서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균질재질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친환경자재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자동판독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통한 품질 확보 및 효율화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90000" marR="0" lvl="0" indent="-90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설정목표에 대한 산출 로직</a:t>
                      </a:r>
                      <a:endParaRPr kumimoji="0" lang="en-US" altLang="ko-KR" sz="10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업무 단축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개선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시간</a:t>
                      </a: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b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1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 [(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전 업무 시간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–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적용 후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 /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년간 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 업무 시간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</a:t>
                      </a:r>
                      <a:b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= 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인원 효율화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단위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kumimoji="1" lang="en-US" altLang="ko-KR" sz="1000" b="0" i="0" u="none" strike="noStrike" kern="1200" cap="none" spc="-4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FF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r>
                        <a:rPr lang="ko-KR" altLang="en-US" sz="2000" u="none" spc="-50" baseline="3000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00B05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2000" u="none" spc="-50" dirty="0">
                          <a:ln w="6350">
                            <a:solidFill>
                              <a:prstClr val="black">
                                <a:lumMod val="50000"/>
                                <a:lumOff val="50000"/>
                              </a:prstClr>
                            </a:solidFill>
                          </a:ln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654165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검증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Tool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발굴 및 분석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학습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96706"/>
                  </a:ext>
                </a:extLst>
              </a:tr>
              <a:tr h="43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3Q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170" marR="0" lvl="0" indent="-9017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및 적용</a:t>
                      </a:r>
                      <a:endParaRPr kumimoji="1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808293"/>
                  </a:ext>
                </a:extLst>
              </a:tr>
              <a:tr h="233938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실행</a:t>
                      </a:r>
                      <a:b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계획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[1Q]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현황분석 및 </a:t>
                      </a:r>
                      <a:r>
                        <a:rPr kumimoji="1" lang="ko-KR" altLang="en-US" sz="10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아키텍쳐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정의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 검증 대상 정의 및 </a:t>
                      </a: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기술 활용한 개선 방안 도출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알고리즘 학습용 이미지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인프라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[2Q] AX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Tool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학습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OCR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검토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및 추출 대상 정의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DAP – DFS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개발 및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ESAZ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법인 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[3Q]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구축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개발 및 적용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PPAP 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검토 자동화 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검교정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 성적서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자동 </a:t>
                      </a:r>
                      <a:r>
                        <a:rPr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검증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개발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검사기 학습용 이미지 자동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Upload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기능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Open</a:t>
                      </a: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DFS(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이미지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/ SPC(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데이터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/ DAP(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딥러닝 학습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연계환경 구축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71755" marR="0" lvl="0" indent="-7175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유해물질 문서 판독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Agent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적용 및 정확도 검증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[4Q] 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시스템 안정화 및 변화 관리</a:t>
                      </a:r>
                      <a:endParaRPr lang="en-US" altLang="ko-KR" sz="1000" b="0" kern="1200" spc="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79272"/>
                  </a:ext>
                </a:extLst>
              </a:tr>
              <a:tr h="792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경쟁지표</a:t>
                      </a: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971758"/>
                  </a:ext>
                </a:extLst>
              </a:tr>
              <a:tr h="1488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03302"/>
                  </a:ext>
                </a:extLst>
              </a:tr>
              <a:tr h="5315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95.0hr/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87.1hr/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79.2hr/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9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</a:t>
                      </a: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↑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절감시간 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63..4hr/</a:t>
                      </a:r>
                      <a:r>
                        <a:rPr kumimoji="0" lang="ko-KR" altLang="en-US" sz="10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↓</a:t>
                      </a:r>
                      <a:endParaRPr kumimoji="0" lang="en-US" altLang="ko-KR" sz="10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>
                          <a:tab pos="90488" algn="l"/>
                        </a:tabLst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xx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94541"/>
                  </a:ext>
                </a:extLst>
              </a:tr>
              <a:tr h="252000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평가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Scale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산출 로직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기준</a:t>
                      </a: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16984"/>
                  </a:ext>
                </a:extLst>
              </a:tr>
              <a:tr h="879391">
                <a:tc gridSpan="10">
                  <a:txBody>
                    <a:bodyPr/>
                    <a:lstStyle/>
                    <a:p>
                      <a:pPr marL="90000" marR="0" lvl="0" indent="-9000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평가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배점에 대한 산출 로직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110%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 달성</a:t>
                      </a:r>
                      <a:b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목표대비 </a:t>
                      </a:r>
                      <a:r>
                        <a:rPr lang="ko-KR" altLang="en-US" sz="1000" b="1" i="0" u="none" strike="noStrike" kern="1200" spc="-3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등록 업무 인원 </a:t>
                      </a:r>
                      <a:r>
                        <a:rPr lang="ko-KR" altLang="en-US" sz="1000" b="1" i="0" u="none" strike="noStrike" kern="1200" spc="-3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절감율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80% </a:t>
                      </a:r>
                      <a:r>
                        <a:rPr kumimoji="0" lang="ko-KR" altLang="en-US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미만 달성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Char char="•"/>
                        <a:tabLst>
                          <a:tab pos="0" algn="l"/>
                        </a:tabLst>
                        <a:defRPr/>
                      </a:pPr>
                      <a:endParaRPr kumimoji="0" lang="en-US" altLang="ko-KR" sz="1000" b="0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-1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12589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121E78-D3B9-4457-75C1-9A303D369707}"/>
              </a:ext>
            </a:extLst>
          </p:cNvPr>
          <p:cNvSpPr/>
          <p:nvPr/>
        </p:nvSpPr>
        <p:spPr>
          <a:xfrm>
            <a:off x="200025" y="620687"/>
            <a:ext cx="576263" cy="597696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1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변경 후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89E60B5-D39C-E0C7-AC84-07BA1E4F8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2560" y="115888"/>
            <a:ext cx="2280039" cy="3189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/>
          <a:p>
            <a:pPr marL="0" marR="0" lvl="0" indent="0" algn="r" defTabSz="4572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➍ KPI 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수정 검토양식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상세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8" name="실행 단추: 홈으로 이동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532CD8A-E0AA-BBC9-C789-2C252FBA7131}"/>
              </a:ext>
            </a:extLst>
          </p:cNvPr>
          <p:cNvSpPr/>
          <p:nvPr/>
        </p:nvSpPr>
        <p:spPr>
          <a:xfrm>
            <a:off x="9559720" y="92454"/>
            <a:ext cx="208721" cy="215315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4C829-9304-F710-2F75-640B10ED536A}"/>
              </a:ext>
            </a:extLst>
          </p:cNvPr>
          <p:cNvSpPr txBox="1"/>
          <p:nvPr/>
        </p:nvSpPr>
        <p:spPr>
          <a:xfrm>
            <a:off x="4632385" y="6698195"/>
            <a:ext cx="64123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- 1 /</a:t>
            </a:r>
            <a:r>
              <a:rPr lang="en-US" altLang="ko-KR" sz="9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1 -</a:t>
            </a:r>
            <a:endParaRPr kumimoji="0" lang="ko-KR" altLang="en-US" sz="900" i="0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981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24407</TotalTime>
  <Words>8008</Words>
  <Application>Microsoft Office PowerPoint</Application>
  <PresentationFormat>A4 용지(210x297mm)</PresentationFormat>
  <Paragraphs>1290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LG스마트체 Regular</vt:lpstr>
      <vt:lpstr>굴림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19_기본 디자인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김대홍(DaehongKim)[daehong_kim]/책임/자동차.사업전략.사업전략팀</dc:creator>
  <cp:lastModifiedBy>이재후(JAEHU LEE)[jaehu]/사원/제조DX.기획팀</cp:lastModifiedBy>
  <cp:revision>804</cp:revision>
  <cp:lastPrinted>2025-03-26T08:19:46Z</cp:lastPrinted>
  <dcterms:created xsi:type="dcterms:W3CDTF">2025-01-20T23:43:33Z</dcterms:created>
  <dcterms:modified xsi:type="dcterms:W3CDTF">2026-08-25T00:29:55Z</dcterms:modified>
</cp:coreProperties>
</file>