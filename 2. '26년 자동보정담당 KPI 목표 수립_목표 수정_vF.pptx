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3" r:id="rId2"/>
    <p:sldMasterId id="2147483686" r:id="rId3"/>
  </p:sldMasterIdLst>
  <p:notesMasterIdLst>
    <p:notesMasterId r:id="rId21"/>
  </p:notesMasterIdLst>
  <p:sldIdLst>
    <p:sldId id="259" r:id="rId4"/>
    <p:sldId id="2147483442" r:id="rId5"/>
    <p:sldId id="261" r:id="rId6"/>
    <p:sldId id="2147483646" r:id="rId7"/>
    <p:sldId id="256" r:id="rId8"/>
    <p:sldId id="2147483597" r:id="rId9"/>
    <p:sldId id="2147483642" r:id="rId10"/>
    <p:sldId id="2147483645" r:id="rId11"/>
    <p:sldId id="2147483647" r:id="rId12"/>
    <p:sldId id="260" r:id="rId13"/>
    <p:sldId id="2147483639" r:id="rId14"/>
    <p:sldId id="258" r:id="rId15"/>
    <p:sldId id="2147481897" r:id="rId16"/>
    <p:sldId id="2147481901" r:id="rId17"/>
    <p:sldId id="2147481898" r:id="rId18"/>
    <p:sldId id="2147481896" r:id="rId19"/>
    <p:sldId id="2147481895" r:id="rId20"/>
  </p:sldIdLst>
  <p:sldSz cx="9906000" cy="6858000" type="A4"/>
  <p:notesSz cx="6797675" cy="987266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목표합의서_자동보정담당" id="{FC8F3B46-E8FE-40DA-881E-A14B667FF8CF}">
          <p14:sldIdLst>
            <p14:sldId id="259"/>
            <p14:sldId id="2147483442"/>
            <p14:sldId id="261"/>
            <p14:sldId id="2147483646"/>
            <p14:sldId id="256"/>
            <p14:sldId id="2147483597"/>
            <p14:sldId id="2147483642"/>
            <p14:sldId id="2147483645"/>
            <p14:sldId id="2147483647"/>
            <p14:sldId id="260"/>
            <p14:sldId id="2147483639"/>
            <p14:sldId id="258"/>
          </p14:sldIdLst>
        </p14:section>
        <p14:section name="KPI 변경 검토" id="{466C8448-23C2-483E-B8A1-20E520145E38}">
          <p14:sldIdLst>
            <p14:sldId id="2147481897"/>
          </p14:sldIdLst>
        </p14:section>
        <p14:section name="KPI 수정 근거_자동보정담당" id="{02A024D9-1BF4-4E53-A21A-87D23FDDCD7E}">
          <p14:sldIdLst>
            <p14:sldId id="2147481901"/>
            <p14:sldId id="2147481898"/>
            <p14:sldId id="2147481896"/>
            <p14:sldId id="214748189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391" userDrawn="1">
          <p15:clr>
            <a:srgbClr val="A4A3A4"/>
          </p15:clr>
        </p15:guide>
        <p15:guide id="2" pos="6114" userDrawn="1">
          <p15:clr>
            <a:srgbClr val="A4A3A4"/>
          </p15:clr>
        </p15:guide>
        <p15:guide id="3" orient="horz" pos="3090" userDrawn="1">
          <p15:clr>
            <a:srgbClr val="A4A3A4"/>
          </p15:clr>
        </p15:guide>
        <p15:guide id="4" orient="horz" pos="618" userDrawn="1">
          <p15:clr>
            <a:srgbClr val="A4A3A4"/>
          </p15:clr>
        </p15:guide>
        <p15:guide id="5" pos="5796" userDrawn="1">
          <p15:clr>
            <a:srgbClr val="A4A3A4"/>
          </p15:clr>
        </p15:guide>
        <p15:guide id="6" pos="126" userDrawn="1">
          <p15:clr>
            <a:srgbClr val="A4A3A4"/>
          </p15:clr>
        </p15:guide>
        <p15:guide id="7" pos="489" userDrawn="1">
          <p15:clr>
            <a:srgbClr val="A4A3A4"/>
          </p15:clr>
        </p15:guide>
        <p15:guide id="8" orient="horz" pos="4133" userDrawn="1">
          <p15:clr>
            <a:srgbClr val="A4A3A4"/>
          </p15:clr>
        </p15:guide>
        <p15:guide id="9" orient="horz" pos="2908" userDrawn="1">
          <p15:clr>
            <a:srgbClr val="A4A3A4"/>
          </p15:clr>
        </p15:guide>
        <p15:guide id="11" orient="horz" pos="3566" userDrawn="1">
          <p15:clr>
            <a:srgbClr val="A4A3A4"/>
          </p15:clr>
        </p15:guide>
        <p15:guide id="12" orient="horz" pos="3407" userDrawn="1">
          <p15:clr>
            <a:srgbClr val="A4A3A4"/>
          </p15:clr>
        </p15:guide>
        <p15:guide id="13" pos="5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00"/>
    <a:srgbClr val="0000FF"/>
    <a:srgbClr val="FFFF99"/>
    <a:srgbClr val="FFFF00"/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949" autoAdjust="0"/>
    <p:restoredTop sz="94667" autoAdjust="0"/>
  </p:normalViewPr>
  <p:slideViewPr>
    <p:cSldViewPr snapToGrid="0" showGuides="1">
      <p:cViewPr varScale="1">
        <p:scale>
          <a:sx n="101" d="100"/>
          <a:sy n="101" d="100"/>
        </p:scale>
        <p:origin x="1692" y="96"/>
      </p:cViewPr>
      <p:guideLst>
        <p:guide orient="horz" pos="391"/>
        <p:guide pos="6114"/>
        <p:guide orient="horz" pos="3090"/>
        <p:guide orient="horz" pos="618"/>
        <p:guide pos="5796"/>
        <p:guide pos="126"/>
        <p:guide pos="489"/>
        <p:guide orient="horz" pos="4133"/>
        <p:guide orient="horz" pos="2908"/>
        <p:guide orient="horz" pos="3566"/>
        <p:guide orient="horz" pos="3407"/>
        <p:guide pos="5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" Type="http://schemas.openxmlformats.org/officeDocument/2006/relationships/slideMaster" Target="slideMasters/slideMaster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theme" Target="theme/theme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viewProps" Target="view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AAA317-D649-4A5F-9D2F-E5B84DA77317}" type="datetimeFigureOut">
              <a:rPr lang="ko-KR" altLang="en-US" smtClean="0"/>
              <a:t>2026-08-03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1233488"/>
            <a:ext cx="4813300" cy="33321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450" y="4751388"/>
            <a:ext cx="5438775" cy="38877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377363"/>
            <a:ext cx="2946400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9688" y="9377363"/>
            <a:ext cx="2946400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C44F66-54D9-4BCF-8DFA-2EE3BF76F9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00910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8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81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E8BEC97-7182-4C18-B0DF-EAF40FCBE660}" type="slidenum">
              <a: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81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278446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125A4A-0BA2-4E9B-BF0C-200011F251EF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85288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125A4A-0BA2-4E9B-BF0C-200011F251EF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188434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80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39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E8BEC97-7182-4C18-B0DF-EAF40FCBE660}" type="slidenum">
              <a: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392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075725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F6ED3-60AD-48CD-B581-5C42264DF849}" type="datetimeFigureOut">
              <a:rPr lang="ko-KR" altLang="en-US" smtClean="0"/>
              <a:t>2026-08-03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2E71F-F707-45AA-B0CF-027E940F60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27106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F6ED3-60AD-48CD-B581-5C42264DF849}" type="datetimeFigureOut">
              <a:rPr lang="ko-KR" altLang="en-US" smtClean="0"/>
              <a:t>2026-08-03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2E71F-F707-45AA-B0CF-027E940F60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60883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F6ED3-60AD-48CD-B581-5C42264DF849}" type="datetimeFigureOut">
              <a:rPr lang="ko-KR" altLang="en-US" smtClean="0"/>
              <a:t>2026-08-03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2E71F-F707-45AA-B0CF-027E940F60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77588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F6ED3-60AD-48CD-B581-5C42264DF849}" type="datetimeFigureOut">
              <a:rPr lang="ko-KR" altLang="en-US" smtClean="0"/>
              <a:t>2026-08-03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2E71F-F707-45AA-B0CF-027E940F60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00429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F6ED3-60AD-48CD-B581-5C42264DF849}" type="datetimeFigureOut">
              <a:rPr lang="ko-KR" altLang="en-US" smtClean="0"/>
              <a:t>2026-08-03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2E71F-F707-45AA-B0CF-027E940F60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13343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F6ED3-60AD-48CD-B581-5C42264DF849}" type="datetimeFigureOut">
              <a:rPr lang="ko-KR" altLang="en-US" smtClean="0"/>
              <a:t>2026-08-03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2E71F-F707-45AA-B0CF-027E940F60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03746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F6ED3-60AD-48CD-B581-5C42264DF849}" type="datetimeFigureOut">
              <a:rPr lang="ko-KR" altLang="en-US" smtClean="0"/>
              <a:t>2026-08-03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2E71F-F707-45AA-B0CF-027E940F60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30296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F6ED3-60AD-48CD-B581-5C42264DF849}" type="datetimeFigureOut">
              <a:rPr lang="ko-KR" altLang="en-US" smtClean="0"/>
              <a:t>2026-08-03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2E71F-F707-45AA-B0CF-027E940F60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26431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F6ED3-60AD-48CD-B581-5C42264DF849}" type="datetimeFigureOut">
              <a:rPr lang="ko-KR" altLang="en-US" smtClean="0"/>
              <a:t>2026-08-03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2E71F-F707-45AA-B0CF-027E940F60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76642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F6ED3-60AD-48CD-B581-5C42264DF849}" type="datetimeFigureOut">
              <a:rPr lang="ko-KR" altLang="en-US" smtClean="0"/>
              <a:t>2026-08-03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2E71F-F707-45AA-B0CF-027E940F60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53494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F6ED3-60AD-48CD-B581-5C42264DF849}" type="datetimeFigureOut">
              <a:rPr lang="ko-KR" altLang="en-US" smtClean="0"/>
              <a:t>2026-08-03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2E71F-F707-45AA-B0CF-027E940F60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72045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498827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6205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295992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4290633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6284138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632263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9037C-F6BC-4C17-B680-989F54A9FCBC}" type="datetimeFigureOut">
              <a:rPr lang="ko-KR" altLang="en-US" smtClean="0"/>
              <a:t>2026-08-03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4C55D-DB26-4D49-B0C6-9213ECDD09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049732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9037C-F6BC-4C17-B680-989F54A9FCBC}" type="datetimeFigureOut">
              <a:rPr lang="ko-KR" altLang="en-US" smtClean="0"/>
              <a:t>2026-08-03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4C55D-DB26-4D49-B0C6-9213ECDD09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230484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9037C-F6BC-4C17-B680-989F54A9FCBC}" type="datetimeFigureOut">
              <a:rPr lang="ko-KR" altLang="en-US" smtClean="0"/>
              <a:t>2026-08-03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4C55D-DB26-4D49-B0C6-9213ECDD09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814335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9037C-F6BC-4C17-B680-989F54A9FCBC}" type="datetimeFigureOut">
              <a:rPr lang="ko-KR" altLang="en-US" smtClean="0"/>
              <a:t>2026-08-03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4C55D-DB26-4D49-B0C6-9213ECDD09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009563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9037C-F6BC-4C17-B680-989F54A9FCBC}" type="datetimeFigureOut">
              <a:rPr lang="ko-KR" altLang="en-US" smtClean="0"/>
              <a:t>2026-08-03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4C55D-DB26-4D49-B0C6-9213ECDD09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928217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9037C-F6BC-4C17-B680-989F54A9FCBC}" type="datetimeFigureOut">
              <a:rPr lang="ko-KR" altLang="en-US" smtClean="0"/>
              <a:t>2026-08-03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4C55D-DB26-4D49-B0C6-9213ECDD09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727788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9037C-F6BC-4C17-B680-989F54A9FCBC}" type="datetimeFigureOut">
              <a:rPr lang="ko-KR" altLang="en-US" smtClean="0"/>
              <a:t>2026-08-03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4C55D-DB26-4D49-B0C6-9213ECDD09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226122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9037C-F6BC-4C17-B680-989F54A9FCBC}" type="datetimeFigureOut">
              <a:rPr lang="ko-KR" altLang="en-US" smtClean="0"/>
              <a:t>2026-08-03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4C55D-DB26-4D49-B0C6-9213ECDD09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599325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9037C-F6BC-4C17-B680-989F54A9FCBC}" type="datetimeFigureOut">
              <a:rPr lang="ko-KR" altLang="en-US" smtClean="0"/>
              <a:t>2026-08-03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4C55D-DB26-4D49-B0C6-9213ECDD09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846624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9037C-F6BC-4C17-B680-989F54A9FCBC}" type="datetimeFigureOut">
              <a:rPr lang="ko-KR" altLang="en-US" smtClean="0"/>
              <a:t>2026-08-03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4C55D-DB26-4D49-B0C6-9213ECDD09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749160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9037C-F6BC-4C17-B680-989F54A9FCBC}" type="datetimeFigureOut">
              <a:rPr lang="ko-KR" altLang="en-US" smtClean="0"/>
              <a:t>2026-08-03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4C55D-DB26-4D49-B0C6-9213ECDD09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637334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520589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721321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17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9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Relationship Id="rId1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1F6ED3-60AD-48CD-B581-5C42264DF849}" type="datetimeFigureOut">
              <a:rPr lang="ko-KR" altLang="en-US" smtClean="0"/>
              <a:t>2026-08-03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72E71F-F707-45AA-B0CF-027E940F60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49238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9" r:id="rId1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70957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7" r:id="rId3"/>
    <p:sldLayoutId id="2147483678" r:id="rId4"/>
  </p:sldLayoutIdLst>
  <p:hf sldNum="0"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145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29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433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578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1313" indent="-341313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1363" indent="-284163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39825" indent="-225425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>
          <a:solidFill>
            <a:schemeClr val="tx1"/>
          </a:solidFill>
          <a:latin typeface="+mn-lt"/>
          <a:ea typeface="+mn-ea"/>
        </a:defRPr>
      </a:lvl3pPr>
      <a:lvl4pPr marL="1598613" indent="-225425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4225" indent="-225425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294" indent="-228572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439" indent="-228572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8584" indent="-228572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5727" indent="-228572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29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45" algn="l" defTabSz="91429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90" algn="l" defTabSz="91429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33" algn="l" defTabSz="91429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578" algn="l" defTabSz="91429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22" algn="l" defTabSz="91429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867" algn="l" defTabSz="91429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11" algn="l" defTabSz="91429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155" algn="l" defTabSz="91429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39037C-F6BC-4C17-B680-989F54A9FCBC}" type="datetimeFigureOut">
              <a:rPr lang="ko-KR" altLang="en-US" smtClean="0"/>
              <a:t>2026-08-03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44C55D-DB26-4D49-B0C6-9213ECDD09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00788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" Target="slide17.xml"/><Relationship Id="rId2" Type="http://schemas.openxmlformats.org/officeDocument/2006/relationships/slide" Target="slide16.xml"/><Relationship Id="rId1" Type="http://schemas.openxmlformats.org/officeDocument/2006/relationships/slideLayout" Target="../slideLayouts/slideLayout13.xml"/><Relationship Id="rId5" Type="http://schemas.openxmlformats.org/officeDocument/2006/relationships/slide" Target="slide15.xml"/><Relationship Id="rId4" Type="http://schemas.openxmlformats.org/officeDocument/2006/relationships/slide" Target="slide1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" Target="slide13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" Target="slide13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" Target="slide13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" Target="slide13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B9B2806A-699D-06FE-370F-DF12DF6D92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6839218"/>
              </p:ext>
            </p:extLst>
          </p:nvPr>
        </p:nvGraphicFramePr>
        <p:xfrm>
          <a:off x="120658" y="543419"/>
          <a:ext cx="9689447" cy="6247189"/>
        </p:xfrm>
        <a:graphic>
          <a:graphicData uri="http://schemas.openxmlformats.org/drawingml/2006/table">
            <a:tbl>
              <a:tblPr/>
              <a:tblGrid>
                <a:gridCol w="511836">
                  <a:extLst>
                    <a:ext uri="{9D8B030D-6E8A-4147-A177-3AD203B41FA5}">
                      <a16:colId xmlns:a16="http://schemas.microsoft.com/office/drawing/2014/main" val="1285339405"/>
                    </a:ext>
                  </a:extLst>
                </a:gridCol>
                <a:gridCol w="75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72000">
                  <a:extLst>
                    <a:ext uri="{9D8B030D-6E8A-4147-A177-3AD203B41FA5}">
                      <a16:colId xmlns:a16="http://schemas.microsoft.com/office/drawing/2014/main" val="1485838750"/>
                    </a:ext>
                  </a:extLst>
                </a:gridCol>
                <a:gridCol w="263502">
                  <a:extLst>
                    <a:ext uri="{9D8B030D-6E8A-4147-A177-3AD203B41FA5}">
                      <a16:colId xmlns:a16="http://schemas.microsoft.com/office/drawing/2014/main" val="3694603259"/>
                    </a:ext>
                  </a:extLst>
                </a:gridCol>
                <a:gridCol w="2808000">
                  <a:extLst>
                    <a:ext uri="{9D8B030D-6E8A-4147-A177-3AD203B41FA5}">
                      <a16:colId xmlns:a16="http://schemas.microsoft.com/office/drawing/2014/main" val="2421510175"/>
                    </a:ext>
                  </a:extLst>
                </a:gridCol>
                <a:gridCol w="4378109">
                  <a:extLst>
                    <a:ext uri="{9D8B030D-6E8A-4147-A177-3AD203B41FA5}">
                      <a16:colId xmlns:a16="http://schemas.microsoft.com/office/drawing/2014/main" val="46673577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 rtl="0" fontAlgn="ctr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i="0" u="none" strike="noStrike" kern="1200" spc="-10" dirty="0">
                          <a:solidFill>
                            <a:srgbClr val="000000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구분</a:t>
                      </a:r>
                      <a:endParaRPr lang="en-US" sz="1000" b="1" i="0" u="none" strike="noStrike" kern="1200" spc="-10" dirty="0">
                        <a:solidFill>
                          <a:srgbClr val="000000"/>
                        </a:solidFill>
                        <a:latin typeface="Arial Narrow"/>
                        <a:ea typeface="LG스마트체 Regular"/>
                        <a:cs typeface="+mn-cs"/>
                      </a:endParaRPr>
                    </a:p>
                  </a:txBody>
                  <a:tcPr marL="3600" marR="3600" marT="18000" marB="18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endParaRPr lang="en-US" sz="1000" b="1" i="0" u="none" strike="noStrike" spc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" marR="3600" marT="18000" marB="18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1" i="0" u="none" strike="noStrike" kern="1200" spc="-10">
                          <a:solidFill>
                            <a:srgbClr val="000000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’26</a:t>
                      </a:r>
                      <a:r>
                        <a:rPr lang="ko-KR" altLang="en-US" sz="1000" b="1" i="0" u="none" strike="noStrike" kern="1200" spc="-10">
                          <a:solidFill>
                            <a:srgbClr val="000000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년 </a:t>
                      </a:r>
                      <a:r>
                        <a:rPr lang="en-US" altLang="ko-KR" sz="1000" b="1" i="0" u="none" strike="noStrike" kern="1200" spc="-10">
                          <a:solidFill>
                            <a:srgbClr val="000000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KPI</a:t>
                      </a:r>
                      <a:endParaRPr lang="ko-KR" altLang="en-US" sz="1000" b="1" i="0" u="none" strike="noStrike" kern="1200" spc="-10">
                        <a:solidFill>
                          <a:srgbClr val="000000"/>
                        </a:solidFill>
                        <a:latin typeface="Arial Narrow"/>
                        <a:ea typeface="LG스마트체 Regular"/>
                        <a:cs typeface="+mn-cs"/>
                      </a:endParaRPr>
                    </a:p>
                  </a:txBody>
                  <a:tcPr marL="3600" marR="3600" marT="10800" marB="108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i="0" u="none" strike="noStrike" spc="-10">
                          <a:solidFill>
                            <a:srgbClr val="000000"/>
                          </a:solidFill>
                          <a:latin typeface="Arial Narrow"/>
                          <a:ea typeface="LG스마트체 Regular"/>
                        </a:rPr>
                        <a:t>비중</a:t>
                      </a:r>
                      <a:endParaRPr lang="en-US" altLang="ko-KR" sz="1000" b="1" i="0" u="none" strike="noStrike" spc="-10">
                        <a:solidFill>
                          <a:srgbClr val="000000"/>
                        </a:solidFill>
                        <a:latin typeface="Arial Narrow"/>
                        <a:ea typeface="LG스마트체 Regular"/>
                      </a:endParaRPr>
                    </a:p>
                  </a:txBody>
                  <a:tcPr marL="3600" marR="3600" marT="10800" marB="108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i="0" u="none" strike="noStrike" kern="1200" spc="-10">
                          <a:solidFill>
                            <a:srgbClr val="000000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상세 목표</a:t>
                      </a:r>
                      <a:endParaRPr lang="en-US" altLang="ko-KR" sz="1000" b="1" i="0" u="none" strike="noStrike" kern="1200" spc="-10">
                        <a:solidFill>
                          <a:srgbClr val="000000"/>
                        </a:solidFill>
                        <a:latin typeface="Arial Narrow"/>
                        <a:ea typeface="LG스마트체 Regular"/>
                        <a:cs typeface="+mn-cs"/>
                      </a:endParaRPr>
                    </a:p>
                  </a:txBody>
                  <a:tcPr marL="3600" marR="3600" marT="10800" marB="108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ko-KR" altLang="en-US" sz="1000" b="1" spc="-10">
                          <a:solidFill>
                            <a:srgbClr val="000000"/>
                          </a:solidFill>
                          <a:latin typeface="Arial Narrow"/>
                          <a:ea typeface="LG스마트체 Regular"/>
                          <a:cs typeface="Arial"/>
                        </a:rPr>
                        <a:t>주요 실행 계획</a:t>
                      </a:r>
                    </a:p>
                  </a:txBody>
                  <a:tcPr marL="3600" marR="3600" marT="10800" marB="108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2027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Pct val="80000"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ko-KR" altLang="en-US" sz="1000" b="1" spc="-10" baseline="0" dirty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rPr>
                        <a:t>핵심</a:t>
                      </a:r>
                      <a:br>
                        <a:rPr kumimoji="1" lang="en-US" altLang="ko-KR" sz="1000" b="1" spc="-10" baseline="0" dirty="0">
                          <a:solidFill>
                            <a:srgbClr val="000000"/>
                          </a:solidFill>
                          <a:latin typeface="Arial Narrow"/>
                          <a:ea typeface="LG스마트체 Regular"/>
                        </a:rPr>
                      </a:br>
                      <a:r>
                        <a:rPr kumimoji="1" lang="ko-KR" altLang="en-US" sz="1000" b="1" spc="-10" baseline="0" dirty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rPr>
                        <a:t>성과지표</a:t>
                      </a:r>
                      <a:br>
                        <a:rPr kumimoji="1" lang="en-US" altLang="ko-KR" sz="1000" b="1" spc="-10" baseline="0" dirty="0">
                          <a:solidFill>
                            <a:srgbClr val="000000"/>
                          </a:solidFill>
                          <a:latin typeface="Arial Narrow"/>
                          <a:ea typeface="LG스마트체 Regular"/>
                        </a:rPr>
                      </a:br>
                      <a:r>
                        <a:rPr kumimoji="1" lang="en-US" altLang="ko-KR" sz="1000" b="0" spc="-10" baseline="0" dirty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rPr>
                        <a:t>(10%)</a:t>
                      </a:r>
                      <a:endParaRPr kumimoji="1" lang="ko-KR" altLang="en-US" sz="1000" b="0" spc="-10" baseline="0" dirty="0">
                        <a:solidFill>
                          <a:schemeClr val="tx1"/>
                        </a:solidFill>
                        <a:latin typeface="Arial Narrow"/>
                        <a:ea typeface="LG스마트체 Regular"/>
                      </a:endParaRPr>
                    </a:p>
                  </a:txBody>
                  <a:tcPr marL="3600" marR="360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Pct val="80000"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ko-KR" altLang="en-US" sz="1000" b="1" spc="-10" baseline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rPr>
                        <a:t>재무목표 달성</a:t>
                      </a:r>
                      <a:br>
                        <a:rPr kumimoji="1" lang="en-US" altLang="ko-KR" sz="1000" b="1" spc="-10" baseline="0">
                          <a:solidFill>
                            <a:srgbClr val="000000"/>
                          </a:solidFill>
                          <a:latin typeface="Arial Narrow"/>
                          <a:ea typeface="LG스마트체 Regular"/>
                        </a:rPr>
                      </a:br>
                      <a:r>
                        <a:rPr kumimoji="1" lang="en-US" altLang="ko-KR" sz="1000" b="0" spc="-10" baseline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rPr>
                        <a:t>(10%)</a:t>
                      </a:r>
                      <a:endParaRPr kumimoji="1" lang="ko-KR" altLang="en-US" sz="1000" b="0" spc="-10" baseline="0">
                        <a:solidFill>
                          <a:schemeClr val="tx1"/>
                        </a:solidFill>
                        <a:latin typeface="Arial Narrow"/>
                        <a:ea typeface="LG스마트체 Regular"/>
                      </a:endParaRPr>
                    </a:p>
                  </a:txBody>
                  <a:tcPr marL="3600" marR="360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92075" marR="0" lvl="0" indent="-92075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Pct val="10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900" b="1" i="0" u="none" strike="noStrike" kern="1200" cap="none" spc="-1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매출 </a:t>
                      </a:r>
                      <a:r>
                        <a:rPr kumimoji="0" lang="en-US" altLang="ko-KR" sz="900" b="1" i="0" u="none" strike="noStrike" kern="1200" cap="none" spc="-1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/ </a:t>
                      </a:r>
                      <a:r>
                        <a:rPr kumimoji="0" lang="ko-KR" altLang="en-US" sz="900" b="1" i="0" u="none" strike="noStrike" kern="1200" cap="none" spc="-1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영업이익</a:t>
                      </a:r>
                      <a:br>
                        <a:rPr kumimoji="0" lang="en-US" altLang="ko-KR" sz="900" b="1" i="0" u="none" strike="noStrike" kern="1200" cap="none" spc="-1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</a:br>
                      <a:r>
                        <a:rPr kumimoji="0" lang="ko-KR" altLang="en-US" sz="900" b="1" i="0" u="none" strike="noStrike" kern="1200" cap="none" spc="-1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목표 달성</a:t>
                      </a:r>
                      <a:endParaRPr kumimoji="0" lang="en-US" altLang="ko-KR" sz="900" b="1" i="0" u="none" strike="noStrike" kern="1200" cap="none" spc="-1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/>
                        <a:ea typeface="LG스마트체 Regular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lang="en-US" altLang="ko-KR" sz="900" b="1" i="0" u="none" strike="noStrike" spc="-10" baseline="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5%</a:t>
                      </a:r>
                      <a:endParaRPr lang="ko-KR" altLang="en-US" sz="900" b="1" i="0" u="none" strike="noStrike" spc="-10" baseline="0">
                        <a:solidFill>
                          <a:schemeClr val="tx1"/>
                        </a:solidFill>
                        <a:effectLst/>
                        <a:latin typeface="Arial Narrow"/>
                        <a:ea typeface="LG스마트체 Regular"/>
                      </a:endParaRPr>
                    </a:p>
                  </a:txBody>
                  <a:tcPr marL="3600" marR="3600" marT="10800" marB="108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72000" marR="0" lvl="0" indent="-720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1000" b="1" kern="1200" spc="-5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매출</a:t>
                      </a:r>
                      <a:r>
                        <a:rPr kumimoji="1" lang="en-US" altLang="ko-KR" sz="1000" b="1" kern="1200" spc="-5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30.05</a:t>
                      </a:r>
                      <a:r>
                        <a:rPr kumimoji="1" lang="ko-KR" altLang="en-US" sz="1000" b="1" kern="1200" spc="-5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조원</a:t>
                      </a:r>
                      <a:endParaRPr kumimoji="1" lang="ko-KR" altLang="en-US" sz="1000" b="0" kern="1200" spc="-5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71755" marR="0" lvl="0" indent="-71755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9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Arial Narrow"/>
                        <a:ea typeface="LG스마트체 Regular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267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i="0" u="none" strike="noStrike" spc="-10" baseline="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5%</a:t>
                      </a:r>
                      <a:endParaRPr lang="ko-KR" altLang="en-US" sz="900" b="1" i="0" u="none" strike="noStrike" spc="-10" baseline="0">
                        <a:solidFill>
                          <a:schemeClr val="tx1"/>
                        </a:solidFill>
                        <a:effectLst/>
                        <a:latin typeface="Arial Narrow"/>
                        <a:ea typeface="LG스마트체 Regular"/>
                      </a:endParaRPr>
                    </a:p>
                  </a:txBody>
                  <a:tcPr marL="3600" marR="3600" marT="10800" marB="108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72000" marR="0" lvl="0" indent="-720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1000" b="1" kern="1200" spc="-5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영업이익 </a:t>
                      </a:r>
                      <a:r>
                        <a:rPr kumimoji="1" lang="en-US" altLang="ko-KR" sz="1000" b="1" kern="1200" spc="-5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4,000 </a:t>
                      </a:r>
                      <a:r>
                        <a:rPr kumimoji="1" lang="ko-KR" altLang="en-US" sz="1000" b="1" kern="1200" spc="-5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억원</a:t>
                      </a:r>
                      <a:endParaRPr kumimoji="1" lang="ko-KR" altLang="en-US" sz="1000" b="0" kern="1200" spc="-5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2225254"/>
                  </a:ext>
                </a:extLst>
              </a:tr>
              <a:tr h="237310">
                <a:tc rowSpan="8">
                  <a:txBody>
                    <a:bodyPr/>
                    <a:lstStyle/>
                    <a:p>
                      <a:pPr mar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ko-KR" altLang="en-US" sz="1000" b="1" kern="1200" spc="-1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핵심</a:t>
                      </a:r>
                      <a:br>
                        <a:rPr lang="en-US" altLang="ko-KR" sz="1000" b="1" kern="1200" spc="-10">
                          <a:solidFill>
                            <a:srgbClr val="000000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</a:br>
                      <a:r>
                        <a:rPr lang="ko-KR" altLang="en-US" sz="1000" b="1" kern="1200" spc="-1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전략</a:t>
                      </a:r>
                      <a:br>
                        <a:rPr lang="en-US" altLang="ko-KR" sz="1000" b="1" kern="1200" spc="-10">
                          <a:solidFill>
                            <a:srgbClr val="000000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</a:br>
                      <a:r>
                        <a:rPr lang="ko-KR" altLang="en-US" sz="1000" b="1" kern="1200" spc="-1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과제</a:t>
                      </a:r>
                      <a:br>
                        <a:rPr lang="en-US" altLang="ko-KR" sz="1000" b="1" kern="1200" spc="-10">
                          <a:solidFill>
                            <a:srgbClr val="000000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</a:br>
                      <a:r>
                        <a:rPr lang="en-US" altLang="ko-KR" sz="1000" b="0" kern="1200" spc="-1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(80%)</a:t>
                      </a:r>
                    </a:p>
                  </a:txBody>
                  <a:tcPr marL="3600" marR="3600" marT="18000" marB="18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1200" spc="-10" baseline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구조적 </a:t>
                      </a:r>
                      <a:br>
                        <a:rPr lang="en-US" altLang="ko-KR" sz="1000" b="1" kern="1200" spc="-10" baseline="0">
                          <a:solidFill>
                            <a:srgbClr val="000000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</a:br>
                      <a:r>
                        <a:rPr lang="ko-KR" altLang="en-US" sz="1000" b="1" kern="1200" spc="-10" baseline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원가 경쟁력 강화</a:t>
                      </a:r>
                      <a:r>
                        <a:rPr lang="en-US" altLang="ko-KR" sz="1000" b="0" kern="1200" spc="-10" baseline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(15%)</a:t>
                      </a:r>
                      <a:endParaRPr lang="ko-KR" altLang="en-US" sz="1000" b="0" kern="1200" spc="-10" baseline="0">
                        <a:solidFill>
                          <a:schemeClr val="tx1"/>
                        </a:solidFill>
                        <a:latin typeface="Arial Narrow"/>
                        <a:ea typeface="LG스마트체 Regular"/>
                        <a:cs typeface="+mn-cs"/>
                      </a:endParaRPr>
                    </a:p>
                  </a:txBody>
                  <a:tcPr marL="3600" marR="3600" marT="18000" marB="18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92075" indent="-92075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SzPct val="100000"/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1" kern="1200" spc="-10" dirty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제조 운영 </a:t>
                      </a:r>
                      <a:r>
                        <a:rPr lang="en-US" altLang="ko-KR" sz="900" b="1" kern="1200" spc="-10" dirty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AX</a:t>
                      </a:r>
                      <a:br>
                        <a:rPr lang="en-US" altLang="ko-KR" sz="900" b="1" kern="1200" spc="-10" dirty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</a:br>
                      <a:r>
                        <a:rPr lang="en-US" altLang="ko-KR" sz="900" b="1" kern="1200" spc="-10" dirty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BM/PD </a:t>
                      </a:r>
                      <a:r>
                        <a:rPr lang="ko-KR" altLang="en-US" sz="900" b="1" kern="1200" spc="-10" dirty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개선</a:t>
                      </a:r>
                      <a:endParaRPr lang="en-US" altLang="ko-KR" sz="900" b="1" kern="1200" spc="-10" dirty="0">
                        <a:solidFill>
                          <a:schemeClr val="tx1"/>
                        </a:solidFill>
                        <a:latin typeface="Arial Narrow"/>
                        <a:ea typeface="LG스마트체 Regular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lang="en-US" altLang="ko-KR" sz="900" b="1" kern="1200" spc="-10" dirty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15%</a:t>
                      </a:r>
                    </a:p>
                  </a:txBody>
                  <a:tcPr marL="3600" marR="3600" marT="10800" marB="108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AX</a:t>
                      </a: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기반 제조운영 </a:t>
                      </a:r>
                      <a: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BM/PD Loss</a:t>
                      </a: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개선</a:t>
                      </a:r>
                      <a:br>
                        <a:rPr kumimoji="1" lang="en-US" altLang="ko-KR" sz="105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Q: 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자동차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/ESS BM/PD 20% 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개선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(25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년 比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)</a:t>
                      </a:r>
                      <a:endParaRPr lang="en-US" altLang="ko-KR" sz="900" b="0" kern="1200" spc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71755" marR="0" lvl="0" indent="-71755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9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 </a:t>
                      </a:r>
                      <a:r>
                        <a:rPr lang="en-US" altLang="ko-KR" sz="900" b="1" kern="1200" dirty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PD Loss 20</a:t>
                      </a:r>
                      <a:r>
                        <a:rPr kumimoji="1" lang="en-US" altLang="ko-KR" sz="9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% </a:t>
                      </a:r>
                      <a:r>
                        <a:rPr kumimoji="1" lang="ko-KR" altLang="en-US" sz="9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개선 </a:t>
                      </a:r>
                      <a:r>
                        <a:rPr kumimoji="1" lang="en-US" altLang="ko-KR" sz="9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(</a:t>
                      </a:r>
                      <a:r>
                        <a:rPr kumimoji="1" lang="ko-KR" altLang="en-US" sz="9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대상 공정 </a:t>
                      </a:r>
                      <a:r>
                        <a:rPr kumimoji="1" lang="en-US" altLang="ko-KR" sz="9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: R/P, NND   </a:t>
                      </a:r>
                      <a:r>
                        <a:rPr kumimoji="1" lang="ko-KR" altLang="en-US" sz="9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대상법인 </a:t>
                      </a:r>
                      <a:r>
                        <a:rPr kumimoji="1" lang="en-US" altLang="ko-KR" sz="9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: MI2,</a:t>
                      </a:r>
                      <a:r>
                        <a:rPr kumimoji="1" lang="ko-KR" altLang="en-US" sz="9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 </a:t>
                      </a:r>
                      <a:r>
                        <a:rPr kumimoji="1" lang="en-US" altLang="ko-KR" sz="9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ST, WA)</a:t>
                      </a:r>
                      <a:br>
                        <a:rPr kumimoji="1" lang="en-US" altLang="ko-KR" sz="9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</a:br>
                      <a:r>
                        <a:rPr kumimoji="1" lang="en-US" altLang="ko-KR" sz="9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- </a:t>
                      </a:r>
                      <a:r>
                        <a:rPr kumimoji="1" lang="ko-KR" altLang="en-US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롤프레스 </a:t>
                      </a:r>
                      <a:r>
                        <a:rPr lang="ko-KR" altLang="en-US" sz="900" b="0" kern="1200" spc="-30" noProof="0" dirty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단선에 대한 </a:t>
                      </a:r>
                      <a:r>
                        <a:rPr lang="en-US" altLang="ko-KR" sz="900" b="0" kern="1200" spc="-30" noProof="0" dirty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FDC-</a:t>
                      </a:r>
                      <a:r>
                        <a:rPr lang="ko-KR" altLang="en-US" sz="900" b="0" kern="1200" spc="-30" noProof="0" dirty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자동보정 연계한 완결형 조치 체계 구축</a:t>
                      </a:r>
                      <a:br>
                        <a:rPr lang="en-US" altLang="ko-KR" sz="900" b="0" kern="1200" spc="-30" noProof="0" dirty="0">
                          <a:solidFill>
                            <a:srgbClr val="000000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</a:br>
                      <a:r>
                        <a:rPr lang="en-US" altLang="ko-KR" sz="900" b="0" kern="1200" spc="-30" noProof="0" dirty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  : FDC </a:t>
                      </a:r>
                      <a:r>
                        <a:rPr lang="ko-KR" altLang="en-US" sz="900" b="0" kern="1200" spc="-30" noProof="0" dirty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이상감지 연계를 통한 </a:t>
                      </a:r>
                      <a:r>
                        <a:rPr lang="en-US" altLang="ko-KR" sz="900" b="0" kern="1200" spc="-30" noProof="0" dirty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R/P </a:t>
                      </a:r>
                      <a:r>
                        <a:rPr lang="ko-KR" altLang="en-US" sz="900" b="0" kern="1200" spc="-30" noProof="0" dirty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편차 기반 자동보정 로직 개발</a:t>
                      </a:r>
                      <a:r>
                        <a:rPr lang="en-US" altLang="ko-KR" sz="900" b="0" kern="1200" spc="-30" noProof="0" dirty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/</a:t>
                      </a:r>
                      <a:r>
                        <a:rPr lang="ko-KR" altLang="en-US" sz="900" b="0" kern="1200" spc="-30" noProof="0" dirty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적용</a:t>
                      </a:r>
                      <a:br>
                        <a:rPr lang="en-US" altLang="ko-KR" sz="900" b="0" kern="1200" spc="-30" noProof="0" dirty="0">
                          <a:solidFill>
                            <a:srgbClr val="000000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</a:br>
                      <a:r>
                        <a:rPr lang="en-US" altLang="ko-KR" sz="900" b="0" kern="1200" spc="-30" noProof="0" dirty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  : </a:t>
                      </a:r>
                      <a:r>
                        <a:rPr lang="ko-KR" altLang="en-US" sz="900" b="0" kern="1200" spc="-30" noProof="0" dirty="0" err="1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롤맵을</a:t>
                      </a:r>
                      <a:r>
                        <a:rPr lang="ko-KR" altLang="en-US" sz="900" b="0" kern="1200" spc="-30" noProof="0" dirty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 활용한 </a:t>
                      </a:r>
                      <a:r>
                        <a:rPr lang="ko-KR" altLang="en-US" sz="900" b="0" kern="1200" spc="-30" noProof="0" dirty="0" err="1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코터</a:t>
                      </a:r>
                      <a:r>
                        <a:rPr lang="ko-KR" altLang="en-US" sz="900" b="0" kern="1200" spc="-30" noProof="0" dirty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 </a:t>
                      </a:r>
                      <a:r>
                        <a:rPr lang="ko-KR" altLang="en-US" sz="900" b="0" kern="1200" spc="-30" noProof="0" dirty="0" err="1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로딩량</a:t>
                      </a:r>
                      <a:r>
                        <a:rPr lang="ko-KR" altLang="en-US" sz="900" b="0" kern="1200" spc="-30" noProof="0" dirty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 기반 롤프레스 </a:t>
                      </a:r>
                      <a:r>
                        <a:rPr lang="en-US" altLang="ko-KR" sz="900" b="0" kern="1200" spc="-30" noProof="0" dirty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Feed-Forward </a:t>
                      </a:r>
                      <a:r>
                        <a:rPr lang="ko-KR" altLang="en-US" sz="900" b="0" kern="1200" spc="-30" noProof="0" dirty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자동보정 개발</a:t>
                      </a:r>
                      <a:br>
                        <a:rPr lang="en-US" altLang="ko-KR" sz="900" b="0" kern="1200" spc="-30" noProof="0" dirty="0">
                          <a:solidFill>
                            <a:srgbClr val="000000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</a:br>
                      <a:r>
                        <a:rPr lang="en-US" altLang="ko-KR" sz="900" b="0" kern="1200" spc="-30" noProof="0" dirty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- </a:t>
                      </a:r>
                      <a:r>
                        <a:rPr lang="ko-KR" altLang="en-US" sz="900" b="0" kern="1200" spc="-30" noProof="0" dirty="0" err="1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노칭</a:t>
                      </a:r>
                      <a:r>
                        <a:rPr lang="ko-KR" altLang="en-US" sz="900" b="0" kern="1200" spc="-30" noProof="0" dirty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 단선 </a:t>
                      </a:r>
                      <a:r>
                        <a:rPr lang="en-US" altLang="ko-KR" sz="900" b="0" kern="1200" spc="-30" noProof="0" dirty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PD </a:t>
                      </a:r>
                      <a:r>
                        <a:rPr lang="ko-KR" altLang="en-US" sz="900" b="0" kern="1200" spc="-30" noProof="0" dirty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발생 근본 원인 분석을 통한 자동보정 과제 발굴</a:t>
                      </a:r>
                      <a:r>
                        <a:rPr lang="en-US" altLang="ko-KR" sz="900" b="0" kern="1200" spc="-30" noProof="0" dirty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 </a:t>
                      </a:r>
                      <a:r>
                        <a:rPr lang="ko-KR" altLang="en-US" sz="900" b="0" kern="1200" spc="-30" noProof="0" dirty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및 개발</a:t>
                      </a:r>
                      <a:endParaRPr lang="en-US" altLang="ko-KR" sz="900" b="0" kern="1200" spc="-30" noProof="0" dirty="0">
                        <a:solidFill>
                          <a:schemeClr val="tx1"/>
                        </a:solidFill>
                        <a:latin typeface="Arial Narrow"/>
                        <a:ea typeface="LG스마트체 Regular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4365298"/>
                  </a:ext>
                </a:extLst>
              </a:tr>
              <a:tr h="67445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rowSpan="6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Pct val="80000"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1000" b="1" kern="1200" spc="-10" dirty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제품 </a:t>
                      </a:r>
                      <a:br>
                        <a:rPr lang="en-US" altLang="ko-KR" sz="1000" b="1" kern="1200" spc="-10" dirty="0">
                          <a:solidFill>
                            <a:srgbClr val="000000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</a:br>
                      <a:r>
                        <a:rPr lang="ko-KR" altLang="en-US" sz="1000" b="1" kern="1200" spc="-10" dirty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경쟁우위</a:t>
                      </a:r>
                      <a:br>
                        <a:rPr lang="en-US" altLang="ko-KR" sz="1000" b="1" kern="1200" spc="-10" dirty="0">
                          <a:solidFill>
                            <a:srgbClr val="000000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</a:br>
                      <a:r>
                        <a:rPr lang="ko-KR" altLang="en-US" sz="1000" b="1" kern="1200" spc="-10" dirty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확보</a:t>
                      </a:r>
                      <a:br>
                        <a:rPr lang="en-US" altLang="ko-KR" sz="1000" b="1" kern="1200" spc="-10" dirty="0">
                          <a:solidFill>
                            <a:srgbClr val="000000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</a:br>
                      <a:r>
                        <a:rPr lang="en-US" altLang="ko-KR" sz="1000" b="0" kern="1200" spc="-10" dirty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(55%)</a:t>
                      </a:r>
                    </a:p>
                  </a:txBody>
                  <a:tcPr marL="3600" marR="3600" marT="18000" marB="18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Pct val="10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900" b="1" kern="1200" spc="-10" dirty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북미 </a:t>
                      </a:r>
                      <a:r>
                        <a:rPr lang="en-US" altLang="ko-KR" sz="900" b="1" kern="1200" spc="-10" dirty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ESS </a:t>
                      </a:r>
                      <a:br>
                        <a:rPr lang="en-US" altLang="ko-KR" sz="900" b="1" kern="1200" spc="-10" dirty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</a:br>
                      <a:r>
                        <a:rPr lang="ko-KR" altLang="en-US" sz="900" b="1" kern="1200" spc="-10" dirty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종합 </a:t>
                      </a:r>
                      <a:r>
                        <a:rPr lang="ko-KR" altLang="en-US" sz="900" b="1" kern="1200" spc="-10" dirty="0" err="1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수율</a:t>
                      </a:r>
                      <a:r>
                        <a:rPr lang="ko-KR" altLang="en-US" sz="900" b="1" kern="1200" spc="-10" dirty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 개선 </a:t>
                      </a:r>
                      <a:br>
                        <a:rPr lang="ko-KR" altLang="en-US" sz="900" b="1" kern="1200" spc="-10" dirty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</a:br>
                      <a:r>
                        <a:rPr lang="en-US" altLang="ko-KR" sz="900" b="1" kern="1200" spc="-10" dirty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(MI2, MI_L,OT, HD)</a:t>
                      </a: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900" b="1" i="0" u="none" strike="noStrike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20%</a:t>
                      </a:r>
                    </a:p>
                  </a:txBody>
                  <a:tcPr marL="3600" marR="3600" marT="10800" marB="108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북미</a:t>
                      </a:r>
                      <a: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 AX</a:t>
                      </a: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기반 </a:t>
                      </a:r>
                      <a: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ESS </a:t>
                      </a: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종합 </a:t>
                      </a:r>
                      <a:r>
                        <a:rPr kumimoji="1" lang="ko-KR" altLang="en-US" sz="1000" b="1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개선</a:t>
                      </a:r>
                      <a:b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Q : ESMI, MI_LS, OT, HD ESS </a:t>
                      </a:r>
                      <a:r>
                        <a:rPr kumimoji="1" lang="ko-KR" altLang="en-US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종합 </a:t>
                      </a:r>
                      <a:r>
                        <a:rPr kumimoji="1" lang="ko-KR" altLang="en-US" sz="900" b="0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kumimoji="1" lang="ko-KR" altLang="en-US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94.3%</a:t>
                      </a:r>
                      <a:b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D : ’26.12</a:t>
                      </a:r>
                      <a:r>
                        <a:rPr kumimoji="1" lang="ko-KR" altLang="en-US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월</a:t>
                      </a:r>
                      <a:endParaRPr kumimoji="1" lang="en-US" altLang="ko-KR" sz="9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71755" marR="0" lvl="0" indent="-71755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자동보정 개발 및 고도화</a:t>
                      </a:r>
                      <a:b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</a:br>
                      <a:r>
                        <a:rPr kumimoji="0" lang="en-US" altLang="ko-KR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- </a:t>
                      </a:r>
                      <a:r>
                        <a:rPr lang="ko-KR" altLang="en-US" sz="900" b="0" spc="-10" dirty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rPr>
                        <a:t>재료 교체 및 가</a:t>
                      </a:r>
                      <a:r>
                        <a:rPr lang="en-US" altLang="ko-KR" sz="900" b="0" spc="-10" dirty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rPr>
                        <a:t>/</a:t>
                      </a:r>
                      <a:r>
                        <a:rPr lang="ko-KR" altLang="en-US" sz="900" b="0" spc="-10" dirty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rPr>
                        <a:t>감속 구간 로직 고도화를 통한 불량 상위 항목의 수율 개선</a:t>
                      </a:r>
                      <a:br>
                        <a:rPr lang="en-US" altLang="ko-KR" sz="900" b="0" spc="-10" dirty="0">
                          <a:solidFill>
                            <a:srgbClr val="000000"/>
                          </a:solidFill>
                          <a:latin typeface="Arial Narrow"/>
                          <a:ea typeface="LG스마트체 Regular"/>
                        </a:rPr>
                      </a:br>
                      <a:r>
                        <a:rPr lang="en-US" altLang="ko-KR" sz="900" b="0" spc="-10" dirty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rPr>
                        <a:t>- </a:t>
                      </a:r>
                      <a:r>
                        <a:rPr lang="ko-KR" altLang="en-US" sz="900" b="0" spc="-10" dirty="0" err="1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rPr>
                        <a:t>라미</a:t>
                      </a:r>
                      <a:r>
                        <a:rPr lang="ko-KR" altLang="en-US" sz="900" b="0" spc="-10" dirty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rPr>
                        <a:t> 재료교체 시 전극 이음매 위치 자동보정 개발</a:t>
                      </a:r>
                      <a:br>
                        <a:rPr lang="en-US" altLang="ko-KR" sz="900" b="0" spc="-10" dirty="0">
                          <a:solidFill>
                            <a:srgbClr val="000000"/>
                          </a:solidFill>
                          <a:latin typeface="Arial Narrow"/>
                          <a:ea typeface="LG스마트체 Regular"/>
                        </a:rPr>
                      </a:br>
                      <a:r>
                        <a:rPr lang="en-US" altLang="ko-KR" sz="900" b="0" spc="-10" dirty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rPr>
                        <a:t>- </a:t>
                      </a:r>
                      <a:r>
                        <a:rPr lang="ko-KR" altLang="en-US" sz="900" b="0" spc="-10" dirty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rPr>
                        <a:t>스택 </a:t>
                      </a:r>
                      <a:r>
                        <a:rPr lang="en-US" altLang="ko-KR" sz="900" b="0" spc="-10" dirty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rPr>
                        <a:t>Belt Pitch</a:t>
                      </a:r>
                      <a:r>
                        <a:rPr lang="ko-KR" altLang="en-US" sz="900" b="0" spc="-10" dirty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rPr>
                        <a:t>를 고려한 셀 넘버별 자동보정 고도화 </a:t>
                      </a:r>
                      <a:endParaRPr kumimoji="1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/>
                        <a:ea typeface="LG스마트체 Regular"/>
                        <a:cs typeface="+mn-cs"/>
                      </a:endParaRPr>
                    </a:p>
                    <a:p>
                      <a:pPr marL="71755" marR="0" lvl="0" indent="-71755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실시간 이상감지 기술 활성화</a:t>
                      </a:r>
                      <a:b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</a:b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- </a:t>
                      </a:r>
                      <a:r>
                        <a:rPr kumimoji="1" lang="ko-KR" altLang="en-US" sz="9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이상 감지 데이터 기반의 예방적 유지보수 및 개선 활동 추진</a:t>
                      </a:r>
                      <a:endParaRPr kumimoji="1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/>
                        <a:ea typeface="LG스마트체 Regular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6473469"/>
                  </a:ext>
                </a:extLst>
              </a:tr>
              <a:tr h="34971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92075" indent="-92075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SzPct val="100000"/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1" kern="1200" spc="-10" baseline="0" dirty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자동보정 파라미터 실시간 최적화를 통한</a:t>
                      </a:r>
                      <a:r>
                        <a:rPr lang="en-US" altLang="ko-KR" sz="900" b="1" kern="1200" spc="-10" baseline="0" dirty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 </a:t>
                      </a:r>
                      <a:r>
                        <a:rPr lang="ko-KR" altLang="en-US" sz="900" b="1" kern="1200" spc="-10" baseline="0" dirty="0" err="1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수율</a:t>
                      </a:r>
                      <a:r>
                        <a:rPr lang="ko-KR" altLang="en-US" sz="900" b="1" kern="1200" spc="-10" baseline="0" dirty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 개선</a:t>
                      </a: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5%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/>
                        <a:ea typeface="LG스마트체 Regular"/>
                        <a:cs typeface="+mn-cs"/>
                      </a:endParaRPr>
                    </a:p>
                  </a:txBody>
                  <a:tcPr marL="3600" marR="3600" marT="10800" marB="108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유럽</a:t>
                      </a:r>
                      <a: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 AX</a:t>
                      </a: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기반 </a:t>
                      </a:r>
                      <a: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ESS </a:t>
                      </a: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종합 </a:t>
                      </a:r>
                      <a:r>
                        <a:rPr kumimoji="1" lang="ko-KR" altLang="en-US" sz="1000" b="1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개선</a:t>
                      </a:r>
                      <a:b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Q : ESWA ESS </a:t>
                      </a:r>
                      <a:r>
                        <a:rPr kumimoji="1" lang="ko-KR" altLang="en-US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종합 </a:t>
                      </a:r>
                      <a:r>
                        <a:rPr kumimoji="1" lang="ko-KR" altLang="en-US" sz="900" b="0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kumimoji="1" lang="ko-KR" altLang="en-US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94.5% </a:t>
                      </a:r>
                      <a:b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D : ’26.12</a:t>
                      </a:r>
                      <a:r>
                        <a:rPr kumimoji="1" lang="ko-KR" altLang="en-US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월</a:t>
                      </a:r>
                      <a:endParaRPr kumimoji="1" lang="ko-KR" altLang="en-US" sz="10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71755" marR="0" lvl="0" indent="-71755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9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자동보정 파라미터</a:t>
                      </a:r>
                      <a:r>
                        <a:rPr kumimoji="0" lang="en-US" altLang="ko-KR" sz="9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(Gain, </a:t>
                      </a:r>
                      <a:r>
                        <a:rPr kumimoji="0" lang="ko-KR" altLang="en-US" sz="9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제어주기</a:t>
                      </a:r>
                      <a:r>
                        <a:rPr kumimoji="0" lang="en-US" altLang="ko-KR" sz="9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) </a:t>
                      </a:r>
                      <a:r>
                        <a:rPr kumimoji="0" lang="ko-KR" altLang="en-US" sz="9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실시간 최적값 산출 및 자동 설정 기술 개발</a:t>
                      </a:r>
                      <a:br>
                        <a:rPr kumimoji="0" lang="en-US" altLang="ko-KR" sz="9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</a:br>
                      <a:r>
                        <a:rPr kumimoji="0" lang="en-US" altLang="ko-KR" sz="9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- NND </a:t>
                      </a:r>
                      <a:r>
                        <a:rPr kumimoji="0" lang="ko-KR" altLang="en-US" sz="9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재료교체 구간 통계적 추론 기반 예측 보정값</a:t>
                      </a:r>
                      <a:r>
                        <a:rPr kumimoji="0" lang="en-US" altLang="ko-KR" sz="9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, </a:t>
                      </a:r>
                      <a:r>
                        <a:rPr kumimoji="0" lang="ko-KR" altLang="en-US" sz="9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보정위치 실시간 산출 및 보정</a:t>
                      </a:r>
                      <a:br>
                        <a:rPr kumimoji="0" lang="en-US" altLang="ko-KR" sz="9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</a:br>
                      <a:r>
                        <a:rPr kumimoji="0" lang="en-US" altLang="ko-KR" sz="9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- LAMI U/W</a:t>
                      </a:r>
                      <a:r>
                        <a:rPr kumimoji="0" lang="ko-KR" altLang="en-US" sz="9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부 단차 센서를 활용한 클러스터링 기반 재료교체 구간 예측 보정 고도화</a:t>
                      </a:r>
                      <a:br>
                        <a:rPr kumimoji="0" lang="en-US" altLang="ko-KR" sz="9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</a:br>
                      <a:r>
                        <a:rPr kumimoji="0" lang="en-US" altLang="ko-KR" sz="9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- LAMI </a:t>
                      </a:r>
                      <a:r>
                        <a:rPr kumimoji="0" lang="ko-KR" altLang="en-US" sz="9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장변실링 가감속 구간 자동보정 신규 개발 및 적용</a:t>
                      </a:r>
                      <a:br>
                        <a:rPr kumimoji="0" lang="en-US" altLang="ko-KR" sz="9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</a:br>
                      <a:r>
                        <a:rPr kumimoji="0" lang="en-US" altLang="ko-KR" sz="9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- EWA </a:t>
                      </a:r>
                      <a:r>
                        <a:rPr kumimoji="0" lang="ko-KR" altLang="en-US" sz="9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기술 및 제어부</a:t>
                      </a:r>
                      <a:r>
                        <a:rPr kumimoji="0" lang="en-US" altLang="ko-KR" sz="9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-</a:t>
                      </a:r>
                      <a:r>
                        <a:rPr kumimoji="0" lang="ko-KR" altLang="en-US" sz="9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검사기 거리 자동 산출 성능 극대화</a:t>
                      </a:r>
                      <a:endParaRPr kumimoji="0" lang="en-US" altLang="ko-KR" sz="9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/>
                        <a:ea typeface="LG스마트체 Regular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1693300"/>
                  </a:ext>
                </a:extLst>
              </a:tr>
              <a:tr h="34971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10%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/>
                        <a:ea typeface="LG스마트체 Regular"/>
                        <a:cs typeface="+mn-cs"/>
                      </a:endParaRPr>
                    </a:p>
                  </a:txBody>
                  <a:tcPr marL="3600" marR="3600" marT="10800" marB="108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71755" marR="0" lvl="0" indent="-7175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AX</a:t>
                      </a: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기반 자동차 셀 </a:t>
                      </a:r>
                      <a:r>
                        <a:rPr kumimoji="1" lang="ko-KR" altLang="en-US" sz="1000" b="1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수율</a:t>
                      </a: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개선</a:t>
                      </a:r>
                      <a:b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- Q : ESWA, NA, NB, HM, MI, HG </a:t>
                      </a:r>
                      <a:r>
                        <a:rPr kumimoji="1" lang="ko-KR" altLang="en-US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자동차 셀 </a:t>
                      </a:r>
                      <a:r>
                        <a:rPr kumimoji="1" lang="ko-KR" altLang="en-US" sz="900" b="0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수율</a:t>
                      </a:r>
                      <a:r>
                        <a:rPr kumimoji="1" lang="ko-KR" altLang="en-US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97.8%</a:t>
                      </a:r>
                      <a:b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- D : ’26</a:t>
                      </a:r>
                      <a:r>
                        <a:rPr kumimoji="1" lang="ko-KR" altLang="en-US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년 </a:t>
                      </a: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12</a:t>
                      </a:r>
                      <a:r>
                        <a:rPr kumimoji="1" lang="ko-KR" altLang="en-US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월</a:t>
                      </a:r>
                      <a:endParaRPr kumimoji="1" lang="en-US" altLang="ko-KR" sz="9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/>
                        <a:ea typeface="LG스마트체 Regular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5637291"/>
                  </a:ext>
                </a:extLst>
              </a:tr>
              <a:tr h="39416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92075" indent="-92075" algn="l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SzPct val="100000"/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900" b="1" kern="1200" spc="-1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NFF </a:t>
                      </a:r>
                      <a:r>
                        <a:rPr lang="ko-KR" altLang="en-US" sz="900" b="1" kern="1200" spc="-1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전극 수율 개선 및 수동 보정 최소화</a:t>
                      </a:r>
                      <a:endParaRPr lang="en-US" altLang="ko-KR" sz="900" b="1" kern="1200" spc="-10">
                        <a:solidFill>
                          <a:schemeClr val="tx1"/>
                        </a:solidFill>
                        <a:latin typeface="Arial Narrow"/>
                        <a:ea typeface="LG스마트체 Regular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lang="en-US" altLang="ko-KR" sz="900" b="1" kern="1200" spc="-1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5%</a:t>
                      </a:r>
                    </a:p>
                  </a:txBody>
                  <a:tcPr marL="3600" marR="3600" marT="10800" marB="108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170" marR="0" lvl="0" indent="-90170" algn="l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prstClr val="black"/>
                        </a:buClr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kumimoji="1" lang="ko-KR" altLang="en-US" sz="9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NFF 전극 수율 개선</a:t>
                      </a:r>
                      <a:br>
                        <a:rPr kumimoji="1" lang="en-US" altLang="ko-KR" sz="9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</a:br>
                      <a:r>
                        <a:rPr kumimoji="1" lang="en-US" altLang="ko-KR" sz="9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- </a:t>
                      </a:r>
                      <a:r>
                        <a:rPr kumimoji="1" lang="en-US" altLang="ko-KR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Q: </a:t>
                      </a:r>
                      <a:r>
                        <a:rPr kumimoji="1" lang="ko-KR" altLang="en-US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전극 수율 </a:t>
                      </a:r>
                      <a:r>
                        <a:rPr kumimoji="1" lang="en-US" altLang="ko-KR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98.8% </a:t>
                      </a:r>
                      <a:r>
                        <a:rPr lang="en-US" altLang="ko-KR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, </a:t>
                      </a:r>
                      <a:r>
                        <a:rPr lang="ko-KR" altLang="en-US" sz="900" b="1" kern="1200" spc="-10" noProof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수동 보정 횟수 </a:t>
                      </a:r>
                      <a:r>
                        <a:rPr lang="en-US" altLang="ko-KR" sz="900" b="1" kern="1200" spc="-10" noProof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60% </a:t>
                      </a:r>
                      <a:r>
                        <a:rPr lang="ko-KR" altLang="en-US" sz="900" b="1" kern="1200" spc="-10" noProof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이상 저감</a:t>
                      </a:r>
                      <a:br>
                        <a:rPr lang="en-US" altLang="ko-KR" sz="900" b="1" kern="1200" spc="-10" noProof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</a:br>
                      <a:r>
                        <a:rPr kumimoji="1" lang="en-US" altLang="ko-KR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- D: </a:t>
                      </a:r>
                      <a:r>
                        <a:rPr kumimoji="1" lang="en-US" altLang="ko-KR" sz="9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‘26.12</a:t>
                      </a:r>
                      <a:r>
                        <a:rPr kumimoji="1" lang="ko-KR" altLang="en-US" sz="9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월</a:t>
                      </a:r>
                      <a:r>
                        <a:rPr kumimoji="1" lang="en-US" altLang="ko-KR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 (</a:t>
                      </a:r>
                      <a:r>
                        <a:rPr kumimoji="1" lang="ko-KR" altLang="en-US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누적</a:t>
                      </a:r>
                      <a:r>
                        <a:rPr kumimoji="1" lang="en-US" altLang="ko-KR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)</a:t>
                      </a: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71755" marR="0" lvl="0" indent="-71755" algn="l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9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NFF </a:t>
                      </a:r>
                      <a:r>
                        <a:rPr lang="ko-KR" altLang="en-US" sz="9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코터 설비부동 후 재가동 구간 프로세스 및 데이터 분석을 통한 자동보정 알고리즘 개발</a:t>
                      </a:r>
                      <a:r>
                        <a:rPr lang="en-US" altLang="ko-KR" sz="9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/</a:t>
                      </a:r>
                      <a:r>
                        <a:rPr lang="ko-KR" altLang="en-US" sz="9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적용</a:t>
                      </a:r>
                      <a:br>
                        <a:rPr lang="ko-KR" altLang="en-US" sz="9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</a:br>
                      <a:r>
                        <a:rPr lang="en-US" altLang="ko-KR" sz="9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- </a:t>
                      </a:r>
                      <a:r>
                        <a:rPr lang="ko-KR" altLang="en-US" sz="9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분석 기반 컨셉 도출 및 설계</a:t>
                      </a:r>
                      <a:endParaRPr lang="en-US" altLang="ko-KR" sz="9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/>
                        <a:ea typeface="LG스마트체 Regular"/>
                        <a:cs typeface="+mn-cs"/>
                      </a:endParaRPr>
                    </a:p>
                    <a:p>
                      <a:pPr marL="71755" marR="0" lvl="0" indent="-71755" algn="l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수평 다이 온도 자동보정 개발 및 적용을 통한 설비 부동 후 재가동 </a:t>
                      </a:r>
                      <a:r>
                        <a:rPr lang="en-US" altLang="ko-KR" sz="9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Loss </a:t>
                      </a:r>
                      <a:r>
                        <a:rPr lang="ko-KR" altLang="en-US" sz="9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개선</a:t>
                      </a: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6745448"/>
                  </a:ext>
                </a:extLst>
              </a:tr>
              <a:tr h="44963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92075" indent="-92075" algn="l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SzPct val="100000"/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1" kern="1200" spc="-10" baseline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셀 공정 자동보정</a:t>
                      </a:r>
                      <a:br>
                        <a:rPr lang="en-US" altLang="ko-KR" sz="900" b="1" kern="1200" spc="-10" baseline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</a:br>
                      <a:r>
                        <a:rPr lang="en-US" altLang="ko-KR" sz="900" b="1" kern="1200" spc="-10" baseline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Coverage </a:t>
                      </a:r>
                      <a:r>
                        <a:rPr lang="ko-KR" altLang="en-US" sz="900" b="1" kern="1200" spc="-10" baseline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확대를 </a:t>
                      </a:r>
                      <a:br>
                        <a:rPr lang="en-US" altLang="ko-KR" sz="900" b="1" kern="1200" spc="-10" baseline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</a:br>
                      <a:r>
                        <a:rPr lang="ko-KR" altLang="en-US" sz="900" b="1" kern="1200" spc="-10" baseline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통한 </a:t>
                      </a:r>
                      <a:r>
                        <a:rPr lang="en-US" altLang="ko-KR" sz="900" b="1" kern="1200" spc="-10" baseline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 </a:t>
                      </a:r>
                      <a:r>
                        <a:rPr lang="ko-KR" altLang="en-US" sz="900" b="1" kern="1200" spc="-10" baseline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불량 개선</a:t>
                      </a:r>
                      <a:endParaRPr lang="en-US" altLang="ko-KR" sz="900" b="1" kern="1200" spc="-10" baseline="0">
                        <a:solidFill>
                          <a:schemeClr val="tx1"/>
                        </a:solidFill>
                        <a:latin typeface="Arial Narrow"/>
                        <a:ea typeface="LG스마트체 Regular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-1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5%</a:t>
                      </a:r>
                      <a:endParaRPr kumimoji="0" lang="ko-KR" altLang="en-US" sz="9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/>
                        <a:ea typeface="LG스마트체 Regular"/>
                        <a:cs typeface="+mn-cs"/>
                      </a:endParaRPr>
                    </a:p>
                  </a:txBody>
                  <a:tcPr marL="3600" marR="3600" marT="10800" marB="108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71755" marR="0" lvl="0" indent="-71755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NFF </a:t>
                      </a:r>
                      <a:r>
                        <a:rPr kumimoji="1" lang="ko-KR" altLang="en-US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셀 수율 개선</a:t>
                      </a:r>
                      <a:br>
                        <a:rPr kumimoji="1" lang="en-US" altLang="ko-KR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</a:br>
                      <a:r>
                        <a:rPr kumimoji="1" lang="en-US" altLang="ko-KR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- Q : </a:t>
                      </a:r>
                      <a:r>
                        <a:rPr kumimoji="1" lang="ko-KR" altLang="en-US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셀 수율 </a:t>
                      </a:r>
                      <a:r>
                        <a:rPr kumimoji="1" lang="en-US" altLang="ko-KR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97.7% </a:t>
                      </a:r>
                      <a:r>
                        <a:rPr kumimoji="1" lang="ko-KR" altLang="en-US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이상</a:t>
                      </a:r>
                      <a:br>
                        <a:rPr kumimoji="1" lang="en-US" altLang="ko-KR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</a:br>
                      <a:r>
                        <a:rPr kumimoji="1" lang="en-US" altLang="ko-KR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- D : ‘26.12</a:t>
                      </a:r>
                      <a:r>
                        <a:rPr kumimoji="1" lang="ko-KR" altLang="en-US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월</a:t>
                      </a:r>
                      <a:r>
                        <a:rPr kumimoji="1" lang="en-US" altLang="ko-KR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 (</a:t>
                      </a:r>
                      <a:r>
                        <a:rPr kumimoji="1" lang="ko-KR" altLang="en-US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누적</a:t>
                      </a:r>
                      <a:r>
                        <a:rPr kumimoji="1" lang="en-US" altLang="ko-KR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)</a:t>
                      </a: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71755" marR="0" lvl="0" indent="-71755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9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와인더공정</a:t>
                      </a:r>
                      <a:r>
                        <a:rPr kumimoji="1" lang="ko-KR" alt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 자동보정 고도화를 통한 </a:t>
                      </a:r>
                      <a:r>
                        <a:rPr kumimoji="1" lang="ko-KR" altLang="en-US" sz="9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탭불량</a:t>
                      </a:r>
                      <a:r>
                        <a:rPr kumimoji="1" lang="ko-KR" alt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 </a:t>
                      </a:r>
                      <a:r>
                        <a:rPr kumimoji="1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/ </a:t>
                      </a:r>
                      <a:r>
                        <a:rPr kumimoji="1" lang="ko-KR" alt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사행불량 개선</a:t>
                      </a:r>
                      <a:b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</a:b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- 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자동보정 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Coverage 100% 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달성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(CTQ 24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개 중 대상항목 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12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개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, 8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개 완료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(~’25), 4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개 개발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(‘26~))</a:t>
                      </a:r>
                      <a:b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</a:b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- </a:t>
                      </a:r>
                      <a:r>
                        <a:rPr kumimoji="1" lang="ko-KR" altLang="en-US" sz="9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권취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 구간길이 자동설정기능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, 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전극 투입량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(S2, C2), 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분리막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 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잔량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(S7), J/R 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높이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(L1)</a:t>
                      </a:r>
                      <a:r>
                        <a:rPr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자동보정개발</a:t>
                      </a:r>
                      <a:b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</a:b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- 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주행 </a:t>
                      </a:r>
                      <a:r>
                        <a:rPr kumimoji="1" lang="ko-KR" altLang="en-US" sz="9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포밍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 각도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, </a:t>
                      </a:r>
                      <a:r>
                        <a:rPr kumimoji="1" lang="ko-KR" altLang="en-US" sz="9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권심별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 사행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 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자동보정 개발</a:t>
                      </a:r>
                      <a:endParaRPr kumimoji="1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/>
                        <a:ea typeface="LG스마트체 Regular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0912470"/>
                  </a:ext>
                </a:extLst>
              </a:tr>
              <a:tr h="44963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92075" indent="-92075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SzPct val="100000"/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900" b="1" kern="1200" spc="-10" baseline="0" dirty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ESS </a:t>
                      </a:r>
                      <a:r>
                        <a:rPr lang="ko-KR" altLang="en-US" sz="900" b="1" kern="1200" spc="-10" baseline="0" dirty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증산을 위한</a:t>
                      </a:r>
                      <a:br>
                        <a:rPr lang="en-US" altLang="ko-KR" sz="900" b="1" kern="1200" spc="-10" baseline="0" dirty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</a:br>
                      <a:r>
                        <a:rPr lang="ko-KR" altLang="en-US" sz="900" b="1" kern="1200" spc="-10" baseline="0" dirty="0" err="1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코터</a:t>
                      </a:r>
                      <a:r>
                        <a:rPr lang="ko-KR" altLang="en-US" sz="900" b="1" kern="1200" spc="-10" baseline="0" dirty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 자동보정 고도화</a:t>
                      </a: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900" b="1" i="0" u="none" strike="noStrike" spc="-10" baseline="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10%</a:t>
                      </a:r>
                      <a:endParaRPr lang="ko-KR" altLang="en-US" sz="900" b="1" i="0" u="none" strike="noStrike" spc="-10" baseline="0">
                        <a:solidFill>
                          <a:schemeClr val="tx1"/>
                        </a:solidFill>
                        <a:effectLst/>
                        <a:latin typeface="Arial Narrow"/>
                        <a:ea typeface="LG스마트체 Regular"/>
                      </a:endParaRPr>
                    </a:p>
                  </a:txBody>
                  <a:tcPr marL="3600" marR="3600" marT="10800" marB="108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71755" marR="0" lvl="0" indent="-71755" algn="l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kumimoji="1" lang="ko-KR" altLang="en-US" sz="9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양극 코터 자동보정 기술 고도화</a:t>
                      </a:r>
                      <a:br>
                        <a:rPr kumimoji="1" lang="en-US" altLang="ko-KR" sz="9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</a:br>
                      <a:r>
                        <a:rPr kumimoji="1" lang="en-US" altLang="ko-KR" sz="9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- Q : </a:t>
                      </a:r>
                      <a:r>
                        <a:rPr lang="ko-KR" altLang="en-US" sz="9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설비부동 후 재가동 </a:t>
                      </a:r>
                      <a:r>
                        <a:rPr lang="ko-KR" altLang="en-US" sz="900" b="1" spc="-30" dirty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rPr>
                        <a:t>불량 </a:t>
                      </a:r>
                      <a:r>
                        <a:rPr lang="en-US" altLang="ko-KR" sz="900" b="1" spc="-30" dirty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rPr>
                        <a:t>20% </a:t>
                      </a:r>
                      <a:r>
                        <a:rPr lang="ko-KR" altLang="en-US" sz="900" b="1" spc="-30" dirty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rPr>
                        <a:t>이상 개선</a:t>
                      </a:r>
                      <a:br>
                        <a:rPr lang="en-US" altLang="ko-KR" sz="7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</a:br>
                      <a:r>
                        <a:rPr lang="en-US" altLang="ko-KR" sz="9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 </a:t>
                      </a:r>
                      <a:r>
                        <a:rPr kumimoji="1" lang="en-US" altLang="ko-KR" sz="9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        ESS JF2 </a:t>
                      </a:r>
                      <a:r>
                        <a:rPr kumimoji="1" lang="ko-KR" altLang="en-US" sz="9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생산법인 </a:t>
                      </a:r>
                      <a:r>
                        <a:rPr kumimoji="1" lang="en-US" altLang="ko-KR" sz="9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5</a:t>
                      </a:r>
                      <a:r>
                        <a:rPr kumimoji="1" lang="ko-KR" altLang="en-US" sz="9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개 적용 완료</a:t>
                      </a:r>
                      <a:br>
                        <a:rPr kumimoji="1" lang="en-US" altLang="ko-KR" sz="9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</a:br>
                      <a:r>
                        <a:rPr kumimoji="1" lang="en-US" altLang="ko-KR" sz="9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- D : ’26.4Q</a:t>
                      </a:r>
                      <a:endParaRPr kumimoji="1" lang="en-US" sz="9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/>
                        <a:ea typeface="LG스마트체 Regular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71755" marR="0" lvl="0" indent="-71755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900" b="1" i="0" u="none" strike="noStrike" kern="1200" cap="none" spc="-3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양극 </a:t>
                      </a:r>
                      <a:r>
                        <a:rPr kumimoji="1" lang="ko-KR" altLang="en-US" sz="900" b="1" i="0" u="none" strike="noStrike" kern="1200" cap="none" spc="-30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코터</a:t>
                      </a:r>
                      <a:r>
                        <a:rPr kumimoji="1" lang="ko-KR" altLang="en-US" sz="900" b="1" i="0" u="none" strike="noStrike" kern="1200" cap="none" spc="-3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 설비부동 후 재가동 구간 건조 자동보정 기술개발로 건조 품질 향상</a:t>
                      </a:r>
                      <a:br>
                        <a:rPr kumimoji="1" lang="en-US" altLang="ko-KR" sz="900" b="0" i="0" u="none" strike="noStrike" kern="1200" cap="none" spc="-3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</a:br>
                      <a:r>
                        <a:rPr kumimoji="1" lang="en-US" altLang="ko-KR" sz="900" b="0" i="0" u="none" strike="noStrike" kern="1200" cap="none" spc="-3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- %LEL </a:t>
                      </a:r>
                      <a:r>
                        <a:rPr kumimoji="1" lang="ko-KR" altLang="en-US" sz="900" b="0" i="0" u="none" strike="noStrike" kern="1200" cap="none" spc="-3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개형 기반 로직 개발 및 적용</a:t>
                      </a:r>
                      <a:r>
                        <a:rPr kumimoji="1" lang="en-US" altLang="ko-KR" sz="900" b="0" i="0" u="none" strike="noStrike" kern="1200" cap="none" spc="-3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(’26.4Q) </a:t>
                      </a:r>
                    </a:p>
                    <a:p>
                      <a:pPr marL="71755" marR="0" lvl="0" indent="-71755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900" b="1" i="0" u="none" strike="noStrike" kern="1200" cap="none" spc="-30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증속</a:t>
                      </a:r>
                      <a:r>
                        <a:rPr kumimoji="1" lang="ko-KR" altLang="en-US" sz="900" b="1" i="0" u="none" strike="noStrike" kern="1200" cap="none" spc="-3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 대응 전극 코팅 자동보정 기술 최적화</a:t>
                      </a:r>
                      <a:endParaRPr kumimoji="1" lang="en-US" altLang="ko-KR" sz="900" b="1" i="0" u="none" strike="noStrike" kern="1200" cap="none" spc="-3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/>
                        <a:ea typeface="LG스마트체 Regular"/>
                        <a:cs typeface="Arial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148452"/>
                  </a:ext>
                </a:extLst>
              </a:tr>
              <a:tr h="44963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1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구조적</a:t>
                      </a:r>
                      <a:endParaRPr kumimoji="0" lang="en-US" altLang="ko-KR" sz="1000" b="1" i="0" u="none" strike="noStrike" kern="1200" cap="none" spc="-1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1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원가 경쟁력</a:t>
                      </a:r>
                      <a:endParaRPr kumimoji="0" lang="en-US" altLang="ko-KR" sz="1000" b="1" i="0" u="none" strike="noStrike" kern="1200" cap="none" spc="-1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1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강화</a:t>
                      </a:r>
                      <a:r>
                        <a:rPr kumimoji="0" lang="en-US" altLang="ko-KR" sz="1000" b="0" i="0" u="none" strike="noStrike" kern="1200" cap="none" spc="-1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(10%)</a:t>
                      </a:r>
                      <a:endParaRPr kumimoji="0" lang="ko-KR" alt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" marR="3600" marT="18000" marB="18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indent="-92075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SzPct val="100000"/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1" kern="1200" spc="-10" baseline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자동보정을 활용한</a:t>
                      </a:r>
                      <a:br>
                        <a:rPr lang="en-US" altLang="ko-KR" sz="900" b="1" kern="1200" spc="-10" baseline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</a:br>
                      <a:r>
                        <a:rPr lang="ko-KR" altLang="en-US" sz="900" b="1" kern="1200" spc="-10" baseline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재료비 저감</a:t>
                      </a: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900" b="1" i="0" u="none" strike="noStrike" spc="-10" baseline="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10%</a:t>
                      </a:r>
                      <a:endParaRPr lang="ko-KR" altLang="en-US" sz="900" b="1" i="0" u="none" strike="noStrike" spc="-10" baseline="0">
                        <a:solidFill>
                          <a:schemeClr val="tx1"/>
                        </a:solidFill>
                        <a:effectLst/>
                        <a:latin typeface="Arial Narrow"/>
                        <a:ea typeface="LG스마트체 Regular"/>
                      </a:endParaRPr>
                    </a:p>
                  </a:txBody>
                  <a:tcPr marL="3600" marR="3600" marT="10800" marB="108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71755" marR="0" lvl="0" indent="-71755" algn="l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kumimoji="1" lang="ko-KR" altLang="en-US" sz="9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자동보정 영역 확대를 통한 원가 절감 기여</a:t>
                      </a:r>
                      <a:br>
                        <a:rPr kumimoji="1" lang="en-US" altLang="ko-KR" sz="9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9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Q : </a:t>
                      </a:r>
                      <a:r>
                        <a:rPr kumimoji="1" lang="ko-KR" altLang="en-US" sz="9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원가 절감 </a:t>
                      </a:r>
                      <a:r>
                        <a:rPr kumimoji="1" lang="en-US" altLang="ko-KR" sz="9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15</a:t>
                      </a:r>
                      <a:r>
                        <a:rPr kumimoji="1" lang="ko-KR" altLang="en-US" sz="9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억 기여</a:t>
                      </a:r>
                      <a:br>
                        <a:rPr kumimoji="1" lang="en-US" altLang="ko-KR" sz="9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9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D : ’26.12</a:t>
                      </a:r>
                      <a:r>
                        <a:rPr kumimoji="1" lang="ko-KR" altLang="en-US" sz="9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월</a:t>
                      </a:r>
                      <a:endParaRPr kumimoji="1" lang="en-US" sz="9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71755" marR="0" lvl="0" indent="-71755" algn="l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</a:pPr>
                      <a:r>
                        <a:rPr kumimoji="1" lang="en-US" altLang="ko-KR" sz="900" b="1" i="0" u="none" strike="noStrike" kern="1200" cap="none" spc="-3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CTP(Cell</a:t>
                      </a:r>
                      <a:r>
                        <a:rPr kumimoji="1" lang="ko-KR" altLang="en-US" sz="900" b="1" i="0" u="none" strike="noStrike" kern="1200" cap="none" spc="-3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 </a:t>
                      </a:r>
                      <a:r>
                        <a:rPr kumimoji="1" lang="en-US" altLang="ko-KR" sz="900" b="1" i="0" u="none" strike="noStrike" kern="1200" cap="none" spc="-3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to</a:t>
                      </a:r>
                      <a:r>
                        <a:rPr kumimoji="1" lang="ko-KR" altLang="en-US" sz="900" b="1" i="0" u="none" strike="noStrike" kern="1200" cap="none" spc="-3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 </a:t>
                      </a:r>
                      <a:r>
                        <a:rPr kumimoji="1" lang="en-US" altLang="ko-KR" sz="900" b="1" i="0" u="none" strike="noStrike" kern="1200" cap="none" spc="-3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Pack)</a:t>
                      </a:r>
                      <a:r>
                        <a:rPr kumimoji="1" lang="ko-KR" altLang="en-US" sz="900" b="1" i="0" u="none" strike="noStrike" kern="1200" cap="none" spc="-3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 공정 레진 도포 자동보정 개발</a:t>
                      </a:r>
                      <a:br>
                        <a:rPr kumimoji="1" lang="en-US" altLang="ko-KR" sz="900" b="1" i="0" u="none" strike="noStrike" kern="1200" cap="none" spc="-3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</a:br>
                      <a:r>
                        <a:rPr kumimoji="1" lang="en-US" altLang="ko-KR" sz="900" b="0" i="0" u="none" strike="noStrike" kern="1200" cap="none" spc="-3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- </a:t>
                      </a:r>
                      <a:r>
                        <a:rPr kumimoji="1" lang="ko-KR" altLang="en-US" sz="900" b="0" i="0" u="none" strike="noStrike" kern="1200" cap="none" spc="-3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상관성 분석 기반 레진 산포 발생 근본 원인 인자 활용 예측모델 개발</a:t>
                      </a:r>
                      <a:endParaRPr kumimoji="1" lang="en-US" altLang="ko-KR" sz="900" b="0" i="0" u="none" strike="noStrike" kern="1200" cap="none" spc="-3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/>
                        <a:ea typeface="LG스마트체 Regular"/>
                        <a:cs typeface="Arial"/>
                      </a:endParaRPr>
                    </a:p>
                    <a:p>
                      <a:pPr marL="71755" marR="0" lvl="0" indent="-71755" algn="l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</a:pPr>
                      <a:r>
                        <a:rPr kumimoji="1" lang="ko-KR" altLang="en-US" sz="900" b="1" i="0" u="none" strike="noStrike" kern="1200" cap="none" spc="-3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질량유량계 기반 자동보정 고도화를 통한 </a:t>
                      </a:r>
                      <a:r>
                        <a:rPr kumimoji="1" lang="ko-KR" altLang="en-US" sz="900" b="1" i="0" u="none" strike="noStrike" kern="1200" cap="none" spc="-30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슬러리</a:t>
                      </a:r>
                      <a:r>
                        <a:rPr kumimoji="1" lang="ko-KR" altLang="en-US" sz="900" b="1" i="0" u="none" strike="noStrike" kern="1200" cap="none" spc="-3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 폐기량 저감</a:t>
                      </a:r>
                      <a:endParaRPr kumimoji="1" lang="en-US" altLang="ko-KR" sz="900" b="1" i="0" u="none" strike="noStrike" kern="1200" cap="none" spc="-3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/>
                        <a:ea typeface="LG스마트체 Regular"/>
                        <a:cs typeface="Arial"/>
                      </a:endParaRPr>
                    </a:p>
                    <a:p>
                      <a:pPr marL="71755" marR="0" lvl="0" indent="-71755" algn="l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</a:pPr>
                      <a:r>
                        <a:rPr kumimoji="1" lang="ko-KR" altLang="en-US" sz="900" b="1" i="0" u="none" strike="noStrike" kern="1200" cap="none" spc="-3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자동보정을 활용한 재료비 저감 기여 과제 추가 발굴 및 개발</a:t>
                      </a:r>
                      <a:endParaRPr kumimoji="1" lang="en-US" altLang="ko-KR" sz="900" b="1" i="0" u="none" strike="noStrike" kern="1200" cap="none" spc="-3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/>
                        <a:ea typeface="LG스마트체 Regular"/>
                        <a:cs typeface="Arial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2604835"/>
                  </a:ext>
                </a:extLst>
              </a:tr>
              <a:tr h="449639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Pct val="80000"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1000" b="1" kern="1200" spc="-10" noProof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구조적</a:t>
                      </a:r>
                      <a:br>
                        <a:rPr lang="en-US" altLang="ko-KR" sz="1000" b="1" kern="1200" spc="-10" noProof="0">
                          <a:solidFill>
                            <a:srgbClr val="000000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</a:br>
                      <a:r>
                        <a:rPr lang="ko-KR" altLang="en-US" sz="1000" b="1" kern="1200" spc="-10" noProof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경쟁력</a:t>
                      </a:r>
                      <a:br>
                        <a:rPr lang="en-US" altLang="ko-KR" sz="1000" b="1" kern="1200" spc="-10" noProof="0">
                          <a:solidFill>
                            <a:srgbClr val="000000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</a:br>
                      <a:r>
                        <a:rPr lang="ko-KR" altLang="en-US" sz="1000" b="1" kern="1200" spc="-10" noProof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강화</a:t>
                      </a:r>
                      <a:br>
                        <a:rPr lang="en-US" altLang="ko-KR" sz="1000" b="1" kern="1200" spc="-10" noProof="0">
                          <a:solidFill>
                            <a:srgbClr val="000000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</a:br>
                      <a:r>
                        <a:rPr lang="en-US" altLang="ko-KR" sz="1000" b="0" kern="1200" spc="-10" noProof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(10%)</a:t>
                      </a:r>
                      <a:endParaRPr lang="ko-KR" altLang="en-US" sz="1000" b="0" spc="-10">
                        <a:solidFill>
                          <a:schemeClr val="tx1"/>
                        </a:solidFill>
                        <a:latin typeface="Arial Narrow"/>
                        <a:ea typeface="LG스마트체 Regular"/>
                      </a:endParaRPr>
                    </a:p>
                  </a:txBody>
                  <a:tcPr marL="3600" marR="3600" marT="18000" marB="18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1200" spc="-10" baseline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미래기술 역량강화</a:t>
                      </a:r>
                      <a:r>
                        <a:rPr lang="en-US" altLang="ko-KR" sz="1000" b="0" kern="1200" spc="-10" baseline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(10%)</a:t>
                      </a:r>
                      <a:endParaRPr lang="ko-KR" altLang="en-US" sz="1000" b="0" kern="1200" spc="-10" baseline="0">
                        <a:solidFill>
                          <a:schemeClr val="tx1"/>
                        </a:solidFill>
                        <a:latin typeface="Arial Narrow"/>
                        <a:ea typeface="LG스마트체 Regular"/>
                        <a:cs typeface="+mn-cs"/>
                      </a:endParaRPr>
                    </a:p>
                  </a:txBody>
                  <a:tcPr marL="3600" marR="3600" marT="18000" marB="18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92075" indent="-92075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SzPct val="100000"/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1" kern="1200" spc="-10" baseline="0" dirty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차세대 다이 자동보정 기술개발</a:t>
                      </a: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altLang="ko-KR" sz="900" b="1" i="0" u="none" strike="noStrike" spc="-10" dirty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rPr>
                        <a:t>5%</a:t>
                      </a:r>
                    </a:p>
                  </a:txBody>
                  <a:tcPr marL="3600" marR="3600" marT="10800" marB="108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71755" marR="0" lvl="0" indent="-71755" algn="l" rtl="0" eaLnBrk="1" fontAlgn="ctr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kumimoji="1" lang="ko-KR" alt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차세대 다이 보정기술 확보</a:t>
                      </a:r>
                      <a:br>
                        <a:rPr kumimoji="1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</a:br>
                      <a:r>
                        <a:rPr kumimoji="1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- Q</a:t>
                      </a:r>
                      <a:r>
                        <a:rPr kumimoji="1" lang="ko-KR" alt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 </a:t>
                      </a:r>
                      <a:r>
                        <a:rPr kumimoji="1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:</a:t>
                      </a:r>
                      <a:r>
                        <a:rPr kumimoji="1" lang="ko-KR" altLang="en-US" sz="9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초크바</a:t>
                      </a:r>
                      <a:r>
                        <a:rPr kumimoji="1" lang="ko-KR" alt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 다이</a:t>
                      </a:r>
                      <a:r>
                        <a:rPr kumimoji="1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(</a:t>
                      </a:r>
                      <a:r>
                        <a:rPr kumimoji="1" lang="ko-KR" alt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로딩 </a:t>
                      </a:r>
                      <a:r>
                        <a:rPr kumimoji="1" lang="en-US" altLang="ko-KR" sz="9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Cpk</a:t>
                      </a:r>
                      <a:r>
                        <a:rPr kumimoji="1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 2.5 </a:t>
                      </a:r>
                      <a:r>
                        <a:rPr kumimoji="1" lang="ko-KR" alt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이상</a:t>
                      </a:r>
                      <a:r>
                        <a:rPr kumimoji="1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,</a:t>
                      </a:r>
                      <a:r>
                        <a:rPr kumimoji="1" lang="ko-KR" alt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 </a:t>
                      </a:r>
                      <a:r>
                        <a:rPr kumimoji="1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RP </a:t>
                      </a:r>
                      <a:r>
                        <a:rPr kumimoji="1" lang="ko-KR" alt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단선 </a:t>
                      </a:r>
                      <a:r>
                        <a:rPr kumimoji="1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20% </a:t>
                      </a:r>
                      <a:r>
                        <a:rPr kumimoji="1" lang="ko-KR" alt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이상 개선</a:t>
                      </a:r>
                      <a:r>
                        <a:rPr kumimoji="1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)</a:t>
                      </a:r>
                      <a:br>
                        <a:rPr kumimoji="1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</a:br>
                      <a:r>
                        <a:rPr kumimoji="1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       </a:t>
                      </a:r>
                      <a:r>
                        <a:rPr kumimoji="1" lang="ko-KR" alt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분할 다이</a:t>
                      </a:r>
                      <a:r>
                        <a:rPr kumimoji="1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(</a:t>
                      </a:r>
                      <a:r>
                        <a:rPr kumimoji="1" lang="ko-KR" alt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미스매치 </a:t>
                      </a:r>
                      <a:r>
                        <a:rPr kumimoji="1" lang="en-US" altLang="ko-KR" sz="9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Cpk</a:t>
                      </a:r>
                      <a:r>
                        <a:rPr kumimoji="1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 1.8 </a:t>
                      </a:r>
                      <a:r>
                        <a:rPr kumimoji="1" lang="ko-KR" alt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이상</a:t>
                      </a:r>
                      <a:r>
                        <a:rPr kumimoji="1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)</a:t>
                      </a:r>
                      <a:br>
                        <a:rPr kumimoji="1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</a:br>
                      <a:r>
                        <a:rPr kumimoji="1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-</a:t>
                      </a:r>
                      <a:r>
                        <a:rPr kumimoji="1" lang="ko-KR" alt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 </a:t>
                      </a:r>
                      <a:r>
                        <a:rPr kumimoji="1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D : ‘26.4Q </a:t>
                      </a: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71755" marR="0" lvl="0" indent="-71755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9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차세대 다이 보정기술 확보</a:t>
                      </a:r>
                      <a:br>
                        <a:rPr kumimoji="0" lang="en-US" altLang="ko-KR" sz="9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</a:br>
                      <a:r>
                        <a:rPr kumimoji="0" lang="en-US" altLang="ko-KR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- </a:t>
                      </a:r>
                      <a:r>
                        <a:rPr kumimoji="0" lang="ko-KR" altLang="en-US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초크바 다이</a:t>
                      </a:r>
                      <a:r>
                        <a:rPr kumimoji="0" lang="en-US" altLang="ko-KR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(‘26.2Q), </a:t>
                      </a:r>
                      <a:r>
                        <a:rPr kumimoji="0" lang="ko-KR" altLang="en-US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분할 다이</a:t>
                      </a:r>
                      <a:r>
                        <a:rPr kumimoji="0" lang="en-US" altLang="ko-KR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(‘26.3Q)</a:t>
                      </a:r>
                    </a:p>
                    <a:p>
                      <a:pPr marL="71755" marR="0" lvl="0" indent="-71755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9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차세대 통합 프로그램 개발</a:t>
                      </a:r>
                      <a:br>
                        <a:rPr kumimoji="0" lang="en-US" altLang="ko-KR" sz="9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</a:br>
                      <a:r>
                        <a:rPr kumimoji="0" lang="en-US" altLang="ko-KR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- </a:t>
                      </a:r>
                      <a:r>
                        <a:rPr kumimoji="0" lang="ko-KR" altLang="en-US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모듈화 설계 기반 다이 다변화 대응 및 운영 효율화</a:t>
                      </a:r>
                      <a:r>
                        <a:rPr kumimoji="0" lang="en-US" altLang="ko-KR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(‘26.4Q)</a:t>
                      </a: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5358884"/>
                  </a:ext>
                </a:extLst>
              </a:tr>
              <a:tr h="44963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spc="-10" baseline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" marR="3600" marT="18000" marB="18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92075" indent="-92075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SzPct val="100000"/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900" b="1" kern="1200" spc="-1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AI-Agent </a:t>
                      </a:r>
                      <a:r>
                        <a:rPr lang="ko-KR" altLang="en-US" sz="900" b="1" kern="1200" spc="-1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기반 자동보정 업무 효율화​</a:t>
                      </a: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lang="en-US" altLang="ko-KR" sz="900" b="1" kern="1200" spc="-1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5%</a:t>
                      </a:r>
                    </a:p>
                  </a:txBody>
                  <a:tcPr marL="3600" marR="3600" marT="10800" marB="108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71755" marR="0" lvl="0" indent="-71755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AI-Agent </a:t>
                      </a:r>
                      <a:r>
                        <a:rPr kumimoji="1" lang="ko-KR" altLang="en-US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기반 자동보정 업무 효율화</a:t>
                      </a:r>
                      <a:br>
                        <a:rPr kumimoji="1" lang="en-US" altLang="ko-KR" sz="900" b="1" i="0" u="none" strike="noStrike" kern="1200" cap="none" spc="-5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</a:br>
                      <a:r>
                        <a:rPr kumimoji="1" lang="en-US" altLang="ko-KR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Q : </a:t>
                      </a:r>
                      <a:r>
                        <a:rPr kumimoji="1" lang="ko-KR" altLang="en-US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자동보정 이상현상 분석 시간 </a:t>
                      </a:r>
                      <a:r>
                        <a:rPr kumimoji="1" lang="en-US" altLang="ko-KR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60% </a:t>
                      </a:r>
                      <a:r>
                        <a:rPr kumimoji="1" lang="ko-KR" altLang="en-US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저감</a:t>
                      </a:r>
                      <a:br>
                        <a:rPr kumimoji="1" lang="en-US" altLang="ko-KR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D : 26.12</a:t>
                      </a:r>
                      <a:r>
                        <a:rPr kumimoji="1" lang="ko-KR" altLang="en-US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월</a:t>
                      </a:r>
                      <a:endParaRPr kumimoji="1" lang="en-US" altLang="ko-KR" sz="9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71755" marR="0" lvl="0" indent="-71755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900" b="1" kern="1200" spc="-30" noProof="0" dirty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자동보정 </a:t>
                      </a:r>
                      <a:r>
                        <a:rPr lang="en-US" altLang="ko-KR" sz="900" b="1" kern="1200" spc="-30" noProof="0" dirty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AI Agent </a:t>
                      </a:r>
                      <a:r>
                        <a:rPr lang="ko-KR" altLang="en-US" sz="900" b="1" kern="1200" spc="-30" noProof="0" dirty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개발을 통한 운영</a:t>
                      </a:r>
                      <a:r>
                        <a:rPr lang="en-US" altLang="ko-KR" sz="900" b="1" kern="1200" spc="-30" noProof="0" dirty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/</a:t>
                      </a:r>
                      <a:r>
                        <a:rPr lang="ko-KR" altLang="en-US" sz="900" b="1" kern="1200" spc="-30" noProof="0" dirty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유지보수 업무 자동화</a:t>
                      </a:r>
                      <a:br>
                        <a:rPr lang="en-US" altLang="ko-KR" sz="900" b="0" kern="1200" spc="-30" noProof="0" dirty="0">
                          <a:solidFill>
                            <a:srgbClr val="000000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</a:br>
                      <a:r>
                        <a:rPr lang="en-US" altLang="ko-KR" sz="900" b="0" kern="1200" spc="-30" noProof="0" dirty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- </a:t>
                      </a:r>
                      <a:r>
                        <a:rPr lang="ko-KR" altLang="en-US" sz="900" b="0" kern="1200" spc="-30" noProof="0" dirty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공정</a:t>
                      </a:r>
                      <a:r>
                        <a:rPr lang="en-US" altLang="ko-KR" sz="900" b="0" kern="1200" spc="-30" noProof="0" dirty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, </a:t>
                      </a:r>
                      <a:r>
                        <a:rPr lang="ko-KR" altLang="en-US" sz="900" b="0" kern="1200" spc="-30" noProof="0" dirty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설비</a:t>
                      </a:r>
                      <a:r>
                        <a:rPr lang="en-US" altLang="ko-KR" sz="900" b="0" kern="1200" spc="-30" noProof="0" dirty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, </a:t>
                      </a:r>
                      <a:r>
                        <a:rPr lang="ko-KR" altLang="en-US" sz="900" b="0" kern="1200" spc="-30" noProof="0" dirty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자동보정 데이터 연계를 통한 실시간 분석 서비스 구축</a:t>
                      </a:r>
                      <a:br>
                        <a:rPr lang="en-US" altLang="ko-KR" sz="900" b="0" kern="1200" spc="-30" noProof="0" dirty="0">
                          <a:solidFill>
                            <a:srgbClr val="000000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</a:br>
                      <a:r>
                        <a:rPr lang="en-US" altLang="ko-KR" sz="900" b="0" kern="1200" spc="-30" noProof="0" dirty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- </a:t>
                      </a:r>
                      <a:r>
                        <a:rPr lang="ko-KR" altLang="en-US" sz="900" b="0" kern="1200" spc="-30" noProof="0" dirty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자율형 질의 및 멀티 턴</a:t>
                      </a:r>
                      <a:r>
                        <a:rPr lang="en-US" altLang="ko-KR" sz="900" b="0" kern="1200" spc="-30" noProof="0" dirty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(Multi-turn Dialogue) </a:t>
                      </a:r>
                      <a:r>
                        <a:rPr lang="ko-KR" altLang="en-US" sz="900" b="0" kern="1200" spc="-30" noProof="0" dirty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기능을 지원하는 </a:t>
                      </a:r>
                      <a:r>
                        <a:rPr lang="ko-KR" altLang="en-US" sz="900" b="0" kern="1200" spc="-30" noProof="0" dirty="0" err="1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챗봇</a:t>
                      </a:r>
                      <a:r>
                        <a:rPr lang="ko-KR" altLang="en-US" sz="900" b="0" kern="1200" spc="-30" noProof="0" dirty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 서비스 구축</a:t>
                      </a:r>
                      <a:br>
                        <a:rPr lang="en-US" altLang="ko-KR" sz="900" b="0" kern="1200" spc="-30" noProof="0" dirty="0">
                          <a:solidFill>
                            <a:srgbClr val="000000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</a:br>
                      <a:r>
                        <a:rPr lang="en-US" altLang="ko-KR" sz="900" b="0" kern="1200" spc="-30" noProof="0" dirty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- </a:t>
                      </a:r>
                      <a:r>
                        <a:rPr lang="ko-KR" altLang="en-US" sz="900" b="0" kern="1200" spc="-30" noProof="0" dirty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대상 </a:t>
                      </a:r>
                      <a:r>
                        <a:rPr lang="en-US" altLang="ko-KR" sz="900" b="0" kern="1200" spc="-30" noProof="0" dirty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: WA </a:t>
                      </a:r>
                      <a:r>
                        <a:rPr lang="ko-KR" altLang="en-US" sz="900" b="0" kern="1200" spc="-30" noProof="0" dirty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전</a:t>
                      </a:r>
                      <a:r>
                        <a:rPr lang="en-US" altLang="ko-KR" sz="900" b="0" kern="1200" spc="-30" noProof="0" dirty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 </a:t>
                      </a:r>
                      <a:r>
                        <a:rPr lang="ko-KR" altLang="en-US" sz="900" b="0" kern="1200" spc="-30" noProof="0" dirty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공정 </a:t>
                      </a:r>
                      <a:r>
                        <a:rPr lang="en-US" altLang="ko-KR" sz="900" b="0" kern="1200" spc="-30" noProof="0" dirty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(</a:t>
                      </a:r>
                      <a:r>
                        <a:rPr lang="ko-KR" altLang="en-US" sz="900" b="0" kern="1200" spc="-30" noProof="0" dirty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코터 </a:t>
                      </a:r>
                      <a:r>
                        <a:rPr lang="en-US" altLang="ko-KR" sz="900" b="0" kern="1200" spc="-30" noProof="0" dirty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~ </a:t>
                      </a:r>
                      <a:r>
                        <a:rPr lang="ko-KR" altLang="en-US" sz="900" b="0" kern="1200" spc="-30" noProof="0" dirty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패키지</a:t>
                      </a:r>
                      <a:r>
                        <a:rPr lang="en-US" altLang="ko-KR" sz="900" b="0" kern="1200" spc="-30" noProof="0" dirty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)</a:t>
                      </a: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405829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76718134-1849-5675-60CC-5DE857064583}"/>
              </a:ext>
            </a:extLst>
          </p:cNvPr>
          <p:cNvSpPr txBox="1"/>
          <p:nvPr/>
        </p:nvSpPr>
        <p:spPr>
          <a:xfrm>
            <a:off x="95895" y="174087"/>
            <a:ext cx="3853543" cy="369332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[ </a:t>
            </a:r>
            <a:r>
              <a:rPr kumimoji="1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자동보정담당 </a:t>
            </a:r>
            <a:r>
              <a:rPr kumimoji="1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/ </a:t>
            </a:r>
            <a:r>
              <a:rPr kumimoji="1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송무강 </a:t>
            </a:r>
            <a:r>
              <a:rPr kumimoji="1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/ </a:t>
            </a:r>
            <a:r>
              <a:rPr kumimoji="1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상무 </a:t>
            </a: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]</a:t>
            </a:r>
            <a:endParaRPr kumimoji="0" lang="ko-KR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B83ECF92-84E8-4EF4-CAB0-47EABD6AE7BA}"/>
              </a:ext>
            </a:extLst>
          </p:cNvPr>
          <p:cNvSpPr/>
          <p:nvPr/>
        </p:nvSpPr>
        <p:spPr>
          <a:xfrm>
            <a:off x="1552542" y="1227239"/>
            <a:ext cx="202740" cy="178575"/>
          </a:xfrm>
          <a:prstGeom prst="roundRect">
            <a:avLst/>
          </a:prstGeom>
          <a:solidFill>
            <a:srgbClr val="00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KI</a:t>
            </a:r>
            <a:endParaRPr kumimoji="0" lang="ko-KR" altLang="en-US" sz="10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6D0023EF-1FD7-97D9-C6A4-4C38495659A0}"/>
              </a:ext>
            </a:extLst>
          </p:cNvPr>
          <p:cNvSpPr/>
          <p:nvPr/>
        </p:nvSpPr>
        <p:spPr>
          <a:xfrm>
            <a:off x="4905375" y="1217714"/>
            <a:ext cx="500747" cy="133901"/>
          </a:xfrm>
          <a:prstGeom prst="roundRect">
            <a:avLst/>
          </a:prstGeom>
          <a:solidFill>
            <a:srgbClr val="00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그룹장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BD9DF3EB-41F3-4CD1-73D0-93425FAD001F}"/>
              </a:ext>
            </a:extLst>
          </p:cNvPr>
          <p:cNvSpPr/>
          <p:nvPr/>
        </p:nvSpPr>
        <p:spPr>
          <a:xfrm>
            <a:off x="4376053" y="1217714"/>
            <a:ext cx="500747" cy="133901"/>
          </a:xfrm>
          <a:prstGeom prst="roundRect">
            <a:avLst/>
          </a:prstGeom>
          <a:solidFill>
            <a:srgbClr val="00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CDO</a:t>
            </a:r>
            <a:endParaRPr kumimoji="0" lang="ko-KR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9B2D37A8-06F0-3451-62C9-961415FB2CF3}"/>
              </a:ext>
            </a:extLst>
          </p:cNvPr>
          <p:cNvSpPr/>
          <p:nvPr/>
        </p:nvSpPr>
        <p:spPr>
          <a:xfrm>
            <a:off x="4905375" y="1903514"/>
            <a:ext cx="500747" cy="133901"/>
          </a:xfrm>
          <a:prstGeom prst="roundRect">
            <a:avLst/>
          </a:prstGeom>
          <a:solidFill>
            <a:srgbClr val="00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그룹장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AB5983AF-7221-2D9C-3216-7859355BBA7B}"/>
              </a:ext>
            </a:extLst>
          </p:cNvPr>
          <p:cNvSpPr/>
          <p:nvPr/>
        </p:nvSpPr>
        <p:spPr>
          <a:xfrm>
            <a:off x="4376053" y="1903514"/>
            <a:ext cx="500747" cy="133901"/>
          </a:xfrm>
          <a:prstGeom prst="roundRect">
            <a:avLst/>
          </a:prstGeom>
          <a:solidFill>
            <a:srgbClr val="00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CDO</a:t>
            </a:r>
            <a:endParaRPr kumimoji="0" lang="ko-KR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14079468-FE94-363E-A3B0-339AAE8DB13B}"/>
              </a:ext>
            </a:extLst>
          </p:cNvPr>
          <p:cNvSpPr/>
          <p:nvPr/>
        </p:nvSpPr>
        <p:spPr>
          <a:xfrm>
            <a:off x="4905375" y="2722664"/>
            <a:ext cx="500747" cy="133901"/>
          </a:xfrm>
          <a:prstGeom prst="roundRect">
            <a:avLst/>
          </a:prstGeom>
          <a:solidFill>
            <a:srgbClr val="00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그룹장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2A0946C3-735C-330B-5F8A-4FBC7676B653}"/>
              </a:ext>
            </a:extLst>
          </p:cNvPr>
          <p:cNvSpPr/>
          <p:nvPr/>
        </p:nvSpPr>
        <p:spPr>
          <a:xfrm>
            <a:off x="4905375" y="3149421"/>
            <a:ext cx="500747" cy="133901"/>
          </a:xfrm>
          <a:prstGeom prst="roundRect">
            <a:avLst/>
          </a:prstGeom>
          <a:solidFill>
            <a:srgbClr val="00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그룹장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0995D12-9295-9604-EB2A-DC2F6AC0201F}"/>
              </a:ext>
            </a:extLst>
          </p:cNvPr>
          <p:cNvSpPr txBox="1"/>
          <p:nvPr/>
        </p:nvSpPr>
        <p:spPr>
          <a:xfrm>
            <a:off x="4632385" y="6698195"/>
            <a:ext cx="64123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 algn="ctr">
              <a:defRPr/>
            </a:pPr>
            <a:r>
              <a:rPr kumimoji="0" lang="en-US" altLang="ko-KR" sz="900" i="0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- 1 / 1 -</a:t>
            </a:r>
            <a:endParaRPr kumimoji="0" lang="ko-KR" altLang="en-US" sz="900" i="0" strike="noStrike" kern="1200" cap="none" spc="0" normalizeH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FD1ECAA-2D90-3FB2-0D33-6FFDCB51D4BE}"/>
              </a:ext>
            </a:extLst>
          </p:cNvPr>
          <p:cNvSpPr txBox="1"/>
          <p:nvPr/>
        </p:nvSpPr>
        <p:spPr>
          <a:xfrm>
            <a:off x="1517815" y="1713590"/>
            <a:ext cx="504851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CPO Co-KPI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5A0D7DB-2B4E-6726-5802-9D8BE2A872B6}"/>
              </a:ext>
            </a:extLst>
          </p:cNvPr>
          <p:cNvSpPr txBox="1"/>
          <p:nvPr/>
        </p:nvSpPr>
        <p:spPr>
          <a:xfrm>
            <a:off x="7224093" y="135047"/>
            <a:ext cx="2545733" cy="338554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➊ 목표 합의서</a:t>
            </a:r>
          </a:p>
        </p:txBody>
      </p:sp>
    </p:spTree>
    <p:extLst>
      <p:ext uri="{BB962C8B-B14F-4D97-AF65-F5344CB8AC3E}">
        <p14:creationId xmlns:p14="http://schemas.microsoft.com/office/powerpoint/2010/main" val="28460380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CC9D7984-7EEC-4652-82F7-025067A514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9227855"/>
              </p:ext>
            </p:extLst>
          </p:nvPr>
        </p:nvGraphicFramePr>
        <p:xfrm>
          <a:off x="182233" y="536045"/>
          <a:ext cx="9582666" cy="6015586"/>
        </p:xfrm>
        <a:graphic>
          <a:graphicData uri="http://schemas.openxmlformats.org/drawingml/2006/table">
            <a:tbl>
              <a:tblPr/>
              <a:tblGrid>
                <a:gridCol w="853200">
                  <a:extLst>
                    <a:ext uri="{9D8B030D-6E8A-4147-A177-3AD203B41FA5}">
                      <a16:colId xmlns:a16="http://schemas.microsoft.com/office/drawing/2014/main" val="1583461695"/>
                    </a:ext>
                  </a:extLst>
                </a:gridCol>
                <a:gridCol w="968400">
                  <a:extLst>
                    <a:ext uri="{9D8B030D-6E8A-4147-A177-3AD203B41FA5}">
                      <a16:colId xmlns:a16="http://schemas.microsoft.com/office/drawing/2014/main" val="4227781156"/>
                    </a:ext>
                  </a:extLst>
                </a:gridCol>
                <a:gridCol w="345066">
                  <a:extLst>
                    <a:ext uri="{9D8B030D-6E8A-4147-A177-3AD203B41FA5}">
                      <a16:colId xmlns:a16="http://schemas.microsoft.com/office/drawing/2014/main" val="2487817271"/>
                    </a:ext>
                  </a:extLst>
                </a:gridCol>
                <a:gridCol w="3708000">
                  <a:extLst>
                    <a:ext uri="{9D8B030D-6E8A-4147-A177-3AD203B41FA5}">
                      <a16:colId xmlns:a16="http://schemas.microsoft.com/office/drawing/2014/main" val="4115920672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409402569"/>
                    </a:ext>
                  </a:extLst>
                </a:gridCol>
                <a:gridCol w="3420000">
                  <a:extLst>
                    <a:ext uri="{9D8B030D-6E8A-4147-A177-3AD203B41FA5}">
                      <a16:colId xmlns:a16="http://schemas.microsoft.com/office/drawing/2014/main" val="3282466944"/>
                    </a:ext>
                  </a:extLst>
                </a:gridCol>
              </a:tblGrid>
              <a:tr h="145927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1" i="0" u="none" strike="noStrike" kern="1200" spc="-1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'26</a:t>
                      </a:r>
                      <a:r>
                        <a:rPr lang="ko-KR" altLang="en-US" sz="1000" b="1" i="0" u="none" strike="noStrike" kern="1200" spc="-1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년 </a:t>
                      </a:r>
                      <a:r>
                        <a:rPr lang="en-US" altLang="ko-KR" sz="1000" b="1" i="0" u="none" strike="noStrike" kern="1200" spc="-1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KPI</a:t>
                      </a:r>
                      <a:endParaRPr lang="ko-KR" altLang="en-US" sz="1000" b="1" i="0" u="none" strike="noStrike" kern="1200" spc="-1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i="0" u="none" strike="noStrike" kern="1200" spc="-1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상세 목표</a:t>
                      </a:r>
                      <a:endParaRPr lang="en-US" altLang="ko-KR" sz="1000" b="1" i="0" u="none" strike="noStrike" kern="1200" spc="-1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i="0" u="none" strike="noStrike" kern="1200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비중</a:t>
                      </a:r>
                      <a:endParaRPr lang="en-US" altLang="ko-KR" sz="1000" b="1" i="0" u="none" strike="noStrike" kern="1200" spc="-1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목표 설정 근거</a:t>
                      </a: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분기 목표 및 실행 계획</a:t>
                      </a: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8957706"/>
                  </a:ext>
                </a:extLst>
              </a:tr>
              <a:tr h="360000">
                <a:tc rowSpan="10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92075" indent="-92075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SzPct val="100000"/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1" kern="1200" spc="-1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제조 운영 </a:t>
                      </a:r>
                      <a:r>
                        <a:rPr lang="en-US" altLang="ko-KR" sz="1000" b="1" kern="1200" spc="-1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AX</a:t>
                      </a:r>
                      <a:br>
                        <a:rPr lang="en-US" altLang="ko-KR" sz="1000" b="1" kern="1200" spc="-1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en-US" altLang="ko-KR" sz="1000" b="1" kern="1200" spc="-1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BM/PD </a:t>
                      </a:r>
                      <a:r>
                        <a:rPr lang="ko-KR" altLang="en-US" sz="1000" b="1" kern="1200" spc="-1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</a:t>
                      </a:r>
                      <a:endParaRPr lang="en-US" altLang="ko-KR" sz="1000" b="1" kern="1200" spc="-1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10">
                  <a:txBody>
                    <a:bodyPr/>
                    <a:lstStyle/>
                    <a:p>
                      <a:pPr marL="88900" marR="0" lvl="0" indent="-889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AX</a:t>
                      </a: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기반 제조운영 </a:t>
                      </a:r>
                      <a: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BM/PD Loss</a:t>
                      </a: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개선</a:t>
                      </a:r>
                      <a:b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Q: 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자동차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/ESS BM/PD 20% 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개선</a:t>
                      </a:r>
                      <a:b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(25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년 比</a:t>
                      </a: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)</a:t>
                      </a:r>
                      <a:endParaRPr lang="en-US" altLang="ko-KR" sz="1000" b="0" kern="1200" spc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10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15%</a:t>
                      </a: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4"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BM/PD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20%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개선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기준 공정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COT/Roll Press/PKG/L&amp;S/AZS/NTC)</a:t>
                      </a:r>
                      <a:endParaRPr kumimoji="0" lang="en-US" altLang="ko-KR" sz="10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0" lang="en-US" altLang="ko-KR" sz="10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0" lang="en-US" altLang="ko-KR" sz="10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0" lang="en-US" altLang="ko-KR" sz="10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0" lang="en-US" altLang="ko-KR" sz="10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1Q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6654165"/>
                  </a:ext>
                </a:extLst>
              </a:tr>
              <a:tr h="360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2Q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8396706"/>
                  </a:ext>
                </a:extLst>
              </a:tr>
              <a:tr h="360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3Q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1808293"/>
                  </a:ext>
                </a:extLst>
              </a:tr>
              <a:tr h="108000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1" i="0" u="none" strike="noStrike" kern="1200" cap="none" spc="-1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0" marB="0" anchor="ctr" horzOverflow="overflow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ko-KR" altLang="en-US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실행</a:t>
                      </a:r>
                      <a:br>
                        <a:rPr kumimoji="1" lang="en-US" altLang="ko-KR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ko-KR" altLang="en-US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계획</a:t>
                      </a: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[1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분기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]</a:t>
                      </a:r>
                    </a:p>
                    <a:p>
                      <a:pPr marL="90170" marR="0" lvl="0" indent="-90170" algn="l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</a:pP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현상 분석 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/ 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과제 도출 </a:t>
                      </a:r>
                      <a:r>
                        <a:rPr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/ 설비 </a:t>
                      </a:r>
                      <a:r>
                        <a:rPr lang="ko-KR" altLang="en-US" sz="10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Para</a:t>
                      </a:r>
                      <a:r>
                        <a:rPr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 최적화</a:t>
                      </a:r>
                      <a:b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</a:b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- Data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 분석 및 환경 구성</a:t>
                      </a:r>
                      <a:r>
                        <a:rPr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, 자동보정 로직 </a:t>
                      </a:r>
                      <a:r>
                        <a:rPr lang="ko-KR" altLang="en-US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Concept</a:t>
                      </a:r>
                      <a:r>
                        <a:rPr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 확정</a:t>
                      </a:r>
                      <a:b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</a:b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- </a:t>
                      </a: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FDC 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이상감지 로직 및</a:t>
                      </a: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 Roll Map Data 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연계 준비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None/>
                      </a:pPr>
                      <a:r>
                        <a:rPr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   - 추가 과제 발굴 및 수행</a:t>
                      </a:r>
                      <a:endParaRPr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/>
                        <a:ea typeface="LG스마트체 Regular"/>
                        <a:cs typeface="Arial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None/>
                      </a:pPr>
                      <a:endParaRPr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/>
                        <a:ea typeface="LG스마트체 Regular"/>
                        <a:cs typeface="Arial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[2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분기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]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90170" marR="0" lvl="0" indent="-9017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/>
                        </a:rPr>
                        <a:t>R/P, NND </a:t>
                      </a:r>
                      <a:r>
                        <a:rPr lang="en-US" altLang="ko-KR" sz="10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/>
                        </a:rPr>
                        <a:t>단선</a:t>
                      </a:r>
                      <a:r>
                        <a:rPr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/>
                        </a:rPr>
                        <a:t> PD Loss 16% </a:t>
                      </a:r>
                      <a:r>
                        <a:rPr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/>
                        </a:rPr>
                        <a:t>개선</a:t>
                      </a:r>
                      <a:endParaRPr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/>
                      </a:endParaRPr>
                    </a:p>
                    <a:p>
                      <a:pPr marL="90170" marR="0" lvl="0" indent="-9017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개선 아이템 적용</a:t>
                      </a:r>
                      <a:br>
                        <a:rPr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/>
                        </a:rPr>
                      </a:b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- </a:t>
                      </a:r>
                      <a:r>
                        <a:rPr kumimoji="1" lang="ko-KR" altLang="en-US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로딩량을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 고려한 </a:t>
                      </a: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Feedforward  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자동보정  적용</a:t>
                      </a:r>
                      <a:b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</a:b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- 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대표호기 적용 및 모니터링</a:t>
                      </a:r>
                      <a:endParaRPr kumimoji="1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/>
                        <a:ea typeface="LG스마트체 Regular"/>
                        <a:cs typeface="Arial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/>
                        <a:ea typeface="LG스마트체 Regular"/>
                        <a:cs typeface="Arial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[3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분기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]</a:t>
                      </a: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R/P, NND </a:t>
                      </a:r>
                      <a:r>
                        <a:rPr lang="en-US" altLang="ko-KR" sz="10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단선</a:t>
                      </a:r>
                      <a:r>
                        <a:rPr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 PD Loss 20% </a:t>
                      </a:r>
                      <a:r>
                        <a:rPr lang="en-US" altLang="ko-KR" sz="10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개선</a:t>
                      </a:r>
                      <a:endParaRPr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/>
                        <a:ea typeface="LG스마트체 Regular"/>
                        <a:cs typeface="Arial"/>
                      </a:endParaRP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모니터링 및 수평전개</a:t>
                      </a:r>
                      <a:b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</a:b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- 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모니터링 후 순차적으로 제어</a:t>
                      </a: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/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자동보정 관련 단계별 확산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Arial Narrow"/>
                        <a:ea typeface="LG스마트체 Regular"/>
                        <a:cs typeface="Arial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579272"/>
                  </a:ext>
                </a:extLst>
              </a:tr>
              <a:tr h="145927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평가 </a:t>
                      </a:r>
                      <a:r>
                        <a:rPr kumimoji="1" lang="en-US" altLang="ko-KR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Scale </a:t>
                      </a: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산출 로직</a:t>
                      </a: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평가 </a:t>
                      </a:r>
                      <a:r>
                        <a:rPr kumimoji="1" lang="en-US" altLang="ko-KR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Description</a:t>
                      </a: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endParaRPr kumimoji="1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6705988"/>
                  </a:ext>
                </a:extLst>
              </a:tr>
              <a:tr h="432000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5">
                  <a:txBody>
                    <a:bodyPr/>
                    <a:lstStyle/>
                    <a:p>
                      <a:pPr marL="90000" marR="0" lvl="0" indent="-9000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평가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Description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배점에 대한 산출 로직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5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점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24%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4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점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22%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점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16%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점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16%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5</a:t>
                      </a: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점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24% 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이상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9652368"/>
                  </a:ext>
                </a:extLst>
              </a:tr>
              <a:tr h="432000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9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4</a:t>
                      </a: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점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22% 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이상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8312169"/>
                  </a:ext>
                </a:extLst>
              </a:tr>
              <a:tr h="432000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9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3</a:t>
                      </a: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점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20%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이상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3781511"/>
                  </a:ext>
                </a:extLst>
              </a:tr>
              <a:tr h="432000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9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2</a:t>
                      </a: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점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16% 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이상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8170501"/>
                  </a:ext>
                </a:extLst>
              </a:tr>
              <a:tr h="432000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9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1</a:t>
                      </a: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점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16% 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미만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0330578"/>
                  </a:ext>
                </a:extLst>
              </a:tr>
            </a:tbl>
          </a:graphicData>
        </a:graphic>
      </p:graphicFrame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E3C572D3-1560-496D-9648-77117FE761B3}"/>
              </a:ext>
            </a:extLst>
          </p:cNvPr>
          <p:cNvGraphicFramePr>
            <a:graphicFrameLocks noGrp="1"/>
          </p:cNvGraphicFramePr>
          <p:nvPr/>
        </p:nvGraphicFramePr>
        <p:xfrm>
          <a:off x="2366039" y="885999"/>
          <a:ext cx="3542165" cy="648000"/>
        </p:xfrm>
        <a:graphic>
          <a:graphicData uri="http://schemas.openxmlformats.org/drawingml/2006/table">
            <a:tbl>
              <a:tblPr/>
              <a:tblGrid>
                <a:gridCol w="338296">
                  <a:extLst>
                    <a:ext uri="{9D8B030D-6E8A-4147-A177-3AD203B41FA5}">
                      <a16:colId xmlns:a16="http://schemas.microsoft.com/office/drawing/2014/main" val="448372699"/>
                    </a:ext>
                  </a:extLst>
                </a:gridCol>
                <a:gridCol w="318397">
                  <a:extLst>
                    <a:ext uri="{9D8B030D-6E8A-4147-A177-3AD203B41FA5}">
                      <a16:colId xmlns:a16="http://schemas.microsoft.com/office/drawing/2014/main" val="3531961852"/>
                    </a:ext>
                  </a:extLst>
                </a:gridCol>
                <a:gridCol w="318397">
                  <a:extLst>
                    <a:ext uri="{9D8B030D-6E8A-4147-A177-3AD203B41FA5}">
                      <a16:colId xmlns:a16="http://schemas.microsoft.com/office/drawing/2014/main" val="3876058939"/>
                    </a:ext>
                  </a:extLst>
                </a:gridCol>
                <a:gridCol w="318397">
                  <a:extLst>
                    <a:ext uri="{9D8B030D-6E8A-4147-A177-3AD203B41FA5}">
                      <a16:colId xmlns:a16="http://schemas.microsoft.com/office/drawing/2014/main" val="1144578316"/>
                    </a:ext>
                  </a:extLst>
                </a:gridCol>
                <a:gridCol w="318397">
                  <a:extLst>
                    <a:ext uri="{9D8B030D-6E8A-4147-A177-3AD203B41FA5}">
                      <a16:colId xmlns:a16="http://schemas.microsoft.com/office/drawing/2014/main" val="2758194912"/>
                    </a:ext>
                  </a:extLst>
                </a:gridCol>
                <a:gridCol w="318397">
                  <a:extLst>
                    <a:ext uri="{9D8B030D-6E8A-4147-A177-3AD203B41FA5}">
                      <a16:colId xmlns:a16="http://schemas.microsoft.com/office/drawing/2014/main" val="1690716757"/>
                    </a:ext>
                  </a:extLst>
                </a:gridCol>
                <a:gridCol w="318397">
                  <a:extLst>
                    <a:ext uri="{9D8B030D-6E8A-4147-A177-3AD203B41FA5}">
                      <a16:colId xmlns:a16="http://schemas.microsoft.com/office/drawing/2014/main" val="3938954016"/>
                    </a:ext>
                  </a:extLst>
                </a:gridCol>
                <a:gridCol w="318397">
                  <a:extLst>
                    <a:ext uri="{9D8B030D-6E8A-4147-A177-3AD203B41FA5}">
                      <a16:colId xmlns:a16="http://schemas.microsoft.com/office/drawing/2014/main" val="2741989067"/>
                    </a:ext>
                  </a:extLst>
                </a:gridCol>
                <a:gridCol w="318397">
                  <a:extLst>
                    <a:ext uri="{9D8B030D-6E8A-4147-A177-3AD203B41FA5}">
                      <a16:colId xmlns:a16="http://schemas.microsoft.com/office/drawing/2014/main" val="3800816768"/>
                    </a:ext>
                  </a:extLst>
                </a:gridCol>
                <a:gridCol w="318397">
                  <a:extLst>
                    <a:ext uri="{9D8B030D-6E8A-4147-A177-3AD203B41FA5}">
                      <a16:colId xmlns:a16="http://schemas.microsoft.com/office/drawing/2014/main" val="672968338"/>
                    </a:ext>
                  </a:extLst>
                </a:gridCol>
                <a:gridCol w="338296">
                  <a:extLst>
                    <a:ext uri="{9D8B030D-6E8A-4147-A177-3AD203B41FA5}">
                      <a16:colId xmlns:a16="http://schemas.microsoft.com/office/drawing/2014/main" val="1593203743"/>
                    </a:ext>
                  </a:extLst>
                </a:gridCol>
              </a:tblGrid>
              <a:tr h="216000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구분</a:t>
                      </a:r>
                      <a:endParaRPr lang="ko-KR" altLang="en-US" sz="900" b="1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자동차</a:t>
                      </a:r>
                      <a:endParaRPr lang="ko-KR" altLang="en-US" sz="900" b="1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2CC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자동차</a:t>
                      </a:r>
                      <a:endParaRPr lang="ko-KR" altLang="en-US" sz="900" b="1" i="0" u="none" strike="noStrike">
                        <a:solidFill>
                          <a:srgbClr val="FFF2CC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2CC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자동차</a:t>
                      </a:r>
                      <a:endParaRPr lang="ko-KR" altLang="en-US" sz="900" b="1" i="0" u="none" strike="noStrike">
                        <a:solidFill>
                          <a:srgbClr val="FFF2CC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2CC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자동차</a:t>
                      </a:r>
                      <a:endParaRPr lang="ko-KR" altLang="en-US" sz="900" b="1" i="0" u="none" strike="noStrike">
                        <a:solidFill>
                          <a:srgbClr val="FFF2CC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2CC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자동차</a:t>
                      </a:r>
                      <a:endParaRPr lang="ko-KR" altLang="en-US" sz="900" b="1" i="0" u="none" strike="noStrike">
                        <a:solidFill>
                          <a:srgbClr val="FFF2CC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2CC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자동차</a:t>
                      </a:r>
                      <a:endParaRPr lang="ko-KR" altLang="en-US" sz="900" b="1" i="0" u="none" strike="noStrike">
                        <a:solidFill>
                          <a:srgbClr val="FFF2CC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ESS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1" i="0" u="none" strike="noStrike">
                          <a:solidFill>
                            <a:srgbClr val="FFF2CC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ESS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1" i="0" u="none" strike="noStrike">
                          <a:solidFill>
                            <a:srgbClr val="FFF2CC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ESS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법인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계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1190825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COT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PKG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Lami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AZS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RP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NTC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PKG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Lami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NTC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184281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공정</a:t>
                      </a:r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계</a:t>
                      </a:r>
                      <a:endParaRPr lang="ko-KR" altLang="en-US" sz="900" b="1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16%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11%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17%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1%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6%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35%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14%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37%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43%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20.0%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0834306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AF156D26-62D4-4E32-9751-019749323187}"/>
              </a:ext>
            </a:extLst>
          </p:cNvPr>
          <p:cNvSpPr txBox="1"/>
          <p:nvPr/>
        </p:nvSpPr>
        <p:spPr>
          <a:xfrm>
            <a:off x="2319691" y="1562102"/>
            <a:ext cx="4736613" cy="215444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※ </a:t>
            </a:r>
            <a:r>
              <a:rPr kumimoji="0" lang="ko-KR" altLang="en-US" sz="800" b="0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각 공정 개선율의 산술평균으로 목표 산정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972AE9-5FBB-C44A-D8DF-E199FE53E6E6}"/>
              </a:ext>
            </a:extLst>
          </p:cNvPr>
          <p:cNvSpPr txBox="1"/>
          <p:nvPr/>
        </p:nvSpPr>
        <p:spPr>
          <a:xfrm>
            <a:off x="95895" y="174087"/>
            <a:ext cx="3853543" cy="369332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[ </a:t>
            </a:r>
            <a:r>
              <a:rPr kumimoji="1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자동보정담당 </a:t>
            </a:r>
            <a:r>
              <a:rPr kumimoji="1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/ </a:t>
            </a:r>
            <a:r>
              <a:rPr kumimoji="1" lang="ko-KR" altLang="en-US" sz="1800" b="1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송무강</a:t>
            </a:r>
            <a:r>
              <a:rPr kumimoji="1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 </a:t>
            </a:r>
            <a:r>
              <a:rPr kumimoji="1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/ </a:t>
            </a:r>
            <a:r>
              <a:rPr kumimoji="1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상무 </a:t>
            </a: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]</a:t>
            </a:r>
            <a:endParaRPr kumimoji="0" lang="ko-KR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757DBF7-B116-959A-5942-C9E8C071FE45}"/>
              </a:ext>
            </a:extLst>
          </p:cNvPr>
          <p:cNvSpPr txBox="1"/>
          <p:nvPr/>
        </p:nvSpPr>
        <p:spPr>
          <a:xfrm>
            <a:off x="5124262" y="119658"/>
            <a:ext cx="4645564" cy="338554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➋ 목표 산정 근거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/ 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분기 목표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/ 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평가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Description 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근거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(1/10)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7AA2E41-828D-EAFD-C17E-3487DCC8107B}"/>
              </a:ext>
            </a:extLst>
          </p:cNvPr>
          <p:cNvSpPr txBox="1"/>
          <p:nvPr/>
        </p:nvSpPr>
        <p:spPr>
          <a:xfrm>
            <a:off x="4454656" y="106918"/>
            <a:ext cx="886091" cy="369332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[</a:t>
            </a:r>
            <a:r>
              <a: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유첨</a:t>
            </a: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]</a:t>
            </a:r>
            <a:endParaRPr kumimoji="1" lang="ko-KR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369338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CC9D7984-7EEC-4652-82F7-025067A514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0860628"/>
              </p:ext>
            </p:extLst>
          </p:nvPr>
        </p:nvGraphicFramePr>
        <p:xfrm>
          <a:off x="173693" y="620689"/>
          <a:ext cx="9535408" cy="6079859"/>
        </p:xfrm>
        <a:graphic>
          <a:graphicData uri="http://schemas.openxmlformats.org/drawingml/2006/table">
            <a:tbl>
              <a:tblPr/>
              <a:tblGrid>
                <a:gridCol w="853563">
                  <a:extLst>
                    <a:ext uri="{9D8B030D-6E8A-4147-A177-3AD203B41FA5}">
                      <a16:colId xmlns:a16="http://schemas.microsoft.com/office/drawing/2014/main" val="1583461695"/>
                    </a:ext>
                  </a:extLst>
                </a:gridCol>
                <a:gridCol w="969495">
                  <a:extLst>
                    <a:ext uri="{9D8B030D-6E8A-4147-A177-3AD203B41FA5}">
                      <a16:colId xmlns:a16="http://schemas.microsoft.com/office/drawing/2014/main" val="4227781156"/>
                    </a:ext>
                  </a:extLst>
                </a:gridCol>
                <a:gridCol w="296350">
                  <a:extLst>
                    <a:ext uri="{9D8B030D-6E8A-4147-A177-3AD203B41FA5}">
                      <a16:colId xmlns:a16="http://schemas.microsoft.com/office/drawing/2014/main" val="2487817271"/>
                    </a:ext>
                  </a:extLst>
                </a:gridCol>
                <a:gridCol w="3708000">
                  <a:extLst>
                    <a:ext uri="{9D8B030D-6E8A-4147-A177-3AD203B41FA5}">
                      <a16:colId xmlns:a16="http://schemas.microsoft.com/office/drawing/2014/main" val="4115920672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409402569"/>
                    </a:ext>
                  </a:extLst>
                </a:gridCol>
                <a:gridCol w="3420000">
                  <a:extLst>
                    <a:ext uri="{9D8B030D-6E8A-4147-A177-3AD203B41FA5}">
                      <a16:colId xmlns:a16="http://schemas.microsoft.com/office/drawing/2014/main" val="3282466944"/>
                    </a:ext>
                  </a:extLst>
                </a:gridCol>
              </a:tblGrid>
              <a:tr h="16092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1" i="0" u="none" strike="noStrike" kern="1200" spc="-1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’26</a:t>
                      </a:r>
                      <a:r>
                        <a:rPr lang="ko-KR" altLang="en-US" sz="1000" b="1" i="0" u="none" strike="noStrike" kern="1200" spc="-1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년 </a:t>
                      </a:r>
                      <a:r>
                        <a:rPr lang="en-US" altLang="ko-KR" sz="1000" b="1" i="0" u="none" strike="noStrike" kern="1200" spc="-1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KPI</a:t>
                      </a:r>
                      <a:endParaRPr lang="ko-KR" altLang="en-US" sz="1000" b="1" i="0" u="none" strike="noStrike" kern="1200" spc="-1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i="0" u="none" strike="noStrike" kern="1200" spc="-1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상세 목표</a:t>
                      </a:r>
                      <a:endParaRPr lang="en-US" altLang="ko-KR" sz="1000" b="1" i="0" u="none" strike="noStrike" kern="1200" spc="-1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i="0" u="none" strike="noStrike" kern="1200" spc="-1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비중</a:t>
                      </a:r>
                      <a:endParaRPr lang="en-US" altLang="ko-KR" sz="1000" b="1" i="0" u="none" strike="noStrike" kern="1200" spc="-1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목표 설정 근거</a:t>
                      </a: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분기 목표 및 실행 계획</a:t>
                      </a: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8957706"/>
                  </a:ext>
                </a:extLst>
              </a:tr>
              <a:tr h="160920">
                <a:tc rowSpan="10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92075" marR="0" lvl="0" indent="-92075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Pct val="10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1" kern="1200" spc="-10" dirty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북미 </a:t>
                      </a:r>
                      <a:r>
                        <a:rPr lang="en-US" altLang="ko-KR" sz="1000" b="1" kern="1200" spc="-10" dirty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ESS </a:t>
                      </a:r>
                      <a:br>
                        <a:rPr lang="en-US" altLang="ko-KR" sz="1000" b="1" kern="1200" spc="-10" dirty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</a:br>
                      <a:r>
                        <a:rPr lang="ko-KR" altLang="en-US" sz="1000" b="1" kern="1200" spc="-10" dirty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종합 </a:t>
                      </a:r>
                      <a:r>
                        <a:rPr lang="ko-KR" altLang="en-US" sz="1000" b="1" kern="1200" spc="-10" dirty="0" err="1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수율</a:t>
                      </a:r>
                      <a:r>
                        <a:rPr lang="ko-KR" altLang="en-US" sz="1000" b="1" kern="1200" spc="-10" dirty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 개선 </a:t>
                      </a:r>
                      <a:br>
                        <a:rPr lang="ko-KR" altLang="en-US" sz="1000" b="1" kern="1200" spc="-10" dirty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</a:br>
                      <a:r>
                        <a:rPr lang="en-US" altLang="ko-KR" sz="1000" b="1" kern="1200" spc="-10" dirty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(MI2, MI_L,OT, HD)</a:t>
                      </a: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10">
                  <a:txBody>
                    <a:bodyPr/>
                    <a:lstStyle/>
                    <a:p>
                      <a:pPr marL="88900" marR="0" lvl="0" indent="-889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105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1" lang="ko-KR" altLang="en-US" sz="105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북미</a:t>
                      </a:r>
                      <a:r>
                        <a:rPr kumimoji="1" lang="en-US" altLang="ko-KR" sz="105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 AX</a:t>
                      </a:r>
                      <a:r>
                        <a:rPr kumimoji="1" lang="ko-KR" altLang="en-US" sz="105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기반 </a:t>
                      </a:r>
                      <a:r>
                        <a:rPr kumimoji="1" lang="en-US" altLang="ko-KR" sz="105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ESS </a:t>
                      </a:r>
                      <a:r>
                        <a:rPr kumimoji="1" lang="ko-KR" altLang="en-US" sz="105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종합 </a:t>
                      </a:r>
                      <a:r>
                        <a:rPr kumimoji="1" lang="ko-KR" altLang="en-US" sz="1050" b="1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kumimoji="1" lang="ko-KR" altLang="en-US" sz="105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개선</a:t>
                      </a:r>
                      <a:br>
                        <a:rPr kumimoji="1" lang="ko-KR" altLang="en-US" sz="105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Q : ESMI, MI_LS, OT, HD ESS 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종합 </a:t>
                      </a:r>
                      <a:r>
                        <a:rPr kumimoji="1" lang="ko-KR" altLang="en-US" sz="1000" b="0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94.3%</a:t>
                      </a:r>
                      <a:b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D : ’26.12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월</a:t>
                      </a:r>
                      <a:endParaRPr kumimoji="1" lang="en-US" altLang="ko-KR" sz="10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10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20%</a:t>
                      </a: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4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[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전년실적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 ESS </a:t>
                      </a:r>
                      <a:r>
                        <a:rPr kumimoji="0" lang="ko-KR" altLang="en-US" sz="1000" b="0" i="0" u="none" strike="noStrike" kern="1200" cap="none" spc="-30" normalizeH="0" baseline="0" noProof="0" dirty="0" err="1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MI 90.5%, OT 79.9% (’25</a:t>
                      </a:r>
                      <a:r>
                        <a:rPr kumimoji="0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년 누적</a:t>
                      </a:r>
                      <a:r>
                        <a:rPr kumimoji="0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 </a:t>
                      </a: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MI, MI_L, OT, HD </a:t>
                      </a: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법인 </a:t>
                      </a:r>
                      <a: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ESS </a:t>
                      </a: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전 라인 종합 </a:t>
                      </a:r>
                      <a:r>
                        <a:rPr kumimoji="1" lang="ko-KR" altLang="en-US" sz="1000" b="1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달성</a:t>
                      </a:r>
                      <a:endParaRPr kumimoji="1" lang="en-US" altLang="ko-KR" sz="1000" b="1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전라인 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종합 </a:t>
                      </a:r>
                      <a:r>
                        <a:rPr kumimoji="1" lang="ko-KR" altLang="en-US" sz="1000" b="0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달성 </a:t>
                      </a: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 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북미 </a:t>
                      </a: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ESS 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공급 극대화 </a:t>
                      </a:r>
                      <a:b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               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 달성</a:t>
                      </a:r>
                      <a:b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-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대상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MI,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MI_L, OT,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HD ESS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전 라인 기준</a:t>
                      </a:r>
                      <a:b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-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완료 기준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년 평균 기준 목표 </a:t>
                      </a:r>
                      <a:r>
                        <a:rPr kumimoji="0" lang="ko-KR" altLang="en-US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달성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누적 기준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  <a:b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b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endParaRPr lang="en-US" altLang="ko-KR" sz="1000" b="0" kern="12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b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b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b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b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b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endParaRPr lang="en-US" altLang="ko-KR" sz="1000" b="0" kern="12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altLang="ko-KR" sz="1000" b="0" kern="12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altLang="ko-KR" sz="1000" b="0" kern="12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altLang="ko-KR" sz="1000" b="0" kern="12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altLang="ko-KR" sz="1000" b="0" kern="12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altLang="ko-KR" sz="1000" b="0" kern="12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b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1Q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b="1" kern="1200" spc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93.5%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6654165"/>
                  </a:ext>
                </a:extLst>
              </a:tr>
              <a:tr h="33547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2Q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b="1" kern="1200" spc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93.7% </a:t>
                      </a:r>
                      <a:r>
                        <a:rPr lang="en-US" altLang="ko-KR" sz="1000" b="1" kern="1200" spc="0" baseline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(2Q </a:t>
                      </a:r>
                      <a:r>
                        <a:rPr lang="ko-KR" altLang="en-US" sz="1000" b="1" kern="1200" spc="0" baseline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누적 </a:t>
                      </a:r>
                      <a:r>
                        <a:rPr lang="en-US" altLang="ko-KR" sz="1000" b="1" kern="1200" spc="0" baseline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93.6%)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uLnTx/>
                        <a:uFillTx/>
                        <a:latin typeface="Arial Narrow"/>
                        <a:ea typeface="LG스마트체 Regular"/>
                        <a:cs typeface="Arial"/>
                      </a:endParaRPr>
                    </a:p>
                  </a:txBody>
                  <a:tcPr marL="36000" marR="3600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8396706"/>
                  </a:ext>
                </a:extLst>
              </a:tr>
              <a:tr h="33547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3Q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b="1" kern="1200" spc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94.4% </a:t>
                      </a:r>
                      <a:r>
                        <a:rPr lang="en-US" altLang="ko-KR" sz="1000" b="1" kern="1200" spc="0" baseline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(3Q </a:t>
                      </a:r>
                      <a:r>
                        <a:rPr lang="ko-KR" altLang="en-US" sz="1000" b="1" kern="1200" spc="0" baseline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누적 </a:t>
                      </a:r>
                      <a:r>
                        <a:rPr lang="en-US" altLang="ko-KR" sz="1000" b="1" kern="1200" spc="0" baseline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93.9%)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uLnTx/>
                        <a:uFillTx/>
                        <a:latin typeface="Arial Narrow"/>
                        <a:ea typeface="LG스마트체 Regular"/>
                        <a:cs typeface="Arial"/>
                      </a:endParaRPr>
                    </a:p>
                  </a:txBody>
                  <a:tcPr marL="36000" marR="3600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1808293"/>
                  </a:ext>
                </a:extLst>
              </a:tr>
              <a:tr h="288000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1" i="0" u="none" strike="noStrike" kern="1200" cap="none" spc="-1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0" marB="0" anchor="ctr" horzOverflow="overflow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ko-KR" altLang="en-US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실행</a:t>
                      </a:r>
                      <a:br>
                        <a:rPr kumimoji="1" lang="en-US" altLang="ko-KR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ko-KR" altLang="en-US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계획</a:t>
                      </a: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[1</a:t>
                      </a:r>
                      <a:r>
                        <a:rPr kumimoji="1" lang="ko-KR" altLang="en-US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분기</a:t>
                      </a:r>
                      <a:r>
                        <a:rPr kumimoji="1" lang="en-US" altLang="ko-KR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] </a:t>
                      </a:r>
                      <a:r>
                        <a:rPr kumimoji="1" lang="ko-KR" altLang="en-US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개선 과제 도출 및 개발 착수</a:t>
                      </a:r>
                      <a:br>
                        <a:rPr kumimoji="1" lang="en-US" altLang="ko-KR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</a:br>
                      <a:r>
                        <a:rPr kumimoji="0" lang="en-US" altLang="ko-KR" sz="1000" b="0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   - [</a:t>
                      </a:r>
                      <a:r>
                        <a:rPr kumimoji="0" lang="ko-KR" altLang="en-US" sz="1000" b="0" i="0" u="none" strike="noStrike" kern="1200" cap="none" spc="-1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코터</a:t>
                      </a:r>
                      <a:r>
                        <a:rPr kumimoji="0" lang="en-US" altLang="ko-KR" sz="1000" b="0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] </a:t>
                      </a:r>
                      <a:r>
                        <a:rPr kumimoji="0" lang="ko-KR" altLang="en-US" sz="1000" b="0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동시절연 비전 검사기 검출 항목 정의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   </a:t>
                      </a: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- [</a:t>
                      </a:r>
                      <a:r>
                        <a:rPr kumimoji="1" lang="ko-KR" altLang="en-US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라미</a:t>
                      </a: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] </a:t>
                      </a:r>
                      <a:r>
                        <a:rPr kumimoji="0" lang="ko-KR" altLang="en-US" sz="1000" b="0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재료 교체 및 가</a:t>
                      </a:r>
                      <a:r>
                        <a:rPr kumimoji="0" lang="en-US" altLang="ko-KR" sz="1000" b="0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/</a:t>
                      </a:r>
                      <a:r>
                        <a:rPr kumimoji="0" lang="ko-KR" altLang="en-US" sz="1000" b="0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감속 구간 로직 고도화</a:t>
                      </a:r>
                      <a:br>
                        <a:rPr kumimoji="0" lang="en-US" altLang="ko-KR" sz="1000" b="0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   - [</a:t>
                      </a:r>
                      <a:r>
                        <a:rPr kumimoji="0" lang="ko-KR" altLang="en-US" sz="1000" b="0" i="0" u="none" strike="noStrike" kern="1200" cap="none" spc="-1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라미</a:t>
                      </a:r>
                      <a:r>
                        <a:rPr kumimoji="0" lang="en-US" altLang="ko-KR" sz="1000" b="0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] </a:t>
                      </a:r>
                      <a:r>
                        <a:rPr kumimoji="0" lang="ko-KR" altLang="en-US" sz="1000" b="0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재료교체 시 전극 이음매 위치 자동보정 개발</a:t>
                      </a:r>
                      <a:endParaRPr kumimoji="1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/>
                        <a:ea typeface="LG스마트체 Regular"/>
                        <a:cs typeface="Arial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   </a:t>
                      </a: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- [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스택</a:t>
                      </a: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] </a:t>
                      </a:r>
                      <a:r>
                        <a:rPr kumimoji="0" lang="ko-KR" altLang="en-US" sz="1000" b="0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스택 </a:t>
                      </a:r>
                      <a:r>
                        <a:rPr kumimoji="0" lang="en-US" altLang="ko-KR" sz="1000" b="0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Belt Pitch</a:t>
                      </a:r>
                      <a:r>
                        <a:rPr kumimoji="0" lang="ko-KR" altLang="en-US" sz="1000" b="0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를 고려한 셀 넘버별 자동보정 고도화 </a:t>
                      </a:r>
                      <a:br>
                        <a:rPr kumimoji="0" lang="en-US" altLang="ko-KR" sz="1000" b="0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   - [</a:t>
                      </a:r>
                      <a:r>
                        <a:rPr kumimoji="0" lang="ko-KR" altLang="en-US" sz="1000" b="0" i="0" u="none" strike="noStrike" kern="1200" cap="none" spc="-1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라미</a:t>
                      </a:r>
                      <a:r>
                        <a:rPr kumimoji="0" lang="en-US" altLang="ko-KR" sz="1000" b="0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/</a:t>
                      </a:r>
                      <a:r>
                        <a:rPr kumimoji="0" lang="ko-KR" altLang="en-US" sz="1000" b="0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스택</a:t>
                      </a:r>
                      <a:r>
                        <a:rPr kumimoji="0" lang="en-US" altLang="ko-KR" sz="1000" b="0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] </a:t>
                      </a:r>
                      <a:r>
                        <a:rPr kumimoji="0" lang="ko-KR" altLang="en-US" sz="1000" b="0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실시간 이상감지 기술 활성화</a:t>
                      </a:r>
                      <a:endParaRPr kumimoji="1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/>
                        <a:ea typeface="LG스마트체 Regular"/>
                        <a:cs typeface="Arial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endParaRPr kumimoji="1" lang="en-US" altLang="ko-KR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/>
                        <a:ea typeface="LG스마트체 Regular"/>
                        <a:cs typeface="Arial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[2</a:t>
                      </a:r>
                      <a:r>
                        <a:rPr kumimoji="1" lang="ko-KR" altLang="en-US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분기</a:t>
                      </a:r>
                      <a:r>
                        <a:rPr kumimoji="1" lang="en-US" altLang="ko-KR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] </a:t>
                      </a:r>
                      <a:r>
                        <a:rPr kumimoji="1" lang="ko-KR" altLang="en-US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대표호기 적용 및 검증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   </a:t>
                      </a: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- ESMI2 / ESOT 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대표호기 적용 및 효과 검증 </a:t>
                      </a:r>
                      <a:endParaRPr kumimoji="1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/>
                        <a:ea typeface="LG스마트체 Regular"/>
                        <a:cs typeface="Arial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endParaRPr kumimoji="1" lang="en-US" altLang="ko-KR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/>
                        <a:ea typeface="LG스마트체 Regular"/>
                        <a:cs typeface="Arial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[3</a:t>
                      </a:r>
                      <a:r>
                        <a:rPr kumimoji="1" lang="ko-KR" altLang="en-US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분기</a:t>
                      </a:r>
                      <a:r>
                        <a:rPr kumimoji="1" lang="en-US" altLang="ko-KR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] </a:t>
                      </a:r>
                      <a:r>
                        <a:rPr kumimoji="1" lang="ko-KR" altLang="en-US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수평 전개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   </a:t>
                      </a: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- ESS 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전 </a:t>
                      </a: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Site(ESMI2 / ESOT / ESMI_L / ESHD) 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수평전개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endParaRPr kumimoji="1" lang="en-US" altLang="ko-KR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/>
                        <a:ea typeface="LG스마트체 Regular"/>
                        <a:cs typeface="Arial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[4</a:t>
                      </a:r>
                      <a:r>
                        <a:rPr kumimoji="1" lang="ko-KR" altLang="en-US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분기</a:t>
                      </a:r>
                      <a:r>
                        <a:rPr kumimoji="1" lang="en-US" altLang="ko-KR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]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개선안 적용 후 결과 모니터링 및 유지관리 </a:t>
                      </a:r>
                      <a:endParaRPr kumimoji="1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/>
                        <a:ea typeface="LG스마트체 Regular"/>
                        <a:cs typeface="Arial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579272"/>
                  </a:ext>
                </a:extLst>
              </a:tr>
              <a:tr h="160920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평가 </a:t>
                      </a:r>
                      <a:r>
                        <a:rPr kumimoji="1" lang="en-US" altLang="ko-KR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Scale </a:t>
                      </a: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산출 로직</a:t>
                      </a: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평가 </a:t>
                      </a:r>
                      <a:r>
                        <a:rPr kumimoji="1" lang="en-US" altLang="ko-KR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Description</a:t>
                      </a: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endParaRPr kumimoji="1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6705988"/>
                  </a:ext>
                </a:extLst>
              </a:tr>
              <a:tr h="510033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5">
                  <a:txBody>
                    <a:bodyPr/>
                    <a:lstStyle/>
                    <a:p>
                      <a:pPr marL="90000" marR="0" lvl="0" indent="-9000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평가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Description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배점에 대한 산출 로직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5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점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Loss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율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20%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감소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+ (100%-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)*20%)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4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점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Loss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율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10%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감소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+ (100%-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)*10%)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점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Loss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율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20%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증가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– (100%-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)*20%)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점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Loss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율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20%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초과 증가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(100%-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)*20%)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5</a:t>
                      </a: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점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Q: </a:t>
                      </a:r>
                      <a:r>
                        <a:rPr lang="en-US" altLang="ko-KR" sz="1000" b="1" kern="1200" spc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95.4% </a:t>
                      </a:r>
                      <a:r>
                        <a:rPr lang="ko-KR" altLang="en-US" sz="1000" b="1" kern="1200" spc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9652368"/>
                  </a:ext>
                </a:extLst>
              </a:tr>
              <a:tr h="510033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9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4</a:t>
                      </a: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점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Q: </a:t>
                      </a: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94.9% </a:t>
                      </a:r>
                      <a:r>
                        <a:rPr kumimoji="0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8312169"/>
                  </a:ext>
                </a:extLst>
              </a:tr>
              <a:tr h="335476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9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3</a:t>
                      </a: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점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Q: </a:t>
                      </a: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94.3% </a:t>
                      </a:r>
                      <a:r>
                        <a:rPr kumimoji="0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3781511"/>
                  </a:ext>
                </a:extLst>
              </a:tr>
              <a:tr h="335476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9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2</a:t>
                      </a: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점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Q: </a:t>
                      </a: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93.2% </a:t>
                      </a:r>
                      <a:r>
                        <a:rPr kumimoji="0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8170501"/>
                  </a:ext>
                </a:extLst>
              </a:tr>
              <a:tr h="335476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9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1</a:t>
                      </a: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점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Q: </a:t>
                      </a: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93.2% </a:t>
                      </a:r>
                      <a:r>
                        <a:rPr kumimoji="0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미만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0330578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A5FE653A-513D-6FD7-9B3C-E282A11E0F48}"/>
              </a:ext>
            </a:extLst>
          </p:cNvPr>
          <p:cNvSpPr txBox="1"/>
          <p:nvPr/>
        </p:nvSpPr>
        <p:spPr>
          <a:xfrm>
            <a:off x="95895" y="174087"/>
            <a:ext cx="3853543" cy="369332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[ </a:t>
            </a:r>
            <a:r>
              <a:rPr kumimoji="1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자동보정담당 </a:t>
            </a:r>
            <a:r>
              <a:rPr kumimoji="1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/ </a:t>
            </a:r>
            <a:r>
              <a:rPr kumimoji="1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송무강 </a:t>
            </a:r>
            <a:r>
              <a:rPr kumimoji="1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/ </a:t>
            </a:r>
            <a:r>
              <a:rPr kumimoji="1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상무 </a:t>
            </a: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]</a:t>
            </a:r>
            <a:endParaRPr kumimoji="0" lang="ko-KR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837C293-39F7-DF4B-F31C-641E53CE57A2}"/>
              </a:ext>
            </a:extLst>
          </p:cNvPr>
          <p:cNvSpPr txBox="1"/>
          <p:nvPr/>
        </p:nvSpPr>
        <p:spPr>
          <a:xfrm>
            <a:off x="5124262" y="119658"/>
            <a:ext cx="4645564" cy="338554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➋ 목표 산정 근거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/ 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분기 목표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/ 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평가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Description 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근거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(2/10)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643B57F-E68E-9F79-6E85-A42CFCABC2BB}"/>
              </a:ext>
            </a:extLst>
          </p:cNvPr>
          <p:cNvSpPr txBox="1"/>
          <p:nvPr/>
        </p:nvSpPr>
        <p:spPr>
          <a:xfrm>
            <a:off x="4454656" y="106918"/>
            <a:ext cx="886091" cy="369332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[</a:t>
            </a:r>
            <a:r>
              <a: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유첨</a:t>
            </a: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]</a:t>
            </a:r>
            <a:endParaRPr kumimoji="1" lang="ko-KR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E442A847-87A9-DB3D-32E5-7F6FE03528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7333961"/>
              </p:ext>
            </p:extLst>
          </p:nvPr>
        </p:nvGraphicFramePr>
        <p:xfrm>
          <a:off x="2513215" y="1992094"/>
          <a:ext cx="2611047" cy="1210692"/>
        </p:xfrm>
        <a:graphic>
          <a:graphicData uri="http://schemas.openxmlformats.org/drawingml/2006/table">
            <a:tbl>
              <a:tblPr/>
              <a:tblGrid>
                <a:gridCol w="70895">
                  <a:extLst>
                    <a:ext uri="{9D8B030D-6E8A-4147-A177-3AD203B41FA5}">
                      <a16:colId xmlns:a16="http://schemas.microsoft.com/office/drawing/2014/main" val="434980051"/>
                    </a:ext>
                  </a:extLst>
                </a:gridCol>
                <a:gridCol w="517930">
                  <a:extLst>
                    <a:ext uri="{9D8B030D-6E8A-4147-A177-3AD203B41FA5}">
                      <a16:colId xmlns:a16="http://schemas.microsoft.com/office/drawing/2014/main" val="3988717904"/>
                    </a:ext>
                  </a:extLst>
                </a:gridCol>
                <a:gridCol w="337037">
                  <a:extLst>
                    <a:ext uri="{9D8B030D-6E8A-4147-A177-3AD203B41FA5}">
                      <a16:colId xmlns:a16="http://schemas.microsoft.com/office/drawing/2014/main" val="4045084814"/>
                    </a:ext>
                  </a:extLst>
                </a:gridCol>
                <a:gridCol w="337037">
                  <a:extLst>
                    <a:ext uri="{9D8B030D-6E8A-4147-A177-3AD203B41FA5}">
                      <a16:colId xmlns:a16="http://schemas.microsoft.com/office/drawing/2014/main" val="469027881"/>
                    </a:ext>
                  </a:extLst>
                </a:gridCol>
                <a:gridCol w="337037">
                  <a:extLst>
                    <a:ext uri="{9D8B030D-6E8A-4147-A177-3AD203B41FA5}">
                      <a16:colId xmlns:a16="http://schemas.microsoft.com/office/drawing/2014/main" val="881494102"/>
                    </a:ext>
                  </a:extLst>
                </a:gridCol>
                <a:gridCol w="337037">
                  <a:extLst>
                    <a:ext uri="{9D8B030D-6E8A-4147-A177-3AD203B41FA5}">
                      <a16:colId xmlns:a16="http://schemas.microsoft.com/office/drawing/2014/main" val="4186657930"/>
                    </a:ext>
                  </a:extLst>
                </a:gridCol>
                <a:gridCol w="337037">
                  <a:extLst>
                    <a:ext uri="{9D8B030D-6E8A-4147-A177-3AD203B41FA5}">
                      <a16:colId xmlns:a16="http://schemas.microsoft.com/office/drawing/2014/main" val="2697388443"/>
                    </a:ext>
                  </a:extLst>
                </a:gridCol>
                <a:gridCol w="337037">
                  <a:extLst>
                    <a:ext uri="{9D8B030D-6E8A-4147-A177-3AD203B41FA5}">
                      <a16:colId xmlns:a16="http://schemas.microsoft.com/office/drawing/2014/main" val="3166372132"/>
                    </a:ext>
                  </a:extLst>
                </a:gridCol>
              </a:tblGrid>
              <a:tr h="172956">
                <a:tc rowSpan="2" grid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구 분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(%)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algn="ctr" rtl="0" fontAlgn="ctr"/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25</a:t>
                      </a:r>
                      <a:r>
                        <a:rPr lang="ko-KR" altLang="en-US" sz="800" b="1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년</a:t>
                      </a:r>
                      <a:endParaRPr lang="en-US" altLang="ko-KR" sz="800" b="1" i="0" u="none" strike="noStrike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실적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26</a:t>
                      </a:r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년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26</a:t>
                      </a:r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년 목표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6906540"/>
                  </a:ext>
                </a:extLst>
              </a:tr>
              <a:tr h="172956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1Q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2Q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3Q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4Q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365867"/>
                  </a:ext>
                </a:extLst>
              </a:tr>
              <a:tr h="172956">
                <a:tc gridSpan="2"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800" b="1" i="0" u="none" strike="noStrike" kern="1200" dirty="0">
                          <a:solidFill>
                            <a:sysClr val="windowText" lastClr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북미 </a:t>
                      </a:r>
                      <a:r>
                        <a:rPr lang="en-US" altLang="ko-KR" sz="800" b="1" i="0" u="none" strike="noStrike" kern="1200" dirty="0">
                          <a:solidFill>
                            <a:sysClr val="windowText" lastClr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Site</a:t>
                      </a:r>
                      <a:endParaRPr lang="ko-KR" altLang="en-US" sz="800" b="1" i="0" u="none" strike="noStrike" kern="1200" dirty="0">
                        <a:solidFill>
                          <a:sysClr val="windowText" lastClr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ko-KR" altLang="en-US" sz="900" b="1" i="0" u="none" strike="noStrike" kern="1200" dirty="0">
                        <a:solidFill>
                          <a:sysClr val="windowText" lastClr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62.2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94.3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93.5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93.7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94.4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95.2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9199676"/>
                  </a:ext>
                </a:extLst>
              </a:tr>
              <a:tr h="172956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ko-KR" altLang="en-US" sz="800" b="1" i="0" u="none" strike="noStrike" kern="1200" dirty="0">
                        <a:solidFill>
                          <a:sysClr val="windowText" lastClr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1800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sz="800" b="1" i="0" u="none" strike="noStrike" kern="1200" dirty="0">
                          <a:solidFill>
                            <a:sysClr val="windowText" lastClr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ESMI_HL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90.5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94.8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93.9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94.6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94.9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95.6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4417106"/>
                  </a:ext>
                </a:extLst>
              </a:tr>
              <a:tr h="172956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sz="800" b="1" i="0" u="none" strike="noStrike" kern="1200" dirty="0">
                        <a:solidFill>
                          <a:sysClr val="windowText" lastClr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1800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sz="800" b="1" i="0" u="none" strike="noStrike" kern="1200" dirty="0">
                          <a:solidFill>
                            <a:sysClr val="windowText" lastClr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ESMI_LS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93.7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89.7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92.4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94.2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95.0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431383"/>
                  </a:ext>
                </a:extLst>
              </a:tr>
              <a:tr h="172956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sz="800" b="1" i="0" u="none" strike="noStrike" kern="1200" dirty="0">
                        <a:solidFill>
                          <a:sysClr val="windowText" lastClr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1800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sz="800" b="1" i="0" u="none" strike="noStrike" kern="1200" dirty="0">
                          <a:solidFill>
                            <a:sysClr val="windowText" lastClr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ESOT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79.9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94.4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92.9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93.5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94.7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95.5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0136553"/>
                  </a:ext>
                </a:extLst>
              </a:tr>
              <a:tr h="172956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sz="800" b="1" i="0" u="none" strike="noStrike" kern="1200" dirty="0">
                        <a:solidFill>
                          <a:sysClr val="windowText" lastClr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1800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sz="800" b="1" i="0" u="none" strike="noStrike" kern="1200" dirty="0">
                          <a:solidFill>
                            <a:sysClr val="windowText" lastClr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ESHD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92.9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89.7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92.7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94.0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15270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410220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4496ED2-069F-4295-40B7-977F7E3CFCBE}"/>
              </a:ext>
            </a:extLst>
          </p:cNvPr>
          <p:cNvSpPr txBox="1"/>
          <p:nvPr/>
        </p:nvSpPr>
        <p:spPr>
          <a:xfrm>
            <a:off x="95895" y="174087"/>
            <a:ext cx="3853543" cy="369332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[ </a:t>
            </a:r>
            <a:r>
              <a:rPr kumimoji="1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자동보정담당 </a:t>
            </a:r>
            <a:r>
              <a:rPr kumimoji="1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/ </a:t>
            </a:r>
            <a:r>
              <a:rPr kumimoji="1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송무강 </a:t>
            </a:r>
            <a:r>
              <a:rPr kumimoji="1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/ </a:t>
            </a:r>
            <a:r>
              <a:rPr kumimoji="1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상무 </a:t>
            </a: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]</a:t>
            </a:r>
            <a:endParaRPr kumimoji="0" lang="ko-KR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CC9D7984-7EEC-4652-82F7-025067A514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553549"/>
              </p:ext>
            </p:extLst>
          </p:nvPr>
        </p:nvGraphicFramePr>
        <p:xfrm>
          <a:off x="173693" y="620689"/>
          <a:ext cx="9535408" cy="5982749"/>
        </p:xfrm>
        <a:graphic>
          <a:graphicData uri="http://schemas.openxmlformats.org/drawingml/2006/table">
            <a:tbl>
              <a:tblPr/>
              <a:tblGrid>
                <a:gridCol w="794495">
                  <a:extLst>
                    <a:ext uri="{9D8B030D-6E8A-4147-A177-3AD203B41FA5}">
                      <a16:colId xmlns:a16="http://schemas.microsoft.com/office/drawing/2014/main" val="1583461695"/>
                    </a:ext>
                  </a:extLst>
                </a:gridCol>
                <a:gridCol w="1028563">
                  <a:extLst>
                    <a:ext uri="{9D8B030D-6E8A-4147-A177-3AD203B41FA5}">
                      <a16:colId xmlns:a16="http://schemas.microsoft.com/office/drawing/2014/main" val="4227781156"/>
                    </a:ext>
                  </a:extLst>
                </a:gridCol>
                <a:gridCol w="296350">
                  <a:extLst>
                    <a:ext uri="{9D8B030D-6E8A-4147-A177-3AD203B41FA5}">
                      <a16:colId xmlns:a16="http://schemas.microsoft.com/office/drawing/2014/main" val="2487817271"/>
                    </a:ext>
                  </a:extLst>
                </a:gridCol>
                <a:gridCol w="3708000">
                  <a:extLst>
                    <a:ext uri="{9D8B030D-6E8A-4147-A177-3AD203B41FA5}">
                      <a16:colId xmlns:a16="http://schemas.microsoft.com/office/drawing/2014/main" val="4115920672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409402569"/>
                    </a:ext>
                  </a:extLst>
                </a:gridCol>
                <a:gridCol w="3420000">
                  <a:extLst>
                    <a:ext uri="{9D8B030D-6E8A-4147-A177-3AD203B41FA5}">
                      <a16:colId xmlns:a16="http://schemas.microsoft.com/office/drawing/2014/main" val="3282466944"/>
                    </a:ext>
                  </a:extLst>
                </a:gridCol>
              </a:tblGrid>
              <a:tr h="17035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1" i="0" u="none" strike="noStrike" kern="1200" spc="-1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’26</a:t>
                      </a:r>
                      <a:r>
                        <a:rPr lang="ko-KR" altLang="en-US" sz="1000" b="1" i="0" u="none" strike="noStrike" kern="1200" spc="-1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년 </a:t>
                      </a:r>
                      <a:r>
                        <a:rPr lang="en-US" altLang="ko-KR" sz="1000" b="1" i="0" u="none" strike="noStrike" kern="1200" spc="-1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KPI</a:t>
                      </a:r>
                      <a:endParaRPr lang="ko-KR" altLang="en-US" sz="1000" b="1" i="0" u="none" strike="noStrike" kern="1200" spc="-1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i="0" u="none" strike="noStrike" kern="1200" spc="-1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상세 목표</a:t>
                      </a:r>
                      <a:endParaRPr lang="en-US" altLang="ko-KR" sz="1000" b="1" i="0" u="none" strike="noStrike" kern="1200" spc="-1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i="0" u="none" strike="noStrike" kern="1200" spc="-1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비중</a:t>
                      </a:r>
                      <a:endParaRPr lang="en-US" altLang="ko-KR" sz="1000" b="1" i="0" u="none" strike="noStrike" kern="1200" spc="-1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목표 설정 근거</a:t>
                      </a: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분기 목표 및 실행 계획</a:t>
                      </a: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8957706"/>
                  </a:ext>
                </a:extLst>
              </a:tr>
              <a:tr h="252000">
                <a:tc rowSpan="10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92075" indent="-92075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SzPct val="100000"/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1" kern="1200" spc="-1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자동보정 파라미터 실시간 최적화를 통한 </a:t>
                      </a:r>
                      <a:r>
                        <a:rPr lang="ko-KR" altLang="en-US" sz="1000" b="1" kern="1200" spc="-10" baseline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lang="ko-KR" altLang="en-US" sz="1000" b="1" kern="1200" spc="-1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개선</a:t>
                      </a: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10">
                  <a:txBody>
                    <a:bodyPr/>
                    <a:lstStyle/>
                    <a:p>
                      <a:pPr marL="72000" marR="0" lvl="0" indent="-720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유럽</a:t>
                      </a:r>
                      <a: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 AX </a:t>
                      </a: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기반 </a:t>
                      </a:r>
                      <a: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ESS</a:t>
                      </a: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종합 </a:t>
                      </a:r>
                      <a:r>
                        <a:rPr kumimoji="1" lang="ko-KR" altLang="en-US" sz="1000" b="1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</a:t>
                      </a:r>
                      <a:br>
                        <a:rPr kumimoji="1" lang="en-US" altLang="ko-KR" sz="10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Q : ESWA ESS</a:t>
                      </a:r>
                      <a:b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</a:t>
                      </a:r>
                      <a:r>
                        <a:rPr kumimoji="1" lang="ko-KR" altLang="en-US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종합 </a:t>
                      </a:r>
                      <a:r>
                        <a:rPr kumimoji="1" lang="ko-KR" altLang="en-US" sz="1000" b="0" i="0" u="none" strike="noStrike" kern="1200" cap="none" spc="-50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kumimoji="1" lang="ko-KR" altLang="en-US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94.5%</a:t>
                      </a:r>
                      <a:b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D</a:t>
                      </a:r>
                      <a:r>
                        <a:rPr kumimoji="1" lang="ko-KR" altLang="en-US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</a:t>
                      </a:r>
                      <a:r>
                        <a:rPr kumimoji="1" lang="ko-KR" altLang="en-US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’26.12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월</a:t>
                      </a:r>
                      <a:endParaRPr kumimoji="1" lang="en-US" altLang="ko-KR" sz="1000" b="0" i="0" u="none" strike="noStrike" kern="1200" cap="none" spc="-5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10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5%</a:t>
                      </a: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4">
                  <a:txBody>
                    <a:bodyPr/>
                    <a:lstStyle/>
                    <a:p>
                      <a:pPr marL="72000" marR="0" lvl="0" indent="-720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ESS WA </a:t>
                      </a:r>
                      <a:r>
                        <a:rPr kumimoji="1" lang="ko-KR" altLang="en-US" sz="10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종합 </a:t>
                      </a:r>
                      <a:r>
                        <a:rPr kumimoji="1" lang="ko-KR" altLang="en-US" sz="1000" b="1" i="0" u="none" strike="noStrike" kern="1200" cap="none" spc="-50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수율</a:t>
                      </a:r>
                      <a:r>
                        <a:rPr kumimoji="1" lang="ko-KR" altLang="en-US" sz="10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달성</a:t>
                      </a:r>
                      <a:b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- Q : ESS</a:t>
                      </a:r>
                      <a:r>
                        <a:rPr kumimoji="1" lang="ko-KR" altLang="en-US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WA </a:t>
                      </a:r>
                      <a:r>
                        <a:rPr kumimoji="1" lang="ko-KR" altLang="en-US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종합 </a:t>
                      </a:r>
                      <a:r>
                        <a:rPr kumimoji="1" lang="ko-KR" altLang="en-US" sz="1000" b="0" i="0" u="none" strike="noStrike" kern="1200" cap="none" spc="-50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수율</a:t>
                      </a:r>
                      <a:r>
                        <a:rPr kumimoji="1" lang="ko-KR" altLang="en-US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94.5% </a:t>
                      </a:r>
                      <a:r>
                        <a:rPr kumimoji="1" lang="ko-KR" altLang="en-US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달성</a:t>
                      </a:r>
                      <a:endParaRPr kumimoji="1" lang="en-US" altLang="ko-KR" sz="10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  - D : ’26</a:t>
                      </a:r>
                      <a:r>
                        <a:rPr kumimoji="1" lang="ko-KR" altLang="en-US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년 </a:t>
                      </a:r>
                      <a: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12</a:t>
                      </a:r>
                      <a:r>
                        <a:rPr kumimoji="1" lang="ko-KR" altLang="en-US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월</a:t>
                      </a:r>
                      <a:endParaRPr kumimoji="1" lang="en-US" altLang="ko-KR" sz="1000" b="0" i="0" u="none" strike="noStrike" kern="1200" cap="none" spc="-5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spc="-5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1Q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92.7%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6654165"/>
                  </a:ext>
                </a:extLst>
              </a:tr>
              <a:tr h="252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2Q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94.1% 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(2Q 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누적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93.5%)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8396706"/>
                  </a:ext>
                </a:extLst>
              </a:tr>
              <a:tr h="252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3Q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95.3% 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(3Q 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누적 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94.2%)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1808293"/>
                  </a:ext>
                </a:extLst>
              </a:tr>
              <a:tr h="252000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1" i="0" u="none" strike="noStrike" kern="1200" cap="none" spc="-1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0" marB="0" anchor="ctr" horzOverflow="overflow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ko-KR" altLang="en-US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실행</a:t>
                      </a:r>
                      <a:br>
                        <a:rPr kumimoji="1" lang="en-US" altLang="ko-KR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ko-KR" altLang="en-US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계획</a:t>
                      </a: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[1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분기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] 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개선 과제 도출 및 개발 착수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  - [NND] 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재료교체 구간 통계적 추론 기반 예측 보정</a:t>
                      </a: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개발</a:t>
                      </a:r>
                      <a:endParaRPr kumimoji="1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  - [</a:t>
                      </a:r>
                      <a:r>
                        <a:rPr kumimoji="1" lang="ko-KR" altLang="en-US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라미</a:t>
                      </a: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] U/W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부 단차 센서를 활용한 클러스터링 기반 재료교체 구간 </a:t>
                      </a:r>
                      <a:b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               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예측 모델 개발</a:t>
                      </a: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endParaRPr kumimoji="1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[2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분기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] 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기술 개발 및 적용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  </a:t>
                      </a: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- [</a:t>
                      </a:r>
                      <a:r>
                        <a:rPr kumimoji="1" lang="ko-KR" altLang="en-US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라미</a:t>
                      </a: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] </a:t>
                      </a:r>
                      <a:r>
                        <a:rPr kumimoji="1" lang="ko-KR" altLang="en-US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장변실링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ko-KR" altLang="en-US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가감속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구간 자동보정 신규 개발 및 적용</a:t>
                      </a:r>
                      <a:b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  - [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공통</a:t>
                      </a: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] EWA 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기술 및 제어부</a:t>
                      </a: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-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검사기 거리 자동 산출 성능 극대화</a:t>
                      </a:r>
                      <a:endParaRPr kumimoji="1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endParaRPr kumimoji="1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[3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분기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] 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수평 전개 및 고도화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  </a:t>
                      </a: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- WA 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전 호기</a:t>
                      </a: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수평전개</a:t>
                      </a:r>
                      <a:endParaRPr kumimoji="1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endParaRPr kumimoji="1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85725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[4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분기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] 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최적화 및 기술 운영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85725" algn="l"/>
                        </a:tabLst>
                        <a:defRPr/>
                      </a:pP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  </a:t>
                      </a: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- 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개선안 적용 후 결과 모니터링 및 유지관리</a:t>
                      </a: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 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579272"/>
                  </a:ext>
                </a:extLst>
              </a:tr>
              <a:tr h="170358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평가 </a:t>
                      </a:r>
                      <a:r>
                        <a:rPr kumimoji="1" lang="en-US" altLang="ko-KR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Scale </a:t>
                      </a: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산출 로직</a:t>
                      </a: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평가 </a:t>
                      </a:r>
                      <a:r>
                        <a:rPr kumimoji="1" lang="en-US" altLang="ko-KR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Description</a:t>
                      </a: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6705988"/>
                  </a:ext>
                </a:extLst>
              </a:tr>
              <a:tr h="468000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5">
                  <a:txBody>
                    <a:bodyPr/>
                    <a:lstStyle/>
                    <a:p>
                      <a:pPr marL="90000" marR="0" lvl="0" indent="-9000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평가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Description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배점에 대한 산출 로직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5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점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Loss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율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20%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감소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+ (100%-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)*20%)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4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점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Loss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율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10%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감소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+ (100%-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)*10%)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점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Loss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율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20%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증가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– (100%-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)*20%)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점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Loss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율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20%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초과 증가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(100%-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)*20%)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5</a:t>
                      </a: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점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Q: </a:t>
                      </a:r>
                      <a:r>
                        <a:rPr lang="en-US" altLang="ko-KR" sz="1000" b="1" kern="1200" spc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95.6% </a:t>
                      </a:r>
                      <a:r>
                        <a:rPr lang="ko-KR" altLang="en-US" sz="1000" b="1" kern="1200" spc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9652368"/>
                  </a:ext>
                </a:extLst>
              </a:tr>
              <a:tr h="468000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9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4</a:t>
                      </a: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점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Q: </a:t>
                      </a: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95.1% </a:t>
                      </a:r>
                      <a:r>
                        <a:rPr kumimoji="0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8312169"/>
                  </a:ext>
                </a:extLst>
              </a:tr>
              <a:tr h="468000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9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3</a:t>
                      </a: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점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Q: </a:t>
                      </a: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94.5% </a:t>
                      </a:r>
                      <a:r>
                        <a:rPr kumimoji="0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3781511"/>
                  </a:ext>
                </a:extLst>
              </a:tr>
              <a:tr h="468000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9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2</a:t>
                      </a: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점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Q: </a:t>
                      </a: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93.4% </a:t>
                      </a:r>
                      <a:r>
                        <a:rPr kumimoji="0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8170501"/>
                  </a:ext>
                </a:extLst>
              </a:tr>
              <a:tr h="468000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9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1</a:t>
                      </a: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점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Q: </a:t>
                      </a: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93.4% </a:t>
                      </a:r>
                      <a:r>
                        <a:rPr kumimoji="0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미만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0330578"/>
                  </a:ext>
                </a:extLst>
              </a:tr>
            </a:tbl>
          </a:graphicData>
        </a:graphic>
      </p:graphicFrame>
      <p:sp>
        <p:nvSpPr>
          <p:cNvPr id="9" name="직사각형 8">
            <a:extLst>
              <a:ext uri="{FF2B5EF4-FFF2-40B4-BE49-F238E27FC236}">
                <a16:creationId xmlns:a16="http://schemas.microsoft.com/office/drawing/2014/main" id="{2ED1047A-2CC9-6CCB-8D8B-43012415DD61}"/>
              </a:ext>
            </a:extLst>
          </p:cNvPr>
          <p:cNvSpPr/>
          <p:nvPr/>
        </p:nvSpPr>
        <p:spPr>
          <a:xfrm>
            <a:off x="4475366" y="4268066"/>
            <a:ext cx="1538883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* 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목표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(3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점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) 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대비 평가 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Scale 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산출</a:t>
            </a:r>
            <a:endParaRPr kumimoji="0" lang="ko-KR" altLang="en-US" sz="900" b="0" i="0" u="none" strike="noStrike" kern="1200" cap="none" spc="0" normalizeH="0" baseline="0" noProof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177ACE-F667-7EFF-764C-2901EF68EE90}"/>
              </a:ext>
            </a:extLst>
          </p:cNvPr>
          <p:cNvSpPr txBox="1"/>
          <p:nvPr/>
        </p:nvSpPr>
        <p:spPr>
          <a:xfrm>
            <a:off x="5124262" y="119658"/>
            <a:ext cx="4645564" cy="338554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➋ 목표 산정 근거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/ 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분기 목표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/ 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평가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Description 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근거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(3/10)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FF004C0-0390-2225-1025-391CB8CCEFB7}"/>
              </a:ext>
            </a:extLst>
          </p:cNvPr>
          <p:cNvSpPr txBox="1"/>
          <p:nvPr/>
        </p:nvSpPr>
        <p:spPr>
          <a:xfrm>
            <a:off x="4454656" y="106918"/>
            <a:ext cx="886091" cy="369332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[</a:t>
            </a:r>
            <a:r>
              <a: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유첨</a:t>
            </a: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]</a:t>
            </a:r>
            <a:endParaRPr kumimoji="1" lang="ko-KR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DC83016B-B0FD-25AC-D9E0-D76A49989C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2133497"/>
              </p:ext>
            </p:extLst>
          </p:nvPr>
        </p:nvGraphicFramePr>
        <p:xfrm>
          <a:off x="2475516" y="1375502"/>
          <a:ext cx="2648746" cy="652595"/>
        </p:xfrm>
        <a:graphic>
          <a:graphicData uri="http://schemas.openxmlformats.org/drawingml/2006/table">
            <a:tbl>
              <a:tblPr/>
              <a:tblGrid>
                <a:gridCol w="382704">
                  <a:extLst>
                    <a:ext uri="{9D8B030D-6E8A-4147-A177-3AD203B41FA5}">
                      <a16:colId xmlns:a16="http://schemas.microsoft.com/office/drawing/2014/main" val="4082950932"/>
                    </a:ext>
                  </a:extLst>
                </a:gridCol>
                <a:gridCol w="135890">
                  <a:extLst>
                    <a:ext uri="{9D8B030D-6E8A-4147-A177-3AD203B41FA5}">
                      <a16:colId xmlns:a16="http://schemas.microsoft.com/office/drawing/2014/main" val="1096110141"/>
                    </a:ext>
                  </a:extLst>
                </a:gridCol>
                <a:gridCol w="423592">
                  <a:extLst>
                    <a:ext uri="{9D8B030D-6E8A-4147-A177-3AD203B41FA5}">
                      <a16:colId xmlns:a16="http://schemas.microsoft.com/office/drawing/2014/main" val="2036386905"/>
                    </a:ext>
                  </a:extLst>
                </a:gridCol>
                <a:gridCol w="303078">
                  <a:extLst>
                    <a:ext uri="{9D8B030D-6E8A-4147-A177-3AD203B41FA5}">
                      <a16:colId xmlns:a16="http://schemas.microsoft.com/office/drawing/2014/main" val="339126080"/>
                    </a:ext>
                  </a:extLst>
                </a:gridCol>
                <a:gridCol w="303078">
                  <a:extLst>
                    <a:ext uri="{9D8B030D-6E8A-4147-A177-3AD203B41FA5}">
                      <a16:colId xmlns:a16="http://schemas.microsoft.com/office/drawing/2014/main" val="2290576697"/>
                    </a:ext>
                  </a:extLst>
                </a:gridCol>
                <a:gridCol w="275101">
                  <a:extLst>
                    <a:ext uri="{9D8B030D-6E8A-4147-A177-3AD203B41FA5}">
                      <a16:colId xmlns:a16="http://schemas.microsoft.com/office/drawing/2014/main" val="3142946353"/>
                    </a:ext>
                  </a:extLst>
                </a:gridCol>
                <a:gridCol w="275101">
                  <a:extLst>
                    <a:ext uri="{9D8B030D-6E8A-4147-A177-3AD203B41FA5}">
                      <a16:colId xmlns:a16="http://schemas.microsoft.com/office/drawing/2014/main" val="1269118703"/>
                    </a:ext>
                  </a:extLst>
                </a:gridCol>
                <a:gridCol w="275101">
                  <a:extLst>
                    <a:ext uri="{9D8B030D-6E8A-4147-A177-3AD203B41FA5}">
                      <a16:colId xmlns:a16="http://schemas.microsoft.com/office/drawing/2014/main" val="3491950287"/>
                    </a:ext>
                  </a:extLst>
                </a:gridCol>
                <a:gridCol w="275101">
                  <a:extLst>
                    <a:ext uri="{9D8B030D-6E8A-4147-A177-3AD203B41FA5}">
                      <a16:colId xmlns:a16="http://schemas.microsoft.com/office/drawing/2014/main" val="49544202"/>
                    </a:ext>
                  </a:extLst>
                </a:gridCol>
              </a:tblGrid>
              <a:tr h="93342">
                <a:tc rowSpan="2"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Site</a:t>
                      </a:r>
                      <a:endParaRPr lang="ko-KR" alt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8599" marR="8599" marT="8599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rowSpan="2" grid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구분</a:t>
                      </a: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(%)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25</a:t>
                      </a:r>
                      <a:r>
                        <a:rPr lang="ko-KR" sz="800" b="0" i="0" u="none" strike="noStrike" dirty="0">
                          <a:solidFill>
                            <a:srgbClr val="0066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년</a:t>
                      </a:r>
                      <a:endParaRPr lang="en-US" altLang="ko-KR" sz="800" b="0" i="0" u="none" strike="noStrike" dirty="0">
                        <a:solidFill>
                          <a:srgbClr val="0066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algn="ctr" rtl="0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66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실적</a:t>
                      </a:r>
                      <a:endParaRPr lang="ko-KR" sz="800" b="0" i="0" u="none" strike="noStrike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26</a:t>
                      </a: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년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26</a:t>
                      </a: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년</a:t>
                      </a: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목표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4789414"/>
                  </a:ext>
                </a:extLst>
              </a:tr>
              <a:tr h="9334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ko-KR" sz="800" b="0" i="0" u="none" strike="noStrike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1Q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2Q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3Q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4Q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3299062"/>
                  </a:ext>
                </a:extLst>
              </a:tr>
              <a:tr h="93342"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ESWA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8599" marR="8599" marT="8599" marB="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종합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  <a:cs typeface="+mn-cs"/>
                        </a:rPr>
                        <a:t>72.5</a:t>
                      </a:r>
                      <a:r>
                        <a:rPr lang="ko-KR" sz="8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94.5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92.7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94.1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95.3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95.3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4930957"/>
                  </a:ext>
                </a:extLst>
              </a:tr>
              <a:tr h="9334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  <a:p>
                      <a:pPr algn="l" rtl="0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전극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  <a:r>
                        <a:rPr lang="en-US" altLang="ko-KR" sz="8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96.9</a:t>
                      </a:r>
                      <a:endParaRPr lang="ko-KR" sz="800" b="0" i="0" u="none" strike="noStrike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98.3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98.0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98.3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98.4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98.4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00336"/>
                  </a:ext>
                </a:extLst>
              </a:tr>
              <a:tr h="9334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셀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  <a:r>
                        <a:rPr lang="en-US" altLang="ko-KR" sz="8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74.8</a:t>
                      </a:r>
                      <a:endParaRPr lang="ko-KR" sz="800" b="0" i="0" u="none" strike="noStrike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6.2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94.6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95.7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96.8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96.9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31253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446351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4626F2-AE2B-C4C2-A44A-5EC5790826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2900E89-F6C0-040A-CD8F-CA0D7EE47435}"/>
              </a:ext>
            </a:extLst>
          </p:cNvPr>
          <p:cNvSpPr txBox="1"/>
          <p:nvPr/>
        </p:nvSpPr>
        <p:spPr>
          <a:xfrm>
            <a:off x="95895" y="174087"/>
            <a:ext cx="3853543" cy="369332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[ </a:t>
            </a:r>
            <a:r>
              <a:rPr kumimoji="1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자동보정담당 </a:t>
            </a:r>
            <a:r>
              <a:rPr kumimoji="1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/ </a:t>
            </a:r>
            <a:r>
              <a:rPr kumimoji="1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송무강 </a:t>
            </a:r>
            <a:r>
              <a:rPr kumimoji="1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/ </a:t>
            </a:r>
            <a:r>
              <a:rPr kumimoji="1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상무 </a:t>
            </a: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]</a:t>
            </a:r>
            <a:endParaRPr kumimoji="0" lang="ko-KR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896FFB68-CA1D-FE49-BF1F-7E08978437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0183731"/>
              </p:ext>
            </p:extLst>
          </p:nvPr>
        </p:nvGraphicFramePr>
        <p:xfrm>
          <a:off x="173693" y="620689"/>
          <a:ext cx="9535408" cy="5982749"/>
        </p:xfrm>
        <a:graphic>
          <a:graphicData uri="http://schemas.openxmlformats.org/drawingml/2006/table">
            <a:tbl>
              <a:tblPr/>
              <a:tblGrid>
                <a:gridCol w="794495">
                  <a:extLst>
                    <a:ext uri="{9D8B030D-6E8A-4147-A177-3AD203B41FA5}">
                      <a16:colId xmlns:a16="http://schemas.microsoft.com/office/drawing/2014/main" val="1583461695"/>
                    </a:ext>
                  </a:extLst>
                </a:gridCol>
                <a:gridCol w="1028563">
                  <a:extLst>
                    <a:ext uri="{9D8B030D-6E8A-4147-A177-3AD203B41FA5}">
                      <a16:colId xmlns:a16="http://schemas.microsoft.com/office/drawing/2014/main" val="4227781156"/>
                    </a:ext>
                  </a:extLst>
                </a:gridCol>
                <a:gridCol w="296350">
                  <a:extLst>
                    <a:ext uri="{9D8B030D-6E8A-4147-A177-3AD203B41FA5}">
                      <a16:colId xmlns:a16="http://schemas.microsoft.com/office/drawing/2014/main" val="2487817271"/>
                    </a:ext>
                  </a:extLst>
                </a:gridCol>
                <a:gridCol w="3708000">
                  <a:extLst>
                    <a:ext uri="{9D8B030D-6E8A-4147-A177-3AD203B41FA5}">
                      <a16:colId xmlns:a16="http://schemas.microsoft.com/office/drawing/2014/main" val="4115920672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409402569"/>
                    </a:ext>
                  </a:extLst>
                </a:gridCol>
                <a:gridCol w="3420000">
                  <a:extLst>
                    <a:ext uri="{9D8B030D-6E8A-4147-A177-3AD203B41FA5}">
                      <a16:colId xmlns:a16="http://schemas.microsoft.com/office/drawing/2014/main" val="3282466944"/>
                    </a:ext>
                  </a:extLst>
                </a:gridCol>
              </a:tblGrid>
              <a:tr h="17035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1" i="0" u="none" strike="noStrike" kern="1200" spc="-1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’26</a:t>
                      </a:r>
                      <a:r>
                        <a:rPr lang="ko-KR" altLang="en-US" sz="1000" b="1" i="0" u="none" strike="noStrike" kern="1200" spc="-1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년 </a:t>
                      </a:r>
                      <a:r>
                        <a:rPr lang="en-US" altLang="ko-KR" sz="1000" b="1" i="0" u="none" strike="noStrike" kern="1200" spc="-1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KPI</a:t>
                      </a:r>
                      <a:endParaRPr lang="ko-KR" altLang="en-US" sz="1000" b="1" i="0" u="none" strike="noStrike" kern="1200" spc="-1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i="0" u="none" strike="noStrike" kern="1200" spc="-1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상세 목표</a:t>
                      </a:r>
                      <a:endParaRPr lang="en-US" altLang="ko-KR" sz="1000" b="1" i="0" u="none" strike="noStrike" kern="1200" spc="-1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i="0" u="none" strike="noStrike" kern="1200" spc="-1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비중</a:t>
                      </a:r>
                      <a:endParaRPr lang="en-US" altLang="ko-KR" sz="1000" b="1" i="0" u="none" strike="noStrike" kern="1200" spc="-1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목표 설정 근거</a:t>
                      </a: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분기 목표 및 실행 계획</a:t>
                      </a: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8957706"/>
                  </a:ext>
                </a:extLst>
              </a:tr>
              <a:tr h="252000">
                <a:tc rowSpan="10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92075" indent="-92075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SzPct val="100000"/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1" kern="1200" spc="-1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자동보정 파라미터 실시간 최적화를 통한 </a:t>
                      </a:r>
                      <a:r>
                        <a:rPr lang="ko-KR" altLang="en-US" sz="1000" b="1" kern="1200" spc="-10" baseline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lang="ko-KR" altLang="en-US" sz="1000" b="1" kern="1200" spc="-1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개선</a:t>
                      </a: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10">
                  <a:txBody>
                    <a:bodyPr/>
                    <a:lstStyle/>
                    <a:p>
                      <a:pPr marL="71755" marR="0" lvl="0" indent="-7175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AX</a:t>
                      </a: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기반 자동차 셀 </a:t>
                      </a:r>
                      <a:r>
                        <a:rPr kumimoji="1" lang="ko-KR" altLang="en-US" sz="1000" b="1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수율</a:t>
                      </a: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개선</a:t>
                      </a:r>
                      <a:b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- Q : ESWA, NA, NB, HM, MI, HG </a:t>
                      </a:r>
                      <a:r>
                        <a:rPr kumimoji="1" lang="ko-KR" altLang="en-US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자동차 셀 </a:t>
                      </a:r>
                      <a:r>
                        <a:rPr kumimoji="1" lang="ko-KR" altLang="en-US" sz="900" b="0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수율</a:t>
                      </a:r>
                      <a:r>
                        <a:rPr kumimoji="1" lang="ko-KR" altLang="en-US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97.8%</a:t>
                      </a:r>
                      <a:b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- D : ’26</a:t>
                      </a:r>
                      <a:r>
                        <a:rPr kumimoji="1" lang="ko-KR" altLang="en-US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년 </a:t>
                      </a: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12</a:t>
                      </a:r>
                      <a:r>
                        <a:rPr kumimoji="1" lang="ko-KR" altLang="en-US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월</a:t>
                      </a:r>
                      <a:endParaRPr kumimoji="1" lang="en-US" altLang="ko-KR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/>
                        <a:ea typeface="LG스마트체 Regular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10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10%</a:t>
                      </a: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4">
                  <a:txBody>
                    <a:bodyPr/>
                    <a:lstStyle/>
                    <a:p>
                      <a:pPr marL="72000" marR="0" lvl="0" indent="-720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자동차 </a:t>
                      </a:r>
                      <a: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WA, NA,</a:t>
                      </a: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NB,</a:t>
                      </a: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HM,</a:t>
                      </a: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MI,</a:t>
                      </a: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HG</a:t>
                      </a: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셀 </a:t>
                      </a:r>
                      <a:r>
                        <a:rPr kumimoji="1" lang="ko-KR" altLang="en-US" sz="1000" b="1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수율</a:t>
                      </a: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달성</a:t>
                      </a:r>
                      <a:b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- Q : 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자동차 셀 </a:t>
                      </a:r>
                      <a:r>
                        <a:rPr kumimoji="1" lang="ko-KR" altLang="en-US" sz="1000" b="0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수율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97.8% 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달성</a:t>
                      </a:r>
                      <a:endParaRPr kumimoji="1" lang="en-US" altLang="ko-KR" sz="10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  - D : ’26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년 </a:t>
                      </a: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12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월</a:t>
                      </a:r>
                      <a:endParaRPr kumimoji="1" lang="en-US" altLang="ko-KR" sz="10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1Q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97.7%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6654165"/>
                  </a:ext>
                </a:extLst>
              </a:tr>
              <a:tr h="252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2Q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97.7% 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(2Q 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누적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97.7%)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8396706"/>
                  </a:ext>
                </a:extLst>
              </a:tr>
              <a:tr h="252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3Q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97.9% 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(3Q 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누적 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97.8%)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1808293"/>
                  </a:ext>
                </a:extLst>
              </a:tr>
              <a:tr h="252000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1" i="0" u="none" strike="noStrike" kern="1200" cap="none" spc="-1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0" marB="0" anchor="ctr" horzOverflow="overflow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ko-KR" altLang="en-US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실행</a:t>
                      </a:r>
                      <a:br>
                        <a:rPr kumimoji="1" lang="en-US" altLang="ko-KR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ko-KR" altLang="en-US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계획</a:t>
                      </a: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[1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분기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] 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개선 과제 도출 및 개발 착수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  - [NND] 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재료교체 구간 통계적 추론 기반 예측 보정</a:t>
                      </a: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개발</a:t>
                      </a:r>
                      <a:endParaRPr kumimoji="1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  - [</a:t>
                      </a:r>
                      <a:r>
                        <a:rPr kumimoji="1" lang="ko-KR" altLang="en-US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라미</a:t>
                      </a: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] U/W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부 단차 센서를 활용한 클러스터링 기반 재료교체 구간 </a:t>
                      </a:r>
                      <a:b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               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예측 모델 개발</a:t>
                      </a: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endParaRPr kumimoji="1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[2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분기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] 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기술 개발 및 적용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  </a:t>
                      </a: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- [</a:t>
                      </a:r>
                      <a:r>
                        <a:rPr kumimoji="1" lang="ko-KR" altLang="en-US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라미</a:t>
                      </a: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] </a:t>
                      </a:r>
                      <a:r>
                        <a:rPr kumimoji="1" lang="ko-KR" altLang="en-US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장변실링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ko-KR" altLang="en-US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가감속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구간 자동보정 신규 개발 및 적용</a:t>
                      </a:r>
                      <a:b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  - [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공통</a:t>
                      </a: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] EWA 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기술 및 제어부</a:t>
                      </a: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-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검사기 거리 자동 산출 성능 극대화</a:t>
                      </a:r>
                      <a:endParaRPr kumimoji="1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endParaRPr kumimoji="1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[3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분기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] 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수평 전개 및 고도화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  </a:t>
                      </a: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- WA 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전 호기</a:t>
                      </a: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수평전개</a:t>
                      </a:r>
                      <a:endParaRPr kumimoji="1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endParaRPr kumimoji="1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85725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[4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분기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] 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최적화 및 기술 운영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85725" algn="l"/>
                        </a:tabLst>
                        <a:defRPr/>
                      </a:pP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  </a:t>
                      </a: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- 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개선안 적용 후 결과 모니터링 및 유지관리</a:t>
                      </a: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 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579272"/>
                  </a:ext>
                </a:extLst>
              </a:tr>
              <a:tr h="170358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평가 </a:t>
                      </a:r>
                      <a:r>
                        <a:rPr kumimoji="1" lang="en-US" altLang="ko-KR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Scale </a:t>
                      </a: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산출 로직</a:t>
                      </a: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평가 </a:t>
                      </a:r>
                      <a:r>
                        <a:rPr kumimoji="1" lang="en-US" altLang="ko-KR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Description</a:t>
                      </a: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endParaRPr kumimoji="1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6705988"/>
                  </a:ext>
                </a:extLst>
              </a:tr>
              <a:tr h="468000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5">
                  <a:txBody>
                    <a:bodyPr/>
                    <a:lstStyle/>
                    <a:p>
                      <a:pPr marL="90000" marR="0" lvl="0" indent="-9000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평가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Description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배점에 대한 산출 로직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5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점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Loss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율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20%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감소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+ (100%-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)*20%)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4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점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Loss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율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10%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감소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+ (100%-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)*10%)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점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Loss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율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20%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증가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– (100%-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)*20%)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점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Loss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율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20%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초과 증가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(100%-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</a:t>
                      </a:r>
                      <a: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)*20%)</a:t>
                      </a: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5</a:t>
                      </a: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점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Q :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98.3%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</a:t>
                      </a: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9652368"/>
                  </a:ext>
                </a:extLst>
              </a:tr>
              <a:tr h="468000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9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4</a:t>
                      </a: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점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Q :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98.1%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</a:t>
                      </a: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8312169"/>
                  </a:ext>
                </a:extLst>
              </a:tr>
              <a:tr h="468000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9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3</a:t>
                      </a: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점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Q :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97.8%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 </a:t>
                      </a: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3781511"/>
                  </a:ext>
                </a:extLst>
              </a:tr>
              <a:tr h="468000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9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2</a:t>
                      </a: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점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Q :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97.4%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</a:t>
                      </a: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8170501"/>
                  </a:ext>
                </a:extLst>
              </a:tr>
              <a:tr h="468000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9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1</a:t>
                      </a: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점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Q :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97.4%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미만</a:t>
                      </a: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0330578"/>
                  </a:ext>
                </a:extLst>
              </a:tr>
            </a:tbl>
          </a:graphicData>
        </a:graphic>
      </p:graphicFrame>
      <p:sp>
        <p:nvSpPr>
          <p:cNvPr id="9" name="직사각형 8">
            <a:extLst>
              <a:ext uri="{FF2B5EF4-FFF2-40B4-BE49-F238E27FC236}">
                <a16:creationId xmlns:a16="http://schemas.microsoft.com/office/drawing/2014/main" id="{653D7A80-3839-F435-05CC-49D149E59BE2}"/>
              </a:ext>
            </a:extLst>
          </p:cNvPr>
          <p:cNvSpPr/>
          <p:nvPr/>
        </p:nvSpPr>
        <p:spPr>
          <a:xfrm>
            <a:off x="4475366" y="4268066"/>
            <a:ext cx="1538883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* 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목표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(3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점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) 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대비 평가 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Scale 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산출</a:t>
            </a:r>
            <a:endParaRPr kumimoji="0" lang="ko-KR" altLang="en-US" sz="900" b="0" i="0" u="none" strike="noStrike" kern="1200" cap="none" spc="0" normalizeH="0" baseline="0" noProof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2B89B9B-6A10-4A9B-E107-38A1D76A9DF6}"/>
              </a:ext>
            </a:extLst>
          </p:cNvPr>
          <p:cNvSpPr txBox="1"/>
          <p:nvPr/>
        </p:nvSpPr>
        <p:spPr>
          <a:xfrm>
            <a:off x="5124262" y="119658"/>
            <a:ext cx="4645564" cy="338554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➋ 목표 산정 근거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/ 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분기 목표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/ 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평가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Description 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근거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(4/10)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6119B0F-D7D0-C064-C5BF-6266EF8FA48B}"/>
              </a:ext>
            </a:extLst>
          </p:cNvPr>
          <p:cNvSpPr txBox="1"/>
          <p:nvPr/>
        </p:nvSpPr>
        <p:spPr>
          <a:xfrm>
            <a:off x="4454656" y="106918"/>
            <a:ext cx="886091" cy="369332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[</a:t>
            </a:r>
            <a:r>
              <a: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유첨</a:t>
            </a: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]</a:t>
            </a:r>
            <a:endParaRPr kumimoji="1" lang="ko-KR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1144A04B-AFA1-6BD5-4D2F-690E16B645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9807450"/>
              </p:ext>
            </p:extLst>
          </p:nvPr>
        </p:nvGraphicFramePr>
        <p:xfrm>
          <a:off x="2559559" y="1320954"/>
          <a:ext cx="2779757" cy="2727617"/>
        </p:xfrm>
        <a:graphic>
          <a:graphicData uri="http://schemas.openxmlformats.org/drawingml/2006/table">
            <a:tbl>
              <a:tblPr/>
              <a:tblGrid>
                <a:gridCol w="401633">
                  <a:extLst>
                    <a:ext uri="{9D8B030D-6E8A-4147-A177-3AD203B41FA5}">
                      <a16:colId xmlns:a16="http://schemas.microsoft.com/office/drawing/2014/main" val="4082950932"/>
                    </a:ext>
                  </a:extLst>
                </a:gridCol>
                <a:gridCol w="142611">
                  <a:extLst>
                    <a:ext uri="{9D8B030D-6E8A-4147-A177-3AD203B41FA5}">
                      <a16:colId xmlns:a16="http://schemas.microsoft.com/office/drawing/2014/main" val="1096110141"/>
                    </a:ext>
                  </a:extLst>
                </a:gridCol>
                <a:gridCol w="397511">
                  <a:extLst>
                    <a:ext uri="{9D8B030D-6E8A-4147-A177-3AD203B41FA5}">
                      <a16:colId xmlns:a16="http://schemas.microsoft.com/office/drawing/2014/main" val="2036386905"/>
                    </a:ext>
                  </a:extLst>
                </a:gridCol>
                <a:gridCol w="365101">
                  <a:extLst>
                    <a:ext uri="{9D8B030D-6E8A-4147-A177-3AD203B41FA5}">
                      <a16:colId xmlns:a16="http://schemas.microsoft.com/office/drawing/2014/main" val="339126080"/>
                    </a:ext>
                  </a:extLst>
                </a:gridCol>
                <a:gridCol w="318069">
                  <a:extLst>
                    <a:ext uri="{9D8B030D-6E8A-4147-A177-3AD203B41FA5}">
                      <a16:colId xmlns:a16="http://schemas.microsoft.com/office/drawing/2014/main" val="2290576697"/>
                    </a:ext>
                  </a:extLst>
                </a:gridCol>
                <a:gridCol w="288708">
                  <a:extLst>
                    <a:ext uri="{9D8B030D-6E8A-4147-A177-3AD203B41FA5}">
                      <a16:colId xmlns:a16="http://schemas.microsoft.com/office/drawing/2014/main" val="3142946353"/>
                    </a:ext>
                  </a:extLst>
                </a:gridCol>
                <a:gridCol w="288708">
                  <a:extLst>
                    <a:ext uri="{9D8B030D-6E8A-4147-A177-3AD203B41FA5}">
                      <a16:colId xmlns:a16="http://schemas.microsoft.com/office/drawing/2014/main" val="1269118703"/>
                    </a:ext>
                  </a:extLst>
                </a:gridCol>
                <a:gridCol w="288708">
                  <a:extLst>
                    <a:ext uri="{9D8B030D-6E8A-4147-A177-3AD203B41FA5}">
                      <a16:colId xmlns:a16="http://schemas.microsoft.com/office/drawing/2014/main" val="3491950287"/>
                    </a:ext>
                  </a:extLst>
                </a:gridCol>
                <a:gridCol w="288708">
                  <a:extLst>
                    <a:ext uri="{9D8B030D-6E8A-4147-A177-3AD203B41FA5}">
                      <a16:colId xmlns:a16="http://schemas.microsoft.com/office/drawing/2014/main" val="49544202"/>
                    </a:ext>
                  </a:extLst>
                </a:gridCol>
              </a:tblGrid>
              <a:tr h="93882">
                <a:tc rowSpan="2"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8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Site</a:t>
                      </a:r>
                      <a:endParaRPr lang="ko-KR" alt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8599" marR="8599" marT="8599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rowSpan="2" grid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구분(%)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25년</a:t>
                      </a:r>
                      <a:endParaRPr lang="en-US" altLang="ko-KR" sz="800" b="0" i="0" u="none" strike="noStrike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algn="ctr" rtl="0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실적</a:t>
                      </a:r>
                      <a:endParaRPr lang="ko-KR" sz="800" b="0" i="0" u="none" strike="noStrike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26년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26년 목표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4789414"/>
                  </a:ext>
                </a:extLst>
              </a:tr>
              <a:tr h="9388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ko-KR" sz="800" b="0" i="0" u="none" strike="noStrike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1Q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2Q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3Q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4Q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3299062"/>
                  </a:ext>
                </a:extLst>
              </a:tr>
              <a:tr h="93882"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Total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8599" marR="8599" marT="8599" marB="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셀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>
                        <a:buNone/>
                      </a:pPr>
                      <a:r>
                        <a:rPr lang="ko-KR" altLang="en-US" sz="8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　</a:t>
                      </a:r>
                      <a:r>
                        <a:rPr lang="en-US" altLang="ko-KR" sz="8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97.6</a:t>
                      </a:r>
                      <a:endParaRPr lang="ko-KR" altLang="en-US" sz="800" b="0" i="0" u="none" strike="noStrike" kern="1200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97.8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97.7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97.8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97.9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98.0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4930957"/>
                  </a:ext>
                </a:extLst>
              </a:tr>
              <a:tr h="9388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  <a:p>
                      <a:pPr algn="l" rtl="0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조립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>
                        <a:buNone/>
                      </a:pPr>
                      <a:r>
                        <a:rPr lang="en-US" altLang="ko-KR" sz="8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98.4</a:t>
                      </a:r>
                      <a:r>
                        <a:rPr lang="ko-KR" altLang="en-US" sz="8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　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98.5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98.4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98.5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98.5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98.6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00336"/>
                  </a:ext>
                </a:extLst>
              </a:tr>
              <a:tr h="9388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활성화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>
                        <a:buNone/>
                      </a:pPr>
                      <a:r>
                        <a:rPr lang="ko-KR" altLang="en-US" sz="8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　</a:t>
                      </a:r>
                      <a:r>
                        <a:rPr lang="en-US" altLang="ko-KR" sz="8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99.2</a:t>
                      </a:r>
                      <a:endParaRPr lang="ko-KR" altLang="en-US" sz="800" b="0" i="0" u="none" strike="noStrike" kern="1200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99.3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99.3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99.3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99.3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99.4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3125375"/>
                  </a:ext>
                </a:extLst>
              </a:tr>
              <a:tr h="82920"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ES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WA</a:t>
                      </a:r>
                    </a:p>
                  </a:txBody>
                  <a:tcPr marL="8599" marR="8599" marT="8599" marB="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셀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>
                        <a:buNone/>
                      </a:pPr>
                      <a:r>
                        <a:rPr lang="en-US" altLang="ko-KR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96.0</a:t>
                      </a:r>
                      <a:r>
                        <a:rPr lang="ko-KR" altLang="en-US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　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97.2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96.9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97.2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97.3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97.2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8978650"/>
                  </a:ext>
                </a:extLst>
              </a:tr>
              <a:tr h="829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  <a:p>
                      <a:pPr algn="l" rtl="0" fontAlgn="ctr">
                        <a:buNone/>
                      </a:pPr>
                      <a:r>
                        <a:rPr lang="ko-KR" altLang="en-US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조립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>
                        <a:buNone/>
                      </a:pPr>
                      <a:r>
                        <a:rPr lang="ko-KR" altLang="en-US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　</a:t>
                      </a:r>
                      <a:r>
                        <a:rPr lang="en-US" altLang="ko-KR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97.5</a:t>
                      </a:r>
                      <a:endParaRPr lang="ko-KR" altLang="en-US" sz="700" b="0" i="0" u="none" strike="noStrike" kern="1200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98.1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97.9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98.1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98.1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98.1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4648986"/>
                  </a:ext>
                </a:extLst>
              </a:tr>
              <a:tr h="829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활성화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>
                        <a:buNone/>
                      </a:pPr>
                      <a:r>
                        <a:rPr lang="ko-KR" altLang="en-US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　</a:t>
                      </a:r>
                      <a:r>
                        <a:rPr lang="en-US" altLang="ko-KR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98.5</a:t>
                      </a:r>
                      <a:endParaRPr lang="ko-KR" altLang="en-US" sz="700" b="0" i="0" u="none" strike="noStrike" kern="1200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99.1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99.0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99.1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99.1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99.1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4301224"/>
                  </a:ext>
                </a:extLst>
              </a:tr>
              <a:tr h="82920"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ES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NA</a:t>
                      </a:r>
                    </a:p>
                  </a:txBody>
                  <a:tcPr marL="8599" marR="8599" marT="8599" marB="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셀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>
                        <a:buNone/>
                      </a:pPr>
                      <a:r>
                        <a:rPr lang="ko-KR" altLang="en-US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　</a:t>
                      </a:r>
                      <a:r>
                        <a:rPr lang="en-US" altLang="ko-KR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98.9</a:t>
                      </a:r>
                      <a:endParaRPr lang="ko-KR" altLang="en-US" sz="700" b="0" i="0" u="none" strike="noStrike" kern="1200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99.0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98.8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99.0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98.9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99.2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5408370"/>
                  </a:ext>
                </a:extLst>
              </a:tr>
              <a:tr h="829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  <a:p>
                      <a:pPr algn="l" rtl="0" fontAlgn="ctr">
                        <a:buNone/>
                      </a:pPr>
                      <a:r>
                        <a:rPr lang="ko-KR" altLang="en-US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조립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>
                        <a:buNone/>
                      </a:pPr>
                      <a:r>
                        <a:rPr lang="ko-KR" altLang="en-US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　</a:t>
                      </a:r>
                      <a:r>
                        <a:rPr lang="en-US" altLang="ko-KR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99.1</a:t>
                      </a:r>
                      <a:endParaRPr lang="ko-KR" altLang="en-US" sz="700" b="0" i="0" u="none" strike="noStrike" kern="1200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99.1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99.0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99.2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99.1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99.3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5062387"/>
                  </a:ext>
                </a:extLst>
              </a:tr>
              <a:tr h="829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활성화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>
                        <a:buNone/>
                      </a:pPr>
                      <a:r>
                        <a:rPr lang="ko-KR" altLang="en-US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　</a:t>
                      </a:r>
                      <a:r>
                        <a:rPr lang="en-US" altLang="ko-KR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99.8</a:t>
                      </a:r>
                      <a:endParaRPr lang="ko-KR" altLang="en-US" sz="700" b="0" i="0" u="none" strike="noStrike" kern="1200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99.7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99.7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99.8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99.8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99.9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8422582"/>
                  </a:ext>
                </a:extLst>
              </a:tr>
              <a:tr h="82920"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ES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NB</a:t>
                      </a:r>
                    </a:p>
                  </a:txBody>
                  <a:tcPr marL="8599" marR="8599" marT="8599" marB="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셀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>
                        <a:buNone/>
                      </a:pPr>
                      <a:r>
                        <a:rPr lang="ko-KR" altLang="en-US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　</a:t>
                      </a:r>
                      <a:r>
                        <a:rPr lang="en-US" altLang="ko-KR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98.9</a:t>
                      </a:r>
                      <a:endParaRPr lang="ko-KR" altLang="en-US" sz="700" b="0" i="0" u="none" strike="noStrike" kern="1200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99.0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98.9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99.0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99.0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99.2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7019001"/>
                  </a:ext>
                </a:extLst>
              </a:tr>
              <a:tr h="829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  <a:p>
                      <a:pPr algn="l" rtl="0" fontAlgn="ctr">
                        <a:buNone/>
                      </a:pPr>
                      <a:r>
                        <a:rPr lang="ko-KR" altLang="en-US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조립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>
                        <a:buNone/>
                      </a:pPr>
                      <a:r>
                        <a:rPr lang="ko-KR" altLang="en-US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　</a:t>
                      </a:r>
                      <a:r>
                        <a:rPr lang="en-US" altLang="ko-KR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99.2</a:t>
                      </a:r>
                      <a:endParaRPr lang="ko-KR" altLang="en-US" sz="700" b="0" i="0" u="none" strike="noStrike" kern="1200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99.3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99.3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99.3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99.3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99.4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253267"/>
                  </a:ext>
                </a:extLst>
              </a:tr>
              <a:tr h="829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활성화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>
                        <a:buNone/>
                      </a:pPr>
                      <a:r>
                        <a:rPr lang="ko-KR" altLang="en-US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　</a:t>
                      </a:r>
                      <a:r>
                        <a:rPr lang="en-US" altLang="ko-KR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99.7</a:t>
                      </a:r>
                      <a:endParaRPr lang="ko-KR" altLang="en-US" sz="700" b="0" i="0" u="none" strike="noStrike" kern="1200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99.7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99.7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99.7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99.7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99.8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5304851"/>
                  </a:ext>
                </a:extLst>
              </a:tr>
              <a:tr h="82920"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ES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HM</a:t>
                      </a:r>
                    </a:p>
                  </a:txBody>
                  <a:tcPr marL="8599" marR="8599" marT="8599" marB="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셀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>
                        <a:buNone/>
                      </a:pPr>
                      <a:r>
                        <a:rPr lang="ko-KR" altLang="en-US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　</a:t>
                      </a:r>
                      <a:r>
                        <a:rPr lang="en-US" altLang="ko-KR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98.7</a:t>
                      </a:r>
                      <a:endParaRPr lang="ko-KR" altLang="en-US" sz="700" b="0" i="0" u="none" strike="noStrike" kern="1200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98.7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98.7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98.7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98.7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98.8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9726832"/>
                  </a:ext>
                </a:extLst>
              </a:tr>
              <a:tr h="829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  <a:p>
                      <a:pPr algn="l" rtl="0" fontAlgn="ctr">
                        <a:buNone/>
                      </a:pPr>
                      <a:r>
                        <a:rPr lang="ko-KR" altLang="en-US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조립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>
                        <a:buNone/>
                      </a:pPr>
                      <a:r>
                        <a:rPr lang="ko-KR" altLang="en-US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　</a:t>
                      </a:r>
                      <a:r>
                        <a:rPr lang="en-US" altLang="ko-KR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99.2</a:t>
                      </a:r>
                      <a:endParaRPr lang="ko-KR" altLang="en-US" sz="700" b="0" i="0" u="none" strike="noStrike" kern="1200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99.3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99.3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99.3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99.3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99.3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8676053"/>
                  </a:ext>
                </a:extLst>
              </a:tr>
              <a:tr h="829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활성화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>
                        <a:buNone/>
                      </a:pPr>
                      <a:r>
                        <a:rPr lang="ko-KR" altLang="en-US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　</a:t>
                      </a:r>
                      <a:r>
                        <a:rPr lang="en-US" altLang="ko-KR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99.4</a:t>
                      </a:r>
                      <a:endParaRPr lang="ko-KR" altLang="en-US" sz="700" b="0" i="0" u="none" strike="noStrike" kern="1200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99.4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99.4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99.4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99.4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99.5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1117535"/>
                  </a:ext>
                </a:extLst>
              </a:tr>
              <a:tr h="82920"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ES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MI</a:t>
                      </a:r>
                    </a:p>
                  </a:txBody>
                  <a:tcPr marL="8599" marR="8599" marT="8599" marB="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셀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>
                        <a:buNone/>
                      </a:pPr>
                      <a:r>
                        <a:rPr lang="ko-KR" altLang="en-US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　</a:t>
                      </a:r>
                      <a:r>
                        <a:rPr lang="en-US" altLang="ko-KR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91.0</a:t>
                      </a:r>
                      <a:endParaRPr lang="ko-KR" altLang="en-US" sz="700" b="0" i="0" u="none" strike="noStrike" kern="1200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96.6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96.2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96.5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96.7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96.9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6612738"/>
                  </a:ext>
                </a:extLst>
              </a:tr>
              <a:tr h="829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  <a:p>
                      <a:pPr algn="l" rtl="0" fontAlgn="ctr">
                        <a:buNone/>
                      </a:pPr>
                      <a:r>
                        <a:rPr lang="ko-KR" altLang="en-US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조립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>
                        <a:buNone/>
                      </a:pPr>
                      <a:r>
                        <a:rPr lang="ko-KR" altLang="en-US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　</a:t>
                      </a:r>
                      <a:r>
                        <a:rPr lang="en-US" altLang="ko-KR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95.0</a:t>
                      </a:r>
                      <a:endParaRPr lang="ko-KR" altLang="en-US" sz="700" b="0" i="0" u="none" strike="noStrike" kern="1200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97.4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97.0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97.3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97.5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97.6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7763712"/>
                  </a:ext>
                </a:extLst>
              </a:tr>
              <a:tr h="829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활성화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>
                        <a:buNone/>
                      </a:pPr>
                      <a:r>
                        <a:rPr lang="ko-KR" altLang="en-US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　</a:t>
                      </a:r>
                      <a:r>
                        <a:rPr lang="en-US" altLang="ko-KR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95.8</a:t>
                      </a:r>
                      <a:endParaRPr lang="ko-KR" altLang="en-US" sz="700" b="0" i="0" u="none" strike="noStrike" kern="1200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99.2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99.2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99.2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99.2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99.2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0613245"/>
                  </a:ext>
                </a:extLst>
              </a:tr>
              <a:tr h="82920"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ES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HG</a:t>
                      </a:r>
                    </a:p>
                  </a:txBody>
                  <a:tcPr marL="8599" marR="8599" marT="8599" marB="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셀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>
                        <a:buNone/>
                      </a:pPr>
                      <a:r>
                        <a:rPr lang="ko-KR" altLang="en-US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　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96.8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93.7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97.0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98.1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3706930"/>
                  </a:ext>
                </a:extLst>
              </a:tr>
              <a:tr h="829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  <a:p>
                      <a:pPr algn="l" rtl="0" fontAlgn="ctr">
                        <a:buNone/>
                      </a:pPr>
                      <a:r>
                        <a:rPr lang="ko-KR" altLang="en-US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조립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>
                        <a:buNone/>
                      </a:pPr>
                      <a:r>
                        <a:rPr lang="ko-KR" altLang="en-US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　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98.2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96.3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98.4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99.0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8953426"/>
                  </a:ext>
                </a:extLst>
              </a:tr>
              <a:tr h="829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활성화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>
                        <a:buNone/>
                      </a:pPr>
                      <a:r>
                        <a:rPr lang="ko-KR" altLang="en-US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　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98.6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97.3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98.5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99.2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53270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15831FFC-B2F9-FE0A-7AEF-6FFF816AC5F4}"/>
              </a:ext>
            </a:extLst>
          </p:cNvPr>
          <p:cNvSpPr txBox="1"/>
          <p:nvPr/>
        </p:nvSpPr>
        <p:spPr>
          <a:xfrm>
            <a:off x="3710632" y="1120899"/>
            <a:ext cx="1719443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kumimoji="1" lang="en-US" altLang="ko-KR" sz="7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*Total </a:t>
            </a:r>
            <a:r>
              <a:rPr kumimoji="1" lang="ko-KR" altLang="en-US" sz="7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산출 로직 </a:t>
            </a:r>
            <a:r>
              <a:rPr kumimoji="1" lang="en-US" altLang="ko-KR" sz="7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: </a:t>
            </a:r>
            <a:r>
              <a:rPr kumimoji="1" lang="ko-KR" altLang="en-US" sz="700" dirty="0" err="1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법인별</a:t>
            </a:r>
            <a:r>
              <a:rPr kumimoji="1" lang="ko-KR" altLang="en-US" sz="7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 물동 가중 평균</a:t>
            </a:r>
          </a:p>
        </p:txBody>
      </p:sp>
    </p:spTree>
    <p:extLst>
      <p:ext uri="{BB962C8B-B14F-4D97-AF65-F5344CB8AC3E}">
        <p14:creationId xmlns:p14="http://schemas.microsoft.com/office/powerpoint/2010/main" val="24231413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CC9D7984-7EEC-4652-82F7-025067A514C5}"/>
              </a:ext>
            </a:extLst>
          </p:cNvPr>
          <p:cNvGraphicFramePr>
            <a:graphicFrameLocks noGrp="1"/>
          </p:cNvGraphicFramePr>
          <p:nvPr/>
        </p:nvGraphicFramePr>
        <p:xfrm>
          <a:off x="173693" y="620688"/>
          <a:ext cx="9541529" cy="5917186"/>
        </p:xfrm>
        <a:graphic>
          <a:graphicData uri="http://schemas.openxmlformats.org/drawingml/2006/table">
            <a:tbl>
              <a:tblPr/>
              <a:tblGrid>
                <a:gridCol w="612441">
                  <a:extLst>
                    <a:ext uri="{9D8B030D-6E8A-4147-A177-3AD203B41FA5}">
                      <a16:colId xmlns:a16="http://schemas.microsoft.com/office/drawing/2014/main" val="1583461695"/>
                    </a:ext>
                  </a:extLst>
                </a:gridCol>
                <a:gridCol w="1224883">
                  <a:extLst>
                    <a:ext uri="{9D8B030D-6E8A-4147-A177-3AD203B41FA5}">
                      <a16:colId xmlns:a16="http://schemas.microsoft.com/office/drawing/2014/main" val="4227781156"/>
                    </a:ext>
                  </a:extLst>
                </a:gridCol>
                <a:gridCol w="288208">
                  <a:extLst>
                    <a:ext uri="{9D8B030D-6E8A-4147-A177-3AD203B41FA5}">
                      <a16:colId xmlns:a16="http://schemas.microsoft.com/office/drawing/2014/main" val="2487817271"/>
                    </a:ext>
                  </a:extLst>
                </a:gridCol>
                <a:gridCol w="3707999">
                  <a:extLst>
                    <a:ext uri="{9D8B030D-6E8A-4147-A177-3AD203B41FA5}">
                      <a16:colId xmlns:a16="http://schemas.microsoft.com/office/drawing/2014/main" val="4115920672"/>
                    </a:ext>
                  </a:extLst>
                </a:gridCol>
                <a:gridCol w="287999">
                  <a:extLst>
                    <a:ext uri="{9D8B030D-6E8A-4147-A177-3AD203B41FA5}">
                      <a16:colId xmlns:a16="http://schemas.microsoft.com/office/drawing/2014/main" val="2409402569"/>
                    </a:ext>
                  </a:extLst>
                </a:gridCol>
                <a:gridCol w="3419999">
                  <a:extLst>
                    <a:ext uri="{9D8B030D-6E8A-4147-A177-3AD203B41FA5}">
                      <a16:colId xmlns:a16="http://schemas.microsoft.com/office/drawing/2014/main" val="3282466944"/>
                    </a:ext>
                  </a:extLst>
                </a:gridCol>
              </a:tblGrid>
              <a:tr h="16126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1" i="0" u="none" strike="noStrike" kern="1200" spc="-10">
                          <a:solidFill>
                            <a:srgbClr val="000000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’26</a:t>
                      </a:r>
                      <a:r>
                        <a:rPr lang="ko-KR" altLang="en-US" sz="1000" b="1" i="0" u="none" strike="noStrike" kern="1200" spc="-10">
                          <a:solidFill>
                            <a:srgbClr val="000000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년 </a:t>
                      </a:r>
                      <a:r>
                        <a:rPr lang="en-US" altLang="ko-KR" sz="1000" b="1" i="0" u="none" strike="noStrike" kern="1200" spc="-10">
                          <a:solidFill>
                            <a:srgbClr val="000000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KPI</a:t>
                      </a:r>
                      <a:endParaRPr lang="ko-KR" altLang="en-US" sz="1000" b="1" i="0" u="none" strike="noStrike" kern="1200" spc="-10">
                        <a:solidFill>
                          <a:srgbClr val="000000"/>
                        </a:solidFill>
                        <a:latin typeface="Arial Narrow"/>
                        <a:ea typeface="LG스마트체 Regular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i="0" u="none" strike="noStrike" kern="1200" spc="-10">
                          <a:solidFill>
                            <a:srgbClr val="000000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상세 목표</a:t>
                      </a:r>
                      <a:endParaRPr lang="en-US" altLang="ko-KR" sz="1000" b="1" i="0" u="none" strike="noStrike" kern="1200" spc="-10">
                        <a:solidFill>
                          <a:srgbClr val="000000"/>
                        </a:solidFill>
                        <a:latin typeface="Arial Narrow"/>
                        <a:ea typeface="LG스마트체 Regular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i="0" u="none" strike="noStrike" kern="1200" spc="-10">
                          <a:solidFill>
                            <a:srgbClr val="000000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비중</a:t>
                      </a:r>
                      <a:endParaRPr lang="en-US" altLang="ko-KR" sz="1000" b="1" i="0" u="none" strike="noStrike" kern="1200" spc="-10">
                        <a:solidFill>
                          <a:srgbClr val="000000"/>
                        </a:solidFill>
                        <a:latin typeface="Arial Narrow"/>
                        <a:ea typeface="LG스마트체 Regular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  <a:cs typeface="Arial"/>
                        </a:rPr>
                        <a:t>목표 설정 근거</a:t>
                      </a: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/>
                        <a:ea typeface="LG스마트체 Regular"/>
                        <a:cs typeface="Arial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  <a:cs typeface="Arial"/>
                        </a:rPr>
                        <a:t>분기 목표 및 실행 계획</a:t>
                      </a: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/>
                        <a:ea typeface="LG스마트체 Regular"/>
                        <a:cs typeface="Arial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8957706"/>
                  </a:ext>
                </a:extLst>
              </a:tr>
              <a:tr h="252000">
                <a:tc rowSpan="11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92075" indent="-92075" algn="l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SzPct val="100000"/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b="1" kern="1200" spc="-1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NFF </a:t>
                      </a:r>
                      <a:r>
                        <a:rPr lang="ko-KR" altLang="en-US" sz="1000" b="1" kern="1200" spc="-1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전극 </a:t>
                      </a:r>
                      <a:r>
                        <a:rPr lang="ko-KR" altLang="en-US" sz="1000" b="1" kern="1200" spc="-10" err="1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수율</a:t>
                      </a:r>
                      <a:r>
                        <a:rPr lang="ko-KR" altLang="en-US" sz="1000" b="1" kern="1200" spc="-1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 개선 및 수동 개입 최소화</a:t>
                      </a:r>
                      <a:endParaRPr lang="en-US" altLang="ko-KR" sz="1000" b="1" kern="1200" spc="-10">
                        <a:solidFill>
                          <a:schemeClr val="tx1"/>
                        </a:solidFill>
                        <a:latin typeface="Arial Narrow"/>
                        <a:ea typeface="LG스마트체 Regular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11">
                  <a:txBody>
                    <a:bodyPr/>
                    <a:lstStyle/>
                    <a:p>
                      <a:pPr marL="71755" marR="0" lvl="0" indent="-71755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1000" b="1" kern="1200" spc="-5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NFF</a:t>
                      </a:r>
                      <a:r>
                        <a:rPr kumimoji="1" lang="ko-KR" altLang="en-US" sz="1000" b="1" kern="1200" spc="-5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전극</a:t>
                      </a:r>
                      <a:r>
                        <a:rPr kumimoji="1" lang="en-US" altLang="ko-KR" sz="1000" b="1" kern="1200" spc="-5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1" lang="ko-KR" altLang="en-US" sz="1000" b="1" kern="1200" spc="-5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kumimoji="1" lang="ko-KR" altLang="en-US" sz="1000" b="1" kern="1200" spc="-5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개선</a:t>
                      </a:r>
                      <a:endParaRPr kumimoji="1" lang="en-US" altLang="ko-KR" sz="10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- Q : </a:t>
                      </a:r>
                      <a:r>
                        <a:rPr kumimoji="1" lang="ko-KR" altLang="en-US" sz="1000" b="0" i="0" u="none" strike="noStrike" kern="120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전극 </a:t>
                      </a:r>
                      <a:r>
                        <a:rPr kumimoji="1" lang="ko-KR" altLang="en-US" sz="1000" b="0" i="0" u="none" strike="noStrike" kern="120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kumimoji="1" lang="ko-KR" altLang="en-US" sz="1000" b="0" i="0" u="none" strike="noStrike" kern="120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1" lang="en-US" altLang="ko-KR" sz="1000" b="0" i="0" u="none" strike="noStrike" kern="120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98.8% </a:t>
                      </a:r>
                      <a:r>
                        <a:rPr kumimoji="1" lang="ko-KR" altLang="en-US" sz="1000" b="0" i="0" u="none" strike="noStrike" kern="120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</a:t>
                      </a:r>
                      <a:br>
                        <a:rPr kumimoji="1" lang="en-US" altLang="ko-KR" sz="1000" b="0" i="0" u="none" strike="noStrike" kern="120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1000" b="0" i="0" u="none" strike="noStrike" kern="120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       : </a:t>
                      </a:r>
                      <a:r>
                        <a:rPr kumimoji="1" lang="ko-KR" altLang="en-US" sz="1000" b="0" i="0" u="none" strike="noStrike" kern="120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수동보정 횟수 </a:t>
                      </a:r>
                      <a:r>
                        <a:rPr kumimoji="1" lang="en-US" altLang="ko-KR" sz="1000" b="0" i="0" u="none" strike="noStrike" kern="120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60% </a:t>
                      </a:r>
                      <a:br>
                        <a:rPr kumimoji="1" lang="en-US" altLang="ko-KR" sz="1000" b="0" i="0" u="none" strike="noStrike" kern="120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1000" b="0" i="0" u="none" strike="noStrike" kern="120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         </a:t>
                      </a:r>
                      <a:r>
                        <a:rPr kumimoji="1" lang="ko-KR" altLang="en-US" sz="1000" b="0" i="0" u="none" strike="noStrike" kern="120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 저감</a:t>
                      </a:r>
                      <a:endParaRPr kumimoji="1" lang="en-US" altLang="ko-KR" sz="1000" b="0" i="0" u="none" strike="noStrike" kern="120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- D : ’26.12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월 </a:t>
                      </a: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누적</a:t>
                      </a: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 </a:t>
                      </a:r>
                      <a:endParaRPr kumimoji="0" lang="en-US" altLang="ko-KR" sz="1000" b="1" i="0" u="none" strike="noStrike" kern="1200" cap="none" spc="-1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1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5%</a:t>
                      </a: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5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-40" normalizeH="0" baseline="0" noProof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40" normalizeH="0" baseline="0" noProof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[</a:t>
                      </a:r>
                      <a:r>
                        <a:rPr kumimoji="0" lang="ko-KR" altLang="en-US" sz="1000" b="1" i="0" u="none" strike="noStrike" kern="1200" cap="none" spc="-40" normalizeH="0" baseline="0" noProof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전년실적</a:t>
                      </a:r>
                      <a:r>
                        <a:rPr kumimoji="0" lang="en-US" altLang="ko-KR" sz="1000" b="1" i="0" u="none" strike="noStrike" kern="1200" cap="none" spc="-40" normalizeH="0" baseline="0" noProof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] ’25</a:t>
                      </a:r>
                      <a:r>
                        <a:rPr kumimoji="0" lang="ko-KR" altLang="en-US" sz="1000" b="1" i="0" u="none" strike="noStrike" kern="1200" cap="none" spc="-40" normalizeH="0" baseline="0" noProof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년 </a:t>
                      </a:r>
                      <a:r>
                        <a:rPr kumimoji="0" lang="en-US" altLang="ko-KR" sz="1000" b="1" i="0" u="none" strike="noStrike" kern="1200" cap="none" spc="-40" normalizeH="0" baseline="0" noProof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12</a:t>
                      </a:r>
                      <a:r>
                        <a:rPr kumimoji="0" lang="ko-KR" altLang="en-US" sz="1000" b="1" i="0" u="none" strike="noStrike" kern="1200" cap="none" spc="-40" normalizeH="0" baseline="0" noProof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월 실적 </a:t>
                      </a:r>
                      <a:r>
                        <a:rPr kumimoji="0" lang="en-US" altLang="ko-KR" sz="1000" b="1" i="0" u="none" strike="noStrike" kern="1200" cap="none" spc="-40" normalizeH="0" baseline="0" noProof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97.0%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-40" normalizeH="0" baseline="0" noProof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-5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’25</a:t>
                      </a:r>
                      <a:r>
                        <a:rPr kumimoji="1" lang="ko-KR" altLang="en-US" sz="1000" b="1" i="0" u="none" strike="noStrike" kern="1200" cap="none" spc="-5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년 실적 대비 수율 </a:t>
                      </a:r>
                      <a:r>
                        <a:rPr kumimoji="1" lang="en-US" altLang="ko-KR" sz="1000" b="1" i="0" u="none" strike="noStrike" kern="1200" cap="none" spc="-5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58% </a:t>
                      </a:r>
                      <a:r>
                        <a:rPr kumimoji="1" lang="ko-KR" altLang="en-US" sz="1000" b="1" i="0" u="none" strike="noStrike" kern="1200" cap="none" spc="-5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개선</a:t>
                      </a:r>
                      <a:endParaRPr kumimoji="1" lang="en-US" altLang="ko-KR" sz="1000" b="1" i="0" u="none" strike="noStrike" kern="1200" cap="none" spc="-5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/>
                        <a:ea typeface="LG스마트체 Regular"/>
                        <a:cs typeface="+mn-cs"/>
                      </a:endParaRP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-5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’26.12</a:t>
                      </a:r>
                      <a:r>
                        <a:rPr kumimoji="1" lang="ko-KR" altLang="en-US" sz="1000" b="1" i="0" u="none" strike="noStrike" kern="1200" cap="none" spc="-5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월 누적 </a:t>
                      </a:r>
                      <a:r>
                        <a:rPr kumimoji="1" lang="en-US" altLang="ko-KR" sz="1000" b="1" i="0" u="none" strike="noStrike" kern="1200" cap="none" spc="-5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98.8%</a:t>
                      </a: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1000" b="1" i="0" u="none" strike="noStrike" kern="1200" cap="none" spc="-5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전극수율</a:t>
                      </a:r>
                      <a:r>
                        <a:rPr kumimoji="1" lang="en-US" altLang="ko-KR" sz="1000" b="1" i="0" u="none" strike="noStrike" kern="1200" cap="none" spc="-5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(%) = ’25</a:t>
                      </a:r>
                      <a:r>
                        <a:rPr kumimoji="1" lang="ko-KR" altLang="en-US" sz="1000" b="1" i="0" u="none" strike="noStrike" kern="1200" cap="none" spc="-5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년 실적 </a:t>
                      </a:r>
                      <a:r>
                        <a:rPr kumimoji="1" lang="en-US" altLang="ko-KR" sz="1000" b="1" i="0" u="none" strike="noStrike" kern="1200" cap="none" spc="-5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+</a:t>
                      </a:r>
                      <a:r>
                        <a:rPr kumimoji="1" lang="ko-KR" altLang="en-US" sz="1000" b="1" i="0" u="none" strike="noStrike" kern="1200" cap="none" spc="-5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 예상 </a:t>
                      </a:r>
                      <a:r>
                        <a:rPr kumimoji="1" lang="en-US" altLang="ko-KR" sz="1000" b="1" i="0" u="none" strike="noStrike" kern="1200" cap="none" spc="-5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Loss</a:t>
                      </a:r>
                      <a:r>
                        <a:rPr kumimoji="1" lang="ko-KR" altLang="en-US" sz="1000" b="1" i="0" u="none" strike="noStrike" kern="1200" cap="none" spc="-5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율 </a:t>
                      </a:r>
                      <a:r>
                        <a:rPr kumimoji="1" lang="en-US" altLang="ko-KR" sz="1000" b="1" i="0" u="none" strike="noStrike" kern="1200" cap="none" spc="-5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* 58%</a:t>
                      </a:r>
                      <a:br>
                        <a:rPr kumimoji="1" lang="en-US" altLang="ko-KR" sz="1000" b="1" i="0" u="none" strike="noStrike" kern="1200" cap="none" spc="-5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</a:br>
                      <a:r>
                        <a:rPr kumimoji="1" lang="en-US" altLang="ko-KR" sz="1000" b="0" i="0" u="none" strike="noStrike" kern="1200" cap="none" spc="-5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- 98.8%  =  97.0% + (1 – 97.0%) * 58%</a:t>
                      </a: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0" i="0" u="none" strike="noStrike" kern="1200" cap="none" spc="-5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/>
                        <a:ea typeface="LG스마트체 Regular"/>
                        <a:cs typeface="+mn-cs"/>
                      </a:endParaRP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0" i="0" u="none" strike="noStrike" kern="1200" cap="none" spc="-5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/>
                        <a:ea typeface="LG스마트체 Regular"/>
                        <a:cs typeface="+mn-cs"/>
                      </a:endParaRP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0" i="0" u="none" strike="noStrike" kern="1200" cap="none" spc="-5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/>
                        <a:ea typeface="LG스마트체 Regular"/>
                        <a:cs typeface="+mn-cs"/>
                      </a:endParaRP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0" i="0" u="none" strike="noStrike" kern="1200" cap="none" spc="-5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/>
                        <a:ea typeface="LG스마트체 Regular"/>
                        <a:cs typeface="+mn-cs"/>
                      </a:endParaRP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0" i="0" u="none" strike="noStrike" kern="1200" cap="none" spc="-5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/>
                        <a:ea typeface="LG스마트체 Regular"/>
                        <a:cs typeface="+mn-cs"/>
                      </a:endParaRP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0" i="0" u="none" strike="noStrike" kern="1200" cap="none" spc="-5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/>
                        <a:ea typeface="LG스마트체 Regular"/>
                        <a:cs typeface="+mn-cs"/>
                      </a:endParaRP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대상라인</a:t>
                      </a:r>
                      <a:br>
                        <a:rPr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</a:br>
                      <a:r>
                        <a:rPr lang="en-US" altLang="ko-KR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COT: EP2 1라인</a:t>
                      </a:r>
                      <a:br>
                        <a:rPr lang="en-US" altLang="ko-KR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</a:br>
                      <a:r>
                        <a:rPr lang="en-US" altLang="ko-KR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ROL : EP2 1</a:t>
                      </a:r>
                      <a:r>
                        <a:rPr lang="ko-KR" altLang="en-US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라인</a:t>
                      </a:r>
                      <a:r>
                        <a:rPr lang="en-US" altLang="ko-KR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(</a:t>
                      </a:r>
                      <a:r>
                        <a:rPr lang="ko-KR" altLang="en-US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음극</a:t>
                      </a:r>
                      <a:r>
                        <a:rPr lang="en-US" altLang="ko-KR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)</a:t>
                      </a:r>
                    </a:p>
                  </a:txBody>
                  <a:tcPr marL="36000" marR="0" marT="0" marB="0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</a:pPr>
                      <a:r>
                        <a:rPr kumimoji="1" lang="en-US" altLang="ko-KR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1Q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170" marR="0" lvl="0" indent="-9017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전극 </a:t>
                      </a:r>
                      <a:r>
                        <a:rPr kumimoji="1" lang="ko-KR" altLang="en-US" sz="1000" b="1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수율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 </a:t>
                      </a: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98.1% (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가중평균</a:t>
                      </a: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, 1~3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월 누적</a:t>
                      </a: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)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6654165"/>
                  </a:ext>
                </a:extLst>
              </a:tr>
              <a:tr h="252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2Q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170" marR="0" lvl="0" indent="-9017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전극 </a:t>
                      </a:r>
                      <a:r>
                        <a:rPr kumimoji="1" lang="ko-KR" altLang="en-US" sz="1000" b="1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수율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 </a:t>
                      </a: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98.4% (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가중평균</a:t>
                      </a: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, 1~6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월 누적</a:t>
                      </a: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)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8396706"/>
                  </a:ext>
                </a:extLst>
              </a:tr>
              <a:tr h="252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3Q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170" marR="0" lvl="0" indent="-9017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전극 </a:t>
                      </a:r>
                      <a:r>
                        <a:rPr kumimoji="1" lang="ko-KR" altLang="en-US" sz="1000" b="1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수율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 </a:t>
                      </a: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98.6% (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가중평균</a:t>
                      </a: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, 1~9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월 누적</a:t>
                      </a: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)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1808293"/>
                  </a:ext>
                </a:extLst>
              </a:tr>
              <a:tr h="252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4Q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170" marR="0" lvl="0" indent="-9017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전극 </a:t>
                      </a:r>
                      <a:r>
                        <a:rPr kumimoji="1" lang="ko-KR" altLang="en-US" sz="1000" b="1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수율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 </a:t>
                      </a: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98.8% (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가중평균</a:t>
                      </a: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, 1~12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월 누적</a:t>
                      </a: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)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5647809"/>
                  </a:ext>
                </a:extLst>
              </a:tr>
              <a:tr h="223200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1" i="0" u="none" strike="noStrike" kern="1200" cap="none" spc="-1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0" marB="0" anchor="ctr" horzOverflow="overflow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ko-KR" altLang="en-US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실행</a:t>
                      </a:r>
                      <a:br>
                        <a:rPr kumimoji="1" lang="en-US" altLang="ko-KR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</a:br>
                      <a:r>
                        <a:rPr kumimoji="1" lang="ko-KR" altLang="en-US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계획</a:t>
                      </a: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/>
                        <a:ea typeface="LG스마트체 Regular"/>
                        <a:cs typeface="Arial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eaLnBrk="1" fontAlgn="ctr" latinLnBrk="1" hangingPunct="1">
                        <a:lnSpc>
                          <a:spcPct val="11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ko-KR" sz="900" i="0" u="none" strike="noStrike" kern="1200" cap="none" spc="0" normalizeH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1)</a:t>
                      </a:r>
                      <a:r>
                        <a:rPr kumimoji="0" lang="ko-KR" altLang="en-US" sz="900" i="0" u="none" strike="noStrike" kern="1200" cap="none" spc="0" normalizeH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 </a:t>
                      </a:r>
                      <a:r>
                        <a:rPr lang="ko-KR" altLang="en-US" sz="900" i="0" u="none" strike="noStrike" kern="1200" cap="none" spc="0" normalizeH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COT </a:t>
                      </a:r>
                      <a:r>
                        <a:rPr lang="ko-KR" altLang="en-US" sz="900">
                          <a:latin typeface="Arial Narrow"/>
                          <a:ea typeface="LG스마트체 Regular"/>
                          <a:cs typeface="Microsoft GothicNeo"/>
                        </a:rPr>
                        <a:t>분할 밸브</a:t>
                      </a:r>
                      <a:r>
                        <a:rPr lang="en-US" altLang="ko-KR" sz="900">
                          <a:latin typeface="Arial Narrow"/>
                          <a:ea typeface="LG스마트체 Regular"/>
                          <a:cs typeface="Microsoft GothicNeo"/>
                        </a:rPr>
                        <a:t>(</a:t>
                      </a:r>
                      <a:r>
                        <a:rPr lang="ko-KR" altLang="en-US" sz="900" err="1">
                          <a:latin typeface="Arial Narrow"/>
                          <a:ea typeface="LG스마트체 Regular"/>
                          <a:cs typeface="Microsoft GothicNeo"/>
                        </a:rPr>
                        <a:t>매니폴드</a:t>
                      </a:r>
                      <a:r>
                        <a:rPr lang="en-US" altLang="ko-KR" sz="900">
                          <a:latin typeface="Arial Narrow"/>
                          <a:ea typeface="LG스마트체 Regular"/>
                          <a:cs typeface="Microsoft GothicNeo"/>
                        </a:rPr>
                        <a:t>) </a:t>
                      </a:r>
                      <a:r>
                        <a:rPr lang="ko-KR" altLang="en-US" sz="900">
                          <a:latin typeface="Arial Narrow"/>
                          <a:ea typeface="LG스마트체 Regular"/>
                          <a:cs typeface="Microsoft GothicNeo"/>
                        </a:rPr>
                        <a:t>설비 변경 </a:t>
                      </a:r>
                      <a:r>
                        <a:rPr lang="en-US" altLang="ko-KR" sz="900">
                          <a:latin typeface="Arial Narrow"/>
                          <a:ea typeface="LG스마트체 Regular"/>
                          <a:cs typeface="Microsoft GothicNeo"/>
                        </a:rPr>
                        <a:t>(3</a:t>
                      </a:r>
                      <a:r>
                        <a:rPr lang="ko-KR" altLang="en-US" sz="900">
                          <a:latin typeface="Arial Narrow"/>
                          <a:ea typeface="LG스마트체 Regular"/>
                          <a:cs typeface="Microsoft GothicNeo"/>
                        </a:rPr>
                        <a:t>분할 → </a:t>
                      </a:r>
                      <a:r>
                        <a:rPr lang="en-US" altLang="ko-KR" sz="900">
                          <a:latin typeface="Arial Narrow"/>
                          <a:ea typeface="LG스마트체 Regular"/>
                          <a:cs typeface="Microsoft GothicNeo"/>
                        </a:rPr>
                        <a:t>7</a:t>
                      </a:r>
                      <a:r>
                        <a:rPr lang="ko-KR" altLang="en-US" sz="900">
                          <a:latin typeface="Arial Narrow"/>
                          <a:ea typeface="LG스마트체 Regular"/>
                          <a:cs typeface="Microsoft GothicNeo"/>
                        </a:rPr>
                        <a:t>분할</a:t>
                      </a:r>
                      <a:r>
                        <a:rPr lang="en-US" altLang="ko-KR" sz="900">
                          <a:latin typeface="Arial Narrow"/>
                          <a:ea typeface="LG스마트체 Regular"/>
                          <a:cs typeface="Microsoft GothicNeo"/>
                        </a:rPr>
                        <a:t>) </a:t>
                      </a:r>
                      <a:r>
                        <a:rPr lang="ko-KR" altLang="en-US" sz="900">
                          <a:latin typeface="Arial Narrow"/>
                          <a:ea typeface="LG스마트체 Regular"/>
                          <a:cs typeface="Microsoft GothicNeo"/>
                        </a:rPr>
                        <a:t>대응 자동보정 </a:t>
                      </a:r>
                      <a:br>
                        <a:rPr lang="en-US" altLang="ko-KR" sz="900">
                          <a:latin typeface="Arial Narrow"/>
                          <a:ea typeface="LG스마트체 Regular"/>
                          <a:cs typeface="Microsoft GothicNeo"/>
                        </a:rPr>
                      </a:br>
                      <a:r>
                        <a:rPr lang="en-US" altLang="ko-KR" sz="900">
                          <a:latin typeface="Arial Narrow"/>
                          <a:ea typeface="LG스마트체 Regular"/>
                          <a:cs typeface="Microsoft GothicNeo"/>
                        </a:rPr>
                        <a:t>     </a:t>
                      </a:r>
                      <a:r>
                        <a:rPr lang="ko-KR" altLang="en-US" sz="900">
                          <a:latin typeface="Arial Narrow"/>
                          <a:ea typeface="LG스마트체 Regular"/>
                          <a:cs typeface="Microsoft GothicNeo"/>
                        </a:rPr>
                        <a:t>개발 및 적용 </a:t>
                      </a:r>
                      <a:r>
                        <a:rPr lang="en-US" altLang="ko-KR" sz="900">
                          <a:latin typeface="Arial Narrow"/>
                          <a:ea typeface="LG스마트체 Regular"/>
                          <a:cs typeface="Microsoft GothicNeo"/>
                        </a:rPr>
                        <a:t>(‘26.02), R/P </a:t>
                      </a:r>
                      <a:r>
                        <a:rPr lang="en-US" altLang="ko-KR" sz="900" err="1">
                          <a:latin typeface="Arial Narrow"/>
                          <a:ea typeface="LG스마트체 Regular"/>
                          <a:cs typeface="Microsoft GothicNeo"/>
                        </a:rPr>
                        <a:t>재조건조정</a:t>
                      </a:r>
                      <a:r>
                        <a:rPr lang="en-US" altLang="ko-KR" sz="900">
                          <a:latin typeface="Arial Narrow"/>
                          <a:ea typeface="LG스마트체 Regular"/>
                          <a:cs typeface="Microsoft GothicNeo"/>
                        </a:rPr>
                        <a:t> </a:t>
                      </a:r>
                      <a:r>
                        <a:rPr lang="en-US" altLang="ko-KR" sz="900" err="1">
                          <a:latin typeface="Arial Narrow"/>
                          <a:ea typeface="LG스마트체 Regular"/>
                          <a:cs typeface="Microsoft GothicNeo"/>
                        </a:rPr>
                        <a:t>고도화</a:t>
                      </a:r>
                      <a:r>
                        <a:rPr lang="en-US" altLang="ko-KR" sz="900">
                          <a:latin typeface="Arial Narrow"/>
                          <a:ea typeface="LG스마트체 Regular"/>
                          <a:cs typeface="Microsoft GothicNeo"/>
                        </a:rPr>
                        <a:t>(~'26.01), </a:t>
                      </a:r>
                      <a:r>
                        <a:rPr lang="en-US" altLang="ko-KR" sz="900" err="1">
                          <a:latin typeface="Arial Narrow"/>
                          <a:ea typeface="LG스마트체 Regular"/>
                          <a:cs typeface="Microsoft GothicNeo"/>
                        </a:rPr>
                        <a:t>수평전개</a:t>
                      </a:r>
                      <a:r>
                        <a:rPr lang="en-US" altLang="ko-KR" sz="900">
                          <a:latin typeface="Arial Narrow"/>
                          <a:ea typeface="LG스마트체 Regular"/>
                          <a:cs typeface="Microsoft GothicNeo"/>
                        </a:rPr>
                        <a:t>('26.02)</a:t>
                      </a:r>
                      <a:br>
                        <a:rPr lang="en-US" altLang="ko-KR" sz="900">
                          <a:latin typeface="Arial Narrow"/>
                          <a:ea typeface="LG스마트체 Regular"/>
                          <a:cs typeface="Microsoft GothicNeo"/>
                        </a:rPr>
                      </a:br>
                      <a:r>
                        <a:rPr lang="en-US" altLang="ko-KR" sz="900">
                          <a:latin typeface="Arial Narrow"/>
                          <a:ea typeface="LG스마트체 Regular"/>
                          <a:cs typeface="Microsoft GothicNeo"/>
                        </a:rPr>
                        <a:t>2) </a:t>
                      </a:r>
                      <a:r>
                        <a:rPr lang="ko-KR" altLang="en-US" sz="900">
                          <a:latin typeface="Arial Narrow"/>
                          <a:ea typeface="LG스마트체 Regular"/>
                          <a:cs typeface="Microsoft GothicNeo"/>
                        </a:rPr>
                        <a:t>온도 자동보정 개발 및 적용</a:t>
                      </a:r>
                      <a:r>
                        <a:rPr lang="en-US" altLang="ko-KR" sz="900">
                          <a:latin typeface="Arial Narrow"/>
                          <a:ea typeface="LG스마트체 Regular"/>
                          <a:cs typeface="Microsoft GothicNeo"/>
                        </a:rPr>
                        <a:t>(</a:t>
                      </a:r>
                      <a:r>
                        <a:rPr lang="ko-KR" altLang="en-US" sz="900">
                          <a:latin typeface="Arial Narrow"/>
                          <a:ea typeface="LG스마트체 Regular"/>
                          <a:cs typeface="Microsoft GothicNeo"/>
                        </a:rPr>
                        <a:t>양산구간</a:t>
                      </a:r>
                      <a:r>
                        <a:rPr lang="en-US" altLang="ko-KR" sz="900">
                          <a:latin typeface="Arial Narrow"/>
                          <a:ea typeface="LG스마트체 Regular"/>
                          <a:cs typeface="Microsoft GothicNeo"/>
                        </a:rPr>
                        <a:t>) (‘26.03)</a:t>
                      </a:r>
                      <a:br>
                        <a:rPr kumimoji="0" lang="en-US" altLang="ko-KR" sz="900" i="0" u="none" strike="noStrike" kern="1200" cap="none" spc="0" normalizeH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</a:br>
                      <a:r>
                        <a:rPr kumimoji="0" lang="en-US" altLang="ko-KR" sz="900" i="0" u="none" strike="noStrike" kern="1200" cap="none" spc="0" normalizeH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3) </a:t>
                      </a:r>
                      <a:r>
                        <a:rPr kumimoji="0" lang="ko-KR" altLang="en-US" sz="900" i="0" u="none" strike="noStrike" kern="1200" cap="none" spc="0" normalizeH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초기 조건 </a:t>
                      </a:r>
                      <a:r>
                        <a:rPr kumimoji="0" lang="en-US" altLang="ko-KR" sz="900" i="0" u="none" strike="noStrike" kern="1200" cap="none" spc="0" normalizeH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: </a:t>
                      </a:r>
                      <a:r>
                        <a:rPr kumimoji="0" lang="ko-KR" altLang="en-US" sz="900" i="0" u="none" strike="noStrike" kern="1200" cap="none" spc="0" normalizeH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코팅</a:t>
                      </a:r>
                      <a:r>
                        <a:rPr kumimoji="0" lang="en-US" altLang="ko-KR" sz="900" i="0" u="none" strike="noStrike" kern="1200" cap="none" spc="0" normalizeH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-</a:t>
                      </a:r>
                      <a:r>
                        <a:rPr kumimoji="0" lang="ko-KR" altLang="en-US" sz="900" i="0" u="none" strike="noStrike" kern="1200" cap="none" spc="0" normalizeH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최적 조건 도출</a:t>
                      </a:r>
                      <a:r>
                        <a:rPr kumimoji="0" lang="en-US" altLang="ko-KR" sz="900" i="0" u="none" strike="noStrike" kern="1200" cap="none" spc="0" normalizeH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-</a:t>
                      </a:r>
                      <a:r>
                        <a:rPr kumimoji="0" lang="ko-KR" altLang="en-US" sz="900" i="0" u="none" strike="noStrike" kern="1200" cap="none" spc="0" normalizeH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코팅 반복 프로세스 자동화 검토</a:t>
                      </a:r>
                      <a:r>
                        <a:rPr kumimoji="0" lang="en-US" altLang="ko-KR" sz="900" i="0" u="none" strike="noStrike" kern="1200" cap="none" spc="0" normalizeH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(‘26.03)</a:t>
                      </a:r>
                      <a:br>
                        <a:rPr kumimoji="0" lang="en-US" altLang="ko-KR" sz="900" i="0" u="none" strike="noStrike" kern="1200" cap="none" spc="0" normalizeH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</a:br>
                      <a:r>
                        <a:rPr lang="en-US" altLang="ko-KR" sz="900" i="0" u="none" strike="noStrike" kern="1200" cap="none" spc="0" normalizeH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4</a:t>
                      </a:r>
                      <a:r>
                        <a:rPr kumimoji="0" lang="en-US" altLang="ko-KR" sz="900" i="0" u="none" strike="noStrike" kern="1200" cap="none" spc="0" normalizeH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)</a:t>
                      </a:r>
                      <a:r>
                        <a:rPr kumimoji="0" lang="ko-KR" altLang="en-US" sz="900" i="0" u="none" strike="noStrike" kern="1200" cap="none" spc="0" normalizeH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 </a:t>
                      </a:r>
                      <a:r>
                        <a:rPr kumimoji="0" lang="ko-KR" altLang="en-US" sz="900" i="0" u="none" strike="noStrike" kern="1200" cap="none" spc="0" normalizeH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웹게이지</a:t>
                      </a:r>
                      <a:r>
                        <a:rPr kumimoji="0" lang="en-US" altLang="ko-KR" sz="900" i="0" u="none" strike="noStrike" kern="1200" cap="none" spc="0" normalizeH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 Wet–Dry </a:t>
                      </a:r>
                      <a:r>
                        <a:rPr kumimoji="0" lang="ko-KR" altLang="en-US" sz="900" i="0" u="none" strike="noStrike" kern="1200" cap="none" spc="0" normalizeH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간 공정 상태 차이를 </a:t>
                      </a:r>
                      <a:r>
                        <a:rPr kumimoji="0" lang="en-US" altLang="ko-KR" sz="900" i="0" u="none" strike="noStrike" kern="1200" cap="none" spc="0" normalizeH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Offset</a:t>
                      </a:r>
                      <a:r>
                        <a:rPr kumimoji="0" lang="ko-KR" altLang="en-US" sz="900" i="0" u="none" strike="noStrike" kern="1200" cap="none" spc="0" normalizeH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으로</a:t>
                      </a:r>
                      <a:r>
                        <a:rPr kumimoji="0" lang="ko-KR" altLang="en-US" sz="900" i="0" u="none" strike="noStrike" kern="1200" cap="none" spc="0" normalizeH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 정식화하고</a:t>
                      </a:r>
                      <a:r>
                        <a:rPr kumimoji="0" lang="en-US" altLang="ko-KR" sz="900" i="0" u="none" strike="noStrike" kern="1200" cap="none" spc="0" normalizeH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,  </a:t>
                      </a:r>
                      <a:endParaRPr kumimoji="0" lang="en-US"/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i="0" u="none" strike="noStrike" kern="1200" cap="none" spc="0" normalizeH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      Wet </a:t>
                      </a:r>
                      <a:r>
                        <a:rPr kumimoji="0" lang="ko-KR" altLang="en-US" sz="900" i="0" u="none" strike="noStrike" kern="1200" cap="none" spc="0" normalizeH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측정값에 이를 적용하여 </a:t>
                      </a:r>
                      <a:r>
                        <a:rPr kumimoji="0" lang="en-US" altLang="ko-KR" sz="900" i="0" u="none" strike="noStrike" kern="1200" cap="none" spc="0" normalizeH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Dry </a:t>
                      </a:r>
                      <a:r>
                        <a:rPr kumimoji="0" lang="ko-KR" altLang="en-US" sz="900" i="0" u="none" strike="noStrike" kern="1200" cap="none" spc="0" normalizeH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상태를 예측</a:t>
                      </a:r>
                      <a:r>
                        <a:rPr kumimoji="0" lang="en-US" altLang="ko-KR" sz="900" i="0" u="none" strike="noStrike" kern="1200" cap="none" spc="0" normalizeH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(Dry ≈ Wet + Offset)</a:t>
                      </a:r>
                      <a:r>
                        <a:rPr kumimoji="0" lang="ko-KR" altLang="en-US" sz="900" i="0" u="none" strike="noStrike" kern="1200" cap="none" spc="0" normalizeH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하는</a:t>
                      </a:r>
                      <a:br>
                        <a:rPr kumimoji="0" lang="en-US" altLang="ko-KR" sz="900" i="0" u="none" strike="noStrike" kern="1200" cap="none" spc="0" normalizeH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</a:br>
                      <a:r>
                        <a:rPr kumimoji="0" lang="en-US" altLang="ko-KR" sz="900" i="0" u="none" strike="noStrike" kern="1200" cap="none" spc="0" normalizeH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     </a:t>
                      </a:r>
                      <a:r>
                        <a:rPr kumimoji="0" lang="ko-KR" altLang="en-US" sz="900" i="0" u="none" strike="noStrike" kern="1200" cap="none" spc="0" normalizeH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 기술 개발 및 적용</a:t>
                      </a:r>
                      <a:r>
                        <a:rPr kumimoji="0" lang="en-US" altLang="ko-KR" sz="900" i="0" u="none" strike="noStrike" kern="1200" cap="none" spc="0" normalizeH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 (’26.06)</a:t>
                      </a:r>
                      <a:br>
                        <a:rPr kumimoji="0" lang="en-US" altLang="ko-KR" sz="900" i="0" u="none" strike="noStrike" kern="1200" cap="none" spc="0" normalizeH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</a:br>
                      <a:r>
                        <a:rPr lang="en-US" altLang="ko-KR" sz="900" i="0" u="none" strike="noStrike" kern="1200" cap="none" spc="0" normalizeH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5</a:t>
                      </a:r>
                      <a:r>
                        <a:rPr kumimoji="0" lang="en-US" altLang="ko-KR" sz="900" i="0" u="none" strike="noStrike" kern="1200" cap="none" spc="0" normalizeH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)</a:t>
                      </a:r>
                      <a:r>
                        <a:rPr kumimoji="0" lang="ko-KR" altLang="en-US" sz="900" i="0" u="none" strike="noStrike" kern="1200" cap="none" spc="0" normalizeH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 질량 유량계 유량 기준 음극 상</a:t>
                      </a:r>
                      <a:r>
                        <a:rPr kumimoji="0" lang="en-US" altLang="ko-KR" sz="900" i="0" u="none" strike="noStrike" kern="1200" cap="none" spc="0" normalizeH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,</a:t>
                      </a:r>
                      <a:r>
                        <a:rPr kumimoji="0" lang="ko-KR" altLang="en-US" sz="900" i="0" u="none" strike="noStrike" kern="1200" cap="none" spc="0" normalizeH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하층 </a:t>
                      </a:r>
                      <a:r>
                        <a:rPr kumimoji="0" lang="en-US" altLang="ko-KR" sz="900" i="0" u="none" strike="noStrike" kern="1200" cap="none" spc="0" normalizeH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RPM </a:t>
                      </a:r>
                      <a:r>
                        <a:rPr kumimoji="0" lang="ko-KR" altLang="en-US" sz="900" i="0" u="none" strike="noStrike" kern="1200" cap="none" spc="0" normalizeH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자동보정 </a:t>
                      </a:r>
                      <a:br>
                        <a:rPr kumimoji="0" lang="en-US" altLang="ko-KR" sz="900" i="0" u="none" strike="noStrike" kern="1200" cap="none" spc="0" normalizeH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</a:br>
                      <a:r>
                        <a:rPr kumimoji="0" lang="en-US" altLang="ko-KR" sz="900" i="0" u="none" strike="noStrike" kern="1200" cap="none" spc="0" normalizeH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      (‘26.06, </a:t>
                      </a:r>
                      <a:r>
                        <a:rPr kumimoji="0" lang="ko-KR" altLang="en-US" sz="900" i="0" u="none" strike="noStrike" kern="1200" cap="none" spc="0" normalizeH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슬러리</a:t>
                      </a:r>
                      <a:r>
                        <a:rPr kumimoji="0" lang="ko-KR" altLang="en-US" sz="900" i="0" u="none" strike="noStrike" kern="1200" cap="none" spc="0" normalizeH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 저감 효과</a:t>
                      </a:r>
                      <a:r>
                        <a:rPr kumimoji="0" lang="en-US" altLang="ko-KR" sz="900" i="0" u="none" strike="noStrike" kern="1200" cap="none" spc="0" normalizeH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900">
                          <a:latin typeface="Arial Narrow"/>
                          <a:ea typeface="LG스마트체 Regular"/>
                          <a:cs typeface="Microsoft GothicNeo"/>
                        </a:rPr>
                        <a:t>6)</a:t>
                      </a:r>
                      <a:r>
                        <a:rPr lang="ko-KR" altLang="en-US" sz="900">
                          <a:latin typeface="Arial Narrow"/>
                          <a:ea typeface="LG스마트체 Regular"/>
                          <a:cs typeface="Microsoft GothicNeo"/>
                        </a:rPr>
                        <a:t>양극 </a:t>
                      </a:r>
                      <a:r>
                        <a:rPr lang="ko-KR" altLang="en-US" sz="900" err="1">
                          <a:latin typeface="Arial Narrow"/>
                          <a:ea typeface="LG스마트체 Regular"/>
                          <a:cs typeface="Microsoft GothicNeo"/>
                        </a:rPr>
                        <a:t>냉각롤</a:t>
                      </a:r>
                      <a:r>
                        <a:rPr lang="ko-KR" altLang="en-US" sz="900">
                          <a:latin typeface="Arial Narrow"/>
                          <a:ea typeface="LG스마트체 Regular"/>
                          <a:cs typeface="Microsoft GothicNeo"/>
                        </a:rPr>
                        <a:t> 온도 자동 보정 </a:t>
                      </a:r>
                      <a:r>
                        <a:rPr lang="en-US" altLang="ko-KR" sz="900" u="none">
                          <a:latin typeface="Arial Narrow"/>
                          <a:ea typeface="LG스마트체 Regular"/>
                        </a:rPr>
                        <a:t>(</a:t>
                      </a:r>
                      <a:r>
                        <a:rPr lang="en-US" altLang="ko-KR" sz="900">
                          <a:latin typeface="Arial Narrow"/>
                          <a:ea typeface="LG스마트체 Regular"/>
                          <a:cs typeface="Microsoft GothicNeo"/>
                        </a:rPr>
                        <a:t>‘26.06)</a:t>
                      </a: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900" i="0" u="none" strike="noStrike" kern="1200" cap="none" spc="0" normalizeH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7</a:t>
                      </a:r>
                      <a:r>
                        <a:rPr kumimoji="0" lang="en-US" altLang="ko-KR" sz="900" i="0" u="none" strike="noStrike" kern="1200" cap="none" spc="0" normalizeH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) </a:t>
                      </a:r>
                      <a:r>
                        <a:rPr kumimoji="0" lang="ko-KR" altLang="en-US" sz="900" i="0" u="none" strike="noStrike" kern="1200" cap="none" spc="0" normalizeH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재조건조정 </a:t>
                      </a:r>
                      <a:r>
                        <a:rPr kumimoji="0" lang="en-US" altLang="ko-KR" sz="900" i="0" u="none" strike="noStrike" kern="1200" cap="none" spc="0" normalizeH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: </a:t>
                      </a:r>
                      <a:r>
                        <a:rPr kumimoji="0" lang="ko-KR" altLang="en-US" sz="900" i="0" u="none" strike="noStrike" kern="1200" cap="none" spc="0" normalizeH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양산 데이터 확보 후 자동보정 모델 개발</a:t>
                      </a:r>
                      <a:br>
                        <a:rPr kumimoji="0" lang="en-US" altLang="ko-KR" sz="900" i="0" u="none" strike="noStrike" kern="1200" cap="none" spc="0" normalizeH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</a:br>
                      <a:r>
                        <a:rPr kumimoji="0" lang="en-US" altLang="ko-KR" sz="900" i="0" u="none" strike="noStrike" kern="1200" cap="none" spc="0" normalizeH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                            (‘26.08, </a:t>
                      </a:r>
                      <a:r>
                        <a:rPr kumimoji="0" lang="ko-KR" altLang="en-US" sz="900" i="0" u="none" strike="noStrike" kern="1200" cap="none" spc="0" normalizeH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온도 및 </a:t>
                      </a:r>
                      <a:r>
                        <a:rPr kumimoji="0" lang="ko-KR" altLang="en-US" sz="900" i="0" u="none" strike="noStrike" kern="1200" cap="none" spc="0" normalizeH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개도율</a:t>
                      </a:r>
                      <a:r>
                        <a:rPr kumimoji="0" lang="ko-KR" altLang="en-US" sz="900" i="0" u="none" strike="noStrike" kern="1200" cap="none" spc="0" normalizeH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 검토</a:t>
                      </a:r>
                      <a:r>
                        <a:rPr kumimoji="0" lang="en-US" altLang="ko-KR" sz="900" i="0" u="none" strike="noStrike" kern="1200" cap="none" spc="0" normalizeH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)</a:t>
                      </a:r>
                      <a:endParaRPr kumimoji="0" lang="en-US" altLang="ko-KR" sz="900" i="0" u="none" strike="noStrike" kern="1200" cap="none" spc="0" normalizeH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/>
                        <a:ea typeface="LG스마트체 Regular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579272"/>
                  </a:ext>
                </a:extLst>
              </a:tr>
              <a:tr h="161265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  <a:cs typeface="Arial"/>
                        </a:rPr>
                        <a:t>평가 </a:t>
                      </a:r>
                      <a:r>
                        <a:rPr kumimoji="1" lang="en-US" altLang="ko-KR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  <a:cs typeface="Arial"/>
                        </a:rPr>
                        <a:t>Scale </a:t>
                      </a: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  <a:cs typeface="Arial"/>
                        </a:rPr>
                        <a:t>산출 로직</a:t>
                      </a: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/>
                        <a:ea typeface="LG스마트체 Regular"/>
                        <a:cs typeface="Arial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  <a:cs typeface="Arial"/>
                        </a:rPr>
                        <a:t>평가 </a:t>
                      </a:r>
                      <a:r>
                        <a:rPr kumimoji="1" lang="en-US" altLang="ko-KR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  <a:cs typeface="Arial"/>
                        </a:rPr>
                        <a:t>Description</a:t>
                      </a: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/>
                        <a:ea typeface="LG스마트체 Regular"/>
                        <a:cs typeface="Arial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endParaRPr kumimoji="1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6705988"/>
                  </a:ext>
                </a:extLst>
              </a:tr>
              <a:tr h="468000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5">
                  <a:txBody>
                    <a:bodyPr/>
                    <a:lstStyle/>
                    <a:p>
                      <a:pPr marL="90170" marR="0" lvl="0" indent="-9017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평가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Description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배점에 대한 산출 로직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5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점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: 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전극 </a:t>
                      </a:r>
                      <a:r>
                        <a:rPr kumimoji="1" lang="ko-KR" altLang="en-US" sz="10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수율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 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20% 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추가 개선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+ (100%-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)*20%), 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      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수동 보정 횟수 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50</a:t>
                      </a:r>
                      <a:r>
                        <a:rPr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%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 추가 저감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+ (100%-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)*50%)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4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점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: 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전극 </a:t>
                      </a:r>
                      <a:r>
                        <a:rPr kumimoji="1" lang="ko-KR" altLang="en-US" sz="10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수율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 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10% 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추가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 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개선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+ (100%-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)*10%)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,</a:t>
                      </a:r>
                      <a:b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</a:b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        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수동 보정 횟수 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25% 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추가 저감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+ (100%-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)*25%)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2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점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: 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전극 </a:t>
                      </a:r>
                      <a:r>
                        <a:rPr kumimoji="1" lang="ko-KR" altLang="en-US" sz="10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수율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 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20% 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감소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– (100%-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)*20%)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,</a:t>
                      </a:r>
                      <a:b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</a:b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        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수동 보정 횟수 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25% 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증가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– (100%-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)*25%)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1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점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: 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전극 </a:t>
                      </a:r>
                      <a:r>
                        <a:rPr kumimoji="1" lang="ko-KR" altLang="en-US" sz="10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수율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 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20% 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초과 감소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(100%-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)*20%)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,</a:t>
                      </a:r>
                      <a:b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</a:b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        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수동 보정 횟수 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25% 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초과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 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증가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(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(100%-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)*25%)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/>
                        <a:ea typeface="LG스마트체 Regular"/>
                        <a:cs typeface="Arial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5</a:t>
                      </a:r>
                      <a:r>
                        <a:rPr kumimoji="1" lang="ko-KR" altLang="en-US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점</a:t>
                      </a: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/>
                        <a:ea typeface="LG스마트체 Regular"/>
                        <a:cs typeface="Arial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170" marR="0" lvl="0" indent="-9017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Q : 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전극 </a:t>
                      </a:r>
                      <a:r>
                        <a:rPr kumimoji="1" lang="ko-KR" altLang="en-US" sz="1000" b="1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수율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 </a:t>
                      </a: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99.0% 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이상</a:t>
                      </a: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, 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수동 보정 횟수 </a:t>
                      </a:r>
                      <a:r>
                        <a:rPr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8</a:t>
                      </a:r>
                      <a:r>
                        <a:rPr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0</a:t>
                      </a: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% 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이상 저감</a:t>
                      </a:r>
                      <a:endParaRPr kumimoji="1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/>
                        <a:ea typeface="LG스마트체 Regular"/>
                        <a:cs typeface="Arial"/>
                      </a:endParaRPr>
                    </a:p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D : ’26.12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월 </a:t>
                      </a: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(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누적</a:t>
                      </a: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)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9652368"/>
                  </a:ext>
                </a:extLst>
              </a:tr>
              <a:tr h="468000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900" b="1" i="0" u="none" strike="noStrike" kern="1200" cap="none" spc="-3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4</a:t>
                      </a:r>
                      <a:r>
                        <a:rPr kumimoji="1" lang="ko-KR" altLang="en-US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점</a:t>
                      </a: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/>
                        <a:ea typeface="LG스마트체 Regular"/>
                        <a:cs typeface="Arial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170" marR="0" lvl="0" indent="-9017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Q : 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전극 </a:t>
                      </a:r>
                      <a:r>
                        <a:rPr kumimoji="1" lang="ko-KR" altLang="en-US" sz="1000" b="1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수율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 </a:t>
                      </a: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98.9% 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이상</a:t>
                      </a: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, 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수동 보정 횟수 </a:t>
                      </a:r>
                      <a:r>
                        <a:rPr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70</a:t>
                      </a: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% 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이상 저감</a:t>
                      </a:r>
                      <a:endParaRPr kumimoji="1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/>
                        <a:ea typeface="LG스마트체 Regular"/>
                        <a:cs typeface="Arial"/>
                      </a:endParaRPr>
                    </a:p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D : ’26.12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월 </a:t>
                      </a: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(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누적</a:t>
                      </a: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)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8312169"/>
                  </a:ext>
                </a:extLst>
              </a:tr>
              <a:tr h="468000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900" b="1" i="0" u="none" strike="noStrike" kern="1200" cap="none" spc="-3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3</a:t>
                      </a:r>
                      <a:r>
                        <a:rPr kumimoji="1" lang="ko-KR" altLang="en-US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점</a:t>
                      </a: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/>
                        <a:ea typeface="LG스마트체 Regular"/>
                        <a:cs typeface="Arial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170" marR="0" lvl="0" indent="-9017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Q : 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전극 </a:t>
                      </a:r>
                      <a:r>
                        <a:rPr kumimoji="1" lang="ko-KR" altLang="en-US" sz="1000" b="1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수율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 </a:t>
                      </a: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98.8% 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이상</a:t>
                      </a: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, 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수동 보정 횟수 </a:t>
                      </a:r>
                      <a:r>
                        <a:rPr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6</a:t>
                      </a:r>
                      <a:r>
                        <a:rPr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0</a:t>
                      </a: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% 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이상 저감</a:t>
                      </a:r>
                      <a:endParaRPr kumimoji="1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/>
                        <a:ea typeface="LG스마트체 Regular"/>
                        <a:cs typeface="Arial"/>
                      </a:endParaRPr>
                    </a:p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D : ’26.12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월 </a:t>
                      </a: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(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누적</a:t>
                      </a: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)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3781511"/>
                  </a:ext>
                </a:extLst>
              </a:tr>
              <a:tr h="468000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900" b="1" i="0" u="none" strike="noStrike" kern="1200" cap="none" spc="-3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2</a:t>
                      </a:r>
                      <a:r>
                        <a:rPr kumimoji="1" lang="ko-KR" altLang="en-US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점</a:t>
                      </a: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/>
                        <a:ea typeface="LG스마트체 Regular"/>
                        <a:cs typeface="Arial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170" marR="0" lvl="0" indent="-9017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Q : 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전극 </a:t>
                      </a:r>
                      <a:r>
                        <a:rPr kumimoji="1" lang="ko-KR" altLang="en-US" sz="1000" b="1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수율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 </a:t>
                      </a: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98.5% 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이상</a:t>
                      </a: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, 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수동 보정 횟수 </a:t>
                      </a:r>
                      <a:r>
                        <a:rPr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50</a:t>
                      </a: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% 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이상 저감</a:t>
                      </a:r>
                      <a:endParaRPr kumimoji="1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/>
                        <a:ea typeface="LG스마트체 Regular"/>
                        <a:cs typeface="Arial"/>
                      </a:endParaRPr>
                    </a:p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D : ’26.12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월 </a:t>
                      </a: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(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누적</a:t>
                      </a: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)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8170501"/>
                  </a:ext>
                </a:extLst>
              </a:tr>
              <a:tr h="468000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900" b="1" i="0" u="none" strike="noStrike" kern="1200" cap="none" spc="-3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1</a:t>
                      </a:r>
                      <a:r>
                        <a:rPr kumimoji="1" lang="ko-KR" altLang="en-US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점</a:t>
                      </a: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/>
                        <a:ea typeface="LG스마트체 Regular"/>
                        <a:cs typeface="Arial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170" marR="0" lvl="0" indent="-9017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Q : 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전극 </a:t>
                      </a:r>
                      <a:r>
                        <a:rPr kumimoji="1" lang="ko-KR" altLang="en-US" sz="10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수율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 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98.5% 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미만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, 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수동 보정 횟수 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5</a:t>
                      </a:r>
                      <a:r>
                        <a:rPr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0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% 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미만 저감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/>
                        <a:ea typeface="LG스마트체 Regular"/>
                        <a:cs typeface="Arial"/>
                      </a:endParaRPr>
                    </a:p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D : ’26.12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월 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(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누적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)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0330578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25697D00-5737-3E25-4002-38B0BE5252F4}"/>
              </a:ext>
            </a:extLst>
          </p:cNvPr>
          <p:cNvSpPr txBox="1"/>
          <p:nvPr/>
        </p:nvSpPr>
        <p:spPr>
          <a:xfrm>
            <a:off x="95895" y="174087"/>
            <a:ext cx="3853543" cy="369332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[ </a:t>
            </a:r>
            <a:r>
              <a:rPr kumimoji="1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자동보정담당 </a:t>
            </a:r>
            <a:r>
              <a:rPr kumimoji="1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/ </a:t>
            </a:r>
            <a:r>
              <a:rPr kumimoji="1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송무강 </a:t>
            </a:r>
            <a:r>
              <a:rPr kumimoji="1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/ </a:t>
            </a:r>
            <a:r>
              <a:rPr kumimoji="1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상무 </a:t>
            </a: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]</a:t>
            </a:r>
            <a:endParaRPr kumimoji="0" lang="ko-KR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206ED674-58FB-C6DC-0735-33629634BDCE}"/>
              </a:ext>
            </a:extLst>
          </p:cNvPr>
          <p:cNvGraphicFramePr>
            <a:graphicFrameLocks noGrp="1"/>
          </p:cNvGraphicFramePr>
          <p:nvPr/>
        </p:nvGraphicFramePr>
        <p:xfrm>
          <a:off x="2366382" y="2177438"/>
          <a:ext cx="3530576" cy="923570"/>
        </p:xfrm>
        <a:graphic>
          <a:graphicData uri="http://schemas.openxmlformats.org/drawingml/2006/table">
            <a:tbl>
              <a:tblPr/>
              <a:tblGrid>
                <a:gridCol w="489740">
                  <a:extLst>
                    <a:ext uri="{9D8B030D-6E8A-4147-A177-3AD203B41FA5}">
                      <a16:colId xmlns:a16="http://schemas.microsoft.com/office/drawing/2014/main" val="574979462"/>
                    </a:ext>
                  </a:extLst>
                </a:gridCol>
                <a:gridCol w="253403">
                  <a:extLst>
                    <a:ext uri="{9D8B030D-6E8A-4147-A177-3AD203B41FA5}">
                      <a16:colId xmlns:a16="http://schemas.microsoft.com/office/drawing/2014/main" val="1665369563"/>
                    </a:ext>
                  </a:extLst>
                </a:gridCol>
                <a:gridCol w="253403">
                  <a:extLst>
                    <a:ext uri="{9D8B030D-6E8A-4147-A177-3AD203B41FA5}">
                      <a16:colId xmlns:a16="http://schemas.microsoft.com/office/drawing/2014/main" val="2331062798"/>
                    </a:ext>
                  </a:extLst>
                </a:gridCol>
                <a:gridCol w="253403">
                  <a:extLst>
                    <a:ext uri="{9D8B030D-6E8A-4147-A177-3AD203B41FA5}">
                      <a16:colId xmlns:a16="http://schemas.microsoft.com/office/drawing/2014/main" val="882415928"/>
                    </a:ext>
                  </a:extLst>
                </a:gridCol>
                <a:gridCol w="253403">
                  <a:extLst>
                    <a:ext uri="{9D8B030D-6E8A-4147-A177-3AD203B41FA5}">
                      <a16:colId xmlns:a16="http://schemas.microsoft.com/office/drawing/2014/main" val="285040347"/>
                    </a:ext>
                  </a:extLst>
                </a:gridCol>
                <a:gridCol w="253403">
                  <a:extLst>
                    <a:ext uri="{9D8B030D-6E8A-4147-A177-3AD203B41FA5}">
                      <a16:colId xmlns:a16="http://schemas.microsoft.com/office/drawing/2014/main" val="1357906765"/>
                    </a:ext>
                  </a:extLst>
                </a:gridCol>
                <a:gridCol w="253403">
                  <a:extLst>
                    <a:ext uri="{9D8B030D-6E8A-4147-A177-3AD203B41FA5}">
                      <a16:colId xmlns:a16="http://schemas.microsoft.com/office/drawing/2014/main" val="1245209320"/>
                    </a:ext>
                  </a:extLst>
                </a:gridCol>
                <a:gridCol w="253403">
                  <a:extLst>
                    <a:ext uri="{9D8B030D-6E8A-4147-A177-3AD203B41FA5}">
                      <a16:colId xmlns:a16="http://schemas.microsoft.com/office/drawing/2014/main" val="2078433566"/>
                    </a:ext>
                  </a:extLst>
                </a:gridCol>
                <a:gridCol w="253403">
                  <a:extLst>
                    <a:ext uri="{9D8B030D-6E8A-4147-A177-3AD203B41FA5}">
                      <a16:colId xmlns:a16="http://schemas.microsoft.com/office/drawing/2014/main" val="3340108078"/>
                    </a:ext>
                  </a:extLst>
                </a:gridCol>
                <a:gridCol w="253403">
                  <a:extLst>
                    <a:ext uri="{9D8B030D-6E8A-4147-A177-3AD203B41FA5}">
                      <a16:colId xmlns:a16="http://schemas.microsoft.com/office/drawing/2014/main" val="2542405718"/>
                    </a:ext>
                  </a:extLst>
                </a:gridCol>
                <a:gridCol w="253403">
                  <a:extLst>
                    <a:ext uri="{9D8B030D-6E8A-4147-A177-3AD203B41FA5}">
                      <a16:colId xmlns:a16="http://schemas.microsoft.com/office/drawing/2014/main" val="63374019"/>
                    </a:ext>
                  </a:extLst>
                </a:gridCol>
                <a:gridCol w="253403">
                  <a:extLst>
                    <a:ext uri="{9D8B030D-6E8A-4147-A177-3AD203B41FA5}">
                      <a16:colId xmlns:a16="http://schemas.microsoft.com/office/drawing/2014/main" val="2150365164"/>
                    </a:ext>
                  </a:extLst>
                </a:gridCol>
                <a:gridCol w="253403">
                  <a:extLst>
                    <a:ext uri="{9D8B030D-6E8A-4147-A177-3AD203B41FA5}">
                      <a16:colId xmlns:a16="http://schemas.microsoft.com/office/drawing/2014/main" val="2718676677"/>
                    </a:ext>
                  </a:extLst>
                </a:gridCol>
              </a:tblGrid>
              <a:tr h="188276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구분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4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5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6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7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8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10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11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12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5649193"/>
                  </a:ext>
                </a:extLst>
              </a:tr>
              <a:tr h="188276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전극수율</a:t>
                      </a:r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(%)</a:t>
                      </a:r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97.3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98.2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98.6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98.7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98.7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98.8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98.8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98.9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98.9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99.0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99.0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99.0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59387325"/>
                  </a:ext>
                </a:extLst>
              </a:tr>
              <a:tr h="188276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800" b="1" i="0" u="none" strike="noStrike" kern="12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물동</a:t>
                      </a:r>
                      <a:r>
                        <a:rPr lang="en-US" altLang="ko-KR" sz="800" b="1" i="0" u="none" strike="noStrike" kern="12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lang="en-US" sz="800" b="1" i="0" u="none" strike="noStrike" kern="12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Km)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5,462 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4,407 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6,179 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4,943 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6,215 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4,861 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5,116 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5,708 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11,263 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11,009 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10,268 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8,988 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1887267"/>
                  </a:ext>
                </a:extLst>
              </a:tr>
              <a:tr h="358742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가중평균</a:t>
                      </a:r>
                      <a:endParaRPr lang="en-US" altLang="ko-KR" sz="800" b="1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algn="ctr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800" b="1" i="0" u="none" strike="noStrike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누적수율</a:t>
                      </a:r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altLang="en-US" sz="800" b="1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97.3 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97.7 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98.1 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98.2 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98.3 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98.4 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98.5 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98.5 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98.6 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98.7 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98.7 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98.8 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5034748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7B33BE60-3AF8-F085-3CFE-7E06057E5F4D}"/>
              </a:ext>
            </a:extLst>
          </p:cNvPr>
          <p:cNvSpPr/>
          <p:nvPr/>
        </p:nvSpPr>
        <p:spPr>
          <a:xfrm>
            <a:off x="3842599" y="3091659"/>
            <a:ext cx="2269532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※ 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산출 로직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가중평균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)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: 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누적 </a:t>
            </a:r>
            <a:r>
              <a:rPr kumimoji="0" lang="ko-KR" altLang="en-US" sz="900" b="0" i="0" u="none" strike="noStrike" kern="1200" cap="none" spc="-30" normalizeH="0" baseline="0" noProof="0" err="1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수율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/ 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누적 생산량 </a:t>
            </a:r>
            <a:endParaRPr kumimoji="0" lang="ko-KR" altLang="en-US" sz="900" b="0" i="0" u="none" strike="noStrike" kern="1200" cap="none" spc="0" normalizeH="0" baseline="0" noProof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823612C-55FC-094A-5F96-EAA5A53280BC}"/>
              </a:ext>
            </a:extLst>
          </p:cNvPr>
          <p:cNvSpPr/>
          <p:nvPr/>
        </p:nvSpPr>
        <p:spPr>
          <a:xfrm>
            <a:off x="4475366" y="4222801"/>
            <a:ext cx="1538883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* 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목표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(3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점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) 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대비 평가 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Scale 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산출</a:t>
            </a:r>
            <a:endParaRPr kumimoji="0" lang="ko-KR" altLang="en-US" sz="900" b="0" i="0" u="none" strike="noStrike" kern="1200" cap="none" spc="0" normalizeH="0" baseline="0" noProof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FABA7C-2A8D-750B-9865-813BB9E6A6C9}"/>
              </a:ext>
            </a:extLst>
          </p:cNvPr>
          <p:cNvSpPr txBox="1"/>
          <p:nvPr/>
        </p:nvSpPr>
        <p:spPr>
          <a:xfrm>
            <a:off x="5124262" y="119658"/>
            <a:ext cx="4645564" cy="338554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➋ 목표 산정 근거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/ 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분기 목표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/ 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평가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Description 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근거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(5/10)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75B3ECD-3DEE-CF03-7110-4345DC6F8ADF}"/>
              </a:ext>
            </a:extLst>
          </p:cNvPr>
          <p:cNvSpPr txBox="1"/>
          <p:nvPr/>
        </p:nvSpPr>
        <p:spPr>
          <a:xfrm>
            <a:off x="4454656" y="106918"/>
            <a:ext cx="886091" cy="369332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[</a:t>
            </a:r>
            <a:r>
              <a: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유첨</a:t>
            </a: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]</a:t>
            </a:r>
            <a:endParaRPr kumimoji="1" lang="ko-KR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633292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B9C37865-26CB-5DE1-C0BC-3987EE0D9176}"/>
              </a:ext>
            </a:extLst>
          </p:cNvPr>
          <p:cNvGraphicFramePr>
            <a:graphicFrameLocks noGrp="1"/>
          </p:cNvGraphicFramePr>
          <p:nvPr/>
        </p:nvGraphicFramePr>
        <p:xfrm>
          <a:off x="173693" y="620688"/>
          <a:ext cx="9541529" cy="6134253"/>
        </p:xfrm>
        <a:graphic>
          <a:graphicData uri="http://schemas.openxmlformats.org/drawingml/2006/table">
            <a:tbl>
              <a:tblPr/>
              <a:tblGrid>
                <a:gridCol w="612441">
                  <a:extLst>
                    <a:ext uri="{9D8B030D-6E8A-4147-A177-3AD203B41FA5}">
                      <a16:colId xmlns:a16="http://schemas.microsoft.com/office/drawing/2014/main" val="1583461695"/>
                    </a:ext>
                  </a:extLst>
                </a:gridCol>
                <a:gridCol w="1224883">
                  <a:extLst>
                    <a:ext uri="{9D8B030D-6E8A-4147-A177-3AD203B41FA5}">
                      <a16:colId xmlns:a16="http://schemas.microsoft.com/office/drawing/2014/main" val="4227781156"/>
                    </a:ext>
                  </a:extLst>
                </a:gridCol>
                <a:gridCol w="288208">
                  <a:extLst>
                    <a:ext uri="{9D8B030D-6E8A-4147-A177-3AD203B41FA5}">
                      <a16:colId xmlns:a16="http://schemas.microsoft.com/office/drawing/2014/main" val="2487817271"/>
                    </a:ext>
                  </a:extLst>
                </a:gridCol>
                <a:gridCol w="3707999">
                  <a:extLst>
                    <a:ext uri="{9D8B030D-6E8A-4147-A177-3AD203B41FA5}">
                      <a16:colId xmlns:a16="http://schemas.microsoft.com/office/drawing/2014/main" val="4115920672"/>
                    </a:ext>
                  </a:extLst>
                </a:gridCol>
                <a:gridCol w="287999">
                  <a:extLst>
                    <a:ext uri="{9D8B030D-6E8A-4147-A177-3AD203B41FA5}">
                      <a16:colId xmlns:a16="http://schemas.microsoft.com/office/drawing/2014/main" val="2409402569"/>
                    </a:ext>
                  </a:extLst>
                </a:gridCol>
                <a:gridCol w="3419999">
                  <a:extLst>
                    <a:ext uri="{9D8B030D-6E8A-4147-A177-3AD203B41FA5}">
                      <a16:colId xmlns:a16="http://schemas.microsoft.com/office/drawing/2014/main" val="3282466944"/>
                    </a:ext>
                  </a:extLst>
                </a:gridCol>
              </a:tblGrid>
              <a:tr h="16126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1" i="0" u="none" strike="noStrike" kern="1200" spc="-10">
                          <a:solidFill>
                            <a:srgbClr val="000000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’26</a:t>
                      </a:r>
                      <a:r>
                        <a:rPr lang="ko-KR" altLang="en-US" sz="1000" b="1" i="0" u="none" strike="noStrike" kern="1200" spc="-10">
                          <a:solidFill>
                            <a:srgbClr val="000000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년 </a:t>
                      </a:r>
                      <a:r>
                        <a:rPr lang="en-US" altLang="ko-KR" sz="1000" b="1" i="0" u="none" strike="noStrike" kern="1200" spc="-10">
                          <a:solidFill>
                            <a:srgbClr val="000000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KPI</a:t>
                      </a:r>
                      <a:endParaRPr lang="ko-KR" altLang="en-US" sz="1000" b="1" i="0" u="none" strike="noStrike" kern="1200" spc="-10">
                        <a:solidFill>
                          <a:srgbClr val="000000"/>
                        </a:solidFill>
                        <a:latin typeface="Arial Narrow"/>
                        <a:ea typeface="LG스마트체 Regular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i="0" u="none" strike="noStrike" kern="1200" spc="-10">
                          <a:solidFill>
                            <a:srgbClr val="000000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상세 목표</a:t>
                      </a:r>
                      <a:endParaRPr lang="en-US" altLang="ko-KR" sz="1000" b="1" i="0" u="none" strike="noStrike" kern="1200" spc="-10">
                        <a:solidFill>
                          <a:srgbClr val="000000"/>
                        </a:solidFill>
                        <a:latin typeface="Arial Narrow"/>
                        <a:ea typeface="LG스마트체 Regular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i="0" u="none" strike="noStrike" kern="1200" spc="-10">
                          <a:solidFill>
                            <a:srgbClr val="000000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비중</a:t>
                      </a:r>
                      <a:endParaRPr lang="en-US" altLang="ko-KR" sz="1000" b="1" i="0" u="none" strike="noStrike" kern="1200" spc="-10">
                        <a:solidFill>
                          <a:srgbClr val="000000"/>
                        </a:solidFill>
                        <a:latin typeface="Arial Narrow"/>
                        <a:ea typeface="LG스마트체 Regular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  <a:cs typeface="Arial"/>
                        </a:rPr>
                        <a:t>목표 설정 근거</a:t>
                      </a: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/>
                        <a:ea typeface="LG스마트체 Regular"/>
                        <a:cs typeface="Arial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  <a:cs typeface="Arial"/>
                        </a:rPr>
                        <a:t>분기 목표 및 실행 계획</a:t>
                      </a: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/>
                        <a:ea typeface="LG스마트체 Regular"/>
                        <a:cs typeface="Arial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8957706"/>
                  </a:ext>
                </a:extLst>
              </a:tr>
              <a:tr h="252000">
                <a:tc rowSpan="11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92075" indent="-92075" algn="l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SzPct val="100000"/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1" kern="1200" spc="-1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셀 공정</a:t>
                      </a:r>
                      <a:br>
                        <a:rPr lang="ko-KR" altLang="en-US" sz="1000" b="1" kern="1200" spc="-1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</a:br>
                      <a:r>
                        <a:rPr lang="ko-KR" altLang="en-US" sz="1000" b="1" kern="1200" spc="-1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자동보정 </a:t>
                      </a:r>
                      <a:r>
                        <a:rPr lang="en-US" altLang="ko-KR" sz="1000" b="1" kern="1200" spc="-1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Coverage </a:t>
                      </a:r>
                      <a:r>
                        <a:rPr lang="ko-KR" altLang="en-US" sz="1000" b="1" kern="1200" spc="-1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확대를 통한 불량 개선</a:t>
                      </a: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11">
                  <a:txBody>
                    <a:bodyPr/>
                    <a:lstStyle/>
                    <a:p>
                      <a:pPr marL="71755" marR="0" lvl="0" indent="-71755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1000" b="1" kern="1200" spc="-5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NFF</a:t>
                      </a:r>
                      <a:r>
                        <a:rPr kumimoji="1" lang="ko-KR" altLang="en-US" sz="1000" b="1" kern="1200" spc="-5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 셀</a:t>
                      </a:r>
                      <a:r>
                        <a:rPr kumimoji="1" lang="en-US" altLang="ko-KR" sz="1000" b="1" kern="1200" spc="-5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 </a:t>
                      </a:r>
                      <a:r>
                        <a:rPr kumimoji="1" lang="ko-KR" altLang="en-US" sz="1000" b="1" kern="1200" spc="-5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수율 개선</a:t>
                      </a:r>
                      <a:endParaRPr kumimoji="1" lang="en-US" altLang="ko-KR" sz="1000" b="0" i="0" u="none" strike="noStrike" kern="1200" cap="none" spc="-5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/>
                        <a:ea typeface="LG스마트체 Regular"/>
                        <a:cs typeface="+mn-cs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spc="-7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    - Q : </a:t>
                      </a:r>
                      <a:r>
                        <a:rPr kumimoji="1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셀 수율 </a:t>
                      </a:r>
                      <a:r>
                        <a:rPr kumimoji="1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97.7% </a:t>
                      </a:r>
                      <a:r>
                        <a:rPr kumimoji="1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이상</a:t>
                      </a:r>
                      <a:endParaRPr kumimoji="1" lang="en-US" altLang="ko-KR" sz="1000" b="0" i="0" u="none" strike="noStrike" kern="1200" cap="none" spc="-7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/>
                        <a:ea typeface="LG스마트체 Regular"/>
                        <a:cs typeface="+mn-cs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spc="-5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    - D : ’26.12</a:t>
                      </a:r>
                      <a:r>
                        <a:rPr kumimoji="1" lang="ko-KR" altLang="en-US" sz="1000" b="0" i="0" u="none" strike="noStrike" kern="1200" cap="none" spc="-5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월 </a:t>
                      </a:r>
                      <a:r>
                        <a:rPr kumimoji="1" lang="en-US" altLang="ko-KR" sz="1000" b="0" i="0" u="none" strike="noStrike" kern="1200" cap="none" spc="-5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(</a:t>
                      </a:r>
                      <a:r>
                        <a:rPr kumimoji="1" lang="ko-KR" altLang="en-US" sz="1000" b="0" i="0" u="none" strike="noStrike" kern="1200" cap="none" spc="-5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누적</a:t>
                      </a:r>
                      <a:r>
                        <a:rPr kumimoji="1" lang="en-US" altLang="ko-KR" sz="1000" b="0" i="0" u="none" strike="noStrike" kern="1200" cap="none" spc="-5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) </a:t>
                      </a:r>
                      <a:endParaRPr kumimoji="0" lang="en-US" altLang="ko-KR" sz="1000" b="1" i="0" u="none" strike="noStrike" kern="1200" cap="none" spc="-1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/>
                        <a:ea typeface="LG스마트체 Regular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1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5%</a:t>
                      </a: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5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-40" normalizeH="0" baseline="0" noProof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40" normalizeH="0" baseline="0" noProof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[</a:t>
                      </a:r>
                      <a:r>
                        <a:rPr kumimoji="0" lang="ko-KR" altLang="en-US" sz="1000" b="1" i="0" u="none" strike="noStrike" kern="1200" cap="none" spc="-40" normalizeH="0" baseline="0" noProof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전년실적</a:t>
                      </a:r>
                      <a:r>
                        <a:rPr kumimoji="0" lang="en-US" altLang="ko-KR" sz="1000" b="1" i="0" u="none" strike="noStrike" kern="1200" cap="none" spc="-40" normalizeH="0" baseline="0" noProof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 </a:t>
                      </a:r>
                      <a:r>
                        <a:rPr kumimoji="0" lang="ko-KR" altLang="en-US" sz="1000" b="1" i="0" u="none" strike="noStrike" kern="1200" cap="none" spc="-40" normalizeH="0" baseline="0" noProof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셀 </a:t>
                      </a:r>
                      <a:r>
                        <a:rPr kumimoji="0" lang="ko-KR" altLang="en-US" sz="1000" b="1" i="0" u="none" strike="noStrike" kern="1200" cap="none" spc="-50" normalizeH="0" baseline="0" noProof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 </a:t>
                      </a:r>
                      <a:r>
                        <a:rPr kumimoji="0" lang="en-US" altLang="ko-KR" sz="1000" b="1" i="0" u="none" strike="noStrike" kern="1200" cap="none" spc="-50" normalizeH="0" baseline="0" noProof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94.7%  - N32S PV(’25.12</a:t>
                      </a:r>
                      <a:r>
                        <a:rPr kumimoji="0" lang="ko-KR" altLang="en-US" sz="1000" b="1" i="0" u="none" strike="noStrike" kern="1200" cap="none" spc="-50" normalizeH="0" baseline="0" noProof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월</a:t>
                      </a:r>
                      <a:r>
                        <a:rPr kumimoji="0" lang="en-US" altLang="ko-KR" sz="1000" b="1" i="0" u="none" strike="noStrike" kern="1200" cap="none" spc="-50" normalizeH="0" baseline="0" noProof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noProof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                    (</a:t>
                      </a:r>
                      <a:r>
                        <a:rPr kumimoji="0" lang="ko-KR" altLang="en-US" sz="1000" b="1" i="0" u="none" strike="noStrike" kern="1200" cap="none" spc="-50" normalizeH="0" baseline="0" noProof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와인더 </a:t>
                      </a:r>
                      <a:r>
                        <a:rPr kumimoji="0" lang="en-US" altLang="ko-KR" sz="1000" b="1" i="0" u="none" strike="noStrike" kern="1200" cap="none" spc="-50" normalizeH="0" baseline="0" noProof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95.7 X </a:t>
                      </a:r>
                      <a:r>
                        <a:rPr kumimoji="0" lang="ko-KR" altLang="en-US" sz="1000" b="1" i="0" u="none" strike="noStrike" kern="1200" cap="none" spc="-50" normalizeH="0" baseline="0" noProof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조립 </a:t>
                      </a:r>
                      <a:r>
                        <a:rPr kumimoji="0" lang="en-US" altLang="ko-KR" sz="1000" b="1" i="0" u="none" strike="noStrike" kern="1200" cap="none" spc="-50" normalizeH="0" baseline="0" noProof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99.1 X </a:t>
                      </a:r>
                      <a:r>
                        <a:rPr kumimoji="0" lang="ko-KR" altLang="en-US" sz="1000" b="1" i="0" u="none" strike="noStrike" kern="1200" cap="none" spc="-50" normalizeH="0" baseline="0" noProof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활성화 </a:t>
                      </a:r>
                      <a:r>
                        <a:rPr kumimoji="0" lang="en-US" altLang="ko-KR" sz="1000" b="1" i="0" u="none" strike="noStrike" kern="1200" cap="none" spc="-50" normalizeH="0" baseline="0" noProof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99.9, ‘25.12</a:t>
                      </a:r>
                      <a:r>
                        <a:rPr kumimoji="0" lang="ko-KR" altLang="en-US" sz="1000" b="1" i="0" u="none" strike="noStrike" kern="1200" cap="none" spc="-50" normalizeH="0" baseline="0" noProof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월 실적 기준</a:t>
                      </a:r>
                      <a:r>
                        <a:rPr kumimoji="0" lang="en-US" altLang="ko-KR" sz="1000" b="1" i="0" u="none" strike="noStrike" kern="1200" cap="none" spc="-50" normalizeH="0" baseline="0" noProof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-5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4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사업계획 목표 수립</a:t>
                      </a:r>
                      <a:endParaRPr kumimoji="0" lang="en-US" altLang="ko-KR" sz="1000" b="1" i="0" u="none" strike="noStrike" kern="1200" cap="none" spc="-4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-4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셀 수율 </a:t>
                      </a:r>
                      <a:r>
                        <a:rPr kumimoji="0" lang="en-US" altLang="ko-KR" sz="1000" b="0" i="0" u="none" strike="noStrike" kern="1200" cap="none" spc="-4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12</a:t>
                      </a:r>
                      <a:r>
                        <a:rPr kumimoji="0" lang="ko-KR" altLang="en-US" sz="1000" b="0" i="0" u="none" strike="noStrike" kern="1200" cap="none" spc="-4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월 </a:t>
                      </a:r>
                      <a:r>
                        <a:rPr kumimoji="0" lang="en-US" altLang="ko-KR" sz="1000" b="0" i="0" u="none" strike="noStrike" kern="1200" cap="none" spc="-4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97.7% (</a:t>
                      </a:r>
                      <a:r>
                        <a:rPr kumimoji="0" lang="ko-KR" altLang="en-US" sz="1000" b="0" i="0" u="none" strike="noStrike" kern="1200" cap="none" spc="-4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누적</a:t>
                      </a:r>
                      <a:r>
                        <a:rPr kumimoji="0" lang="en-US" altLang="ko-KR" sz="1000" b="0" i="0" u="none" strike="noStrike" kern="1200" cap="none" spc="-4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4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12</a:t>
                      </a:r>
                      <a:r>
                        <a:rPr kumimoji="0" lang="ko-KR" altLang="en-US" sz="1000" b="0" i="0" u="none" strike="noStrike" kern="1200" cap="none" spc="-4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월 셀 수율</a:t>
                      </a:r>
                      <a:r>
                        <a:rPr kumimoji="0" lang="en-US" altLang="ko-KR" sz="1000" b="0" i="0" u="none" strike="noStrike" kern="1200" cap="none" spc="-4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(%) = </a:t>
                      </a:r>
                      <a:r>
                        <a:rPr kumimoji="0" lang="ko-KR" altLang="en-US" sz="1000" b="0" i="0" u="none" strike="noStrike" kern="1200" cap="none" spc="-4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와인더 수율 </a:t>
                      </a:r>
                      <a:r>
                        <a:rPr kumimoji="0" lang="en-US" altLang="ko-KR" sz="1000" b="0" i="0" u="none" strike="noStrike" kern="1200" cap="none" spc="-4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X </a:t>
                      </a:r>
                      <a:r>
                        <a:rPr kumimoji="0" lang="ko-KR" altLang="en-US" sz="1000" b="0" i="0" u="none" strike="noStrike" kern="1200" cap="none" spc="-4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조립 수율 </a:t>
                      </a:r>
                      <a:r>
                        <a:rPr kumimoji="0" lang="en-US" altLang="ko-KR" sz="1000" b="0" i="0" u="none" strike="noStrike" kern="1200" cap="none" spc="-4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X </a:t>
                      </a:r>
                      <a:r>
                        <a:rPr kumimoji="0" lang="ko-KR" altLang="en-US" sz="1000" b="0" i="0" u="none" strike="noStrike" kern="1200" cap="none" spc="-4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활성화 수율</a:t>
                      </a:r>
                      <a:br>
                        <a:rPr kumimoji="0" lang="en-US" altLang="ko-KR" sz="1000" b="0" i="0" u="none" strike="noStrike" kern="1200" cap="none" spc="-4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-4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Total 98.0% = 99.0% X 99.3% X 99.7%</a:t>
                      </a: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1000" b="0" i="0" u="none" strike="noStrike" kern="1200" cap="none" spc="-4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1000" b="0" i="0" u="none" strike="noStrike" kern="1200" cap="none" spc="-4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1000" b="0" i="0" u="none" strike="noStrike" kern="1200" cap="none" spc="-4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1000" b="0" i="0" u="none" strike="noStrike" kern="1200" cap="none" spc="-4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1000" b="0" i="0" u="none" strike="noStrike" kern="1200" cap="none" spc="-4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1000" b="0" i="0" u="none" strike="noStrike" kern="1200" cap="none" spc="-4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1000" b="0" i="0" u="none" strike="noStrike" kern="1200" cap="none" spc="-4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1000" b="0" i="0" u="none" strike="noStrike" kern="1200" cap="none" spc="-4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85725" marR="0" lvl="0" indent="-85725" algn="l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1000" b="1" i="0" u="none" strike="noStrike" kern="1200" cap="none" spc="-4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대상 라인</a:t>
                      </a:r>
                      <a:br>
                        <a:rPr kumimoji="0" lang="ko-KR" altLang="en-US" sz="1000" b="0" i="0" u="none" strike="noStrike" kern="1200" cap="none" spc="-4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</a:br>
                      <a:r>
                        <a:rPr lang="ko-KR" altLang="en-US" sz="1000" b="0" i="0" u="none" strike="noStrike" kern="1200" cap="none" spc="-4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EP2 와인더,조립 2라인 </a:t>
                      </a:r>
                      <a:br>
                        <a:rPr lang="en-US" altLang="ko-KR" sz="1000" b="0" i="0" u="none" strike="noStrike" kern="1200" cap="none" spc="-4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  </a:t>
                      </a:r>
                      <a:endParaRPr kumimoji="0" lang="ko-KR" altLang="en-US" sz="1000" b="1" i="0" u="none" strike="noStrike" kern="1200" cap="none" spc="-30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/>
                        <a:ea typeface="LG스마트체 Regular"/>
                        <a:cs typeface="+mn-cs"/>
                      </a:endParaRPr>
                    </a:p>
                  </a:txBody>
                  <a:tcPr marL="36000" marR="0" marT="0" marB="0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1Q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170" marR="0" lvl="0" indent="-9017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셀 수율 </a:t>
                      </a: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96.9% (1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월</a:t>
                      </a: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~ 3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월 누적</a:t>
                      </a: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)</a:t>
                      </a:r>
                      <a:endParaRPr kumimoji="1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/>
                        <a:ea typeface="LG스마트체 Regular"/>
                        <a:cs typeface="Arial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6654165"/>
                  </a:ext>
                </a:extLst>
              </a:tr>
              <a:tr h="252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2Q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170" marR="0" lvl="0" indent="-9017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셀 수율 </a:t>
                      </a: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97.4% (1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월</a:t>
                      </a: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~ 6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월 누적</a:t>
                      </a: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)</a:t>
                      </a:r>
                      <a:endParaRPr kumimoji="1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/>
                        <a:ea typeface="LG스마트체 Regular"/>
                        <a:cs typeface="Arial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8396706"/>
                  </a:ext>
                </a:extLst>
              </a:tr>
              <a:tr h="252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3Q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170" marR="0" lvl="0" indent="-9017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셀 </a:t>
                      </a:r>
                      <a:r>
                        <a:rPr kumimoji="1" lang="ko-KR" altLang="en-US" sz="1000" b="1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수율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 </a:t>
                      </a: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97.5%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 </a:t>
                      </a: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(1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월 </a:t>
                      </a: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~ 9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월 누적</a:t>
                      </a: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)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1808293"/>
                  </a:ext>
                </a:extLst>
              </a:tr>
              <a:tr h="252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4Q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170" marR="0" lvl="0" indent="-9017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셀 </a:t>
                      </a:r>
                      <a:r>
                        <a:rPr kumimoji="1" lang="ko-KR" altLang="en-US" sz="1000" b="1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수율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 </a:t>
                      </a: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97.7%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 </a:t>
                      </a: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(1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월 </a:t>
                      </a: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~ 12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월 누적</a:t>
                      </a: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)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5647809"/>
                  </a:ext>
                </a:extLst>
              </a:tr>
              <a:tr h="1804709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1" i="0" u="none" strike="noStrike" kern="1200" cap="none" spc="-1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0" marB="0" anchor="ctr" horzOverflow="overflow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ko-KR" altLang="en-US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실행</a:t>
                      </a:r>
                      <a:br>
                        <a:rPr kumimoji="1" lang="en-US" altLang="ko-KR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</a:br>
                      <a:r>
                        <a:rPr kumimoji="1" lang="ko-KR" altLang="en-US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계획</a:t>
                      </a: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/>
                        <a:ea typeface="LG스마트체 Regular"/>
                        <a:cs typeface="Arial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[1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분기</a:t>
                      </a: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]</a:t>
                      </a: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개선 과제 도출 및 개발 착수</a:t>
                      </a:r>
                      <a:endParaRPr kumimoji="1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- [</a:t>
                      </a:r>
                      <a:r>
                        <a:rPr kumimoji="1" lang="ko-KR" altLang="en-US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와인더</a:t>
                      </a:r>
                      <a:r>
                        <a:rPr kumimoji="1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] </a:t>
                      </a:r>
                      <a:r>
                        <a:rPr kumimoji="1" lang="ko-KR" altLang="en-US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권취</a:t>
                      </a:r>
                      <a:r>
                        <a:rPr kumimoji="1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구간길이 자동설정 기능 개발</a:t>
                      </a:r>
                      <a:endParaRPr kumimoji="1"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- [</a:t>
                      </a:r>
                      <a:r>
                        <a:rPr kumimoji="1" lang="ko-KR" altLang="en-US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와인더</a:t>
                      </a:r>
                      <a:r>
                        <a:rPr kumimoji="1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] </a:t>
                      </a:r>
                      <a:r>
                        <a:rPr kumimoji="1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전극 투입량</a:t>
                      </a:r>
                      <a:r>
                        <a:rPr kumimoji="1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(S2, C2), </a:t>
                      </a:r>
                      <a:r>
                        <a:rPr kumimoji="1" lang="ko-KR" altLang="en-US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분리막</a:t>
                      </a:r>
                      <a:r>
                        <a:rPr kumimoji="1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잔량</a:t>
                      </a:r>
                      <a:r>
                        <a:rPr kumimoji="1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(S7)</a:t>
                      </a:r>
                      <a:r>
                        <a:rPr kumimoji="1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자동보정 기술 개발</a:t>
                      </a:r>
                      <a:endParaRPr kumimoji="1"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- [</a:t>
                      </a:r>
                      <a:r>
                        <a:rPr kumimoji="1" lang="ko-KR" altLang="en-US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와인더</a:t>
                      </a:r>
                      <a:r>
                        <a:rPr kumimoji="1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] Forming </a:t>
                      </a:r>
                      <a:r>
                        <a:rPr kumimoji="1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후 </a:t>
                      </a:r>
                      <a:r>
                        <a:rPr kumimoji="1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J/R </a:t>
                      </a:r>
                      <a:r>
                        <a:rPr kumimoji="1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높이</a:t>
                      </a:r>
                      <a:r>
                        <a:rPr kumimoji="1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(L1)</a:t>
                      </a:r>
                      <a:r>
                        <a:rPr kumimoji="1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자동보정 기술 개발</a:t>
                      </a:r>
                      <a:endParaRPr kumimoji="1"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- [</a:t>
                      </a:r>
                      <a:r>
                        <a:rPr kumimoji="1" lang="ko-KR" altLang="en-US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와인더</a:t>
                      </a:r>
                      <a:r>
                        <a:rPr kumimoji="1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] </a:t>
                      </a:r>
                      <a:r>
                        <a:rPr kumimoji="1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주행 </a:t>
                      </a:r>
                      <a:r>
                        <a:rPr kumimoji="1" lang="ko-KR" altLang="en-US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포밍</a:t>
                      </a:r>
                      <a:r>
                        <a:rPr kumimoji="1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각도 자동보정 기술개발</a:t>
                      </a:r>
                      <a:endParaRPr kumimoji="1"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- [</a:t>
                      </a:r>
                      <a:r>
                        <a:rPr kumimoji="1" lang="ko-KR" altLang="en-US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와인더</a:t>
                      </a:r>
                      <a:r>
                        <a:rPr kumimoji="1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] </a:t>
                      </a:r>
                      <a:r>
                        <a:rPr kumimoji="1" lang="ko-KR" altLang="en-US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권심별</a:t>
                      </a:r>
                      <a:r>
                        <a:rPr kumimoji="1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사행 자동보정 기술개발</a:t>
                      </a:r>
                      <a:r>
                        <a:rPr kumimoji="1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br>
                        <a:rPr kumimoji="1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[2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분기</a:t>
                      </a: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]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- EP2 2</a:t>
                      </a:r>
                      <a:r>
                        <a:rPr kumimoji="1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라인 대표호기 적용 및 효과 검증</a:t>
                      </a:r>
                      <a:endParaRPr kumimoji="1"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[3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분기</a:t>
                      </a: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]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85725" algn="l"/>
                        </a:tabLst>
                        <a:defRPr/>
                      </a:pPr>
                      <a:r>
                        <a:rPr kumimoji="1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- EP2 </a:t>
                      </a:r>
                      <a:r>
                        <a:rPr kumimoji="1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전 호기 수평전개</a:t>
                      </a:r>
                      <a:endParaRPr kumimoji="1"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85725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[4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분기</a:t>
                      </a: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]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85725" algn="l"/>
                        </a:tabLst>
                        <a:defRPr/>
                      </a:pPr>
                      <a:r>
                        <a:rPr kumimoji="1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- </a:t>
                      </a:r>
                      <a:r>
                        <a:rPr kumimoji="1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개선안 적용 후 결과 모니터링 및 유지관리</a:t>
                      </a:r>
                      <a:r>
                        <a:rPr kumimoji="1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 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579272"/>
                  </a:ext>
                </a:extLst>
              </a:tr>
              <a:tr h="161265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  <a:cs typeface="Arial"/>
                        </a:rPr>
                        <a:t>평가 </a:t>
                      </a:r>
                      <a:r>
                        <a:rPr kumimoji="1" lang="en-US" altLang="ko-KR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  <a:cs typeface="Arial"/>
                        </a:rPr>
                        <a:t>Scale </a:t>
                      </a: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  <a:cs typeface="Arial"/>
                        </a:rPr>
                        <a:t>산출 로직</a:t>
                      </a: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/>
                        <a:ea typeface="LG스마트체 Regular"/>
                        <a:cs typeface="Arial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  <a:cs typeface="Arial"/>
                        </a:rPr>
                        <a:t>평가 </a:t>
                      </a:r>
                      <a:r>
                        <a:rPr kumimoji="1" lang="en-US" altLang="ko-KR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  <a:cs typeface="Arial"/>
                        </a:rPr>
                        <a:t>Description</a:t>
                      </a: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/>
                        <a:ea typeface="LG스마트체 Regular"/>
                        <a:cs typeface="Arial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endParaRPr kumimoji="1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6705988"/>
                  </a:ext>
                </a:extLst>
              </a:tr>
              <a:tr h="468000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5">
                  <a:txBody>
                    <a:bodyPr/>
                    <a:lstStyle/>
                    <a:p>
                      <a:pPr marL="89535" marR="0" lvl="0" indent="-8953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평가 </a:t>
                      </a:r>
                      <a: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Description </a:t>
                      </a:r>
                      <a:r>
                        <a:rPr kumimoji="0" lang="ko-KR" altLang="en-US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배점에 대한 산출 로직</a:t>
                      </a:r>
                      <a:b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5</a:t>
                      </a:r>
                      <a:r>
                        <a:rPr kumimoji="0" lang="ko-KR" altLang="en-US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점 </a:t>
                      </a:r>
                      <a: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</a:t>
                      </a:r>
                      <a:r>
                        <a:rPr kumimoji="0" lang="ko-KR" altLang="en-US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셀 수율 </a:t>
                      </a:r>
                      <a: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20% </a:t>
                      </a:r>
                      <a:r>
                        <a:rPr kumimoji="0" lang="ko-KR" altLang="en-US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추가</a:t>
                      </a:r>
                      <a: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ko-KR" altLang="en-US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증가 </a:t>
                      </a:r>
                      <a: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 </a:t>
                      </a:r>
                      <a: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+ (100%-</a:t>
                      </a:r>
                      <a:r>
                        <a:rPr kumimoji="0" lang="ko-KR" altLang="en-US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</a:t>
                      </a:r>
                      <a: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)*20%)</a:t>
                      </a:r>
                      <a:b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4</a:t>
                      </a:r>
                      <a:r>
                        <a:rPr kumimoji="0" lang="ko-KR" altLang="en-US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점 </a:t>
                      </a:r>
                      <a: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</a:t>
                      </a:r>
                      <a:r>
                        <a:rPr kumimoji="0" lang="ko-KR" altLang="en-US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셀 수율 </a:t>
                      </a:r>
                      <a: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10% </a:t>
                      </a:r>
                      <a:r>
                        <a:rPr kumimoji="0" lang="ko-KR" altLang="en-US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추가 증가 </a:t>
                      </a:r>
                      <a: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 </a:t>
                      </a:r>
                      <a: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+ (100%-</a:t>
                      </a:r>
                      <a:r>
                        <a:rPr kumimoji="0" lang="ko-KR" altLang="en-US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</a:t>
                      </a:r>
                      <a: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)*10%)</a:t>
                      </a:r>
                      <a:b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</a:t>
                      </a:r>
                      <a:r>
                        <a:rPr kumimoji="0" lang="ko-KR" altLang="en-US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점 </a:t>
                      </a:r>
                      <a: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</a:t>
                      </a:r>
                      <a:r>
                        <a:rPr kumimoji="0" lang="ko-KR" altLang="en-US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셀 수율 </a:t>
                      </a:r>
                      <a: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20% </a:t>
                      </a:r>
                      <a:r>
                        <a:rPr kumimoji="0" lang="ko-KR" altLang="en-US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감소 </a:t>
                      </a:r>
                      <a: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 </a:t>
                      </a:r>
                      <a: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– (100%-</a:t>
                      </a:r>
                      <a:r>
                        <a:rPr kumimoji="0" lang="ko-KR" altLang="en-US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</a:t>
                      </a:r>
                      <a: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)*20%)</a:t>
                      </a:r>
                      <a:b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</a:t>
                      </a:r>
                      <a:r>
                        <a:rPr kumimoji="0" lang="ko-KR" altLang="en-US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점 </a:t>
                      </a:r>
                      <a: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</a:t>
                      </a:r>
                      <a:r>
                        <a:rPr kumimoji="0" lang="ko-KR" altLang="en-US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셀 수율 </a:t>
                      </a:r>
                      <a: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20% </a:t>
                      </a:r>
                      <a:r>
                        <a:rPr kumimoji="0" lang="ko-KR" altLang="en-US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초과 감소 </a:t>
                      </a:r>
                      <a: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 </a:t>
                      </a:r>
                      <a: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(100%-</a:t>
                      </a:r>
                      <a:r>
                        <a:rPr kumimoji="0" lang="ko-KR" altLang="en-US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</a:t>
                      </a:r>
                      <a: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)*20%)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5</a:t>
                      </a:r>
                      <a:r>
                        <a:rPr kumimoji="1" lang="ko-KR" altLang="en-US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점</a:t>
                      </a: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/>
                        <a:ea typeface="LG스마트체 Regular"/>
                        <a:cs typeface="Arial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170" marR="0" lvl="0" indent="-9017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Q : 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셀 수율 </a:t>
                      </a: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98.2%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이상</a:t>
                      </a:r>
                      <a:endParaRPr kumimoji="1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D : 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‘</a:t>
                      </a: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26.12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월 </a:t>
                      </a: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(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누적</a:t>
                      </a: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)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9652368"/>
                  </a:ext>
                </a:extLst>
              </a:tr>
              <a:tr h="468000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900" b="1" i="0" u="none" strike="noStrike" kern="1200" cap="none" spc="-3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4</a:t>
                      </a:r>
                      <a:r>
                        <a:rPr kumimoji="1" lang="ko-KR" altLang="en-US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점</a:t>
                      </a: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/>
                        <a:ea typeface="LG스마트체 Regular"/>
                        <a:cs typeface="Arial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170" marR="0" lvl="0" indent="-9017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Q : 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셀 수율 </a:t>
                      </a: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97.9%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이상</a:t>
                      </a:r>
                      <a:endParaRPr kumimoji="1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D : 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‘</a:t>
                      </a: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26.12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월 </a:t>
                      </a: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(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누적</a:t>
                      </a: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)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8312169"/>
                  </a:ext>
                </a:extLst>
              </a:tr>
              <a:tr h="468000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900" b="1" i="0" u="none" strike="noStrike" kern="1200" cap="none" spc="-3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3</a:t>
                      </a:r>
                      <a:r>
                        <a:rPr kumimoji="1" lang="ko-KR" altLang="en-US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점</a:t>
                      </a: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/>
                        <a:ea typeface="LG스마트체 Regular"/>
                        <a:cs typeface="Arial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170" marR="0" lvl="0" indent="-9017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Q : 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셀 수율 </a:t>
                      </a: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97.7%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이상</a:t>
                      </a:r>
                      <a:endParaRPr kumimoji="1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D : 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‘</a:t>
                      </a: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26.12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월 </a:t>
                      </a: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(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누적</a:t>
                      </a: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)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3781511"/>
                  </a:ext>
                </a:extLst>
              </a:tr>
              <a:tr h="468000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900" b="1" i="0" u="none" strike="noStrike" kern="1200" cap="none" spc="-3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2</a:t>
                      </a:r>
                      <a:r>
                        <a:rPr kumimoji="1" lang="ko-KR" altLang="en-US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점</a:t>
                      </a: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/>
                        <a:ea typeface="LG스마트체 Regular"/>
                        <a:cs typeface="Arial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170" marR="0" lvl="0" indent="-9017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Q : 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셀 수율 </a:t>
                      </a: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97.2%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이상</a:t>
                      </a:r>
                      <a:endParaRPr kumimoji="1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D : 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‘</a:t>
                      </a: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26.12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월 </a:t>
                      </a: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(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누적</a:t>
                      </a: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)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8170501"/>
                  </a:ext>
                </a:extLst>
              </a:tr>
              <a:tr h="468000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900" b="1" i="0" u="none" strike="noStrike" kern="1200" cap="none" spc="-3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1</a:t>
                      </a:r>
                      <a:r>
                        <a:rPr kumimoji="1" lang="ko-KR" altLang="en-US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점</a:t>
                      </a: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/>
                        <a:ea typeface="LG스마트체 Regular"/>
                        <a:cs typeface="Arial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170" marR="0" lvl="0" indent="-9017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Q : 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셀 수율 </a:t>
                      </a: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97.2%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미만</a:t>
                      </a:r>
                      <a:endParaRPr kumimoji="1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D : 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‘</a:t>
                      </a: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26.12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월 </a:t>
                      </a: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(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누적</a:t>
                      </a: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)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0330578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76718134-1849-5675-60CC-5DE857064583}"/>
              </a:ext>
            </a:extLst>
          </p:cNvPr>
          <p:cNvSpPr txBox="1"/>
          <p:nvPr/>
        </p:nvSpPr>
        <p:spPr>
          <a:xfrm>
            <a:off x="95895" y="174087"/>
            <a:ext cx="3853543" cy="369332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[ </a:t>
            </a:r>
            <a:r>
              <a:rPr kumimoji="1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자동보정담당 </a:t>
            </a:r>
            <a:r>
              <a:rPr kumimoji="1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/ </a:t>
            </a:r>
            <a:r>
              <a:rPr kumimoji="1" lang="ko-KR" altLang="en-US" sz="1800" b="1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송무강</a:t>
            </a:r>
            <a:r>
              <a:rPr kumimoji="1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 </a:t>
            </a:r>
            <a:r>
              <a:rPr kumimoji="1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/ </a:t>
            </a:r>
            <a:r>
              <a:rPr kumimoji="1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상무 </a:t>
            </a: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]</a:t>
            </a:r>
            <a:endParaRPr kumimoji="0" lang="ko-KR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20EC5D0-26D4-8155-D83C-404087CFB9D2}"/>
              </a:ext>
            </a:extLst>
          </p:cNvPr>
          <p:cNvSpPr/>
          <p:nvPr/>
        </p:nvSpPr>
        <p:spPr>
          <a:xfrm>
            <a:off x="2666433" y="3543167"/>
            <a:ext cx="3429785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※ 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산출 로직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가중평균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)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: 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누적 셀 </a:t>
            </a:r>
            <a:r>
              <a:rPr kumimoji="0" lang="ko-KR" altLang="en-US" sz="900" b="0" i="0" u="none" strike="noStrike" kern="1200" cap="none" spc="-30" normalizeH="0" baseline="0" noProof="0" err="1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수율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</a:t>
            </a:r>
            <a:r>
              <a:rPr kumimoji="0" lang="ko-KR" altLang="en-US" sz="900" b="0" i="0" u="none" strike="noStrike" kern="1200" cap="none" spc="-30" normalizeH="0" baseline="0" noProof="0" err="1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와인더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X 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조립 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X 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활성화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)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/ 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누적 생산량 </a:t>
            </a:r>
            <a:endParaRPr kumimoji="0" lang="ko-KR" altLang="en-US" sz="900" b="0" i="0" u="none" strike="noStrike" kern="1200" cap="none" spc="0" normalizeH="0" baseline="0" noProof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6FB49E93-7611-E4B2-0804-1FC6A87638F1}"/>
              </a:ext>
            </a:extLst>
          </p:cNvPr>
          <p:cNvGraphicFramePr>
            <a:graphicFrameLocks noGrp="1"/>
          </p:cNvGraphicFramePr>
          <p:nvPr/>
        </p:nvGraphicFramePr>
        <p:xfrm>
          <a:off x="2331454" y="2292022"/>
          <a:ext cx="3652470" cy="126035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3054">
                  <a:extLst>
                    <a:ext uri="{9D8B030D-6E8A-4147-A177-3AD203B41FA5}">
                      <a16:colId xmlns:a16="http://schemas.microsoft.com/office/drawing/2014/main" val="3562678180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918997883"/>
                    </a:ext>
                  </a:extLst>
                </a:gridCol>
                <a:gridCol w="262368">
                  <a:extLst>
                    <a:ext uri="{9D8B030D-6E8A-4147-A177-3AD203B41FA5}">
                      <a16:colId xmlns:a16="http://schemas.microsoft.com/office/drawing/2014/main" val="3064707556"/>
                    </a:ext>
                  </a:extLst>
                </a:gridCol>
                <a:gridCol w="262368">
                  <a:extLst>
                    <a:ext uri="{9D8B030D-6E8A-4147-A177-3AD203B41FA5}">
                      <a16:colId xmlns:a16="http://schemas.microsoft.com/office/drawing/2014/main" val="2795024982"/>
                    </a:ext>
                  </a:extLst>
                </a:gridCol>
                <a:gridCol w="262368">
                  <a:extLst>
                    <a:ext uri="{9D8B030D-6E8A-4147-A177-3AD203B41FA5}">
                      <a16:colId xmlns:a16="http://schemas.microsoft.com/office/drawing/2014/main" val="4172837961"/>
                    </a:ext>
                  </a:extLst>
                </a:gridCol>
                <a:gridCol w="262368">
                  <a:extLst>
                    <a:ext uri="{9D8B030D-6E8A-4147-A177-3AD203B41FA5}">
                      <a16:colId xmlns:a16="http://schemas.microsoft.com/office/drawing/2014/main" val="3304477641"/>
                    </a:ext>
                  </a:extLst>
                </a:gridCol>
                <a:gridCol w="262368">
                  <a:extLst>
                    <a:ext uri="{9D8B030D-6E8A-4147-A177-3AD203B41FA5}">
                      <a16:colId xmlns:a16="http://schemas.microsoft.com/office/drawing/2014/main" val="3329413783"/>
                    </a:ext>
                  </a:extLst>
                </a:gridCol>
                <a:gridCol w="262368">
                  <a:extLst>
                    <a:ext uri="{9D8B030D-6E8A-4147-A177-3AD203B41FA5}">
                      <a16:colId xmlns:a16="http://schemas.microsoft.com/office/drawing/2014/main" val="1970616159"/>
                    </a:ext>
                  </a:extLst>
                </a:gridCol>
                <a:gridCol w="262368">
                  <a:extLst>
                    <a:ext uri="{9D8B030D-6E8A-4147-A177-3AD203B41FA5}">
                      <a16:colId xmlns:a16="http://schemas.microsoft.com/office/drawing/2014/main" val="1271682073"/>
                    </a:ext>
                  </a:extLst>
                </a:gridCol>
                <a:gridCol w="262368">
                  <a:extLst>
                    <a:ext uri="{9D8B030D-6E8A-4147-A177-3AD203B41FA5}">
                      <a16:colId xmlns:a16="http://schemas.microsoft.com/office/drawing/2014/main" val="1767796968"/>
                    </a:ext>
                  </a:extLst>
                </a:gridCol>
                <a:gridCol w="262368">
                  <a:extLst>
                    <a:ext uri="{9D8B030D-6E8A-4147-A177-3AD203B41FA5}">
                      <a16:colId xmlns:a16="http://schemas.microsoft.com/office/drawing/2014/main" val="471942524"/>
                    </a:ext>
                  </a:extLst>
                </a:gridCol>
                <a:gridCol w="262368">
                  <a:extLst>
                    <a:ext uri="{9D8B030D-6E8A-4147-A177-3AD203B41FA5}">
                      <a16:colId xmlns:a16="http://schemas.microsoft.com/office/drawing/2014/main" val="3050743297"/>
                    </a:ext>
                  </a:extLst>
                </a:gridCol>
                <a:gridCol w="262368">
                  <a:extLst>
                    <a:ext uri="{9D8B030D-6E8A-4147-A177-3AD203B41FA5}">
                      <a16:colId xmlns:a16="http://schemas.microsoft.com/office/drawing/2014/main" val="341856926"/>
                    </a:ext>
                  </a:extLst>
                </a:gridCol>
                <a:gridCol w="262368">
                  <a:extLst>
                    <a:ext uri="{9D8B030D-6E8A-4147-A177-3AD203B41FA5}">
                      <a16:colId xmlns:a16="http://schemas.microsoft.com/office/drawing/2014/main" val="2016740513"/>
                    </a:ext>
                  </a:extLst>
                </a:gridCol>
              </a:tblGrid>
              <a:tr h="126354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75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구분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</a:t>
                      </a:r>
                      <a:r>
                        <a:rPr lang="ko-KR" altLang="en-US" sz="75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</a:t>
                      </a:r>
                      <a:r>
                        <a:rPr lang="ko-KR" altLang="en-US" sz="75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</a:t>
                      </a:r>
                      <a:r>
                        <a:rPr lang="ko-KR" altLang="en-US" sz="75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4</a:t>
                      </a:r>
                      <a:r>
                        <a:rPr lang="ko-KR" altLang="en-US" sz="75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5</a:t>
                      </a:r>
                      <a:r>
                        <a:rPr lang="ko-KR" altLang="en-US" sz="75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6</a:t>
                      </a:r>
                      <a:r>
                        <a:rPr lang="ko-KR" altLang="en-US" sz="75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7</a:t>
                      </a:r>
                      <a:r>
                        <a:rPr lang="ko-KR" altLang="en-US" sz="75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8</a:t>
                      </a:r>
                      <a:r>
                        <a:rPr lang="ko-KR" altLang="en-US" sz="75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</a:t>
                      </a:r>
                      <a:r>
                        <a:rPr lang="ko-KR" altLang="en-US" sz="75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10</a:t>
                      </a:r>
                      <a:r>
                        <a:rPr lang="ko-KR" altLang="en-US" sz="75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11</a:t>
                      </a:r>
                      <a:r>
                        <a:rPr lang="ko-KR" altLang="en-US" sz="75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1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12</a:t>
                      </a:r>
                      <a:r>
                        <a:rPr lang="ko-KR" altLang="en-US" sz="750" b="1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45661416"/>
                  </a:ext>
                </a:extLst>
              </a:tr>
              <a:tr h="162000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75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Cell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96.2%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96.9%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97.6%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97.7%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97.7%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97.8%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97.8%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97.9%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98.0%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98.0%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98.0%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1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98.0%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9834216"/>
                  </a:ext>
                </a:extLst>
              </a:tr>
              <a:tr h="162000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75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조립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96.6%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97.3%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97.9%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98.0%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98.0%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98.1%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98.1%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98.2%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98.3%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98.3%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98.3%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1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98.3%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26923"/>
                  </a:ext>
                </a:extLst>
              </a:tr>
              <a:tr h="162000">
                <a:tc rowSpan="2">
                  <a:txBody>
                    <a:bodyPr/>
                    <a:lstStyle/>
                    <a:p>
                      <a:pPr algn="l" fontAlgn="ctr"/>
                      <a:r>
                        <a:rPr lang="ko-KR" altLang="en-US" sz="750" b="1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  <a:p>
                      <a:pPr algn="l" fontAlgn="ctr"/>
                      <a:r>
                        <a:rPr lang="ko-KR" altLang="en-US" sz="750" b="1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5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Winder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98.0%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98.5%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98.8%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98.9%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98.9%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98.9%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98.9%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98.9%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99.0%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99.0%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99.0%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1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99.0%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3033425"/>
                  </a:ext>
                </a:extLst>
              </a:tr>
              <a:tr h="162000"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750" b="1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5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Assembly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98.6%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98.8%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99.1%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99.1%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99.1%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99.2%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99.2%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99.3%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99.3%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99.3%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99.3%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1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99.3%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2466722"/>
                  </a:ext>
                </a:extLst>
              </a:tr>
              <a:tr h="162000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75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활성화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99.6%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99.6%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99.7%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99.7%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99.7%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99.7%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99.7%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99.7%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99.7%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99.7%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99.7%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1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99.7%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5874953"/>
                  </a:ext>
                </a:extLst>
              </a:tr>
              <a:tr h="162000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75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물동</a:t>
                      </a:r>
                      <a:r>
                        <a:rPr lang="en-US" altLang="ko-KR" sz="75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en-US" sz="750" b="0" i="0" u="none" strike="noStrike" baseline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Kcell</a:t>
                      </a:r>
                      <a:r>
                        <a:rPr lang="en-US" sz="75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4,241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3,301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4,295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4,315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4,332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4,187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3,901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4,274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3,765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4,532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4,164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1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4,289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5272034"/>
                  </a:ext>
                </a:extLst>
              </a:tr>
              <a:tr h="162000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75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750" b="0" i="0" u="none" strike="noStrike" baseline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누적수율</a:t>
                      </a:r>
                      <a:r>
                        <a:rPr lang="en-US" sz="75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96.2%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96.5%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96.9%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97.1%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97.3%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97.4%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97.4%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97.5%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97.5%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97.6%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97.6%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1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97.7%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6198090"/>
                  </a:ext>
                </a:extLst>
              </a:tr>
            </a:tbl>
          </a:graphicData>
        </a:graphic>
      </p:graphicFrame>
      <p:sp>
        <p:nvSpPr>
          <p:cNvPr id="9" name="직사각형 8">
            <a:extLst>
              <a:ext uri="{FF2B5EF4-FFF2-40B4-BE49-F238E27FC236}">
                <a16:creationId xmlns:a16="http://schemas.microsoft.com/office/drawing/2014/main" id="{A84F99B9-5828-DC33-BEF8-CC22B78244F6}"/>
              </a:ext>
            </a:extLst>
          </p:cNvPr>
          <p:cNvSpPr/>
          <p:nvPr/>
        </p:nvSpPr>
        <p:spPr>
          <a:xfrm>
            <a:off x="4475366" y="4405991"/>
            <a:ext cx="1538883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* 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목표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(3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점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) 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대비 평가 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Scale 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산출</a:t>
            </a:r>
            <a:endParaRPr kumimoji="0" lang="ko-KR" altLang="en-US" sz="900" b="0" i="0" u="none" strike="noStrike" kern="1200" cap="none" spc="0" normalizeH="0" baseline="0" noProof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2C581AD-2E2A-5958-00BB-A72134F5485B}"/>
              </a:ext>
            </a:extLst>
          </p:cNvPr>
          <p:cNvSpPr txBox="1"/>
          <p:nvPr/>
        </p:nvSpPr>
        <p:spPr>
          <a:xfrm>
            <a:off x="5124262" y="119658"/>
            <a:ext cx="4645564" cy="338554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➋ 목표 산정 근거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/ 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분기 목표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/ 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평가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Description 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근거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(6/10)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FD9937-5D68-4417-2BC4-A6CB6774A50C}"/>
              </a:ext>
            </a:extLst>
          </p:cNvPr>
          <p:cNvSpPr txBox="1"/>
          <p:nvPr/>
        </p:nvSpPr>
        <p:spPr>
          <a:xfrm>
            <a:off x="4454656" y="106918"/>
            <a:ext cx="886091" cy="369332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[</a:t>
            </a:r>
            <a:r>
              <a: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유첨</a:t>
            </a: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]</a:t>
            </a:r>
            <a:endParaRPr kumimoji="1" lang="ko-KR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977247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709C0655-A17A-15DA-A5D3-7CEB8791CB00}"/>
              </a:ext>
            </a:extLst>
          </p:cNvPr>
          <p:cNvGraphicFramePr>
            <a:graphicFrameLocks noGrp="1"/>
          </p:cNvGraphicFramePr>
          <p:nvPr/>
        </p:nvGraphicFramePr>
        <p:xfrm>
          <a:off x="173693" y="620688"/>
          <a:ext cx="9541530" cy="6146996"/>
        </p:xfrm>
        <a:graphic>
          <a:graphicData uri="http://schemas.openxmlformats.org/drawingml/2006/table">
            <a:tbl>
              <a:tblPr/>
              <a:tblGrid>
                <a:gridCol w="612441">
                  <a:extLst>
                    <a:ext uri="{9D8B030D-6E8A-4147-A177-3AD203B41FA5}">
                      <a16:colId xmlns:a16="http://schemas.microsoft.com/office/drawing/2014/main" val="1583461695"/>
                    </a:ext>
                  </a:extLst>
                </a:gridCol>
                <a:gridCol w="1224883">
                  <a:extLst>
                    <a:ext uri="{9D8B030D-6E8A-4147-A177-3AD203B41FA5}">
                      <a16:colId xmlns:a16="http://schemas.microsoft.com/office/drawing/2014/main" val="4227781156"/>
                    </a:ext>
                  </a:extLst>
                </a:gridCol>
                <a:gridCol w="288208">
                  <a:extLst>
                    <a:ext uri="{9D8B030D-6E8A-4147-A177-3AD203B41FA5}">
                      <a16:colId xmlns:a16="http://schemas.microsoft.com/office/drawing/2014/main" val="2487817271"/>
                    </a:ext>
                  </a:extLst>
                </a:gridCol>
                <a:gridCol w="3708000">
                  <a:extLst>
                    <a:ext uri="{9D8B030D-6E8A-4147-A177-3AD203B41FA5}">
                      <a16:colId xmlns:a16="http://schemas.microsoft.com/office/drawing/2014/main" val="4115920672"/>
                    </a:ext>
                  </a:extLst>
                </a:gridCol>
                <a:gridCol w="287999">
                  <a:extLst>
                    <a:ext uri="{9D8B030D-6E8A-4147-A177-3AD203B41FA5}">
                      <a16:colId xmlns:a16="http://schemas.microsoft.com/office/drawing/2014/main" val="2409402569"/>
                    </a:ext>
                  </a:extLst>
                </a:gridCol>
                <a:gridCol w="3419999">
                  <a:extLst>
                    <a:ext uri="{9D8B030D-6E8A-4147-A177-3AD203B41FA5}">
                      <a16:colId xmlns:a16="http://schemas.microsoft.com/office/drawing/2014/main" val="3282466944"/>
                    </a:ext>
                  </a:extLst>
                </a:gridCol>
              </a:tblGrid>
              <a:tr h="175891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1" i="0" u="none" strike="noStrike" kern="1200" spc="-10">
                          <a:solidFill>
                            <a:srgbClr val="000000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’26</a:t>
                      </a:r>
                      <a:r>
                        <a:rPr lang="ko-KR" altLang="en-US" sz="1000" b="1" i="0" u="none" strike="noStrike" kern="1200" spc="-10">
                          <a:solidFill>
                            <a:srgbClr val="000000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년 </a:t>
                      </a:r>
                      <a:r>
                        <a:rPr lang="en-US" altLang="ko-KR" sz="1000" b="1" i="0" u="none" strike="noStrike" kern="1200" spc="-10">
                          <a:solidFill>
                            <a:srgbClr val="000000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KPI </a:t>
                      </a:r>
                      <a:endParaRPr lang="ko-KR" altLang="en-US" sz="1000" b="1" i="0" u="none" strike="noStrike" kern="1200" spc="-10">
                        <a:solidFill>
                          <a:srgbClr val="000000"/>
                        </a:solidFill>
                        <a:latin typeface="Arial Narrow"/>
                        <a:ea typeface="LG스마트체 Regular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i="0" u="none" strike="noStrike" kern="1200" spc="-10">
                          <a:solidFill>
                            <a:srgbClr val="000000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상세 목표</a:t>
                      </a:r>
                      <a:endParaRPr lang="en-US" altLang="ko-KR" sz="1000" b="1" i="0" u="none" strike="noStrike" kern="1200" spc="-10">
                        <a:solidFill>
                          <a:srgbClr val="000000"/>
                        </a:solidFill>
                        <a:latin typeface="Arial Narrow"/>
                        <a:ea typeface="LG스마트체 Regular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i="0" u="none" strike="noStrike" kern="1200" spc="-10">
                          <a:solidFill>
                            <a:srgbClr val="000000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비중</a:t>
                      </a:r>
                      <a:endParaRPr lang="en-US" altLang="ko-KR" sz="1000" b="1" i="0" u="none" strike="noStrike" kern="1200" spc="-10">
                        <a:solidFill>
                          <a:srgbClr val="000000"/>
                        </a:solidFill>
                        <a:latin typeface="Arial Narrow"/>
                        <a:ea typeface="LG스마트체 Regular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  <a:cs typeface="Arial"/>
                        </a:rPr>
                        <a:t>목표 설정 근거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/>
                        <a:ea typeface="LG스마트체 Regular"/>
                        <a:cs typeface="Arial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  <a:cs typeface="Arial"/>
                        </a:rPr>
                        <a:t>분기 목표 및 실행 계획</a:t>
                      </a: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/>
                        <a:ea typeface="LG스마트체 Regular"/>
                        <a:cs typeface="Arial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8957706"/>
                  </a:ext>
                </a:extLst>
              </a:tr>
              <a:tr h="366620">
                <a:tc rowSpan="11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92075" indent="-92075" algn="l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SzPct val="100000"/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b="1" kern="1200" spc="-10" baseline="0" dirty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ESS </a:t>
                      </a:r>
                      <a:r>
                        <a:rPr lang="ko-KR" altLang="en-US" sz="1000" b="1" kern="1200" spc="-10" baseline="0" dirty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증산을 위한</a:t>
                      </a:r>
                      <a:br>
                        <a:rPr lang="ko-KR" altLang="en-US" sz="1000" b="1" kern="1200" spc="-10" baseline="0" dirty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</a:br>
                      <a:r>
                        <a:rPr lang="ko-KR" altLang="en-US" sz="1000" b="1" kern="1200" spc="-10" baseline="0" dirty="0" err="1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코터</a:t>
                      </a:r>
                      <a:r>
                        <a:rPr lang="ko-KR" altLang="en-US" sz="1000" b="1" kern="1200" spc="-10" baseline="0" dirty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 자동보정 고도화</a:t>
                      </a: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11">
                  <a:txBody>
                    <a:bodyPr/>
                    <a:lstStyle/>
                    <a:p>
                      <a:pPr marL="71755" marR="0" lvl="0" indent="-71755" algn="l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Q </a:t>
                      </a:r>
                      <a:br>
                        <a:rPr lang="en-US" altLang="ko-KR" sz="10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</a:br>
                      <a:r>
                        <a:rPr lang="en-US" altLang="ko-KR" sz="10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: </a:t>
                      </a:r>
                      <a:r>
                        <a:rPr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설비부동 후 재가동   </a:t>
                      </a:r>
                      <a:br>
                        <a:rPr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</a:br>
                      <a:r>
                        <a:rPr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 </a:t>
                      </a:r>
                      <a:r>
                        <a:rPr lang="ko-KR" altLang="en-US" sz="1000" b="1" spc="-30" dirty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rPr>
                        <a:t>불량 </a:t>
                      </a:r>
                      <a:r>
                        <a:rPr lang="en-US" altLang="ko-KR" sz="1000" b="1" spc="-30" dirty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rPr>
                        <a:t>20% </a:t>
                      </a:r>
                      <a:r>
                        <a:rPr lang="ko-KR" altLang="en-US" sz="1000" b="1" spc="-30" dirty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rPr>
                        <a:t>이상 개선</a:t>
                      </a:r>
                      <a:br>
                        <a:rPr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</a:br>
                      <a:r>
                        <a:rPr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: </a:t>
                      </a:r>
                      <a:r>
                        <a:rPr lang="en-US" altLang="ko-KR" sz="10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ESS JF2 </a:t>
                      </a:r>
                      <a:r>
                        <a:rPr lang="ko-KR" altLang="en-US" sz="10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생산법인 </a:t>
                      </a:r>
                      <a:r>
                        <a:rPr lang="en-US" altLang="ko-KR" sz="10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5</a:t>
                      </a:r>
                      <a:r>
                        <a:rPr lang="ko-KR" altLang="en-US" sz="10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개  적용 완료</a:t>
                      </a:r>
                      <a:endParaRPr lang="en-US" altLang="ko-KR" sz="1000" b="1" i="0" u="none" strike="noStrike" kern="1200" cap="none" spc="-5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/>
                        <a:ea typeface="LG스마트체 Regular"/>
                        <a:cs typeface="Arial"/>
                      </a:endParaRPr>
                    </a:p>
                    <a:p>
                      <a:pPr marL="71755" marR="0" lvl="0" indent="-71755" algn="l" rtl="0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D : ’26.4Q</a:t>
                      </a:r>
                      <a:endParaRPr kumimoji="1" lang="ko-KR" dirty="0"/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1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10%</a:t>
                      </a: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5">
                  <a:txBody>
                    <a:bodyPr/>
                    <a:lstStyle/>
                    <a:p>
                      <a:pPr marL="0" marR="0" lvl="0" indent="0" algn="l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</a:pPr>
                      <a:r>
                        <a:rPr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[</a:t>
                      </a:r>
                      <a:r>
                        <a:rPr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전년실적</a:t>
                      </a:r>
                      <a:r>
                        <a:rPr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] </a:t>
                      </a:r>
                      <a:r>
                        <a:rPr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실적 없음</a:t>
                      </a:r>
                      <a:endParaRPr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uLnTx/>
                        <a:uFillTx/>
                        <a:latin typeface="Arial Narrow"/>
                        <a:ea typeface="LG스마트체 Regular"/>
                        <a:cs typeface="+mn-cs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Font typeface="Arial" panose="020B0604020202020204" pitchFamily="34" charset="0"/>
                        <a:buNone/>
                      </a:pPr>
                      <a:endParaRPr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/>
                        <a:ea typeface="LG스마트체 Regular"/>
                        <a:cs typeface="+mn-cs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Font typeface="Arial" panose="020B0604020202020204" pitchFamily="34" charset="0"/>
                        <a:buNone/>
                      </a:pPr>
                      <a:r>
                        <a:rPr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목표설정 근거</a:t>
                      </a:r>
                      <a:br>
                        <a:rPr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</a:br>
                      <a:r>
                        <a:rPr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1) </a:t>
                      </a:r>
                      <a:r>
                        <a:rPr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양극 건조 설비부동 후 재가동 구간 품질개선 대응 필요</a:t>
                      </a:r>
                      <a:br>
                        <a:rPr lang="en-US" altLang="ko-KR" sz="1000" spc="-30" dirty="0">
                          <a:latin typeface="Arial Narrow"/>
                          <a:ea typeface="LG스마트체 Regular"/>
                        </a:rPr>
                      </a:br>
                      <a:r>
                        <a:rPr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     - </a:t>
                      </a:r>
                      <a:r>
                        <a:rPr lang="ko-KR" altLang="en-US" sz="1000" b="0" i="0" u="none" strike="noStrike" kern="1200" cap="none" spc="-3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코터</a:t>
                      </a:r>
                      <a:r>
                        <a:rPr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 속도 증가</a:t>
                      </a:r>
                      <a:r>
                        <a:rPr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(</a:t>
                      </a:r>
                      <a:r>
                        <a:rPr lang="en-US" altLang="ko-KR" sz="1000" spc="-30" dirty="0">
                          <a:latin typeface="Arial Narrow"/>
                          <a:ea typeface="LG스마트체 Regular"/>
                        </a:rPr>
                        <a:t>60</a:t>
                      </a:r>
                      <a:r>
                        <a:rPr lang="ko-KR" altLang="en-US" sz="1000" spc="-30" dirty="0">
                          <a:latin typeface="Arial Narrow"/>
                          <a:ea typeface="LG스마트체 Regular"/>
                        </a:rPr>
                        <a:t>→ </a:t>
                      </a:r>
                      <a:r>
                        <a:rPr lang="en-US" altLang="ko-KR" sz="1000" spc="-30" dirty="0">
                          <a:latin typeface="Arial Narrow"/>
                          <a:ea typeface="LG스마트체 Regular"/>
                        </a:rPr>
                        <a:t>75m/min)</a:t>
                      </a:r>
                      <a:r>
                        <a:rPr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 시</a:t>
                      </a:r>
                      <a:r>
                        <a:rPr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,</a:t>
                      </a:r>
                      <a:r>
                        <a:rPr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 건조 표면 크랙 불량 증가 예상</a:t>
                      </a:r>
                      <a:endParaRPr lang="en-US" altLang="ko-KR" sz="10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/>
                        <a:ea typeface="LG스마트체 Regular"/>
                        <a:cs typeface="+mn-cs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Font typeface="Arial" panose="020B0604020202020204" pitchFamily="34" charset="0"/>
                        <a:buNone/>
                      </a:pPr>
                      <a:r>
                        <a:rPr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     - </a:t>
                      </a:r>
                      <a:r>
                        <a:rPr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초기 건조 구간은 </a:t>
                      </a:r>
                      <a:r>
                        <a:rPr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Table(PLC)</a:t>
                      </a:r>
                      <a:r>
                        <a:rPr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 기반 제어 로직 적용되어 있어</a:t>
                      </a:r>
                      <a:r>
                        <a:rPr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, </a:t>
                      </a:r>
                      <a:endParaRPr lang="ko-KR" altLang="ko-KR" sz="1000" dirty="0"/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Font typeface="Arial" panose="020B0604020202020204" pitchFamily="34" charset="0"/>
                        <a:buNone/>
                      </a:pPr>
                      <a:r>
                        <a:rPr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       </a:t>
                      </a:r>
                      <a:r>
                        <a:rPr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현장 상황 변화 시 </a:t>
                      </a:r>
                      <a:r>
                        <a:rPr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Table </a:t>
                      </a:r>
                      <a:r>
                        <a:rPr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업데이트 대응 지연으로 인한 품질 이슈</a:t>
                      </a:r>
                      <a:endParaRPr lang="en-US" altLang="ko-KR" sz="10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/>
                        <a:ea typeface="LG스마트체 Regular"/>
                        <a:cs typeface="+mn-cs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Font typeface="Arial" panose="020B0604020202020204" pitchFamily="34" charset="0"/>
                        <a:buNone/>
                      </a:pPr>
                      <a:r>
                        <a:rPr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        (</a:t>
                      </a:r>
                      <a:r>
                        <a:rPr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미건</a:t>
                      </a:r>
                      <a:r>
                        <a:rPr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/</a:t>
                      </a:r>
                      <a:r>
                        <a:rPr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과건</a:t>
                      </a:r>
                      <a:r>
                        <a:rPr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)</a:t>
                      </a:r>
                      <a:r>
                        <a:rPr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 발생 </a:t>
                      </a:r>
                      <a:r>
                        <a:rPr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가능</a:t>
                      </a:r>
                      <a:br>
                        <a:rPr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</a:br>
                      <a:r>
                        <a:rPr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      </a:t>
                      </a:r>
                      <a:r>
                        <a:rPr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 </a:t>
                      </a:r>
                      <a:r>
                        <a:rPr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%LEL </a:t>
                      </a:r>
                      <a:r>
                        <a:rPr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농도 기반 제어</a:t>
                      </a:r>
                      <a:r>
                        <a:rPr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(</a:t>
                      </a:r>
                      <a:r>
                        <a:rPr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온도</a:t>
                      </a:r>
                      <a:r>
                        <a:rPr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/FAN)</a:t>
                      </a:r>
                      <a:r>
                        <a:rPr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를 위한 </a:t>
                      </a:r>
                      <a:r>
                        <a:rPr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 </a:t>
                      </a:r>
                      <a:r>
                        <a:rPr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알고리즘 개발 필요</a:t>
                      </a:r>
                      <a:endParaRPr lang="en-US" altLang="ko-KR" sz="10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/>
                        <a:ea typeface="LG스마트체 Regular"/>
                        <a:cs typeface="+mn-cs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Font typeface="Arial" panose="020B0604020202020204" pitchFamily="34" charset="0"/>
                        <a:buNone/>
                      </a:pPr>
                      <a:r>
                        <a:rPr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2) </a:t>
                      </a:r>
                      <a:r>
                        <a:rPr lang="ko-KR" altLang="en-US" sz="1000" b="1" i="0" u="none" strike="noStrike" kern="120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증속에</a:t>
                      </a:r>
                      <a:r>
                        <a:rPr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 따른 로딩</a:t>
                      </a:r>
                      <a:r>
                        <a:rPr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/</a:t>
                      </a:r>
                      <a:r>
                        <a:rPr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미스매치 자동보정 기술 최적화 </a:t>
                      </a:r>
                      <a:endParaRPr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/>
                        <a:ea typeface="LG스마트체 Regular"/>
                        <a:cs typeface="+mn-cs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Font typeface="Arial" panose="020B0604020202020204" pitchFamily="34" charset="0"/>
                        <a:buNone/>
                      </a:pPr>
                      <a:r>
                        <a:rPr lang="en-US" altLang="ko-KR" sz="1000" b="1" i="0" u="none" strike="noStrike" kern="1200" cap="none" spc="-3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3)</a:t>
                      </a:r>
                      <a:r>
                        <a:rPr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  ESS, LFP(JF2) </a:t>
                      </a:r>
                      <a:r>
                        <a:rPr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생산량 극대화를 위해</a:t>
                      </a:r>
                      <a:r>
                        <a:rPr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 </a:t>
                      </a:r>
                      <a:r>
                        <a:rPr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Global 11</a:t>
                      </a:r>
                      <a:r>
                        <a:rPr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개 라인 생산 대응 필요</a:t>
                      </a:r>
                      <a:endParaRPr lang="en-US" altLang="ko-KR" sz="10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/>
                        <a:ea typeface="LG스마트체 Regular"/>
                        <a:cs typeface="+mn-cs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Font typeface="Arial" panose="020B0604020202020204" pitchFamily="34" charset="0"/>
                        <a:buNone/>
                      </a:pPr>
                      <a:r>
                        <a:rPr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     - NCM </a:t>
                      </a:r>
                      <a:r>
                        <a:rPr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계열 모델 대비 낮은 고형분으로 건조 증발량 및 </a:t>
                      </a:r>
                      <a:r>
                        <a:rPr lang="ko-KR" altLang="en-US" sz="1000" b="0" i="0" u="none" strike="noStrike" kern="1200" cap="none" spc="-3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슬러리</a:t>
                      </a:r>
                      <a:r>
                        <a:rPr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 수축 증가</a:t>
                      </a:r>
                      <a:br>
                        <a:rPr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</a:br>
                      <a:r>
                        <a:rPr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        </a:t>
                      </a:r>
                      <a:r>
                        <a:rPr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(</a:t>
                      </a:r>
                      <a:r>
                        <a:rPr lang="ko-KR" altLang="en-US" sz="1000" b="0" i="0" u="none" strike="noStrike" kern="1200" cap="none" spc="-3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고형분</a:t>
                      </a:r>
                      <a:r>
                        <a:rPr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 </a:t>
                      </a:r>
                      <a:r>
                        <a:rPr lang="en-US" altLang="ko-KR" sz="1000" b="0" i="0" u="none" strike="noStrike" kern="1200" cap="none" spc="-3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e,g</a:t>
                      </a:r>
                      <a:r>
                        <a:rPr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.: NCM E101A 73%, LFP JF2 61.5%)</a:t>
                      </a:r>
                      <a:endParaRPr kumimoji="0" lang="ko-KR" altLang="en-US" sz="1000" b="1" i="0" u="none" strike="noStrike" kern="1200" cap="none" spc="-30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/>
                        <a:ea typeface="LG스마트체 Regular"/>
                        <a:cs typeface="+mn-cs"/>
                      </a:endParaRPr>
                    </a:p>
                  </a:txBody>
                  <a:tcPr marL="36000" marR="0" marT="0" marB="0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1Q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170" marR="0" lvl="0" indent="-90170" algn="l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건조</a:t>
                      </a:r>
                      <a:r>
                        <a:rPr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: </a:t>
                      </a:r>
                      <a:r>
                        <a:rPr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양극 </a:t>
                      </a:r>
                      <a:r>
                        <a:rPr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%LEL </a:t>
                      </a:r>
                      <a:r>
                        <a:rPr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농도 기반 제어 알고리즘 개발</a:t>
                      </a:r>
                      <a:endParaRPr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/>
                        <a:ea typeface="LG스마트체 Regular"/>
                        <a:cs typeface="Arial"/>
                      </a:endParaRPr>
                    </a:p>
                    <a:p>
                      <a:pPr marL="0" marR="0" lvl="0" indent="0" algn="l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</a:pPr>
                      <a:r>
                        <a:rPr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             대표라인 적용</a:t>
                      </a:r>
                      <a:r>
                        <a:rPr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(ST)</a:t>
                      </a:r>
                      <a:r>
                        <a:rPr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및 검증</a:t>
                      </a:r>
                      <a:r>
                        <a:rPr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 </a:t>
                      </a:r>
                      <a:r>
                        <a:rPr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※ ST</a:t>
                      </a:r>
                      <a:r>
                        <a:rPr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법인</a:t>
                      </a:r>
                      <a:r>
                        <a:rPr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 JF2 </a:t>
                      </a:r>
                      <a:r>
                        <a:rPr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모델 </a:t>
                      </a:r>
                      <a:r>
                        <a:rPr lang="ko-KR" altLang="en-US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증속</a:t>
                      </a:r>
                      <a:r>
                        <a:rPr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 </a:t>
                      </a:r>
                      <a:r>
                        <a:rPr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시점 대응</a:t>
                      </a:r>
                      <a:endParaRPr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/>
                        <a:ea typeface="LG스마트체 Regular"/>
                        <a:cs typeface="Arial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6654165"/>
                  </a:ext>
                </a:extLst>
              </a:tr>
              <a:tr h="26290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2Q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170" marR="0" lvl="0" indent="-90170" algn="l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건조</a:t>
                      </a:r>
                      <a:r>
                        <a:rPr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:</a:t>
                      </a:r>
                      <a:r>
                        <a:rPr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 알고리즘 성능 평가 및 추가 개선 </a:t>
                      </a:r>
                      <a:r>
                        <a:rPr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Point </a:t>
                      </a:r>
                      <a:r>
                        <a:rPr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발굴</a:t>
                      </a:r>
                      <a:endParaRPr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/>
                        <a:ea typeface="LG스마트체 Regular"/>
                        <a:cs typeface="Arial"/>
                      </a:endParaRPr>
                    </a:p>
                    <a:p>
                      <a:pPr marL="90170" marR="0" lvl="0" indent="-90170" algn="l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</a:pP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코팅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: 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로딩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, 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미스매치 자동보정 기술 최적화 및 검증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/>
                        <a:ea typeface="LG스마트체 Regular"/>
                        <a:cs typeface="Arial"/>
                      </a:endParaRPr>
                    </a:p>
                    <a:p>
                      <a:pPr marL="90170" marR="0" lvl="0" indent="-90170" algn="l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</a:pPr>
                      <a:r>
                        <a:rPr kumimoji="1" lang="ko-KR" altLang="en-US" sz="10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증속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 수평전개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(HL) 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및 검증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/>
                        <a:ea typeface="LG스마트체 Regular"/>
                        <a:cs typeface="Arial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8396706"/>
                  </a:ext>
                </a:extLst>
              </a:tr>
              <a:tr h="26290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3Q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170" marR="0" lvl="0" indent="-90170" algn="l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증속</a:t>
                      </a:r>
                      <a:r>
                        <a:rPr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 수평전개</a:t>
                      </a:r>
                      <a:r>
                        <a:rPr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(LS,HD,TN)</a:t>
                      </a:r>
                      <a:r>
                        <a:rPr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 및 검증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/>
                        <a:ea typeface="LG스마트체 Regular"/>
                        <a:cs typeface="Arial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1808293"/>
                  </a:ext>
                </a:extLst>
              </a:tr>
              <a:tr h="26290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4Q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170" marR="0" lvl="0" indent="-90170" algn="l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증속</a:t>
                      </a:r>
                      <a:r>
                        <a:rPr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  수평전개</a:t>
                      </a:r>
                      <a:r>
                        <a:rPr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(HD) </a:t>
                      </a:r>
                      <a:r>
                        <a:rPr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및 검증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/>
                        <a:ea typeface="LG스마트체 Regular"/>
                        <a:cs typeface="Arial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5647809"/>
                  </a:ext>
                </a:extLst>
              </a:tr>
              <a:tr h="144000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1" i="0" u="none" strike="noStrike" kern="1200" cap="none" spc="-1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0" marB="0" anchor="ctr" horzOverflow="overflow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실행</a:t>
                      </a:r>
                      <a:b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</a:b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계획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/>
                        <a:ea typeface="LG스마트체 Regular"/>
                        <a:cs typeface="Arial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170" marR="0" lvl="0" indent="-90170" algn="l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양극 건조 </a:t>
                      </a:r>
                      <a:r>
                        <a:rPr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%LEL</a:t>
                      </a:r>
                      <a:r>
                        <a:rPr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 농도 기반 알고리즘 개발</a:t>
                      </a:r>
                      <a:r>
                        <a:rPr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(‘26.3)</a:t>
                      </a:r>
                      <a:br>
                        <a:rPr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</a:br>
                      <a:r>
                        <a:rPr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:  EP2 </a:t>
                      </a:r>
                      <a:r>
                        <a:rPr lang="ko-KR" altLang="en-US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마더라인</a:t>
                      </a:r>
                      <a:r>
                        <a:rPr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 </a:t>
                      </a:r>
                      <a:r>
                        <a:rPr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대상 </a:t>
                      </a:r>
                      <a:r>
                        <a:rPr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APC</a:t>
                      </a:r>
                      <a:r>
                        <a:rPr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전환 기능검증</a:t>
                      </a:r>
                      <a:r>
                        <a:rPr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(1</a:t>
                      </a:r>
                      <a:r>
                        <a:rPr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월</a:t>
                      </a:r>
                      <a:r>
                        <a:rPr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)</a:t>
                      </a:r>
                      <a:r>
                        <a:rPr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 </a:t>
                      </a:r>
                      <a:br>
                        <a:rPr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</a:br>
                      <a:r>
                        <a:rPr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   ※ </a:t>
                      </a:r>
                      <a:r>
                        <a:rPr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기존 법인 </a:t>
                      </a:r>
                      <a:r>
                        <a:rPr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PLC </a:t>
                      </a:r>
                      <a:r>
                        <a:rPr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버전 </a:t>
                      </a:r>
                      <a:r>
                        <a:rPr lang="ko-KR" altLang="en-US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사용중으로</a:t>
                      </a:r>
                      <a:r>
                        <a:rPr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,</a:t>
                      </a:r>
                      <a:r>
                        <a:rPr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 </a:t>
                      </a:r>
                      <a:r>
                        <a:rPr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PC</a:t>
                      </a:r>
                      <a:r>
                        <a:rPr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로직 기능 검증 필요</a:t>
                      </a:r>
                      <a:br>
                        <a:rPr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</a:br>
                      <a:r>
                        <a:rPr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 : </a:t>
                      </a:r>
                      <a:r>
                        <a:rPr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알고리즘 개발 및</a:t>
                      </a:r>
                      <a:r>
                        <a:rPr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 MI_HL </a:t>
                      </a:r>
                      <a:r>
                        <a:rPr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대표라인</a:t>
                      </a:r>
                      <a:r>
                        <a:rPr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 </a:t>
                      </a:r>
                      <a:r>
                        <a:rPr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기능검증</a:t>
                      </a:r>
                      <a:r>
                        <a:rPr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(3</a:t>
                      </a:r>
                      <a:r>
                        <a:rPr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월</a:t>
                      </a:r>
                      <a:r>
                        <a:rPr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) </a:t>
                      </a:r>
                      <a:r>
                        <a:rPr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 </a:t>
                      </a:r>
                      <a:endParaRPr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/>
                        <a:ea typeface="LG스마트체 Regular"/>
                        <a:cs typeface="Arial"/>
                      </a:endParaRPr>
                    </a:p>
                    <a:p>
                      <a:pPr marL="90170" marR="0" lvl="0" indent="-9017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2~4Q ESS JF2 </a:t>
                      </a:r>
                      <a:r>
                        <a:rPr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생산 라인 </a:t>
                      </a:r>
                      <a:r>
                        <a:rPr lang="ko-KR" altLang="en-US" sz="10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증속</a:t>
                      </a:r>
                      <a:r>
                        <a:rPr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 일정 대응</a:t>
                      </a:r>
                      <a:br>
                        <a:rPr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</a:br>
                      <a:r>
                        <a:rPr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: </a:t>
                      </a:r>
                      <a:r>
                        <a:rPr lang="ko-KR" altLang="en-US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증속</a:t>
                      </a:r>
                      <a:r>
                        <a:rPr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 라인 대상</a:t>
                      </a:r>
                      <a:r>
                        <a:rPr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 </a:t>
                      </a:r>
                      <a:r>
                        <a:rPr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알고리즘 성능 평가</a:t>
                      </a:r>
                      <a:br>
                        <a:rPr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</a:br>
                      <a:r>
                        <a:rPr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  ※ </a:t>
                      </a:r>
                      <a:r>
                        <a:rPr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대상 법인 </a:t>
                      </a:r>
                      <a:r>
                        <a:rPr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: MI_HL, MI_LS, ST, HD, GM_TN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/>
                        <a:ea typeface="LG스마트체 Regular"/>
                        <a:cs typeface="Arial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579272"/>
                  </a:ext>
                </a:extLst>
              </a:tr>
              <a:tr h="175891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  <a:cs typeface="Arial"/>
                        </a:rPr>
                        <a:t>평가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  <a:cs typeface="Arial"/>
                        </a:rPr>
                        <a:t>Scale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  <a:cs typeface="Arial"/>
                        </a:rPr>
                        <a:t>산출 로직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/>
                        <a:ea typeface="LG스마트체 Regular"/>
                        <a:cs typeface="Arial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  <a:cs typeface="Arial"/>
                        </a:rPr>
                        <a:t>평가 </a:t>
                      </a:r>
                      <a:r>
                        <a:rPr kumimoji="1" lang="en-US" altLang="ko-KR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  <a:cs typeface="Arial"/>
                        </a:rPr>
                        <a:t>Description</a:t>
                      </a: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/>
                        <a:ea typeface="LG스마트체 Regular"/>
                        <a:cs typeface="Arial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endParaRPr kumimoji="1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6705988"/>
                  </a:ext>
                </a:extLst>
              </a:tr>
              <a:tr h="585685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5">
                  <a:txBody>
                    <a:bodyPr/>
                    <a:lstStyle/>
                    <a:p>
                      <a:pPr marL="90000" marR="0" lvl="0" indent="-9000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90000" marR="0" lvl="0" indent="-9000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평가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Description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배점에 대한 산출 로직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*N%)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5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점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설비부동 후 재가동 불량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30%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 개선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      ESS JF2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생산법인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100%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적용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4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점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설비부동 후 재가동 불량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25%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 개선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      ESS JF2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생산법인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100%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적용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3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점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설비부동 후 재가동 불량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20%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 개선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      ESS JF2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생산법인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100%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적용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점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설비부동 후 재가동 불량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10%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 개선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      ESS JF2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생산법인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80%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적용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점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설비부동 후 재가동 불량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10%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미만 개선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      ESS JF2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생산법인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60%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이하 적용</a:t>
                      </a: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90000" marR="0" lvl="0" indent="-9000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90000" marR="0" lvl="0" indent="-9000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90000" marR="0" lvl="0" indent="-9000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5</a:t>
                      </a:r>
                      <a:r>
                        <a:rPr kumimoji="1" lang="ko-KR" altLang="en-US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점</a:t>
                      </a: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170" marR="0" lvl="0" indent="-90170" algn="l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Q : </a:t>
                      </a:r>
                      <a:r>
                        <a:rPr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설비 부동 후 재가동 불량 </a:t>
                      </a:r>
                      <a:r>
                        <a:rPr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30% </a:t>
                      </a:r>
                      <a:r>
                        <a:rPr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이상 개선</a:t>
                      </a:r>
                      <a:r>
                        <a:rPr lang="en-US" altLang="ko-KR" sz="1000" b="1" spc="-30" dirty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rPr>
                        <a:t>, </a:t>
                      </a:r>
                      <a:br>
                        <a:rPr lang="en-US" altLang="ko-KR" sz="1000" b="1" spc="-30" dirty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rPr>
                      </a:br>
                      <a:r>
                        <a:rPr lang="en-US" altLang="ko-KR" sz="1000" b="1" spc="-30" dirty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rPr>
                        <a:t>   </a:t>
                      </a:r>
                      <a:r>
                        <a:rPr 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ESS</a:t>
                      </a:r>
                      <a:r>
                        <a:rPr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 </a:t>
                      </a:r>
                      <a:r>
                        <a:rPr 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JF2 </a:t>
                      </a:r>
                      <a:r>
                        <a:rPr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생산법인 </a:t>
                      </a:r>
                      <a:r>
                        <a:rPr 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5</a:t>
                      </a:r>
                      <a:r>
                        <a:rPr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개 적용 완료</a:t>
                      </a:r>
                      <a:r>
                        <a:rPr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 </a:t>
                      </a:r>
                      <a:endParaRPr lang="ko-KR" dirty="0">
                        <a:solidFill>
                          <a:schemeClr val="tx1"/>
                        </a:solidFill>
                      </a:endParaRPr>
                    </a:p>
                    <a:p>
                      <a:pPr marL="90170" marR="0" lvl="0" indent="-9017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D : ‘26.4Q</a:t>
                      </a:r>
                      <a:endParaRPr kumimoji="0" lang="en-US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9652368"/>
                  </a:ext>
                </a:extLst>
              </a:tr>
              <a:tr h="585685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900" b="1" i="0" u="none" strike="noStrike" kern="1200" cap="none" spc="-3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4</a:t>
                      </a:r>
                      <a:r>
                        <a:rPr kumimoji="1" lang="ko-KR" altLang="en-US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점</a:t>
                      </a: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170" marR="0" lvl="0" indent="-90170" algn="l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Q : </a:t>
                      </a:r>
                      <a:r>
                        <a:rPr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설비 부동 후 재가동 불량 </a:t>
                      </a:r>
                      <a:r>
                        <a:rPr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25% </a:t>
                      </a:r>
                      <a:r>
                        <a:rPr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이상 개선</a:t>
                      </a:r>
                      <a:r>
                        <a:rPr lang="en-US" altLang="ko-KR" sz="1000" b="1" spc="-30" dirty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rPr>
                        <a:t>, </a:t>
                      </a:r>
                      <a:br>
                        <a:rPr lang="en-US" altLang="ko-KR" sz="1000" b="1" spc="-30" dirty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rPr>
                      </a:br>
                      <a:r>
                        <a:rPr lang="en-US" altLang="ko-KR" sz="1000" b="1" spc="-30" dirty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rPr>
                        <a:t>   </a:t>
                      </a:r>
                      <a:r>
                        <a:rPr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ESS</a:t>
                      </a:r>
                      <a:r>
                        <a:rPr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 </a:t>
                      </a:r>
                      <a:r>
                        <a:rPr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JF2 </a:t>
                      </a:r>
                      <a:r>
                        <a:rPr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생산법인 </a:t>
                      </a:r>
                      <a:r>
                        <a:rPr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5</a:t>
                      </a:r>
                      <a:r>
                        <a:rPr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개 적용 완료</a:t>
                      </a:r>
                      <a:r>
                        <a:rPr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 </a:t>
                      </a:r>
                      <a:endParaRPr lang="ko-KR" dirty="0">
                        <a:solidFill>
                          <a:schemeClr val="tx1"/>
                        </a:solidFill>
                      </a:endParaRPr>
                    </a:p>
                    <a:p>
                      <a:pPr marL="90170" marR="0" lvl="0" indent="-9017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D : ‘26.4Q</a:t>
                      </a:r>
                      <a:endParaRPr kumimoji="0" lang="en-US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8312169"/>
                  </a:ext>
                </a:extLst>
              </a:tr>
              <a:tr h="585685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900" b="1" i="0" u="none" strike="noStrike" kern="1200" cap="none" spc="-3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3</a:t>
                      </a: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점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170" marR="0" lvl="0" indent="-90170" algn="l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Q : </a:t>
                      </a:r>
                      <a:r>
                        <a:rPr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설비 부동 후 재가동 불량</a:t>
                      </a:r>
                      <a:r>
                        <a:rPr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 20% </a:t>
                      </a:r>
                      <a:r>
                        <a:rPr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이상 개선</a:t>
                      </a:r>
                      <a:r>
                        <a:rPr lang="en-US" altLang="ko-KR" sz="1000" b="1" spc="-30" dirty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rPr>
                        <a:t>, </a:t>
                      </a:r>
                      <a:br>
                        <a:rPr lang="en-US" altLang="ko-KR" sz="1000" b="1" spc="-30" dirty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rPr>
                      </a:br>
                      <a:r>
                        <a:rPr lang="en-US" altLang="ko-KR" sz="1000" b="1" spc="-30" dirty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rPr>
                        <a:t>   </a:t>
                      </a:r>
                      <a:r>
                        <a:rPr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ESS</a:t>
                      </a:r>
                      <a:r>
                        <a:rPr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 </a:t>
                      </a:r>
                      <a:r>
                        <a:rPr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JF2 </a:t>
                      </a:r>
                      <a:r>
                        <a:rPr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생산법인 </a:t>
                      </a:r>
                      <a:r>
                        <a:rPr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5</a:t>
                      </a:r>
                      <a:r>
                        <a:rPr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개 적용 완료</a:t>
                      </a:r>
                      <a:endParaRPr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/>
                        <a:ea typeface="LG스마트체 Regular"/>
                        <a:cs typeface="+mn-cs"/>
                      </a:endParaRPr>
                    </a:p>
                    <a:p>
                      <a:pPr marL="90170" marR="0" lvl="0" indent="-9017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D : ‘26.4Q</a:t>
                      </a:r>
                      <a:endParaRPr kumimoji="0" lang="ko-KR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3781511"/>
                  </a:ext>
                </a:extLst>
              </a:tr>
              <a:tr h="585685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900" b="1" i="0" u="none" strike="noStrike" kern="1200" cap="none" spc="-3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2</a:t>
                      </a:r>
                      <a:r>
                        <a:rPr kumimoji="1" lang="ko-KR" altLang="en-US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점</a:t>
                      </a: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170" marR="0" lvl="0" indent="-90170" algn="l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Q : </a:t>
                      </a:r>
                      <a:r>
                        <a:rPr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설비 부동 후 재가동 불량 </a:t>
                      </a:r>
                      <a:r>
                        <a:rPr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10% </a:t>
                      </a:r>
                      <a:r>
                        <a:rPr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이상 개선</a:t>
                      </a:r>
                      <a:r>
                        <a:rPr lang="en-US" altLang="ko-KR" sz="1000" b="1" spc="-30" dirty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rPr>
                        <a:t>, </a:t>
                      </a:r>
                      <a:br>
                        <a:rPr lang="en-US" altLang="ko-KR" sz="1000" b="1" spc="-30" dirty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rPr>
                      </a:br>
                      <a:r>
                        <a:rPr lang="en-US" altLang="ko-KR" sz="1000" b="1" spc="-30" dirty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rPr>
                        <a:t>    </a:t>
                      </a:r>
                      <a:r>
                        <a:rPr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ESS</a:t>
                      </a:r>
                      <a:r>
                        <a:rPr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 </a:t>
                      </a:r>
                      <a:r>
                        <a:rPr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JF2 </a:t>
                      </a:r>
                      <a:r>
                        <a:rPr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생산법인 </a:t>
                      </a:r>
                      <a:r>
                        <a:rPr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4</a:t>
                      </a:r>
                      <a:r>
                        <a:rPr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개 적용 완료</a:t>
                      </a:r>
                      <a:endParaRPr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/>
                        <a:ea typeface="LG스마트체 Regular"/>
                        <a:cs typeface="+mn-cs"/>
                      </a:endParaRPr>
                    </a:p>
                    <a:p>
                      <a:pPr marL="90170" marR="0" lvl="0" indent="-9017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D : ‘26.4Q</a:t>
                      </a:r>
                      <a:endParaRPr kumimoji="0" lang="ko-KR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8170501"/>
                  </a:ext>
                </a:extLst>
              </a:tr>
              <a:tr h="585685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900" b="1" i="0" u="none" strike="noStrike" kern="1200" cap="none" spc="-3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1</a:t>
                      </a:r>
                      <a:r>
                        <a:rPr kumimoji="1" lang="ko-KR" altLang="en-US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점</a:t>
                      </a: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170" marR="0" lvl="0" indent="-90170" algn="l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Q : </a:t>
                      </a:r>
                      <a:r>
                        <a:rPr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설비 부동 후 재가동 불량 </a:t>
                      </a:r>
                      <a:r>
                        <a:rPr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10% </a:t>
                      </a:r>
                      <a:r>
                        <a:rPr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미만 개선</a:t>
                      </a:r>
                      <a:r>
                        <a:rPr lang="en-US" altLang="ko-KR" sz="1000" b="1" spc="-30" dirty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rPr>
                        <a:t>, </a:t>
                      </a:r>
                      <a:br>
                        <a:rPr lang="en-US" altLang="ko-KR" sz="1000" b="1" spc="-30" dirty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rPr>
                      </a:br>
                      <a:r>
                        <a:rPr lang="en-US" altLang="ko-KR" sz="1000" b="1" spc="-30" dirty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rPr>
                        <a:t>    </a:t>
                      </a:r>
                      <a:r>
                        <a:rPr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ESS JF2 </a:t>
                      </a:r>
                      <a:r>
                        <a:rPr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생산법인 </a:t>
                      </a:r>
                      <a:r>
                        <a:rPr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3</a:t>
                      </a:r>
                      <a:r>
                        <a:rPr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개 적용 완료</a:t>
                      </a:r>
                      <a:endParaRPr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/>
                        <a:ea typeface="LG스마트체 Regular"/>
                        <a:cs typeface="+mn-cs"/>
                      </a:endParaRPr>
                    </a:p>
                    <a:p>
                      <a:pPr marL="90170" marR="0" lvl="0" indent="-9017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D : ‘26.4Q</a:t>
                      </a:r>
                      <a:endParaRPr kumimoji="0" lang="ko-KR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0330578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25697D00-5737-3E25-4002-38B0BE5252F4}"/>
              </a:ext>
            </a:extLst>
          </p:cNvPr>
          <p:cNvSpPr txBox="1"/>
          <p:nvPr/>
        </p:nvSpPr>
        <p:spPr>
          <a:xfrm>
            <a:off x="95895" y="174087"/>
            <a:ext cx="3853543" cy="369332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[ </a:t>
            </a:r>
            <a:r>
              <a:rPr kumimoji="1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자동보정담당 </a:t>
            </a:r>
            <a:r>
              <a:rPr kumimoji="1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/ </a:t>
            </a:r>
            <a:r>
              <a:rPr kumimoji="1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송무강 </a:t>
            </a:r>
            <a:r>
              <a:rPr kumimoji="1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/ </a:t>
            </a:r>
            <a:r>
              <a:rPr kumimoji="1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상무 </a:t>
            </a: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]</a:t>
            </a:r>
            <a:endParaRPr kumimoji="0" lang="ko-KR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2D8EE271-71E1-EEE0-21AC-028FDA6B1345}"/>
              </a:ext>
            </a:extLst>
          </p:cNvPr>
          <p:cNvSpPr/>
          <p:nvPr/>
        </p:nvSpPr>
        <p:spPr>
          <a:xfrm>
            <a:off x="4674089" y="3810029"/>
            <a:ext cx="1538883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-3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* </a:t>
            </a:r>
            <a:r>
              <a:rPr kumimoji="0" lang="ko-KR" altLang="en-US" sz="900" b="0" i="0" u="none" strike="noStrike" kern="1200" cap="none" spc="-3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목표</a:t>
            </a:r>
            <a:r>
              <a:rPr kumimoji="0" lang="en-US" altLang="ko-KR" sz="900" b="0" i="0" u="none" strike="noStrike" kern="1200" cap="none" spc="-3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(3</a:t>
            </a:r>
            <a:r>
              <a:rPr kumimoji="0" lang="ko-KR" altLang="en-US" sz="900" b="0" i="0" u="none" strike="noStrike" kern="1200" cap="none" spc="-3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점</a:t>
            </a:r>
            <a:r>
              <a:rPr kumimoji="0" lang="en-US" altLang="ko-KR" sz="900" b="0" i="0" u="none" strike="noStrike" kern="1200" cap="none" spc="-3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) </a:t>
            </a:r>
            <a:r>
              <a:rPr kumimoji="0" lang="ko-KR" altLang="en-US" sz="900" b="0" i="0" u="none" strike="noStrike" kern="1200" cap="none" spc="-3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대비 평가 </a:t>
            </a:r>
            <a:r>
              <a:rPr kumimoji="0" lang="en-US" altLang="ko-KR" sz="900" b="0" i="0" u="none" strike="noStrike" kern="1200" cap="none" spc="-3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Scale </a:t>
            </a:r>
            <a:r>
              <a:rPr kumimoji="0" lang="ko-KR" altLang="en-US" sz="900" b="0" i="0" u="none" strike="noStrike" kern="1200" cap="none" spc="-3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산출</a:t>
            </a:r>
            <a:endParaRPr kumimoji="0" lang="ko-KR" altLang="en-US" sz="900" b="0" i="0" u="none" strike="noStrike" kern="1200" cap="none" spc="0" normalizeH="0" baseline="0" noProof="0" dirty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0BA8827-661E-D8B4-686B-FD8BEA8A6268}"/>
              </a:ext>
            </a:extLst>
          </p:cNvPr>
          <p:cNvSpPr/>
          <p:nvPr/>
        </p:nvSpPr>
        <p:spPr>
          <a:xfrm>
            <a:off x="2460742" y="5993407"/>
            <a:ext cx="2106667" cy="3875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ct val="0"/>
              </a:spcAft>
              <a:buClrTx/>
              <a:buSzPct val="80000"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* ESS JF2 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설비부동 후 재가동 불량 현 수준</a:t>
            </a:r>
            <a:endParaRPr kumimoji="0" lang="en-US" altLang="ko-KR" sz="900" b="0" i="0" u="none" strike="noStrike" kern="1200" cap="none" spc="0" normalizeH="0" baseline="0" noProof="0" dirty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ct val="0"/>
              </a:spcAft>
              <a:buClrTx/>
              <a:buSzPct val="80000"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 : 0.18% (MI_HL 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코팅 속도 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60m/min, 12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월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688A78B-9821-9DEF-ABE0-8538A02F1402}"/>
              </a:ext>
            </a:extLst>
          </p:cNvPr>
          <p:cNvSpPr txBox="1"/>
          <p:nvPr/>
        </p:nvSpPr>
        <p:spPr>
          <a:xfrm>
            <a:off x="5124262" y="119658"/>
            <a:ext cx="4645564" cy="338554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➋ 목표 산정 근거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/ 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분기 목표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/ 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평가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Description 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근거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(7/10)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711747-D288-6012-FCF4-8C9F783F6ABA}"/>
              </a:ext>
            </a:extLst>
          </p:cNvPr>
          <p:cNvSpPr txBox="1"/>
          <p:nvPr/>
        </p:nvSpPr>
        <p:spPr>
          <a:xfrm>
            <a:off x="4454656" y="106918"/>
            <a:ext cx="886091" cy="369332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[</a:t>
            </a:r>
            <a:r>
              <a: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유첨</a:t>
            </a: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]</a:t>
            </a:r>
            <a:endParaRPr kumimoji="1" lang="ko-KR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680754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CC9D7984-7EEC-4652-82F7-025067A514C5}"/>
              </a:ext>
            </a:extLst>
          </p:cNvPr>
          <p:cNvGraphicFramePr>
            <a:graphicFrameLocks noGrp="1"/>
          </p:cNvGraphicFramePr>
          <p:nvPr/>
        </p:nvGraphicFramePr>
        <p:xfrm>
          <a:off x="173693" y="620688"/>
          <a:ext cx="9541533" cy="5976000"/>
        </p:xfrm>
        <a:graphic>
          <a:graphicData uri="http://schemas.openxmlformats.org/drawingml/2006/table">
            <a:tbl>
              <a:tblPr/>
              <a:tblGrid>
                <a:gridCol w="612441">
                  <a:extLst>
                    <a:ext uri="{9D8B030D-6E8A-4147-A177-3AD203B41FA5}">
                      <a16:colId xmlns:a16="http://schemas.microsoft.com/office/drawing/2014/main" val="1583461695"/>
                    </a:ext>
                  </a:extLst>
                </a:gridCol>
                <a:gridCol w="1224884">
                  <a:extLst>
                    <a:ext uri="{9D8B030D-6E8A-4147-A177-3AD203B41FA5}">
                      <a16:colId xmlns:a16="http://schemas.microsoft.com/office/drawing/2014/main" val="4227781156"/>
                    </a:ext>
                  </a:extLst>
                </a:gridCol>
                <a:gridCol w="288208">
                  <a:extLst>
                    <a:ext uri="{9D8B030D-6E8A-4147-A177-3AD203B41FA5}">
                      <a16:colId xmlns:a16="http://schemas.microsoft.com/office/drawing/2014/main" val="2487817271"/>
                    </a:ext>
                  </a:extLst>
                </a:gridCol>
                <a:gridCol w="3708000">
                  <a:extLst>
                    <a:ext uri="{9D8B030D-6E8A-4147-A177-3AD203B41FA5}">
                      <a16:colId xmlns:a16="http://schemas.microsoft.com/office/drawing/2014/main" val="4115920672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409402569"/>
                    </a:ext>
                  </a:extLst>
                </a:gridCol>
                <a:gridCol w="3420000">
                  <a:extLst>
                    <a:ext uri="{9D8B030D-6E8A-4147-A177-3AD203B41FA5}">
                      <a16:colId xmlns:a16="http://schemas.microsoft.com/office/drawing/2014/main" val="3282466944"/>
                    </a:ext>
                  </a:extLst>
                </a:gridCol>
              </a:tblGrid>
              <a:tr h="1800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1" i="0" u="none" strike="noStrike" kern="1200" spc="-1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’26</a:t>
                      </a:r>
                      <a:r>
                        <a:rPr lang="ko-KR" altLang="en-US" sz="1000" b="1" i="0" u="none" strike="noStrike" kern="1200" spc="-1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년 </a:t>
                      </a:r>
                      <a:r>
                        <a:rPr lang="en-US" altLang="ko-KR" sz="1000" b="1" i="0" u="none" strike="noStrike" kern="1200" spc="-1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KPI</a:t>
                      </a:r>
                      <a:endParaRPr lang="ko-KR" altLang="en-US" sz="1000" b="1" i="0" u="none" strike="noStrike" kern="1200" spc="-1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i="0" u="none" strike="noStrike" kern="1200" spc="-1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상세 목표</a:t>
                      </a:r>
                      <a:endParaRPr lang="en-US" altLang="ko-KR" sz="1000" b="1" i="0" u="none" strike="noStrike" kern="1200" spc="-1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i="0" u="none" strike="noStrike" kern="1200" spc="-1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비중</a:t>
                      </a:r>
                      <a:endParaRPr lang="en-US" altLang="ko-KR" sz="1000" b="1" i="0" u="none" strike="noStrike" kern="1200" spc="-1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목표 설정 근거</a:t>
                      </a: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분기 목표 및 실행 계획</a:t>
                      </a: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8957706"/>
                  </a:ext>
                </a:extLst>
              </a:tr>
              <a:tr h="252000">
                <a:tc rowSpan="11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92075" indent="-92075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SzPct val="100000"/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1" kern="1200" spc="-1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자동보정을 활용한</a:t>
                      </a:r>
                      <a:br>
                        <a:rPr lang="en-US" altLang="ko-KR" sz="1000" b="1" kern="1200" spc="-1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ko-KR" altLang="en-US" sz="1000" b="1" kern="1200" spc="-1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재료비 절감</a:t>
                      </a: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1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Q : </a:t>
                      </a:r>
                      <a:r>
                        <a:rPr kumimoji="0" lang="ko-KR" altLang="en-US" sz="1000" b="1" i="0" u="none" strike="noStrike" kern="1200" cap="none" spc="-5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원가 절감 </a:t>
                      </a:r>
                      <a:r>
                        <a:rPr kumimoji="0" lang="en-US" altLang="ko-KR" sz="1000" b="1" i="0" u="none" strike="noStrike" kern="1200" cap="none" spc="-5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15</a:t>
                      </a:r>
                      <a:r>
                        <a:rPr kumimoji="0" lang="ko-KR" altLang="en-US" sz="1000" b="1" i="0" u="none" strike="noStrike" kern="1200" cap="none" spc="-5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억원</a:t>
                      </a:r>
                      <a:endParaRPr kumimoji="0" lang="en-US" altLang="ko-KR" sz="1000" b="1" i="0" u="none" strike="noStrike" kern="1200" cap="none" spc="-5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 : ‘26.12</a:t>
                      </a:r>
                      <a:r>
                        <a:rPr kumimoji="0" lang="ko-KR" altLang="en-US" sz="1000" b="1" i="0" u="none" strike="noStrike" kern="1200" cap="none" spc="-5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월</a:t>
                      </a: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1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10%</a:t>
                      </a: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5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[</a:t>
                      </a:r>
                      <a:r>
                        <a:rPr kumimoji="0" lang="ko-KR" altLang="en-US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전년실적</a:t>
                      </a:r>
                      <a: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 </a:t>
                      </a:r>
                      <a:r>
                        <a:rPr kumimoji="0" lang="ko-KR" altLang="en-US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실적 없음</a:t>
                      </a:r>
                      <a:endParaRPr kumimoji="0" lang="en-US" altLang="ko-KR" sz="1000" b="1" i="0" u="none" strike="noStrike" kern="1200" cap="none" spc="-30" normalizeH="0" baseline="0" noProof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목표설정 근거</a:t>
                      </a:r>
                      <a:b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</a:t>
                      </a:r>
                      <a:r>
                        <a:rPr kumimoji="0" lang="ko-KR" altLang="en-US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자동보정 </a:t>
                      </a:r>
                      <a: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Coverage </a:t>
                      </a:r>
                      <a:r>
                        <a:rPr kumimoji="0" lang="ko-KR" altLang="en-US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확대를 통한</a:t>
                      </a:r>
                      <a: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ko-KR" altLang="en-US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경영 기여 극대화 필요</a:t>
                      </a:r>
                      <a: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b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. </a:t>
                      </a:r>
                      <a:r>
                        <a:rPr kumimoji="0" lang="ko-KR" altLang="en-US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제품 </a:t>
                      </a:r>
                      <a:r>
                        <a:rPr kumimoji="0" lang="ko-KR" altLang="en-US" sz="1000" b="0" i="0" u="none" strike="noStrike" kern="1200" cap="none" spc="-3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kumimoji="0" lang="en-US" altLang="ko-KR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</a:t>
                      </a:r>
                      <a:r>
                        <a:rPr kumimoji="0" lang="ko-KR" altLang="en-US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품질</a:t>
                      </a:r>
                      <a:r>
                        <a:rPr kumimoji="0" lang="en-US" altLang="ko-KR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</a:t>
                      </a:r>
                      <a:r>
                        <a:rPr kumimoji="0" lang="ko-KR" altLang="en-US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가동률 외 기여 과제 추가 발굴 및 적용</a:t>
                      </a:r>
                      <a:br>
                        <a:rPr kumimoji="0" lang="en-US" altLang="ko-KR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. </a:t>
                      </a:r>
                      <a:r>
                        <a:rPr kumimoji="0" lang="ko-KR" altLang="en-US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제조 공정 내 투입 재료 절감 </a:t>
                      </a:r>
                      <a:r>
                        <a:rPr kumimoji="0" lang="en-US" altLang="ko-KR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or </a:t>
                      </a:r>
                      <a:r>
                        <a:rPr kumimoji="0" lang="ko-KR" altLang="en-US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원재료 폐기량 저감을 통한 경영 기여</a:t>
                      </a:r>
                      <a:endParaRPr kumimoji="0" lang="en-US" altLang="ko-KR" sz="10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1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90000" marR="0" lvl="0" indent="-9000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목표설정</a:t>
                      </a:r>
                      <a:b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</a:t>
                      </a:r>
                      <a:r>
                        <a:rPr kumimoji="0" lang="ko-KR" altLang="en-US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 </a:t>
                      </a:r>
                      <a:r>
                        <a:rPr kumimoji="0" lang="en-US" altLang="ko-KR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</a:t>
                      </a:r>
                      <a:r>
                        <a:rPr kumimoji="0" lang="ko-KR" altLang="en-US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원가절감 </a:t>
                      </a:r>
                      <a:r>
                        <a:rPr kumimoji="0" lang="en-US" altLang="ko-KR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15</a:t>
                      </a:r>
                      <a:r>
                        <a:rPr kumimoji="0" lang="ko-KR" altLang="en-US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억원</a:t>
                      </a:r>
                      <a:br>
                        <a:rPr kumimoji="0" lang="en-US" altLang="ko-KR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</a:t>
                      </a:r>
                      <a:r>
                        <a:rPr kumimoji="0" lang="ko-KR" altLang="en-US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대상 </a:t>
                      </a:r>
                      <a:r>
                        <a:rPr kumimoji="0" lang="en-US" altLang="ko-KR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</a:t>
                      </a:r>
                      <a:r>
                        <a:rPr kumimoji="0" lang="ko-KR" altLang="en-US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전 제조</a:t>
                      </a:r>
                      <a:r>
                        <a:rPr kumimoji="0" lang="en-US" altLang="ko-KR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ko-KR" altLang="en-US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공정</a:t>
                      </a:r>
                      <a:r>
                        <a:rPr kumimoji="0" lang="en-US" altLang="ko-KR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믹서 </a:t>
                      </a:r>
                      <a:r>
                        <a:rPr kumimoji="0" lang="en-US" altLang="ko-KR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Pack)</a:t>
                      </a:r>
                      <a:endParaRPr kumimoji="0" lang="ko-KR" altLang="en-US" sz="1000" b="0" i="0" u="none" strike="noStrike" kern="1200" cap="none" spc="-3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1Q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개선 과제 도출 및 개발 착수</a:t>
                      </a:r>
                      <a:endParaRPr kumimoji="1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6654165"/>
                  </a:ext>
                </a:extLst>
              </a:tr>
              <a:tr h="252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2Q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170" marR="0" lvl="0" indent="-9017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5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억원 저감</a:t>
                      </a:r>
                      <a:endParaRPr kumimoji="1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8396706"/>
                  </a:ext>
                </a:extLst>
              </a:tr>
              <a:tr h="252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3Q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170" marR="0" lvl="0" indent="-9017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10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억원 저감</a:t>
                      </a:r>
                      <a:endParaRPr kumimoji="1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1808293"/>
                  </a:ext>
                </a:extLst>
              </a:tr>
              <a:tr h="252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4Q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170" marR="0" lvl="0" indent="-9017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15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억원 저감</a:t>
                      </a:r>
                      <a:endParaRPr kumimoji="1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5647809"/>
                  </a:ext>
                </a:extLst>
              </a:tr>
              <a:tr h="226800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1" i="0" u="none" strike="noStrike" kern="1200" cap="none" spc="-1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0" marB="0" anchor="ctr" horzOverflow="overflow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ko-KR" altLang="en-US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실행</a:t>
                      </a:r>
                      <a:br>
                        <a:rPr kumimoji="1" lang="en-US" altLang="ko-KR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ko-KR" altLang="en-US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계획</a:t>
                      </a: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b="1" kern="1200" spc="0" baseline="0" noProof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[1</a:t>
                      </a:r>
                      <a:r>
                        <a:rPr lang="ko-KR" altLang="en-US" sz="1000" b="1" kern="1200" spc="0" baseline="0" noProof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분기</a:t>
                      </a:r>
                      <a:r>
                        <a:rPr lang="en-US" altLang="ko-KR" sz="1000" b="1" kern="1200" spc="0" baseline="0" noProof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0" kern="1200" spc="0" baseline="0" noProof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000" b="0" kern="1200" spc="0" baseline="0" noProof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CTP </a:t>
                      </a:r>
                      <a:r>
                        <a:rPr lang="ko-KR" altLang="en-US" sz="1000" b="0" kern="1200" spc="0" baseline="0" noProof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설비 대상 레진 산포 발생 원인 인자 발굴 및 예측모델 개발</a:t>
                      </a:r>
                      <a:endParaRPr lang="en-US" altLang="ko-KR" sz="1000" b="0" kern="1200" spc="0" baseline="0" noProof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000" b="0" kern="1200" spc="0" baseline="0" noProof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000" b="0" kern="1200" spc="0" baseline="0" noProof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질량 유량계 기반 자동보정 로직 고도화</a:t>
                      </a:r>
                      <a:br>
                        <a:rPr lang="en-US" altLang="ko-KR" sz="1000" b="0" kern="1200" spc="0" baseline="0" noProof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br>
                        <a:rPr lang="en-US" altLang="ko-KR" sz="1000" b="0" kern="1200" spc="0" baseline="0" noProof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en-US" altLang="ko-KR" sz="1000" b="1" kern="1200" spc="0" baseline="0" noProof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[2</a:t>
                      </a:r>
                      <a:r>
                        <a:rPr lang="ko-KR" altLang="en-US" sz="1000" b="1" kern="1200" spc="0" baseline="0" noProof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분기</a:t>
                      </a:r>
                      <a:r>
                        <a:rPr lang="en-US" altLang="ko-KR" sz="1000" b="1" kern="1200" spc="0" baseline="0" noProof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Global 1</a:t>
                      </a:r>
                      <a:r>
                        <a:rPr lang="en-US" altLang="ko-KR" sz="1000" baseline="300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st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대표호기 대상 기술 검증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/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양산 적용</a:t>
                      </a:r>
                      <a:endParaRPr lang="en-US" altLang="ko-KR" sz="100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000" b="0" kern="1200" spc="0" baseline="0" noProof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000" b="0" kern="1200" spc="0" baseline="0" noProof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재료비 절감 기여 과제 추가 발굴</a:t>
                      </a:r>
                      <a:r>
                        <a:rPr lang="en-US" altLang="ko-KR" sz="1000" b="0" kern="1200" spc="0" baseline="0" noProof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000" b="0" kern="1200" spc="0" baseline="0" noProof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및 데이터 분석</a:t>
                      </a:r>
                      <a:br>
                        <a:rPr lang="en-US" altLang="ko-KR" sz="1000" b="0" kern="1200" spc="0" baseline="0" noProof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br>
                        <a:rPr lang="en-US" altLang="ko-KR" sz="1000" b="0" kern="1200" spc="0" baseline="0" noProof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en-US" altLang="ko-KR" sz="1000" b="1" kern="1200" spc="0" baseline="0" noProof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[3</a:t>
                      </a:r>
                      <a:r>
                        <a:rPr lang="ko-KR" altLang="en-US" sz="1000" b="1" kern="1200" spc="0" baseline="0" noProof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분기</a:t>
                      </a:r>
                      <a:r>
                        <a:rPr lang="en-US" altLang="ko-KR" sz="1000" b="1" kern="1200" spc="0" baseline="0" noProof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000" b="0" kern="1200" spc="0" baseline="0" noProof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Global </a:t>
                      </a:r>
                      <a:r>
                        <a:rPr lang="ko-KR" altLang="en-US" sz="1000" b="0" kern="1200" spc="0" baseline="0" noProof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법인 대상 수평전개 진행 및 기술 이관</a:t>
                      </a:r>
                      <a:endParaRPr lang="en-US" altLang="ko-KR" sz="1000" b="0" kern="1200" spc="0" baseline="0" noProof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0" kern="1200" spc="0" baseline="0" noProof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신규 도출 항목 개발 및 양산 적용</a:t>
                      </a:r>
                      <a:br>
                        <a:rPr lang="en-US" altLang="ko-KR" sz="1000" b="0" kern="1200" spc="0" baseline="0" noProof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br>
                        <a:rPr lang="en-US" altLang="ko-KR" sz="1000" b="0" kern="1200" spc="0" baseline="0" noProof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en-US" altLang="ko-KR" sz="1000" b="1" kern="1200" spc="0" baseline="0" noProof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[4</a:t>
                      </a:r>
                      <a:r>
                        <a:rPr lang="ko-KR" altLang="en-US" sz="1000" b="1" kern="1200" spc="0" baseline="0" noProof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분기</a:t>
                      </a:r>
                      <a:r>
                        <a:rPr lang="en-US" altLang="ko-KR" sz="1000" b="1" kern="1200" spc="0" baseline="0" noProof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</a:t>
                      </a:r>
                      <a:endParaRPr kumimoji="1" lang="en-US" altLang="ko-KR" sz="1000" b="0" kern="1200" noProof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0" kern="1200" spc="0" baseline="0" noProof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개선안 적용 후 결과 모니터링 및 유지관리</a:t>
                      </a:r>
                      <a:endParaRPr lang="en-US" altLang="ko-KR" sz="1000" b="0" kern="1200" spc="0" baseline="0" noProof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579272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평가 </a:t>
                      </a:r>
                      <a:r>
                        <a:rPr kumimoji="1" lang="en-US" altLang="ko-KR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Scale </a:t>
                      </a: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산출 로직</a:t>
                      </a: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평가 </a:t>
                      </a:r>
                      <a:r>
                        <a:rPr kumimoji="1" lang="en-US" altLang="ko-KR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Description</a:t>
                      </a: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endParaRPr kumimoji="1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6705988"/>
                  </a:ext>
                </a:extLst>
              </a:tr>
              <a:tr h="468000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5">
                  <a:txBody>
                    <a:bodyPr/>
                    <a:lstStyle/>
                    <a:p>
                      <a:pPr marL="90000" marR="0" lvl="0" indent="-9000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평가 </a:t>
                      </a:r>
                      <a: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Description </a:t>
                      </a:r>
                      <a:r>
                        <a:rPr kumimoji="0" lang="ko-KR" altLang="en-US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배점에 대한 산출 로직</a:t>
                      </a:r>
                      <a:b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5</a:t>
                      </a:r>
                      <a:r>
                        <a:rPr kumimoji="0" lang="ko-KR" altLang="en-US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점 </a:t>
                      </a:r>
                      <a: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</a:t>
                      </a:r>
                      <a:r>
                        <a:rPr kumimoji="0" lang="ko-KR" altLang="en-US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원가</a:t>
                      </a:r>
                      <a: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ko-KR" altLang="en-US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절감 </a:t>
                      </a:r>
                      <a: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166% </a:t>
                      </a:r>
                      <a:r>
                        <a:rPr kumimoji="0" lang="ko-KR" altLang="en-US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</a:t>
                      </a:r>
                      <a: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ko-KR" altLang="en-US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절감 </a:t>
                      </a:r>
                      <a: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</a:t>
                      </a:r>
                      <a: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*(100% + 66%))</a:t>
                      </a:r>
                      <a:b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4</a:t>
                      </a:r>
                      <a:r>
                        <a:rPr kumimoji="0" lang="ko-KR" altLang="en-US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점 </a:t>
                      </a:r>
                      <a: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</a:t>
                      </a:r>
                      <a:r>
                        <a:rPr kumimoji="0" lang="ko-KR" altLang="en-US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원가</a:t>
                      </a:r>
                      <a: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ko-KR" altLang="en-US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절감 </a:t>
                      </a:r>
                      <a: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133% </a:t>
                      </a:r>
                      <a:r>
                        <a:rPr kumimoji="0" lang="ko-KR" altLang="en-US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 절감 </a:t>
                      </a:r>
                      <a: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</a:t>
                      </a:r>
                      <a: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*(100% + 33%))</a:t>
                      </a:r>
                      <a:b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</a:t>
                      </a:r>
                      <a:r>
                        <a:rPr kumimoji="0" lang="ko-KR" altLang="en-US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점 </a:t>
                      </a:r>
                      <a: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</a:t>
                      </a:r>
                      <a:r>
                        <a:rPr kumimoji="0" lang="ko-KR" altLang="en-US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원가</a:t>
                      </a:r>
                      <a: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ko-KR" altLang="en-US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절감 </a:t>
                      </a:r>
                      <a: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67% </a:t>
                      </a:r>
                      <a:r>
                        <a:rPr kumimoji="0" lang="ko-KR" altLang="en-US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 절감 </a:t>
                      </a:r>
                      <a: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</a:t>
                      </a:r>
                      <a: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*(100% - 33%))</a:t>
                      </a:r>
                      <a:b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</a:t>
                      </a:r>
                      <a:r>
                        <a:rPr kumimoji="0" lang="ko-KR" altLang="en-US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점 </a:t>
                      </a:r>
                      <a: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</a:t>
                      </a:r>
                      <a:r>
                        <a:rPr kumimoji="0" lang="ko-KR" altLang="en-US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원가</a:t>
                      </a:r>
                      <a: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ko-KR" altLang="en-US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절감 </a:t>
                      </a:r>
                      <a: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67% </a:t>
                      </a:r>
                      <a:r>
                        <a:rPr kumimoji="0" lang="ko-KR" altLang="en-US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미만</a:t>
                      </a:r>
                      <a: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ko-KR" altLang="en-US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절감 </a:t>
                      </a:r>
                      <a: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</a:t>
                      </a:r>
                      <a: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*(100% - 33%))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5</a:t>
                      </a:r>
                      <a:r>
                        <a:rPr kumimoji="1" lang="ko-KR" altLang="en-US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점</a:t>
                      </a: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Q : </a:t>
                      </a:r>
                      <a:r>
                        <a:rPr kumimoji="0" lang="ko-KR" altLang="en-US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원가 절감 </a:t>
                      </a:r>
                      <a: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25</a:t>
                      </a:r>
                      <a:r>
                        <a:rPr kumimoji="0" lang="ko-KR" altLang="en-US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억원</a:t>
                      </a:r>
                      <a:b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D : ‘26.12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월</a:t>
                      </a:r>
                      <a:endParaRPr kumimoji="1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9652368"/>
                  </a:ext>
                </a:extLst>
              </a:tr>
              <a:tr h="468000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900" b="1" i="0" u="none" strike="noStrike" kern="1200" cap="none" spc="-3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4</a:t>
                      </a:r>
                      <a:r>
                        <a:rPr kumimoji="1" lang="ko-KR" altLang="en-US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점</a:t>
                      </a: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Q : </a:t>
                      </a:r>
                      <a:r>
                        <a:rPr kumimoji="0" lang="ko-KR" altLang="en-US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원가 절감 </a:t>
                      </a:r>
                      <a: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20</a:t>
                      </a:r>
                      <a:r>
                        <a:rPr kumimoji="0" lang="ko-KR" altLang="en-US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억원</a:t>
                      </a:r>
                      <a:endParaRPr kumimoji="1" lang="ko-KR" altLang="en-US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D : ‘26.12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월</a:t>
                      </a:r>
                      <a:endParaRPr kumimoji="1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8312169"/>
                  </a:ext>
                </a:extLst>
              </a:tr>
              <a:tr h="468000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900" b="1" i="0" u="none" strike="noStrike" kern="1200" cap="none" spc="-3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3</a:t>
                      </a:r>
                      <a:r>
                        <a:rPr kumimoji="1" lang="ko-KR" altLang="en-US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점</a:t>
                      </a: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Q : </a:t>
                      </a:r>
                      <a:r>
                        <a:rPr kumimoji="0" lang="ko-KR" altLang="en-US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원가 절감 </a:t>
                      </a:r>
                      <a: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15</a:t>
                      </a:r>
                      <a:r>
                        <a:rPr kumimoji="0" lang="ko-KR" altLang="en-US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억원</a:t>
                      </a:r>
                      <a:endParaRPr kumimoji="1" lang="ko-KR" altLang="en-US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D : ‘26.12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월</a:t>
                      </a:r>
                      <a:endParaRPr kumimoji="1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3781511"/>
                  </a:ext>
                </a:extLst>
              </a:tr>
              <a:tr h="468000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900" b="1" i="0" u="none" strike="noStrike" kern="1200" cap="none" spc="-3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2</a:t>
                      </a:r>
                      <a:r>
                        <a:rPr kumimoji="1" lang="ko-KR" altLang="en-US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점</a:t>
                      </a: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Q : </a:t>
                      </a:r>
                      <a:r>
                        <a:rPr kumimoji="0" lang="ko-KR" altLang="en-US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원가 절감 </a:t>
                      </a:r>
                      <a: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10</a:t>
                      </a:r>
                      <a:r>
                        <a:rPr kumimoji="0" lang="ko-KR" altLang="en-US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억원</a:t>
                      </a:r>
                      <a:endParaRPr kumimoji="1" lang="ko-KR" altLang="en-US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D : ‘26.12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월</a:t>
                      </a:r>
                      <a:endParaRPr kumimoji="1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8170501"/>
                  </a:ext>
                </a:extLst>
              </a:tr>
              <a:tr h="468000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900" b="1" i="0" u="none" strike="noStrike" kern="1200" cap="none" spc="-3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1</a:t>
                      </a:r>
                      <a:r>
                        <a:rPr kumimoji="1" lang="ko-KR" altLang="en-US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점</a:t>
                      </a: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Q : </a:t>
                      </a:r>
                      <a:r>
                        <a:rPr kumimoji="0" lang="ko-KR" altLang="en-US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원가 절감 </a:t>
                      </a:r>
                      <a: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10</a:t>
                      </a:r>
                      <a:r>
                        <a:rPr kumimoji="0" lang="ko-KR" altLang="en-US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억원 미만</a:t>
                      </a:r>
                      <a:endParaRPr kumimoji="1" lang="ko-KR" altLang="en-US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D : ‘26.12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월</a:t>
                      </a:r>
                      <a:endParaRPr kumimoji="1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0330578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25697D00-5737-3E25-4002-38B0BE5252F4}"/>
              </a:ext>
            </a:extLst>
          </p:cNvPr>
          <p:cNvSpPr txBox="1"/>
          <p:nvPr/>
        </p:nvSpPr>
        <p:spPr>
          <a:xfrm>
            <a:off x="95895" y="174087"/>
            <a:ext cx="3853543" cy="369332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[ </a:t>
            </a:r>
            <a:r>
              <a:rPr kumimoji="1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자동보정담당 </a:t>
            </a:r>
            <a:r>
              <a:rPr kumimoji="1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/ </a:t>
            </a:r>
            <a:r>
              <a:rPr kumimoji="1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송무강 </a:t>
            </a:r>
            <a:r>
              <a:rPr kumimoji="1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/ </a:t>
            </a:r>
            <a:r>
              <a:rPr kumimoji="1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상무 </a:t>
            </a: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]</a:t>
            </a:r>
            <a:endParaRPr kumimoji="0" lang="ko-KR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C871F7F-E3EB-1A9B-8A6F-F1DAFC6ECD0A}"/>
              </a:ext>
            </a:extLst>
          </p:cNvPr>
          <p:cNvSpPr/>
          <p:nvPr/>
        </p:nvSpPr>
        <p:spPr>
          <a:xfrm>
            <a:off x="4475366" y="4286176"/>
            <a:ext cx="1538883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* 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목표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(3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점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) 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대비 평가 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Scale 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산출</a:t>
            </a:r>
            <a:endParaRPr kumimoji="0" lang="ko-KR" altLang="en-US" sz="900" b="0" i="0" u="none" strike="noStrike" kern="1200" cap="none" spc="0" normalizeH="0" baseline="0" noProof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A3AF6D-65F5-CC3F-B80A-78DEE890BF41}"/>
              </a:ext>
            </a:extLst>
          </p:cNvPr>
          <p:cNvSpPr txBox="1"/>
          <p:nvPr/>
        </p:nvSpPr>
        <p:spPr>
          <a:xfrm>
            <a:off x="5124262" y="119658"/>
            <a:ext cx="4645564" cy="338554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➋ 목표 산정 근거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/ 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분기 목표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/ 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평가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Description 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근거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(8/10)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9F56D6C-5C1C-53AC-A080-2DBB13C1AE5E}"/>
              </a:ext>
            </a:extLst>
          </p:cNvPr>
          <p:cNvSpPr txBox="1"/>
          <p:nvPr/>
        </p:nvSpPr>
        <p:spPr>
          <a:xfrm>
            <a:off x="4454656" y="106918"/>
            <a:ext cx="886091" cy="369332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[</a:t>
            </a:r>
            <a:r>
              <a: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유첨</a:t>
            </a: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]</a:t>
            </a:r>
            <a:endParaRPr kumimoji="1" lang="ko-KR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751614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8F0F9D16-AA40-FDC8-4F53-CB52FDC89CAE}"/>
              </a:ext>
            </a:extLst>
          </p:cNvPr>
          <p:cNvGraphicFramePr>
            <a:graphicFrameLocks noGrp="1"/>
          </p:cNvGraphicFramePr>
          <p:nvPr/>
        </p:nvGraphicFramePr>
        <p:xfrm>
          <a:off x="173693" y="620688"/>
          <a:ext cx="9541529" cy="5812441"/>
        </p:xfrm>
        <a:graphic>
          <a:graphicData uri="http://schemas.openxmlformats.org/drawingml/2006/table">
            <a:tbl>
              <a:tblPr/>
              <a:tblGrid>
                <a:gridCol w="612441">
                  <a:extLst>
                    <a:ext uri="{9D8B030D-6E8A-4147-A177-3AD203B41FA5}">
                      <a16:colId xmlns:a16="http://schemas.microsoft.com/office/drawing/2014/main" val="1583461695"/>
                    </a:ext>
                  </a:extLst>
                </a:gridCol>
                <a:gridCol w="1224883">
                  <a:extLst>
                    <a:ext uri="{9D8B030D-6E8A-4147-A177-3AD203B41FA5}">
                      <a16:colId xmlns:a16="http://schemas.microsoft.com/office/drawing/2014/main" val="4227781156"/>
                    </a:ext>
                  </a:extLst>
                </a:gridCol>
                <a:gridCol w="288208">
                  <a:extLst>
                    <a:ext uri="{9D8B030D-6E8A-4147-A177-3AD203B41FA5}">
                      <a16:colId xmlns:a16="http://schemas.microsoft.com/office/drawing/2014/main" val="2487817271"/>
                    </a:ext>
                  </a:extLst>
                </a:gridCol>
                <a:gridCol w="3707999">
                  <a:extLst>
                    <a:ext uri="{9D8B030D-6E8A-4147-A177-3AD203B41FA5}">
                      <a16:colId xmlns:a16="http://schemas.microsoft.com/office/drawing/2014/main" val="4115920672"/>
                    </a:ext>
                  </a:extLst>
                </a:gridCol>
                <a:gridCol w="287999">
                  <a:extLst>
                    <a:ext uri="{9D8B030D-6E8A-4147-A177-3AD203B41FA5}">
                      <a16:colId xmlns:a16="http://schemas.microsoft.com/office/drawing/2014/main" val="2409402569"/>
                    </a:ext>
                  </a:extLst>
                </a:gridCol>
                <a:gridCol w="3419999">
                  <a:extLst>
                    <a:ext uri="{9D8B030D-6E8A-4147-A177-3AD203B41FA5}">
                      <a16:colId xmlns:a16="http://schemas.microsoft.com/office/drawing/2014/main" val="3282466944"/>
                    </a:ext>
                  </a:extLst>
                </a:gridCol>
              </a:tblGrid>
              <a:tr h="16126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1" i="0" u="none" strike="noStrike" kern="1200" spc="-10">
                          <a:solidFill>
                            <a:srgbClr val="000000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’26</a:t>
                      </a:r>
                      <a:r>
                        <a:rPr lang="ko-KR" altLang="en-US" sz="1000" b="1" i="0" u="none" strike="noStrike" kern="1200" spc="-10">
                          <a:solidFill>
                            <a:srgbClr val="000000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년 </a:t>
                      </a:r>
                      <a:r>
                        <a:rPr lang="en-US" altLang="ko-KR" sz="1000" b="1" i="0" u="none" strike="noStrike" kern="1200" spc="-10">
                          <a:solidFill>
                            <a:srgbClr val="000000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KPI</a:t>
                      </a:r>
                      <a:endParaRPr lang="ko-KR" altLang="en-US" sz="1000" b="1" i="0" u="none" strike="noStrike" kern="1200" spc="-10">
                        <a:solidFill>
                          <a:srgbClr val="000000"/>
                        </a:solidFill>
                        <a:latin typeface="Arial Narrow"/>
                        <a:ea typeface="LG스마트체 Regular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i="0" u="none" strike="noStrike" kern="1200" spc="-10">
                          <a:solidFill>
                            <a:srgbClr val="000000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상세 목표</a:t>
                      </a:r>
                      <a:endParaRPr lang="en-US" altLang="ko-KR" sz="1000" b="1" i="0" u="none" strike="noStrike" kern="1200" spc="-10">
                        <a:solidFill>
                          <a:srgbClr val="000000"/>
                        </a:solidFill>
                        <a:latin typeface="Arial Narrow"/>
                        <a:ea typeface="LG스마트체 Regular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i="0" u="none" strike="noStrike" kern="1200" spc="-10">
                          <a:solidFill>
                            <a:srgbClr val="000000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비중</a:t>
                      </a:r>
                      <a:endParaRPr lang="en-US" altLang="ko-KR" sz="1000" b="1" i="0" u="none" strike="noStrike" kern="1200" spc="-10">
                        <a:solidFill>
                          <a:srgbClr val="000000"/>
                        </a:solidFill>
                        <a:latin typeface="Arial Narrow"/>
                        <a:ea typeface="LG스마트체 Regular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  <a:cs typeface="Arial"/>
                        </a:rPr>
                        <a:t>목표 설정 근거</a:t>
                      </a: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/>
                        <a:ea typeface="LG스마트체 Regular"/>
                        <a:cs typeface="Arial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  <a:cs typeface="Arial"/>
                        </a:rPr>
                        <a:t>분기 목표 및 실행 계획</a:t>
                      </a: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/>
                        <a:ea typeface="LG스마트체 Regular"/>
                        <a:cs typeface="Arial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8957706"/>
                  </a:ext>
                </a:extLst>
              </a:tr>
              <a:tr h="432000">
                <a:tc rowSpan="11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92075" indent="-92075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SzPct val="100000"/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1" kern="1200" spc="-1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차세대 다이 자동보정 기술개발</a:t>
                      </a:r>
                      <a:endParaRPr lang="en-US" altLang="ko-KR" sz="1000" b="1" kern="1200" spc="-10">
                        <a:solidFill>
                          <a:schemeClr val="tx1"/>
                        </a:solidFill>
                        <a:latin typeface="Arial Narrow"/>
                        <a:ea typeface="LG스마트체 Regular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1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Q : </a:t>
                      </a:r>
                      <a:r>
                        <a:rPr kumimoji="1" lang="ko-KR" altLang="en-US" sz="10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초크바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 다이</a:t>
                      </a:r>
                      <a:b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</a:b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(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로딩 </a:t>
                      </a:r>
                      <a:r>
                        <a:rPr kumimoji="1" lang="en-US" altLang="ko-KR" sz="10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Cpk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 2.5 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이상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,</a:t>
                      </a:r>
                      <a:b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</a:b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 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RP 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단선 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20% 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이상 개선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)</a:t>
                      </a:r>
                      <a:b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</a:br>
                      <a:r>
                        <a:rPr kumimoji="1" lang="ko-KR" altLang="en-US" sz="10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분할다이</a:t>
                      </a:r>
                      <a:b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</a:b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(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미스매치 </a:t>
                      </a:r>
                      <a:r>
                        <a:rPr kumimoji="1" lang="en-US" altLang="ko-KR" sz="10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Cpk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 1.8 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이상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)</a:t>
                      </a:r>
                    </a:p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D : ‘26.4Q 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/>
                        <a:ea typeface="LG스마트체 Regular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1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5%</a:t>
                      </a: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5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[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전년실적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]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실적 없음</a:t>
                      </a: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uLnTx/>
                        <a:uFillTx/>
                        <a:latin typeface="Arial Narrow"/>
                        <a:ea typeface="LG스마트체 Regular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uLnTx/>
                        <a:uFillTx/>
                        <a:latin typeface="Arial Narrow"/>
                        <a:ea typeface="LG스마트체 Regular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목표설정 근거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1)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다이 다변화에 따른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Solution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필요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 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   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코팅 공정 정밀도 향상을 위한 차세대 다이 도입 및 검증 진행중이며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,</a:t>
                      </a:r>
                      <a:b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     </a:t>
                      </a:r>
                      <a:r>
                        <a:rPr kumimoji="0" lang="ko-KR" altLang="en-US" sz="1000" b="0" i="0" u="none" strike="noStrike" kern="1200" cap="none" spc="-3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초크바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 /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분할 </a:t>
                      </a:r>
                      <a:r>
                        <a:rPr kumimoji="0" lang="ko-KR" altLang="en-US" sz="1000" b="0" i="0" u="none" strike="noStrike" kern="1200" cap="none" spc="-3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다이의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 형태 다변화가 예상됨에 따른 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Solution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필요</a:t>
                      </a:r>
                      <a:endParaRPr kumimoji="0" lang="en-US" altLang="ko-KR" sz="10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/>
                        <a:ea typeface="LG스마트체 Regular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2)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신규 다이 적용 안정화 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   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차세대 </a:t>
                      </a:r>
                      <a:r>
                        <a:rPr kumimoji="0" lang="ko-KR" altLang="en-US" sz="1000" b="0" i="0" u="none" strike="noStrike" kern="1200" cap="none" spc="-3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다이의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 경우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, CTP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의 숫자가 급증함에 따라</a:t>
                      </a:r>
                      <a:b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   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수동보정 난이도 증가가 예상됨 선제적 자동보정 기술 도입이 필요함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. 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3)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공차 강화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   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초크바는 로딩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, </a:t>
                      </a:r>
                      <a:r>
                        <a:rPr kumimoji="0" lang="ko-KR" altLang="en-US" sz="1000" b="0" i="0" u="none" strike="noStrike" kern="1200" cap="none" spc="-3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분할다이는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 폭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/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미스매치 공차 강화 목표</a:t>
                      </a:r>
                      <a:endParaRPr kumimoji="0" lang="en-US" altLang="ko-KR" sz="10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/>
                        <a:ea typeface="LG스마트체 Regular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4)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신규 증설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Site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양산 안정화 기여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(ESAZ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법인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)</a:t>
                      </a:r>
                      <a:endParaRPr kumimoji="0" lang="ko-KR" altLang="en-US" sz="1000" b="1" i="0" u="none" strike="noStrike" kern="1200" cap="none" spc="-30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/>
                        <a:ea typeface="LG스마트체 Regular"/>
                        <a:cs typeface="+mn-cs"/>
                      </a:endParaRPr>
                    </a:p>
                  </a:txBody>
                  <a:tcPr marL="36000" marR="0" marT="0" marB="0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1Q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[</a:t>
                      </a:r>
                      <a:r>
                        <a:rPr kumimoji="1" lang="ko-KR" altLang="en-US" sz="1000" b="1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초크바</a:t>
                      </a: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] 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현장 운영을 위한 통합 </a:t>
                      </a: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UI 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설계</a:t>
                      </a:r>
                      <a:endParaRPr kumimoji="1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/>
                        <a:ea typeface="LG스마트체 Regular"/>
                        <a:cs typeface="Arial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[</a:t>
                      </a:r>
                      <a:r>
                        <a:rPr kumimoji="1" lang="ko-KR" altLang="en-US" sz="1000" b="1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초크바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 </a:t>
                      </a: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/ </a:t>
                      </a:r>
                      <a:r>
                        <a:rPr kumimoji="1" lang="ko-KR" altLang="en-US" sz="1000" b="1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분할다이</a:t>
                      </a: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] 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구조해석 기반 모델링</a:t>
                      </a:r>
                      <a:endParaRPr kumimoji="1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/>
                        <a:ea typeface="LG스마트체 Regular"/>
                        <a:cs typeface="Arial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6654165"/>
                  </a:ext>
                </a:extLst>
              </a:tr>
              <a:tr h="432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2Q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[</a:t>
                      </a:r>
                      <a:r>
                        <a:rPr kumimoji="1" lang="ko-KR" altLang="en-US" sz="1000" b="1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초크바</a:t>
                      </a: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] 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자동보정 모델</a:t>
                      </a: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/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알고리즘 설계</a:t>
                      </a: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/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구현</a:t>
                      </a:r>
                      <a:endParaRPr kumimoji="1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/>
                        <a:ea typeface="LG스마트체 Regular"/>
                        <a:cs typeface="Arial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[</a:t>
                      </a:r>
                      <a:r>
                        <a:rPr kumimoji="1" lang="ko-KR" altLang="en-US" sz="1000" b="1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분할다이</a:t>
                      </a: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]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 </a:t>
                      </a: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Pilot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설비</a:t>
                      </a: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 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입고 및 셋업</a:t>
                      </a: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(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자동보정 </a:t>
                      </a: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I/F 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설계</a:t>
                      </a: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, EP1, Pilot#3)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8396706"/>
                  </a:ext>
                </a:extLst>
              </a:tr>
              <a:tr h="432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3Q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</a:pP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[</a:t>
                      </a:r>
                      <a:r>
                        <a:rPr kumimoji="1" lang="ko-KR" altLang="en-US" sz="1000" b="1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초크바</a:t>
                      </a: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] 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대표라인 기능 검증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[</a:t>
                      </a:r>
                      <a:r>
                        <a:rPr kumimoji="1" lang="ko-KR" altLang="en-US" sz="1000" b="1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분할다이</a:t>
                      </a: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]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 모델</a:t>
                      </a: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/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로직 프로그램 개발</a:t>
                      </a: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 (EP1, Pilot#3)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1808293"/>
                  </a:ext>
                </a:extLst>
              </a:tr>
              <a:tr h="252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4Q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[</a:t>
                      </a:r>
                      <a:r>
                        <a:rPr kumimoji="1" lang="ko-KR" altLang="en-US" sz="1000" b="1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분할다이</a:t>
                      </a: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] 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대표라인 기능 검증 </a:t>
                      </a: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(AZ, NFF#1)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5647809"/>
                  </a:ext>
                </a:extLst>
              </a:tr>
              <a:tr h="1047255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1" i="0" u="none" strike="noStrike" kern="1200" cap="none" spc="-1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0" marB="0" anchor="ctr" horzOverflow="overflow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ko-KR" altLang="en-US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실행</a:t>
                      </a:r>
                      <a:br>
                        <a:rPr kumimoji="1" lang="en-US" altLang="ko-KR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</a:br>
                      <a:r>
                        <a:rPr kumimoji="1" lang="ko-KR" altLang="en-US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계획</a:t>
                      </a: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/>
                        <a:ea typeface="LG스마트체 Regular"/>
                        <a:cs typeface="Arial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[</a:t>
                      </a:r>
                      <a:r>
                        <a:rPr kumimoji="1" lang="ko-KR" altLang="en-US" sz="10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초크바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] 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통합 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UI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설계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(’26.3), 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모델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/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알고리즘 구현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(‘26.6)</a:t>
                      </a:r>
                      <a:b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</a:b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               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대표라인 검증</a:t>
                      </a: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(※ </a:t>
                      </a:r>
                      <a:r>
                        <a:rPr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WA C#7)</a:t>
                      </a: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 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[</a:t>
                      </a:r>
                      <a:r>
                        <a:rPr kumimoji="1" lang="ko-KR" altLang="en-US" sz="10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분할다이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] 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구조해석기반 모델링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(‘26.3) 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자동보정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 I/F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설계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(‘26.6)</a:t>
                      </a:r>
                      <a:b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</a:b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               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모델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/</a:t>
                      </a:r>
                      <a:r>
                        <a:rPr kumimoji="1" lang="ko-KR" altLang="en-US" sz="10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로직프로그램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 개발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(’26.9), 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대표라인 검증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(’26.12)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579272"/>
                  </a:ext>
                </a:extLst>
              </a:tr>
              <a:tr h="161265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  <a:cs typeface="Arial"/>
                        </a:rPr>
                        <a:t>평가 </a:t>
                      </a:r>
                      <a:r>
                        <a:rPr kumimoji="1" lang="en-US" altLang="ko-KR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  <a:cs typeface="Arial"/>
                        </a:rPr>
                        <a:t>Scale </a:t>
                      </a: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  <a:cs typeface="Arial"/>
                        </a:rPr>
                        <a:t>산출 로직</a:t>
                      </a: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/>
                        <a:ea typeface="LG스마트체 Regular"/>
                        <a:cs typeface="Arial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  <a:cs typeface="Arial"/>
                        </a:rPr>
                        <a:t>평가 </a:t>
                      </a:r>
                      <a:r>
                        <a:rPr kumimoji="1" lang="en-US" altLang="ko-KR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  <a:cs typeface="Arial"/>
                        </a:rPr>
                        <a:t>Description</a:t>
                      </a: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/>
                        <a:ea typeface="LG스마트체 Regular"/>
                        <a:cs typeface="Arial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endParaRPr kumimoji="1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6705988"/>
                  </a:ext>
                </a:extLst>
              </a:tr>
              <a:tr h="576000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5">
                  <a:txBody>
                    <a:bodyPr/>
                    <a:lstStyle/>
                    <a:p>
                      <a:pPr marL="90000" marR="0" lvl="0" indent="-9000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90000" marR="0" lvl="0" indent="-9000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평가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Description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배점에 대한 산출 로직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5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점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</a:t>
                      </a:r>
                      <a:r>
                        <a:rPr kumimoji="0" lang="en-US" altLang="ko-KR" sz="1000" b="1" i="0" u="none" strike="noStrike" kern="120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Cpk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 대비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120%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 달성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RP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단선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30%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이상 개선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4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점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</a:t>
                      </a:r>
                      <a:r>
                        <a:rPr kumimoji="0" lang="en-US" altLang="ko-KR" sz="1000" b="1" i="0" u="none" strike="noStrike" kern="120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Cpk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 대비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110%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 달성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RP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단선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25%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이상 개선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점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</a:t>
                      </a:r>
                      <a:r>
                        <a:rPr kumimoji="0" lang="en-US" altLang="ko-KR" sz="1000" b="1" i="0" u="none" strike="noStrike" kern="120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Cpk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 대비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80%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 달성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RP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단선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10%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이상 개선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점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</a:t>
                      </a:r>
                      <a:r>
                        <a:rPr kumimoji="0" lang="en-US" altLang="ko-KR" sz="1000" b="1" i="0" u="none" strike="noStrike" kern="120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Cpk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 대비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80%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미만 달성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RP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단선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10%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미만 개선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     </a:t>
                      </a:r>
                    </a:p>
                  </a:txBody>
                  <a:tcPr marL="36000" marR="0" marT="0" marB="0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5</a:t>
                      </a:r>
                      <a:r>
                        <a:rPr kumimoji="1" lang="ko-KR" altLang="en-US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점</a:t>
                      </a: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170" marR="0" lvl="0" indent="-9017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Q : </a:t>
                      </a:r>
                      <a:r>
                        <a:rPr lang="en-US" altLang="ko-KR" sz="10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기술개발</a:t>
                      </a:r>
                      <a:r>
                        <a:rPr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 및 </a:t>
                      </a:r>
                      <a:r>
                        <a:rPr lang="en-US" altLang="ko-KR" sz="10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공정능력</a:t>
                      </a:r>
                      <a:r>
                        <a:rPr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 </a:t>
                      </a:r>
                      <a:r>
                        <a:rPr lang="en-US" altLang="ko-KR" sz="10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향상</a:t>
                      </a:r>
                      <a:r>
                        <a:rPr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   /    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D : ’26.4Q</a:t>
                      </a:r>
                      <a:br>
                        <a:rPr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초크바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 (</a:t>
                      </a:r>
                      <a:r>
                        <a:rPr kumimoji="0" lang="en-US" altLang="ko-KR" sz="1000" b="1" i="0" u="none" strike="noStrike" kern="120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로딩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 </a:t>
                      </a:r>
                      <a:r>
                        <a:rPr kumimoji="0" lang="en-US" altLang="ko-KR" sz="1000" b="1" i="0" u="none" strike="noStrike" kern="120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Cpk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 3.0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이상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, RP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단선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30%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이상 개선)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</a:br>
                      <a:r>
                        <a:rPr lang="ko-KR" altLang="en-US" sz="1000" b="1" i="0" u="none" strike="noStrike" kern="120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분할다이</a:t>
                      </a:r>
                      <a:r>
                        <a:rPr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(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미스매치 </a:t>
                      </a:r>
                      <a:r>
                        <a:rPr kumimoji="0" lang="en-US" altLang="ko-KR" sz="1000" b="1" i="0" u="none" strike="noStrike" kern="120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Cpk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 2.16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이상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)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9652368"/>
                  </a:ext>
                </a:extLst>
              </a:tr>
              <a:tr h="576000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900" b="1" i="0" u="none" strike="noStrike" kern="1200" cap="none" spc="-3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4</a:t>
                      </a:r>
                      <a:r>
                        <a:rPr kumimoji="1" lang="ko-KR" altLang="en-US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점</a:t>
                      </a: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170" marR="0" lvl="0" indent="-90170" algn="l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Q : </a:t>
                      </a:r>
                      <a:r>
                        <a:rPr lang="en-US" altLang="ko-KR" sz="10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기술개발</a:t>
                      </a:r>
                      <a:r>
                        <a:rPr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 및 </a:t>
                      </a:r>
                      <a:r>
                        <a:rPr lang="en-US" altLang="ko-KR" sz="10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공정능력</a:t>
                      </a:r>
                      <a:r>
                        <a:rPr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 </a:t>
                      </a:r>
                      <a:r>
                        <a:rPr lang="en-US" altLang="ko-KR" sz="10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향상</a:t>
                      </a:r>
                      <a:r>
                        <a:rPr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   /    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D : ’26.4Q</a:t>
                      </a:r>
                      <a:br>
                        <a:rPr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초크바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 (</a:t>
                      </a:r>
                      <a:r>
                        <a:rPr kumimoji="0" lang="en-US" altLang="ko-KR" sz="1000" b="1" i="0" u="none" strike="noStrike" kern="120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로딩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 </a:t>
                      </a:r>
                      <a:r>
                        <a:rPr kumimoji="0" lang="en-US" altLang="ko-KR" sz="1000" b="1" i="0" u="none" strike="noStrike" kern="120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Cpk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 2.75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이상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, RP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단선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25%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이상 개선)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</a:br>
                      <a:r>
                        <a:rPr kumimoji="0" lang="ko-KR" altLang="en-US" sz="1000" b="1" i="0" u="none" strike="noStrike" kern="120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분할다이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(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미스매치 </a:t>
                      </a:r>
                      <a:r>
                        <a:rPr kumimoji="0" lang="en-US" altLang="ko-KR" sz="1000" b="1" i="0" u="none" strike="noStrike" kern="120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Cpk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 1.98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이상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)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/>
                        <a:ea typeface="LG스마트체 Regular"/>
                        <a:cs typeface="Arial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8312169"/>
                  </a:ext>
                </a:extLst>
              </a:tr>
              <a:tr h="576000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900" b="1" i="0" u="none" strike="noStrike" kern="1200" cap="none" spc="-3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3</a:t>
                      </a:r>
                      <a:r>
                        <a:rPr kumimoji="1" lang="ko-KR" altLang="en-US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점</a:t>
                      </a: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170" marR="0" lvl="0" indent="-9017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Q : </a:t>
                      </a:r>
                      <a:r>
                        <a:rPr lang="en-US" altLang="ko-KR" sz="10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기술개발</a:t>
                      </a:r>
                      <a:r>
                        <a:rPr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 및 </a:t>
                      </a:r>
                      <a:r>
                        <a:rPr lang="en-US" altLang="ko-KR" sz="10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공정능력</a:t>
                      </a:r>
                      <a:r>
                        <a:rPr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 </a:t>
                      </a:r>
                      <a:r>
                        <a:rPr lang="en-US" altLang="ko-KR" sz="10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향상</a:t>
                      </a:r>
                      <a:r>
                        <a:rPr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   /    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D : ’26.4Q</a:t>
                      </a:r>
                      <a:b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</a:br>
                      <a:r>
                        <a:rPr lang="en-US" altLang="ko-KR" sz="10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초크바</a:t>
                      </a:r>
                      <a:r>
                        <a:rPr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 (</a:t>
                      </a:r>
                      <a:r>
                        <a:rPr lang="en-US" altLang="ko-KR" sz="10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로딩</a:t>
                      </a:r>
                      <a:r>
                        <a:rPr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 </a:t>
                      </a:r>
                      <a:r>
                        <a:rPr lang="en-US" altLang="ko-KR" sz="1000" b="1" i="0" u="none" strike="noStrike" kern="120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Cpk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 2.5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이상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,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RP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단선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20%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이상 개선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)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</a:br>
                      <a:r>
                        <a:rPr kumimoji="0" lang="ko-KR" altLang="en-US" sz="1000" b="1" i="0" u="none" strike="noStrike" kern="120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분할다이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(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미스매치 </a:t>
                      </a:r>
                      <a:r>
                        <a:rPr kumimoji="0" lang="en-US" altLang="ko-KR" sz="1000" b="1" i="0" u="none" strike="noStrike" kern="120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Cpk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 1.8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이상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)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3781511"/>
                  </a:ext>
                </a:extLst>
              </a:tr>
              <a:tr h="576000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900" b="1" i="0" u="none" strike="noStrike" kern="1200" cap="none" spc="-3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2</a:t>
                      </a: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점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170" marR="0" lvl="0" indent="-9017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Q : </a:t>
                      </a:r>
                      <a:r>
                        <a:rPr lang="en-US" altLang="ko-KR" sz="10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기술개발</a:t>
                      </a:r>
                      <a:r>
                        <a:rPr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 및 </a:t>
                      </a:r>
                      <a:r>
                        <a:rPr lang="en-US" altLang="ko-KR" sz="10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공정능력</a:t>
                      </a:r>
                      <a:r>
                        <a:rPr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 </a:t>
                      </a:r>
                      <a:r>
                        <a:rPr lang="en-US" altLang="ko-KR" sz="10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향상</a:t>
                      </a:r>
                      <a:r>
                        <a:rPr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   /    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D : ’26.4Q</a:t>
                      </a:r>
                      <a:br>
                        <a:rPr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</a:br>
                      <a:r>
                        <a:rPr lang="en-US" altLang="ko-KR" sz="10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초크바</a:t>
                      </a:r>
                      <a:r>
                        <a:rPr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 (</a:t>
                      </a:r>
                      <a:r>
                        <a:rPr lang="en-US" altLang="ko-KR" sz="10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로딩</a:t>
                      </a:r>
                      <a:r>
                        <a:rPr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 </a:t>
                      </a:r>
                      <a:r>
                        <a:rPr lang="en-US" altLang="ko-KR" sz="1000" b="1" i="0" u="none" strike="noStrike" kern="120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Cpk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 2.0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이상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, RP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단선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10%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이상 개선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)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</a:br>
                      <a:r>
                        <a:rPr kumimoji="0" lang="ko-KR" altLang="en-US" sz="1000" b="1" i="0" u="none" strike="noStrike" kern="120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분할다이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(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미스매치 </a:t>
                      </a:r>
                      <a:r>
                        <a:rPr kumimoji="0" lang="en-US" altLang="ko-KR" sz="1000" b="1" i="0" u="none" strike="noStrike" kern="120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Cpk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 1.44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이상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)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/>
                        <a:ea typeface="LG스마트체 Regular"/>
                        <a:cs typeface="Arial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8170501"/>
                  </a:ext>
                </a:extLst>
              </a:tr>
              <a:tr h="576000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900" b="1" i="0" u="none" strike="noStrike" kern="1200" cap="none" spc="-3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1</a:t>
                      </a:r>
                      <a:r>
                        <a:rPr kumimoji="1" lang="ko-KR" altLang="en-US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점</a:t>
                      </a: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170" marR="0" lvl="0" indent="-9017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Q : </a:t>
                      </a:r>
                      <a:r>
                        <a:rPr lang="en-US" altLang="ko-KR" sz="10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기술개발</a:t>
                      </a:r>
                      <a:r>
                        <a:rPr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 및 </a:t>
                      </a:r>
                      <a:r>
                        <a:rPr lang="en-US" altLang="ko-KR" sz="10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공정능력</a:t>
                      </a:r>
                      <a:r>
                        <a:rPr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 </a:t>
                      </a:r>
                      <a:r>
                        <a:rPr lang="en-US" altLang="ko-KR" sz="10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향상</a:t>
                      </a:r>
                      <a:r>
                        <a:rPr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   /    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D : ’26.4Q</a:t>
                      </a:r>
                      <a:br>
                        <a:rPr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</a:br>
                      <a:r>
                        <a:rPr lang="en-US" altLang="ko-KR" sz="10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초크바</a:t>
                      </a:r>
                      <a:r>
                        <a:rPr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 (</a:t>
                      </a:r>
                      <a:r>
                        <a:rPr lang="en-US" altLang="ko-KR" sz="10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로딩</a:t>
                      </a:r>
                      <a:r>
                        <a:rPr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 </a:t>
                      </a:r>
                      <a:r>
                        <a:rPr lang="en-US" altLang="ko-KR" sz="1000" b="1" i="0" u="none" strike="noStrike" kern="120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Cpk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 2.0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미만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, RP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단선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10%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미만 개선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)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</a:br>
                      <a:r>
                        <a:rPr kumimoji="0" lang="ko-KR" altLang="en-US" sz="1000" b="1" i="0" u="none" strike="noStrike" kern="120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분할다이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(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미스매치 </a:t>
                      </a:r>
                      <a:r>
                        <a:rPr kumimoji="0" lang="en-US" altLang="ko-KR" sz="1000" b="1" i="0" u="none" strike="noStrike" kern="120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Cpk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 1.44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 미만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)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/>
                        <a:ea typeface="LG스마트체 Regular"/>
                        <a:cs typeface="Arial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0330578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25697D00-5737-3E25-4002-38B0BE5252F4}"/>
              </a:ext>
            </a:extLst>
          </p:cNvPr>
          <p:cNvSpPr txBox="1"/>
          <p:nvPr/>
        </p:nvSpPr>
        <p:spPr>
          <a:xfrm>
            <a:off x="95895" y="174087"/>
            <a:ext cx="3853543" cy="369332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[ </a:t>
            </a:r>
            <a:r>
              <a:rPr kumimoji="1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자동보정담당 </a:t>
            </a:r>
            <a:r>
              <a:rPr kumimoji="1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/ </a:t>
            </a:r>
            <a:r>
              <a:rPr kumimoji="1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송무강 </a:t>
            </a:r>
            <a:r>
              <a:rPr kumimoji="1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/ </a:t>
            </a:r>
            <a:r>
              <a:rPr kumimoji="1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상무 </a:t>
            </a: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]</a:t>
            </a:r>
            <a:endParaRPr kumimoji="0" lang="ko-KR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8EF3A1C-016C-E937-ABD5-5A1D0A7CAEF4}"/>
              </a:ext>
            </a:extLst>
          </p:cNvPr>
          <p:cNvSpPr txBox="1"/>
          <p:nvPr/>
        </p:nvSpPr>
        <p:spPr>
          <a:xfrm>
            <a:off x="2329543" y="4710094"/>
            <a:ext cx="3678063" cy="138499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91409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※ 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기술개발 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CTQ 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공차 관리 수준 강화를 위해  신규 다이 도입하나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, 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이로 인해 </a:t>
            </a:r>
            <a:b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</a:b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     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작업자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 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조작이 불가능한 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CTP 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수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(68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개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.8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분할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) 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증가로 자동보정 적용이 필수 </a:t>
            </a:r>
            <a:b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</a:b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1) 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초크바 다이 자동보정 개발</a:t>
            </a:r>
            <a:b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</a:b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       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WA </a:t>
            </a:r>
            <a:r>
              <a:rPr kumimoji="0" lang="ko-KR" alt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코터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 양극 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7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호 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E77A 12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월 </a:t>
            </a:r>
            <a:r>
              <a:rPr kumimoji="0" lang="en-US" altLang="ko-KR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Cpk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 2.23 (</a:t>
            </a:r>
            <a:r>
              <a:rPr kumimoji="0" lang="ko-KR" alt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웹게이지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 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기준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)</a:t>
            </a:r>
            <a:b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</a:b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       RP 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양극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 E77A 1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월 단선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,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 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7 Line : 1.25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회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/10000m</a:t>
            </a:r>
            <a:b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</a:b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       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※ 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롤프레스의 단선 유의 인자 중 로딩 불균형을 개선하여 단선 개선 기여 </a:t>
            </a:r>
            <a:b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</a:b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  2) </a:t>
            </a:r>
            <a:r>
              <a:rPr kumimoji="0" lang="ko-KR" alt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분할다이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 자동보정 개발</a:t>
            </a:r>
            <a:b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</a:b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      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* 최신 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NFF 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공정능력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(‘26.1, EP2 NFF#1, 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비전 데이터 기준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)</a:t>
            </a:r>
            <a:b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</a:b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       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미스매치 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: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양극 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1.52, 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음극 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1.67(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평균 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1.60)</a:t>
            </a:r>
          </a:p>
          <a:p>
            <a:pPr marL="0" marR="0" lvl="0" indent="0" algn="l" defTabSz="91409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9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 Narrow"/>
              <a:ea typeface="LG스마트체 Regular"/>
              <a:cs typeface="+mn-cs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5365C21-A111-CBDA-3C2F-EE33C4A0AE1F}"/>
              </a:ext>
            </a:extLst>
          </p:cNvPr>
          <p:cNvSpPr/>
          <p:nvPr/>
        </p:nvSpPr>
        <p:spPr>
          <a:xfrm>
            <a:off x="4540825" y="3521066"/>
            <a:ext cx="1538883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-3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* </a:t>
            </a:r>
            <a:r>
              <a:rPr kumimoji="0" lang="ko-KR" altLang="en-US" sz="900" b="0" i="0" u="none" strike="noStrike" kern="1200" cap="none" spc="-3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목표</a:t>
            </a:r>
            <a:r>
              <a:rPr kumimoji="0" lang="en-US" altLang="ko-KR" sz="900" b="0" i="0" u="none" strike="noStrike" kern="1200" cap="none" spc="-3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(3</a:t>
            </a:r>
            <a:r>
              <a:rPr kumimoji="0" lang="ko-KR" altLang="en-US" sz="900" b="0" i="0" u="none" strike="noStrike" kern="1200" cap="none" spc="-3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점</a:t>
            </a:r>
            <a:r>
              <a:rPr kumimoji="0" lang="en-US" altLang="ko-KR" sz="900" b="0" i="0" u="none" strike="noStrike" kern="1200" cap="none" spc="-3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) </a:t>
            </a:r>
            <a:r>
              <a:rPr kumimoji="0" lang="ko-KR" altLang="en-US" sz="900" b="0" i="0" u="none" strike="noStrike" kern="1200" cap="none" spc="-3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대비 평가 </a:t>
            </a:r>
            <a:r>
              <a:rPr kumimoji="0" lang="en-US" altLang="ko-KR" sz="900" b="0" i="0" u="none" strike="noStrike" kern="1200" cap="none" spc="-3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Scale </a:t>
            </a:r>
            <a:r>
              <a:rPr kumimoji="0" lang="ko-KR" altLang="en-US" sz="900" b="0" i="0" u="none" strike="noStrike" kern="1200" cap="none" spc="-3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산출</a:t>
            </a:r>
            <a:endParaRPr kumimoji="0" lang="ko-KR" altLang="en-US" sz="900" b="0" i="0" u="none" strike="noStrike" kern="1200" cap="none" spc="0" normalizeH="0" baseline="0" noProof="0" dirty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B512CE-415D-0A86-3AE2-0C59EE4A48A0}"/>
              </a:ext>
            </a:extLst>
          </p:cNvPr>
          <p:cNvSpPr txBox="1"/>
          <p:nvPr/>
        </p:nvSpPr>
        <p:spPr>
          <a:xfrm>
            <a:off x="5124262" y="119658"/>
            <a:ext cx="4645564" cy="338554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➋ 목표 산정 근거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/ 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분기 목표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/ 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평가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Description 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근거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(9/10)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ACBDF11-464C-9695-35C5-437D3D49A7E7}"/>
              </a:ext>
            </a:extLst>
          </p:cNvPr>
          <p:cNvSpPr txBox="1"/>
          <p:nvPr/>
        </p:nvSpPr>
        <p:spPr>
          <a:xfrm>
            <a:off x="4454656" y="106918"/>
            <a:ext cx="886091" cy="369332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[</a:t>
            </a:r>
            <a:r>
              <a: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유첨</a:t>
            </a: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]</a:t>
            </a:r>
            <a:endParaRPr kumimoji="1" lang="ko-KR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162689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CC9D7984-7EEC-4652-82F7-025067A514C5}"/>
              </a:ext>
            </a:extLst>
          </p:cNvPr>
          <p:cNvGraphicFramePr>
            <a:graphicFrameLocks noGrp="1"/>
          </p:cNvGraphicFramePr>
          <p:nvPr/>
        </p:nvGraphicFramePr>
        <p:xfrm>
          <a:off x="173693" y="620688"/>
          <a:ext cx="9541534" cy="6123730"/>
        </p:xfrm>
        <a:graphic>
          <a:graphicData uri="http://schemas.openxmlformats.org/drawingml/2006/table">
            <a:tbl>
              <a:tblPr/>
              <a:tblGrid>
                <a:gridCol w="612442">
                  <a:extLst>
                    <a:ext uri="{9D8B030D-6E8A-4147-A177-3AD203B41FA5}">
                      <a16:colId xmlns:a16="http://schemas.microsoft.com/office/drawing/2014/main" val="1583461695"/>
                    </a:ext>
                  </a:extLst>
                </a:gridCol>
                <a:gridCol w="1224884">
                  <a:extLst>
                    <a:ext uri="{9D8B030D-6E8A-4147-A177-3AD203B41FA5}">
                      <a16:colId xmlns:a16="http://schemas.microsoft.com/office/drawing/2014/main" val="4227781156"/>
                    </a:ext>
                  </a:extLst>
                </a:gridCol>
                <a:gridCol w="288208">
                  <a:extLst>
                    <a:ext uri="{9D8B030D-6E8A-4147-A177-3AD203B41FA5}">
                      <a16:colId xmlns:a16="http://schemas.microsoft.com/office/drawing/2014/main" val="2487817271"/>
                    </a:ext>
                  </a:extLst>
                </a:gridCol>
                <a:gridCol w="3708000">
                  <a:extLst>
                    <a:ext uri="{9D8B030D-6E8A-4147-A177-3AD203B41FA5}">
                      <a16:colId xmlns:a16="http://schemas.microsoft.com/office/drawing/2014/main" val="4115920672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409402569"/>
                    </a:ext>
                  </a:extLst>
                </a:gridCol>
                <a:gridCol w="3420000">
                  <a:extLst>
                    <a:ext uri="{9D8B030D-6E8A-4147-A177-3AD203B41FA5}">
                      <a16:colId xmlns:a16="http://schemas.microsoft.com/office/drawing/2014/main" val="3282466944"/>
                    </a:ext>
                  </a:extLst>
                </a:gridCol>
              </a:tblGrid>
              <a:tr h="16866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1" i="0" u="none" strike="noStrike" kern="1200" spc="-1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’26</a:t>
                      </a:r>
                      <a:r>
                        <a:rPr lang="ko-KR" altLang="en-US" sz="1000" b="1" i="0" u="none" strike="noStrike" kern="1200" spc="-1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년 </a:t>
                      </a:r>
                      <a:r>
                        <a:rPr lang="en-US" altLang="ko-KR" sz="1000" b="1" i="0" u="none" strike="noStrike" kern="1200" spc="-1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KPI</a:t>
                      </a:r>
                      <a:endParaRPr lang="ko-KR" altLang="en-US" sz="1000" b="1" i="0" u="none" strike="noStrike" kern="1200" spc="-1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i="0" u="none" strike="noStrike" kern="1200" spc="-1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상세 목표</a:t>
                      </a:r>
                      <a:endParaRPr lang="en-US" altLang="ko-KR" sz="1000" b="1" i="0" u="none" strike="noStrike" kern="1200" spc="-1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i="0" u="none" strike="noStrike" kern="1200" spc="-1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비중</a:t>
                      </a:r>
                      <a:endParaRPr lang="en-US" altLang="ko-KR" sz="1000" b="1" i="0" u="none" strike="noStrike" kern="1200" spc="-1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목표 설정 근거</a:t>
                      </a: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분기 목표 및 실행 계획</a:t>
                      </a: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8957706"/>
                  </a:ext>
                </a:extLst>
              </a:tr>
              <a:tr h="252000">
                <a:tc rowSpan="11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AI-Agent 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기반 자동보정 업무 효율화</a:t>
                      </a:r>
                      <a:endParaRPr kumimoji="1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1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Q : </a:t>
                      </a:r>
                      <a:r>
                        <a:rPr kumimoji="1" lang="ko-KR" altLang="en-US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자동보정 이상현상 분석 시간 </a:t>
                      </a:r>
                      <a:r>
                        <a:rPr kumimoji="1" lang="en-US" altLang="ko-KR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60% </a:t>
                      </a:r>
                      <a:r>
                        <a:rPr kumimoji="1" lang="ko-KR" altLang="en-US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저감</a:t>
                      </a: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D</a:t>
                      </a:r>
                      <a:r>
                        <a:rPr kumimoji="1" lang="ko-KR" altLang="en-US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US" altLang="ko-KR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:</a:t>
                      </a:r>
                      <a:r>
                        <a:rPr kumimoji="1" lang="ko-KR" altLang="en-US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US" altLang="ko-KR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‘</a:t>
                      </a: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26.12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월</a:t>
                      </a: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1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5%</a:t>
                      </a: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5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[</a:t>
                      </a:r>
                      <a:r>
                        <a:rPr kumimoji="0" lang="ko-KR" altLang="en-US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전년실적</a:t>
                      </a:r>
                      <a: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 </a:t>
                      </a:r>
                      <a:r>
                        <a:rPr kumimoji="0" lang="ko-KR" altLang="en-US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작업자 </a:t>
                      </a:r>
                      <a: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LAMI </a:t>
                      </a:r>
                      <a:r>
                        <a:rPr kumimoji="0" lang="ko-KR" altLang="en-US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자동보정 분석시간  약 </a:t>
                      </a:r>
                      <a: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</a:t>
                      </a:r>
                      <a:r>
                        <a:rPr kumimoji="0" lang="ko-KR" altLang="en-US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시간 </a:t>
                      </a:r>
                      <a: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30</a:t>
                      </a:r>
                      <a:r>
                        <a:rPr kumimoji="0" lang="ko-KR" altLang="en-US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분 소요 </a:t>
                      </a:r>
                      <a: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(* 1</a:t>
                      </a:r>
                      <a:r>
                        <a:rPr kumimoji="0" lang="ko-KR" altLang="en-US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건 기준</a:t>
                      </a:r>
                      <a: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  <a:br>
                        <a:rPr kumimoji="0" lang="en-US" altLang="ko-KR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※ </a:t>
                      </a:r>
                      <a:r>
                        <a:rPr kumimoji="0" lang="ko-KR" altLang="en-US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분석 업무 및 소요시간</a:t>
                      </a:r>
                      <a:br>
                        <a:rPr kumimoji="0" lang="en-US" altLang="ko-KR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endParaRPr kumimoji="0" lang="en-US" altLang="ko-KR" sz="10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1" i="0" u="none" strike="noStrike" kern="1200" cap="none" spc="-3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1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90000" marR="0" lvl="0" indent="-9000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목표설정</a:t>
                      </a:r>
                      <a:b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</a:t>
                      </a:r>
                      <a:r>
                        <a:rPr kumimoji="0" lang="ko-KR" altLang="en-US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 </a:t>
                      </a:r>
                      <a:r>
                        <a:rPr kumimoji="0" lang="en-US" altLang="ko-KR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</a:t>
                      </a:r>
                      <a:r>
                        <a:rPr kumimoji="0" lang="ko-KR" altLang="en-US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법인</a:t>
                      </a:r>
                      <a:r>
                        <a:rPr kumimoji="0" lang="en-US" altLang="ko-KR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본사 엔지니어 분석 소요 시간 대비 </a:t>
                      </a:r>
                      <a:r>
                        <a:rPr kumimoji="0" lang="en-US" altLang="ko-KR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60% </a:t>
                      </a:r>
                      <a:r>
                        <a:rPr kumimoji="0" lang="ko-KR" altLang="en-US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저감</a:t>
                      </a:r>
                      <a:br>
                        <a:rPr kumimoji="0" lang="en-US" altLang="ko-KR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</a:t>
                      </a:r>
                      <a:r>
                        <a:rPr kumimoji="0" lang="ko-KR" altLang="en-US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대상 </a:t>
                      </a:r>
                      <a:r>
                        <a:rPr kumimoji="0" lang="en-US" altLang="ko-KR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WA </a:t>
                      </a:r>
                      <a:r>
                        <a:rPr kumimoji="0" lang="ko-KR" altLang="en-US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전공정 </a:t>
                      </a:r>
                      <a:r>
                        <a:rPr kumimoji="0" lang="en-US" altLang="ko-KR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코터</a:t>
                      </a:r>
                      <a:r>
                        <a:rPr kumimoji="0" lang="en-US" altLang="ko-KR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~</a:t>
                      </a:r>
                      <a:r>
                        <a:rPr kumimoji="0" lang="ko-KR" altLang="en-US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패키지</a:t>
                      </a:r>
                      <a:r>
                        <a:rPr kumimoji="0" lang="en-US" altLang="ko-KR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  <a:br>
                        <a:rPr kumimoji="0" lang="en-US" altLang="ko-KR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</a:t>
                      </a:r>
                      <a:r>
                        <a:rPr kumimoji="0" lang="ko-KR" altLang="en-US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완료 기준 </a:t>
                      </a:r>
                      <a:r>
                        <a:rPr kumimoji="0" lang="en-US" altLang="ko-KR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AI Agent </a:t>
                      </a:r>
                      <a:r>
                        <a:rPr kumimoji="0" lang="ko-KR" altLang="en-US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기능 배포</a:t>
                      </a:r>
                      <a:r>
                        <a:rPr kumimoji="0" lang="en-US" altLang="ko-KR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운영 및 결과 비교 분석</a:t>
                      </a:r>
                      <a:endParaRPr lang="ko-KR" altLang="en-US" sz="1000" b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marL="90000" marR="0" lvl="0" indent="-9000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설정목표에 대한 산출 로직</a:t>
                      </a:r>
                      <a:b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ko-KR" altLang="en-US" sz="105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목표치 </a:t>
                      </a:r>
                      <a:r>
                        <a:rPr kumimoji="0" lang="en-US" altLang="ko-KR" sz="105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= (</a:t>
                      </a:r>
                      <a:r>
                        <a:rPr kumimoji="0" lang="ko-KR" altLang="en-US" sz="105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저감되는 시간 </a:t>
                      </a:r>
                      <a:r>
                        <a:rPr kumimoji="0" lang="en-US" altLang="ko-KR" sz="105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 </a:t>
                      </a:r>
                      <a:r>
                        <a:rPr kumimoji="0" lang="ko-KR" altLang="en-US" sz="105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현재 분석 소요시간</a:t>
                      </a:r>
                      <a:r>
                        <a:rPr kumimoji="0" lang="en-US" altLang="ko-KR" sz="105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 * 100 </a:t>
                      </a:r>
                      <a:br>
                        <a:rPr kumimoji="0" lang="en-US" altLang="ko-KR" sz="105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5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          = (91.8m / 153m) * 100 = 60% </a:t>
                      </a:r>
                      <a:r>
                        <a:rPr kumimoji="0" lang="ko-KR" altLang="en-US" sz="105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저감</a:t>
                      </a:r>
                      <a:endParaRPr kumimoji="0" lang="ko-KR" altLang="en-US" sz="1000" b="0" i="0" u="none" strike="noStrike" kern="1200" cap="none" spc="-3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1Q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WA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라미 공정</a:t>
                      </a: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,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AI-Agent 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자동화 적용</a:t>
                      </a:r>
                      <a:endParaRPr kumimoji="1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6654165"/>
                  </a:ext>
                </a:extLst>
              </a:tr>
              <a:tr h="252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2Q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170" marR="0" lvl="0" indent="-9017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WA 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라미</a:t>
                      </a: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 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공정 성능 고도화 및 타 공정 확대 개발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8396706"/>
                  </a:ext>
                </a:extLst>
              </a:tr>
              <a:tr h="252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3Q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170" marR="0" lvl="0" indent="-9017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WA 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조립 공정 확대 개발 </a:t>
                      </a: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(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스태킹</a:t>
                      </a: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/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패키지</a:t>
                      </a: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)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1808293"/>
                  </a:ext>
                </a:extLst>
              </a:tr>
              <a:tr h="252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4Q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170" marR="0" lvl="0" indent="-9017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WA 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전극 공정 확대 개발 </a:t>
                      </a: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(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코터</a:t>
                      </a: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/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롤프레스</a:t>
                      </a: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)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3819387"/>
                  </a:ext>
                </a:extLst>
              </a:tr>
              <a:tr h="2371407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1" i="0" u="none" strike="noStrike" kern="1200" cap="none" spc="-1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0" marB="0" anchor="ctr" horzOverflow="overflow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ko-KR" altLang="en-US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실행</a:t>
                      </a:r>
                      <a:br>
                        <a:rPr kumimoji="1" lang="en-US" altLang="ko-KR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ko-KR" altLang="en-US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계획</a:t>
                      </a: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b="1" kern="1200" spc="0" baseline="0" noProof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[1</a:t>
                      </a:r>
                      <a:r>
                        <a:rPr lang="ko-KR" altLang="en-US" sz="1000" b="1" kern="1200" spc="0" baseline="0" noProof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분기</a:t>
                      </a:r>
                      <a:r>
                        <a:rPr lang="en-US" altLang="ko-KR" sz="1000" b="1" kern="1200" spc="0" baseline="0" noProof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 : WA </a:t>
                      </a:r>
                      <a:r>
                        <a:rPr lang="ko-KR" altLang="en-US" sz="1000" b="1" kern="1200" spc="0" baseline="0" noProof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라미</a:t>
                      </a:r>
                      <a:r>
                        <a:rPr lang="en-US" altLang="ko-KR" sz="1000" b="1" kern="1200" spc="0" baseline="0" noProof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000" b="1" kern="1200" spc="0" baseline="0" noProof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공정 </a:t>
                      </a:r>
                      <a:r>
                        <a:rPr lang="en-US" altLang="ko-KR" sz="1000" b="1" kern="1200" spc="0" baseline="0" noProof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AI-Agent </a:t>
                      </a:r>
                      <a:r>
                        <a:rPr lang="ko-KR" altLang="en-US" sz="1000" b="1" kern="1200" spc="0" baseline="0" noProof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자동화 적용</a:t>
                      </a:r>
                      <a:endParaRPr lang="en-US" altLang="ko-KR" sz="1000" b="1" kern="1200" spc="0" baseline="0" noProof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0" kern="1200" spc="0" baseline="0" noProof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요건정의</a:t>
                      </a:r>
                      <a:r>
                        <a:rPr lang="en-US" altLang="ko-KR" sz="1000" b="0" kern="1200" spc="0" baseline="0" noProof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</a:t>
                      </a:r>
                      <a:r>
                        <a:rPr lang="ko-KR" altLang="en-US" sz="1000" b="0" kern="1200" spc="0" baseline="0" noProof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분석</a:t>
                      </a:r>
                      <a:r>
                        <a:rPr lang="en-US" altLang="ko-KR" sz="1000" b="0" kern="1200" spc="0" baseline="0" noProof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000" b="0" kern="1200" spc="0" baseline="0" noProof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및</a:t>
                      </a:r>
                      <a:r>
                        <a:rPr lang="en-US" altLang="ko-KR" sz="1000" b="0" kern="1200" spc="0" baseline="0" noProof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000" b="0" kern="1200" spc="0" baseline="0" noProof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설계</a:t>
                      </a:r>
                      <a:endParaRPr lang="en-US" altLang="ko-KR" sz="1000" b="0" kern="1200" spc="0" baseline="0" noProof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000" b="0" kern="1200" spc="0" baseline="0" noProof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000" b="0" kern="1200" spc="0" baseline="0" noProof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데이터 수집</a:t>
                      </a:r>
                      <a:r>
                        <a:rPr lang="en-US" altLang="ko-KR" sz="1000" b="0" kern="1200" spc="0" baseline="0" noProof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000" b="0" kern="1200" spc="0" baseline="0" noProof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전처리 파이프라인 자동화</a:t>
                      </a:r>
                      <a:endParaRPr lang="en-US" altLang="ko-KR" sz="1000" b="0" kern="1200" spc="0" baseline="0" noProof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000" b="0" kern="1200" spc="0" baseline="0" noProof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000" b="0" kern="1200" spc="0" baseline="0" noProof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기본</a:t>
                      </a:r>
                      <a:r>
                        <a:rPr lang="en-US" altLang="ko-KR" sz="1000" b="0" kern="1200" spc="0" baseline="0" noProof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lang="ko-KR" altLang="en-US" sz="1000" b="0" kern="1200" spc="0" baseline="0" noProof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상세 분석 </a:t>
                      </a:r>
                      <a:r>
                        <a:rPr lang="en-US" altLang="ko-KR" sz="1000" b="0" kern="1200" spc="0" baseline="0" noProof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AI-Agent </a:t>
                      </a:r>
                      <a:r>
                        <a:rPr lang="ko-KR" altLang="en-US" sz="1000" b="0" kern="1200" spc="0" baseline="0" noProof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개발 및 검증</a:t>
                      </a:r>
                      <a:br>
                        <a:rPr lang="en-US" altLang="ko-KR" sz="1000" b="0" kern="1200" spc="0" baseline="0" noProof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br>
                        <a:rPr lang="en-US" altLang="ko-KR" sz="1000" b="0" kern="1200" spc="0" baseline="0" noProof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en-US" altLang="ko-KR" sz="1000" b="1" kern="1200" spc="0" baseline="0" noProof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[2</a:t>
                      </a:r>
                      <a:r>
                        <a:rPr lang="ko-KR" altLang="en-US" sz="1000" b="1" kern="1200" spc="0" baseline="0" noProof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분기</a:t>
                      </a:r>
                      <a:r>
                        <a:rPr lang="en-US" altLang="ko-KR" sz="1000" b="1" kern="1200" spc="0" baseline="0" noProof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 : WA </a:t>
                      </a:r>
                      <a:r>
                        <a:rPr lang="ko-KR" altLang="en-US" sz="1000" b="1" kern="1200" spc="0" baseline="0" noProof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라미</a:t>
                      </a:r>
                      <a:r>
                        <a:rPr lang="en-US" altLang="ko-KR" sz="1000" b="1" kern="1200" spc="0" baseline="0" noProof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000" b="1" kern="1200" spc="0" baseline="0" noProof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공정 성능 고도화 및 타 공정 확대 개발</a:t>
                      </a:r>
                      <a:endParaRPr lang="en-US" altLang="ko-KR" sz="1000" b="1" kern="1200" spc="0" baseline="0" noProof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특정 구간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예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: PD Loss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구간 등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통계 및 상관성 분석</a:t>
                      </a:r>
                      <a:endParaRPr lang="en-US" altLang="ko-KR" sz="100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0" kern="1200" spc="0" baseline="0" noProof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노칭 공정 기술 확대 적용</a:t>
                      </a:r>
                      <a:br>
                        <a:rPr lang="en-US" altLang="ko-KR" sz="1000" b="0" kern="1200" spc="0" baseline="0" noProof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br>
                        <a:rPr lang="en-US" altLang="ko-KR" sz="1000" b="0" kern="1200" spc="0" baseline="0" noProof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en-US" altLang="ko-KR" sz="1000" b="1" kern="1200" spc="0" baseline="0" noProof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[3</a:t>
                      </a:r>
                      <a:r>
                        <a:rPr lang="ko-KR" altLang="en-US" sz="1000" b="1" kern="1200" spc="0" baseline="0" noProof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분기</a:t>
                      </a:r>
                      <a:r>
                        <a:rPr lang="en-US" altLang="ko-KR" sz="1000" b="1" kern="1200" spc="0" baseline="0" noProof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 : WA </a:t>
                      </a:r>
                      <a:r>
                        <a:rPr lang="ko-KR" altLang="en-US" sz="1000" b="1" kern="1200" spc="0" baseline="0" noProof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조립 공정 확대 개발</a:t>
                      </a:r>
                      <a:r>
                        <a:rPr lang="en-US" altLang="ko-KR" sz="1000" b="1" kern="1200" spc="0" baseline="0" noProof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000" b="1" kern="1200" spc="0" baseline="0" noProof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스태킹</a:t>
                      </a:r>
                      <a:r>
                        <a:rPr lang="en-US" altLang="ko-KR" sz="1000" b="1" kern="1200" spc="0" baseline="0" noProof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lang="ko-KR" altLang="en-US" sz="1000" b="1" kern="1200" spc="0" baseline="0" noProof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패키지</a:t>
                      </a:r>
                      <a:r>
                        <a:rPr lang="en-US" altLang="ko-KR" sz="1000" b="1" kern="1200" spc="0" baseline="0" noProof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000" b="0" kern="1200" spc="0" baseline="0" noProof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AI Agent </a:t>
                      </a:r>
                      <a:r>
                        <a:rPr lang="ko-KR" altLang="en-US" sz="1000" b="0" kern="1200" spc="0" baseline="0" noProof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성능 고도화 </a:t>
                      </a:r>
                      <a:r>
                        <a:rPr lang="en-US" altLang="ko-KR" sz="1000" b="0" kern="1200" spc="0" baseline="0" noProof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</a:t>
                      </a:r>
                      <a:r>
                        <a:rPr lang="ko-KR" altLang="en-US" sz="1000" b="0" kern="1200" spc="0" baseline="0" noProof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프롬프트</a:t>
                      </a:r>
                      <a:r>
                        <a:rPr lang="en-US" altLang="ko-KR" sz="1000" b="0" kern="1200" spc="0" baseline="0" noProof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lang="ko-KR" altLang="en-US" sz="1000" b="0" kern="1200" spc="0" baseline="0" noProof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모델 개선</a:t>
                      </a:r>
                      <a:r>
                        <a:rPr lang="en-US" altLang="ko-KR" sz="1000" b="0" kern="1200" spc="0" baseline="0" noProof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000" b="0" kern="1200" spc="0" baseline="0" noProof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추가요건</a:t>
                      </a:r>
                      <a:r>
                        <a:rPr lang="en-US" altLang="ko-KR" sz="1000" b="0" kern="1200" spc="0" baseline="0" noProof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000" b="0" kern="1200" spc="0" baseline="0" noProof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반영</a:t>
                      </a:r>
                      <a:endParaRPr lang="en-US" altLang="ko-KR" sz="1000" b="0" kern="1200" spc="0" baseline="0" noProof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0" kern="1200" spc="0" baseline="0" noProof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스태킹</a:t>
                      </a:r>
                      <a:r>
                        <a:rPr lang="en-US" altLang="ko-KR" sz="1000" b="0" kern="1200" spc="0" baseline="0" noProof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</a:t>
                      </a:r>
                      <a:r>
                        <a:rPr lang="ko-KR" altLang="en-US" sz="1000" b="0" kern="1200" spc="0" baseline="0" noProof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패키지 공정 기술 확대 적용</a:t>
                      </a:r>
                      <a:br>
                        <a:rPr lang="en-US" altLang="ko-KR" sz="1000" b="0" kern="1200" spc="0" baseline="0" noProof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br>
                        <a:rPr lang="en-US" altLang="ko-KR" sz="1000" b="0" kern="1200" spc="0" baseline="0" noProof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en-US" altLang="ko-KR" sz="1000" b="1" kern="1200" spc="0" baseline="0" noProof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[4</a:t>
                      </a:r>
                      <a:r>
                        <a:rPr lang="ko-KR" altLang="en-US" sz="1000" b="1" kern="1200" spc="0" baseline="0" noProof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분기</a:t>
                      </a:r>
                      <a:r>
                        <a:rPr lang="en-US" altLang="ko-KR" sz="1000" b="1" kern="1200" spc="0" baseline="0" noProof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 : WA </a:t>
                      </a:r>
                      <a:r>
                        <a:rPr lang="ko-KR" altLang="en-US" sz="1000" b="1" kern="1200" spc="0" baseline="0" noProof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전극 공정 확대 개발</a:t>
                      </a:r>
                      <a:r>
                        <a:rPr lang="en-US" altLang="ko-KR" sz="1000" b="1" kern="1200" spc="0" baseline="0" noProof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000" b="1" kern="1200" spc="0" baseline="0" noProof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코터</a:t>
                      </a:r>
                      <a:r>
                        <a:rPr lang="en-US" altLang="ko-KR" sz="1000" b="1" kern="1200" spc="0" baseline="0" noProof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lang="ko-KR" altLang="en-US" sz="1000" b="1" kern="1200" spc="0" baseline="0" noProof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롤프레스</a:t>
                      </a:r>
                      <a:r>
                        <a:rPr lang="en-US" altLang="ko-KR" sz="1000" b="1" kern="1200" spc="0" baseline="0" noProof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  <a:endParaRPr kumimoji="1" lang="en-US" altLang="ko-KR" sz="1000" b="0" kern="1200" noProof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0" kern="1200" spc="0" baseline="0" noProof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코터</a:t>
                      </a:r>
                      <a:r>
                        <a:rPr lang="en-US" altLang="ko-KR" sz="1000" b="0" kern="1200" spc="0" baseline="0" noProof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000" b="0" kern="1200" spc="0" baseline="0" noProof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롤프레스 공정 기술 기술 확대 적용</a:t>
                      </a:r>
                      <a:endParaRPr lang="en-US" altLang="ko-KR" sz="1000" b="0" kern="1200" spc="0" baseline="0" noProof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000" b="0" kern="1200" spc="0" baseline="0" noProof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WA </a:t>
                      </a:r>
                      <a:r>
                        <a:rPr lang="ko-KR" altLang="en-US" sz="1000" b="0" kern="1200" spc="0" baseline="0" noProof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법인 대상 </a:t>
                      </a:r>
                      <a:r>
                        <a:rPr lang="en-US" altLang="ko-KR" sz="1000" b="0" kern="1200" spc="0" baseline="0" noProof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Agent </a:t>
                      </a:r>
                      <a:r>
                        <a:rPr lang="ko-KR" altLang="en-US" sz="1000" b="0" kern="1200" spc="0" baseline="0" noProof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배포 및 운영</a:t>
                      </a:r>
                      <a:endParaRPr lang="en-US" altLang="ko-KR" sz="1000" b="0" kern="1200" spc="0" baseline="0" noProof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579272"/>
                  </a:ext>
                </a:extLst>
              </a:tr>
              <a:tr h="168665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평가 </a:t>
                      </a:r>
                      <a:r>
                        <a:rPr kumimoji="1" lang="en-US" altLang="ko-KR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Scale </a:t>
                      </a: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산출 로직</a:t>
                      </a: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평가 </a:t>
                      </a:r>
                      <a:r>
                        <a:rPr kumimoji="1" lang="en-US" altLang="ko-KR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Description</a:t>
                      </a: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endParaRPr kumimoji="1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6705988"/>
                  </a:ext>
                </a:extLst>
              </a:tr>
              <a:tr h="468000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5">
                  <a:txBody>
                    <a:bodyPr/>
                    <a:lstStyle/>
                    <a:p>
                      <a:pPr marL="90000" marR="0" lvl="0" indent="-9000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평가 </a:t>
                      </a:r>
                      <a: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Description </a:t>
                      </a:r>
                      <a:r>
                        <a:rPr kumimoji="0" lang="ko-KR" altLang="en-US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배점에 대한 산출 로직</a:t>
                      </a:r>
                      <a:b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5</a:t>
                      </a:r>
                      <a:r>
                        <a:rPr kumimoji="0" lang="ko-KR" altLang="en-US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점 </a:t>
                      </a:r>
                      <a: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</a:t>
                      </a:r>
                      <a:r>
                        <a:rPr kumimoji="0" lang="ko-KR" altLang="en-US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자동보정 이상현상 분석 시간 </a:t>
                      </a:r>
                      <a: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50% </a:t>
                      </a:r>
                      <a:r>
                        <a:rPr kumimoji="0" lang="ko-KR" altLang="en-US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추가 저감 </a:t>
                      </a:r>
                      <a: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 </a:t>
                      </a:r>
                      <a: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+ (100%-</a:t>
                      </a:r>
                      <a:r>
                        <a:rPr kumimoji="0" lang="ko-KR" altLang="en-US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</a:t>
                      </a:r>
                      <a: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)*50%)</a:t>
                      </a:r>
                      <a:b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4</a:t>
                      </a:r>
                      <a:r>
                        <a:rPr kumimoji="0" lang="ko-KR" altLang="en-US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점 </a:t>
                      </a:r>
                      <a: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</a:t>
                      </a:r>
                      <a:r>
                        <a:rPr kumimoji="0" lang="ko-KR" altLang="en-US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자동보정 이상현상 분석 시간 </a:t>
                      </a:r>
                      <a: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25% </a:t>
                      </a:r>
                      <a:r>
                        <a:rPr kumimoji="0" lang="ko-KR" altLang="en-US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추가 저감 </a:t>
                      </a:r>
                      <a: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 </a:t>
                      </a:r>
                      <a: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+ (100%-</a:t>
                      </a:r>
                      <a:r>
                        <a:rPr kumimoji="0" lang="ko-KR" altLang="en-US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</a:t>
                      </a:r>
                      <a: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)*25%)</a:t>
                      </a:r>
                      <a:b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</a:t>
                      </a:r>
                      <a:r>
                        <a:rPr kumimoji="0" lang="ko-KR" altLang="en-US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점 </a:t>
                      </a:r>
                      <a: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</a:t>
                      </a:r>
                      <a:r>
                        <a:rPr kumimoji="0" lang="ko-KR" altLang="en-US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자동보정 이상현상 분석 시간 </a:t>
                      </a:r>
                      <a: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25% </a:t>
                      </a:r>
                      <a:r>
                        <a:rPr kumimoji="0" lang="ko-KR" altLang="en-US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증가 </a:t>
                      </a:r>
                      <a: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 </a:t>
                      </a:r>
                      <a: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– (100%-</a:t>
                      </a:r>
                      <a:r>
                        <a:rPr kumimoji="0" lang="ko-KR" altLang="en-US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</a:t>
                      </a:r>
                      <a: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)*25%)</a:t>
                      </a:r>
                      <a:b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</a:t>
                      </a:r>
                      <a:r>
                        <a:rPr kumimoji="0" lang="ko-KR" altLang="en-US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점 </a:t>
                      </a:r>
                      <a: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</a:t>
                      </a:r>
                      <a:r>
                        <a:rPr kumimoji="0" lang="ko-KR" altLang="en-US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자동보정 이상현상 분석 시간 </a:t>
                      </a:r>
                      <a: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25% </a:t>
                      </a:r>
                      <a:r>
                        <a:rPr kumimoji="0" lang="ko-KR" altLang="en-US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초과 증가 </a:t>
                      </a:r>
                      <a: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 </a:t>
                      </a:r>
                      <a: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(100%-</a:t>
                      </a:r>
                      <a:r>
                        <a:rPr kumimoji="0" lang="ko-KR" altLang="en-US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</a:t>
                      </a:r>
                      <a: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)*25%)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1" i="0" u="none" strike="noStrike" kern="1200" cap="none" spc="-3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5</a:t>
                      </a:r>
                      <a:r>
                        <a:rPr kumimoji="1" lang="ko-KR" altLang="en-US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점</a:t>
                      </a: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Q : </a:t>
                      </a:r>
                      <a:r>
                        <a:rPr kumimoji="0" lang="ko-KR" altLang="en-US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자동보정 이상현상 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분석 시간 </a:t>
                      </a: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80% 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저감</a:t>
                      </a:r>
                    </a:p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D : ‘26.12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월</a:t>
                      </a:r>
                      <a:endParaRPr kumimoji="1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9652368"/>
                  </a:ext>
                </a:extLst>
              </a:tr>
              <a:tr h="468000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900" b="1" i="0" u="none" strike="noStrike" kern="1200" cap="none" spc="-3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4</a:t>
                      </a:r>
                      <a:r>
                        <a:rPr kumimoji="1" lang="ko-KR" altLang="en-US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점</a:t>
                      </a: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Q : </a:t>
                      </a:r>
                      <a:r>
                        <a:rPr kumimoji="0" lang="ko-KR" altLang="en-US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자동보정 이상현상 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분석 시간 </a:t>
                      </a: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70% 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저감</a:t>
                      </a:r>
                    </a:p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D : ‘26.12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월</a:t>
                      </a:r>
                      <a:endParaRPr kumimoji="1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8312169"/>
                  </a:ext>
                </a:extLst>
              </a:tr>
              <a:tr h="468000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900" b="1" i="0" u="none" strike="noStrike" kern="1200" cap="none" spc="-3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3</a:t>
                      </a:r>
                      <a:r>
                        <a:rPr kumimoji="1" lang="ko-KR" altLang="en-US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점</a:t>
                      </a: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Q : </a:t>
                      </a:r>
                      <a:r>
                        <a:rPr kumimoji="0" lang="ko-KR" altLang="en-US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자동보정 이상현상 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분석 시간 </a:t>
                      </a: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60% 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저감</a:t>
                      </a:r>
                    </a:p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D : ‘26.12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월</a:t>
                      </a:r>
                      <a:endParaRPr kumimoji="1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3781511"/>
                  </a:ext>
                </a:extLst>
              </a:tr>
              <a:tr h="468000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900" b="1" i="0" u="none" strike="noStrike" kern="1200" cap="none" spc="-3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2</a:t>
                      </a:r>
                      <a:r>
                        <a:rPr kumimoji="1" lang="ko-KR" altLang="en-US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점</a:t>
                      </a: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Q : </a:t>
                      </a:r>
                      <a:r>
                        <a:rPr kumimoji="0" lang="ko-KR" altLang="en-US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자동보정 이상현상 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분석 시간 </a:t>
                      </a: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50% 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저감</a:t>
                      </a:r>
                    </a:p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D : ‘26.12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월</a:t>
                      </a:r>
                      <a:endParaRPr kumimoji="1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8170501"/>
                  </a:ext>
                </a:extLst>
              </a:tr>
              <a:tr h="468000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900" b="1" i="0" u="none" strike="noStrike" kern="1200" cap="none" spc="-3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1</a:t>
                      </a:r>
                      <a:r>
                        <a:rPr kumimoji="1" lang="ko-KR" altLang="en-US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점</a:t>
                      </a: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Q : </a:t>
                      </a:r>
                      <a:r>
                        <a:rPr kumimoji="0" lang="ko-KR" altLang="en-US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자동보정 이상현상 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분석 시간 </a:t>
                      </a: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50% 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미만 저감</a:t>
                      </a:r>
                    </a:p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D : ‘26.12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월</a:t>
                      </a:r>
                      <a:endParaRPr kumimoji="1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033057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0FB2C6C6-ADA8-4A4D-9A5F-7DC6482FAA55}"/>
              </a:ext>
            </a:extLst>
          </p:cNvPr>
          <p:cNvSpPr txBox="1"/>
          <p:nvPr/>
        </p:nvSpPr>
        <p:spPr>
          <a:xfrm>
            <a:off x="95895" y="174087"/>
            <a:ext cx="3853543" cy="369332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[ </a:t>
            </a:r>
            <a:r>
              <a:rPr kumimoji="1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자동보정담당 </a:t>
            </a:r>
            <a:r>
              <a:rPr kumimoji="1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/ </a:t>
            </a:r>
            <a:r>
              <a:rPr kumimoji="1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송무강 </a:t>
            </a:r>
            <a:r>
              <a:rPr kumimoji="1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/ </a:t>
            </a:r>
            <a:r>
              <a:rPr kumimoji="1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상무 </a:t>
            </a: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]</a:t>
            </a:r>
            <a:endParaRPr kumimoji="0" lang="ko-KR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12283BA3-544F-CCEB-EA08-960A04A17B2C}"/>
              </a:ext>
            </a:extLst>
          </p:cNvPr>
          <p:cNvGraphicFramePr>
            <a:graphicFrameLocks noGrp="1"/>
          </p:cNvGraphicFramePr>
          <p:nvPr/>
        </p:nvGraphicFramePr>
        <p:xfrm>
          <a:off x="2470563" y="1427875"/>
          <a:ext cx="3313568" cy="1057348"/>
        </p:xfrm>
        <a:graphic>
          <a:graphicData uri="http://schemas.openxmlformats.org/drawingml/2006/table">
            <a:tbl>
              <a:tblPr/>
              <a:tblGrid>
                <a:gridCol w="2040477">
                  <a:extLst>
                    <a:ext uri="{9D8B030D-6E8A-4147-A177-3AD203B41FA5}">
                      <a16:colId xmlns:a16="http://schemas.microsoft.com/office/drawing/2014/main" val="1282526489"/>
                    </a:ext>
                  </a:extLst>
                </a:gridCol>
                <a:gridCol w="1273091">
                  <a:extLst>
                    <a:ext uri="{9D8B030D-6E8A-4147-A177-3AD203B41FA5}">
                      <a16:colId xmlns:a16="http://schemas.microsoft.com/office/drawing/2014/main" val="3944954258"/>
                    </a:ext>
                  </a:extLst>
                </a:gridCol>
              </a:tblGrid>
              <a:tr h="163978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업무 사항</a:t>
                      </a:r>
                    </a:p>
                  </a:txBody>
                  <a:tcPr marL="8387" marR="8387" marT="83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소요 시간</a:t>
                      </a:r>
                    </a:p>
                  </a:txBody>
                  <a:tcPr marL="8387" marR="8387" marT="83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4450863"/>
                  </a:ext>
                </a:extLst>
              </a:tr>
              <a:tr h="163978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① 데이터 조회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/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수집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(DAVINCI)</a:t>
                      </a:r>
                    </a:p>
                  </a:txBody>
                  <a:tcPr marL="8387" marR="8387" marT="83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24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분</a:t>
                      </a: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20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초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387" marR="8387" marT="83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0117409"/>
                  </a:ext>
                </a:extLst>
              </a:tr>
              <a:tr h="181238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② 기본분석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387" marR="8387" marT="83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8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분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40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초</a:t>
                      </a:r>
                    </a:p>
                  </a:txBody>
                  <a:tcPr marL="8387" marR="8387" marT="83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8271864"/>
                  </a:ext>
                </a:extLst>
              </a:tr>
              <a:tr h="163978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③ 상세분석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algn="ctr" fontAlgn="ctr"/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387" marR="8387" marT="83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시간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387" marR="8387" marT="83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0191158"/>
                  </a:ext>
                </a:extLst>
              </a:tr>
              <a:tr h="163978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총 시간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387" marR="8387" marT="83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시간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33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분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</a:p>
                  </a:txBody>
                  <a:tcPr marL="8387" marR="8387" marT="83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147740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A591CEBC-0A24-47F2-E71C-0FA5AC03CE57}"/>
              </a:ext>
            </a:extLst>
          </p:cNvPr>
          <p:cNvSpPr txBox="1"/>
          <p:nvPr/>
        </p:nvSpPr>
        <p:spPr>
          <a:xfrm>
            <a:off x="4248877" y="2464772"/>
            <a:ext cx="1654368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※ WA LAMI </a:t>
            </a:r>
            <a:r>
              <a:rPr kumimoji="0" lang="ko-KR" altLang="en-US" sz="700" b="1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설비 </a:t>
            </a:r>
            <a:r>
              <a:rPr kumimoji="0" lang="en-US" altLang="ko-KR" sz="700" b="1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1</a:t>
            </a:r>
            <a:r>
              <a:rPr kumimoji="0" lang="ko-KR" altLang="en-US" sz="700" b="1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대</a:t>
            </a:r>
            <a:r>
              <a:rPr kumimoji="0" lang="en-US" altLang="ko-KR" sz="700" b="1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, 6</a:t>
            </a:r>
            <a:r>
              <a:rPr kumimoji="0" lang="ko-KR" altLang="en-US" sz="700" b="1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시간 생산 기준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0837FF5-F85F-E275-767E-086714E950E0}"/>
              </a:ext>
            </a:extLst>
          </p:cNvPr>
          <p:cNvSpPr txBox="1"/>
          <p:nvPr/>
        </p:nvSpPr>
        <p:spPr>
          <a:xfrm>
            <a:off x="2564261" y="1864655"/>
            <a:ext cx="186538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※ </a:t>
            </a:r>
            <a:r>
              <a:rPr kumimoji="0" lang="ko-KR" altLang="en-US" sz="700" b="1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시각화</a:t>
            </a:r>
            <a:r>
              <a:rPr kumimoji="0" lang="en-US" altLang="ko-KR" sz="700" b="1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/</a:t>
            </a:r>
            <a:r>
              <a:rPr kumimoji="0" lang="ko-KR" altLang="en-US" sz="700" b="1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변경이력 조회</a:t>
            </a:r>
            <a:r>
              <a:rPr kumimoji="0" lang="en-US" altLang="ko-KR" sz="700" b="1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/</a:t>
            </a:r>
            <a:r>
              <a:rPr kumimoji="0" lang="ko-KR" altLang="en-US" sz="700" b="1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자동보정 </a:t>
            </a:r>
            <a:r>
              <a:rPr kumimoji="0" lang="en-US" altLang="ko-KR" sz="700" b="1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Log </a:t>
            </a:r>
            <a:r>
              <a:rPr kumimoji="0" lang="ko-KR" altLang="en-US" sz="700" b="1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분석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AFA967-229F-D535-0480-347040B56EB7}"/>
              </a:ext>
            </a:extLst>
          </p:cNvPr>
          <p:cNvSpPr txBox="1"/>
          <p:nvPr/>
        </p:nvSpPr>
        <p:spPr>
          <a:xfrm>
            <a:off x="2524881" y="2141979"/>
            <a:ext cx="1959078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※ </a:t>
            </a:r>
            <a:r>
              <a:rPr kumimoji="0" lang="ko-KR" altLang="en-US" sz="700" b="1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자동보정 </a:t>
            </a:r>
            <a:r>
              <a:rPr kumimoji="0" lang="en-US" altLang="ko-KR" sz="700" b="1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OFF</a:t>
            </a:r>
            <a:r>
              <a:rPr kumimoji="0" lang="ko-KR" altLang="en-US" sz="700" b="1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구간</a:t>
            </a:r>
            <a:r>
              <a:rPr kumimoji="0" lang="en-US" altLang="ko-KR" sz="700" b="1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, </a:t>
            </a:r>
            <a:r>
              <a:rPr kumimoji="0" lang="ko-KR" altLang="en-US" sz="700" b="1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재료교체</a:t>
            </a:r>
            <a:r>
              <a:rPr kumimoji="0" lang="en-US" altLang="ko-KR" sz="700" b="1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, </a:t>
            </a:r>
            <a:r>
              <a:rPr kumimoji="0" lang="ko-KR" altLang="en-US" sz="700" b="1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가</a:t>
            </a:r>
            <a:r>
              <a:rPr kumimoji="0" lang="en-US" altLang="ko-KR" sz="700" b="1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/</a:t>
            </a:r>
            <a:r>
              <a:rPr kumimoji="0" lang="ko-KR" altLang="en-US" sz="700" b="1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감속 구간 분석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6D5619C-638A-CCD3-F088-59E3B1481A1A}"/>
              </a:ext>
            </a:extLst>
          </p:cNvPr>
          <p:cNvSpPr txBox="1"/>
          <p:nvPr/>
        </p:nvSpPr>
        <p:spPr>
          <a:xfrm>
            <a:off x="2295069" y="5945918"/>
            <a:ext cx="3489062" cy="424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ctr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※ </a:t>
            </a:r>
            <a:r>
              <a:rPr kumimoji="0" lang="ko-KR" altLang="en-US" sz="900" b="0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자동보정 이상현상 분석 </a:t>
            </a:r>
            <a:r>
              <a:rPr kumimoji="0" lang="en-US" altLang="ko-KR" sz="900" b="0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: </a:t>
            </a:r>
            <a:r>
              <a:rPr kumimoji="0" lang="ko-KR" altLang="en-US" sz="900" b="0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특정 이슈 구간</a:t>
            </a:r>
            <a:r>
              <a:rPr kumimoji="0" lang="en-US" altLang="ko-KR" sz="900" b="0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,</a:t>
            </a:r>
            <a:r>
              <a:rPr kumimoji="0" lang="ko-KR" altLang="en-US" sz="900" b="0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 특성 분석</a:t>
            </a:r>
            <a:br>
              <a:rPr kumimoji="0" lang="en-US" altLang="ko-KR" sz="900" b="0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</a:br>
            <a:r>
              <a:rPr kumimoji="0" lang="en-US" altLang="ko-KR" sz="900" b="0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    (</a:t>
            </a:r>
            <a:r>
              <a:rPr kumimoji="0" lang="ko-KR" altLang="en-US" sz="900" b="0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자동보정 </a:t>
            </a:r>
            <a:r>
              <a:rPr kumimoji="0" lang="en-US" altLang="ko-KR" sz="900" b="0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OFF</a:t>
            </a:r>
            <a:r>
              <a:rPr kumimoji="0" lang="ko-KR" altLang="en-US" sz="900" b="0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구간</a:t>
            </a:r>
            <a:r>
              <a:rPr kumimoji="0" lang="en-US" altLang="ko-KR" sz="900" b="0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, </a:t>
            </a:r>
            <a:r>
              <a:rPr kumimoji="0" lang="ko-KR" altLang="en-US" sz="900" b="0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재료교체 구간</a:t>
            </a:r>
            <a:r>
              <a:rPr kumimoji="0" lang="en-US" altLang="ko-KR" sz="900" b="0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, </a:t>
            </a:r>
            <a:r>
              <a:rPr kumimoji="0" lang="ko-KR" altLang="en-US" sz="900" b="0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가</a:t>
            </a:r>
            <a:r>
              <a:rPr kumimoji="0" lang="en-US" altLang="ko-KR" sz="900" b="0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/</a:t>
            </a:r>
            <a:r>
              <a:rPr kumimoji="0" lang="ko-KR" altLang="en-US" sz="900" b="0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감속 구간</a:t>
            </a:r>
            <a:r>
              <a:rPr kumimoji="0" lang="en-US" altLang="ko-KR" sz="900" b="0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. PD Loss</a:t>
            </a:r>
            <a:r>
              <a:rPr kumimoji="0" lang="ko-KR" altLang="en-US" sz="900" b="0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 구간 등</a:t>
            </a:r>
            <a:r>
              <a:rPr kumimoji="0" lang="en-US" altLang="ko-KR" sz="900" b="0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)</a:t>
            </a:r>
            <a:endParaRPr kumimoji="0" lang="ko-KR" altLang="en-US" sz="900" b="0" i="0" u="none" strike="noStrike" kern="1200" cap="none" spc="0" normalizeH="0" baseline="0" noProof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LG스마트체 Regular" panose="020B0600000101010101" pitchFamily="50" charset="-127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B036CA5-D193-1605-FD25-C7A5181EEC9E}"/>
              </a:ext>
            </a:extLst>
          </p:cNvPr>
          <p:cNvSpPr/>
          <p:nvPr/>
        </p:nvSpPr>
        <p:spPr>
          <a:xfrm>
            <a:off x="4475366" y="4431024"/>
            <a:ext cx="1538883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* 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목표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(3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점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) 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대비 평가 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Scale 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산출</a:t>
            </a:r>
            <a:endParaRPr kumimoji="0" lang="ko-KR" altLang="en-US" sz="900" b="0" i="0" u="none" strike="noStrike" kern="1200" cap="none" spc="0" normalizeH="0" baseline="0" noProof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E264667-C82D-9406-F27A-EA32006F63E3}"/>
              </a:ext>
            </a:extLst>
          </p:cNvPr>
          <p:cNvSpPr txBox="1"/>
          <p:nvPr/>
        </p:nvSpPr>
        <p:spPr>
          <a:xfrm>
            <a:off x="5038725" y="119658"/>
            <a:ext cx="4731101" cy="338554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➋ 목표 산정 근거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/ 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분기 목표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/ 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평가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Description 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근거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(10/10)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1D02915-9591-BB16-1FB3-816BD71A1C02}"/>
              </a:ext>
            </a:extLst>
          </p:cNvPr>
          <p:cNvSpPr txBox="1"/>
          <p:nvPr/>
        </p:nvSpPr>
        <p:spPr>
          <a:xfrm>
            <a:off x="4454656" y="106918"/>
            <a:ext cx="886091" cy="369332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[</a:t>
            </a:r>
            <a:r>
              <a: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유첨</a:t>
            </a: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]</a:t>
            </a:r>
            <a:endParaRPr kumimoji="1" lang="ko-KR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980490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5DEA82D8-838B-4BB7-8CC3-D776D5B459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4750086"/>
              </p:ext>
            </p:extLst>
          </p:nvPr>
        </p:nvGraphicFramePr>
        <p:xfrm>
          <a:off x="111000" y="633045"/>
          <a:ext cx="9684000" cy="6159960"/>
        </p:xfrm>
        <a:graphic>
          <a:graphicData uri="http://schemas.openxmlformats.org/drawingml/2006/table">
            <a:tbl>
              <a:tblPr/>
              <a:tblGrid>
                <a:gridCol w="972000">
                  <a:extLst>
                    <a:ext uri="{9D8B030D-6E8A-4147-A177-3AD203B41FA5}">
                      <a16:colId xmlns:a16="http://schemas.microsoft.com/office/drawing/2014/main" val="1485838750"/>
                    </a:ext>
                  </a:extLst>
                </a:gridCol>
                <a:gridCol w="2016000">
                  <a:extLst>
                    <a:ext uri="{9D8B030D-6E8A-4147-A177-3AD203B41FA5}">
                      <a16:colId xmlns:a16="http://schemas.microsoft.com/office/drawing/2014/main" val="2421510175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185255041"/>
                    </a:ext>
                  </a:extLst>
                </a:gridCol>
                <a:gridCol w="1068000">
                  <a:extLst>
                    <a:ext uri="{9D8B030D-6E8A-4147-A177-3AD203B41FA5}">
                      <a16:colId xmlns:a16="http://schemas.microsoft.com/office/drawing/2014/main" val="1923265575"/>
                    </a:ext>
                  </a:extLst>
                </a:gridCol>
                <a:gridCol w="1068000">
                  <a:extLst>
                    <a:ext uri="{9D8B030D-6E8A-4147-A177-3AD203B41FA5}">
                      <a16:colId xmlns:a16="http://schemas.microsoft.com/office/drawing/2014/main" val="905851894"/>
                    </a:ext>
                  </a:extLst>
                </a:gridCol>
                <a:gridCol w="1068000">
                  <a:extLst>
                    <a:ext uri="{9D8B030D-6E8A-4147-A177-3AD203B41FA5}">
                      <a16:colId xmlns:a16="http://schemas.microsoft.com/office/drawing/2014/main" val="3300058648"/>
                    </a:ext>
                  </a:extLst>
                </a:gridCol>
                <a:gridCol w="1068000">
                  <a:extLst>
                    <a:ext uri="{9D8B030D-6E8A-4147-A177-3AD203B41FA5}">
                      <a16:colId xmlns:a16="http://schemas.microsoft.com/office/drawing/2014/main" val="3159466843"/>
                    </a:ext>
                  </a:extLst>
                </a:gridCol>
                <a:gridCol w="1068000">
                  <a:extLst>
                    <a:ext uri="{9D8B030D-6E8A-4147-A177-3AD203B41FA5}">
                      <a16:colId xmlns:a16="http://schemas.microsoft.com/office/drawing/2014/main" val="819276790"/>
                    </a:ext>
                  </a:extLst>
                </a:gridCol>
                <a:gridCol w="1068000">
                  <a:extLst>
                    <a:ext uri="{9D8B030D-6E8A-4147-A177-3AD203B41FA5}">
                      <a16:colId xmlns:a16="http://schemas.microsoft.com/office/drawing/2014/main" val="46673577"/>
                    </a:ext>
                  </a:extLst>
                </a:gridCol>
              </a:tblGrid>
              <a:tr h="187422">
                <a:tc rowSpan="2"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b="1" i="0" u="none" strike="noStrike" kern="1200" spc="-10" baseline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’26</a:t>
                      </a:r>
                      <a:r>
                        <a:rPr lang="ko-KR" altLang="en-US" sz="1100" b="1" i="0" u="none" strike="noStrike" kern="1200" spc="-10" baseline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년 </a:t>
                      </a:r>
                      <a:r>
                        <a:rPr lang="en-US" altLang="ko-KR" sz="1100" b="1" i="0" u="none" strike="noStrike" kern="1200" spc="-10" baseline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KPI</a:t>
                      </a:r>
                      <a:endParaRPr lang="ko-KR" altLang="en-US" sz="1100" b="1" i="0" u="none" strike="noStrike" kern="1200" spc="-10" baseline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" marR="3600" marT="10800" marB="108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i="0" u="none" strike="noStrike" kern="1200" spc="-10" baseline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상세 목표</a:t>
                      </a:r>
                      <a:endParaRPr lang="en-US" altLang="ko-KR" sz="1100" b="1" i="0" u="none" strike="noStrike" kern="1200" spc="-10" baseline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" marR="3600" marT="10800" marB="108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1" i="0" u="none" strike="noStrike" spc="-10" baseline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비중</a:t>
                      </a:r>
                      <a:endParaRPr lang="en-US" altLang="ko-KR" sz="1100" b="1" i="0" u="none" strike="noStrike" spc="-10" baseline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" marR="3600" marT="10800" marB="108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00000"/>
                        </a:lnSpc>
                      </a:pPr>
                      <a:r>
                        <a:rPr lang="en-US" altLang="ko-KR" sz="1100" b="1" i="0" u="none" strike="noStrike" kern="12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KPI</a:t>
                      </a:r>
                      <a:r>
                        <a:rPr lang="ko-KR" altLang="en-US" sz="1100" b="1" i="0" u="none" strike="noStrike" kern="12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기준 </a:t>
                      </a:r>
                      <a:r>
                        <a:rPr lang="en-US" altLang="ko-KR" sz="1100" b="1" i="0" u="none" strike="noStrike" kern="12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Description</a:t>
                      </a:r>
                    </a:p>
                  </a:txBody>
                  <a:tcPr marL="3600" marR="3600" marT="10800" marB="1080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ko-KR" altLang="en-US" sz="1000" b="1" spc="-1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" marR="3600" marT="10800" marB="108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ko-KR" altLang="en-US" sz="1000" b="1" spc="-1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" marR="3600" marT="10800" marB="108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ko-KR" altLang="en-US" sz="1000" b="1" spc="-1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" marR="3600" marT="10800" marB="108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ko-KR" altLang="en-US" sz="1000" b="1" spc="-1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" marR="3600" marT="10800" marB="108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00000"/>
                        </a:lnSpc>
                      </a:pPr>
                      <a:r>
                        <a:rPr lang="ko-KR" altLang="en-US" sz="1100" b="1" i="0" u="none" strike="noStrike" kern="12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경쟁 지표</a:t>
                      </a:r>
                      <a:endParaRPr lang="en-US" sz="1100" b="1" i="0" u="none" strike="noStrike" kern="1200" baseline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" marR="9136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893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altLang="ko-KR" sz="1100" b="1" spc="-10" baseline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5</a:t>
                      </a:r>
                      <a:endParaRPr lang="ko-KR" altLang="en-US" sz="1100" b="1" spc="-10" baseline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" marR="3600" marT="10800" marB="108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altLang="ko-KR" sz="1100" b="1" spc="-10" baseline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4</a:t>
                      </a:r>
                      <a:endParaRPr lang="ko-KR" altLang="en-US" sz="1100" b="1" spc="-10" baseline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" marR="3600" marT="10800" marB="108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altLang="ko-KR" sz="1100" b="1" spc="-10" baseline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3</a:t>
                      </a:r>
                      <a:endParaRPr lang="ko-KR" altLang="en-US" sz="1100" b="1" spc="-10" baseline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" marR="3600" marT="10800" marB="10800" anchor="ctr">
                    <a:lnL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altLang="ko-KR" sz="1100" b="1" spc="-10" baseline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2</a:t>
                      </a:r>
                      <a:endParaRPr lang="ko-KR" altLang="en-US" sz="1100" b="1" spc="-10" baseline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" marR="3600" marT="10800" marB="10800" anchor="ctr">
                    <a:lnL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altLang="ko-KR" sz="1100" b="1" spc="-10" baseline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1</a:t>
                      </a:r>
                      <a:endParaRPr lang="ko-KR" altLang="en-US" sz="1100" b="1" spc="-10" baseline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" marR="3600" marT="10800" marB="108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00000"/>
                        </a:lnSpc>
                      </a:pPr>
                      <a:endParaRPr lang="en-US" sz="1100" b="1" i="0" u="none" strike="noStrike" kern="120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3686049"/>
                  </a:ext>
                </a:extLst>
              </a:tr>
              <a:tr h="201684">
                <a:tc rowSpan="2">
                  <a:txBody>
                    <a:bodyPr/>
                    <a:lstStyle/>
                    <a:p>
                      <a:pPr marL="92075" marR="0" lvl="0" indent="-92075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1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매출</a:t>
                      </a:r>
                      <a:r>
                        <a:rPr kumimoji="0" lang="en-US" altLang="ko-KR" sz="1000" b="1" i="0" u="none" strike="noStrike" kern="1200" cap="none" spc="-1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1000" b="1" i="0" u="none" strike="noStrike" kern="1200" cap="none" spc="-1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영업이익</a:t>
                      </a:r>
                      <a:br>
                        <a:rPr kumimoji="0" lang="en-US" altLang="ko-KR" sz="1000" b="1" i="0" u="none" strike="noStrike" kern="1200" cap="none" spc="-1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ko-KR" altLang="en-US" sz="1000" b="1" i="0" u="none" strike="noStrike" kern="1200" cap="none" spc="-1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 달성</a:t>
                      </a:r>
                      <a:endParaRPr kumimoji="0" lang="en-US" altLang="ko-KR" sz="1000" b="1" i="0" u="none" strike="noStrike" kern="1200" cap="none" spc="-1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72000" marR="0" lvl="0" indent="-720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1000" b="1" kern="1200" spc="-5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매출</a:t>
                      </a:r>
                      <a:r>
                        <a:rPr kumimoji="1" lang="en-US" altLang="ko-KR" sz="1000" b="1" kern="1200" spc="-5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30.05 </a:t>
                      </a:r>
                      <a:r>
                        <a:rPr kumimoji="1" lang="ko-KR" altLang="en-US" sz="1000" b="1" kern="1200" spc="-5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조원</a:t>
                      </a:r>
                      <a:endParaRPr kumimoji="1" lang="ko-KR" altLang="en-US" sz="1000" b="0" kern="1200" spc="-5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lang="en-US" altLang="ko-KR" sz="1000" b="1" i="0" u="none" strike="noStrike" spc="-1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5%</a:t>
                      </a:r>
                      <a:endParaRPr lang="ko-KR" altLang="en-US" sz="1000" b="1" i="0" u="none" strike="noStrike" spc="-10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" marR="3600" marT="10800" marB="108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36.06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조 원 이상</a:t>
                      </a:r>
                      <a:endParaRPr kumimoji="0" lang="en-US" altLang="ko-KR" sz="10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33.055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조원 이상</a:t>
                      </a:r>
                      <a:endParaRPr kumimoji="0" lang="en-US" altLang="ko-KR" sz="10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30.05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조원 이상</a:t>
                      </a:r>
                      <a:endParaRPr kumimoji="0" lang="en-US" altLang="ko-KR" sz="10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18000" marT="18000" marB="18000" anchor="ctr">
                    <a:lnL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24.04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조원 이상</a:t>
                      </a:r>
                      <a:endParaRPr kumimoji="0" lang="en-US" altLang="ko-KR" sz="10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18000" marT="18000" marB="18000" anchor="ctr">
                    <a:lnL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24.04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조원 미만</a:t>
                      </a:r>
                      <a:endParaRPr kumimoji="0" lang="en-US" altLang="ko-KR" sz="10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000" b="1" baseline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1684">
                <a:tc vMerge="1">
                  <a:txBody>
                    <a:bodyPr/>
                    <a:lstStyle/>
                    <a:p>
                      <a:pPr marL="108000" marR="0" lvl="0" indent="-1080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ClrTx/>
                        <a:buSzPct val="80000"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endParaRPr kumimoji="0" lang="en-US" altLang="ko-KR" sz="1000" b="1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" marR="3600" marT="3600" marB="36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72000" marR="0" lvl="0" indent="-720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1000" b="1" kern="1200" spc="-5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영업이익 </a:t>
                      </a:r>
                      <a:r>
                        <a:rPr kumimoji="1" lang="en-US" altLang="ko-KR" sz="1000" b="1" kern="1200" spc="-5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4,000 </a:t>
                      </a:r>
                      <a:r>
                        <a:rPr kumimoji="1" lang="ko-KR" altLang="en-US" sz="1000" b="1" kern="1200" spc="-5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억원</a:t>
                      </a:r>
                      <a:endParaRPr kumimoji="1" lang="ko-KR" altLang="en-US" sz="1000" b="0" kern="1200" spc="-5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i="0" u="none" strike="noStrike" spc="-1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5%</a:t>
                      </a:r>
                      <a:endParaRPr lang="ko-KR" altLang="en-US" sz="1000" b="1" i="0" u="none" strike="noStrike" spc="-10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" marR="3600" marT="10800" marB="108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4,800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억원 이상</a:t>
                      </a:r>
                      <a:endParaRPr kumimoji="0" lang="en-US" altLang="ko-KR" sz="10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4,400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억원 이상</a:t>
                      </a:r>
                      <a:endParaRPr kumimoji="0" lang="en-US" altLang="ko-KR" sz="10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4,000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억원 이상</a:t>
                      </a:r>
                      <a:endParaRPr kumimoji="0" lang="en-US" altLang="ko-KR" sz="10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18000" marT="18000" marB="18000" anchor="ctr">
                    <a:lnL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3,200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억원 이상</a:t>
                      </a:r>
                      <a:endParaRPr kumimoji="0" lang="en-US" altLang="ko-KR" sz="10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18000" marT="18000" marB="18000" anchor="ctr">
                    <a:lnL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3,200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억원 미만</a:t>
                      </a:r>
                      <a:endParaRPr kumimoji="0" lang="en-US" altLang="ko-KR" sz="10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1" baseline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7379521"/>
                  </a:ext>
                </a:extLst>
              </a:tr>
              <a:tr h="529220">
                <a:tc>
                  <a:txBody>
                    <a:bodyPr/>
                    <a:lstStyle/>
                    <a:p>
                      <a:pPr marL="92075" indent="-92075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SzPct val="100000"/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1" kern="1200" spc="-1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제조 운영 </a:t>
                      </a:r>
                      <a:r>
                        <a:rPr lang="en-US" altLang="ko-KR" sz="1000" b="1" kern="1200" spc="-1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AX</a:t>
                      </a:r>
                      <a:br>
                        <a:rPr lang="en-US" altLang="ko-KR" sz="1000" b="1" kern="1200" spc="-1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en-US" altLang="ko-KR" sz="1000" b="1" kern="1200" spc="-1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BM/PD </a:t>
                      </a:r>
                      <a:r>
                        <a:rPr lang="ko-KR" altLang="en-US" sz="1000" b="1" kern="1200" spc="-1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</a:t>
                      </a: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prstClr val="black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-5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AX</a:t>
                      </a:r>
                      <a:r>
                        <a:rPr kumimoji="1" lang="ko-KR" altLang="en-US" sz="1000" b="1" i="0" u="none" strike="noStrike" kern="1200" cap="none" spc="-5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기반 제조운영 </a:t>
                      </a:r>
                      <a:r>
                        <a:rPr kumimoji="1" lang="en-US" altLang="ko-KR" sz="1000" b="1" i="0" u="none" strike="noStrike" kern="1200" cap="none" spc="-5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BM/PD Loss</a:t>
                      </a:r>
                      <a:r>
                        <a:rPr kumimoji="1" lang="ko-KR" altLang="en-US" sz="1000" b="1" i="0" u="none" strike="noStrike" kern="1200" cap="none" spc="-5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개선</a:t>
                      </a:r>
                      <a:br>
                        <a:rPr kumimoji="1" lang="en-US" altLang="ko-KR" sz="1000" b="1" i="0" u="none" strike="noStrike" kern="1200" cap="none" spc="-5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1000" b="0" i="0" u="none" strike="noStrike" kern="1200" cap="none" spc="-5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Q: 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자동차</a:t>
                      </a: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/ESS BM/PD 20% 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개선</a:t>
                      </a:r>
                      <a:b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en-US" altLang="ko-KR" sz="1000" b="0" i="0" u="none" strike="noStrike" kern="1200" cap="none" spc="-5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C: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인원 효율화 </a:t>
                      </a: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Δ890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명</a:t>
                      </a:r>
                      <a:endParaRPr kumimoji="1" lang="en-US" altLang="ko-KR" sz="1000" b="1" kern="1200" spc="-60" baseline="0" noProof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altLang="ko-KR" sz="1000" b="1" i="0" u="none" strike="noStrike" spc="-1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15%</a:t>
                      </a:r>
                    </a:p>
                  </a:txBody>
                  <a:tcPr marL="3600" marR="3600" marT="10800" marB="108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eaLnBrk="1" fontAlgn="ctr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1" lang="en-US" altLang="ko-KR" sz="1000" b="0" i="0" u="none" strike="noStrike" kern="1200" cap="none" spc="-5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Q: </a:t>
                      </a:r>
                      <a:r>
                        <a:rPr lang="en-US" altLang="ko-KR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24% </a:t>
                      </a:r>
                      <a:r>
                        <a:rPr lang="ko-KR" altLang="en-US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 개선</a:t>
                      </a:r>
                      <a:br>
                        <a:rPr kumimoji="1" lang="en-US" altLang="ko-KR" sz="1000" b="0" i="0" u="none" strike="noStrike" kern="1200" cap="none" spc="-5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en-US" altLang="ko-KR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C: </a:t>
                      </a:r>
                      <a:r>
                        <a:rPr kumimoji="1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Δ979</a:t>
                      </a:r>
                      <a:r>
                        <a:rPr lang="ko-KR" altLang="en-US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명 이상</a:t>
                      </a:r>
                      <a:endParaRPr lang="en-US" altLang="ko-KR" sz="10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18000" marT="18000" marB="1800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eaLnBrk="1" fontAlgn="ctr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1" lang="en-US" altLang="ko-KR" sz="1000" b="0" i="0" u="none" strike="noStrike" kern="1200" cap="none" spc="-5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Q: </a:t>
                      </a:r>
                      <a:r>
                        <a:rPr kumimoji="1" lang="en-US" altLang="ko-KR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22</a:t>
                      </a:r>
                      <a:r>
                        <a:rPr lang="en-US" altLang="ko-KR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% </a:t>
                      </a:r>
                      <a:r>
                        <a:rPr lang="ko-KR" altLang="en-US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 개선</a:t>
                      </a:r>
                      <a:br>
                        <a:rPr kumimoji="1" lang="en-US" altLang="ko-KR" sz="1000" b="0" i="0" u="none" strike="noStrike" kern="1200" cap="none" spc="-5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en-US" altLang="ko-KR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C: </a:t>
                      </a:r>
                      <a:r>
                        <a:rPr kumimoji="1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Δ935</a:t>
                      </a:r>
                      <a:r>
                        <a:rPr lang="ko-KR" altLang="en-US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명 이상</a:t>
                      </a:r>
                      <a:endParaRPr lang="en-US" altLang="ko-KR" sz="10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18000" marT="18000" marB="1800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eaLnBrk="1" fontAlgn="ctr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1" lang="en-US" altLang="ko-KR" sz="1000" b="0" i="0" u="none" strike="noStrike" kern="1200" cap="none" spc="-5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Q: </a:t>
                      </a:r>
                      <a:r>
                        <a:rPr kumimoji="1" lang="en-US" altLang="ko-KR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20</a:t>
                      </a:r>
                      <a:r>
                        <a:rPr lang="en-US" altLang="ko-KR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% </a:t>
                      </a:r>
                      <a:r>
                        <a:rPr lang="ko-KR" altLang="en-US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 개선</a:t>
                      </a:r>
                      <a:br>
                        <a:rPr kumimoji="1" lang="en-US" altLang="ko-KR" sz="1000" b="0" i="0" u="none" strike="noStrike" kern="1200" cap="none" spc="-5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en-US" altLang="ko-KR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C: </a:t>
                      </a:r>
                      <a:r>
                        <a:rPr kumimoji="1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Δ890</a:t>
                      </a:r>
                      <a:r>
                        <a:rPr lang="ko-KR" altLang="en-US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명 이상</a:t>
                      </a:r>
                      <a:endParaRPr lang="en-US" altLang="ko-KR" sz="10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18000" marT="18000" marB="18000" anchor="ctr" horzOverflow="overflow">
                    <a:lnL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eaLnBrk="1" fontAlgn="ctr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1" lang="en-US" altLang="ko-KR" sz="1000" b="0" i="0" u="none" strike="noStrike" kern="1200" cap="none" spc="-5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Q: </a:t>
                      </a:r>
                      <a:r>
                        <a:rPr kumimoji="1" lang="en-US" altLang="ko-KR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16</a:t>
                      </a:r>
                      <a:r>
                        <a:rPr lang="en-US" altLang="ko-KR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% </a:t>
                      </a:r>
                      <a:r>
                        <a:rPr lang="ko-KR" altLang="en-US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 개선</a:t>
                      </a:r>
                      <a:br>
                        <a:rPr kumimoji="1" lang="en-US" altLang="ko-KR" sz="1000" b="0" i="0" u="none" strike="noStrike" kern="1200" cap="none" spc="-5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en-US" altLang="ko-KR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C: </a:t>
                      </a:r>
                      <a:r>
                        <a:rPr kumimoji="1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Δ801</a:t>
                      </a:r>
                      <a:r>
                        <a:rPr lang="ko-KR" altLang="en-US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명 이상</a:t>
                      </a:r>
                      <a:endParaRPr lang="en-US" altLang="ko-KR" sz="10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18000" marT="18000" marB="18000" anchor="ctr" horzOverflow="overflow">
                    <a:lnL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eaLnBrk="1" fontAlgn="ctr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1" lang="en-US" altLang="ko-KR" sz="1000" b="0" i="0" u="none" strike="noStrike" kern="1200" cap="none" spc="-5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Q: </a:t>
                      </a:r>
                      <a:r>
                        <a:rPr kumimoji="1" lang="en-US" altLang="ko-KR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16</a:t>
                      </a:r>
                      <a:r>
                        <a:rPr lang="en-US" altLang="ko-KR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% </a:t>
                      </a:r>
                      <a:r>
                        <a:rPr lang="ko-KR" altLang="en-US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미만 개선</a:t>
                      </a:r>
                      <a:br>
                        <a:rPr kumimoji="1" lang="en-US" altLang="ko-KR" sz="1000" b="0" i="0" u="none" strike="noStrike" kern="1200" cap="none" spc="-5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en-US" altLang="ko-KR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C: </a:t>
                      </a:r>
                      <a:r>
                        <a:rPr kumimoji="1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Δ801</a:t>
                      </a:r>
                      <a:r>
                        <a:rPr lang="ko-KR" altLang="en-US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명 미만</a:t>
                      </a:r>
                      <a:endParaRPr lang="en-US" altLang="ko-KR" sz="10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18000" marT="18000" marB="1800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6002411"/>
                  </a:ext>
                </a:extLst>
              </a:tr>
              <a:tr h="47001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92075" marR="0" lvl="0" indent="-92075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Pct val="10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1" kern="1200" spc="-10" dirty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북미 </a:t>
                      </a:r>
                      <a:r>
                        <a:rPr lang="en-US" altLang="ko-KR" sz="1000" b="1" kern="1200" spc="-10" dirty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ESS </a:t>
                      </a:r>
                      <a:br>
                        <a:rPr lang="en-US" altLang="ko-KR" sz="1000" b="1" kern="1200" spc="-10" dirty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</a:br>
                      <a:r>
                        <a:rPr lang="ko-KR" altLang="en-US" sz="1000" b="1" kern="1200" spc="-10" dirty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종합 </a:t>
                      </a:r>
                      <a:r>
                        <a:rPr lang="ko-KR" altLang="en-US" sz="1000" b="1" kern="1200" spc="-10" dirty="0" err="1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수율</a:t>
                      </a:r>
                      <a:r>
                        <a:rPr lang="ko-KR" altLang="en-US" sz="1000" b="1" kern="1200" spc="-10" dirty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 개선 </a:t>
                      </a:r>
                      <a:endParaRPr lang="en-US" altLang="ko-KR" sz="1000" b="1" kern="1200" spc="-10" dirty="0">
                        <a:solidFill>
                          <a:schemeClr val="tx1"/>
                        </a:solidFill>
                        <a:latin typeface="Arial Narrow"/>
                        <a:ea typeface="LG스마트체 Regular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북미</a:t>
                      </a:r>
                      <a: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 AX</a:t>
                      </a: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기반 </a:t>
                      </a:r>
                      <a: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ESS </a:t>
                      </a: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종합 </a:t>
                      </a:r>
                      <a:r>
                        <a:rPr kumimoji="1" lang="ko-KR" altLang="en-US" sz="1000" b="1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개선</a:t>
                      </a:r>
                      <a:b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Q : ESMI, MI_LS, OT, HD ESS </a:t>
                      </a:r>
                      <a:r>
                        <a:rPr kumimoji="1" lang="ko-KR" altLang="en-US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종합 </a:t>
                      </a:r>
                      <a:r>
                        <a:rPr kumimoji="1" lang="ko-KR" altLang="en-US" sz="900" b="0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kumimoji="1" lang="ko-KR" altLang="en-US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94.3%</a:t>
                      </a:r>
                      <a:b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D : ’26.12</a:t>
                      </a:r>
                      <a:r>
                        <a:rPr kumimoji="1" lang="ko-KR" altLang="en-US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월</a:t>
                      </a:r>
                      <a:endParaRPr kumimoji="1" lang="en-US" altLang="ko-KR" sz="9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lang="en-US" altLang="ko-KR" sz="1000" b="1" kern="1200" spc="-1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20%</a:t>
                      </a:r>
                    </a:p>
                  </a:txBody>
                  <a:tcPr marL="3600" marR="3600" marT="10800" marB="108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Q: </a:t>
                      </a:r>
                      <a:r>
                        <a:rPr lang="en-US" altLang="ko-KR" sz="1000" b="0" kern="1200" spc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95.4% </a:t>
                      </a:r>
                      <a:r>
                        <a:rPr lang="ko-KR" altLang="en-US" sz="1000" b="0" kern="1200" spc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</a:t>
                      </a:r>
                      <a:endParaRPr kumimoji="1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D: ’26.12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월</a:t>
                      </a:r>
                      <a:endParaRPr kumimoji="1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18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Q: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94.9%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</a:t>
                      </a:r>
                      <a:endParaRPr kumimoji="1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D: ’26.12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월</a:t>
                      </a:r>
                      <a:endParaRPr kumimoji="1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18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Q: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94.3%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</a:t>
                      </a:r>
                      <a:endParaRPr kumimoji="1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D: ’26.12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월</a:t>
                      </a:r>
                      <a:endParaRPr kumimoji="1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18000" marR="0" marT="0" marB="0" anchor="ctr">
                    <a:lnL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Q: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93.2%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</a:t>
                      </a:r>
                      <a:endParaRPr kumimoji="1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D: ’26.12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월</a:t>
                      </a:r>
                      <a:endParaRPr kumimoji="1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18000" marR="0" marT="0" marB="0" anchor="ctr">
                    <a:lnL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Q: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93.2%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미만</a:t>
                      </a:r>
                      <a:endParaRPr kumimoji="1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D: ’26.12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월</a:t>
                      </a:r>
                      <a:endParaRPr kumimoji="1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18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725549"/>
                  </a:ext>
                </a:extLst>
              </a:tr>
              <a:tr h="422621">
                <a:tc rowSpan="2">
                  <a:txBody>
                    <a:bodyPr/>
                    <a:lstStyle/>
                    <a:p>
                      <a:pPr marL="92075" indent="-92075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SzPct val="100000"/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1" kern="1200" spc="-1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자동보정 파라미터 실시간 최적화를 통한 </a:t>
                      </a:r>
                      <a:r>
                        <a:rPr lang="ko-KR" altLang="en-US" sz="1000" b="1" kern="1200" spc="-10" baseline="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lang="ko-KR" altLang="en-US" sz="1000" b="1" kern="1200" spc="-1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개선</a:t>
                      </a: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유럽</a:t>
                      </a:r>
                      <a: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 AX</a:t>
                      </a: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기반 </a:t>
                      </a:r>
                      <a: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ESS </a:t>
                      </a: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종합 </a:t>
                      </a:r>
                      <a:r>
                        <a:rPr kumimoji="1" lang="ko-KR" altLang="en-US" sz="1000" b="1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개선</a:t>
                      </a:r>
                      <a:b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Q : ESWA ESS </a:t>
                      </a:r>
                      <a:r>
                        <a:rPr kumimoji="1" lang="ko-KR" altLang="en-US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종합 </a:t>
                      </a:r>
                      <a:r>
                        <a:rPr kumimoji="1" lang="ko-KR" altLang="en-US" sz="900" b="0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kumimoji="1" lang="ko-KR" altLang="en-US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94.5% </a:t>
                      </a:r>
                      <a:b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D : ’26.12</a:t>
                      </a:r>
                      <a:r>
                        <a:rPr kumimoji="1" lang="ko-KR" altLang="en-US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월</a:t>
                      </a:r>
                      <a:endParaRPr kumimoji="1" lang="ko-KR" altLang="en-US" sz="10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b="1" i="0" u="none" strike="noStrike" spc="-1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5%</a:t>
                      </a:r>
                      <a:endParaRPr lang="ko-KR" altLang="en-US" sz="1000" b="1" i="0" u="none" strike="noStrike" spc="-10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" marR="3600" marT="10800" marB="108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Q: </a:t>
                      </a:r>
                      <a:r>
                        <a:rPr lang="en-US" altLang="ko-KR" sz="1000" b="0" kern="1200" spc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95.6% </a:t>
                      </a:r>
                      <a:r>
                        <a:rPr lang="ko-KR" altLang="en-US" sz="1000" b="0" kern="1200" spc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</a:t>
                      </a:r>
                      <a:endParaRPr kumimoji="1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D: ’26.12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월</a:t>
                      </a:r>
                      <a:endParaRPr kumimoji="1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18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Q: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95.1%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</a:t>
                      </a:r>
                      <a:endParaRPr kumimoji="1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D: ’26.12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월</a:t>
                      </a:r>
                      <a:endParaRPr kumimoji="1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18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Q: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94.5%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</a:t>
                      </a:r>
                      <a:endParaRPr kumimoji="1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D: ’26.12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월</a:t>
                      </a:r>
                      <a:endParaRPr kumimoji="1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18000" marR="0" marT="0" marB="0" anchor="ctr">
                    <a:lnL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Q: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93.4%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</a:t>
                      </a:r>
                      <a:endParaRPr kumimoji="1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D: ’26.12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월</a:t>
                      </a:r>
                      <a:endParaRPr kumimoji="1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18000" marR="0" marT="0" marB="0" anchor="ctr">
                    <a:lnL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Q: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93.4%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미만</a:t>
                      </a:r>
                      <a:endParaRPr kumimoji="1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D: ’26.12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월</a:t>
                      </a:r>
                      <a:endParaRPr kumimoji="1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18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2933723"/>
                  </a:ext>
                </a:extLst>
              </a:tr>
              <a:tr h="558463">
                <a:tc vMerge="1">
                  <a:txBody>
                    <a:bodyPr/>
                    <a:lstStyle/>
                    <a:p>
                      <a:pPr marL="92075" indent="-92075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SzPct val="100000"/>
                        <a:buFont typeface="Arial" panose="020B0604020202020204" pitchFamily="34" charset="0"/>
                        <a:buChar char="•"/>
                      </a:pPr>
                      <a:endParaRPr lang="ko-KR" altLang="en-US" sz="1000" b="1" kern="1200" spc="-1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71755" marR="0" lvl="0" indent="-7175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AX</a:t>
                      </a: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기반 자동차 셀 </a:t>
                      </a:r>
                      <a:r>
                        <a:rPr kumimoji="1" lang="ko-KR" altLang="en-US" sz="1000" b="1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수율</a:t>
                      </a: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개선</a:t>
                      </a:r>
                      <a:b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- Q : ESWA, NA, NB, HM, MI, HG </a:t>
                      </a:r>
                      <a:r>
                        <a:rPr kumimoji="1" lang="ko-KR" altLang="en-US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자동차 셀 </a:t>
                      </a:r>
                      <a:r>
                        <a:rPr kumimoji="1" lang="ko-KR" altLang="en-US" sz="900" b="0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수율</a:t>
                      </a:r>
                      <a:r>
                        <a:rPr kumimoji="1" lang="ko-KR" altLang="en-US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97.8%</a:t>
                      </a:r>
                      <a:b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- D : ’26</a:t>
                      </a:r>
                      <a:r>
                        <a:rPr kumimoji="1" lang="ko-KR" altLang="en-US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년 </a:t>
                      </a: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12</a:t>
                      </a:r>
                      <a:r>
                        <a:rPr kumimoji="1" lang="ko-KR" altLang="en-US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월</a:t>
                      </a:r>
                      <a:endParaRPr kumimoji="1" lang="en-US" altLang="ko-KR" sz="9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/>
                        <a:ea typeface="LG스마트체 Regular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b="1" i="0" u="none" strike="noStrike" spc="-1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10%</a:t>
                      </a:r>
                      <a:endParaRPr lang="ko-KR" altLang="en-US" sz="1000" b="1" i="0" u="none" strike="noStrike" spc="-10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" marR="3600" marT="10800" marB="108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Q: </a:t>
                      </a:r>
                      <a:r>
                        <a:rPr lang="en-US" altLang="ko-KR" sz="1000" b="0" kern="1200" spc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98.3% </a:t>
                      </a:r>
                      <a:r>
                        <a:rPr lang="ko-KR" altLang="en-US" sz="1000" b="0" kern="1200" spc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</a:t>
                      </a:r>
                      <a:endParaRPr kumimoji="1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D: ’26.12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월</a:t>
                      </a:r>
                      <a:endParaRPr kumimoji="1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18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Q: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98.1%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</a:t>
                      </a:r>
                      <a:endParaRPr kumimoji="1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D: ’26.12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월</a:t>
                      </a:r>
                      <a:endParaRPr kumimoji="1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18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Q: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97.8%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</a:t>
                      </a:r>
                      <a:endParaRPr kumimoji="1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D: ’26.12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월</a:t>
                      </a:r>
                      <a:endParaRPr kumimoji="1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18000" marR="0" marT="0" marB="0" anchor="ctr">
                    <a:lnL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Q: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97.4%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</a:t>
                      </a:r>
                      <a:endParaRPr kumimoji="1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D: ’26.12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월</a:t>
                      </a:r>
                      <a:endParaRPr kumimoji="1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18000" marR="0" marT="0" marB="0" anchor="ctr">
                    <a:lnL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Q: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97.4%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미만</a:t>
                      </a:r>
                      <a:endParaRPr kumimoji="1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D: ’26.12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월</a:t>
                      </a:r>
                      <a:endParaRPr kumimoji="1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18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8838898"/>
                  </a:ext>
                </a:extLst>
              </a:tr>
              <a:tr h="603744">
                <a:tc>
                  <a:txBody>
                    <a:bodyPr/>
                    <a:lstStyle/>
                    <a:p>
                      <a:pPr marL="92075" marR="0" lvl="0" indent="-92075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-1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NFF </a:t>
                      </a:r>
                      <a:r>
                        <a:rPr kumimoji="1" lang="ko-KR" altLang="en-US" sz="1000" b="1" i="0" u="none" strike="noStrike" kern="1200" cap="none" spc="-1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전극 </a:t>
                      </a:r>
                      <a:r>
                        <a:rPr kumimoji="1" lang="ko-KR" altLang="en-US" sz="1000" b="1" i="0" u="none" strike="noStrike" kern="1200" cap="none" spc="-1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수율</a:t>
                      </a:r>
                      <a:r>
                        <a:rPr kumimoji="1" lang="ko-KR" altLang="en-US" sz="1000" b="1" i="0" u="none" strike="noStrike" kern="1200" cap="none" spc="-1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 개선 및 수동 개입 최소화</a:t>
                      </a: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72000" marR="0" lvl="0" indent="-720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1000" b="1" kern="1200" spc="-60" baseline="0" noProof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NFF </a:t>
                      </a:r>
                      <a:r>
                        <a:rPr kumimoji="1" lang="ko-KR" altLang="en-US" sz="1000" b="1" kern="1200" spc="-60" baseline="0" noProof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전극 수율 개선</a:t>
                      </a:r>
                      <a:br>
                        <a:rPr kumimoji="1" lang="ko-KR" altLang="en-US" sz="1000" b="1" kern="1200" spc="-60" baseline="0" noProof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1000" b="1" kern="1200" spc="-60" baseline="0" noProof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Q : </a:t>
                      </a:r>
                      <a:r>
                        <a:rPr kumimoji="1" lang="ko-KR" altLang="en-US" sz="1000" b="1" kern="1200" spc="-60" baseline="0" noProof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전극 수율 </a:t>
                      </a:r>
                      <a:r>
                        <a:rPr kumimoji="1" lang="en-US" altLang="ko-KR" sz="1000" b="1" kern="1200" spc="-60" baseline="0" noProof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98.8% </a:t>
                      </a:r>
                      <a:r>
                        <a:rPr kumimoji="1" lang="ko-KR" altLang="en-US" sz="1000" b="1" kern="1200" spc="-60" baseline="0" noProof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</a:t>
                      </a:r>
                      <a:br>
                        <a:rPr kumimoji="1" lang="en-US" altLang="ko-KR" sz="1000" b="1" kern="1200" spc="-60" baseline="0" noProof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1000" b="1" kern="1200" spc="-60" baseline="0" noProof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      </a:t>
                      </a:r>
                      <a:r>
                        <a:rPr kumimoji="1" lang="ko-KR" altLang="en-US" sz="1000" b="1" kern="1200" spc="-60" baseline="0" noProof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수동 보정 횟수 </a:t>
                      </a:r>
                      <a:r>
                        <a:rPr kumimoji="1" lang="en-US" altLang="ko-KR" sz="1000" b="1" kern="1200" spc="-60" baseline="0" noProof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60% </a:t>
                      </a:r>
                      <a:r>
                        <a:rPr kumimoji="1" lang="ko-KR" altLang="en-US" sz="1000" b="1" kern="1200" spc="-60" baseline="0" noProof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 저감</a:t>
                      </a:r>
                      <a:br>
                        <a:rPr kumimoji="1" lang="ko-KR" altLang="en-US" sz="1000" b="1" kern="1200" spc="-60" baseline="0" noProof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1000" b="1" kern="1200" spc="-60" baseline="0" noProof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D : ’26.12</a:t>
                      </a:r>
                      <a:r>
                        <a:rPr kumimoji="1" lang="ko-KR" altLang="en-US" sz="1000" b="1" kern="1200" spc="-60" baseline="0" noProof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월 </a:t>
                      </a:r>
                      <a:r>
                        <a:rPr kumimoji="1" lang="en-US" altLang="ko-KR" sz="1000" b="1" kern="1200" spc="-60" baseline="0" noProof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1" lang="ko-KR" altLang="en-US" sz="1000" b="1" kern="1200" spc="-60" baseline="0" noProof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누적</a:t>
                      </a:r>
                      <a:r>
                        <a:rPr kumimoji="1" lang="en-US" altLang="ko-KR" sz="1000" b="1" kern="1200" spc="-60" baseline="0" noProof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 </a:t>
                      </a: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altLang="ko-KR" sz="1000" b="1" i="0" u="none" strike="noStrike" spc="-1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5%</a:t>
                      </a:r>
                    </a:p>
                  </a:txBody>
                  <a:tcPr marL="3600" marR="3600" marT="10800" marB="108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Q: 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전극 </a:t>
                      </a:r>
                      <a:r>
                        <a:rPr kumimoji="0" lang="ko-KR" altLang="en-US" sz="1000" b="0" i="0" u="none" strike="noStrike" kern="1200" cap="none" spc="-8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</a:t>
                      </a: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99.0% 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</a:t>
                      </a: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수동 보정 횟수 </a:t>
                      </a: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80% 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 저감</a:t>
                      </a:r>
                      <a:endParaRPr kumimoji="0" lang="en-US" altLang="ko-KR" sz="10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8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Q: </a:t>
                      </a:r>
                      <a:r>
                        <a:rPr kumimoji="0" lang="ko-KR" altLang="en-US" sz="1000" b="0" i="0" u="none" strike="noStrike" kern="1200" cap="none" spc="-8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전극 </a:t>
                      </a:r>
                      <a:r>
                        <a:rPr kumimoji="0" lang="ko-KR" altLang="en-US" sz="1000" b="0" i="0" u="none" strike="noStrike" kern="1200" cap="none" spc="-80" normalizeH="0" baseline="0" noProof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kumimoji="0" lang="ko-KR" altLang="en-US" sz="1000" b="0" i="0" u="none" strike="noStrike" kern="1200" cap="none" spc="-8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1000" b="0" i="0" u="none" strike="noStrike" kern="1200" cap="none" spc="-8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98.9% </a:t>
                      </a:r>
                      <a:r>
                        <a:rPr kumimoji="0" lang="ko-KR" altLang="en-US" sz="1000" b="0" i="0" u="none" strike="noStrike" kern="1200" cap="none" spc="-8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</a:t>
                      </a:r>
                      <a:r>
                        <a:rPr kumimoji="0" lang="en-US" altLang="ko-KR" sz="1000" b="0" i="0" u="none" strike="noStrike" kern="1200" cap="none" spc="-8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</a:t>
                      </a:r>
                      <a:r>
                        <a:rPr kumimoji="0" lang="ko-KR" altLang="en-US" sz="1000" b="0" i="0" u="none" strike="noStrike" kern="1200" cap="none" spc="-8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수동 보정 횟수 </a:t>
                      </a:r>
                      <a:r>
                        <a:rPr kumimoji="0" lang="en-US" altLang="ko-KR" sz="1000" b="0" i="0" u="none" strike="noStrike" kern="1200" cap="none" spc="-8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70% </a:t>
                      </a:r>
                      <a:r>
                        <a:rPr kumimoji="0" lang="ko-KR" altLang="en-US" sz="1000" b="0" i="0" u="none" strike="noStrike" kern="1200" cap="none" spc="-8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 저감</a:t>
                      </a:r>
                      <a:endParaRPr kumimoji="0" lang="en-US" altLang="ko-KR" sz="1000" b="0" i="0" u="none" strike="noStrike" kern="1200" cap="none" spc="-8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8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Q: </a:t>
                      </a:r>
                      <a:r>
                        <a:rPr kumimoji="0" lang="ko-KR" altLang="en-US" sz="1000" b="0" i="0" u="none" strike="noStrike" kern="1200" cap="none" spc="-8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전극 </a:t>
                      </a:r>
                      <a:r>
                        <a:rPr kumimoji="0" lang="ko-KR" altLang="en-US" sz="1000" b="0" i="0" u="none" strike="noStrike" kern="1200" cap="none" spc="-80" normalizeH="0" baseline="0" noProof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kumimoji="0" lang="ko-KR" altLang="en-US" sz="1000" b="0" i="0" u="none" strike="noStrike" kern="1200" cap="none" spc="-8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1000" b="0" i="0" u="none" strike="noStrike" kern="1200" cap="none" spc="-8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98.8% </a:t>
                      </a:r>
                      <a:r>
                        <a:rPr kumimoji="0" lang="ko-KR" altLang="en-US" sz="1000" b="0" i="0" u="none" strike="noStrike" kern="1200" cap="none" spc="-8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</a:t>
                      </a:r>
                      <a:r>
                        <a:rPr kumimoji="0" lang="en-US" altLang="ko-KR" sz="1000" b="0" i="0" u="none" strike="noStrike" kern="1200" cap="none" spc="-8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</a:t>
                      </a:r>
                      <a:r>
                        <a:rPr kumimoji="0" lang="ko-KR" altLang="en-US" sz="1000" b="0" i="0" u="none" strike="noStrike" kern="1200" cap="none" spc="-8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수동 보정 횟수 </a:t>
                      </a:r>
                      <a:r>
                        <a:rPr kumimoji="0" lang="en-US" altLang="ko-KR" sz="1000" b="0" i="0" u="none" strike="noStrike" kern="1200" cap="none" spc="-8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60% </a:t>
                      </a:r>
                      <a:r>
                        <a:rPr kumimoji="0" lang="ko-KR" altLang="en-US" sz="1000" b="0" i="0" u="none" strike="noStrike" kern="1200" cap="none" spc="-8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 저감</a:t>
                      </a:r>
                      <a:endParaRPr kumimoji="0" lang="en-US" altLang="ko-KR" sz="1000" b="0" i="0" u="none" strike="noStrike" kern="1200" cap="none" spc="-8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0" marT="0" marB="0" anchor="ctr">
                    <a:lnL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8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Q: </a:t>
                      </a:r>
                      <a:r>
                        <a:rPr kumimoji="0" lang="ko-KR" altLang="en-US" sz="1000" b="0" i="0" u="none" strike="noStrike" kern="1200" cap="none" spc="-8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전극 </a:t>
                      </a:r>
                      <a:r>
                        <a:rPr kumimoji="0" lang="ko-KR" altLang="en-US" sz="1000" b="0" i="0" u="none" strike="noStrike" kern="1200" cap="none" spc="-80" normalizeH="0" baseline="0" noProof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kumimoji="0" lang="ko-KR" altLang="en-US" sz="1000" b="0" i="0" u="none" strike="noStrike" kern="1200" cap="none" spc="-8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1000" b="0" i="0" u="none" strike="noStrike" kern="1200" cap="none" spc="-8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98.5% </a:t>
                      </a:r>
                      <a:r>
                        <a:rPr kumimoji="0" lang="ko-KR" altLang="en-US" sz="1000" b="0" i="0" u="none" strike="noStrike" kern="1200" cap="none" spc="-8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</a:t>
                      </a:r>
                      <a:r>
                        <a:rPr kumimoji="0" lang="en-US" altLang="ko-KR" sz="1000" b="0" i="0" u="none" strike="noStrike" kern="1200" cap="none" spc="-8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</a:t>
                      </a:r>
                      <a:r>
                        <a:rPr kumimoji="0" lang="ko-KR" altLang="en-US" sz="1000" b="0" i="0" u="none" strike="noStrike" kern="1200" cap="none" spc="-8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수동 보정 횟수 </a:t>
                      </a:r>
                      <a:r>
                        <a:rPr kumimoji="0" lang="en-US" altLang="ko-KR" sz="1000" b="0" i="0" u="none" strike="noStrike" kern="1200" cap="none" spc="-8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50% </a:t>
                      </a:r>
                      <a:r>
                        <a:rPr kumimoji="0" lang="ko-KR" altLang="en-US" sz="1000" b="0" i="0" u="none" strike="noStrike" kern="1200" cap="none" spc="-8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 저감</a:t>
                      </a:r>
                    </a:p>
                  </a:txBody>
                  <a:tcPr marL="18000" marR="0" marT="0" marB="0" anchor="ctr">
                    <a:lnL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8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Q: </a:t>
                      </a:r>
                      <a:r>
                        <a:rPr kumimoji="0" lang="ko-KR" altLang="en-US" sz="1000" b="0" i="0" u="none" strike="noStrike" kern="1200" cap="none" spc="-8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전극 </a:t>
                      </a:r>
                      <a:r>
                        <a:rPr kumimoji="0" lang="ko-KR" altLang="en-US" sz="1000" b="0" i="0" u="none" strike="noStrike" kern="1200" cap="none" spc="-80" normalizeH="0" baseline="0" noProof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kumimoji="0" lang="ko-KR" altLang="en-US" sz="1000" b="0" i="0" u="none" strike="noStrike" kern="1200" cap="none" spc="-8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1000" b="0" i="0" u="none" strike="noStrike" kern="1200" cap="none" spc="-8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98.5% </a:t>
                      </a:r>
                      <a:r>
                        <a:rPr kumimoji="0" lang="ko-KR" altLang="en-US" sz="1000" b="0" i="0" u="none" strike="noStrike" kern="1200" cap="none" spc="-8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미만</a:t>
                      </a:r>
                      <a:r>
                        <a:rPr kumimoji="0" lang="en-US" altLang="ko-KR" sz="1000" b="0" i="0" u="none" strike="noStrike" kern="1200" cap="none" spc="-8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</a:t>
                      </a:r>
                      <a:r>
                        <a:rPr kumimoji="0" lang="ko-KR" altLang="en-US" sz="1000" b="0" i="0" u="none" strike="noStrike" kern="1200" cap="none" spc="-8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수동 보정 횟수 </a:t>
                      </a:r>
                      <a:r>
                        <a:rPr kumimoji="0" lang="en-US" altLang="ko-KR" sz="1000" b="0" i="0" u="none" strike="noStrike" kern="1200" cap="none" spc="-8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50% </a:t>
                      </a:r>
                      <a:r>
                        <a:rPr kumimoji="0" lang="ko-KR" altLang="en-US" sz="1000" b="0" i="0" u="none" strike="noStrike" kern="1200" cap="none" spc="-8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미만 저감</a:t>
                      </a:r>
                    </a:p>
                  </a:txBody>
                  <a:tcPr marL="18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72000" marR="0" lvl="0" indent="-7200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10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7898895"/>
                  </a:ext>
                </a:extLst>
              </a:tr>
              <a:tr h="529220">
                <a:tc>
                  <a:txBody>
                    <a:bodyPr/>
                    <a:lstStyle/>
                    <a:p>
                      <a:pPr marL="92075" indent="-92075" algn="l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SzPct val="100000"/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1" kern="1200" spc="-1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셀 공정 자동보정 </a:t>
                      </a:r>
                      <a:r>
                        <a:rPr lang="en-US" altLang="ko-KR" sz="1000" b="1" kern="1200" spc="-1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Coverage </a:t>
                      </a:r>
                      <a:r>
                        <a:rPr lang="ko-KR" altLang="en-US" sz="1000" b="1" kern="1200" spc="-1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확대를 통한 불량 개선</a:t>
                      </a: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prstClr val="black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1000" b="1" kern="1200" spc="-60" baseline="0" noProof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NFF </a:t>
                      </a:r>
                      <a:r>
                        <a:rPr kumimoji="1" lang="ko-KR" altLang="en-US" sz="1000" b="1" kern="1200" spc="-60" baseline="0" noProof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셀 수율 개선</a:t>
                      </a:r>
                      <a:br>
                        <a:rPr kumimoji="1" lang="en-US" altLang="ko-KR" sz="1000" b="1" kern="1200" spc="-60" baseline="0" noProof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1000" b="1" kern="1200" spc="-60" baseline="0" noProof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Q: </a:t>
                      </a:r>
                      <a:r>
                        <a:rPr kumimoji="1" lang="ko-KR" altLang="en-US" sz="1000" b="1" kern="1200" spc="-60" baseline="0" noProof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셀 수율 </a:t>
                      </a:r>
                      <a:r>
                        <a:rPr kumimoji="1" lang="en-US" altLang="ko-KR" sz="1000" b="1" kern="1200" spc="-60" baseline="0" noProof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97.7% </a:t>
                      </a:r>
                      <a:r>
                        <a:rPr kumimoji="1" lang="ko-KR" altLang="en-US" sz="1000" b="1" kern="1200" spc="-60" baseline="0" noProof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</a:t>
                      </a:r>
                      <a:br>
                        <a:rPr kumimoji="1" lang="en-US" altLang="ko-KR" sz="1000" b="1" kern="1200" spc="-60" baseline="0" noProof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1000" b="1" kern="1200" spc="-60" baseline="0" noProof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D: </a:t>
                      </a:r>
                      <a:r>
                        <a:rPr kumimoji="1" lang="en-US" altLang="ko-KR" sz="1000" b="1" kern="1200" spc="-6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‘26.12</a:t>
                      </a:r>
                      <a:r>
                        <a:rPr kumimoji="1" lang="ko-KR" altLang="en-US" sz="1000" b="1" kern="1200" spc="-6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월</a:t>
                      </a:r>
                      <a:r>
                        <a:rPr kumimoji="1" lang="en-US" altLang="ko-KR" sz="1000" b="1" kern="1200" spc="-60" baseline="0" noProof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(</a:t>
                      </a:r>
                      <a:r>
                        <a:rPr kumimoji="1" lang="ko-KR" altLang="en-US" sz="1000" b="1" kern="1200" spc="-60" baseline="0" noProof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누적</a:t>
                      </a:r>
                      <a:r>
                        <a:rPr kumimoji="1" lang="en-US" altLang="ko-KR" sz="1000" b="1" kern="1200" spc="-60" baseline="0" noProof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altLang="ko-KR" sz="1000" b="1" i="0" u="none" strike="noStrike" spc="-1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5%</a:t>
                      </a:r>
                    </a:p>
                  </a:txBody>
                  <a:tcPr marL="3600" marR="3600" marT="10800" marB="108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8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Q: </a:t>
                      </a:r>
                      <a:r>
                        <a:rPr kumimoji="0" lang="ko-KR" altLang="en-US" sz="1000" b="0" i="0" u="none" strike="noStrike" kern="1200" cap="none" spc="-8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셀 </a:t>
                      </a:r>
                      <a:r>
                        <a:rPr kumimoji="0" lang="ko-KR" altLang="en-US" sz="1000" b="0" i="0" u="none" strike="noStrike" kern="1200" cap="none" spc="-80" normalizeH="0" baseline="0" noProof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kumimoji="0" lang="ko-KR" altLang="en-US" sz="1000" b="0" i="0" u="none" strike="noStrike" kern="1200" cap="none" spc="-8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1000" b="0" i="0" u="none" strike="noStrike" kern="1200" cap="none" spc="-8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98.2%  </a:t>
                      </a:r>
                      <a:r>
                        <a:rPr kumimoji="0" lang="ko-KR" altLang="en-US" sz="1000" b="0" i="0" u="none" strike="noStrike" kern="1200" cap="none" spc="-8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</a:t>
                      </a:r>
                      <a:endParaRPr kumimoji="0" lang="en-US" altLang="ko-KR" sz="1000" b="0" i="0" u="none" strike="noStrike" kern="1200" cap="none" spc="-8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0" marT="54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8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Q: </a:t>
                      </a:r>
                      <a:r>
                        <a:rPr kumimoji="0" lang="ko-KR" altLang="en-US" sz="1000" b="0" i="0" u="none" strike="noStrike" kern="1200" cap="none" spc="-8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셀 </a:t>
                      </a:r>
                      <a:r>
                        <a:rPr kumimoji="0" lang="ko-KR" altLang="en-US" sz="1000" b="0" i="0" u="none" strike="noStrike" kern="1200" cap="none" spc="-80" normalizeH="0" baseline="0" noProof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kumimoji="0" lang="ko-KR" altLang="en-US" sz="1000" b="0" i="0" u="none" strike="noStrike" kern="1200" cap="none" spc="-8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1000" b="0" i="0" u="none" strike="noStrike" kern="1200" cap="none" spc="-8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97.9% </a:t>
                      </a:r>
                      <a:r>
                        <a:rPr kumimoji="0" lang="ko-KR" altLang="en-US" sz="1000" b="0" i="0" u="none" strike="noStrike" kern="1200" cap="none" spc="-8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</a:t>
                      </a:r>
                      <a:endParaRPr kumimoji="0" lang="en-US" altLang="ko-KR" sz="1000" b="0" i="0" u="none" strike="noStrike" kern="1200" cap="none" spc="-8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0" marT="54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8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Q: </a:t>
                      </a:r>
                      <a:r>
                        <a:rPr kumimoji="0" lang="ko-KR" altLang="en-US" sz="1000" b="0" i="0" u="none" strike="noStrike" kern="1200" cap="none" spc="-8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셀 </a:t>
                      </a:r>
                      <a:r>
                        <a:rPr kumimoji="0" lang="ko-KR" altLang="en-US" sz="1000" b="0" i="0" u="none" strike="noStrike" kern="1200" cap="none" spc="-80" normalizeH="0" baseline="0" noProof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kumimoji="0" lang="ko-KR" altLang="en-US" sz="1000" b="0" i="0" u="none" strike="noStrike" kern="1200" cap="none" spc="-8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1000" b="0" i="0" u="none" strike="noStrike" kern="1200" cap="none" spc="-8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97.7%  </a:t>
                      </a:r>
                      <a:r>
                        <a:rPr kumimoji="0" lang="ko-KR" altLang="en-US" sz="1000" b="0" i="0" u="none" strike="noStrike" kern="1200" cap="none" spc="-8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</a:t>
                      </a:r>
                      <a:endParaRPr kumimoji="0" lang="en-US" altLang="ko-KR" sz="1000" b="0" i="0" u="none" strike="noStrike" kern="1200" cap="none" spc="-8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0" marT="54000" marB="36000" anchor="ctr">
                    <a:lnL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8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Q: </a:t>
                      </a:r>
                      <a:r>
                        <a:rPr kumimoji="0" lang="ko-KR" altLang="en-US" sz="1000" b="0" i="0" u="none" strike="noStrike" kern="1200" cap="none" spc="-8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셀 </a:t>
                      </a:r>
                      <a:r>
                        <a:rPr kumimoji="0" lang="ko-KR" altLang="en-US" sz="1000" b="0" i="0" u="none" strike="noStrike" kern="1200" cap="none" spc="-80" normalizeH="0" baseline="0" noProof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kumimoji="0" lang="ko-KR" altLang="en-US" sz="1000" b="0" i="0" u="none" strike="noStrike" kern="1200" cap="none" spc="-8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1000" b="0" i="0" u="none" strike="noStrike" kern="1200" cap="none" spc="-8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97.2%  </a:t>
                      </a:r>
                      <a:r>
                        <a:rPr kumimoji="0" lang="ko-KR" altLang="en-US" sz="1000" b="0" i="0" u="none" strike="noStrike" kern="1200" cap="none" spc="-8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</a:t>
                      </a:r>
                      <a:endParaRPr kumimoji="0" lang="en-US" altLang="ko-KR" sz="1000" b="0" i="0" u="none" strike="noStrike" kern="1200" cap="none" spc="-8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0" marT="54000" marB="36000" anchor="ctr">
                    <a:lnL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8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Q: </a:t>
                      </a:r>
                      <a:r>
                        <a:rPr kumimoji="0" lang="ko-KR" altLang="en-US" sz="1000" b="0" i="0" u="none" strike="noStrike" kern="1200" cap="none" spc="-8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셀 </a:t>
                      </a:r>
                      <a:r>
                        <a:rPr kumimoji="0" lang="ko-KR" altLang="en-US" sz="1000" b="0" i="0" u="none" strike="noStrike" kern="1200" cap="none" spc="-80" normalizeH="0" baseline="0" noProof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kumimoji="0" lang="ko-KR" altLang="en-US" sz="1000" b="0" i="0" u="none" strike="noStrike" kern="1200" cap="none" spc="-8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1000" b="0" i="0" u="none" strike="noStrike" kern="1200" cap="none" spc="-8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97.2%  </a:t>
                      </a:r>
                      <a:r>
                        <a:rPr kumimoji="0" lang="ko-KR" altLang="en-US" sz="1000" b="0" i="0" u="none" strike="noStrike" kern="1200" cap="none" spc="-8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미만</a:t>
                      </a:r>
                    </a:p>
                  </a:txBody>
                  <a:tcPr marL="18000" marR="0" marT="54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2475724"/>
                  </a:ext>
                </a:extLst>
              </a:tr>
              <a:tr h="753253">
                <a:tc>
                  <a:txBody>
                    <a:bodyPr/>
                    <a:lstStyle/>
                    <a:p>
                      <a:pPr marL="92075" indent="-92075" algn="l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SzPct val="100000"/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b="1" kern="1200" spc="-10" baseline="0" dirty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ESS </a:t>
                      </a:r>
                      <a:r>
                        <a:rPr lang="ko-KR" altLang="en-US" sz="1000" b="1" kern="1200" spc="-10" baseline="0" dirty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증산을 위한</a:t>
                      </a:r>
                      <a:br>
                        <a:rPr lang="ko-KR" altLang="en-US" sz="1000" b="1" kern="1200" spc="-10" baseline="0" dirty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</a:br>
                      <a:r>
                        <a:rPr lang="ko-KR" altLang="en-US" sz="1000" b="1" kern="1200" spc="-10" baseline="0" dirty="0" err="1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코터</a:t>
                      </a:r>
                      <a:r>
                        <a:rPr lang="ko-KR" altLang="en-US" sz="1000" b="1" kern="1200" spc="-10" baseline="0" dirty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 자동보정 고도화</a:t>
                      </a: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72000" marR="0" lvl="0" indent="-720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1000" b="1" kern="1200" spc="-6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Q : </a:t>
                      </a:r>
                      <a:r>
                        <a:rPr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설비부동 후 재가동   </a:t>
                      </a:r>
                      <a:br>
                        <a:rPr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</a:br>
                      <a:r>
                        <a:rPr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 </a:t>
                      </a:r>
                      <a:r>
                        <a:rPr lang="ko-KR" altLang="en-US" sz="1000" b="1" spc="-30" dirty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rPr>
                        <a:t>불량 </a:t>
                      </a:r>
                      <a:r>
                        <a:rPr lang="en-US" altLang="ko-KR" sz="1000" b="1" spc="-30" dirty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rPr>
                        <a:t>20% </a:t>
                      </a:r>
                      <a:r>
                        <a:rPr lang="ko-KR" altLang="en-US" sz="1000" b="1" spc="-30" dirty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rPr>
                        <a:t>이상 개선</a:t>
                      </a:r>
                      <a:br>
                        <a:rPr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</a:br>
                      <a:r>
                        <a:rPr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: </a:t>
                      </a:r>
                      <a:r>
                        <a:rPr lang="en-US" altLang="ko-KR" sz="10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ESS JF2 </a:t>
                      </a:r>
                      <a:r>
                        <a:rPr lang="ko-KR" altLang="en-US" sz="10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생산법인 </a:t>
                      </a:r>
                      <a:r>
                        <a:rPr lang="en-US" altLang="ko-KR" sz="10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5</a:t>
                      </a:r>
                      <a:r>
                        <a:rPr lang="ko-KR" altLang="en-US" sz="10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개  적용 완료</a:t>
                      </a:r>
                      <a:endParaRPr lang="en-US" altLang="ko-KR" sz="1000" b="1" i="0" u="none" strike="noStrike" kern="1200" cap="none" spc="-5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/>
                        <a:ea typeface="LG스마트체 Regular"/>
                        <a:cs typeface="Arial"/>
                      </a:endParaRPr>
                    </a:p>
                    <a:p>
                      <a:pPr marL="72000" indent="-720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SzPct val="80000"/>
                        <a:buFont typeface="Arial" panose="020B0604020202020204" pitchFamily="34" charset="0"/>
                        <a:buChar char="•"/>
                      </a:pPr>
                      <a:r>
                        <a:rPr kumimoji="1" lang="en-US" altLang="ko-KR" sz="1000" b="1" kern="1200" spc="-6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 : ’26.4Q</a:t>
                      </a: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altLang="ko-KR" sz="1000" b="1" i="0" u="none" strike="noStrike" spc="-1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10%</a:t>
                      </a:r>
                    </a:p>
                  </a:txBody>
                  <a:tcPr marL="3600" marR="3600" marT="10800" marB="108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Q: 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설비부동 후 재가동 불량 </a:t>
                      </a: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30% 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 개선</a:t>
                      </a: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,</a:t>
                      </a:r>
                      <a:b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ESS JF2 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생산법인 </a:t>
                      </a: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5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 적용 완료 </a:t>
                      </a:r>
                      <a:endParaRPr kumimoji="0" lang="en-US" altLang="ko-KR" sz="10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0" marT="54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Q: 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설비부동 후 재가동 불량 </a:t>
                      </a: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25% 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 개선</a:t>
                      </a: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</a:t>
                      </a:r>
                      <a:b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ESS JF2 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생산법인 </a:t>
                      </a: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5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 적용 완료 </a:t>
                      </a:r>
                    </a:p>
                  </a:txBody>
                  <a:tcPr marL="18000" marR="0" marT="54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Q: 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설비부동 후 재가동 불량 </a:t>
                      </a: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20% 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 개선</a:t>
                      </a: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</a:t>
                      </a:r>
                      <a:b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ESS JF2 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생산법인 </a:t>
                      </a: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5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 적용 완료</a:t>
                      </a:r>
                      <a:endParaRPr kumimoji="0" lang="en-US" altLang="ko-KR" sz="10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0" marT="54000" marB="36000" anchor="ctr">
                    <a:lnL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Q  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설비부동 후 재가동 불량 </a:t>
                      </a: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10% 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 개선</a:t>
                      </a:r>
                      <a:b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ESS JF2 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생산법인 </a:t>
                      </a: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4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 적용 완료</a:t>
                      </a:r>
                    </a:p>
                  </a:txBody>
                  <a:tcPr marL="18000" marR="0" marT="54000" marB="36000" anchor="ctr">
                    <a:lnL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Q: 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설비부동 후 재가동 불량 </a:t>
                      </a: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10% 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미만 개선</a:t>
                      </a: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</a:t>
                      </a:r>
                      <a:b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ESS JF2 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생산법인 </a:t>
                      </a: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3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 적용 완료</a:t>
                      </a:r>
                    </a:p>
                  </a:txBody>
                  <a:tcPr marL="18000" marR="0" marT="54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864238"/>
                  </a:ext>
                </a:extLst>
              </a:tr>
              <a:tr h="332059">
                <a:tc>
                  <a:txBody>
                    <a:bodyPr/>
                    <a:lstStyle/>
                    <a:p>
                      <a:pPr marL="92075" marR="0" lvl="0" indent="-92075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1" kern="1200" spc="-1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자동보정을 활용한 재료비 절감​</a:t>
                      </a: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71755" marR="0" lvl="0" indent="-71755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1000" b="1" kern="1200" spc="-6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Q : </a:t>
                      </a:r>
                      <a:r>
                        <a:rPr kumimoji="1" lang="ko-KR" altLang="en-US" sz="1000" b="1" kern="1200" spc="-6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원가 절감 </a:t>
                      </a:r>
                      <a:r>
                        <a:rPr kumimoji="1" lang="en-US" altLang="ko-KR" sz="1000" b="1" kern="1200" spc="-6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15</a:t>
                      </a:r>
                      <a:r>
                        <a:rPr kumimoji="1" lang="ko-KR" altLang="en-US" sz="1000" b="1" kern="1200" spc="-6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억원</a:t>
                      </a:r>
                      <a:endParaRPr kumimoji="1" lang="en-US" altLang="ko-KR" sz="1000" b="1" kern="1200" spc="-60" baseline="0" noProof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71755" marR="0" lvl="0" indent="-71755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1000" b="1" kern="1200" spc="-6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 : ‘26.12</a:t>
                      </a:r>
                      <a:r>
                        <a:rPr kumimoji="1" lang="ko-KR" altLang="en-US" sz="1000" b="1" kern="1200" spc="-6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월</a:t>
                      </a:r>
                      <a:endParaRPr kumimoji="1" lang="en-US" altLang="ko-KR" sz="1000" b="1" kern="1200" spc="-60" baseline="0" noProof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altLang="ko-KR" sz="1000" b="1" i="0" u="none" strike="noStrike" spc="-1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10%</a:t>
                      </a:r>
                    </a:p>
                  </a:txBody>
                  <a:tcPr marL="3600" marR="3600" marT="10800" marB="108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Q : 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원가 절감 </a:t>
                      </a: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25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억원</a:t>
                      </a: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spc="-5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Q : </a:t>
                      </a:r>
                      <a:r>
                        <a:rPr kumimoji="1" lang="ko-KR" altLang="en-US" sz="1000" b="0" i="0" u="none" strike="noStrike" kern="1200" cap="none" spc="-5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원가 절감 </a:t>
                      </a:r>
                      <a:r>
                        <a:rPr kumimoji="1" lang="en-US" altLang="ko-KR" sz="1000" b="0" i="0" u="none" strike="noStrike" kern="1200" cap="none" spc="-5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20</a:t>
                      </a:r>
                      <a:r>
                        <a:rPr kumimoji="1" lang="ko-KR" altLang="en-US" sz="1000" b="0" i="0" u="none" strike="noStrike" kern="1200" cap="none" spc="-5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억원</a:t>
                      </a: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spc="-5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Q : </a:t>
                      </a:r>
                      <a:r>
                        <a:rPr kumimoji="1" lang="ko-KR" altLang="en-US" sz="1000" b="0" i="0" u="none" strike="noStrike" kern="1200" cap="none" spc="-5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원가 절감 </a:t>
                      </a:r>
                      <a:r>
                        <a:rPr kumimoji="1" lang="en-US" altLang="ko-KR" sz="1000" b="0" i="0" u="none" strike="noStrike" kern="1200" cap="none" spc="-5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15</a:t>
                      </a:r>
                      <a:r>
                        <a:rPr kumimoji="1" lang="ko-KR" altLang="en-US" sz="1000" b="0" i="0" u="none" strike="noStrike" kern="1200" cap="none" spc="-5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억원</a:t>
                      </a:r>
                    </a:p>
                  </a:txBody>
                  <a:tcPr marL="36000" marR="0" marT="0" marB="0" anchor="ctr">
                    <a:lnL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spc="-5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Q : </a:t>
                      </a:r>
                      <a:r>
                        <a:rPr kumimoji="1" lang="ko-KR" altLang="en-US" sz="1000" b="0" i="0" u="none" strike="noStrike" kern="1200" cap="none" spc="-5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원가 절감 </a:t>
                      </a:r>
                      <a:r>
                        <a:rPr kumimoji="1" lang="en-US" altLang="ko-KR" sz="1000" b="0" i="0" u="none" strike="noStrike" kern="1200" cap="none" spc="-5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10</a:t>
                      </a:r>
                      <a:r>
                        <a:rPr kumimoji="1" lang="ko-KR" altLang="en-US" sz="1000" b="0" i="0" u="none" strike="noStrike" kern="1200" cap="none" spc="-5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억원</a:t>
                      </a:r>
                    </a:p>
                  </a:txBody>
                  <a:tcPr marL="36000" marR="0" marT="0" marB="0" anchor="ctr">
                    <a:lnL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spc="-5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Q : </a:t>
                      </a:r>
                      <a:r>
                        <a:rPr kumimoji="1" lang="ko-KR" altLang="en-US" sz="1000" b="0" i="0" u="none" strike="noStrike" kern="1200" cap="none" spc="-5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원가 절감 </a:t>
                      </a:r>
                      <a:r>
                        <a:rPr kumimoji="1" lang="en-US" altLang="ko-KR" sz="1000" b="0" i="0" u="none" strike="noStrike" kern="1200" cap="none" spc="-5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10</a:t>
                      </a:r>
                      <a:r>
                        <a:rPr kumimoji="1" lang="ko-KR" altLang="en-US" sz="1000" b="0" i="0" u="none" strike="noStrike" kern="1200" cap="none" spc="-5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억원 </a:t>
                      </a:r>
                      <a:br>
                        <a:rPr kumimoji="1" lang="en-US" altLang="ko-KR" sz="1000" b="0" i="0" u="none" strike="noStrike" kern="1200" cap="none" spc="-5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1000" b="0" i="0" u="none" strike="noStrike" kern="1200" cap="none" spc="-5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  </a:t>
                      </a:r>
                      <a:r>
                        <a:rPr kumimoji="1" lang="ko-KR" altLang="en-US" sz="1000" b="0" i="0" u="none" strike="noStrike" kern="1200" cap="none" spc="-5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미만</a:t>
                      </a: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4802774"/>
                  </a:ext>
                </a:extLst>
              </a:tr>
              <a:tr h="628900">
                <a:tc>
                  <a:txBody>
                    <a:bodyPr/>
                    <a:lstStyle/>
                    <a:p>
                      <a:pPr marL="92075" marR="0" lvl="0" indent="-92075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Pct val="10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1" kern="1200" spc="-1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차세대 다이 자동보정 기술 개발</a:t>
                      </a: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71755" marR="0" lvl="0" indent="-71755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1000" b="1" kern="1200" spc="-6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Q : </a:t>
                      </a:r>
                      <a:r>
                        <a:rPr kumimoji="1" lang="ko-KR" altLang="en-US" sz="1000" b="1" kern="1200" spc="-60" baseline="0" noProof="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초크바</a:t>
                      </a:r>
                      <a:r>
                        <a:rPr kumimoji="1" lang="ko-KR" altLang="en-US" sz="1000" b="1" kern="1200" spc="-6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다이</a:t>
                      </a:r>
                      <a:r>
                        <a:rPr kumimoji="1" lang="en-US" altLang="ko-KR" sz="1000" b="1" kern="1200" spc="-6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1" lang="ko-KR" altLang="en-US" sz="1000" b="1" kern="1200" spc="-6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로딩 </a:t>
                      </a:r>
                      <a:r>
                        <a:rPr kumimoji="1" lang="en-US" altLang="ko-KR" sz="1000" b="1" kern="1200" spc="-60" baseline="0" noProof="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Cpk</a:t>
                      </a:r>
                      <a:r>
                        <a:rPr kumimoji="1" lang="en-US" altLang="ko-KR" sz="1000" b="1" kern="1200" spc="-6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2.5 </a:t>
                      </a:r>
                      <a:r>
                        <a:rPr kumimoji="1" lang="ko-KR" altLang="en-US" sz="1000" b="1" kern="1200" spc="-6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</a:t>
                      </a:r>
                      <a:br>
                        <a:rPr kumimoji="1" lang="en-US" altLang="ko-KR" sz="1000" b="1" kern="1200" spc="-6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1000" b="1" kern="1200" spc="-6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                             , RP </a:t>
                      </a:r>
                      <a:r>
                        <a:rPr kumimoji="1" lang="ko-KR" altLang="en-US" sz="1000" b="1" kern="1200" spc="-6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단선 </a:t>
                      </a:r>
                      <a:r>
                        <a:rPr kumimoji="1" lang="en-US" altLang="ko-KR" sz="1000" b="1" kern="1200" spc="-6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20% </a:t>
                      </a:r>
                      <a:r>
                        <a:rPr kumimoji="1" lang="ko-KR" altLang="en-US" sz="1000" b="1" kern="1200" spc="-6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</a:t>
                      </a:r>
                      <a:r>
                        <a:rPr kumimoji="1" lang="en-US" altLang="ko-KR" sz="1000" b="1" kern="1200" spc="-6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1" lang="ko-KR" altLang="en-US" sz="1000" b="1" kern="1200" spc="-6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</a:t>
                      </a:r>
                      <a:r>
                        <a:rPr kumimoji="1" lang="en-US" altLang="ko-KR" sz="1000" b="1" kern="1200" spc="-6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  <a:br>
                        <a:rPr kumimoji="1" lang="en-US" altLang="ko-KR" sz="1000" b="1" kern="1200" spc="-6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1000" b="1" kern="1200" spc="-6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   </a:t>
                      </a:r>
                      <a:r>
                        <a:rPr kumimoji="1" lang="ko-KR" altLang="en-US" sz="1000" b="1" kern="1200" spc="-6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분할 다이</a:t>
                      </a:r>
                      <a:r>
                        <a:rPr kumimoji="1" lang="en-US" altLang="ko-KR" sz="1000" b="1" kern="1200" spc="-6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1" lang="ko-KR" altLang="en-US" sz="1000" b="1" kern="1200" spc="-6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미스매치 </a:t>
                      </a:r>
                      <a:r>
                        <a:rPr kumimoji="1" lang="en-US" altLang="ko-KR" sz="1000" b="1" kern="1200" spc="-60" baseline="0" noProof="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Cpk</a:t>
                      </a:r>
                      <a:r>
                        <a:rPr kumimoji="1" lang="en-US" altLang="ko-KR" sz="1000" b="1" kern="1200" spc="-6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1.8 </a:t>
                      </a:r>
                      <a:r>
                        <a:rPr kumimoji="1" lang="ko-KR" altLang="en-US" sz="1000" b="1" kern="1200" spc="-6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</a:t>
                      </a:r>
                      <a:r>
                        <a:rPr kumimoji="1" lang="en-US" altLang="ko-KR" sz="1000" b="1" kern="1200" spc="-6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</a:p>
                    <a:p>
                      <a:pPr marL="71755" marR="0" lvl="0" indent="-71755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1000" b="1" kern="1200" spc="-6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 : ‘26.4Q </a:t>
                      </a:r>
                      <a:endParaRPr kumimoji="1" lang="en-US" altLang="ko-KR" sz="1000" b="1" kern="1200" spc="-6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altLang="ko-KR" sz="1000" b="1" i="0" u="none" strike="noStrike" spc="-1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5%</a:t>
                      </a:r>
                    </a:p>
                  </a:txBody>
                  <a:tcPr marL="3600" marR="3600" marT="10800" marB="108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Q: </a:t>
                      </a:r>
                      <a:r>
                        <a:rPr kumimoji="0" lang="ko-KR" altLang="en-US" sz="1000" b="0" i="0" u="none" strike="noStrike" kern="1200" cap="none" spc="-8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초크바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1000" b="0" i="0" u="none" strike="noStrike" kern="1200" cap="none" spc="-8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Cpk</a:t>
                      </a: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3.0 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</a:t>
                      </a:r>
                      <a:b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RP 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단선 </a:t>
                      </a: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30% 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 개선 </a:t>
                      </a: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</a:t>
                      </a:r>
                      <a:b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분할 다이 </a:t>
                      </a:r>
                      <a:r>
                        <a:rPr kumimoji="0" lang="en-US" altLang="ko-KR" sz="1000" b="0" i="0" u="none" strike="noStrike" kern="1200" cap="none" spc="-8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Cpk</a:t>
                      </a: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2.16 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</a:t>
                      </a:r>
                      <a:endParaRPr kumimoji="0" lang="en-US" altLang="ko-KR" sz="10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0" marT="54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Q: </a:t>
                      </a:r>
                      <a:r>
                        <a:rPr kumimoji="0" lang="ko-KR" altLang="en-US" sz="1000" b="0" i="0" u="none" strike="noStrike" kern="1200" cap="none" spc="-8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초크바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1000" b="0" i="0" u="none" strike="noStrike" kern="1200" cap="none" spc="-8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Cpk</a:t>
                      </a: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2.75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</a:t>
                      </a:r>
                      <a:b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RP 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단선 </a:t>
                      </a: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25% 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 개선</a:t>
                      </a: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</a:t>
                      </a:r>
                      <a:b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분할 다이 </a:t>
                      </a:r>
                      <a:r>
                        <a:rPr kumimoji="0" lang="en-US" altLang="ko-KR" sz="1000" b="0" i="0" u="none" strike="noStrike" kern="1200" cap="none" spc="-8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Cpk</a:t>
                      </a: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1.98 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</a:t>
                      </a:r>
                      <a:endParaRPr kumimoji="0" lang="en-US" altLang="ko-KR" sz="10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0" marT="54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Q: </a:t>
                      </a:r>
                      <a:r>
                        <a:rPr kumimoji="0" lang="ko-KR" altLang="en-US" sz="1000" b="0" i="0" u="none" strike="noStrike" kern="1200" cap="none" spc="-8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초크바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1000" b="0" i="0" u="none" strike="noStrike" kern="1200" cap="none" spc="-8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Cpk</a:t>
                      </a: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2.5 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</a:t>
                      </a:r>
                      <a:b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RP 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단선 </a:t>
                      </a: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20% 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</a:t>
                      </a: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</a:t>
                      </a: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</a:t>
                      </a:r>
                      <a:b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분할 다이 </a:t>
                      </a:r>
                      <a:r>
                        <a:rPr kumimoji="0" lang="en-US" altLang="ko-KR" sz="1000" b="0" i="0" u="none" strike="noStrike" kern="1200" cap="none" spc="-8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Cpk</a:t>
                      </a: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1.8 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</a:t>
                      </a:r>
                      <a:endParaRPr kumimoji="0" lang="en-US" altLang="ko-KR" sz="10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0" marT="54000" marB="36000" anchor="ctr">
                    <a:lnL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Q: </a:t>
                      </a:r>
                      <a:r>
                        <a:rPr kumimoji="0" lang="ko-KR" altLang="en-US" sz="1000" b="0" i="0" u="none" strike="noStrike" kern="1200" cap="none" spc="-8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초크바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1000" b="0" i="0" u="none" strike="noStrike" kern="1200" cap="none" spc="-8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Cpk</a:t>
                      </a: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2.0 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</a:t>
                      </a:r>
                      <a:b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RP 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단선 </a:t>
                      </a: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10% 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 개선</a:t>
                      </a: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</a:t>
                      </a:r>
                      <a:b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분할 다이 </a:t>
                      </a:r>
                      <a:r>
                        <a:rPr kumimoji="0" lang="en-US" altLang="ko-KR" sz="1000" b="0" i="0" u="none" strike="noStrike" kern="1200" cap="none" spc="-8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Cpk</a:t>
                      </a: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1.44 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</a:t>
                      </a:r>
                      <a:endParaRPr kumimoji="0" lang="en-US" altLang="ko-KR" sz="10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0" marT="54000" marB="36000" anchor="ctr">
                    <a:lnL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Q: </a:t>
                      </a:r>
                      <a:r>
                        <a:rPr kumimoji="0" lang="ko-KR" altLang="en-US" sz="1000" b="0" i="0" u="none" strike="noStrike" kern="1200" cap="none" spc="-8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초크바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1000" b="0" i="0" u="none" strike="noStrike" kern="1200" cap="none" spc="-8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Cpk</a:t>
                      </a: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2.0 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미만</a:t>
                      </a:r>
                      <a:b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RP 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단선 </a:t>
                      </a: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10% 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미만 개선</a:t>
                      </a: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</a:t>
                      </a:r>
                      <a:b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분할 다이 </a:t>
                      </a:r>
                      <a:r>
                        <a:rPr kumimoji="0" lang="en-US" altLang="ko-KR" sz="1000" b="0" i="0" u="none" strike="noStrike" kern="1200" cap="none" spc="-8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Cpk</a:t>
                      </a: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1.44 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미만</a:t>
                      </a:r>
                      <a:endParaRPr kumimoji="0" lang="en-US" altLang="ko-KR" sz="10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0" marT="54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2519639"/>
                  </a:ext>
                </a:extLst>
              </a:tr>
              <a:tr h="498088">
                <a:tc>
                  <a:txBody>
                    <a:bodyPr/>
                    <a:lstStyle/>
                    <a:p>
                      <a:pPr marL="92075" marR="0" lvl="0" indent="-92075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000" b="1" kern="1200" spc="-1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AI-Agent </a:t>
                      </a:r>
                      <a:r>
                        <a:rPr lang="ko-KR" altLang="en-US" sz="1000" b="1" kern="1200" spc="-1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기반 자동보정 업무 효율화​</a:t>
                      </a: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1755" marR="0" lvl="0" indent="-71755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1000" b="1" kern="1200" spc="-6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Q : </a:t>
                      </a:r>
                      <a:r>
                        <a:rPr kumimoji="1" lang="ko-KR" altLang="en-US" sz="900" b="1" kern="1200" spc="-6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자동보정 이상현상 분석 시간 </a:t>
                      </a:r>
                      <a:r>
                        <a:rPr kumimoji="1" lang="en-US" altLang="ko-KR" sz="900" b="1" kern="1200" spc="-6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60% </a:t>
                      </a:r>
                      <a:r>
                        <a:rPr kumimoji="1" lang="ko-KR" altLang="en-US" sz="900" b="1" kern="1200" spc="-6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저감</a:t>
                      </a:r>
                      <a:endParaRPr kumimoji="1" lang="en-US" altLang="ko-KR" sz="900" b="1" kern="1200" spc="-60" baseline="0" noProof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71755" marR="0" lvl="0" indent="-71755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1000" b="1" kern="1200" spc="-6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 : ‘26.12</a:t>
                      </a:r>
                      <a:r>
                        <a:rPr kumimoji="1" lang="ko-KR" altLang="en-US" sz="1000" b="1" kern="1200" spc="-6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월</a:t>
                      </a:r>
                      <a:endParaRPr kumimoji="1" lang="en-US" altLang="ko-KR" sz="1000" b="1" kern="1200" spc="-60" baseline="0" noProof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altLang="ko-KR" sz="1000" b="1" i="0" u="none" strike="noStrike" spc="-1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5%</a:t>
                      </a:r>
                    </a:p>
                  </a:txBody>
                  <a:tcPr marL="3600" marR="3600" marT="10800" marB="108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spc="-5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Q : </a:t>
                      </a:r>
                      <a:r>
                        <a:rPr kumimoji="1" lang="ko-KR" altLang="en-US" sz="1000" b="0" i="0" u="none" strike="noStrike" kern="1200" cap="none" spc="-5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자동보정 </a:t>
                      </a:r>
                      <a:endParaRPr kumimoji="1" lang="en-US" altLang="ko-KR" sz="1000" b="0" i="0" u="none" strike="noStrike" kern="1200" cap="none" spc="-5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-5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이상현상 분석 시간 </a:t>
                      </a:r>
                      <a:r>
                        <a:rPr kumimoji="1" lang="en-US" altLang="ko-KR" sz="1000" b="0" i="0" u="none" strike="noStrike" kern="1200" cap="none" spc="-5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80% </a:t>
                      </a:r>
                      <a:r>
                        <a:rPr kumimoji="1" lang="ko-KR" altLang="en-US" sz="1000" b="0" i="0" u="none" strike="noStrike" kern="1200" cap="none" spc="-5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저감</a:t>
                      </a: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spc="-5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Q : </a:t>
                      </a:r>
                      <a:r>
                        <a:rPr kumimoji="1" lang="ko-KR" altLang="en-US" sz="1000" b="0" i="0" u="none" strike="noStrike" kern="1200" cap="none" spc="-5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자동보정 </a:t>
                      </a:r>
                      <a:endParaRPr kumimoji="1" lang="en-US" altLang="ko-KR" sz="1000" b="0" i="0" u="none" strike="noStrike" kern="1200" cap="none" spc="-5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-5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이상현상 분석 시간 </a:t>
                      </a:r>
                      <a:r>
                        <a:rPr kumimoji="1" lang="en-US" altLang="ko-KR" sz="1000" b="0" i="0" u="none" strike="noStrike" kern="1200" cap="none" spc="-5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70% </a:t>
                      </a:r>
                      <a:r>
                        <a:rPr kumimoji="1" lang="ko-KR" altLang="en-US" sz="1000" b="0" i="0" u="none" strike="noStrike" kern="1200" cap="none" spc="-5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저감</a:t>
                      </a: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Q : 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자동보정 </a:t>
                      </a:r>
                      <a:endParaRPr kumimoji="1" lang="en-US" altLang="ko-KR" sz="10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이상현상 분석 시간 </a:t>
                      </a: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60% 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저감</a:t>
                      </a:r>
                    </a:p>
                  </a:txBody>
                  <a:tcPr marL="36000" marR="0" marT="0" marB="0" anchor="ctr">
                    <a:lnL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spc="-5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Q : </a:t>
                      </a:r>
                      <a:r>
                        <a:rPr kumimoji="1" lang="ko-KR" altLang="en-US" sz="1000" b="0" i="0" u="none" strike="noStrike" kern="1200" cap="none" spc="-5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자동보정 </a:t>
                      </a:r>
                      <a:endParaRPr kumimoji="1" lang="en-US" altLang="ko-KR" sz="1000" b="0" i="0" u="none" strike="noStrike" kern="1200" cap="none" spc="-5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-5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이상현상 분석 시간 </a:t>
                      </a:r>
                      <a:r>
                        <a:rPr kumimoji="1" lang="en-US" altLang="ko-KR" sz="1000" b="0" i="0" u="none" strike="noStrike" kern="1200" cap="none" spc="-5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50% </a:t>
                      </a:r>
                      <a:r>
                        <a:rPr kumimoji="1" lang="ko-KR" altLang="en-US" sz="1000" b="0" i="0" u="none" strike="noStrike" kern="1200" cap="none" spc="-5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저감</a:t>
                      </a:r>
                    </a:p>
                  </a:txBody>
                  <a:tcPr marL="36000" marR="0" marT="0" marB="0" anchor="ctr">
                    <a:lnL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spc="-5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Q : </a:t>
                      </a:r>
                      <a:r>
                        <a:rPr kumimoji="1" lang="ko-KR" altLang="en-US" sz="1000" b="0" i="0" u="none" strike="noStrike" kern="1200" cap="none" spc="-5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자동보정 </a:t>
                      </a:r>
                      <a:endParaRPr kumimoji="1" lang="en-US" altLang="ko-KR" sz="1000" b="0" i="0" u="none" strike="noStrike" kern="1200" cap="none" spc="-5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-5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이상현상 분석 시간 </a:t>
                      </a:r>
                      <a:r>
                        <a:rPr kumimoji="1" lang="en-US" altLang="ko-KR" sz="1000" b="0" i="0" u="none" strike="noStrike" kern="1200" cap="none" spc="-5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50% </a:t>
                      </a:r>
                      <a:r>
                        <a:rPr kumimoji="1" lang="ko-KR" altLang="en-US" sz="1000" b="0" i="0" u="none" strike="noStrike" kern="1200" cap="none" spc="-5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미만 저감</a:t>
                      </a: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7214913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A16FC5BA-7E40-4398-94C6-553D4E6FC6CA}"/>
              </a:ext>
            </a:extLst>
          </p:cNvPr>
          <p:cNvSpPr txBox="1"/>
          <p:nvPr/>
        </p:nvSpPr>
        <p:spPr>
          <a:xfrm>
            <a:off x="7224092" y="119658"/>
            <a:ext cx="2545733" cy="338554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➌ 평가 </a:t>
            </a:r>
            <a:r>
              <a:rPr kumimoji="0" lang="en-US" altLang="ko-KR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Description</a:t>
            </a:r>
            <a:endParaRPr kumimoji="0" lang="ko-KR" altLang="en-US" sz="16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itchFamily="50" charset="-127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BD00FC0-114E-4FE2-8C27-1EB03D420007}"/>
              </a:ext>
            </a:extLst>
          </p:cNvPr>
          <p:cNvSpPr txBox="1"/>
          <p:nvPr/>
        </p:nvSpPr>
        <p:spPr>
          <a:xfrm>
            <a:off x="95895" y="174087"/>
            <a:ext cx="3853543" cy="369332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[ </a:t>
            </a:r>
            <a:r>
              <a:rPr kumimoji="1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자동보정담당 </a:t>
            </a:r>
            <a:r>
              <a:rPr kumimoji="1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/ </a:t>
            </a:r>
            <a:r>
              <a:rPr kumimoji="1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송무강 </a:t>
            </a:r>
            <a:r>
              <a:rPr kumimoji="1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/ </a:t>
            </a:r>
            <a:r>
              <a:rPr kumimoji="1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상무 </a:t>
            </a: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]</a:t>
            </a:r>
            <a:endParaRPr kumimoji="0" lang="ko-KR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D592498-96D3-4FF8-B548-D49CEB0FE505}"/>
              </a:ext>
            </a:extLst>
          </p:cNvPr>
          <p:cNvSpPr txBox="1"/>
          <p:nvPr/>
        </p:nvSpPr>
        <p:spPr>
          <a:xfrm>
            <a:off x="7468375" y="88880"/>
            <a:ext cx="886091" cy="369332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[</a:t>
            </a:r>
            <a:r>
              <a: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유첨</a:t>
            </a: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3]</a:t>
            </a:r>
            <a:endParaRPr kumimoji="1" lang="ko-KR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170332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1FA3ADA6-01DE-4292-8CB6-A80B3EA94F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3562048"/>
              </p:ext>
            </p:extLst>
          </p:nvPr>
        </p:nvGraphicFramePr>
        <p:xfrm>
          <a:off x="112932" y="625053"/>
          <a:ext cx="9680135" cy="44013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6234">
                  <a:extLst>
                    <a:ext uri="{9D8B030D-6E8A-4147-A177-3AD203B41FA5}">
                      <a16:colId xmlns:a16="http://schemas.microsoft.com/office/drawing/2014/main" val="2812083310"/>
                    </a:ext>
                  </a:extLst>
                </a:gridCol>
                <a:gridCol w="1516625">
                  <a:extLst>
                    <a:ext uri="{9D8B030D-6E8A-4147-A177-3AD203B41FA5}">
                      <a16:colId xmlns:a16="http://schemas.microsoft.com/office/drawing/2014/main" val="3081028036"/>
                    </a:ext>
                  </a:extLst>
                </a:gridCol>
                <a:gridCol w="1965888">
                  <a:extLst>
                    <a:ext uri="{9D8B030D-6E8A-4147-A177-3AD203B41FA5}">
                      <a16:colId xmlns:a16="http://schemas.microsoft.com/office/drawing/2014/main" val="286802300"/>
                    </a:ext>
                  </a:extLst>
                </a:gridCol>
                <a:gridCol w="2029388">
                  <a:extLst>
                    <a:ext uri="{9D8B030D-6E8A-4147-A177-3AD203B41FA5}">
                      <a16:colId xmlns:a16="http://schemas.microsoft.com/office/drawing/2014/main" val="1983613499"/>
                    </a:ext>
                  </a:extLst>
                </a:gridCol>
                <a:gridCol w="3492000">
                  <a:extLst>
                    <a:ext uri="{9D8B030D-6E8A-4147-A177-3AD203B41FA5}">
                      <a16:colId xmlns:a16="http://schemas.microsoft.com/office/drawing/2014/main" val="421180291"/>
                    </a:ext>
                  </a:extLst>
                </a:gridCol>
              </a:tblGrid>
              <a:tr h="181311">
                <a:tc rowSpan="2">
                  <a:txBody>
                    <a:bodyPr/>
                    <a:lstStyle/>
                    <a:p>
                      <a:pPr marL="0" indent="0" 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spc="-3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변경 대상</a:t>
                      </a: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spc="-3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변경 사유</a:t>
                      </a: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indent="0" 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spc="-3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26</a:t>
                      </a:r>
                      <a:r>
                        <a:rPr lang="ko-KR" altLang="en-US" sz="900" spc="-3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년 </a:t>
                      </a:r>
                      <a:r>
                        <a:rPr lang="en-US" altLang="ko-KR" sz="900" spc="-3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KPI </a:t>
                      </a:r>
                      <a:endParaRPr lang="ko-KR" altLang="en-US" sz="900" spc="-3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spc="-3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spc="-3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변경 사유</a:t>
                      </a: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4577804"/>
                  </a:ext>
                </a:extLst>
              </a:tr>
              <a:tr h="181311">
                <a:tc vMerge="1">
                  <a:txBody>
                    <a:bodyPr/>
                    <a:lstStyle/>
                    <a:p>
                      <a:pPr marL="0" indent="0" 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spc="-3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indent="0" 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spc="-3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spc="-3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변경 전</a:t>
                      </a: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spc="-3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변경 후 </a:t>
                      </a: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3382961"/>
                  </a:ext>
                </a:extLst>
              </a:tr>
              <a:tr h="875297">
                <a:tc>
                  <a:txBody>
                    <a:bodyPr/>
                    <a:lstStyle/>
                    <a:p>
                      <a:pPr marL="34925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9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전사 공통</a:t>
                      </a:r>
                      <a:br>
                        <a:rPr kumimoji="1" lang="en-US" altLang="ko-KR" sz="9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</a:br>
                      <a:r>
                        <a:rPr kumimoji="1" lang="en-US" altLang="ko-KR" sz="9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(CSO </a:t>
                      </a:r>
                      <a:r>
                        <a:rPr kumimoji="1" lang="ko-KR" altLang="en-US" sz="9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요청</a:t>
                      </a:r>
                      <a:r>
                        <a:rPr kumimoji="1" lang="en-US" altLang="ko-KR" sz="9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)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34925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중복 내용 삭제</a:t>
                      </a:r>
                      <a:br>
                        <a:rPr kumimoji="1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  - 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인원 목표 삭제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/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조정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9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AX</a:t>
                      </a:r>
                      <a:r>
                        <a:rPr kumimoji="1" lang="ko-KR" altLang="en-US" sz="9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기반 제조운영 </a:t>
                      </a:r>
                      <a:r>
                        <a:rPr kumimoji="1" lang="en-US" altLang="ko-KR" sz="9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BM/PD Loss</a:t>
                      </a:r>
                      <a:r>
                        <a:rPr kumimoji="1" lang="ko-KR" altLang="en-US" sz="9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개선</a:t>
                      </a:r>
                      <a:br>
                        <a:rPr kumimoji="1" lang="en-US" altLang="ko-KR" sz="9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Q: 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자동차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/ESS BM/PD 20% 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개선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(25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년 比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)</a:t>
                      </a:r>
                      <a:b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C: 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인원 효율화 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Δ890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명</a:t>
                      </a: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(’26</a:t>
                      </a:r>
                      <a:r>
                        <a:rPr kumimoji="0" lang="ko-KR" altLang="en-US" sz="9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년말</a:t>
                      </a: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인원 기준</a:t>
                      </a: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  <a:endParaRPr kumimoji="1" lang="en-US" altLang="ko-KR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9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AX</a:t>
                      </a:r>
                      <a:r>
                        <a:rPr kumimoji="1" lang="ko-KR" altLang="en-US" sz="9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기반 제조운영 </a:t>
                      </a:r>
                      <a:r>
                        <a:rPr kumimoji="1" lang="en-US" altLang="ko-KR" sz="9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BM/PD Loss</a:t>
                      </a:r>
                      <a:r>
                        <a:rPr kumimoji="1" lang="ko-KR" altLang="en-US" sz="9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개선</a:t>
                      </a:r>
                      <a:br>
                        <a:rPr kumimoji="1" lang="en-US" altLang="ko-KR" sz="9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Q: 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자동차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/ESS BM/PD 20% 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개선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(25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년 比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)</a:t>
                      </a:r>
                      <a:endParaRPr kumimoji="1" lang="en-US" altLang="ko-KR" sz="900" b="0" i="0" u="none" strike="sng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0488" indent="-55563" algn="l" defTabSz="914400" rtl="0" eaLnBrk="1" latinLnBrk="1" hangingPunct="1">
                        <a:buSzPct val="80000"/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b="1" kern="1200" spc="-3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CDO KPI Align</a:t>
                      </a: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7700172"/>
                  </a:ext>
                </a:extLst>
              </a:tr>
              <a:tr h="1412881">
                <a:tc rowSpan="3">
                  <a:txBody>
                    <a:bodyPr/>
                    <a:lstStyle/>
                    <a:p>
                      <a:pPr marL="34925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9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목표 범위</a:t>
                      </a:r>
                      <a:endParaRPr kumimoji="1" lang="en-US" altLang="ko-KR" sz="9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ko-KR" altLang="en-US" sz="9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연간</a:t>
                      </a:r>
                      <a:r>
                        <a:rPr kumimoji="1" lang="en-US" altLang="ko-KR" sz="9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kumimoji="1" lang="ko-KR" altLang="en-US" sz="9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분기 목표</a:t>
                      </a:r>
                      <a:r>
                        <a:rPr kumimoji="1" lang="en-US" altLang="ko-KR" sz="9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1" lang="ko-KR" altLang="en-US" sz="9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및 </a:t>
                      </a:r>
                      <a:r>
                        <a:rPr kumimoji="1" lang="en-US" altLang="ko-KR" sz="9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5 Scale</a:t>
                      </a:r>
                      <a:r>
                        <a:rPr kumimoji="1" lang="ko-KR" altLang="en-US" sz="9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변경</a:t>
                      </a:r>
                      <a:endParaRPr kumimoji="1" lang="en-US" altLang="ko-KR" sz="900" b="1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AX</a:t>
                      </a:r>
                      <a:r>
                        <a:rPr kumimoji="1" lang="ko-KR" alt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기반 </a:t>
                      </a:r>
                      <a:r>
                        <a:rPr kumimoji="1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ESS </a:t>
                      </a:r>
                      <a:r>
                        <a:rPr kumimoji="1" lang="ko-KR" alt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수율 개선</a:t>
                      </a:r>
                      <a:br>
                        <a:rPr kumimoji="1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- Q : ESS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全 라인 셀 수율 달성</a:t>
                      </a:r>
                      <a:b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      (MI 96.4%, MI_L 95.3%, OT 96.0%, </a:t>
                      </a:r>
                      <a:b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       HD 95.0%)</a:t>
                      </a: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9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1" lang="en-US" altLang="ko-KR" sz="9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1" lang="ko-KR" altLang="en-US" sz="9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북미</a:t>
                      </a:r>
                      <a:r>
                        <a:rPr kumimoji="1" lang="en-US" altLang="ko-KR" sz="9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 AX</a:t>
                      </a:r>
                      <a:r>
                        <a:rPr kumimoji="1" lang="ko-KR" altLang="en-US" sz="9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기반 </a:t>
                      </a:r>
                      <a:r>
                        <a:rPr kumimoji="1" lang="en-US" altLang="ko-KR" sz="9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ESS </a:t>
                      </a:r>
                      <a:r>
                        <a:rPr kumimoji="1" lang="ko-KR" altLang="en-US" sz="9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종합 수율 개선</a:t>
                      </a:r>
                      <a:br>
                        <a:rPr kumimoji="1" lang="en-US" altLang="ko-KR" sz="9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Q : ESS</a:t>
                      </a:r>
                      <a:r>
                        <a:rPr kumimoji="1" lang="ko-KR" altLang="en-US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全 라인 종합 수율 </a:t>
                      </a: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94.3%</a:t>
                      </a:r>
                      <a:b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</a:t>
                      </a:r>
                      <a:r>
                        <a:rPr kumimoji="1" lang="en-US" altLang="ko-KR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D : ’26</a:t>
                      </a:r>
                      <a:r>
                        <a:rPr kumimoji="1" lang="ko-KR" altLang="en-US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년 </a:t>
                      </a:r>
                      <a:r>
                        <a:rPr kumimoji="1" lang="en-US" altLang="ko-KR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12</a:t>
                      </a:r>
                      <a:r>
                        <a:rPr kumimoji="1" lang="ko-KR" altLang="en-US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월</a:t>
                      </a:r>
                      <a:endParaRPr kumimoji="1" lang="en-US" altLang="ko-KR" sz="900" b="0" i="0" u="none" strike="sngStrike" kern="1200" cap="none" spc="0" normalizeH="0" baseline="0" noProof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0488" indent="-55563" algn="l" defTabSz="914400" rtl="0" eaLnBrk="1" latinLnBrk="1" hangingPunct="1">
                        <a:buSzPct val="80000"/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b="1" kern="1200" spc="-3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CDO KPI Align</a:t>
                      </a:r>
                      <a:endParaRPr lang="en-US" altLang="ko-KR" sz="1100" b="1" kern="1200" spc="-3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3394214"/>
                  </a:ext>
                </a:extLst>
              </a:tr>
              <a:tr h="875297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9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charset="0"/>
                      </a:endParaRP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9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1" lang="ko-KR" altLang="en-US" sz="9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연간</a:t>
                      </a:r>
                      <a:r>
                        <a:rPr kumimoji="1" lang="en-US" altLang="ko-KR" sz="9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kumimoji="1" lang="ko-KR" altLang="en-US" sz="9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분기 목표 및 </a:t>
                      </a:r>
                      <a:r>
                        <a:rPr kumimoji="1" lang="en-US" altLang="ko-KR" sz="9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5 Scale </a:t>
                      </a:r>
                      <a:r>
                        <a:rPr kumimoji="1" lang="ko-KR" altLang="en-US" sz="9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변경</a:t>
                      </a:r>
                      <a:br>
                        <a:rPr kumimoji="1" lang="en-US" altLang="ko-KR" sz="9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- </a:t>
                      </a:r>
                      <a:r>
                        <a:rPr kumimoji="1" lang="ko-KR" altLang="en-US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대상 법인 확대</a:t>
                      </a:r>
                      <a:br>
                        <a:rPr kumimoji="1" lang="en-US" altLang="ko-KR" sz="9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  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기존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 WA</a:t>
                      </a:r>
                      <a:b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  (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변경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 WA, NA, NB,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HM, MI, HG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(6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 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site)</a:t>
                      </a:r>
                      <a:endParaRPr kumimoji="1" lang="en-US" altLang="ko-KR" sz="9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72000" marR="0" lvl="0" indent="-720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9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셀 </a:t>
                      </a:r>
                      <a:r>
                        <a:rPr kumimoji="1" lang="ko-KR" altLang="en-US" sz="900" b="1" i="0" u="none" strike="noStrike" kern="1200" cap="none" spc="-50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수율</a:t>
                      </a:r>
                      <a:r>
                        <a:rPr kumimoji="1" lang="ko-KR" altLang="en-US" sz="9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목표 달성 </a:t>
                      </a:r>
                      <a:r>
                        <a:rPr kumimoji="1" lang="en-US" altLang="ko-KR" sz="9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(</a:t>
                      </a:r>
                      <a:r>
                        <a:rPr kumimoji="1" lang="ko-KR" altLang="en-US" sz="9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비중 </a:t>
                      </a:r>
                      <a:r>
                        <a:rPr kumimoji="1" lang="en-US" altLang="ko-KR" sz="9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15%)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- Q : ESWA </a:t>
                      </a:r>
                      <a:r>
                        <a:rPr kumimoji="1" lang="ko-KR" altLang="en-US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자동차 셀 </a:t>
                      </a:r>
                      <a:r>
                        <a:rPr kumimoji="1" lang="ko-KR" altLang="en-US" sz="900" b="0" i="0" u="none" strike="noStrike" kern="1200" cap="none" spc="-50" normalizeH="0" baseline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수율</a:t>
                      </a:r>
                      <a:r>
                        <a:rPr kumimoji="1" lang="ko-KR" altLang="en-US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US" altLang="ko-KR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97.2%</a:t>
                      </a:r>
                      <a:br>
                        <a:rPr kumimoji="1" lang="en-US" altLang="ko-KR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en-US" altLang="ko-KR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        ESWA ESS</a:t>
                      </a:r>
                      <a:r>
                        <a:rPr kumimoji="1" lang="ko-KR" altLang="en-US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셀 </a:t>
                      </a:r>
                      <a:r>
                        <a:rPr kumimoji="1" lang="ko-KR" altLang="en-US" sz="900" b="0" i="0" u="none" strike="noStrike" kern="1200" cap="none" spc="-50" normalizeH="0" baseline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수율</a:t>
                      </a:r>
                      <a:r>
                        <a:rPr kumimoji="1" lang="ko-KR" altLang="en-US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US" altLang="ko-KR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96.2%</a:t>
                      </a:r>
                      <a:br>
                        <a:rPr kumimoji="1" lang="en-US" altLang="ko-KR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en-US" altLang="ko-KR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- D : ’26</a:t>
                      </a:r>
                      <a:r>
                        <a:rPr kumimoji="1" lang="ko-KR" altLang="en-US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년 </a:t>
                      </a:r>
                      <a:r>
                        <a:rPr kumimoji="1" lang="en-US" altLang="ko-KR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12</a:t>
                      </a:r>
                      <a:r>
                        <a:rPr kumimoji="1" lang="ko-KR" altLang="en-US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월</a:t>
                      </a:r>
                      <a:endParaRPr kumimoji="1" lang="en-US" altLang="ko-KR" sz="900" b="0" i="0" u="none" strike="noStrike" kern="1200" cap="none" spc="-5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9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1" lang="en-US" altLang="ko-KR" sz="9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AX</a:t>
                      </a:r>
                      <a:r>
                        <a:rPr kumimoji="1" lang="ko-KR" altLang="en-US" sz="9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기반 자동차 </a:t>
                      </a:r>
                      <a:r>
                        <a:rPr kumimoji="1" lang="ko-KR" altLang="en-US" sz="9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셀 </a:t>
                      </a:r>
                      <a:r>
                        <a:rPr kumimoji="1" lang="ko-KR" altLang="en-US" sz="900" b="1" i="0" u="none" strike="noStrike" kern="1200" cap="none" spc="-50" normalizeH="0" baseline="0" dirty="0" err="1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수율</a:t>
                      </a:r>
                      <a:r>
                        <a:rPr kumimoji="1" lang="ko-KR" altLang="en-US" sz="9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개선 </a:t>
                      </a:r>
                      <a:r>
                        <a:rPr kumimoji="1" lang="en-US" altLang="ko-KR" sz="9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(</a:t>
                      </a:r>
                      <a:r>
                        <a:rPr kumimoji="1" lang="ko-KR" altLang="en-US" sz="9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비중 </a:t>
                      </a:r>
                      <a:r>
                        <a:rPr kumimoji="1" lang="en-US" altLang="ko-KR" sz="9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10%)</a:t>
                      </a:r>
                      <a:br>
                        <a:rPr kumimoji="1" lang="en-US" altLang="ko-KR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en-US" altLang="ko-KR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- Q : ES</a:t>
                      </a:r>
                      <a:r>
                        <a:rPr kumimoji="1" lang="pl-PL" altLang="ko-KR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WA, </a:t>
                      </a:r>
                      <a:r>
                        <a:rPr kumimoji="1" lang="en-US" altLang="ko-KR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ES</a:t>
                      </a:r>
                      <a:r>
                        <a:rPr kumimoji="1" lang="pl-PL" altLang="ko-KR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NA, </a:t>
                      </a:r>
                      <a:r>
                        <a:rPr kumimoji="1" lang="en-US" altLang="ko-KR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ES</a:t>
                      </a:r>
                      <a:r>
                        <a:rPr kumimoji="1" lang="pl-PL" altLang="ko-KR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NB, </a:t>
                      </a:r>
                      <a:r>
                        <a:rPr kumimoji="1" lang="en-US" altLang="ko-KR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ES</a:t>
                      </a:r>
                      <a:r>
                        <a:rPr kumimoji="1" lang="pl-PL" altLang="ko-KR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HM, </a:t>
                      </a:r>
                      <a:r>
                        <a:rPr kumimoji="1" lang="en-US" altLang="ko-KR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ES</a:t>
                      </a:r>
                      <a:r>
                        <a:rPr kumimoji="1" lang="pl-PL" altLang="ko-KR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MI, </a:t>
                      </a:r>
                      <a:r>
                        <a:rPr kumimoji="1" lang="en-US" altLang="ko-KR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ES</a:t>
                      </a:r>
                      <a:r>
                        <a:rPr kumimoji="1" lang="pl-PL" altLang="ko-KR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HG </a:t>
                      </a:r>
                      <a:br>
                        <a:rPr kumimoji="1" lang="en-US" altLang="ko-KR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en-US" altLang="ko-KR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        </a:t>
                      </a:r>
                      <a:r>
                        <a:rPr kumimoji="1" lang="ko-KR" altLang="en-US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자동차 셀 </a:t>
                      </a:r>
                      <a:r>
                        <a:rPr kumimoji="1" lang="ko-KR" altLang="en-US" sz="900" b="0" i="0" u="none" strike="noStrike" kern="1200" cap="none" spc="-50" normalizeH="0" baseline="0" dirty="0" err="1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수율</a:t>
                      </a:r>
                      <a:r>
                        <a:rPr kumimoji="1" lang="ko-KR" altLang="en-US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US" altLang="ko-KR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97.8%</a:t>
                      </a:r>
                      <a:br>
                        <a:rPr kumimoji="1" lang="en-US" altLang="ko-KR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en-US" altLang="ko-KR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- D : ’26</a:t>
                      </a:r>
                      <a:r>
                        <a:rPr kumimoji="1" lang="ko-KR" altLang="en-US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년 </a:t>
                      </a:r>
                      <a:r>
                        <a:rPr kumimoji="1" lang="en-US" altLang="ko-KR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12</a:t>
                      </a:r>
                      <a:r>
                        <a:rPr kumimoji="1" lang="ko-KR" altLang="en-US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월</a:t>
                      </a:r>
                      <a:endParaRPr kumimoji="1" lang="en-US" altLang="ko-KR" sz="9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0488" marR="0" lvl="0" indent="-55563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100" b="1" kern="1200" spc="-3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전사</a:t>
                      </a:r>
                      <a:r>
                        <a:rPr lang="en-US" altLang="ko-KR" sz="1100" b="1" kern="1200" spc="-3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DX</a:t>
                      </a:r>
                      <a:r>
                        <a:rPr lang="ko-KR" altLang="en-US" sz="1100" b="1" kern="1200" spc="-3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과제 수행</a:t>
                      </a:r>
                      <a:r>
                        <a:rPr lang="en-US" altLang="ko-KR" sz="1100" b="1" kern="1200" spc="-3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lang="en-US" altLang="ko-KR" sz="1100" b="1" kern="1200" spc="-30" baseline="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w.CPO</a:t>
                      </a:r>
                      <a:r>
                        <a:rPr lang="en-US" altLang="ko-KR" sz="1100" b="1" kern="1200" spc="-3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  <a:r>
                        <a:rPr lang="ko-KR" altLang="en-US" sz="1100" b="1" kern="1200" spc="-3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과 </a:t>
                      </a:r>
                      <a:r>
                        <a:rPr lang="en-US" altLang="ko-KR" sz="1100" b="1" kern="1200" spc="-3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ESWA </a:t>
                      </a:r>
                      <a:r>
                        <a:rPr lang="ko-KR" altLang="en-US" sz="1100" b="1" kern="1200" spc="-3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중심의 셀 </a:t>
                      </a:r>
                      <a:r>
                        <a:rPr lang="ko-KR" altLang="en-US" sz="1100" b="1" kern="1200" spc="-30" baseline="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lang="ko-KR" altLang="en-US" sz="1100" b="1" kern="1200" spc="-3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개선 활동을 근거로 글로벌 생산 법인으로 평가 확장</a:t>
                      </a:r>
                      <a:endParaRPr lang="en-US" altLang="ko-KR" sz="1100" b="1" kern="1200" spc="-3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90488" marR="0" lvl="0" indent="-55563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100" b="1" kern="1200" spc="-3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AX </a:t>
                      </a:r>
                      <a:r>
                        <a:rPr lang="ko-KR" altLang="en-US" sz="1100" b="1" kern="1200" spc="-3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기반 개선 활동의 확산 성과를 반영하고</a:t>
                      </a:r>
                      <a:r>
                        <a:rPr lang="en-US" altLang="ko-KR" sz="1100" b="1" kern="1200" spc="-3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100" b="1" kern="1200" spc="-3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특정 법인이 아닌 자동차 생산 운영 전반의 </a:t>
                      </a:r>
                      <a:r>
                        <a:rPr lang="ko-KR" altLang="en-US" sz="1100" b="1" kern="1200" spc="-30" baseline="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lang="ko-KR" altLang="en-US" sz="1100" b="1" kern="1200" spc="-3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개선 성과를 포함하여 평가 확장</a:t>
                      </a:r>
                      <a:endParaRPr lang="en-US" altLang="ko-KR" sz="1100" b="1" kern="1200" spc="-3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125485"/>
                  </a:ext>
                </a:extLst>
              </a:tr>
              <a:tr h="875297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9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연간</a:t>
                      </a:r>
                      <a:r>
                        <a:rPr kumimoji="1" lang="en-US" altLang="ko-KR" sz="9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kumimoji="1" lang="ko-KR" altLang="en-US" sz="9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분기 목표 및 </a:t>
                      </a:r>
                      <a:r>
                        <a:rPr kumimoji="1" lang="en-US" altLang="ko-KR" sz="9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5 Scale </a:t>
                      </a:r>
                      <a:r>
                        <a:rPr kumimoji="1" lang="ko-KR" altLang="en-US" sz="9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변경</a:t>
                      </a:r>
                      <a:br>
                        <a:rPr kumimoji="1" lang="en-US" altLang="ko-KR" sz="9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- </a:t>
                      </a:r>
                      <a:r>
                        <a:rPr kumimoji="1" lang="ko-KR" altLang="en-US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대상 공정 확대</a:t>
                      </a:r>
                      <a:b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  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기존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 ESWA ESS 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셀 </a:t>
                      </a:r>
                      <a:r>
                        <a:rPr kumimoji="1" lang="ko-KR" altLang="en-US" sz="800" b="0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b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  (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변경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 ESWA ESS 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종합 </a:t>
                      </a:r>
                      <a:r>
                        <a:rPr kumimoji="1" lang="ko-KR" altLang="en-US" sz="800" b="0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endParaRPr kumimoji="1" lang="en-US" altLang="ko-KR" sz="9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9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9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1" lang="en-US" altLang="ko-KR" sz="9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1" lang="ko-KR" altLang="en-US" sz="9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유럽</a:t>
                      </a:r>
                      <a:r>
                        <a:rPr kumimoji="1" lang="en-US" altLang="ko-KR" sz="9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 AX </a:t>
                      </a:r>
                      <a:r>
                        <a:rPr kumimoji="1" lang="ko-KR" altLang="en-US" sz="9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기반 </a:t>
                      </a:r>
                      <a:r>
                        <a:rPr kumimoji="1" lang="en-US" altLang="ko-KR" sz="9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ESS</a:t>
                      </a:r>
                      <a:r>
                        <a:rPr kumimoji="1" lang="ko-KR" altLang="en-US" sz="9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종합 </a:t>
                      </a:r>
                      <a:r>
                        <a:rPr kumimoji="1" lang="ko-KR" altLang="en-US" sz="900" b="1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kumimoji="1" lang="en-US" altLang="ko-KR" sz="9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1" lang="ko-KR" altLang="en-US" sz="9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 </a:t>
                      </a:r>
                      <a:r>
                        <a:rPr kumimoji="1" lang="en-US" altLang="ko-KR" sz="9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1" lang="ko-KR" altLang="en-US" sz="9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비중 </a:t>
                      </a:r>
                      <a:r>
                        <a:rPr kumimoji="1" lang="en-US" altLang="ko-KR" sz="9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5%)</a:t>
                      </a:r>
                      <a:br>
                        <a:rPr kumimoji="1" lang="en-US" altLang="ko-KR" sz="9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Q : ESWA ESS </a:t>
                      </a:r>
                      <a:r>
                        <a:rPr kumimoji="1" lang="ko-KR" altLang="en-US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종합 </a:t>
                      </a:r>
                      <a:r>
                        <a:rPr kumimoji="1" lang="ko-KR" altLang="en-US" sz="900" b="0" i="0" u="none" strike="noStrike" kern="1200" cap="none" spc="-50" normalizeH="0" baseline="0" dirty="0" err="1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kumimoji="1" lang="ko-KR" altLang="en-US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1" lang="en-US" altLang="ko-KR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94.5%</a:t>
                      </a:r>
                      <a:br>
                        <a:rPr kumimoji="1" lang="en-US" altLang="ko-KR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D</a:t>
                      </a:r>
                      <a:r>
                        <a:rPr kumimoji="1" lang="ko-KR" altLang="en-US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1" lang="en-US" altLang="ko-KR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</a:t>
                      </a:r>
                      <a:r>
                        <a:rPr kumimoji="1" lang="ko-KR" altLang="en-US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’26.12</a:t>
                      </a:r>
                      <a:r>
                        <a:rPr kumimoji="1" lang="ko-KR" altLang="en-US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월</a:t>
                      </a:r>
                      <a:endParaRPr kumimoji="1" lang="en-US" altLang="ko-KR" sz="9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0488" marR="0" lvl="0" indent="-55563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100" b="1" kern="1200" spc="-3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CPO </a:t>
                      </a:r>
                      <a:r>
                        <a:rPr lang="ko-KR" altLang="en-US" sz="1100" b="1" kern="1200" spc="-3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부문과 지표 </a:t>
                      </a:r>
                      <a:r>
                        <a:rPr lang="en-US" altLang="ko-KR" sz="1100" b="1" kern="1200" spc="-3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Align (</a:t>
                      </a:r>
                      <a:r>
                        <a:rPr lang="ko-KR" altLang="en-US" sz="1100" b="1" kern="1200" spc="-3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셀</a:t>
                      </a:r>
                      <a:r>
                        <a:rPr lang="en-US" altLang="ko-KR" sz="1100" b="1" kern="1200" spc="-3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100" b="1" kern="1200" spc="-30" baseline="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lang="ko-KR" altLang="en-US" sz="1100" b="1" kern="1200" spc="-3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→ 종합 </a:t>
                      </a:r>
                      <a:r>
                        <a:rPr lang="ko-KR" altLang="en-US" sz="1100" b="1" kern="1200" spc="-30" baseline="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lang="en-US" altLang="ko-KR" sz="1100" b="1" kern="1200" spc="-3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  <a:r>
                        <a:rPr lang="ko-KR" altLang="en-US" sz="1100" b="1" kern="1200" spc="-3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을 통해 </a:t>
                      </a:r>
                      <a:r>
                        <a:rPr lang="en-US" altLang="ko-KR" sz="1100" b="1" kern="1200" spc="-3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ESS WA</a:t>
                      </a:r>
                      <a:r>
                        <a:rPr lang="ko-KR" altLang="en-US" sz="1100" b="1" kern="1200" spc="-3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생산성 상향 평준화 진행</a:t>
                      </a:r>
                      <a:endParaRPr lang="en-US" altLang="ko-KR" sz="1100" b="1" kern="1200" spc="-3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90488" marR="0" lvl="0" indent="-55563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100" b="1" kern="1200" spc="-3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전사</a:t>
                      </a:r>
                      <a:r>
                        <a:rPr lang="en-US" altLang="ko-KR" sz="1100" b="1" kern="1200" spc="-3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DX</a:t>
                      </a:r>
                      <a:r>
                        <a:rPr lang="ko-KR" altLang="en-US" sz="1100" b="1" kern="1200" spc="-3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과제 수행</a:t>
                      </a:r>
                      <a:r>
                        <a:rPr lang="en-US" altLang="ko-KR" sz="1100" b="1" kern="1200" spc="-3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lang="en-US" altLang="ko-KR" sz="1100" b="1" kern="1200" spc="-30" baseline="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w.CPO</a:t>
                      </a:r>
                      <a:r>
                        <a:rPr lang="en-US" altLang="ko-KR" sz="1100" b="1" kern="1200" spc="-3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  <a:r>
                        <a:rPr lang="ko-KR" altLang="en-US" sz="1100" b="1" kern="1200" spc="-3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과 전극 자동보정 및 전극 </a:t>
                      </a:r>
                      <a:r>
                        <a:rPr lang="en-US" altLang="ko-KR" sz="1100" b="1" kern="1200" spc="-3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FDC</a:t>
                      </a:r>
                      <a:r>
                        <a:rPr lang="ko-KR" altLang="en-US" sz="1100" b="1" kern="1200" spc="-3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를 통해 전극 </a:t>
                      </a:r>
                      <a:r>
                        <a:rPr lang="ko-KR" altLang="en-US" sz="1100" b="1" kern="1200" spc="-30" baseline="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lang="ko-KR" altLang="en-US" sz="1100" b="1" kern="1200" spc="-3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개선활동 포함 평가 확장</a:t>
                      </a:r>
                      <a:endParaRPr lang="en-US" altLang="ko-KR" sz="1100" b="1" kern="1200" spc="-3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1334748"/>
                  </a:ext>
                </a:extLst>
              </a:tr>
            </a:tbl>
          </a:graphicData>
        </a:graphic>
      </p:graphicFrame>
      <p:sp>
        <p:nvSpPr>
          <p:cNvPr id="12" name="Text Box 3">
            <a:extLst>
              <a:ext uri="{FF2B5EF4-FFF2-40B4-BE49-F238E27FC236}">
                <a16:creationId xmlns:a16="http://schemas.microsoft.com/office/drawing/2014/main" id="{FEFC288F-77CA-406B-9803-9093227ECD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46699" y="115888"/>
            <a:ext cx="938325" cy="31892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36000" tIns="36000" rIns="36000" bIns="36000" anchor="ctr">
            <a:spAutoFit/>
          </a:bodyPr>
          <a:lstStyle/>
          <a:p>
            <a:pPr algn="r" eaLnBrk="0" fontAlgn="base" latinLnBrk="0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ko-KR" sz="16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KPI </a:t>
            </a:r>
            <a:r>
              <a:rPr kumimoji="1" lang="ko-KR" altLang="en-US" sz="16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수정안</a:t>
            </a:r>
            <a:endParaRPr kumimoji="1" lang="ko-KR" altLang="en-US" sz="1600" dirty="0">
              <a:solidFill>
                <a:prstClr val="black"/>
              </a:solidFill>
              <a:latin typeface="Arial Narrow" panose="020B0606020202030204" pitchFamily="34" charset="0"/>
              <a:ea typeface="LG스마트체 Regular" pitchFamily="50" charset="-127"/>
              <a:cs typeface="Arial" pitchFamily="34" charset="0"/>
            </a:endParaRPr>
          </a:p>
        </p:txBody>
      </p:sp>
      <p:sp>
        <p:nvSpPr>
          <p:cNvPr id="4" name="실행 단추: 앞으로 또는 다음 8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BCAFE8EE-AE13-6A6E-0FAA-DB57EE236E13}"/>
              </a:ext>
            </a:extLst>
          </p:cNvPr>
          <p:cNvSpPr/>
          <p:nvPr/>
        </p:nvSpPr>
        <p:spPr>
          <a:xfrm>
            <a:off x="6131319" y="4164460"/>
            <a:ext cx="140400" cy="133200"/>
          </a:xfrm>
          <a:prstGeom prst="actionButtonForwardNex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63" dirty="0"/>
          </a:p>
        </p:txBody>
      </p:sp>
      <p:sp>
        <p:nvSpPr>
          <p:cNvPr id="8" name="실행 단추: 앞으로 또는 다음 8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8D07F15F-4ACB-3051-0C2C-5F5E6859B31D}"/>
              </a:ext>
            </a:extLst>
          </p:cNvPr>
          <p:cNvSpPr/>
          <p:nvPr/>
        </p:nvSpPr>
        <p:spPr>
          <a:xfrm>
            <a:off x="6131319" y="3286982"/>
            <a:ext cx="140400" cy="133200"/>
          </a:xfrm>
          <a:prstGeom prst="actionButtonForwardNex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63" dirty="0"/>
          </a:p>
        </p:txBody>
      </p:sp>
      <p:sp>
        <p:nvSpPr>
          <p:cNvPr id="11" name="실행 단추: 앞으로 또는 다음 8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527716D6-DE28-C225-C7D7-EEC51F8F4BEB}"/>
              </a:ext>
            </a:extLst>
          </p:cNvPr>
          <p:cNvSpPr/>
          <p:nvPr/>
        </p:nvSpPr>
        <p:spPr>
          <a:xfrm>
            <a:off x="6131319" y="999321"/>
            <a:ext cx="140400" cy="133200"/>
          </a:xfrm>
          <a:prstGeom prst="actionButtonForwardNex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63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EE86E6-57D7-4FCA-8318-6CA28D5A88FF}"/>
              </a:ext>
            </a:extLst>
          </p:cNvPr>
          <p:cNvSpPr txBox="1"/>
          <p:nvPr/>
        </p:nvSpPr>
        <p:spPr>
          <a:xfrm>
            <a:off x="4632385" y="6698195"/>
            <a:ext cx="64123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 algn="ctr">
              <a:defRPr/>
            </a:pPr>
            <a:r>
              <a:rPr kumimoji="0" lang="en-US" altLang="ko-KR" sz="900" i="0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- 1 / 1 -</a:t>
            </a:r>
            <a:endParaRPr kumimoji="0" lang="ko-KR" altLang="en-US" sz="900" i="0" strike="noStrike" kern="1200" cap="none" spc="0" normalizeH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7" name="실행 단추: 앞으로 또는 다음 8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5D705E3B-8234-72E2-BE12-D217AAD45ACD}"/>
              </a:ext>
            </a:extLst>
          </p:cNvPr>
          <p:cNvSpPr/>
          <p:nvPr/>
        </p:nvSpPr>
        <p:spPr>
          <a:xfrm>
            <a:off x="6131319" y="1876799"/>
            <a:ext cx="140400" cy="133200"/>
          </a:xfrm>
          <a:prstGeom prst="actionButtonForwardNex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63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06037A6-D60B-49D5-9BC5-327DB262C575}"/>
              </a:ext>
            </a:extLst>
          </p:cNvPr>
          <p:cNvSpPr txBox="1"/>
          <p:nvPr/>
        </p:nvSpPr>
        <p:spPr>
          <a:xfrm>
            <a:off x="95895" y="174087"/>
            <a:ext cx="3853543" cy="369332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[ </a:t>
            </a:r>
            <a:r>
              <a:rPr kumimoji="1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자동보정담당 </a:t>
            </a:r>
            <a:r>
              <a:rPr kumimoji="1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/ </a:t>
            </a:r>
            <a:r>
              <a:rPr kumimoji="1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송무강 </a:t>
            </a:r>
            <a:r>
              <a:rPr kumimoji="1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/ </a:t>
            </a:r>
            <a:r>
              <a:rPr kumimoji="1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상무 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]</a:t>
            </a:r>
            <a:endParaRPr kumimoji="0" lang="ko-KR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374820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40251C-768B-B3D5-3221-E648874F3C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9E47C6C3-8C1C-6F96-826A-DB1753170E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6161176"/>
              </p:ext>
            </p:extLst>
          </p:nvPr>
        </p:nvGraphicFramePr>
        <p:xfrm>
          <a:off x="917420" y="620689"/>
          <a:ext cx="8788555" cy="5955080"/>
        </p:xfrm>
        <a:graphic>
          <a:graphicData uri="http://schemas.openxmlformats.org/drawingml/2006/table">
            <a:tbl>
              <a:tblPr/>
              <a:tblGrid>
                <a:gridCol w="791333">
                  <a:extLst>
                    <a:ext uri="{9D8B030D-6E8A-4147-A177-3AD203B41FA5}">
                      <a16:colId xmlns:a16="http://schemas.microsoft.com/office/drawing/2014/main" val="1583461695"/>
                    </a:ext>
                  </a:extLst>
                </a:gridCol>
                <a:gridCol w="377878">
                  <a:extLst>
                    <a:ext uri="{9D8B030D-6E8A-4147-A177-3AD203B41FA5}">
                      <a16:colId xmlns:a16="http://schemas.microsoft.com/office/drawing/2014/main" val="4227781156"/>
                    </a:ext>
                  </a:extLst>
                </a:gridCol>
                <a:gridCol w="570935">
                  <a:extLst>
                    <a:ext uri="{9D8B030D-6E8A-4147-A177-3AD203B41FA5}">
                      <a16:colId xmlns:a16="http://schemas.microsoft.com/office/drawing/2014/main" val="940625267"/>
                    </a:ext>
                  </a:extLst>
                </a:gridCol>
                <a:gridCol w="206656">
                  <a:extLst>
                    <a:ext uri="{9D8B030D-6E8A-4147-A177-3AD203B41FA5}">
                      <a16:colId xmlns:a16="http://schemas.microsoft.com/office/drawing/2014/main" val="2487817271"/>
                    </a:ext>
                  </a:extLst>
                </a:gridCol>
                <a:gridCol w="64294">
                  <a:extLst>
                    <a:ext uri="{9D8B030D-6E8A-4147-A177-3AD203B41FA5}">
                      <a16:colId xmlns:a16="http://schemas.microsoft.com/office/drawing/2014/main" val="4057220351"/>
                    </a:ext>
                  </a:extLst>
                </a:gridCol>
                <a:gridCol w="812889">
                  <a:extLst>
                    <a:ext uri="{9D8B030D-6E8A-4147-A177-3AD203B41FA5}">
                      <a16:colId xmlns:a16="http://schemas.microsoft.com/office/drawing/2014/main" val="4115920672"/>
                    </a:ext>
                  </a:extLst>
                </a:gridCol>
                <a:gridCol w="907258">
                  <a:extLst>
                    <a:ext uri="{9D8B030D-6E8A-4147-A177-3AD203B41FA5}">
                      <a16:colId xmlns:a16="http://schemas.microsoft.com/office/drawing/2014/main" val="2558446385"/>
                    </a:ext>
                  </a:extLst>
                </a:gridCol>
                <a:gridCol w="1375283">
                  <a:extLst>
                    <a:ext uri="{9D8B030D-6E8A-4147-A177-3AD203B41FA5}">
                      <a16:colId xmlns:a16="http://schemas.microsoft.com/office/drawing/2014/main" val="4074200436"/>
                    </a:ext>
                  </a:extLst>
                </a:gridCol>
                <a:gridCol w="250825">
                  <a:extLst>
                    <a:ext uri="{9D8B030D-6E8A-4147-A177-3AD203B41FA5}">
                      <a16:colId xmlns:a16="http://schemas.microsoft.com/office/drawing/2014/main" val="2409402569"/>
                    </a:ext>
                  </a:extLst>
                </a:gridCol>
                <a:gridCol w="2926379">
                  <a:extLst>
                    <a:ext uri="{9D8B030D-6E8A-4147-A177-3AD203B41FA5}">
                      <a16:colId xmlns:a16="http://schemas.microsoft.com/office/drawing/2014/main" val="3282466944"/>
                    </a:ext>
                  </a:extLst>
                </a:gridCol>
                <a:gridCol w="504825">
                  <a:extLst>
                    <a:ext uri="{9D8B030D-6E8A-4147-A177-3AD203B41FA5}">
                      <a16:colId xmlns:a16="http://schemas.microsoft.com/office/drawing/2014/main" val="303836669"/>
                    </a:ext>
                  </a:extLst>
                </a:gridCol>
              </a:tblGrid>
              <a:tr h="339973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1" i="0" u="none" strike="noStrike" kern="1200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’26</a:t>
                      </a:r>
                      <a:r>
                        <a:rPr lang="ko-KR" altLang="en-US" sz="1000" b="1" i="0" u="none" strike="noStrike" kern="1200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년 </a:t>
                      </a:r>
                      <a:r>
                        <a:rPr lang="en-US" altLang="ko-KR" sz="1000" b="1" i="0" u="none" strike="noStrike" kern="1200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KPI</a:t>
                      </a:r>
                      <a:endParaRPr lang="ko-KR" altLang="en-US" sz="1000" b="1" i="0" u="none" strike="noStrike" kern="1200" spc="-1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i="0" u="none" strike="noStrike" kern="1200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상세 목표</a:t>
                      </a:r>
                      <a:endParaRPr lang="en-US" altLang="ko-KR" sz="1000" b="1" i="0" u="none" strike="noStrike" kern="1200" spc="-1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i="0" u="none" strike="noStrike" kern="1200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비중</a:t>
                      </a:r>
                      <a:endParaRPr lang="en-US" altLang="ko-KR" sz="1000" b="1" i="0" u="none" strike="noStrike" kern="1200" spc="-1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목표 설정 근거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분기 목표 및 실행 계획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2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분기</a:t>
                      </a:r>
                      <a:b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진척평가</a:t>
                      </a: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8957706"/>
                  </a:ext>
                </a:extLst>
              </a:tr>
              <a:tr h="402211">
                <a:tc rowSpan="4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92075" indent="-92075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SzPct val="100000"/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제조 운영 </a:t>
                      </a:r>
                      <a:r>
                        <a:rPr lang="en-US" altLang="ko-KR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AX</a:t>
                      </a:r>
                      <a:br>
                        <a:rPr lang="en-US" altLang="ko-KR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en-US" altLang="ko-KR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BM/PD </a:t>
                      </a:r>
                      <a:r>
                        <a:rPr lang="ko-KR" altLang="en-US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</a:t>
                      </a:r>
                      <a:endParaRPr lang="en-US" altLang="ko-KR" sz="1000" b="1" kern="1200" spc="-1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4" gridSpan="2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AX</a:t>
                      </a: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기반 제조운영 </a:t>
                      </a:r>
                      <a:b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BM/PD Loss</a:t>
                      </a: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개선</a:t>
                      </a:r>
                      <a:b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Q: 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자동차</a:t>
                      </a: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/ESS </a:t>
                      </a:r>
                      <a:b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BM/PD 20% 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개선</a:t>
                      </a:r>
                      <a:b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(25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년 比</a:t>
                      </a: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)</a:t>
                      </a:r>
                      <a:endParaRPr kumimoji="1" lang="en-US" altLang="ko-KR" sz="10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4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4"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15%</a:t>
                      </a: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4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4" gridSpan="3"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BM/PD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20%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개선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기준 공정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COT/Roll Press/PKG/L&amp;S/AZS/NTC)</a:t>
                      </a: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10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4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4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1Q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9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2000" u="none" spc="-50" dirty="0">
                          <a:ln w="6350">
                            <a:solidFill>
                              <a:prstClr val="black">
                                <a:lumMod val="50000"/>
                                <a:lumOff val="50000"/>
                              </a:prstClr>
                            </a:solidFill>
                          </a:ln>
                          <a:solidFill>
                            <a:srgbClr val="00B05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●</a:t>
                      </a:r>
                      <a:r>
                        <a:rPr lang="ko-KR" altLang="en-US" sz="2000" u="none" spc="-50" baseline="30000" dirty="0">
                          <a:ln w="6350">
                            <a:solidFill>
                              <a:prstClr val="black">
                                <a:lumMod val="50000"/>
                                <a:lumOff val="50000"/>
                              </a:prstClr>
                            </a:solidFill>
                          </a:ln>
                          <a:solidFill>
                            <a:srgbClr val="00B05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br>
                        <a:rPr lang="en-US" altLang="ko-KR" sz="2000" u="none" spc="-50" dirty="0">
                          <a:ln w="6350">
                            <a:solidFill>
                              <a:prstClr val="black">
                                <a:lumMod val="50000"/>
                                <a:lumOff val="50000"/>
                              </a:prstClr>
                            </a:solidFill>
                          </a:ln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endParaRPr lang="en-US" altLang="ko-KR" sz="10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0" marT="0" marB="0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6654165"/>
                  </a:ext>
                </a:extLst>
              </a:tr>
              <a:tr h="40221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2Q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10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8396706"/>
                  </a:ext>
                </a:extLst>
              </a:tr>
              <a:tr h="40221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3Q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10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1808293"/>
                  </a:ext>
                </a:extLst>
              </a:tr>
              <a:tr h="2358001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1" i="0" u="none" strike="noStrike" kern="1200" cap="none" spc="-1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 v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실행</a:t>
                      </a:r>
                      <a:b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계획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[1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분기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]</a:t>
                      </a:r>
                    </a:p>
                    <a:p>
                      <a:pPr marL="90170" marR="0" lvl="0" indent="-9017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현상 분석 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/ 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과제 도출 </a:t>
                      </a:r>
                      <a:r>
                        <a:rPr kumimoji="0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/ 설비 </a:t>
                      </a:r>
                      <a:r>
                        <a:rPr kumimoji="0" lang="ko-KR" altLang="en-US" sz="10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Para</a:t>
                      </a:r>
                      <a:r>
                        <a:rPr kumimoji="0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 최적화</a:t>
                      </a:r>
                      <a:b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</a:b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- Data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 분석 및 환경 구성</a:t>
                      </a: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, 자동보정 로직 </a:t>
                      </a:r>
                      <a:r>
                        <a:rPr kumimoji="0" lang="ko-KR" altLang="en-US" sz="9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Concept</a:t>
                      </a: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 확정</a:t>
                      </a:r>
                      <a:b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</a:b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- FDC 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이상감지 로직 및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 Roll Map Data 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연계 준비</a:t>
                      </a:r>
                      <a:endParaRPr kumimoji="1" lang="en-US" altLang="ko-KR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   - 추가 과제 발굴 및 수행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[2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분기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]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90170" marR="0" lvl="0" indent="-9017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/>
                          <a:ea typeface="+mn-ea"/>
                          <a:cs typeface="+mn-cs"/>
                        </a:rPr>
                        <a:t>R/P, NND </a:t>
                      </a:r>
                      <a:r>
                        <a:rPr kumimoji="0" lang="en-US" altLang="ko-KR" sz="10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/>
                          <a:ea typeface="+mn-ea"/>
                          <a:cs typeface="+mn-cs"/>
                        </a:rPr>
                        <a:t>단선</a:t>
                      </a: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/>
                          <a:ea typeface="+mn-ea"/>
                          <a:cs typeface="+mn-cs"/>
                        </a:rPr>
                        <a:t> PD Loss 16% </a:t>
                      </a:r>
                      <a:r>
                        <a:rPr kumimoji="0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/>
                          <a:ea typeface="+mn-ea"/>
                          <a:cs typeface="+mn-cs"/>
                        </a:rPr>
                        <a:t>개선</a:t>
                      </a:r>
                      <a:endParaRPr kumimoji="0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/>
                        <a:ea typeface="+mn-ea"/>
                        <a:cs typeface="+mn-cs"/>
                      </a:endParaRPr>
                    </a:p>
                    <a:p>
                      <a:pPr marL="90170" marR="0" lvl="0" indent="-9017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개선 아이템 적용</a:t>
                      </a:r>
                      <a:b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/>
                          <a:ea typeface="+mn-ea"/>
                          <a:cs typeface="+mn-cs"/>
                        </a:rPr>
                      </a:b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- </a:t>
                      </a:r>
                      <a:r>
                        <a:rPr kumimoji="1" lang="ko-KR" altLang="en-US" sz="9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로딩량을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 고려한 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Feedforward  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자동보정  적용</a:t>
                      </a:r>
                      <a:b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</a:b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- 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대표호기 적용 및 모니터링</a:t>
                      </a:r>
                      <a:endParaRPr kumimoji="1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/>
                        <a:ea typeface="LG스마트체 Regular"/>
                        <a:cs typeface="Arial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[3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분기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]</a:t>
                      </a: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R/P, NND </a:t>
                      </a:r>
                      <a:r>
                        <a:rPr kumimoji="0" lang="en-US" altLang="ko-KR" sz="10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단선</a:t>
                      </a: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 PD Loss 20% </a:t>
                      </a:r>
                      <a:r>
                        <a:rPr kumimoji="0" lang="en-US" altLang="ko-KR" sz="10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개선</a:t>
                      </a:r>
                      <a:endParaRPr kumimoji="0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/>
                        <a:ea typeface="LG스마트체 Regular"/>
                        <a:cs typeface="Arial"/>
                      </a:endParaRP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모니터링 및 수평전개</a:t>
                      </a:r>
                      <a:b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</a:b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- 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모니터링 후 순차적으로 제어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/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자동보정 관련 단계별 확산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Arial Narrow"/>
                        <a:ea typeface="LG스마트체 Regular"/>
                        <a:cs typeface="Arial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10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579272"/>
                  </a:ext>
                </a:extLst>
              </a:tr>
              <a:tr h="148690">
                <a:tc gridSpan="9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평가 </a:t>
                      </a:r>
                      <a:r>
                        <a:rPr kumimoji="0" lang="en-US" altLang="ko-KR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Description</a:t>
                      </a: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9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경쟁지표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10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0971758"/>
                  </a:ext>
                </a:extLst>
              </a:tr>
              <a:tr h="14869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5</a:t>
                      </a: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4</a:t>
                      </a: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3</a:t>
                      </a: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9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</a:t>
                      </a: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</a:t>
                      </a: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10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3603302"/>
                  </a:ext>
                </a:extLst>
              </a:tr>
              <a:tr h="498365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24% </a:t>
                      </a:r>
                      <a:r>
                        <a:rPr kumimoji="0" lang="ko-KR" altLang="en-US" sz="1000" b="0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</a:t>
                      </a: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22% </a:t>
                      </a:r>
                      <a:r>
                        <a:rPr kumimoji="0" lang="ko-KR" altLang="en-US" sz="1000" b="0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</a:t>
                      </a:r>
                      <a:endParaRPr kumimoji="0" lang="en-US" altLang="ko-KR" sz="1000" b="0" i="0" u="none" strike="noStrike" kern="1200" cap="none" spc="-1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20% </a:t>
                      </a:r>
                      <a:r>
                        <a:rPr kumimoji="0" lang="ko-KR" altLang="en-US" sz="1000" b="0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</a:t>
                      </a:r>
                      <a:endParaRPr kumimoji="0" lang="en-US" altLang="ko-KR" sz="1000" b="0" i="0" u="none" strike="noStrike" kern="1200" cap="none" spc="-1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9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16% </a:t>
                      </a:r>
                      <a:r>
                        <a:rPr kumimoji="0" lang="ko-KR" altLang="en-US" sz="1000" b="0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</a:t>
                      </a:r>
                      <a:endParaRPr kumimoji="0" lang="en-US" altLang="ko-KR" sz="1000" b="0" i="0" u="none" strike="noStrike" kern="1200" cap="none" spc="-1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16% </a:t>
                      </a:r>
                      <a:r>
                        <a:rPr kumimoji="0" lang="ko-KR" altLang="en-US" sz="1000" b="0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미만</a:t>
                      </a:r>
                      <a:endParaRPr kumimoji="0" lang="en-US" altLang="ko-KR" sz="1000" b="0" i="0" u="none" strike="noStrike" kern="1200" cap="none" spc="-1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xx</a:t>
                      </a:r>
                      <a:endParaRPr kumimoji="1" lang="en-US" altLang="ko-KR" sz="10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10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6394541"/>
                  </a:ext>
                </a:extLst>
              </a:tr>
              <a:tr h="244800">
                <a:tc gridSpan="10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평가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Scale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산출 로직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/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기준</a:t>
                      </a:r>
                      <a:endParaRPr kumimoji="0" lang="en-US" altLang="ko-KR" sz="1000" b="1" i="0" u="none" strike="noStrike" kern="1200" cap="none" spc="-1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1" i="0" u="none" strike="noStrike" kern="1200" cap="none" spc="-1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1" i="0" u="none" strike="noStrike" kern="1200" cap="none" spc="-1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1" i="0" u="none" strike="noStrike" kern="1200" cap="none" spc="-1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1" i="0" u="none" strike="noStrike" kern="1200" cap="none" spc="-1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1" i="0" u="none" strike="noStrike" kern="1200" cap="none" spc="-1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9616984"/>
                  </a:ext>
                </a:extLst>
              </a:tr>
              <a:tr h="915441">
                <a:tc gridSpan="10">
                  <a:txBody>
                    <a:bodyPr/>
                    <a:lstStyle/>
                    <a:p>
                      <a:pPr marL="90000" marR="0" lvl="0" indent="-9000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평가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Description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배점에 대한 산출 로직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5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점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24%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4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점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22%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점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16%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점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16%</a:t>
                      </a:r>
                      <a:endParaRPr kumimoji="0" lang="en-US" altLang="ko-KR" sz="1000" b="1" i="0" u="none" strike="noStrike" kern="1200" cap="none" spc="-1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/>
                        </a:buClr>
                        <a:buSzTx/>
                        <a:buFontTx/>
                        <a:buChar char="•"/>
                        <a:tabLst>
                          <a:tab pos="0" algn="l"/>
                        </a:tabLst>
                        <a:defRPr/>
                      </a:pPr>
                      <a:endParaRPr kumimoji="0" lang="en-US" altLang="ko-KR" sz="1000" b="0" i="0" u="none" strike="noStrike" kern="1200" cap="none" spc="-1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1" i="0" u="none" strike="noStrike" kern="1200" cap="none" spc="-1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1812589"/>
                  </a:ext>
                </a:extLst>
              </a:tr>
            </a:tbl>
          </a:graphicData>
        </a:graphic>
      </p:graphicFrame>
      <p:sp>
        <p:nvSpPr>
          <p:cNvPr id="19" name="직사각형 18">
            <a:extLst>
              <a:ext uri="{FF2B5EF4-FFF2-40B4-BE49-F238E27FC236}">
                <a16:creationId xmlns:a16="http://schemas.microsoft.com/office/drawing/2014/main" id="{A8E877E9-D80C-C476-8FF2-3DB5E1897E94}"/>
              </a:ext>
            </a:extLst>
          </p:cNvPr>
          <p:cNvSpPr/>
          <p:nvPr/>
        </p:nvSpPr>
        <p:spPr>
          <a:xfrm>
            <a:off x="200025" y="620687"/>
            <a:ext cx="576263" cy="5940451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0000"/>
              </a:lnSpc>
            </a:pPr>
            <a:r>
              <a:rPr lang="ko-KR" altLang="en-US" sz="1200" b="1" spc="-100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변경 후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75AF5292-45EC-0CDF-2A20-E472976A6B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6297243"/>
              </p:ext>
            </p:extLst>
          </p:nvPr>
        </p:nvGraphicFramePr>
        <p:xfrm>
          <a:off x="2985246" y="1206333"/>
          <a:ext cx="2985247" cy="854538"/>
        </p:xfrm>
        <a:graphic>
          <a:graphicData uri="http://schemas.openxmlformats.org/drawingml/2006/table">
            <a:tbl>
              <a:tblPr/>
              <a:tblGrid>
                <a:gridCol w="285107">
                  <a:extLst>
                    <a:ext uri="{9D8B030D-6E8A-4147-A177-3AD203B41FA5}">
                      <a16:colId xmlns:a16="http://schemas.microsoft.com/office/drawing/2014/main" val="448372699"/>
                    </a:ext>
                  </a:extLst>
                </a:gridCol>
                <a:gridCol w="268337">
                  <a:extLst>
                    <a:ext uri="{9D8B030D-6E8A-4147-A177-3AD203B41FA5}">
                      <a16:colId xmlns:a16="http://schemas.microsoft.com/office/drawing/2014/main" val="3531961852"/>
                    </a:ext>
                  </a:extLst>
                </a:gridCol>
                <a:gridCol w="268337">
                  <a:extLst>
                    <a:ext uri="{9D8B030D-6E8A-4147-A177-3AD203B41FA5}">
                      <a16:colId xmlns:a16="http://schemas.microsoft.com/office/drawing/2014/main" val="3876058939"/>
                    </a:ext>
                  </a:extLst>
                </a:gridCol>
                <a:gridCol w="268337">
                  <a:extLst>
                    <a:ext uri="{9D8B030D-6E8A-4147-A177-3AD203B41FA5}">
                      <a16:colId xmlns:a16="http://schemas.microsoft.com/office/drawing/2014/main" val="1144578316"/>
                    </a:ext>
                  </a:extLst>
                </a:gridCol>
                <a:gridCol w="268337">
                  <a:extLst>
                    <a:ext uri="{9D8B030D-6E8A-4147-A177-3AD203B41FA5}">
                      <a16:colId xmlns:a16="http://schemas.microsoft.com/office/drawing/2014/main" val="2758194912"/>
                    </a:ext>
                  </a:extLst>
                </a:gridCol>
                <a:gridCol w="268337">
                  <a:extLst>
                    <a:ext uri="{9D8B030D-6E8A-4147-A177-3AD203B41FA5}">
                      <a16:colId xmlns:a16="http://schemas.microsoft.com/office/drawing/2014/main" val="1690716757"/>
                    </a:ext>
                  </a:extLst>
                </a:gridCol>
                <a:gridCol w="268337">
                  <a:extLst>
                    <a:ext uri="{9D8B030D-6E8A-4147-A177-3AD203B41FA5}">
                      <a16:colId xmlns:a16="http://schemas.microsoft.com/office/drawing/2014/main" val="3938954016"/>
                    </a:ext>
                  </a:extLst>
                </a:gridCol>
                <a:gridCol w="268337">
                  <a:extLst>
                    <a:ext uri="{9D8B030D-6E8A-4147-A177-3AD203B41FA5}">
                      <a16:colId xmlns:a16="http://schemas.microsoft.com/office/drawing/2014/main" val="2741989067"/>
                    </a:ext>
                  </a:extLst>
                </a:gridCol>
                <a:gridCol w="268337">
                  <a:extLst>
                    <a:ext uri="{9D8B030D-6E8A-4147-A177-3AD203B41FA5}">
                      <a16:colId xmlns:a16="http://schemas.microsoft.com/office/drawing/2014/main" val="3800816768"/>
                    </a:ext>
                  </a:extLst>
                </a:gridCol>
                <a:gridCol w="268337">
                  <a:extLst>
                    <a:ext uri="{9D8B030D-6E8A-4147-A177-3AD203B41FA5}">
                      <a16:colId xmlns:a16="http://schemas.microsoft.com/office/drawing/2014/main" val="672968338"/>
                    </a:ext>
                  </a:extLst>
                </a:gridCol>
                <a:gridCol w="285107">
                  <a:extLst>
                    <a:ext uri="{9D8B030D-6E8A-4147-A177-3AD203B41FA5}">
                      <a16:colId xmlns:a16="http://schemas.microsoft.com/office/drawing/2014/main" val="1593203743"/>
                    </a:ext>
                  </a:extLst>
                </a:gridCol>
              </a:tblGrid>
              <a:tr h="284846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구분</a:t>
                      </a:r>
                      <a:endParaRPr lang="ko-KR" altLang="en-US" sz="900" b="1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gridSpan="6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자동차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ESS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법인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계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1190825"/>
                  </a:ext>
                </a:extLst>
              </a:tr>
              <a:tr h="28484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COT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PKG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Lami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AZS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RP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NTC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PKG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Lami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NTC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1842810"/>
                  </a:ext>
                </a:extLst>
              </a:tr>
              <a:tr h="284846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공정</a:t>
                      </a:r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계</a:t>
                      </a:r>
                      <a:endParaRPr lang="ko-KR" altLang="en-US" sz="900" b="1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16%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11%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17%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1%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6%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35%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14%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37%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43%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20.0%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0834306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AA1F067C-53BE-3CF0-D563-89544D0CBB29}"/>
              </a:ext>
            </a:extLst>
          </p:cNvPr>
          <p:cNvSpPr txBox="1"/>
          <p:nvPr/>
        </p:nvSpPr>
        <p:spPr>
          <a:xfrm>
            <a:off x="2967635" y="2099042"/>
            <a:ext cx="1985366" cy="215444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※ </a:t>
            </a:r>
            <a:r>
              <a:rPr kumimoji="0" lang="ko-KR" altLang="en-US" sz="80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각 공정 개선율의 산술평균으로 목표 산정</a:t>
            </a:r>
            <a:endParaRPr kumimoji="0" lang="ko-KR" altLang="en-US" sz="800" i="0" u="none" strike="noStrike" kern="1200" cap="none" spc="0" normalizeH="0" baseline="0" noProof="0" dirty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6" name="Text Box 3">
            <a:extLst>
              <a:ext uri="{FF2B5EF4-FFF2-40B4-BE49-F238E27FC236}">
                <a16:creationId xmlns:a16="http://schemas.microsoft.com/office/drawing/2014/main" id="{2801E963-55D7-8B83-EDEA-1AFE6E7C77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52560" y="115888"/>
            <a:ext cx="2280039" cy="31892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36000" tIns="36000" rIns="36000" bIns="36000" anchor="ctr">
            <a:spAutoFit/>
          </a:bodyPr>
          <a:lstStyle/>
          <a:p>
            <a:pPr marL="0" marR="0" lvl="0" indent="0" algn="r" defTabSz="4572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➍ KPI </a:t>
            </a:r>
            <a:r>
              <a:rPr kumimoji="1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수정 검토양식 </a:t>
            </a:r>
            <a:r>
              <a:rPr kumimoji="1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(</a:t>
            </a:r>
            <a:r>
              <a:rPr kumimoji="1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상세</a:t>
            </a:r>
            <a:r>
              <a:rPr kumimoji="1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)</a:t>
            </a:r>
            <a:endParaRPr kumimoji="1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itchFamily="50" charset="-127"/>
              <a:cs typeface="Arial" pitchFamily="34" charset="0"/>
            </a:endParaRPr>
          </a:p>
        </p:txBody>
      </p:sp>
      <p:sp>
        <p:nvSpPr>
          <p:cNvPr id="11" name="실행 단추: 홈으로 이동 10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058D03BA-CDA1-D681-B5C6-6514E17F61E1}"/>
              </a:ext>
            </a:extLst>
          </p:cNvPr>
          <p:cNvSpPr/>
          <p:nvPr/>
        </p:nvSpPr>
        <p:spPr>
          <a:xfrm>
            <a:off x="9559720" y="92454"/>
            <a:ext cx="208721" cy="215315"/>
          </a:xfrm>
          <a:prstGeom prst="actionButtonHom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895A5FC-50B1-B39E-8E46-226A1B6D8B1B}"/>
              </a:ext>
            </a:extLst>
          </p:cNvPr>
          <p:cNvSpPr txBox="1"/>
          <p:nvPr/>
        </p:nvSpPr>
        <p:spPr>
          <a:xfrm>
            <a:off x="4632385" y="6698195"/>
            <a:ext cx="64123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 algn="ctr">
              <a:defRPr/>
            </a:pPr>
            <a:r>
              <a:rPr kumimoji="0" lang="en-US" altLang="ko-KR" sz="900" i="0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- 2 / 5 -</a:t>
            </a:r>
            <a:endParaRPr kumimoji="0" lang="ko-KR" altLang="en-US" sz="900" i="0" strike="noStrike" kern="1200" cap="none" spc="0" normalizeH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ECF618C-8F5E-8F19-5B7D-B192915034BE}"/>
              </a:ext>
            </a:extLst>
          </p:cNvPr>
          <p:cNvSpPr txBox="1"/>
          <p:nvPr/>
        </p:nvSpPr>
        <p:spPr>
          <a:xfrm>
            <a:off x="95895" y="174087"/>
            <a:ext cx="3853543" cy="369332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[ </a:t>
            </a:r>
            <a:r>
              <a:rPr kumimoji="1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자동보정담당 </a:t>
            </a:r>
            <a:r>
              <a:rPr kumimoji="1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/ </a:t>
            </a:r>
            <a:r>
              <a:rPr kumimoji="1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송무강 </a:t>
            </a:r>
            <a:r>
              <a:rPr kumimoji="1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/ </a:t>
            </a:r>
            <a:r>
              <a:rPr kumimoji="1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상무 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]</a:t>
            </a:r>
            <a:endParaRPr kumimoji="0" lang="ko-KR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667995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2A15CE-7540-DA38-B3F3-D9758F9A49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92E09F84-77B8-65C0-BC79-84725809CD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0120308"/>
              </p:ext>
            </p:extLst>
          </p:nvPr>
        </p:nvGraphicFramePr>
        <p:xfrm>
          <a:off x="917420" y="620689"/>
          <a:ext cx="8797255" cy="5937274"/>
        </p:xfrm>
        <a:graphic>
          <a:graphicData uri="http://schemas.openxmlformats.org/drawingml/2006/table">
            <a:tbl>
              <a:tblPr/>
              <a:tblGrid>
                <a:gridCol w="791333">
                  <a:extLst>
                    <a:ext uri="{9D8B030D-6E8A-4147-A177-3AD203B41FA5}">
                      <a16:colId xmlns:a16="http://schemas.microsoft.com/office/drawing/2014/main" val="1583461695"/>
                    </a:ext>
                  </a:extLst>
                </a:gridCol>
                <a:gridCol w="377878">
                  <a:extLst>
                    <a:ext uri="{9D8B030D-6E8A-4147-A177-3AD203B41FA5}">
                      <a16:colId xmlns:a16="http://schemas.microsoft.com/office/drawing/2014/main" val="4227781156"/>
                    </a:ext>
                  </a:extLst>
                </a:gridCol>
                <a:gridCol w="570935">
                  <a:extLst>
                    <a:ext uri="{9D8B030D-6E8A-4147-A177-3AD203B41FA5}">
                      <a16:colId xmlns:a16="http://schemas.microsoft.com/office/drawing/2014/main" val="940625267"/>
                    </a:ext>
                  </a:extLst>
                </a:gridCol>
                <a:gridCol w="206656">
                  <a:extLst>
                    <a:ext uri="{9D8B030D-6E8A-4147-A177-3AD203B41FA5}">
                      <a16:colId xmlns:a16="http://schemas.microsoft.com/office/drawing/2014/main" val="2487817271"/>
                    </a:ext>
                  </a:extLst>
                </a:gridCol>
                <a:gridCol w="64294">
                  <a:extLst>
                    <a:ext uri="{9D8B030D-6E8A-4147-A177-3AD203B41FA5}">
                      <a16:colId xmlns:a16="http://schemas.microsoft.com/office/drawing/2014/main" val="4057220351"/>
                    </a:ext>
                  </a:extLst>
                </a:gridCol>
                <a:gridCol w="812889">
                  <a:extLst>
                    <a:ext uri="{9D8B030D-6E8A-4147-A177-3AD203B41FA5}">
                      <a16:colId xmlns:a16="http://schemas.microsoft.com/office/drawing/2014/main" val="4115920672"/>
                    </a:ext>
                  </a:extLst>
                </a:gridCol>
                <a:gridCol w="907258">
                  <a:extLst>
                    <a:ext uri="{9D8B030D-6E8A-4147-A177-3AD203B41FA5}">
                      <a16:colId xmlns:a16="http://schemas.microsoft.com/office/drawing/2014/main" val="2558446385"/>
                    </a:ext>
                  </a:extLst>
                </a:gridCol>
                <a:gridCol w="1375283">
                  <a:extLst>
                    <a:ext uri="{9D8B030D-6E8A-4147-A177-3AD203B41FA5}">
                      <a16:colId xmlns:a16="http://schemas.microsoft.com/office/drawing/2014/main" val="4074200436"/>
                    </a:ext>
                  </a:extLst>
                </a:gridCol>
                <a:gridCol w="250825">
                  <a:extLst>
                    <a:ext uri="{9D8B030D-6E8A-4147-A177-3AD203B41FA5}">
                      <a16:colId xmlns:a16="http://schemas.microsoft.com/office/drawing/2014/main" val="2409402569"/>
                    </a:ext>
                  </a:extLst>
                </a:gridCol>
                <a:gridCol w="2935904">
                  <a:extLst>
                    <a:ext uri="{9D8B030D-6E8A-4147-A177-3AD203B41FA5}">
                      <a16:colId xmlns:a16="http://schemas.microsoft.com/office/drawing/2014/main" val="3282466944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303836669"/>
                    </a:ext>
                  </a:extLst>
                </a:gridCol>
              </a:tblGrid>
              <a:tr h="343312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1" i="0" u="none" strike="noStrike" kern="1200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’26</a:t>
                      </a:r>
                      <a:r>
                        <a:rPr lang="ko-KR" altLang="en-US" sz="1000" b="1" i="0" u="none" strike="noStrike" kern="1200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년 </a:t>
                      </a:r>
                      <a:r>
                        <a:rPr lang="en-US" altLang="ko-KR" sz="1000" b="1" i="0" u="none" strike="noStrike" kern="1200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KPI</a:t>
                      </a:r>
                      <a:endParaRPr lang="ko-KR" altLang="en-US" sz="1000" b="1" i="0" u="none" strike="noStrike" kern="1200" spc="-1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i="0" u="none" strike="noStrike" kern="1200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상세 목표</a:t>
                      </a:r>
                      <a:endParaRPr lang="en-US" altLang="ko-KR" sz="1000" b="1" i="0" u="none" strike="noStrike" kern="1200" spc="-1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i="0" u="none" strike="noStrike" kern="1200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비중</a:t>
                      </a:r>
                      <a:endParaRPr lang="en-US" altLang="ko-KR" sz="1000" b="1" i="0" u="none" strike="noStrike" kern="1200" spc="-1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목표 설정 근거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분기 목표 및 실행 계획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2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분기</a:t>
                      </a:r>
                      <a:b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진척평가</a:t>
                      </a: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8957706"/>
                  </a:ext>
                </a:extLst>
              </a:tr>
              <a:tr h="453494">
                <a:tc rowSpan="4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92075" marR="0" lvl="0" indent="-92075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Pct val="10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9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북미 </a:t>
                      </a:r>
                      <a:r>
                        <a:rPr kumimoji="0" lang="en-US" altLang="ko-KR" sz="9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ESS </a:t>
                      </a:r>
                      <a:br>
                        <a:rPr kumimoji="0" lang="en-US" altLang="ko-KR" sz="9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</a:br>
                      <a:r>
                        <a:rPr kumimoji="0" lang="ko-KR" altLang="en-US" sz="9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종합 </a:t>
                      </a:r>
                      <a:r>
                        <a:rPr kumimoji="0" lang="ko-KR" altLang="en-US" sz="900" b="1" i="0" u="none" strike="noStrike" kern="1200" cap="none" spc="-1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수율</a:t>
                      </a:r>
                      <a:r>
                        <a:rPr kumimoji="0" lang="ko-KR" altLang="en-US" sz="9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 개선 </a:t>
                      </a:r>
                      <a:br>
                        <a:rPr kumimoji="0" lang="ko-KR" altLang="en-US" sz="9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</a:br>
                      <a:r>
                        <a:rPr kumimoji="0" lang="en-US" altLang="ko-KR" sz="9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(MI2, MI_L,OT, HD)</a:t>
                      </a: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4" gridSpan="2">
                  <a:txBody>
                    <a:bodyPr/>
                    <a:lstStyle/>
                    <a:p>
                      <a:pPr marL="88900" marR="0" lvl="0" indent="-889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북미</a:t>
                      </a:r>
                      <a: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 AX</a:t>
                      </a: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기반 </a:t>
                      </a:r>
                      <a: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ESS </a:t>
                      </a: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종합 </a:t>
                      </a:r>
                      <a:r>
                        <a:rPr kumimoji="1" lang="ko-KR" altLang="en-US" sz="1000" b="1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b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</a:t>
                      </a:r>
                      <a:b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Q : ESMI, MI_LS, OT, HD ESS </a:t>
                      </a:r>
                      <a:r>
                        <a:rPr kumimoji="1" lang="ko-KR" altLang="en-US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종합 </a:t>
                      </a:r>
                      <a:r>
                        <a:rPr kumimoji="1" lang="ko-KR" altLang="en-US" sz="900" b="0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kumimoji="1" lang="ko-KR" altLang="en-US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94.3%</a:t>
                      </a:r>
                      <a:b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D : ’26.12</a:t>
                      </a:r>
                      <a:r>
                        <a:rPr kumimoji="1" lang="ko-KR" altLang="en-US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월</a:t>
                      </a:r>
                      <a:endParaRPr kumimoji="1" lang="en-US" altLang="ko-KR" sz="9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4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4"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20%</a:t>
                      </a: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4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4" gridSpan="3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[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전년실적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 ESS </a:t>
                      </a:r>
                      <a:r>
                        <a:rPr kumimoji="0" lang="ko-KR" altLang="en-US" sz="1000" b="0" i="0" u="none" strike="noStrike" kern="1200" cap="none" spc="-30" normalizeH="0" baseline="0" noProof="0" dirty="0" err="1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000" spc="-5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MI 94.1%, OT 91.4% (’25</a:t>
                      </a:r>
                      <a:r>
                        <a:rPr lang="ko-KR" altLang="en-US" sz="1000" spc="-5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년 누적</a:t>
                      </a:r>
                      <a:r>
                        <a:rPr lang="en-US" altLang="ko-KR" sz="1000" spc="-5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 </a:t>
                      </a: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MI, MI_L, OT, HD </a:t>
                      </a: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법인 </a:t>
                      </a:r>
                      <a: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ESS </a:t>
                      </a: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전 라인 종합 </a:t>
                      </a:r>
                      <a:r>
                        <a:rPr kumimoji="1" lang="ko-KR" altLang="en-US" sz="1000" b="1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달성</a:t>
                      </a:r>
                      <a:endParaRPr kumimoji="1" lang="en-US" altLang="ko-KR" sz="1000" b="1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 </a:t>
                      </a: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전라인 </a:t>
                      </a:r>
                      <a:r>
                        <a:rPr kumimoji="1" lang="ko-KR" altLang="en-US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종합 </a:t>
                      </a:r>
                      <a:r>
                        <a:rPr kumimoji="1" lang="ko-KR" altLang="en-US" sz="1000" b="0" i="0" u="none" strike="noStrike" kern="1200" cap="none" spc="-50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kumimoji="1" lang="ko-KR" altLang="en-US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달성 </a:t>
                      </a:r>
                      <a: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 </a:t>
                      </a:r>
                      <a:r>
                        <a:rPr kumimoji="1" lang="ko-KR" altLang="en-US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북미 </a:t>
                      </a:r>
                      <a: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ESS </a:t>
                      </a:r>
                      <a:r>
                        <a:rPr kumimoji="1" lang="ko-KR" altLang="en-US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공급 극대화 목표 달성</a:t>
                      </a:r>
                      <a:b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-</a:t>
                      </a: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000" b="0" kern="12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대상 </a:t>
                      </a: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MI,</a:t>
                      </a:r>
                      <a:r>
                        <a:rPr lang="ko-KR" altLang="en-US" sz="1000" b="0" kern="12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MI_L, OT,</a:t>
                      </a:r>
                      <a:r>
                        <a:rPr lang="ko-KR" altLang="en-US" sz="1000" b="0" kern="12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HD ESS</a:t>
                      </a:r>
                      <a:r>
                        <a:rPr lang="ko-KR" altLang="en-US" sz="1000" b="0" kern="12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전 라인 기준</a:t>
                      </a:r>
                      <a:b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- </a:t>
                      </a:r>
                      <a:r>
                        <a:rPr lang="ko-KR" altLang="en-US" sz="1000" b="0" kern="12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완료 기준 </a:t>
                      </a: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</a:t>
                      </a:r>
                      <a:r>
                        <a:rPr lang="ko-KR" altLang="en-US" sz="1000" b="0" kern="12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년 평균 기준 목표 </a:t>
                      </a:r>
                      <a:r>
                        <a:rPr lang="ko-KR" altLang="en-US" sz="1000" b="0" kern="1200" baseline="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lang="ko-KR" altLang="en-US" sz="1000" b="0" kern="12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달성 </a:t>
                      </a: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000" b="0" kern="12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누적 기준</a:t>
                      </a: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10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4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4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1Q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b="1" kern="1200" spc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93.5%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9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2000" b="0" i="0" u="none" strike="noStrike" kern="1200" cap="none" spc="-50" normalizeH="0" baseline="0" noProof="0" dirty="0">
                          <a:ln w="6350">
                            <a:solidFill>
                              <a:prstClr val="black">
                                <a:lumMod val="50000"/>
                                <a:lumOff val="50000"/>
                              </a:prstClr>
                            </a:solidFill>
                          </a:ln>
                          <a:solidFill>
                            <a:srgbClr val="FFFF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●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2000" u="none" spc="-50" baseline="30000" dirty="0">
                          <a:ln w="6350">
                            <a:solidFill>
                              <a:prstClr val="black">
                                <a:lumMod val="50000"/>
                                <a:lumOff val="50000"/>
                              </a:prstClr>
                            </a:solidFill>
                          </a:ln>
                          <a:solidFill>
                            <a:srgbClr val="00B05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br>
                        <a:rPr lang="en-US" altLang="ko-KR" sz="2000" u="none" spc="-50" dirty="0">
                          <a:ln w="6350">
                            <a:solidFill>
                              <a:prstClr val="black">
                                <a:lumMod val="50000"/>
                                <a:lumOff val="50000"/>
                              </a:prstClr>
                            </a:solidFill>
                          </a:ln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endParaRPr lang="en-US" altLang="ko-KR" sz="10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0" marT="0" marB="0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6654165"/>
                  </a:ext>
                </a:extLst>
              </a:tr>
              <a:tr h="45349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2Q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b="1" kern="1200" spc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93.7% </a:t>
                      </a:r>
                      <a:r>
                        <a:rPr lang="en-US" altLang="ko-KR" sz="1000" b="1" kern="1200" spc="0" baseline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(2Q </a:t>
                      </a:r>
                      <a:r>
                        <a:rPr lang="ko-KR" altLang="en-US" sz="1000" b="1" kern="1200" spc="0" baseline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누적 </a:t>
                      </a:r>
                      <a:r>
                        <a:rPr lang="en-US" altLang="ko-KR" sz="1000" b="1" kern="1200" spc="0" baseline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93.6%)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uLnTx/>
                        <a:uFillTx/>
                        <a:latin typeface="Arial Narrow"/>
                        <a:ea typeface="LG스마트체 Regular"/>
                        <a:cs typeface="Arial"/>
                      </a:endParaRPr>
                    </a:p>
                  </a:txBody>
                  <a:tcPr marL="36000" marR="3600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10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8396706"/>
                  </a:ext>
                </a:extLst>
              </a:tr>
              <a:tr h="45349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3Q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b="1" kern="1200" spc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94.4% </a:t>
                      </a:r>
                      <a:r>
                        <a:rPr lang="en-US" altLang="ko-KR" sz="1000" b="1" kern="1200" spc="0" baseline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(3Q </a:t>
                      </a:r>
                      <a:r>
                        <a:rPr lang="ko-KR" altLang="en-US" sz="1000" b="1" kern="1200" spc="0" baseline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누적 </a:t>
                      </a:r>
                      <a:r>
                        <a:rPr lang="en-US" altLang="ko-KR" sz="1000" b="1" kern="1200" spc="0" baseline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93.9%)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uLnTx/>
                        <a:uFillTx/>
                        <a:latin typeface="Arial Narrow"/>
                        <a:ea typeface="LG스마트체 Regular"/>
                        <a:cs typeface="Arial"/>
                      </a:endParaRPr>
                    </a:p>
                  </a:txBody>
                  <a:tcPr marL="36000" marR="3600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10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1808293"/>
                  </a:ext>
                </a:extLst>
              </a:tr>
              <a:tr h="777978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1" i="0" u="none" strike="noStrike" kern="1200" cap="none" spc="-1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 v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실행</a:t>
                      </a:r>
                      <a:b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계획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[1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분기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] 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개선 과제 도출 및 개발 착수</a:t>
                      </a:r>
                      <a:b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</a:br>
                      <a:r>
                        <a:rPr kumimoji="0" lang="en-US" altLang="ko-KR" sz="900" b="0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   - [</a:t>
                      </a:r>
                      <a:r>
                        <a:rPr kumimoji="0" lang="ko-KR" altLang="en-US" sz="900" b="0" i="0" u="none" strike="noStrike" kern="1200" cap="none" spc="-1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코터</a:t>
                      </a:r>
                      <a:r>
                        <a:rPr kumimoji="0" lang="en-US" altLang="ko-KR" sz="900" b="0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] </a:t>
                      </a:r>
                      <a:r>
                        <a:rPr kumimoji="0" lang="ko-KR" altLang="en-US" sz="900" b="0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동시절연 비전 검사기 검출 항목 정의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   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- [</a:t>
                      </a:r>
                      <a:r>
                        <a:rPr kumimoji="1" lang="ko-KR" altLang="en-US" sz="9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라미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] </a:t>
                      </a:r>
                      <a:r>
                        <a:rPr kumimoji="0" lang="ko-KR" altLang="en-US" sz="900" b="0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재료 교체 및 가</a:t>
                      </a:r>
                      <a:r>
                        <a:rPr kumimoji="0" lang="en-US" altLang="ko-KR" sz="900" b="0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/</a:t>
                      </a:r>
                      <a:r>
                        <a:rPr kumimoji="0" lang="ko-KR" altLang="en-US" sz="900" b="0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감속 구간 로직 고도화</a:t>
                      </a:r>
                      <a:br>
                        <a:rPr kumimoji="0" lang="en-US" altLang="ko-KR" sz="900" b="0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</a:br>
                      <a:r>
                        <a:rPr kumimoji="0" lang="en-US" altLang="ko-KR" sz="900" b="0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   - [</a:t>
                      </a:r>
                      <a:r>
                        <a:rPr kumimoji="0" lang="ko-KR" altLang="en-US" sz="900" b="0" i="0" u="none" strike="noStrike" kern="1200" cap="none" spc="-1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라미</a:t>
                      </a:r>
                      <a:r>
                        <a:rPr kumimoji="0" lang="en-US" altLang="ko-KR" sz="900" b="0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] </a:t>
                      </a:r>
                      <a:r>
                        <a:rPr kumimoji="0" lang="ko-KR" altLang="en-US" sz="900" b="0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재료교체 시 전극 이음매 위치 자동보정 개발</a:t>
                      </a:r>
                      <a:endParaRPr kumimoji="1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/>
                        <a:ea typeface="LG스마트체 Regular"/>
                        <a:cs typeface="Arial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   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- [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스택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] </a:t>
                      </a:r>
                      <a:r>
                        <a:rPr kumimoji="0" lang="ko-KR" altLang="en-US" sz="900" b="0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스택 </a:t>
                      </a:r>
                      <a:r>
                        <a:rPr kumimoji="0" lang="en-US" altLang="ko-KR" sz="900" b="0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Belt Pitch</a:t>
                      </a:r>
                      <a:r>
                        <a:rPr kumimoji="0" lang="ko-KR" altLang="en-US" sz="900" b="0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를 고려한 셀 넘버별 자동보정 고도화 </a:t>
                      </a:r>
                      <a:br>
                        <a:rPr kumimoji="0" lang="en-US" altLang="ko-KR" sz="900" b="0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</a:br>
                      <a:r>
                        <a:rPr kumimoji="0" lang="en-US" altLang="ko-KR" sz="900" b="0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   - [</a:t>
                      </a:r>
                      <a:r>
                        <a:rPr kumimoji="0" lang="ko-KR" altLang="en-US" sz="900" b="0" i="0" u="none" strike="noStrike" kern="1200" cap="none" spc="-1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라미</a:t>
                      </a:r>
                      <a:r>
                        <a:rPr kumimoji="0" lang="en-US" altLang="ko-KR" sz="900" b="0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/</a:t>
                      </a:r>
                      <a:r>
                        <a:rPr kumimoji="0" lang="ko-KR" altLang="en-US" sz="900" b="0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스택</a:t>
                      </a:r>
                      <a:r>
                        <a:rPr kumimoji="0" lang="en-US" altLang="ko-KR" sz="900" b="0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] </a:t>
                      </a:r>
                      <a:r>
                        <a:rPr kumimoji="0" lang="ko-KR" altLang="en-US" sz="900" b="0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실시간 이상감지 기술 활성화</a:t>
                      </a:r>
                      <a:endParaRPr kumimoji="1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/>
                        <a:ea typeface="LG스마트체 Regular"/>
                        <a:cs typeface="Arial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/>
                        <a:ea typeface="LG스마트체 Regular"/>
                        <a:cs typeface="Arial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[2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분기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] 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대표호기 적용 및 검증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   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- ESMI2 / ESOT 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대표호기 적용 및 효과 검증 </a:t>
                      </a:r>
                      <a:endParaRPr kumimoji="1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/>
                        <a:ea typeface="LG스마트체 Regular"/>
                        <a:cs typeface="Arial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/>
                        <a:ea typeface="LG스마트체 Regular"/>
                        <a:cs typeface="Arial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[3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분기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] 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수평 전개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   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- ESS 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전 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Site(ESMI2 / ESOT / ESMI_L / ESHD) 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수평전개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/>
                        <a:ea typeface="LG스마트체 Regular"/>
                        <a:cs typeface="Arial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[4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분기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]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   - 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개선안 적용 후 결과 모니터링 및 유지관리 </a:t>
                      </a:r>
                      <a:endParaRPr kumimoji="1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/>
                        <a:ea typeface="LG스마트체 Regular"/>
                        <a:cs typeface="Arial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10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579272"/>
                  </a:ext>
                </a:extLst>
              </a:tr>
              <a:tr h="64412">
                <a:tc gridSpan="9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평가 </a:t>
                      </a:r>
                      <a:r>
                        <a:rPr kumimoji="0" lang="en-US" altLang="ko-KR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Description</a:t>
                      </a: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9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경쟁지표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10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0971758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5</a:t>
                      </a: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4</a:t>
                      </a: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3</a:t>
                      </a: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9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</a:t>
                      </a: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</a:t>
                      </a: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10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3603302"/>
                  </a:ext>
                </a:extLst>
              </a:tr>
              <a:tr h="493037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95.4% </a:t>
                      </a:r>
                      <a:r>
                        <a:rPr kumimoji="0" lang="ko-KR" altLang="en-US" sz="1000" b="0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</a:t>
                      </a: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94.9% </a:t>
                      </a:r>
                      <a:r>
                        <a:rPr kumimoji="0" lang="ko-KR" altLang="en-US" sz="1000" b="0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</a:t>
                      </a:r>
                      <a:endParaRPr kumimoji="0" lang="en-US" altLang="ko-KR" sz="1000" b="0" i="0" u="none" strike="noStrike" kern="1200" cap="none" spc="-1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94.3% </a:t>
                      </a:r>
                      <a:r>
                        <a:rPr kumimoji="0" lang="ko-KR" altLang="en-US" sz="1000" b="0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</a:t>
                      </a:r>
                      <a:endParaRPr kumimoji="0" lang="en-US" altLang="ko-KR" sz="1000" b="0" i="0" u="none" strike="noStrike" kern="1200" cap="none" spc="-1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9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93.2% </a:t>
                      </a:r>
                      <a:r>
                        <a:rPr kumimoji="0" lang="ko-KR" altLang="en-US" sz="1000" b="0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</a:t>
                      </a:r>
                      <a:endParaRPr kumimoji="0" lang="en-US" altLang="ko-KR" sz="1000" b="0" i="0" u="none" strike="noStrike" kern="1200" cap="none" spc="-1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93.2% </a:t>
                      </a:r>
                      <a:r>
                        <a:rPr kumimoji="0" lang="ko-KR" altLang="en-US" sz="1000" b="0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미만</a:t>
                      </a:r>
                      <a:endParaRPr kumimoji="0" lang="en-US" altLang="ko-KR" sz="1000" b="0" i="0" u="none" strike="noStrike" kern="1200" cap="none" spc="-1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xx</a:t>
                      </a:r>
                      <a:endParaRPr kumimoji="1" lang="en-US" altLang="ko-KR" sz="10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10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6394541"/>
                  </a:ext>
                </a:extLst>
              </a:tr>
              <a:tr h="247650">
                <a:tc gridSpan="10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평가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Scale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산출 로직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/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기준</a:t>
                      </a:r>
                      <a:endParaRPr kumimoji="0" lang="en-US" altLang="ko-KR" sz="1000" b="1" i="0" u="none" strike="noStrike" kern="1200" cap="none" spc="-1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1" i="0" u="none" strike="noStrike" kern="1200" cap="none" spc="-1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1" i="0" u="none" strike="noStrike" kern="1200" cap="none" spc="-1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1" i="0" u="none" strike="noStrike" kern="1200" cap="none" spc="-1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1" i="0" u="none" strike="noStrike" kern="1200" cap="none" spc="-1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1" i="0" u="none" strike="noStrike" kern="1200" cap="none" spc="-1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9616984"/>
                  </a:ext>
                </a:extLst>
              </a:tr>
              <a:tr h="728172">
                <a:tc gridSpan="10">
                  <a:txBody>
                    <a:bodyPr/>
                    <a:lstStyle/>
                    <a:p>
                      <a:pPr marL="90000" marR="0" lvl="0" indent="-9000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평가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Description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배점에 대한 산출 로직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5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점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Loss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율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20%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감소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+ (100%-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)*20%)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4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점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Loss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율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10%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감소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+ (100%-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)*10%)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점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Loss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율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20%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증가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– (100%-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)*20%)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점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Loss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율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20%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초과 증가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(100%-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)*20%)</a:t>
                      </a: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/>
                        </a:buClr>
                        <a:buSzTx/>
                        <a:buFontTx/>
                        <a:buChar char="•"/>
                        <a:tabLst>
                          <a:tab pos="0" algn="l"/>
                        </a:tabLst>
                        <a:defRPr/>
                      </a:pPr>
                      <a:endParaRPr kumimoji="0" lang="en-US" altLang="ko-KR" sz="1000" b="0" i="0" u="none" strike="noStrike" kern="1200" cap="none" spc="-1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1" i="0" u="none" strike="noStrike" kern="1200" cap="none" spc="-1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1812589"/>
                  </a:ext>
                </a:extLst>
              </a:tr>
            </a:tbl>
          </a:graphicData>
        </a:graphic>
      </p:graphicFrame>
      <p:sp>
        <p:nvSpPr>
          <p:cNvPr id="19" name="직사각형 18">
            <a:extLst>
              <a:ext uri="{FF2B5EF4-FFF2-40B4-BE49-F238E27FC236}">
                <a16:creationId xmlns:a16="http://schemas.microsoft.com/office/drawing/2014/main" id="{638B5109-F183-83BB-90E0-A5403B02F89B}"/>
              </a:ext>
            </a:extLst>
          </p:cNvPr>
          <p:cNvSpPr/>
          <p:nvPr/>
        </p:nvSpPr>
        <p:spPr>
          <a:xfrm>
            <a:off x="200025" y="620687"/>
            <a:ext cx="576263" cy="5940451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변경 후</a:t>
            </a:r>
          </a:p>
        </p:txBody>
      </p:sp>
      <p:sp>
        <p:nvSpPr>
          <p:cNvPr id="15" name="Text Box 3">
            <a:extLst>
              <a:ext uri="{FF2B5EF4-FFF2-40B4-BE49-F238E27FC236}">
                <a16:creationId xmlns:a16="http://schemas.microsoft.com/office/drawing/2014/main" id="{E4B2BFDD-1C93-C60C-0EC0-B320B6B9FA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52560" y="115888"/>
            <a:ext cx="2280039" cy="31892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36000" tIns="36000" rIns="36000" bIns="36000" anchor="ctr">
            <a:spAutoFit/>
          </a:bodyPr>
          <a:lstStyle/>
          <a:p>
            <a:pPr marL="0" marR="0" lvl="0" indent="0" algn="r" defTabSz="4572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➍ KPI </a:t>
            </a:r>
            <a:r>
              <a:rPr kumimoji="1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수정 검토양식 </a:t>
            </a:r>
            <a:r>
              <a:rPr kumimoji="1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(</a:t>
            </a:r>
            <a:r>
              <a:rPr kumimoji="1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상세</a:t>
            </a:r>
            <a:r>
              <a:rPr kumimoji="1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)</a:t>
            </a:r>
            <a:endParaRPr kumimoji="1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itchFamily="50" charset="-127"/>
              <a:cs typeface="Arial" pitchFamily="34" charset="0"/>
            </a:endParaRPr>
          </a:p>
        </p:txBody>
      </p:sp>
      <p:sp>
        <p:nvSpPr>
          <p:cNvPr id="2" name="실행 단추: 홈으로 이동 1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E93A2613-5CD8-AD44-9F30-94C963C076E9}"/>
              </a:ext>
            </a:extLst>
          </p:cNvPr>
          <p:cNvSpPr/>
          <p:nvPr/>
        </p:nvSpPr>
        <p:spPr>
          <a:xfrm>
            <a:off x="9559720" y="92454"/>
            <a:ext cx="208721" cy="215315"/>
          </a:xfrm>
          <a:prstGeom prst="actionButtonHom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8DBDC5E5-6380-3C77-D5D5-2202E5182A92}"/>
              </a:ext>
            </a:extLst>
          </p:cNvPr>
          <p:cNvGraphicFramePr>
            <a:graphicFrameLocks noGrp="1"/>
          </p:cNvGraphicFramePr>
          <p:nvPr/>
        </p:nvGraphicFramePr>
        <p:xfrm>
          <a:off x="3056327" y="2115919"/>
          <a:ext cx="2818692" cy="1210692"/>
        </p:xfrm>
        <a:graphic>
          <a:graphicData uri="http://schemas.openxmlformats.org/drawingml/2006/table">
            <a:tbl>
              <a:tblPr/>
              <a:tblGrid>
                <a:gridCol w="76533">
                  <a:extLst>
                    <a:ext uri="{9D8B030D-6E8A-4147-A177-3AD203B41FA5}">
                      <a16:colId xmlns:a16="http://schemas.microsoft.com/office/drawing/2014/main" val="434980051"/>
                    </a:ext>
                  </a:extLst>
                </a:gridCol>
                <a:gridCol w="559119">
                  <a:extLst>
                    <a:ext uri="{9D8B030D-6E8A-4147-A177-3AD203B41FA5}">
                      <a16:colId xmlns:a16="http://schemas.microsoft.com/office/drawing/2014/main" val="3988717904"/>
                    </a:ext>
                  </a:extLst>
                </a:gridCol>
                <a:gridCol w="363840">
                  <a:extLst>
                    <a:ext uri="{9D8B030D-6E8A-4147-A177-3AD203B41FA5}">
                      <a16:colId xmlns:a16="http://schemas.microsoft.com/office/drawing/2014/main" val="4045084814"/>
                    </a:ext>
                  </a:extLst>
                </a:gridCol>
                <a:gridCol w="363840">
                  <a:extLst>
                    <a:ext uri="{9D8B030D-6E8A-4147-A177-3AD203B41FA5}">
                      <a16:colId xmlns:a16="http://schemas.microsoft.com/office/drawing/2014/main" val="469027881"/>
                    </a:ext>
                  </a:extLst>
                </a:gridCol>
                <a:gridCol w="363840">
                  <a:extLst>
                    <a:ext uri="{9D8B030D-6E8A-4147-A177-3AD203B41FA5}">
                      <a16:colId xmlns:a16="http://schemas.microsoft.com/office/drawing/2014/main" val="881494102"/>
                    </a:ext>
                  </a:extLst>
                </a:gridCol>
                <a:gridCol w="363840">
                  <a:extLst>
                    <a:ext uri="{9D8B030D-6E8A-4147-A177-3AD203B41FA5}">
                      <a16:colId xmlns:a16="http://schemas.microsoft.com/office/drawing/2014/main" val="4186657930"/>
                    </a:ext>
                  </a:extLst>
                </a:gridCol>
                <a:gridCol w="363840">
                  <a:extLst>
                    <a:ext uri="{9D8B030D-6E8A-4147-A177-3AD203B41FA5}">
                      <a16:colId xmlns:a16="http://schemas.microsoft.com/office/drawing/2014/main" val="2697388443"/>
                    </a:ext>
                  </a:extLst>
                </a:gridCol>
                <a:gridCol w="363840">
                  <a:extLst>
                    <a:ext uri="{9D8B030D-6E8A-4147-A177-3AD203B41FA5}">
                      <a16:colId xmlns:a16="http://schemas.microsoft.com/office/drawing/2014/main" val="3166372132"/>
                    </a:ext>
                  </a:extLst>
                </a:gridCol>
              </a:tblGrid>
              <a:tr h="172956">
                <a:tc rowSpan="2" grid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구 분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(%)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algn="ctr" rtl="0" fontAlgn="ctr"/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25</a:t>
                      </a:r>
                      <a:r>
                        <a:rPr lang="ko-KR" altLang="en-US" sz="800" b="1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년</a:t>
                      </a:r>
                      <a:endParaRPr lang="en-US" altLang="ko-KR" sz="800" b="1" i="0" u="none" strike="noStrike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실적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26</a:t>
                      </a:r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년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26</a:t>
                      </a:r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년 목표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6906540"/>
                  </a:ext>
                </a:extLst>
              </a:tr>
              <a:tr h="172956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1Q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2Q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3Q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4Q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365867"/>
                  </a:ext>
                </a:extLst>
              </a:tr>
              <a:tr h="172956">
                <a:tc gridSpan="2"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800" b="1" i="0" u="none" strike="noStrike" kern="1200" dirty="0">
                          <a:solidFill>
                            <a:sysClr val="windowText" lastClr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북미 </a:t>
                      </a:r>
                      <a:r>
                        <a:rPr lang="en-US" altLang="ko-KR" sz="800" b="1" i="0" u="none" strike="noStrike" kern="1200" dirty="0">
                          <a:solidFill>
                            <a:sysClr val="windowText" lastClr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Site</a:t>
                      </a:r>
                      <a:endParaRPr lang="ko-KR" altLang="en-US" sz="800" b="1" i="0" u="none" strike="noStrike" kern="1200" dirty="0">
                        <a:solidFill>
                          <a:sysClr val="windowText" lastClr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ko-KR" altLang="en-US" sz="900" b="1" i="0" u="none" strike="noStrike" kern="1200" dirty="0">
                        <a:solidFill>
                          <a:sysClr val="windowText" lastClr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62.2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94.3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93.5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93.7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94.4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95.2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9199676"/>
                  </a:ext>
                </a:extLst>
              </a:tr>
              <a:tr h="172956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ko-KR" altLang="en-US" sz="800" b="1" i="0" u="none" strike="noStrike" kern="1200" dirty="0">
                        <a:solidFill>
                          <a:sysClr val="windowText" lastClr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1800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sz="800" b="1" i="0" u="none" strike="noStrike" kern="1200" dirty="0">
                          <a:solidFill>
                            <a:sysClr val="windowText" lastClr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ESMI_HL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90.5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94.8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93.9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94.6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94.9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95.6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4417106"/>
                  </a:ext>
                </a:extLst>
              </a:tr>
              <a:tr h="172956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sz="800" b="1" i="0" u="none" strike="noStrike" kern="1200" dirty="0">
                        <a:solidFill>
                          <a:sysClr val="windowText" lastClr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1800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sz="800" b="1" i="0" u="none" strike="noStrike" kern="1200" dirty="0">
                          <a:solidFill>
                            <a:sysClr val="windowText" lastClr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ESMI_LS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93.7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89.7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92.4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94.2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95.0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431383"/>
                  </a:ext>
                </a:extLst>
              </a:tr>
              <a:tr h="172956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sz="800" b="1" i="0" u="none" strike="noStrike" kern="1200" dirty="0">
                        <a:solidFill>
                          <a:sysClr val="windowText" lastClr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1800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sz="800" b="1" i="0" u="none" strike="noStrike" kern="1200" dirty="0">
                          <a:solidFill>
                            <a:sysClr val="windowText" lastClr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ESOT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79.9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94.4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92.9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93.5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94.7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95.5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0136553"/>
                  </a:ext>
                </a:extLst>
              </a:tr>
              <a:tr h="172956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sz="800" b="1" i="0" u="none" strike="noStrike" kern="1200" dirty="0">
                        <a:solidFill>
                          <a:sysClr val="windowText" lastClr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1800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sz="800" b="1" i="0" u="none" strike="noStrike" kern="1200" dirty="0">
                          <a:solidFill>
                            <a:sysClr val="windowText" lastClr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ESHD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92.9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89.7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92.7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94.0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1527033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87033748-34A1-E139-1E89-BBAA3E030A8E}"/>
              </a:ext>
            </a:extLst>
          </p:cNvPr>
          <p:cNvSpPr txBox="1"/>
          <p:nvPr/>
        </p:nvSpPr>
        <p:spPr>
          <a:xfrm>
            <a:off x="4632385" y="6698195"/>
            <a:ext cx="64123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 algn="ctr">
              <a:defRPr/>
            </a:pPr>
            <a:r>
              <a:rPr kumimoji="0" lang="en-US" altLang="ko-KR" sz="900" i="0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- 3 / 5 -</a:t>
            </a:r>
            <a:endParaRPr kumimoji="0" lang="ko-KR" altLang="en-US" sz="900" i="0" strike="noStrike" kern="1200" cap="none" spc="0" normalizeH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1E04BEC-C4E3-347F-625B-55F467E9569E}"/>
              </a:ext>
            </a:extLst>
          </p:cNvPr>
          <p:cNvSpPr txBox="1"/>
          <p:nvPr/>
        </p:nvSpPr>
        <p:spPr>
          <a:xfrm>
            <a:off x="95895" y="174087"/>
            <a:ext cx="3853543" cy="369332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[ </a:t>
            </a:r>
            <a:r>
              <a:rPr kumimoji="1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자동보정담당 </a:t>
            </a:r>
            <a:r>
              <a:rPr kumimoji="1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/ </a:t>
            </a:r>
            <a:r>
              <a:rPr kumimoji="1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송무강 </a:t>
            </a:r>
            <a:r>
              <a:rPr kumimoji="1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/ </a:t>
            </a:r>
            <a:r>
              <a:rPr kumimoji="1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상무 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]</a:t>
            </a:r>
            <a:endParaRPr kumimoji="0" lang="ko-KR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665325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8153EA-7DC5-E769-D66A-19A78AD520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DAAD7488-39F7-6543-4E83-B3108730C8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7508577"/>
              </p:ext>
            </p:extLst>
          </p:nvPr>
        </p:nvGraphicFramePr>
        <p:xfrm>
          <a:off x="917420" y="620690"/>
          <a:ext cx="8797255" cy="5944698"/>
        </p:xfrm>
        <a:graphic>
          <a:graphicData uri="http://schemas.openxmlformats.org/drawingml/2006/table">
            <a:tbl>
              <a:tblPr/>
              <a:tblGrid>
                <a:gridCol w="704655">
                  <a:extLst>
                    <a:ext uri="{9D8B030D-6E8A-4147-A177-3AD203B41FA5}">
                      <a16:colId xmlns:a16="http://schemas.microsoft.com/office/drawing/2014/main" val="1583461695"/>
                    </a:ext>
                  </a:extLst>
                </a:gridCol>
                <a:gridCol w="377878">
                  <a:extLst>
                    <a:ext uri="{9D8B030D-6E8A-4147-A177-3AD203B41FA5}">
                      <a16:colId xmlns:a16="http://schemas.microsoft.com/office/drawing/2014/main" val="4227781156"/>
                    </a:ext>
                  </a:extLst>
                </a:gridCol>
                <a:gridCol w="566172">
                  <a:extLst>
                    <a:ext uri="{9D8B030D-6E8A-4147-A177-3AD203B41FA5}">
                      <a16:colId xmlns:a16="http://schemas.microsoft.com/office/drawing/2014/main" val="940625267"/>
                    </a:ext>
                  </a:extLst>
                </a:gridCol>
                <a:gridCol w="206656">
                  <a:extLst>
                    <a:ext uri="{9D8B030D-6E8A-4147-A177-3AD203B41FA5}">
                      <a16:colId xmlns:a16="http://schemas.microsoft.com/office/drawing/2014/main" val="2487817271"/>
                    </a:ext>
                  </a:extLst>
                </a:gridCol>
                <a:gridCol w="64294">
                  <a:extLst>
                    <a:ext uri="{9D8B030D-6E8A-4147-A177-3AD203B41FA5}">
                      <a16:colId xmlns:a16="http://schemas.microsoft.com/office/drawing/2014/main" val="4057220351"/>
                    </a:ext>
                  </a:extLst>
                </a:gridCol>
                <a:gridCol w="812889">
                  <a:extLst>
                    <a:ext uri="{9D8B030D-6E8A-4147-A177-3AD203B41FA5}">
                      <a16:colId xmlns:a16="http://schemas.microsoft.com/office/drawing/2014/main" val="4115920672"/>
                    </a:ext>
                  </a:extLst>
                </a:gridCol>
                <a:gridCol w="907258">
                  <a:extLst>
                    <a:ext uri="{9D8B030D-6E8A-4147-A177-3AD203B41FA5}">
                      <a16:colId xmlns:a16="http://schemas.microsoft.com/office/drawing/2014/main" val="2558446385"/>
                    </a:ext>
                  </a:extLst>
                </a:gridCol>
                <a:gridCol w="1205290">
                  <a:extLst>
                    <a:ext uri="{9D8B030D-6E8A-4147-A177-3AD203B41FA5}">
                      <a16:colId xmlns:a16="http://schemas.microsoft.com/office/drawing/2014/main" val="4074200436"/>
                    </a:ext>
                  </a:extLst>
                </a:gridCol>
                <a:gridCol w="250825">
                  <a:extLst>
                    <a:ext uri="{9D8B030D-6E8A-4147-A177-3AD203B41FA5}">
                      <a16:colId xmlns:a16="http://schemas.microsoft.com/office/drawing/2014/main" val="2409402569"/>
                    </a:ext>
                  </a:extLst>
                </a:gridCol>
                <a:gridCol w="3197338">
                  <a:extLst>
                    <a:ext uri="{9D8B030D-6E8A-4147-A177-3AD203B41FA5}">
                      <a16:colId xmlns:a16="http://schemas.microsoft.com/office/drawing/2014/main" val="3282466944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303836669"/>
                    </a:ext>
                  </a:extLst>
                </a:gridCol>
              </a:tblGrid>
              <a:tr h="343382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1" i="0" u="none" strike="noStrike" kern="1200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’26</a:t>
                      </a:r>
                      <a:r>
                        <a:rPr lang="ko-KR" altLang="en-US" sz="1000" b="1" i="0" u="none" strike="noStrike" kern="1200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년 </a:t>
                      </a:r>
                      <a:r>
                        <a:rPr lang="en-US" altLang="ko-KR" sz="1000" b="1" i="0" u="none" strike="noStrike" kern="1200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KPI</a:t>
                      </a:r>
                      <a:endParaRPr lang="ko-KR" altLang="en-US" sz="1000" b="1" i="0" u="none" strike="noStrike" kern="1200" spc="-1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i="0" u="none" strike="noStrike" kern="1200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상세 목표</a:t>
                      </a:r>
                      <a:endParaRPr lang="en-US" altLang="ko-KR" sz="1000" b="1" i="0" u="none" strike="noStrike" kern="1200" spc="-1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i="0" u="none" strike="noStrike" kern="1200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비중</a:t>
                      </a:r>
                      <a:endParaRPr lang="en-US" altLang="ko-KR" sz="1000" b="1" i="0" u="none" strike="noStrike" kern="1200" spc="-1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목표 설정 근거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분기 목표 및 실행 계획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2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분기</a:t>
                      </a:r>
                      <a:b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진척평가</a:t>
                      </a: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8957706"/>
                  </a:ext>
                </a:extLst>
              </a:tr>
              <a:tr h="382190">
                <a:tc rowSpan="4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92075" indent="-92075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SzPct val="100000"/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1" kern="1200" spc="-1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자동보정 파라미터 실시간 최적화를 통한 </a:t>
                      </a:r>
                      <a:r>
                        <a:rPr lang="ko-KR" altLang="en-US" sz="1000" b="1" kern="1200" spc="-10" baseline="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lang="ko-KR" altLang="en-US" sz="1000" b="1" kern="1200" spc="-1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개선</a:t>
                      </a: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4" gridSpan="2">
                  <a:txBody>
                    <a:bodyPr/>
                    <a:lstStyle/>
                    <a:p>
                      <a:pPr marL="88900" marR="0" lvl="0" indent="-889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유럽</a:t>
                      </a:r>
                      <a: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 AX</a:t>
                      </a: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기반 </a:t>
                      </a:r>
                      <a: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ESS </a:t>
                      </a: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종합 </a:t>
                      </a:r>
                      <a:r>
                        <a:rPr kumimoji="1" lang="ko-KR" altLang="en-US" sz="1000" b="1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개선</a:t>
                      </a:r>
                      <a:b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Q : ESWA ESS </a:t>
                      </a:r>
                      <a:r>
                        <a:rPr kumimoji="1" lang="ko-KR" altLang="en-US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종합 </a:t>
                      </a:r>
                      <a:r>
                        <a:rPr kumimoji="1" lang="ko-KR" altLang="en-US" sz="900" b="0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kumimoji="1" lang="ko-KR" altLang="en-US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94.5% </a:t>
                      </a:r>
                      <a:b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D : ’26.12</a:t>
                      </a:r>
                      <a:r>
                        <a:rPr kumimoji="1" lang="ko-KR" altLang="en-US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월</a:t>
                      </a:r>
                      <a:endParaRPr kumimoji="1" lang="ko-KR" altLang="en-US" sz="10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4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4"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5%</a:t>
                      </a: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4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4" gridSpan="3">
                  <a:txBody>
                    <a:bodyPr/>
                    <a:lstStyle/>
                    <a:p>
                      <a:pPr marL="72000" marR="0" lvl="0" indent="-720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ESS WA </a:t>
                      </a:r>
                      <a:r>
                        <a:rPr kumimoji="1" lang="ko-KR" altLang="en-US" sz="10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종합 </a:t>
                      </a:r>
                      <a:r>
                        <a:rPr kumimoji="1" lang="ko-KR" altLang="en-US" sz="1000" b="1" i="0" u="none" strike="noStrike" kern="1200" cap="none" spc="-50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수율</a:t>
                      </a:r>
                      <a:r>
                        <a:rPr kumimoji="1" lang="ko-KR" altLang="en-US" sz="10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달성</a:t>
                      </a:r>
                      <a:b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- Q : ESS</a:t>
                      </a:r>
                      <a:r>
                        <a:rPr kumimoji="1" lang="ko-KR" altLang="en-US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WA </a:t>
                      </a:r>
                      <a:r>
                        <a:rPr kumimoji="1" lang="ko-KR" altLang="en-US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종합 </a:t>
                      </a:r>
                      <a:r>
                        <a:rPr kumimoji="1" lang="ko-KR" altLang="en-US" sz="1000" b="0" i="0" u="none" strike="noStrike" kern="1200" cap="none" spc="-50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수율</a:t>
                      </a:r>
                      <a:r>
                        <a:rPr kumimoji="1" lang="ko-KR" altLang="en-US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94.5% </a:t>
                      </a:r>
                      <a:r>
                        <a:rPr kumimoji="1" lang="ko-KR" altLang="en-US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달성</a:t>
                      </a:r>
                      <a:endParaRPr kumimoji="1" lang="en-US" altLang="ko-KR" sz="10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  - D : ’26</a:t>
                      </a:r>
                      <a:r>
                        <a:rPr kumimoji="1" lang="ko-KR" altLang="en-US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년 </a:t>
                      </a:r>
                      <a: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12</a:t>
                      </a:r>
                      <a:r>
                        <a:rPr kumimoji="1" lang="ko-KR" altLang="en-US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월</a:t>
                      </a:r>
                      <a:endParaRPr kumimoji="1" lang="en-US" altLang="ko-KR" sz="1000" b="0" i="0" u="none" strike="noStrike" kern="1200" cap="none" spc="-5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10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4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4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1Q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92.7%</a:t>
                      </a: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9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2000" u="none" spc="-50" dirty="0">
                          <a:ln w="6350">
                            <a:solidFill>
                              <a:prstClr val="black">
                                <a:lumMod val="50000"/>
                                <a:lumOff val="50000"/>
                              </a:prstClr>
                            </a:solidFill>
                          </a:ln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●</a:t>
                      </a:r>
                      <a:r>
                        <a:rPr lang="ko-KR" altLang="en-US" sz="2000" u="none" spc="-50" baseline="30000" dirty="0">
                          <a:ln w="6350">
                            <a:solidFill>
                              <a:prstClr val="black">
                                <a:lumMod val="50000"/>
                                <a:lumOff val="50000"/>
                              </a:prstClr>
                            </a:solidFill>
                          </a:ln>
                          <a:solidFill>
                            <a:srgbClr val="00B05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br>
                        <a:rPr lang="en-US" altLang="ko-KR" sz="2000" u="none" spc="-50" dirty="0">
                          <a:ln w="6350">
                            <a:solidFill>
                              <a:prstClr val="black">
                                <a:lumMod val="50000"/>
                                <a:lumOff val="50000"/>
                              </a:prstClr>
                            </a:solidFill>
                          </a:ln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endParaRPr lang="en-US" altLang="ko-KR" sz="10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0" marT="0" marB="0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6654165"/>
                  </a:ext>
                </a:extLst>
              </a:tr>
              <a:tr h="38219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2Q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94.1% 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(2Q 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누적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93.5%)</a:t>
                      </a: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10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8396706"/>
                  </a:ext>
                </a:extLst>
              </a:tr>
              <a:tr h="38219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3Q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95.3% 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(3Q 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누적 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94.2%)</a:t>
                      </a: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10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1808293"/>
                  </a:ext>
                </a:extLst>
              </a:tr>
              <a:tr h="2519942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1" i="0" u="none" strike="noStrike" kern="1200" cap="none" spc="-1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 v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실행</a:t>
                      </a:r>
                      <a:b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계획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[1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분기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] 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개선 과제 도출 및 개발 착수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  - [NND] 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재료교체 구간 통계적 추론 기반 예측 보정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개발</a:t>
                      </a:r>
                      <a:endParaRPr kumimoji="1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  - [</a:t>
                      </a:r>
                      <a:r>
                        <a:rPr kumimoji="1" lang="ko-KR" altLang="en-US" sz="9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라미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] U/W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부 단차 센서를 활용한 클러스터링 기반 재료교체 구간 </a:t>
                      </a:r>
                      <a:b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               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예측 모델 개발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[2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분기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] 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기술 개발 및 적용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  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- [</a:t>
                      </a:r>
                      <a:r>
                        <a:rPr kumimoji="1" lang="ko-KR" altLang="en-US" sz="9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라미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] </a:t>
                      </a:r>
                      <a:r>
                        <a:rPr kumimoji="1" lang="ko-KR" altLang="en-US" sz="9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장변실링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ko-KR" altLang="en-US" sz="9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가감속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구간 자동보정 신규 개발 및 적용</a:t>
                      </a:r>
                      <a:b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  - [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공통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] EWA 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기술 및 제어부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-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검사기 거리 자동 산출 성능 극대화</a:t>
                      </a:r>
                      <a:endParaRPr kumimoji="1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[3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분기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] 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수평 전개 및 고도화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  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- WA 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전 호기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수평전개</a:t>
                      </a:r>
                      <a:endParaRPr kumimoji="1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85725" algn="l"/>
                        </a:tabLst>
                        <a:defRPr/>
                      </a:pP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85725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[4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분기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] 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최적화 및 기술 운영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85725" algn="l"/>
                        </a:tabLst>
                        <a:defRPr/>
                      </a:pPr>
                      <a:r>
                        <a:rPr kumimoji="1" lang="ko-KR" alt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  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- 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개선안 적용 후 결과 모니터링 및 유지관리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 </a:t>
                      </a: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10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579272"/>
                  </a:ext>
                </a:extLst>
              </a:tr>
              <a:tr h="0">
                <a:tc gridSpan="9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평가 </a:t>
                      </a:r>
                      <a:r>
                        <a:rPr kumimoji="0" lang="en-US" altLang="ko-KR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Description</a:t>
                      </a: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9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경쟁지표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10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0971758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5</a:t>
                      </a: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4</a:t>
                      </a: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3</a:t>
                      </a: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9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</a:t>
                      </a: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</a:t>
                      </a: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10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3603302"/>
                  </a:ext>
                </a:extLst>
              </a:tr>
              <a:tr h="49320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95.6% </a:t>
                      </a:r>
                      <a:r>
                        <a:rPr kumimoji="0" lang="ko-KR" altLang="en-US" sz="1000" b="0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</a:t>
                      </a: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95.1% </a:t>
                      </a:r>
                      <a:r>
                        <a:rPr kumimoji="0" lang="ko-KR" altLang="en-US" sz="1000" b="0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</a:t>
                      </a:r>
                      <a:endParaRPr kumimoji="0" lang="en-US" altLang="ko-KR" sz="1000" b="0" i="0" u="none" strike="noStrike" kern="1200" cap="none" spc="-1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94.5% </a:t>
                      </a:r>
                      <a:r>
                        <a:rPr kumimoji="0" lang="ko-KR" altLang="en-US" sz="1000" b="0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</a:t>
                      </a:r>
                      <a:endParaRPr kumimoji="0" lang="en-US" altLang="ko-KR" sz="1000" b="0" i="0" u="none" strike="noStrike" kern="1200" cap="none" spc="-1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9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93.4% </a:t>
                      </a:r>
                      <a:r>
                        <a:rPr kumimoji="0" lang="ko-KR" altLang="en-US" sz="1000" b="0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</a:t>
                      </a:r>
                      <a:endParaRPr kumimoji="0" lang="en-US" altLang="ko-KR" sz="1000" b="0" i="0" u="none" strike="noStrike" kern="1200" cap="none" spc="-1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93.4% </a:t>
                      </a:r>
                      <a:r>
                        <a:rPr kumimoji="0" lang="ko-KR" altLang="en-US" sz="1000" b="0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미만</a:t>
                      </a:r>
                      <a:endParaRPr kumimoji="0" lang="en-US" altLang="ko-KR" sz="1000" b="0" i="0" u="none" strike="noStrike" kern="1200" cap="none" spc="-1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xx</a:t>
                      </a:r>
                      <a:endParaRPr kumimoji="1" lang="en-US" altLang="ko-KR" sz="10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10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6394541"/>
                  </a:ext>
                </a:extLst>
              </a:tr>
              <a:tr h="228600">
                <a:tc gridSpan="10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평가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Scale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산출 로직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/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기준</a:t>
                      </a:r>
                      <a:endParaRPr kumimoji="0" lang="en-US" altLang="ko-KR" sz="1000" b="1" i="0" u="none" strike="noStrike" kern="1200" cap="none" spc="-1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1" i="0" u="none" strike="noStrike" kern="1200" cap="none" spc="-1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1" i="0" u="none" strike="noStrike" kern="1200" cap="none" spc="-1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1" i="0" u="none" strike="noStrike" kern="1200" cap="none" spc="-1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1" i="0" u="none" strike="noStrike" kern="1200" cap="none" spc="-1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1" i="0" u="none" strike="noStrike" kern="1200" cap="none" spc="-1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9616984"/>
                  </a:ext>
                </a:extLst>
              </a:tr>
              <a:tr h="879391">
                <a:tc gridSpan="10">
                  <a:txBody>
                    <a:bodyPr/>
                    <a:lstStyle/>
                    <a:p>
                      <a:pPr marL="90000" marR="0" lvl="0" indent="-9000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평가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Description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배점에 대한 산출 로직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5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점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Loss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율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20%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감소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+ (100%-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)*20%)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4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점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Loss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율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10%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감소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+ (100%-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)*10%)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점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Loss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율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20%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증가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– (100%-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)*20%)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점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Loss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율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20%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초과 증가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(100%-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)*20%)</a:t>
                      </a:r>
                      <a:endParaRPr kumimoji="0" lang="en-US" altLang="ko-KR" sz="1000" b="1" i="0" u="none" strike="noStrike" kern="1200" cap="none" spc="-1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/>
                        </a:buClr>
                        <a:buSzTx/>
                        <a:buFontTx/>
                        <a:buChar char="•"/>
                        <a:tabLst>
                          <a:tab pos="0" algn="l"/>
                        </a:tabLst>
                        <a:defRPr/>
                      </a:pPr>
                      <a:endParaRPr kumimoji="0" lang="en-US" altLang="ko-KR" sz="1000" b="0" i="0" u="none" strike="noStrike" kern="1200" cap="none" spc="-1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1" i="0" u="none" strike="noStrike" kern="1200" cap="none" spc="-1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1812589"/>
                  </a:ext>
                </a:extLst>
              </a:tr>
            </a:tbl>
          </a:graphicData>
        </a:graphic>
      </p:graphicFrame>
      <p:sp>
        <p:nvSpPr>
          <p:cNvPr id="19" name="직사각형 18">
            <a:extLst>
              <a:ext uri="{FF2B5EF4-FFF2-40B4-BE49-F238E27FC236}">
                <a16:creationId xmlns:a16="http://schemas.microsoft.com/office/drawing/2014/main" id="{F7678A5B-11C4-258C-A693-73310D585725}"/>
              </a:ext>
            </a:extLst>
          </p:cNvPr>
          <p:cNvSpPr/>
          <p:nvPr/>
        </p:nvSpPr>
        <p:spPr>
          <a:xfrm>
            <a:off x="200025" y="620687"/>
            <a:ext cx="576263" cy="5940451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0000"/>
              </a:lnSpc>
            </a:pPr>
            <a:r>
              <a:rPr lang="ko-KR" altLang="en-US" sz="1200" b="1" spc="-100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변경 후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942004BC-74A9-F05B-0BFD-7652B10911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5348264"/>
              </p:ext>
            </p:extLst>
          </p:nvPr>
        </p:nvGraphicFramePr>
        <p:xfrm>
          <a:off x="2888415" y="1637364"/>
          <a:ext cx="2779757" cy="652595"/>
        </p:xfrm>
        <a:graphic>
          <a:graphicData uri="http://schemas.openxmlformats.org/drawingml/2006/table">
            <a:tbl>
              <a:tblPr/>
              <a:tblGrid>
                <a:gridCol w="401633">
                  <a:extLst>
                    <a:ext uri="{9D8B030D-6E8A-4147-A177-3AD203B41FA5}">
                      <a16:colId xmlns:a16="http://schemas.microsoft.com/office/drawing/2014/main" val="4082950932"/>
                    </a:ext>
                  </a:extLst>
                </a:gridCol>
                <a:gridCol w="142611">
                  <a:extLst>
                    <a:ext uri="{9D8B030D-6E8A-4147-A177-3AD203B41FA5}">
                      <a16:colId xmlns:a16="http://schemas.microsoft.com/office/drawing/2014/main" val="1096110141"/>
                    </a:ext>
                  </a:extLst>
                </a:gridCol>
                <a:gridCol w="444543">
                  <a:extLst>
                    <a:ext uri="{9D8B030D-6E8A-4147-A177-3AD203B41FA5}">
                      <a16:colId xmlns:a16="http://schemas.microsoft.com/office/drawing/2014/main" val="2036386905"/>
                    </a:ext>
                  </a:extLst>
                </a:gridCol>
                <a:gridCol w="318069">
                  <a:extLst>
                    <a:ext uri="{9D8B030D-6E8A-4147-A177-3AD203B41FA5}">
                      <a16:colId xmlns:a16="http://schemas.microsoft.com/office/drawing/2014/main" val="339126080"/>
                    </a:ext>
                  </a:extLst>
                </a:gridCol>
                <a:gridCol w="318069">
                  <a:extLst>
                    <a:ext uri="{9D8B030D-6E8A-4147-A177-3AD203B41FA5}">
                      <a16:colId xmlns:a16="http://schemas.microsoft.com/office/drawing/2014/main" val="2290576697"/>
                    </a:ext>
                  </a:extLst>
                </a:gridCol>
                <a:gridCol w="288708">
                  <a:extLst>
                    <a:ext uri="{9D8B030D-6E8A-4147-A177-3AD203B41FA5}">
                      <a16:colId xmlns:a16="http://schemas.microsoft.com/office/drawing/2014/main" val="3142946353"/>
                    </a:ext>
                  </a:extLst>
                </a:gridCol>
                <a:gridCol w="288708">
                  <a:extLst>
                    <a:ext uri="{9D8B030D-6E8A-4147-A177-3AD203B41FA5}">
                      <a16:colId xmlns:a16="http://schemas.microsoft.com/office/drawing/2014/main" val="1269118703"/>
                    </a:ext>
                  </a:extLst>
                </a:gridCol>
                <a:gridCol w="288708">
                  <a:extLst>
                    <a:ext uri="{9D8B030D-6E8A-4147-A177-3AD203B41FA5}">
                      <a16:colId xmlns:a16="http://schemas.microsoft.com/office/drawing/2014/main" val="3491950287"/>
                    </a:ext>
                  </a:extLst>
                </a:gridCol>
                <a:gridCol w="288708">
                  <a:extLst>
                    <a:ext uri="{9D8B030D-6E8A-4147-A177-3AD203B41FA5}">
                      <a16:colId xmlns:a16="http://schemas.microsoft.com/office/drawing/2014/main" val="49544202"/>
                    </a:ext>
                  </a:extLst>
                </a:gridCol>
              </a:tblGrid>
              <a:tr h="93342">
                <a:tc rowSpan="2"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Site</a:t>
                      </a:r>
                      <a:endParaRPr lang="ko-KR" alt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8599" marR="8599" marT="8599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rowSpan="2" grid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구분</a:t>
                      </a: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(%)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25</a:t>
                      </a:r>
                      <a:r>
                        <a:rPr lang="ko-KR" sz="800" b="0" i="0" u="none" strike="noStrike" dirty="0">
                          <a:solidFill>
                            <a:srgbClr val="0066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년</a:t>
                      </a:r>
                      <a:endParaRPr lang="en-US" altLang="ko-KR" sz="800" b="0" i="0" u="none" strike="noStrike" dirty="0">
                        <a:solidFill>
                          <a:srgbClr val="0066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algn="ctr" rtl="0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66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실적</a:t>
                      </a:r>
                      <a:endParaRPr lang="ko-KR" sz="800" b="0" i="0" u="none" strike="noStrike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26</a:t>
                      </a: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년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26</a:t>
                      </a: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년</a:t>
                      </a: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목표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4789414"/>
                  </a:ext>
                </a:extLst>
              </a:tr>
              <a:tr h="9334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ko-KR" sz="800" b="0" i="0" u="none" strike="noStrike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1Q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2Q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3Q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4Q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3299062"/>
                  </a:ext>
                </a:extLst>
              </a:tr>
              <a:tr h="93342"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ESWA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8599" marR="8599" marT="8599" marB="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종합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  <a:cs typeface="+mn-cs"/>
                        </a:rPr>
                        <a:t>72.5</a:t>
                      </a:r>
                      <a:r>
                        <a:rPr lang="ko-KR" sz="8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94.5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92.7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94.1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95.3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95.3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4930957"/>
                  </a:ext>
                </a:extLst>
              </a:tr>
              <a:tr h="9334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  <a:p>
                      <a:pPr algn="l" rtl="0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전극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  <a:r>
                        <a:rPr lang="en-US" altLang="ko-KR" sz="8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96.9</a:t>
                      </a:r>
                      <a:endParaRPr lang="ko-KR" sz="800" b="0" i="0" u="none" strike="noStrike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98.3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98.0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98.3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98.4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98.4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00336"/>
                  </a:ext>
                </a:extLst>
              </a:tr>
              <a:tr h="9334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셀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  <a:r>
                        <a:rPr lang="en-US" altLang="ko-KR" sz="8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74.8</a:t>
                      </a:r>
                      <a:endParaRPr lang="ko-KR" sz="800" b="0" i="0" u="none" strike="noStrike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6.2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94.6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95.7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96.8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96.9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3125375"/>
                  </a:ext>
                </a:extLst>
              </a:tr>
            </a:tbl>
          </a:graphicData>
        </a:graphic>
      </p:graphicFrame>
      <p:sp>
        <p:nvSpPr>
          <p:cNvPr id="6" name="Text Box 3">
            <a:extLst>
              <a:ext uri="{FF2B5EF4-FFF2-40B4-BE49-F238E27FC236}">
                <a16:creationId xmlns:a16="http://schemas.microsoft.com/office/drawing/2014/main" id="{B8C456EF-0700-CDB0-5B8D-14F449E89E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52560" y="115888"/>
            <a:ext cx="2280039" cy="31892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36000" tIns="36000" rIns="36000" bIns="36000" anchor="ctr">
            <a:spAutoFit/>
          </a:bodyPr>
          <a:lstStyle/>
          <a:p>
            <a:pPr marL="0" marR="0" lvl="0" indent="0" algn="r" defTabSz="4572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➍ KPI </a:t>
            </a:r>
            <a:r>
              <a:rPr kumimoji="1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수정 검토양식 </a:t>
            </a:r>
            <a:r>
              <a:rPr kumimoji="1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(</a:t>
            </a:r>
            <a:r>
              <a:rPr kumimoji="1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상세</a:t>
            </a:r>
            <a:r>
              <a:rPr kumimoji="1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)</a:t>
            </a:r>
            <a:endParaRPr kumimoji="1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itchFamily="50" charset="-127"/>
              <a:cs typeface="Arial" pitchFamily="34" charset="0"/>
            </a:endParaRPr>
          </a:p>
        </p:txBody>
      </p:sp>
      <p:sp>
        <p:nvSpPr>
          <p:cNvPr id="8" name="실행 단추: 홈으로 이동 7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7237DC53-68A3-8421-20CC-0C1E6BE3599C}"/>
              </a:ext>
            </a:extLst>
          </p:cNvPr>
          <p:cNvSpPr/>
          <p:nvPr/>
        </p:nvSpPr>
        <p:spPr>
          <a:xfrm>
            <a:off x="9559720" y="92454"/>
            <a:ext cx="208721" cy="215315"/>
          </a:xfrm>
          <a:prstGeom prst="actionButtonHom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C0C7D2-C019-7B66-A851-6DD56A2EDF16}"/>
              </a:ext>
            </a:extLst>
          </p:cNvPr>
          <p:cNvSpPr txBox="1"/>
          <p:nvPr/>
        </p:nvSpPr>
        <p:spPr>
          <a:xfrm>
            <a:off x="4632385" y="6698195"/>
            <a:ext cx="64123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 algn="ctr">
              <a:defRPr/>
            </a:pPr>
            <a:r>
              <a:rPr kumimoji="0" lang="en-US" altLang="ko-KR" sz="900" i="0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- 5 / 5 -</a:t>
            </a:r>
            <a:endParaRPr kumimoji="0" lang="ko-KR" altLang="en-US" sz="900" i="0" strike="noStrike" kern="1200" cap="none" spc="0" normalizeH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6B7199-B9DC-9F9F-F1FD-48E16B444D64}"/>
              </a:ext>
            </a:extLst>
          </p:cNvPr>
          <p:cNvSpPr txBox="1"/>
          <p:nvPr/>
        </p:nvSpPr>
        <p:spPr>
          <a:xfrm>
            <a:off x="95895" y="174087"/>
            <a:ext cx="3853543" cy="369332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[ </a:t>
            </a:r>
            <a:r>
              <a:rPr kumimoji="1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자동보정담당 </a:t>
            </a:r>
            <a:r>
              <a:rPr kumimoji="1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/ </a:t>
            </a:r>
            <a:r>
              <a:rPr kumimoji="1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송무강 </a:t>
            </a:r>
            <a:r>
              <a:rPr kumimoji="1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/ </a:t>
            </a:r>
            <a:r>
              <a:rPr kumimoji="1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상무 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]</a:t>
            </a:r>
            <a:endParaRPr kumimoji="0" lang="ko-KR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537962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5AE3B7-2800-07D3-535F-99C8994FE4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E318B3D2-40F8-C8D4-6C07-475BFBA240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7986130"/>
              </p:ext>
            </p:extLst>
          </p:nvPr>
        </p:nvGraphicFramePr>
        <p:xfrm>
          <a:off x="917420" y="620689"/>
          <a:ext cx="8787730" cy="5952690"/>
        </p:xfrm>
        <a:graphic>
          <a:graphicData uri="http://schemas.openxmlformats.org/drawingml/2006/table">
            <a:tbl>
              <a:tblPr/>
              <a:tblGrid>
                <a:gridCol w="704655">
                  <a:extLst>
                    <a:ext uri="{9D8B030D-6E8A-4147-A177-3AD203B41FA5}">
                      <a16:colId xmlns:a16="http://schemas.microsoft.com/office/drawing/2014/main" val="1583461695"/>
                    </a:ext>
                  </a:extLst>
                </a:gridCol>
                <a:gridCol w="377878">
                  <a:extLst>
                    <a:ext uri="{9D8B030D-6E8A-4147-A177-3AD203B41FA5}">
                      <a16:colId xmlns:a16="http://schemas.microsoft.com/office/drawing/2014/main" val="4227781156"/>
                    </a:ext>
                  </a:extLst>
                </a:gridCol>
                <a:gridCol w="566172">
                  <a:extLst>
                    <a:ext uri="{9D8B030D-6E8A-4147-A177-3AD203B41FA5}">
                      <a16:colId xmlns:a16="http://schemas.microsoft.com/office/drawing/2014/main" val="940625267"/>
                    </a:ext>
                  </a:extLst>
                </a:gridCol>
                <a:gridCol w="206656">
                  <a:extLst>
                    <a:ext uri="{9D8B030D-6E8A-4147-A177-3AD203B41FA5}">
                      <a16:colId xmlns:a16="http://schemas.microsoft.com/office/drawing/2014/main" val="2487817271"/>
                    </a:ext>
                  </a:extLst>
                </a:gridCol>
                <a:gridCol w="64294">
                  <a:extLst>
                    <a:ext uri="{9D8B030D-6E8A-4147-A177-3AD203B41FA5}">
                      <a16:colId xmlns:a16="http://schemas.microsoft.com/office/drawing/2014/main" val="4057220351"/>
                    </a:ext>
                  </a:extLst>
                </a:gridCol>
                <a:gridCol w="812889">
                  <a:extLst>
                    <a:ext uri="{9D8B030D-6E8A-4147-A177-3AD203B41FA5}">
                      <a16:colId xmlns:a16="http://schemas.microsoft.com/office/drawing/2014/main" val="4115920672"/>
                    </a:ext>
                  </a:extLst>
                </a:gridCol>
                <a:gridCol w="907258">
                  <a:extLst>
                    <a:ext uri="{9D8B030D-6E8A-4147-A177-3AD203B41FA5}">
                      <a16:colId xmlns:a16="http://schemas.microsoft.com/office/drawing/2014/main" val="2558446385"/>
                    </a:ext>
                  </a:extLst>
                </a:gridCol>
                <a:gridCol w="1205290">
                  <a:extLst>
                    <a:ext uri="{9D8B030D-6E8A-4147-A177-3AD203B41FA5}">
                      <a16:colId xmlns:a16="http://schemas.microsoft.com/office/drawing/2014/main" val="4074200436"/>
                    </a:ext>
                  </a:extLst>
                </a:gridCol>
                <a:gridCol w="250825">
                  <a:extLst>
                    <a:ext uri="{9D8B030D-6E8A-4147-A177-3AD203B41FA5}">
                      <a16:colId xmlns:a16="http://schemas.microsoft.com/office/drawing/2014/main" val="2409402569"/>
                    </a:ext>
                  </a:extLst>
                </a:gridCol>
                <a:gridCol w="3187813">
                  <a:extLst>
                    <a:ext uri="{9D8B030D-6E8A-4147-A177-3AD203B41FA5}">
                      <a16:colId xmlns:a16="http://schemas.microsoft.com/office/drawing/2014/main" val="3282466944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303836669"/>
                    </a:ext>
                  </a:extLst>
                </a:gridCol>
              </a:tblGrid>
              <a:tr h="342642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1" i="0" u="none" strike="noStrike" kern="1200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’26</a:t>
                      </a:r>
                      <a:r>
                        <a:rPr lang="ko-KR" altLang="en-US" sz="1000" b="1" i="0" u="none" strike="noStrike" kern="1200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년 </a:t>
                      </a:r>
                      <a:r>
                        <a:rPr lang="en-US" altLang="ko-KR" sz="1000" b="1" i="0" u="none" strike="noStrike" kern="1200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KPI</a:t>
                      </a:r>
                      <a:endParaRPr lang="ko-KR" altLang="en-US" sz="1000" b="1" i="0" u="none" strike="noStrike" kern="1200" spc="-1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i="0" u="none" strike="noStrike" kern="1200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상세 목표</a:t>
                      </a:r>
                      <a:endParaRPr lang="en-US" altLang="ko-KR" sz="1000" b="1" i="0" u="none" strike="noStrike" kern="1200" spc="-1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i="0" u="none" strike="noStrike" kern="1200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비중</a:t>
                      </a:r>
                      <a:endParaRPr lang="en-US" altLang="ko-KR" sz="1000" b="1" i="0" u="none" strike="noStrike" kern="1200" spc="-1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목표 설정 근거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분기 목표 및 실행 계획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2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분기</a:t>
                      </a:r>
                      <a:b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진척평가</a:t>
                      </a: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8957706"/>
                  </a:ext>
                </a:extLst>
              </a:tr>
              <a:tr h="434703">
                <a:tc rowSpan="4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92075" marR="0" lvl="0" indent="-92075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Pct val="10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자동보정 파라미터 실시간 최적화를 통한 </a:t>
                      </a:r>
                      <a:r>
                        <a:rPr kumimoji="0" lang="ko-KR" altLang="en-US" sz="1000" b="1" i="0" u="none" strike="noStrike" kern="1200" cap="none" spc="-1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kumimoji="0" lang="ko-KR" altLang="en-US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개선</a:t>
                      </a: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4" gridSpan="2">
                  <a:txBody>
                    <a:bodyPr/>
                    <a:lstStyle/>
                    <a:p>
                      <a:pPr marL="71755" marR="0" lvl="0" indent="-7175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AX</a:t>
                      </a: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기반 자동차 셀 </a:t>
                      </a:r>
                      <a:r>
                        <a:rPr kumimoji="1" lang="ko-KR" altLang="en-US" sz="1000" b="1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수율</a:t>
                      </a: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개선</a:t>
                      </a:r>
                      <a:b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- Q : ESWA, NA, NB, HM, MI, HG </a:t>
                      </a:r>
                      <a:r>
                        <a:rPr kumimoji="1" lang="ko-KR" altLang="en-US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자동차 셀 </a:t>
                      </a:r>
                      <a:r>
                        <a:rPr kumimoji="1" lang="ko-KR" altLang="en-US" sz="900" b="0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수율</a:t>
                      </a:r>
                      <a:r>
                        <a:rPr kumimoji="1" lang="ko-KR" altLang="en-US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97.8%</a:t>
                      </a:r>
                      <a:b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- D : ’26</a:t>
                      </a:r>
                      <a:r>
                        <a:rPr kumimoji="1" lang="ko-KR" altLang="en-US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년 </a:t>
                      </a: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12</a:t>
                      </a:r>
                      <a:r>
                        <a:rPr kumimoji="1" lang="ko-KR" altLang="en-US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월</a:t>
                      </a:r>
                      <a:endParaRPr kumimoji="1" lang="en-US" altLang="ko-KR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/>
                        <a:ea typeface="LG스마트체 Regular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4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4"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10%</a:t>
                      </a: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4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4" gridSpan="3">
                  <a:txBody>
                    <a:bodyPr/>
                    <a:lstStyle/>
                    <a:p>
                      <a:pPr marL="72000" marR="0" lvl="0" indent="-720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10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자동차 </a:t>
                      </a:r>
                      <a:r>
                        <a:rPr kumimoji="1" lang="en-US" altLang="ko-KR" sz="10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WA, NA,</a:t>
                      </a:r>
                      <a:r>
                        <a:rPr kumimoji="1" lang="ko-KR" altLang="en-US" sz="10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US" altLang="ko-KR" sz="10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NB,</a:t>
                      </a:r>
                      <a:r>
                        <a:rPr kumimoji="1" lang="ko-KR" altLang="en-US" sz="10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US" altLang="ko-KR" sz="10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HM,</a:t>
                      </a:r>
                      <a:r>
                        <a:rPr kumimoji="1" lang="ko-KR" altLang="en-US" sz="10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US" altLang="ko-KR" sz="10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MI,</a:t>
                      </a:r>
                      <a:r>
                        <a:rPr kumimoji="1" lang="ko-KR" altLang="en-US" sz="10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US" altLang="ko-KR" sz="10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HG</a:t>
                      </a:r>
                      <a:r>
                        <a:rPr kumimoji="1" lang="ko-KR" altLang="en-US" sz="10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셀 </a:t>
                      </a:r>
                      <a:r>
                        <a:rPr kumimoji="1" lang="ko-KR" altLang="en-US" sz="1000" b="1" i="0" u="none" strike="noStrike" kern="1200" cap="none" spc="-50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수율</a:t>
                      </a:r>
                      <a:r>
                        <a:rPr kumimoji="1" lang="ko-KR" altLang="en-US" sz="10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달성</a:t>
                      </a:r>
                      <a:b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- Q : </a:t>
                      </a:r>
                      <a:r>
                        <a:rPr kumimoji="1" lang="ko-KR" altLang="en-US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자동차 셀 </a:t>
                      </a:r>
                      <a:r>
                        <a:rPr kumimoji="1" lang="ko-KR" altLang="en-US" sz="1000" b="0" i="0" u="none" strike="noStrike" kern="1200" cap="none" spc="-50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수율</a:t>
                      </a:r>
                      <a:r>
                        <a:rPr kumimoji="1" lang="ko-KR" altLang="en-US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97.8% </a:t>
                      </a:r>
                      <a:r>
                        <a:rPr kumimoji="1" lang="ko-KR" altLang="en-US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달성</a:t>
                      </a:r>
                      <a:endParaRPr kumimoji="1" lang="en-US" altLang="ko-KR" sz="10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  - D : ’26</a:t>
                      </a:r>
                      <a:r>
                        <a:rPr kumimoji="1" lang="ko-KR" altLang="en-US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년 </a:t>
                      </a:r>
                      <a: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12</a:t>
                      </a:r>
                      <a:r>
                        <a:rPr kumimoji="1" lang="ko-KR" altLang="en-US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월</a:t>
                      </a:r>
                      <a:endParaRPr kumimoji="1" lang="en-US" altLang="ko-KR" sz="1000" b="0" i="0" u="none" strike="noStrike" kern="1200" cap="none" spc="-5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10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4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4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1Q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97.7%</a:t>
                      </a: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9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2000" u="none" spc="-50" dirty="0">
                          <a:ln w="6350">
                            <a:solidFill>
                              <a:prstClr val="black">
                                <a:lumMod val="50000"/>
                                <a:lumOff val="50000"/>
                              </a:prstClr>
                            </a:solidFill>
                          </a:ln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●</a:t>
                      </a:r>
                      <a:r>
                        <a:rPr lang="ko-KR" altLang="en-US" sz="2000" u="none" spc="-50" baseline="30000" dirty="0">
                          <a:ln w="6350">
                            <a:solidFill>
                              <a:prstClr val="black">
                                <a:lumMod val="50000"/>
                                <a:lumOff val="50000"/>
                              </a:prstClr>
                            </a:solidFill>
                          </a:ln>
                          <a:solidFill>
                            <a:srgbClr val="00B05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br>
                        <a:rPr lang="en-US" altLang="ko-KR" sz="2000" u="none" spc="-50" dirty="0">
                          <a:ln w="6350">
                            <a:solidFill>
                              <a:prstClr val="black">
                                <a:lumMod val="50000"/>
                                <a:lumOff val="50000"/>
                              </a:prstClr>
                            </a:solidFill>
                          </a:ln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endParaRPr lang="en-US" altLang="ko-KR" sz="10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0" marT="0" marB="0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6654165"/>
                  </a:ext>
                </a:extLst>
              </a:tr>
              <a:tr h="43470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2Q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97.7% 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(2Q 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누적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97.7%)</a:t>
                      </a: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10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8396706"/>
                  </a:ext>
                </a:extLst>
              </a:tr>
              <a:tr h="43470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3Q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97.9% 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(3Q 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누적 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97.8%)</a:t>
                      </a: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10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1808293"/>
                  </a:ext>
                </a:extLst>
              </a:tr>
              <a:tr h="2350595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1" i="0" u="none" strike="noStrike" kern="1200" cap="none" spc="-1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 v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실행</a:t>
                      </a:r>
                      <a:b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계획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[1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분기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] 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개선 과제 도출 및 개발 착수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  - [NND] 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재료교체 구간 통계적 추론 기반 예측 보정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개발</a:t>
                      </a:r>
                      <a:endParaRPr kumimoji="1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  - [</a:t>
                      </a:r>
                      <a:r>
                        <a:rPr kumimoji="1" lang="ko-KR" altLang="en-US" sz="9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라미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] U/W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부 단차 센서를 활용한 클러스터링 기반 재료교체 구간 </a:t>
                      </a:r>
                      <a:b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               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예측 모델 개발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[2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분기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] 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기술 개발 및 적용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  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- [</a:t>
                      </a:r>
                      <a:r>
                        <a:rPr kumimoji="1" lang="ko-KR" altLang="en-US" sz="9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라미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] </a:t>
                      </a:r>
                      <a:r>
                        <a:rPr kumimoji="1" lang="ko-KR" altLang="en-US" sz="9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장변실링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ko-KR" altLang="en-US" sz="9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가감속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구간 자동보정 신규 개발 및 적용</a:t>
                      </a:r>
                      <a:b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  - [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공통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] EWA 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기술 및 제어부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-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검사기 거리 자동 산출 성능 극대화</a:t>
                      </a:r>
                      <a:endParaRPr kumimoji="1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[3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분기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] 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수평 전개 및 고도화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  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- WA 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전 호기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수평전개</a:t>
                      </a:r>
                      <a:endParaRPr kumimoji="1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85725" algn="l"/>
                        </a:tabLst>
                        <a:defRPr/>
                      </a:pP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85725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[4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분기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] 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최적화 및 기술 운영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85725" algn="l"/>
                        </a:tabLst>
                        <a:defRPr/>
                      </a:pPr>
                      <a:r>
                        <a:rPr kumimoji="1" lang="ko-KR" alt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  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- 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개선안 적용 후 결과 모니터링 및 유지관리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 </a:t>
                      </a: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10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579272"/>
                  </a:ext>
                </a:extLst>
              </a:tr>
              <a:tr h="0">
                <a:tc gridSpan="9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평가 </a:t>
                      </a:r>
                      <a:r>
                        <a:rPr kumimoji="0" lang="en-US" altLang="ko-KR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Description</a:t>
                      </a: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9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경쟁지표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10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0971758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5</a:t>
                      </a: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4</a:t>
                      </a: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3</a:t>
                      </a: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9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</a:t>
                      </a: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</a:t>
                      </a: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10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3603302"/>
                  </a:ext>
                </a:extLst>
              </a:tr>
              <a:tr h="49320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98.3% </a:t>
                      </a:r>
                      <a:r>
                        <a:rPr kumimoji="0" lang="ko-KR" altLang="en-US" sz="1000" b="0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</a:t>
                      </a: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98.1% </a:t>
                      </a:r>
                      <a:r>
                        <a:rPr kumimoji="0" lang="ko-KR" altLang="en-US" sz="1000" b="0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</a:t>
                      </a:r>
                      <a:endParaRPr kumimoji="0" lang="en-US" altLang="ko-KR" sz="1000" b="0" i="0" u="none" strike="noStrike" kern="1200" cap="none" spc="-1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97.8% </a:t>
                      </a:r>
                      <a:r>
                        <a:rPr kumimoji="0" lang="ko-KR" altLang="en-US" sz="1000" b="0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</a:t>
                      </a:r>
                      <a:endParaRPr kumimoji="0" lang="en-US" altLang="ko-KR" sz="1000" b="0" i="0" u="none" strike="noStrike" kern="1200" cap="none" spc="-1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9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97.4% </a:t>
                      </a:r>
                      <a:r>
                        <a:rPr kumimoji="0" lang="ko-KR" altLang="en-US" sz="1000" b="0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</a:t>
                      </a:r>
                      <a:endParaRPr kumimoji="0" lang="en-US" altLang="ko-KR" sz="1000" b="0" i="0" u="none" strike="noStrike" kern="1200" cap="none" spc="-1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97.4% </a:t>
                      </a:r>
                      <a:r>
                        <a:rPr kumimoji="0" lang="ko-KR" altLang="en-US" sz="1000" b="0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미만</a:t>
                      </a:r>
                      <a:endParaRPr kumimoji="0" lang="en-US" altLang="ko-KR" sz="1000" b="0" i="0" u="none" strike="noStrike" kern="1200" cap="none" spc="-1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xx</a:t>
                      </a:r>
                      <a:endParaRPr kumimoji="1" lang="en-US" altLang="ko-KR" sz="10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10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6394541"/>
                  </a:ext>
                </a:extLst>
              </a:tr>
              <a:tr h="248400">
                <a:tc gridSpan="10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평가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Scale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산출 로직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/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기준</a:t>
                      </a:r>
                      <a:endParaRPr kumimoji="0" lang="en-US" altLang="ko-KR" sz="1000" b="1" i="0" u="none" strike="noStrike" kern="1200" cap="none" spc="-1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1" i="0" u="none" strike="noStrike" kern="1200" cap="none" spc="-1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1" i="0" u="none" strike="noStrike" kern="1200" cap="none" spc="-1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1" i="0" u="none" strike="noStrike" kern="1200" cap="none" spc="-1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1" i="0" u="none" strike="noStrike" kern="1200" cap="none" spc="-1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1" i="0" u="none" strike="noStrike" kern="1200" cap="none" spc="-1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9616984"/>
                  </a:ext>
                </a:extLst>
              </a:tr>
              <a:tr h="877498">
                <a:tc gridSpan="10">
                  <a:txBody>
                    <a:bodyPr/>
                    <a:lstStyle/>
                    <a:p>
                      <a:pPr marL="90000" marR="0" lvl="0" indent="-9000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평가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Description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배점에 대한 산출 로직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5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점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Loss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율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20%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감소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+ (100%-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)*20%)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4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점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Loss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율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10%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감소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+ (100%-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)*10%)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점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Loss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율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20%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증가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– (100%-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)*20%)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점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Loss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율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20%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초과 증가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(100%-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)*20%)</a:t>
                      </a:r>
                      <a:endParaRPr kumimoji="0" lang="en-US" altLang="ko-KR" sz="1000" b="1" i="0" u="none" strike="noStrike" kern="1200" cap="none" spc="-1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/>
                        </a:buClr>
                        <a:buSzTx/>
                        <a:buFontTx/>
                        <a:buChar char="•"/>
                        <a:tabLst>
                          <a:tab pos="0" algn="l"/>
                        </a:tabLst>
                        <a:defRPr/>
                      </a:pPr>
                      <a:endParaRPr kumimoji="0" lang="en-US" altLang="ko-KR" sz="1000" b="0" i="0" u="none" strike="noStrike" kern="1200" cap="none" spc="-1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1" i="0" u="none" strike="noStrike" kern="1200" cap="none" spc="-1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1812589"/>
                  </a:ext>
                </a:extLst>
              </a:tr>
            </a:tbl>
          </a:graphicData>
        </a:graphic>
      </p:graphicFrame>
      <p:sp>
        <p:nvSpPr>
          <p:cNvPr id="19" name="직사각형 18">
            <a:extLst>
              <a:ext uri="{FF2B5EF4-FFF2-40B4-BE49-F238E27FC236}">
                <a16:creationId xmlns:a16="http://schemas.microsoft.com/office/drawing/2014/main" id="{9B880F5B-3046-0409-9B4C-58840F543209}"/>
              </a:ext>
            </a:extLst>
          </p:cNvPr>
          <p:cNvSpPr/>
          <p:nvPr/>
        </p:nvSpPr>
        <p:spPr>
          <a:xfrm>
            <a:off x="200025" y="620687"/>
            <a:ext cx="576263" cy="5940451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0000"/>
              </a:lnSpc>
            </a:pPr>
            <a:r>
              <a:rPr lang="ko-KR" altLang="en-US" sz="1200" b="1" spc="-100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변경 후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486D05B1-495C-28A1-00B0-2BCAE3304D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4848811"/>
              </p:ext>
            </p:extLst>
          </p:nvPr>
        </p:nvGraphicFramePr>
        <p:xfrm>
          <a:off x="2906345" y="1578129"/>
          <a:ext cx="2779757" cy="2727617"/>
        </p:xfrm>
        <a:graphic>
          <a:graphicData uri="http://schemas.openxmlformats.org/drawingml/2006/table">
            <a:tbl>
              <a:tblPr/>
              <a:tblGrid>
                <a:gridCol w="401633">
                  <a:extLst>
                    <a:ext uri="{9D8B030D-6E8A-4147-A177-3AD203B41FA5}">
                      <a16:colId xmlns:a16="http://schemas.microsoft.com/office/drawing/2014/main" val="4082950932"/>
                    </a:ext>
                  </a:extLst>
                </a:gridCol>
                <a:gridCol w="142611">
                  <a:extLst>
                    <a:ext uri="{9D8B030D-6E8A-4147-A177-3AD203B41FA5}">
                      <a16:colId xmlns:a16="http://schemas.microsoft.com/office/drawing/2014/main" val="1096110141"/>
                    </a:ext>
                  </a:extLst>
                </a:gridCol>
                <a:gridCol w="444543">
                  <a:extLst>
                    <a:ext uri="{9D8B030D-6E8A-4147-A177-3AD203B41FA5}">
                      <a16:colId xmlns:a16="http://schemas.microsoft.com/office/drawing/2014/main" val="2036386905"/>
                    </a:ext>
                  </a:extLst>
                </a:gridCol>
                <a:gridCol w="318069">
                  <a:extLst>
                    <a:ext uri="{9D8B030D-6E8A-4147-A177-3AD203B41FA5}">
                      <a16:colId xmlns:a16="http://schemas.microsoft.com/office/drawing/2014/main" val="339126080"/>
                    </a:ext>
                  </a:extLst>
                </a:gridCol>
                <a:gridCol w="318069">
                  <a:extLst>
                    <a:ext uri="{9D8B030D-6E8A-4147-A177-3AD203B41FA5}">
                      <a16:colId xmlns:a16="http://schemas.microsoft.com/office/drawing/2014/main" val="2290576697"/>
                    </a:ext>
                  </a:extLst>
                </a:gridCol>
                <a:gridCol w="288708">
                  <a:extLst>
                    <a:ext uri="{9D8B030D-6E8A-4147-A177-3AD203B41FA5}">
                      <a16:colId xmlns:a16="http://schemas.microsoft.com/office/drawing/2014/main" val="3142946353"/>
                    </a:ext>
                  </a:extLst>
                </a:gridCol>
                <a:gridCol w="288708">
                  <a:extLst>
                    <a:ext uri="{9D8B030D-6E8A-4147-A177-3AD203B41FA5}">
                      <a16:colId xmlns:a16="http://schemas.microsoft.com/office/drawing/2014/main" val="1269118703"/>
                    </a:ext>
                  </a:extLst>
                </a:gridCol>
                <a:gridCol w="288708">
                  <a:extLst>
                    <a:ext uri="{9D8B030D-6E8A-4147-A177-3AD203B41FA5}">
                      <a16:colId xmlns:a16="http://schemas.microsoft.com/office/drawing/2014/main" val="3491950287"/>
                    </a:ext>
                  </a:extLst>
                </a:gridCol>
                <a:gridCol w="288708">
                  <a:extLst>
                    <a:ext uri="{9D8B030D-6E8A-4147-A177-3AD203B41FA5}">
                      <a16:colId xmlns:a16="http://schemas.microsoft.com/office/drawing/2014/main" val="49544202"/>
                    </a:ext>
                  </a:extLst>
                </a:gridCol>
              </a:tblGrid>
              <a:tr h="93882">
                <a:tc rowSpan="2"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8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Site</a:t>
                      </a:r>
                      <a:endParaRPr lang="ko-KR" alt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8599" marR="8599" marT="8599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rowSpan="2" grid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구분(%)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25년</a:t>
                      </a:r>
                      <a:endParaRPr lang="en-US" altLang="ko-KR" sz="800" b="0" i="0" u="none" strike="noStrike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algn="ctr" rtl="0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실적</a:t>
                      </a:r>
                      <a:endParaRPr lang="ko-KR" sz="800" b="0" i="0" u="none" strike="noStrike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26년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26년 목표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4789414"/>
                  </a:ext>
                </a:extLst>
              </a:tr>
              <a:tr h="9388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ko-KR" sz="800" b="0" i="0" u="none" strike="noStrike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1Q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2Q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3Q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4Q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3299062"/>
                  </a:ext>
                </a:extLst>
              </a:tr>
              <a:tr h="93882"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Total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8599" marR="8599" marT="8599" marB="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셀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>
                        <a:buNone/>
                      </a:pPr>
                      <a:r>
                        <a:rPr lang="ko-KR" altLang="en-US" sz="8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　</a:t>
                      </a:r>
                      <a:r>
                        <a:rPr lang="en-US" altLang="ko-KR" sz="8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97.6</a:t>
                      </a:r>
                      <a:endParaRPr lang="ko-KR" altLang="en-US" sz="800" b="0" i="0" u="none" strike="noStrike" kern="1200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97.8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97.7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97.8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97.9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98.0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4930957"/>
                  </a:ext>
                </a:extLst>
              </a:tr>
              <a:tr h="9388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  <a:p>
                      <a:pPr algn="l" rtl="0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조립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>
                        <a:buNone/>
                      </a:pPr>
                      <a:r>
                        <a:rPr lang="en-US" altLang="ko-KR" sz="8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98.4</a:t>
                      </a:r>
                      <a:r>
                        <a:rPr lang="ko-KR" altLang="en-US" sz="8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　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98.5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98.4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98.5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98.5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98.6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00336"/>
                  </a:ext>
                </a:extLst>
              </a:tr>
              <a:tr h="9388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활성화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>
                        <a:buNone/>
                      </a:pPr>
                      <a:r>
                        <a:rPr lang="ko-KR" altLang="en-US" sz="8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　</a:t>
                      </a:r>
                      <a:r>
                        <a:rPr lang="en-US" altLang="ko-KR" sz="8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99.2</a:t>
                      </a:r>
                      <a:endParaRPr lang="ko-KR" altLang="en-US" sz="800" b="0" i="0" u="none" strike="noStrike" kern="1200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99.3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99.3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99.3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99.3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99.4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3125375"/>
                  </a:ext>
                </a:extLst>
              </a:tr>
              <a:tr h="82920"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ES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WA</a:t>
                      </a:r>
                    </a:p>
                  </a:txBody>
                  <a:tcPr marL="8599" marR="8599" marT="8599" marB="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셀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>
                        <a:buNone/>
                      </a:pPr>
                      <a:r>
                        <a:rPr lang="en-US" altLang="ko-KR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96.0</a:t>
                      </a:r>
                      <a:r>
                        <a:rPr lang="ko-KR" altLang="en-US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　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97.2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96.9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97.2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97.3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97.2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8978650"/>
                  </a:ext>
                </a:extLst>
              </a:tr>
              <a:tr h="829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  <a:p>
                      <a:pPr algn="l" rtl="0" fontAlgn="ctr">
                        <a:buNone/>
                      </a:pPr>
                      <a:r>
                        <a:rPr lang="ko-KR" altLang="en-US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조립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>
                        <a:buNone/>
                      </a:pPr>
                      <a:r>
                        <a:rPr lang="ko-KR" altLang="en-US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　</a:t>
                      </a:r>
                      <a:r>
                        <a:rPr lang="en-US" altLang="ko-KR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97.5</a:t>
                      </a:r>
                      <a:endParaRPr lang="ko-KR" altLang="en-US" sz="700" b="0" i="0" u="none" strike="noStrike" kern="1200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98.1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97.9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98.1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98.1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98.1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4648986"/>
                  </a:ext>
                </a:extLst>
              </a:tr>
              <a:tr h="829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활성화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>
                        <a:buNone/>
                      </a:pPr>
                      <a:r>
                        <a:rPr lang="ko-KR" altLang="en-US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　</a:t>
                      </a:r>
                      <a:r>
                        <a:rPr lang="en-US" altLang="ko-KR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98.5</a:t>
                      </a:r>
                      <a:endParaRPr lang="ko-KR" altLang="en-US" sz="700" b="0" i="0" u="none" strike="noStrike" kern="1200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99.1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99.0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99.1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99.1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99.1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4301224"/>
                  </a:ext>
                </a:extLst>
              </a:tr>
              <a:tr h="82920"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ES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NA</a:t>
                      </a:r>
                    </a:p>
                  </a:txBody>
                  <a:tcPr marL="8599" marR="8599" marT="8599" marB="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셀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>
                        <a:buNone/>
                      </a:pPr>
                      <a:r>
                        <a:rPr lang="ko-KR" altLang="en-US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　</a:t>
                      </a:r>
                      <a:r>
                        <a:rPr lang="en-US" altLang="ko-KR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98.9</a:t>
                      </a:r>
                      <a:endParaRPr lang="ko-KR" altLang="en-US" sz="700" b="0" i="0" u="none" strike="noStrike" kern="1200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99.0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98.8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99.0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98.9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99.2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5408370"/>
                  </a:ext>
                </a:extLst>
              </a:tr>
              <a:tr h="829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  <a:p>
                      <a:pPr algn="l" rtl="0" fontAlgn="ctr">
                        <a:buNone/>
                      </a:pPr>
                      <a:r>
                        <a:rPr lang="ko-KR" altLang="en-US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조립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>
                        <a:buNone/>
                      </a:pPr>
                      <a:r>
                        <a:rPr lang="ko-KR" altLang="en-US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　</a:t>
                      </a:r>
                      <a:r>
                        <a:rPr lang="en-US" altLang="ko-KR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99.1</a:t>
                      </a:r>
                      <a:endParaRPr lang="ko-KR" altLang="en-US" sz="700" b="0" i="0" u="none" strike="noStrike" kern="1200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99.1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99.0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99.2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99.1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99.3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5062387"/>
                  </a:ext>
                </a:extLst>
              </a:tr>
              <a:tr h="829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활성화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>
                        <a:buNone/>
                      </a:pPr>
                      <a:r>
                        <a:rPr lang="ko-KR" altLang="en-US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　</a:t>
                      </a:r>
                      <a:r>
                        <a:rPr lang="en-US" altLang="ko-KR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99.8</a:t>
                      </a:r>
                      <a:endParaRPr lang="ko-KR" altLang="en-US" sz="700" b="0" i="0" u="none" strike="noStrike" kern="1200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99.7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99.7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99.8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99.8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99.9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8422582"/>
                  </a:ext>
                </a:extLst>
              </a:tr>
              <a:tr h="82920"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ES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NB</a:t>
                      </a:r>
                    </a:p>
                  </a:txBody>
                  <a:tcPr marL="8599" marR="8599" marT="8599" marB="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셀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>
                        <a:buNone/>
                      </a:pPr>
                      <a:r>
                        <a:rPr lang="ko-KR" altLang="en-US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　</a:t>
                      </a:r>
                      <a:r>
                        <a:rPr lang="en-US" altLang="ko-KR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98.9</a:t>
                      </a:r>
                      <a:endParaRPr lang="ko-KR" altLang="en-US" sz="700" b="0" i="0" u="none" strike="noStrike" kern="1200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99.0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98.9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99.0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99.0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99.2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7019001"/>
                  </a:ext>
                </a:extLst>
              </a:tr>
              <a:tr h="829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  <a:p>
                      <a:pPr algn="l" rtl="0" fontAlgn="ctr">
                        <a:buNone/>
                      </a:pPr>
                      <a:r>
                        <a:rPr lang="ko-KR" altLang="en-US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조립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>
                        <a:buNone/>
                      </a:pPr>
                      <a:r>
                        <a:rPr lang="ko-KR" altLang="en-US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　</a:t>
                      </a:r>
                      <a:r>
                        <a:rPr lang="en-US" altLang="ko-KR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99.2</a:t>
                      </a:r>
                      <a:endParaRPr lang="ko-KR" altLang="en-US" sz="700" b="0" i="0" u="none" strike="noStrike" kern="1200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99.3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99.3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99.3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99.3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99.4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253267"/>
                  </a:ext>
                </a:extLst>
              </a:tr>
              <a:tr h="829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활성화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>
                        <a:buNone/>
                      </a:pPr>
                      <a:r>
                        <a:rPr lang="ko-KR" altLang="en-US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　</a:t>
                      </a:r>
                      <a:r>
                        <a:rPr lang="en-US" altLang="ko-KR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99.7</a:t>
                      </a:r>
                      <a:endParaRPr lang="ko-KR" altLang="en-US" sz="700" b="0" i="0" u="none" strike="noStrike" kern="1200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99.7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99.7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99.7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99.7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99.8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5304851"/>
                  </a:ext>
                </a:extLst>
              </a:tr>
              <a:tr h="82920"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ES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HM</a:t>
                      </a:r>
                    </a:p>
                  </a:txBody>
                  <a:tcPr marL="8599" marR="8599" marT="8599" marB="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셀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>
                        <a:buNone/>
                      </a:pPr>
                      <a:r>
                        <a:rPr lang="ko-KR" altLang="en-US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　</a:t>
                      </a:r>
                      <a:r>
                        <a:rPr lang="en-US" altLang="ko-KR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98.7</a:t>
                      </a:r>
                      <a:endParaRPr lang="ko-KR" altLang="en-US" sz="700" b="0" i="0" u="none" strike="noStrike" kern="1200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98.7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98.7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98.7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98.7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98.8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9726832"/>
                  </a:ext>
                </a:extLst>
              </a:tr>
              <a:tr h="829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  <a:p>
                      <a:pPr algn="l" rtl="0" fontAlgn="ctr">
                        <a:buNone/>
                      </a:pPr>
                      <a:r>
                        <a:rPr lang="ko-KR" altLang="en-US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조립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>
                        <a:buNone/>
                      </a:pPr>
                      <a:r>
                        <a:rPr lang="ko-KR" altLang="en-US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　</a:t>
                      </a:r>
                      <a:r>
                        <a:rPr lang="en-US" altLang="ko-KR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99.2</a:t>
                      </a:r>
                      <a:endParaRPr lang="ko-KR" altLang="en-US" sz="700" b="0" i="0" u="none" strike="noStrike" kern="1200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99.3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99.3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99.3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99.3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99.3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8676053"/>
                  </a:ext>
                </a:extLst>
              </a:tr>
              <a:tr h="829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활성화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>
                        <a:buNone/>
                      </a:pPr>
                      <a:r>
                        <a:rPr lang="ko-KR" altLang="en-US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　</a:t>
                      </a:r>
                      <a:r>
                        <a:rPr lang="en-US" altLang="ko-KR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99.4</a:t>
                      </a:r>
                      <a:endParaRPr lang="ko-KR" altLang="en-US" sz="700" b="0" i="0" u="none" strike="noStrike" kern="1200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99.4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99.4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99.4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99.4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99.5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1117535"/>
                  </a:ext>
                </a:extLst>
              </a:tr>
              <a:tr h="82920"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ES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MI</a:t>
                      </a:r>
                    </a:p>
                  </a:txBody>
                  <a:tcPr marL="8599" marR="8599" marT="8599" marB="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셀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>
                        <a:buNone/>
                      </a:pPr>
                      <a:r>
                        <a:rPr lang="ko-KR" altLang="en-US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　</a:t>
                      </a:r>
                      <a:r>
                        <a:rPr lang="en-US" altLang="ko-KR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91.0</a:t>
                      </a:r>
                      <a:endParaRPr lang="ko-KR" altLang="en-US" sz="700" b="0" i="0" u="none" strike="noStrike" kern="1200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96.6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96.2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96.5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96.7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96.9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6612738"/>
                  </a:ext>
                </a:extLst>
              </a:tr>
              <a:tr h="829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  <a:p>
                      <a:pPr algn="l" rtl="0" fontAlgn="ctr">
                        <a:buNone/>
                      </a:pPr>
                      <a:r>
                        <a:rPr lang="ko-KR" altLang="en-US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조립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>
                        <a:buNone/>
                      </a:pPr>
                      <a:r>
                        <a:rPr lang="ko-KR" altLang="en-US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　</a:t>
                      </a:r>
                      <a:r>
                        <a:rPr lang="en-US" altLang="ko-KR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95.0</a:t>
                      </a:r>
                      <a:endParaRPr lang="ko-KR" altLang="en-US" sz="700" b="0" i="0" u="none" strike="noStrike" kern="1200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97.4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97.0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97.3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97.5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97.6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7763712"/>
                  </a:ext>
                </a:extLst>
              </a:tr>
              <a:tr h="829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활성화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>
                        <a:buNone/>
                      </a:pPr>
                      <a:r>
                        <a:rPr lang="ko-KR" altLang="en-US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　</a:t>
                      </a:r>
                      <a:r>
                        <a:rPr lang="en-US" altLang="ko-KR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95.8</a:t>
                      </a:r>
                      <a:endParaRPr lang="ko-KR" altLang="en-US" sz="700" b="0" i="0" u="none" strike="noStrike" kern="1200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99.2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99.2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99.2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99.2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99.2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0613245"/>
                  </a:ext>
                </a:extLst>
              </a:tr>
              <a:tr h="82920"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ES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HG</a:t>
                      </a:r>
                    </a:p>
                  </a:txBody>
                  <a:tcPr marL="8599" marR="8599" marT="8599" marB="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셀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>
                        <a:buNone/>
                      </a:pPr>
                      <a:r>
                        <a:rPr lang="ko-KR" altLang="en-US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　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96.8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93.7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97.0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98.1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3706930"/>
                  </a:ext>
                </a:extLst>
              </a:tr>
              <a:tr h="829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  <a:p>
                      <a:pPr algn="l" rtl="0" fontAlgn="ctr">
                        <a:buNone/>
                      </a:pPr>
                      <a:r>
                        <a:rPr lang="ko-KR" altLang="en-US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조립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>
                        <a:buNone/>
                      </a:pPr>
                      <a:r>
                        <a:rPr lang="ko-KR" altLang="en-US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　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98.2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96.3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98.4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99.0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8953426"/>
                  </a:ext>
                </a:extLst>
              </a:tr>
              <a:tr h="829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활성화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>
                        <a:buNone/>
                      </a:pPr>
                      <a:r>
                        <a:rPr lang="ko-KR" altLang="en-US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　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98.6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97.3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98.5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99.2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53270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D30E459F-0A1E-9C3D-488E-81B989CA01D1}"/>
              </a:ext>
            </a:extLst>
          </p:cNvPr>
          <p:cNvSpPr txBox="1"/>
          <p:nvPr/>
        </p:nvSpPr>
        <p:spPr>
          <a:xfrm>
            <a:off x="4057418" y="1378074"/>
            <a:ext cx="1719443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kumimoji="1" lang="en-US" altLang="ko-KR" sz="7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*Total </a:t>
            </a:r>
            <a:r>
              <a:rPr kumimoji="1" lang="ko-KR" altLang="en-US" sz="7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산출 로직 </a:t>
            </a:r>
            <a:r>
              <a:rPr kumimoji="1" lang="en-US" altLang="ko-KR" sz="7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: </a:t>
            </a:r>
            <a:r>
              <a:rPr kumimoji="1" lang="ko-KR" altLang="en-US" sz="700" dirty="0" err="1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법인별</a:t>
            </a:r>
            <a:r>
              <a:rPr kumimoji="1" lang="ko-KR" altLang="en-US" sz="7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 물동 가중 평균</a:t>
            </a:r>
          </a:p>
        </p:txBody>
      </p:sp>
      <p:sp>
        <p:nvSpPr>
          <p:cNvPr id="11" name="Text Box 3">
            <a:extLst>
              <a:ext uri="{FF2B5EF4-FFF2-40B4-BE49-F238E27FC236}">
                <a16:creationId xmlns:a16="http://schemas.microsoft.com/office/drawing/2014/main" id="{2CEA3693-ACA8-EF05-2D67-BAAD6FD9EA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52560" y="115888"/>
            <a:ext cx="2280039" cy="31892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36000" tIns="36000" rIns="36000" bIns="36000" anchor="ctr">
            <a:spAutoFit/>
          </a:bodyPr>
          <a:lstStyle/>
          <a:p>
            <a:pPr marL="0" marR="0" lvl="0" indent="0" algn="r" defTabSz="4572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➍ KPI </a:t>
            </a:r>
            <a:r>
              <a:rPr kumimoji="1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수정 검토양식 </a:t>
            </a:r>
            <a:r>
              <a:rPr kumimoji="1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(</a:t>
            </a:r>
            <a:r>
              <a:rPr kumimoji="1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상세</a:t>
            </a:r>
            <a:r>
              <a:rPr kumimoji="1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)</a:t>
            </a:r>
            <a:endParaRPr kumimoji="1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itchFamily="50" charset="-127"/>
              <a:cs typeface="Arial" pitchFamily="34" charset="0"/>
            </a:endParaRPr>
          </a:p>
        </p:txBody>
      </p:sp>
      <p:sp>
        <p:nvSpPr>
          <p:cNvPr id="13" name="실행 단추: 홈으로 이동 12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F76FC85D-1EDA-B1A0-A2F0-1945A59BFF04}"/>
              </a:ext>
            </a:extLst>
          </p:cNvPr>
          <p:cNvSpPr/>
          <p:nvPr/>
        </p:nvSpPr>
        <p:spPr>
          <a:xfrm>
            <a:off x="9559720" y="92454"/>
            <a:ext cx="208721" cy="215315"/>
          </a:xfrm>
          <a:prstGeom prst="actionButtonHom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D818057-A7D9-C28A-8744-451B1BB2666C}"/>
              </a:ext>
            </a:extLst>
          </p:cNvPr>
          <p:cNvSpPr txBox="1"/>
          <p:nvPr/>
        </p:nvSpPr>
        <p:spPr>
          <a:xfrm>
            <a:off x="4632385" y="6698195"/>
            <a:ext cx="64123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 algn="ctr">
              <a:defRPr/>
            </a:pPr>
            <a:r>
              <a:rPr kumimoji="0" lang="en-US" altLang="ko-KR" sz="900" i="0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- 4 / 5 -</a:t>
            </a:r>
            <a:endParaRPr kumimoji="0" lang="ko-KR" altLang="en-US" sz="900" i="0" strike="noStrike" kern="1200" cap="none" spc="0" normalizeH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4FF4806-4F51-EA3D-571C-A754309AB6F1}"/>
              </a:ext>
            </a:extLst>
          </p:cNvPr>
          <p:cNvSpPr txBox="1"/>
          <p:nvPr/>
        </p:nvSpPr>
        <p:spPr>
          <a:xfrm>
            <a:off x="95895" y="174087"/>
            <a:ext cx="3853543" cy="369332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[ </a:t>
            </a:r>
            <a:r>
              <a:rPr kumimoji="1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자동보정담당 </a:t>
            </a:r>
            <a:r>
              <a:rPr kumimoji="1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/ </a:t>
            </a:r>
            <a:r>
              <a:rPr kumimoji="1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송무강 </a:t>
            </a:r>
            <a:r>
              <a:rPr kumimoji="1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/ </a:t>
            </a:r>
            <a:r>
              <a:rPr kumimoji="1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상무 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]</a:t>
            </a:r>
            <a:endParaRPr kumimoji="0" lang="ko-KR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805275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9_기본 디자인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1_기본 디자인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none" lIns="0" tIns="0" rIns="0" bIns="0" rtlCol="0">
        <a:spAutoFit/>
      </a:bodyPr>
      <a:lstStyle>
        <a:defPPr>
          <a:defRPr sz="1200" b="1" dirty="0" smtClean="0"/>
        </a:defPPr>
      </a:lstStyle>
    </a:txDef>
  </a:objectDefaults>
  <a:extraClrSchemeLst>
    <a:extraClrScheme>
      <a:clrScheme name="1_기본 디자인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1_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13880</TotalTime>
  <Words>9959</Words>
  <Application>Microsoft Office PowerPoint</Application>
  <PresentationFormat>A4 용지(210x297mm)</PresentationFormat>
  <Paragraphs>1810</Paragraphs>
  <Slides>17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3</vt:i4>
      </vt:variant>
      <vt:variant>
        <vt:lpstr>슬라이드 제목</vt:lpstr>
      </vt:variant>
      <vt:variant>
        <vt:i4>17</vt:i4>
      </vt:variant>
    </vt:vector>
  </HeadingPairs>
  <TitlesOfParts>
    <vt:vector size="28" baseType="lpstr">
      <vt:lpstr>LG스마트체 Regular</vt:lpstr>
      <vt:lpstr>굴림</vt:lpstr>
      <vt:lpstr>맑은 고딕</vt:lpstr>
      <vt:lpstr>Arial</vt:lpstr>
      <vt:lpstr>Arial Narrow</vt:lpstr>
      <vt:lpstr>Calibri</vt:lpstr>
      <vt:lpstr>Calibri Light</vt:lpstr>
      <vt:lpstr>Wingdings</vt:lpstr>
      <vt:lpstr>Office 테마</vt:lpstr>
      <vt:lpstr>19_기본 디자인</vt:lpstr>
      <vt:lpstr>1_Office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김대홍(DaehongKim)[daehong_kim]/책임/자동차.사업전략.사업전략팀</dc:creator>
  <cp:lastModifiedBy>이재후(JAEHU LEE)[jaehu]/사원/제조DX.기획팀</cp:lastModifiedBy>
  <cp:revision>765</cp:revision>
  <cp:lastPrinted>2025-03-26T08:19:46Z</cp:lastPrinted>
  <dcterms:created xsi:type="dcterms:W3CDTF">2025-01-20T23:43:33Z</dcterms:created>
  <dcterms:modified xsi:type="dcterms:W3CDTF">2026-08-03T04:38:21Z</dcterms:modified>
</cp:coreProperties>
</file>