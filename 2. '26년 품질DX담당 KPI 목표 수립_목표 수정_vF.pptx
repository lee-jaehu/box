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86" r:id="rId3"/>
  </p:sldMasterIdLst>
  <p:notesMasterIdLst>
    <p:notesMasterId r:id="rId21"/>
  </p:notesMasterIdLst>
  <p:sldIdLst>
    <p:sldId id="258" r:id="rId4"/>
    <p:sldId id="264" r:id="rId5"/>
    <p:sldId id="265" r:id="rId6"/>
    <p:sldId id="266" r:id="rId7"/>
    <p:sldId id="267" r:id="rId8"/>
    <p:sldId id="278" r:id="rId9"/>
    <p:sldId id="270" r:id="rId10"/>
    <p:sldId id="2147483442" r:id="rId11"/>
    <p:sldId id="275" r:id="rId12"/>
    <p:sldId id="276" r:id="rId13"/>
    <p:sldId id="272" r:id="rId14"/>
    <p:sldId id="273" r:id="rId15"/>
    <p:sldId id="274" r:id="rId16"/>
    <p:sldId id="279" r:id="rId17"/>
    <p:sldId id="280" r:id="rId18"/>
    <p:sldId id="2147481897" r:id="rId19"/>
    <p:sldId id="2147481902" r:id="rId20"/>
  </p:sldIdLst>
  <p:sldSz cx="9906000" cy="6858000" type="A4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목표합의서_품질DX담당" id="{06795811-6BBD-46F7-A304-667B2B4B8B59}">
          <p14:sldIdLst>
            <p14:sldId id="258"/>
            <p14:sldId id="264"/>
            <p14:sldId id="265"/>
            <p14:sldId id="266"/>
            <p14:sldId id="267"/>
            <p14:sldId id="278"/>
            <p14:sldId id="270"/>
            <p14:sldId id="2147483442"/>
            <p14:sldId id="275"/>
            <p14:sldId id="276"/>
            <p14:sldId id="272"/>
            <p14:sldId id="273"/>
            <p14:sldId id="274"/>
            <p14:sldId id="279"/>
            <p14:sldId id="280"/>
          </p14:sldIdLst>
        </p14:section>
        <p14:section name="KPI 변경 검토" id="{466C8448-23C2-483E-B8A1-20E520145E38}">
          <p14:sldIdLst>
            <p14:sldId id="2147481897"/>
          </p14:sldIdLst>
        </p14:section>
        <p14:section name="KPI 수정 근거_품질DX담당" id="{02A024D9-1BF4-4E53-A21A-87D23FDDCD7E}">
          <p14:sldIdLst>
            <p14:sldId id="21474819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6114" userDrawn="1">
          <p15:clr>
            <a:srgbClr val="A4A3A4"/>
          </p15:clr>
        </p15:guide>
        <p15:guide id="4" orient="horz" pos="618" userDrawn="1">
          <p15:clr>
            <a:srgbClr val="A4A3A4"/>
          </p15:clr>
        </p15:guide>
        <p15:guide id="5" pos="5796" userDrawn="1">
          <p15:clr>
            <a:srgbClr val="A4A3A4"/>
          </p15:clr>
        </p15:guide>
        <p15:guide id="6" pos="126" userDrawn="1">
          <p15:clr>
            <a:srgbClr val="A4A3A4"/>
          </p15:clr>
        </p15:guide>
        <p15:guide id="7" pos="489" userDrawn="1">
          <p15:clr>
            <a:srgbClr val="A4A3A4"/>
          </p15:clr>
        </p15:guide>
        <p15:guide id="8" pos="580" userDrawn="1">
          <p15:clr>
            <a:srgbClr val="A4A3A4"/>
          </p15:clr>
        </p15:guide>
        <p15:guide id="9" orient="horz" pos="4156" userDrawn="1">
          <p15:clr>
            <a:srgbClr val="A4A3A4"/>
          </p15:clr>
        </p15:guide>
        <p15:guide id="10" orient="horz" pos="2908" userDrawn="1">
          <p15:clr>
            <a:srgbClr val="A4A3A4"/>
          </p15:clr>
        </p15:guide>
        <p15:guide id="11" orient="horz" pos="3113" userDrawn="1">
          <p15:clr>
            <a:srgbClr val="A4A3A4"/>
          </p15:clr>
        </p15:guide>
        <p15:guide id="12" orient="horz" pos="3430" userDrawn="1">
          <p15:clr>
            <a:srgbClr val="A4A3A4"/>
          </p15:clr>
        </p15:guide>
        <p15:guide id="13" pos="1079" userDrawn="1">
          <p15:clr>
            <a:srgbClr val="A4A3A4"/>
          </p15:clr>
        </p15:guide>
        <p15:guide id="14" pos="1669" userDrawn="1">
          <p15:clr>
            <a:srgbClr val="A4A3A4"/>
          </p15:clr>
        </p15:guide>
        <p15:guide id="15" pos="1850" userDrawn="1">
          <p15:clr>
            <a:srgbClr val="A4A3A4"/>
          </p15:clr>
        </p15:guide>
        <p15:guide id="16" pos="3619" userDrawn="1">
          <p15:clr>
            <a:srgbClr val="A4A3A4"/>
          </p15:clr>
        </p15:guide>
        <p15:guide id="17" pos="3778" userDrawn="1">
          <p15:clr>
            <a:srgbClr val="A4A3A4"/>
          </p15:clr>
        </p15:guide>
        <p15:guide id="18" orient="horz" pos="890" userDrawn="1">
          <p15:clr>
            <a:srgbClr val="A4A3A4"/>
          </p15:clr>
        </p15:guide>
        <p15:guide id="19" orient="horz" pos="1162" userDrawn="1">
          <p15:clr>
            <a:srgbClr val="A4A3A4"/>
          </p15:clr>
        </p15:guide>
        <p15:guide id="20" orient="horz" pos="14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  <a:srgbClr val="FFFF99"/>
    <a:srgbClr val="FFFF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9" autoAdjust="0"/>
    <p:restoredTop sz="94667" autoAdjust="0"/>
  </p:normalViewPr>
  <p:slideViewPr>
    <p:cSldViewPr snapToGrid="0" showGuides="1">
      <p:cViewPr>
        <p:scale>
          <a:sx n="125" d="100"/>
          <a:sy n="125" d="100"/>
        </p:scale>
        <p:origin x="912" y="-726"/>
      </p:cViewPr>
      <p:guideLst>
        <p:guide orient="horz" pos="391"/>
        <p:guide pos="6114"/>
        <p:guide orient="horz" pos="618"/>
        <p:guide pos="5796"/>
        <p:guide pos="126"/>
        <p:guide pos="489"/>
        <p:guide pos="580"/>
        <p:guide orient="horz" pos="4156"/>
        <p:guide orient="horz" pos="2908"/>
        <p:guide orient="horz" pos="3113"/>
        <p:guide orient="horz" pos="3430"/>
        <p:guide pos="1079"/>
        <p:guide pos="1669"/>
        <p:guide pos="1850"/>
        <p:guide pos="3619"/>
        <p:guide pos="3778"/>
        <p:guide orient="horz" pos="890"/>
        <p:guide orient="horz" pos="1162"/>
        <p:guide orient="horz" pos="14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AAA317-D649-4A5F-9D2F-E5B84DA7731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1233488"/>
            <a:ext cx="4813300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51388"/>
            <a:ext cx="5438775" cy="3887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44F66-54D9-4BCF-8DFA-2EE3BF76F9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091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81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81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0611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81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81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7767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43E43C-B210-4C7B-86E8-F100C48959A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8085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0D7BA-30C3-64DE-D176-1EFC52BD0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8E21CD-ED93-427D-02C8-652EE8E88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A5B939-2198-8335-AF1D-31B86242E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BAB241-CFC5-C52C-C906-00BC7376EF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125A4A-0BA2-4E9B-BF0C-200011F251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8551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125A4A-0BA2-4E9B-BF0C-200011F251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5422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43E43C-B210-4C7B-86E8-F100C48959A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4018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9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39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41793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9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39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1203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710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088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758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042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33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374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02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64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664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349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204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9882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0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9599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906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8413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3226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4973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3048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1433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095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2821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2778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2612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9932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4662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4916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3733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2058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2132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F6ED3-60AD-48CD-B581-5C42264DF849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923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9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9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7" r:id="rId3"/>
    <p:sldLayoutId id="2147483678" r:id="rId4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4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29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433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57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39825" indent="-22542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598613" indent="-22542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4225" indent="-22542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9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39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8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727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3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8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2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67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1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5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9037C-F6BC-4C17-B680-989F54A9FCBC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078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DEA82D8-838B-4BB7-8CC3-D776D5B45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906289"/>
              </p:ext>
            </p:extLst>
          </p:nvPr>
        </p:nvGraphicFramePr>
        <p:xfrm>
          <a:off x="200026" y="620713"/>
          <a:ext cx="9577388" cy="5434421"/>
        </p:xfrm>
        <a:graphic>
          <a:graphicData uri="http://schemas.openxmlformats.org/drawingml/2006/table">
            <a:tbl>
              <a:tblPr/>
              <a:tblGrid>
                <a:gridCol w="511838">
                  <a:extLst>
                    <a:ext uri="{9D8B030D-6E8A-4147-A177-3AD203B41FA5}">
                      <a16:colId xmlns:a16="http://schemas.microsoft.com/office/drawing/2014/main" val="1285339405"/>
                    </a:ext>
                  </a:extLst>
                </a:gridCol>
                <a:gridCol w="897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533">
                  <a:extLst>
                    <a:ext uri="{9D8B030D-6E8A-4147-A177-3AD203B41FA5}">
                      <a16:colId xmlns:a16="http://schemas.microsoft.com/office/drawing/2014/main" val="1485838750"/>
                    </a:ext>
                  </a:extLst>
                </a:gridCol>
                <a:gridCol w="263502">
                  <a:extLst>
                    <a:ext uri="{9D8B030D-6E8A-4147-A177-3AD203B41FA5}">
                      <a16:colId xmlns:a16="http://schemas.microsoft.com/office/drawing/2014/main" val="3694603259"/>
                    </a:ext>
                  </a:extLst>
                </a:gridCol>
                <a:gridCol w="2460244">
                  <a:extLst>
                    <a:ext uri="{9D8B030D-6E8A-4147-A177-3AD203B41FA5}">
                      <a16:colId xmlns:a16="http://schemas.microsoft.com/office/drawing/2014/main" val="2421510175"/>
                    </a:ext>
                  </a:extLst>
                </a:gridCol>
                <a:gridCol w="4464374">
                  <a:extLst>
                    <a:ext uri="{9D8B030D-6E8A-4147-A177-3AD203B41FA5}">
                      <a16:colId xmlns:a16="http://schemas.microsoft.com/office/drawing/2014/main" val="46673577"/>
                    </a:ext>
                  </a:extLst>
                </a:gridCol>
              </a:tblGrid>
              <a:tr h="194304">
                <a:tc gridSpan="2"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구분</a:t>
                      </a:r>
                      <a:endParaRPr 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en-US" sz="1000" b="1" i="0" u="none" strike="noStrike" spc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비중</a:t>
                      </a:r>
                      <a:endParaRPr lang="en-US" altLang="ko-KR" sz="1000" b="1" i="0" u="none" strike="noStrike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1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주요 실행 계획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8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핵심</a:t>
                      </a:r>
                      <a:br>
                        <a:rPr kumimoji="1" lang="en-US" altLang="ko-KR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ko-KR" altLang="en-US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성과지표</a:t>
                      </a:r>
                      <a:br>
                        <a:rPr kumimoji="1" lang="en-US" altLang="ko-KR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en-US" altLang="ko-KR" sz="1000" b="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(10%)</a:t>
                      </a:r>
                      <a:endParaRPr kumimoji="1" lang="ko-KR" altLang="en-US" sz="1000" b="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재무목표 달성</a:t>
                      </a:r>
                      <a:br>
                        <a:rPr kumimoji="1" lang="en-US" altLang="ko-KR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en-US" altLang="ko-KR" sz="1000" b="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(10%)</a:t>
                      </a:r>
                      <a:endParaRPr kumimoji="1" lang="ko-KR" altLang="en-US" sz="1000" b="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</a:t>
                      </a:r>
                      <a:b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달성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30.05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 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4,000 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225254"/>
                  </a:ext>
                </a:extLst>
              </a:tr>
              <a:tr h="1266426">
                <a:tc rowSpan="5"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80000"/>
                        <a:buFont typeface="Wingdings" panose="05000000000000000000" pitchFamily="2" charset="2"/>
                        <a:buNone/>
                      </a:pP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전략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(90%)</a:t>
                      </a: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제품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경쟁우위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확보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(90%)</a:t>
                      </a: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품질 경쟁력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강화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Safety Risk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판단 </a:t>
                      </a: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Fast Track 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체계 구축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C :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분석업무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효율화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8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억 절감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Safety Issue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L/T 28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→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운영 로그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표준안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정의 및 프로세스 현황 분석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각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별 운영 로그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표준안 정의 및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Pain Point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도출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Pack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추적성 확보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(5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PSCM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내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Pack, Rack, LINK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결합 이력 등록 관리 및 과거 설치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결합 이력 확보</a:t>
                      </a: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DAVINCI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내 표준 운영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수집 및 분석 체계 확보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(8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 수집 운영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표준 템플릿 전환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API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및 다빈치 연계 분석 환경 구축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조기 이상 감지 체계 구축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(10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BMS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진단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알람과 수집된 표준화 데이터를 이용한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ML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진단 통합 조기 이상감지 체계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처리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감지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~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알람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~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프로세스 및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R&amp;R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정의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365298"/>
                  </a:ext>
                </a:extLst>
              </a:tr>
              <a:tr h="5508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br>
                        <a:rPr lang="en-US" altLang="ko-KR" sz="1000" b="1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</a:t>
                      </a: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ESMI, MI_LS, OT, HD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기반의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자동분석 효율화 과제 적용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리드 타임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90%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단축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MI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STK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(7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LLM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분석 및 원인 인자 자동추천 기능 적용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379417"/>
                  </a:ext>
                </a:extLst>
              </a:tr>
              <a:tr h="9563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0488" indent="-904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SzPct val="80000"/>
                        <a:buFont typeface="Wingdings" panose="05000000000000000000" pitchFamily="2" charset="2"/>
                        <a:buChar char="q"/>
                      </a:pPr>
                      <a:endParaRPr lang="ko-KR" altLang="en-US" sz="1000" b="1" kern="1200" spc="-5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업무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효율화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수작업 업무 제거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C : 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시간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79.2hr/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절감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(9.9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절감효과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PPAP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문서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 검증 및 분석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Process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및 현수준 파악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), AX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검증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Tool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(8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(10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검교정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성적서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검토 및 자동 입력을 통한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Workload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검사 판정 알고리즘 관리 자동화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(ESAZ)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아키텍쳐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정의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(1Q),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학습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Agent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구축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(2Q),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알고리즘 자동배포 기능 구축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(3Q)</a:t>
                      </a: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친환경문서 자동 검토를 통한 업무 효율화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(~3Q)</a:t>
                      </a:r>
                      <a:endParaRPr kumimoji="0" lang="ko-KR" altLang="en-US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83595"/>
                  </a:ext>
                </a:extLst>
              </a:tr>
              <a:tr h="857273">
                <a:tc vMerge="1"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80000"/>
                        <a:buFont typeface="Wingdings" panose="05000000000000000000" pitchFamily="2" charset="2"/>
                        <a:buNone/>
                      </a:pPr>
                      <a:endParaRPr lang="en-US" altLang="ko-KR" sz="1000" b="0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80000"/>
                        <a:buFont typeface="Wingdings" panose="05000000000000000000" pitchFamily="2" charset="2"/>
                        <a:buNone/>
                      </a:pPr>
                      <a:endParaRPr lang="en-US" altLang="ko-KR" sz="1000" b="0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endParaRPr lang="en-US" altLang="ko-KR" sz="10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롤맵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데이터 활용 생산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Loss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개선</a:t>
                      </a:r>
                      <a:endParaRPr kumimoji="1" lang="en-US" altLang="ko-KR" sz="10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- C :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전극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Loss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개선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(10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억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- D :  ‘26.12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롤맵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활용 생산성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품질개선 요구사항 협의 및 상세요건 수립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(w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품질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1Q)</a:t>
                      </a: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 요건별 기술 개발 고도화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(2Q)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레인별 불량 배출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(TWS,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두께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아일랜드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정보 활용 고도화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포일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조건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조정시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작업자 수동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Tag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안정화 구간 자동 마킹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배출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전공정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정보 활용 공정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직행률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전공정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사전알림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슬리터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공정 확대적용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개선사항 검증 및 양산 적용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(M+3 ‘3Q),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양산 모니터링 및 추가 개선과제 발굴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(4Q)</a:t>
                      </a:r>
                      <a:endParaRPr kumimoji="0" lang="ko-KR" altLang="en-US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555581"/>
                  </a:ext>
                </a:extLst>
              </a:tr>
              <a:tr h="581653">
                <a:tc vMerge="1"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80000"/>
                        <a:buFont typeface="Wingdings" panose="05000000000000000000" pitchFamily="2" charset="2"/>
                        <a:buNone/>
                      </a:pPr>
                      <a:endParaRPr lang="en-US" altLang="ko-KR" sz="1000" b="0" kern="1200" spc="-1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80000"/>
                        <a:buFont typeface="Wingdings" panose="05000000000000000000" pitchFamily="2" charset="2"/>
                        <a:buNone/>
                      </a:pPr>
                      <a:endParaRPr lang="en-US" altLang="ko-KR" sz="1000" b="0" kern="1200" spc="-1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" marR="3600" marT="10800" marB="108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6995" marR="0" lvl="0" indent="-8699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수주대응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(RFx)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건설투자비 산출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L/T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단축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Q : 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건설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공사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견적산출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Agent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(6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일→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66%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단축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D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‘26.12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설계 정보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면적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분석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자동 연계 체계 수립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(~1Q)</a:t>
                      </a: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 실행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PJT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비용 분석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/Mapping,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공사항목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표준화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(~2Q)</a:t>
                      </a: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외부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Factor data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 수집 및 유사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PJT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Agent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(~3Q)</a:t>
                      </a:r>
                      <a:endParaRPr kumimoji="0" lang="ko-KR" altLang="en-US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Factor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영향도 분석 및 산출 모델 개발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검증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(~4Q)</a:t>
                      </a:r>
                      <a:endParaRPr kumimoji="0" lang="ko-KR" altLang="en-US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00503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AD06E73C-157A-493E-B652-BDEC418441E0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품질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담당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송영민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4B7B6C-5BB2-9A93-8B10-51DA0CCC7DC4}"/>
              </a:ext>
            </a:extLst>
          </p:cNvPr>
          <p:cNvSpPr txBox="1"/>
          <p:nvPr/>
        </p:nvSpPr>
        <p:spPr>
          <a:xfrm>
            <a:off x="2983872" y="2196663"/>
            <a:ext cx="196367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현재 수준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- (JH4)Safety Issue Buyback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과검률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63%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제한 가동 비용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36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억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억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- Safety Issue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분석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L/T 28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518C32-BB09-6C4F-9654-73481CE91894}"/>
              </a:ext>
            </a:extLst>
          </p:cNvPr>
          <p:cNvSpPr txBox="1"/>
          <p:nvPr/>
        </p:nvSpPr>
        <p:spPr>
          <a:xfrm>
            <a:off x="8557360" y="3640310"/>
            <a:ext cx="135643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라미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위치불량 분석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: 6hr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0.5hr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현황분석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(1.5hr)+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원인분석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(4.5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hr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Chat-bot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기반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AIR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활용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(0.5hr)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92709-E57D-4CD9-A745-17AD07F59DEC}"/>
              </a:ext>
            </a:extLst>
          </p:cNvPr>
          <p:cNvSpPr txBox="1"/>
          <p:nvPr/>
        </p:nvSpPr>
        <p:spPr>
          <a:xfrm>
            <a:off x="3839708" y="4972418"/>
            <a:ext cx="85377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20,592hr/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연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B1F5DC1-D596-448F-1F41-A051BD0D40EE}"/>
              </a:ext>
            </a:extLst>
          </p:cNvPr>
          <p:cNvSpPr/>
          <p:nvPr/>
        </p:nvSpPr>
        <p:spPr>
          <a:xfrm>
            <a:off x="3420257" y="2694967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559CAD6-B831-051E-BFD2-9C625924FB44}"/>
              </a:ext>
            </a:extLst>
          </p:cNvPr>
          <p:cNvSpPr/>
          <p:nvPr/>
        </p:nvSpPr>
        <p:spPr>
          <a:xfrm>
            <a:off x="2890935" y="2694967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CDO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CA2752-C446-DAC0-BE21-AABAC2764357}"/>
              </a:ext>
            </a:extLst>
          </p:cNvPr>
          <p:cNvSpPr txBox="1"/>
          <p:nvPr/>
        </p:nvSpPr>
        <p:spPr>
          <a:xfrm>
            <a:off x="4700972" y="6586900"/>
            <a:ext cx="504056" cy="27110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0" marR="0" lvl="0" indent="0" algn="ctr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- 1 / 2 -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D4434F-E70E-8934-BDBB-D6AD2A44C504}"/>
              </a:ext>
            </a:extLst>
          </p:cNvPr>
          <p:cNvSpPr txBox="1"/>
          <p:nvPr/>
        </p:nvSpPr>
        <p:spPr>
          <a:xfrm>
            <a:off x="7224093" y="135047"/>
            <a:ext cx="2545733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➊ 목표 합의서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(1/2)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9A3D6A-D01A-C27E-2C50-D155102C1713}"/>
              </a:ext>
            </a:extLst>
          </p:cNvPr>
          <p:cNvSpPr/>
          <p:nvPr/>
        </p:nvSpPr>
        <p:spPr>
          <a:xfrm>
            <a:off x="2890935" y="1341738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FDE94FB-701B-84F1-D321-34CCABD56963}"/>
              </a:ext>
            </a:extLst>
          </p:cNvPr>
          <p:cNvSpPr/>
          <p:nvPr/>
        </p:nvSpPr>
        <p:spPr>
          <a:xfrm>
            <a:off x="2886857" y="3486548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</a:p>
        </p:txBody>
      </p:sp>
    </p:spTree>
    <p:extLst>
      <p:ext uri="{BB962C8B-B14F-4D97-AF65-F5344CB8AC3E}">
        <p14:creationId xmlns:p14="http://schemas.microsoft.com/office/powerpoint/2010/main" val="840126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DEA82D8-838B-4BB7-8CC3-D776D5B45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971526"/>
              </p:ext>
            </p:extLst>
          </p:nvPr>
        </p:nvGraphicFramePr>
        <p:xfrm>
          <a:off x="200026" y="533624"/>
          <a:ext cx="9577388" cy="4771026"/>
        </p:xfrm>
        <a:graphic>
          <a:graphicData uri="http://schemas.openxmlformats.org/drawingml/2006/table">
            <a:tbl>
              <a:tblPr/>
              <a:tblGrid>
                <a:gridCol w="511838">
                  <a:extLst>
                    <a:ext uri="{9D8B030D-6E8A-4147-A177-3AD203B41FA5}">
                      <a16:colId xmlns:a16="http://schemas.microsoft.com/office/drawing/2014/main" val="1285339405"/>
                    </a:ext>
                  </a:extLst>
                </a:gridCol>
                <a:gridCol w="897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533">
                  <a:extLst>
                    <a:ext uri="{9D8B030D-6E8A-4147-A177-3AD203B41FA5}">
                      <a16:colId xmlns:a16="http://schemas.microsoft.com/office/drawing/2014/main" val="1485838750"/>
                    </a:ext>
                  </a:extLst>
                </a:gridCol>
                <a:gridCol w="263502">
                  <a:extLst>
                    <a:ext uri="{9D8B030D-6E8A-4147-A177-3AD203B41FA5}">
                      <a16:colId xmlns:a16="http://schemas.microsoft.com/office/drawing/2014/main" val="3694603259"/>
                    </a:ext>
                  </a:extLst>
                </a:gridCol>
                <a:gridCol w="2460244">
                  <a:extLst>
                    <a:ext uri="{9D8B030D-6E8A-4147-A177-3AD203B41FA5}">
                      <a16:colId xmlns:a16="http://schemas.microsoft.com/office/drawing/2014/main" val="2421510175"/>
                    </a:ext>
                  </a:extLst>
                </a:gridCol>
                <a:gridCol w="4464374">
                  <a:extLst>
                    <a:ext uri="{9D8B030D-6E8A-4147-A177-3AD203B41FA5}">
                      <a16:colId xmlns:a16="http://schemas.microsoft.com/office/drawing/2014/main" val="46673577"/>
                    </a:ext>
                  </a:extLst>
                </a:gridCol>
              </a:tblGrid>
              <a:tr h="208430">
                <a:tc gridSpan="2"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구분</a:t>
                      </a:r>
                      <a:endParaRPr 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en-US" sz="1000" b="1" i="0" u="none" strike="noStrike" spc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비중</a:t>
                      </a:r>
                      <a:endParaRPr lang="en-US" altLang="ko-KR" sz="1000" b="1" i="0" u="none" strike="noStrike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1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실행 계획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</a:t>
                      </a:r>
                      <a:b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전략</a:t>
                      </a:r>
                      <a:b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</a:t>
                      </a:r>
                      <a:b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(90%)</a:t>
                      </a:r>
                      <a:endParaRPr lang="ko-KR" altLang="en-US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제품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경쟁우위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확보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(90%)</a:t>
                      </a: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/ESS BM/PD 20%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(25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比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en-US" altLang="ko-KR" sz="900" b="0" kern="1200" spc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EMS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 및 검사기 관리 통한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대상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BM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조치 시간 단축 및 검사기 기인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BM/PD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저감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1. EMS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고도화를 통한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조치시간 단축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 BM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정비이력 및 정비 매뉴얼 학습을 통한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조치가이드 추천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Agent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2. AX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 검사기 관리를 통한 검사기 기인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BM/PD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저감</a:t>
                      </a:r>
                      <a:endParaRPr kumimoji="0" lang="ko-KR" altLang="en-US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FDC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검사기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CTP Coverage 90%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SPC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검사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SPEC Coverage 90%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475724"/>
                  </a:ext>
                </a:extLst>
              </a:tr>
              <a:tr h="54594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구축 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서버 기반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IVS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적용을 통한 작업자 업무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Load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저감 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19,612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운영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('26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단독법인 인원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’26.9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서버기반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IVS ESHM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아키텍처 정의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(1Q)</a:t>
                      </a: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ESHM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AZS Cutter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IVS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(2Q)</a:t>
                      </a: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알고리즘 관리기능 고도화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(3Q)</a:t>
                      </a:r>
                      <a:endParaRPr kumimoji="0" lang="ko-KR" altLang="en-US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434201"/>
                  </a:ext>
                </a:extLst>
              </a:tr>
              <a:tr h="54594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endParaRPr lang="en-US" altLang="ko-KR" sz="10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endParaRPr lang="en-US" altLang="ko-KR" sz="10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6995" marR="0" lvl="0" indent="-8699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사전 예측을 위한 모델링 검증 환경 구축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Q 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D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‘26.9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테스트서버 요건 정의 및 아키텍처 설계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(1Q)</a:t>
                      </a: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사전 예측을 위한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Test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서버 인프라 구축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(2Q)</a:t>
                      </a: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검증 환경 구축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(3Q)</a:t>
                      </a:r>
                      <a:endParaRPr kumimoji="0" lang="ko-KR" altLang="en-US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669165"/>
                  </a:ext>
                </a:extLst>
              </a:tr>
              <a:tr h="68633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endParaRPr lang="en-US" altLang="ko-KR" sz="10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endParaRPr lang="en-US" altLang="ko-KR" sz="10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DAVINCI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플랫폼 강화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Q : AX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플랫폼 개선 과제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건 적용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D : ‘26.11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(OC,WA)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다빈치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분석 자동화 및 데이터 활용성 강화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Spotfire Co-Pilot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환경 구축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다빈치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Agent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플랫폼 구축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아키텍쳐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개선을 통한 빅데이터 처리 전용 클러스터 구축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730792"/>
                  </a:ext>
                </a:extLst>
              </a:tr>
              <a:tr h="68633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kern="1200" spc="-1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eIoT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→ FDC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통합을 통한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IT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비용 절감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26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확산 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27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년부터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99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억 절감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(33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억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대상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Site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적기 구축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(~4Q)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OC/OC2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eIoT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→ FDC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통합 적용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(1Q)</a:t>
                      </a: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확산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-1Q : HD/MI_L, 2Q : OT/AZ/HG/MI/GM1/GM2, 3Q : NA, 4Q : NB/NJ/WA</a:t>
                      </a:r>
                      <a:endParaRPr kumimoji="0" lang="ko-KR" altLang="en-US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937978"/>
                  </a:ext>
                </a:extLst>
              </a:tr>
              <a:tr h="68633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100" b="0" kern="1200" spc="-1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증설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IT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시스템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적기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Open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으로 조기 안정화</a:t>
                      </a:r>
                    </a:p>
                  </a:txBody>
                  <a:tcPr marL="18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</a:t>
                      </a:r>
                      <a:endParaRPr lang="ko-KR" altLang="en-US" sz="10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6995" marR="0" lvl="0" indent="-8699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샘플 생산 시 시스템을 통한 공장 운영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샘플 생산 시 적용 시스템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6995" marR="0" lvl="0" indent="-8699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PDS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신규확산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(NFF/ESS)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 법인 적기 대응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(AZ)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As-Is: QMS, MIMS, RMS, FDC, SPC, EMS, EDC, </a:t>
                      </a:r>
                      <a:r>
                        <a:rPr kumimoji="0" lang="en-US" altLang="ko-KR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eIoT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DAVINCI, VTS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To-Be : QMS, MIMS, RMS, FDC, SPC, EMS, EDC, </a:t>
                      </a:r>
                      <a:r>
                        <a:rPr kumimoji="0" lang="en-US" altLang="ko-KR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eIoT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DAVINCI, VTS, APC,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롤맵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PDS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 확산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ESS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ESOT(3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), ESHD(7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), ESMI_L(9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원통형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ESOC9(6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), ESAZ(7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ko-KR" altLang="en-US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5146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AD06E73C-157A-493E-B652-BDEC418441E0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품질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담당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송영민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5ED2FE5-F0B8-0A91-EFD0-E9D014191F27}"/>
              </a:ext>
            </a:extLst>
          </p:cNvPr>
          <p:cNvSpPr/>
          <p:nvPr/>
        </p:nvSpPr>
        <p:spPr>
          <a:xfrm>
            <a:off x="1641066" y="972404"/>
            <a:ext cx="252000" cy="14760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K I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7E73863-0B59-830A-4551-16C9A857904A}"/>
              </a:ext>
            </a:extLst>
          </p:cNvPr>
          <p:cNvSpPr/>
          <p:nvPr/>
        </p:nvSpPr>
        <p:spPr>
          <a:xfrm>
            <a:off x="5046610" y="2016023"/>
            <a:ext cx="252000" cy="147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협업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121FDF1-0F72-AD75-DF2E-1FF017CF0FA3}"/>
              </a:ext>
            </a:extLst>
          </p:cNvPr>
          <p:cNvSpPr/>
          <p:nvPr/>
        </p:nvSpPr>
        <p:spPr>
          <a:xfrm>
            <a:off x="5046610" y="2597048"/>
            <a:ext cx="252000" cy="147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협업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6F2C0C6-19B5-7202-D33B-6966ACC40790}"/>
              </a:ext>
            </a:extLst>
          </p:cNvPr>
          <p:cNvSpPr/>
          <p:nvPr/>
        </p:nvSpPr>
        <p:spPr>
          <a:xfrm>
            <a:off x="3420257" y="999517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8BA02F0-3472-4186-19AC-B8A993427527}"/>
              </a:ext>
            </a:extLst>
          </p:cNvPr>
          <p:cNvSpPr/>
          <p:nvPr/>
        </p:nvSpPr>
        <p:spPr>
          <a:xfrm>
            <a:off x="2890935" y="999517"/>
            <a:ext cx="500747" cy="13390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CDO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53F755-C0F2-8520-6E4C-0086263E0DFC}"/>
              </a:ext>
            </a:extLst>
          </p:cNvPr>
          <p:cNvSpPr txBox="1"/>
          <p:nvPr/>
        </p:nvSpPr>
        <p:spPr>
          <a:xfrm>
            <a:off x="1742869" y="1487433"/>
            <a:ext cx="50485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CPO Co-KPI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EB4AD3-5F27-CAE0-ED6B-E784A21CB614}"/>
              </a:ext>
            </a:extLst>
          </p:cNvPr>
          <p:cNvSpPr txBox="1"/>
          <p:nvPr/>
        </p:nvSpPr>
        <p:spPr>
          <a:xfrm>
            <a:off x="4700972" y="6586900"/>
            <a:ext cx="504056" cy="27110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0" marR="0" lvl="0" indent="0" algn="ctr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- 2 / 2 -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607AF1-33AB-3070-A637-A9A08A62A559}"/>
              </a:ext>
            </a:extLst>
          </p:cNvPr>
          <p:cNvSpPr txBox="1"/>
          <p:nvPr/>
        </p:nvSpPr>
        <p:spPr>
          <a:xfrm>
            <a:off x="7224093" y="135047"/>
            <a:ext cx="2545733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➊ 목표 합의서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(2/2)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1307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472477"/>
              </p:ext>
            </p:extLst>
          </p:nvPr>
        </p:nvGraphicFramePr>
        <p:xfrm>
          <a:off x="173693" y="620689"/>
          <a:ext cx="9657626" cy="5973212"/>
        </p:xfrm>
        <a:graphic>
          <a:graphicData uri="http://schemas.openxmlformats.org/drawingml/2006/table">
            <a:tbl>
              <a:tblPr/>
              <a:tblGrid>
                <a:gridCol w="612442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224884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40430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848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354344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품질 경쟁력</a:t>
                      </a:r>
                      <a:b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강화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Safety Risk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판단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Fast Track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체계 구축</a:t>
                      </a:r>
                      <a:b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15%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b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C :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분석업무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효율화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8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억 절감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Safety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L/T17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 단축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kumimoji="1" lang="ko-KR" altLang="en-US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JH4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모델 기준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Safety Issue buyback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63%</a:t>
                      </a:r>
                    </a:p>
                    <a:p>
                      <a:pPr marL="90000" marR="0" lvl="0" indent="-90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목표설정 근거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 Narrow" panose="020B0606020202030204" pitchFamily="34" charset="0"/>
                        <a:buChar char="−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ECS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설치 정보 기준</a:t>
                      </a:r>
                      <a:r>
                        <a:rPr kumimoji="0" lang="ko-KR" altLang="en-US" sz="1000" b="0" i="0" u="none" strike="noStrike" kern="1200" cap="none" spc="-30" normalizeH="0" baseline="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‘25.10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71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개국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1,572 Site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중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EBM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연동된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507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Site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VT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AEORS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연동된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124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Site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대상으로 과거 생산 데이터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결합 이력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가 관리되지 않아 품질 원인 분석을 위한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Cell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추적성 미흡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9388" marR="0" lvl="0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 Narrow" panose="020B0606020202030204" pitchFamily="34" charset="0"/>
                        <a:buChar char="−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현재 수집되는 운영 데이터도 비표준화로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데이터 구성 및 타입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인해 실시간 이상 발생에 대한 오진단과 분석 시스템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(DAVINCI)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연계하여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빅데이터 분석으로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Risk Range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교체 대상의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(63%)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개선과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핵심 과제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자동화를 통한 운영 효율성 제고 필요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9388" marR="0" lvl="0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 Narrow" panose="020B0606020202030204" pitchFamily="34" charset="0"/>
                        <a:buChar char="−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배터리의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Safety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품질 이슈를 사전예방 및 품질 불량에 대한 민첩한 대응 을 위한 </a:t>
                      </a:r>
                      <a:r>
                        <a:rPr kumimoji="0" lang="en-US" altLang="ko-KR" sz="1000" b="1" i="0" u="sng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‘ESS </a:t>
                      </a:r>
                      <a:r>
                        <a:rPr kumimoji="0" lang="ko-KR" altLang="en-US" sz="1000" b="1" i="0" u="sng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생산</a:t>
                      </a:r>
                      <a:r>
                        <a:rPr kumimoji="0" lang="en-US" altLang="ko-KR" sz="1000" b="1" i="0" u="sng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ko-KR" altLang="en-US" sz="1000" b="1" i="0" u="sng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운영 통합 분석 체계</a:t>
                      </a:r>
                      <a:r>
                        <a:rPr kumimoji="0" lang="en-US" altLang="ko-KR" sz="1000" b="1" i="0" u="sng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를 마련하여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실시간 조기 이상 감지 체제 운영과 빅데이터 분석 플랫폼 기반으로 연간 약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15,000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시간 이상 업무 발생 비용을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줄이고자함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179388" marR="0" lvl="0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 Narrow" panose="020B0606020202030204" pitchFamily="34" charset="0"/>
                        <a:buChar char="−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JH4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기준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Safety Issue Buyback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(63%), RMA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진단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(12%)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간의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51%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차이가 있으며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향후 데이터 표준화와 알고리즘 개선을 통하여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개선효과의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데이터 정비에 따른 기여도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30%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반영하여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15%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개선을 목표로 설정함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 Narrow" panose="020B060602020203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설정목표에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JH4 Safety Buyback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 후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kumimoji="0" lang="ko-KR" altLang="en-US" sz="10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운영 로그 데이터 표준안 확정 및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Pain Point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도출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01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구성정보 및 추적성 확보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161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생산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운영 통합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Data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적용률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100%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317743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[1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운영 로그 데이터 표준안 정의 및 현황 분석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표준화 대상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BSC/BSM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SW 8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종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및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SW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별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버전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조합으로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                    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약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530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종 이상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각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Site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별 운영 로그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Data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표준안  및 적용 방안 수립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ea"/>
                        <a:buNone/>
                        <a:tabLst/>
                      </a:pPr>
                      <a:r>
                        <a:rPr lang="en-US" altLang="ko-KR" sz="7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[2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Pack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추적성 확보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100%)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</a:b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- PSCM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내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 Pack, Rack, LINK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결합 이력 등록 관리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과거 설치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Site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결합 이력 확보 및 재발방지 대책 수립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ea"/>
                        <a:buNone/>
                        <a:tabLst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ea"/>
                        <a:buNone/>
                        <a:tabLst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[3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DAVINCI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내 표준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운영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Data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수집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및 분석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(0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100%)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현 수집 운영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Data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표준 템플릿 전환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API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생산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운영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Data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연계 및 분석 환경 구축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ea"/>
                        <a:buNone/>
                        <a:tabLst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ea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[4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ESS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조기 이상 감지 체계 구축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BMS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진단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알람과 수집된 표준화 데이터를 이용한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ML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진단 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통합 조기 이상감지 체계</a:t>
                      </a:r>
                      <a:b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 처리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감지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~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알람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~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조치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프로세스 및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R&amp;R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정의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84887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33073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업무 효율화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9.6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21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17.5%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업무 효율화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8.8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19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업무 효율화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6.4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14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10%↓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업무 효율화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6.4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↓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14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일↓ 단축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9.6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D: 21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33073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17.5%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C: 8.8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D: 19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33073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15%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8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D: 17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33073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C: 6.4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D: 14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단축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33073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↓ 개선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C: 6.4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↓ 절감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D: 14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↓ 단축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486DD26-8D99-E33A-E435-A56AC3C30F5E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품질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DX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담당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송영민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책임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9754CD-1469-3349-B807-AE6F83781CD3}"/>
              </a:ext>
            </a:extLst>
          </p:cNvPr>
          <p:cNvSpPr txBox="1"/>
          <p:nvPr/>
        </p:nvSpPr>
        <p:spPr>
          <a:xfrm>
            <a:off x="5124262" y="264097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(1/11)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A8E5D7-4501-5F48-A108-9258373FD6D9}"/>
              </a:ext>
            </a:extLst>
          </p:cNvPr>
          <p:cNvSpPr txBox="1"/>
          <p:nvPr/>
        </p:nvSpPr>
        <p:spPr>
          <a:xfrm>
            <a:off x="4454656" y="251357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26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40152"/>
              </p:ext>
            </p:extLst>
          </p:nvPr>
        </p:nvGraphicFramePr>
        <p:xfrm>
          <a:off x="173693" y="620692"/>
          <a:ext cx="9541534" cy="6077631"/>
        </p:xfrm>
        <a:graphic>
          <a:graphicData uri="http://schemas.openxmlformats.org/drawingml/2006/table">
            <a:tbl>
              <a:tblPr/>
              <a:tblGrid>
                <a:gridCol w="612442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224884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88208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6138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301933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제조운영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AX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수율 개선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ESMI, MI_LS, OT, HD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ESS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 90.5%, OT 79.9% (’25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누적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MI, MI_L, OT, HD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 라인 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</a:t>
                      </a:r>
                      <a:endParaRPr kumimoji="1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전라인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공급 극대화 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달성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MI,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MI_L, OT,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HD ESS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 라인 기준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 기준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평균 기준 목표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기준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93.5%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3019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93.7%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(2Q </a:t>
                      </a:r>
                      <a:r>
                        <a:rPr lang="ko-KR" altLang="en-US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93.6%)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3019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94.4%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(3Q </a:t>
                      </a:r>
                      <a:r>
                        <a:rPr lang="ko-KR" altLang="en-US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93.9%)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59551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[1Q]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 분석 효율화 과제 개발</a:t>
                      </a:r>
                      <a:b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라미위치불량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STK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외관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치수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대상 개발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 분석을 위한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Chat-bot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기능 개발</a:t>
                      </a:r>
                      <a:endParaRPr kumimoji="1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[2Q]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MI,ST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법인 수율분석  효율화 과제 적용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효율성 확대를 위한 데이터 파이프라인 표준화 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MI,ST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법인 라미위치불량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STK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외관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치수 대상 적용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불량분석을 위한 비정형 데이터 연계 방안 설계</a:t>
                      </a:r>
                      <a:endParaRPr kumimoji="1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[3Q] : MIL,HD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법인 수율분석 과제 확산 및 분석 시나리오 확장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MIL,HD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법인 라미위치불량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STK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외관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치수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대상 적용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비정형 데이터 연계 분석 시나리오 적용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불량 즉조치 분석을 위한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Raw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데이터 연계 기능 적용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6138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511521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95.4%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511521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94.9%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0536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0536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0536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CC5AC73-E719-E509-F32D-E0209FE2F805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품질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담당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/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송영민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책임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B0D641-4EDD-6839-5BE3-D40A427E1EA2}"/>
              </a:ext>
            </a:extLst>
          </p:cNvPr>
          <p:cNvSpPr txBox="1"/>
          <p:nvPr/>
        </p:nvSpPr>
        <p:spPr>
          <a:xfrm>
            <a:off x="5124262" y="264097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(2/11)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E6B367-1248-301A-E139-A953C3C00681}"/>
              </a:ext>
            </a:extLst>
          </p:cNvPr>
          <p:cNvSpPr txBox="1"/>
          <p:nvPr/>
        </p:nvSpPr>
        <p:spPr>
          <a:xfrm>
            <a:off x="4454656" y="251357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C75449D-ECD8-72D7-4306-B126136775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129619"/>
              </p:ext>
            </p:extLst>
          </p:nvPr>
        </p:nvGraphicFramePr>
        <p:xfrm>
          <a:off x="2427677" y="2087344"/>
          <a:ext cx="2611047" cy="1210692"/>
        </p:xfrm>
        <a:graphic>
          <a:graphicData uri="http://schemas.openxmlformats.org/drawingml/2006/table">
            <a:tbl>
              <a:tblPr/>
              <a:tblGrid>
                <a:gridCol w="70895">
                  <a:extLst>
                    <a:ext uri="{9D8B030D-6E8A-4147-A177-3AD203B41FA5}">
                      <a16:colId xmlns:a16="http://schemas.microsoft.com/office/drawing/2014/main" val="434980051"/>
                    </a:ext>
                  </a:extLst>
                </a:gridCol>
                <a:gridCol w="517930">
                  <a:extLst>
                    <a:ext uri="{9D8B030D-6E8A-4147-A177-3AD203B41FA5}">
                      <a16:colId xmlns:a16="http://schemas.microsoft.com/office/drawing/2014/main" val="3988717904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4045084814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469027881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881494102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4186657930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2697388443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3166372132"/>
                    </a:ext>
                  </a:extLst>
                </a:gridCol>
              </a:tblGrid>
              <a:tr h="172956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 분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(%)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25</a:t>
                      </a:r>
                      <a:r>
                        <a:rPr lang="ko-KR" altLang="en-US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  <a:endParaRPr lang="en-US" altLang="ko-KR" sz="8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목표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906540"/>
                  </a:ext>
                </a:extLst>
              </a:tr>
              <a:tr h="17295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365867"/>
                  </a:ext>
                </a:extLst>
              </a:tr>
              <a:tr h="172956">
                <a:tc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북미 </a:t>
                      </a:r>
                      <a:r>
                        <a:rPr lang="en-US" altLang="ko-KR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Site</a:t>
                      </a:r>
                      <a:endParaRPr lang="ko-KR" alt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199676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ESMI_HL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417106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ESMI_LS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89.7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31383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ESOT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79.9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136553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ESHD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89.7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527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90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11C1EE4-747E-4E35-871A-928FDC248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42902"/>
              </p:ext>
            </p:extLst>
          </p:nvPr>
        </p:nvGraphicFramePr>
        <p:xfrm>
          <a:off x="173693" y="620687"/>
          <a:ext cx="9541534" cy="5968590"/>
        </p:xfrm>
        <a:graphic>
          <a:graphicData uri="http://schemas.openxmlformats.org/drawingml/2006/table">
            <a:tbl>
              <a:tblPr/>
              <a:tblGrid>
                <a:gridCol w="616882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220444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60543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35665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20418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204189">
                <a:tc rowSpan="1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효율화 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(1/3)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​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71755" marR="0" lvl="0" indent="-71755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AX 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기반 수작업 </a:t>
                      </a:r>
                      <a:b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</a:b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업무 제거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- C : 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업무 시간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79.2hr/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일 절감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(9.9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명 절감효과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)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- D : 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12%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없음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신규과제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9535" marR="0" lvl="0" indent="-89535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목표설정 근거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수작업으로 수행하거나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반복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및 중복적으로 실행하는 업무를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AX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기반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  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업무 전환으로 효율성을 향상 시키고자 함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1) PPAP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문서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AX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자동 검증 체계를 통한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Workload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감소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   : 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매뉴얼 기반 문서작성 여부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검증 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및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Human error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발생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가능성 차단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2)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검교정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성적서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검토 및 자동 입력을 통한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Workload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   : AI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기반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자동 검증으로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오등록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차단 및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업무 완성도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향상​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3)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검사기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딥러닝을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활용한 수작업 업무 효율화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   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원통형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NFF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비전 알고리즘 자동 학습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배포와 딥러닝 모델 정합성 향상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+mn-cs"/>
                      </a:endParaRPr>
                    </a:p>
                    <a:p>
                      <a:pPr marL="0" marR="0" lvl="0" indent="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4)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친환경문서 자동 검토를 통한 업무 효율화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   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유해물질문서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균질재질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친환경자재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자동판독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통한 품질 확보 및 효율화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     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설정목표에 대한 산출 로직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 전 업무 시간  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 후 업무 시간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 =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업무 단축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시간</a:t>
                      </a:r>
                      <a:r>
                        <a:rPr kumimoji="1" lang="en-US" altLang="ko-KR" sz="1000" b="1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br>
                        <a:rPr kumimoji="1" lang="en-US" altLang="ko-KR" sz="1000" b="1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1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[(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 전 업무 시간 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–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 후 업무 시간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/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년간 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 업무 시간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</a:t>
                      </a:r>
                      <a:b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=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인원 효율화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단위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명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현황분석 및 </a:t>
                      </a:r>
                      <a:r>
                        <a:rPr kumimoji="1" lang="ko-KR" altLang="en-US" sz="10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아키텍쳐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 정의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04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AX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검증 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Tool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발굴 및 분석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학습 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Agent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개발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04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기능 구축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개발 및 적용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, </a:t>
                      </a: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04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4Q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시스템 안정화 및 변화 관리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649639"/>
                  </a:ext>
                </a:extLst>
              </a:tr>
              <a:tr h="292754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[1Q]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현황분석 및 </a:t>
                      </a:r>
                      <a:r>
                        <a:rPr kumimoji="1" lang="ko-KR" altLang="en-US" sz="10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아키텍쳐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 정의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자동 검증 대상 정의 및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AI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기술 활용한 개선 방안 도출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알고리즘 학습용 이미지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DFS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인프라 구축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[2Q] AX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검증 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Tool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개발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학습 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Agent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개발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AI OCR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기능 검토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및 추출 대상 정의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DAP – DFS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연계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Agent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 및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ESAZ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법인 환경 구축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[3Q]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기능 구축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개발 및 적용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PPAP AI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검토 자동화 기능 개발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검교정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 성적서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AI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자동 </a:t>
                      </a:r>
                      <a:r>
                        <a:rPr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검증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기능 개발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검사기 학습용 이미지 자동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Upload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기능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Open</a:t>
                      </a: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DFS(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이미지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) / SPC(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데이터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) / DAP(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딥러닝 학습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)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연계환경 구축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유해물질 문서 판독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Agent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적용 및 정확도 검증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[4Q]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시스템 안정화 및 변화 관리</a:t>
                      </a:r>
                      <a:endParaRPr lang="en-US" altLang="ko-KR" sz="1000" b="0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20418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364304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89535" marR="0" lvl="0" indent="-8953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배점에 대한 산출 로직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목표대비 </a:t>
                      </a:r>
                      <a:r>
                        <a:rPr lang="ko-KR" altLang="en-US" sz="1000" b="1" i="0" u="none" strike="noStrike" kern="1200" spc="-3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등록 업무 인원 </a:t>
                      </a:r>
                      <a:r>
                        <a:rPr lang="ko-KR" altLang="en-US" sz="1000" b="1" i="0" u="none" strike="noStrike" kern="1200" spc="-3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절감율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120%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이상 달성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목표대비 </a:t>
                      </a:r>
                      <a:r>
                        <a:rPr lang="ko-KR" altLang="en-US" sz="1000" b="1" i="0" u="none" strike="noStrike" kern="1200" spc="-3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등록 업무 인원 </a:t>
                      </a:r>
                      <a:r>
                        <a:rPr lang="ko-KR" altLang="en-US" sz="1000" b="1" i="0" u="none" strike="noStrike" kern="1200" spc="-3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절감율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110%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이상 달성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목표대비 </a:t>
                      </a:r>
                      <a:r>
                        <a:rPr lang="ko-KR" altLang="en-US" sz="1000" b="1" i="0" u="none" strike="noStrike" kern="1200" spc="-3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등록 업무 인원 </a:t>
                      </a:r>
                      <a:r>
                        <a:rPr lang="ko-KR" altLang="en-US" sz="1000" b="1" i="0" u="none" strike="noStrike" kern="1200" spc="-3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절감율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100%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이상 달성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목표대비 </a:t>
                      </a:r>
                      <a:r>
                        <a:rPr lang="ko-KR" altLang="en-US" sz="1000" b="1" i="0" u="none" strike="noStrike" kern="1200" spc="-3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등록 업무 인원 </a:t>
                      </a:r>
                      <a:r>
                        <a:rPr lang="ko-KR" altLang="en-US" sz="1000" b="1" i="0" u="none" strike="noStrike" kern="1200" spc="-3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절감율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80%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이상 달성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목표대비 </a:t>
                      </a:r>
                      <a:r>
                        <a:rPr lang="ko-KR" altLang="en-US" sz="1000" b="1" i="0" u="none" strike="noStrike" kern="1200" spc="-3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등록 업무 인원 </a:t>
                      </a:r>
                      <a:r>
                        <a:rPr lang="ko-KR" altLang="en-US" sz="1000" b="1" i="0" u="none" strike="noStrike" kern="1200" spc="-3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절감율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80%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미만 달성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</a:b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C :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절감시간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95.0hr/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일 이상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D : ’25.4Q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358694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C :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절감시간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87.1hr/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일 이상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D : ’25.4Q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364304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C :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절감시간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79.2hr/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일 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D : ’25.4Q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364304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C :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절감시간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63.4hr/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일 이상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+mn-cs"/>
                        </a:rPr>
                        <a:t>D : ’25.4Q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364304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C :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절감시간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63.4hr/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/>
                          <a:cs typeface="Arial"/>
                        </a:rPr>
                        <a:t>일 미만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’25.4Q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B72F842-1150-4920-BA5D-922929F0C980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품질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담당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/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송영민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책임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FC40EF-E74D-DEC9-58D4-8608D71739D1}"/>
              </a:ext>
            </a:extLst>
          </p:cNvPr>
          <p:cNvSpPr txBox="1"/>
          <p:nvPr/>
        </p:nvSpPr>
        <p:spPr>
          <a:xfrm>
            <a:off x="4528586" y="3863645"/>
            <a:ext cx="1191352" cy="25558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1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년 업무일 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260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일 기준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724EDF-E2CD-F593-BD9B-30FB524CBB5B}"/>
              </a:ext>
            </a:extLst>
          </p:cNvPr>
          <p:cNvSpPr txBox="1"/>
          <p:nvPr/>
        </p:nvSpPr>
        <p:spPr>
          <a:xfrm>
            <a:off x="7617511" y="5613797"/>
            <a:ext cx="2170787" cy="33855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PPAP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 문서 업무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4.0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명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 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,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검교정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 성적서 업무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1.9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명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,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검사기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3.0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명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,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유해물질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1.0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명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4440B-85C9-E7C3-C886-B68A78AFFD08}"/>
              </a:ext>
            </a:extLst>
          </p:cNvPr>
          <p:cNvSpPr txBox="1"/>
          <p:nvPr/>
        </p:nvSpPr>
        <p:spPr>
          <a:xfrm>
            <a:off x="5124262" y="264097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(3/11)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C10775-4D32-DDFD-9B59-7DF0C428BB31}"/>
              </a:ext>
            </a:extLst>
          </p:cNvPr>
          <p:cNvSpPr txBox="1"/>
          <p:nvPr/>
        </p:nvSpPr>
        <p:spPr>
          <a:xfrm>
            <a:off x="4454656" y="251357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8154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8912C-49EC-050B-76DF-9C5ACD88F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28D2037D-5545-1D78-914D-603C49A09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458006"/>
              </p:ext>
            </p:extLst>
          </p:nvPr>
        </p:nvGraphicFramePr>
        <p:xfrm>
          <a:off x="173693" y="620689"/>
          <a:ext cx="9429490" cy="6025272"/>
        </p:xfrm>
        <a:graphic>
          <a:graphicData uri="http://schemas.openxmlformats.org/drawingml/2006/table">
            <a:tbl>
              <a:tblPr/>
              <a:tblGrid>
                <a:gridCol w="853249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156434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88208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563455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293824">
                  <a:extLst>
                    <a:ext uri="{9D8B030D-6E8A-4147-A177-3AD203B41FA5}">
                      <a16:colId xmlns:a16="http://schemas.microsoft.com/office/drawing/2014/main" val="2939834845"/>
                    </a:ext>
                  </a:extLst>
                </a:gridCol>
              </a:tblGrid>
              <a:tr h="1605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337620">
                <a:tc rowSpan="1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효율화 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(2/3)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​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71755" marR="0" lvl="0" indent="-71755" algn="l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롤맵</a:t>
                      </a:r>
                      <a:r>
                        <a:rPr kumimoji="1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데이터 활용 </a:t>
                      </a:r>
                      <a:br>
                        <a:rPr kumimoji="1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</a:t>
                      </a:r>
                      <a:r>
                        <a:rPr kumimoji="1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</a:t>
                      </a:r>
                      <a:r>
                        <a:rPr kumimoji="1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endParaRPr kumimoji="1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7%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없음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신규과제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)</a:t>
                      </a:r>
                    </a:p>
                    <a:p>
                      <a:pPr marL="89535" marR="0" lvl="0" indent="-89535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/>
                        <a:buChar char="•"/>
                      </a:pPr>
                      <a:r>
                        <a:rPr lang="en-US" altLang="ko-KR" sz="1000" b="1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목표 설정 근거</a:t>
                      </a:r>
                      <a:endParaRPr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None/>
                      </a:pP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  - 목표 :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롤맵 활용 생산 </a:t>
                      </a: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Loss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개선</a:t>
                      </a:r>
                      <a:endParaRPr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None/>
                      </a:pP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  - 대상 : NFF, ESS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북미</a:t>
                      </a: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(MI2, ST, HD, GM2, MI_LS)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</a:t>
                      </a:r>
                      <a:endParaRPr lang="en-US" altLang="ko-KR" sz="1000" b="0" i="0" u="none" strike="noStrike" kern="1200" cap="none" spc="-4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None/>
                      </a:pP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  - 근거 :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롤맵 </a:t>
                      </a: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NG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마킹  </a:t>
                      </a: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,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전공정 사전 알림 개발 기술 활용</a:t>
                      </a: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생산 </a:t>
                      </a: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Loss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개선 </a:t>
                      </a:r>
                      <a:endParaRPr lang="en-US" altLang="ko-KR" sz="1000" b="0" i="0" u="none" strike="noStrike" kern="1200" cap="none" spc="-4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None/>
                      </a:pP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                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과제 적용</a:t>
                      </a:r>
                      <a:endParaRPr lang="en-US" altLang="ko-KR" sz="1000" b="0" i="0" u="none" strike="noStrike" kern="1200" cap="none" spc="-4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None/>
                      </a:pP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 </a:t>
                      </a:r>
                      <a:r>
                        <a:rPr 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현황</a:t>
                      </a:r>
                      <a:r>
                        <a:rPr lang="en-US" altLang="ko-KR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 ’25</a:t>
                      </a:r>
                      <a:r>
                        <a:rPr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기준</a:t>
                      </a:r>
                      <a:endParaRPr lang="en-US" altLang="ko-KR" sz="10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None/>
                      </a:pP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  -  포일 커넥션  전</a:t>
                      </a: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후 고정 폐기</a:t>
                      </a: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,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조건 조정 후 작업자 코팅 안정화 확인</a:t>
                      </a: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후</a:t>
                      </a:r>
                      <a:endParaRPr lang="en-US" altLang="ko-KR" sz="1000" b="0" i="0" u="none" strike="noStrike" kern="1200" cap="none" spc="-4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None/>
                      </a:pP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  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수동 </a:t>
                      </a: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Tag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발행하여 롤프레스 구간 폐기 </a:t>
                      </a:r>
                      <a:endParaRPr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None/>
                      </a:pPr>
                      <a:r>
                        <a:rPr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  - 코터</a:t>
                      </a:r>
                      <a:r>
                        <a:rPr lang="en-US" altLang="ko-KR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, </a:t>
                      </a:r>
                      <a:r>
                        <a:rPr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롤프레스에 검출 되는 불량 항목 </a:t>
                      </a:r>
                      <a:r>
                        <a:rPr lang="en-US" altLang="ko-KR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웹게이지</a:t>
                      </a:r>
                      <a:r>
                        <a:rPr lang="en-US" altLang="ko-KR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, </a:t>
                      </a:r>
                      <a:r>
                        <a:rPr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두께 등</a:t>
                      </a:r>
                      <a:r>
                        <a:rPr lang="en-US" altLang="ko-KR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r>
                        <a:rPr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구간 폐기</a:t>
                      </a:r>
                      <a:endParaRPr lang="en-US" altLang="ko-KR" sz="1000" b="0" i="0" u="none" strike="noStrike" kern="1200" cap="none" spc="-4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None/>
                      </a:pPr>
                      <a:r>
                        <a:rPr lang="en-US" altLang="ko-KR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  -  </a:t>
                      </a:r>
                      <a:r>
                        <a:rPr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무지부 손상 </a:t>
                      </a:r>
                      <a:r>
                        <a:rPr lang="en-US" altLang="ko-KR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Lot, </a:t>
                      </a:r>
                      <a:r>
                        <a:rPr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이음매 있는 </a:t>
                      </a:r>
                      <a:r>
                        <a:rPr lang="en-US" altLang="ko-KR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Lot </a:t>
                      </a:r>
                      <a:r>
                        <a:rPr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슬리터 주행시 파단 발생</a:t>
                      </a:r>
                      <a:endParaRPr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None/>
                      </a:pP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[개선]</a:t>
                      </a: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None/>
                      </a:pP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롤맵 </a:t>
                      </a: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NG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마킹 </a:t>
                      </a: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+  TWS/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웹게이지</a:t>
                      </a: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활용 안정화 전후 구간 자동판정 마킹</a:t>
                      </a:r>
                      <a:endParaRPr lang="en-US" altLang="ko-KR" sz="1000" b="0" i="0" u="none" strike="noStrike" kern="1200" cap="none" spc="-4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None/>
                      </a:pP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   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롤프레스 사전 알림으로 폐기량 축소</a:t>
                      </a:r>
                      <a:endParaRPr lang="en-US" altLang="ko-KR" sz="1000" b="0" i="0" u="none" strike="noStrike" kern="1200" cap="none" spc="-4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None/>
                      </a:pP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 -  TWS,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아일랜드</a:t>
                      </a: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,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두께불량 항목 구간 불량에서 </a:t>
                      </a: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Lane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별 배출</a:t>
                      </a:r>
                      <a:endParaRPr lang="en-US" altLang="ko-KR" sz="1000" b="0" i="0" u="none" strike="noStrike" kern="1200" cap="none" spc="-4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None/>
                      </a:pP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 - 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롤프레스 전공정 사전알림 슬리터까지 확장하여 </a:t>
                      </a: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UW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폐기 </a:t>
                      </a: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or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설비 속도    </a:t>
                      </a:r>
                      <a:endParaRPr lang="en-US" altLang="ko-KR" sz="1000" b="0" i="0" u="none" strike="noStrike" kern="1200" cap="none" spc="-4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None/>
                      </a:pP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   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자동 조절</a:t>
                      </a:r>
                      <a:r>
                        <a:rPr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</a:t>
                      </a:r>
                      <a:r>
                        <a:rPr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파단 방지하여 설비 가동률 향상</a:t>
                      </a:r>
                      <a:endParaRPr lang="en-US" altLang="ko-KR" sz="1000" b="0" i="0" u="none" strike="noStrike" kern="1200" cap="none" spc="-4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89535" marR="0" lvl="0" indent="-8953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설정목표에 대한 산출 </a:t>
                      </a:r>
                      <a:r>
                        <a:rPr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로직 </a:t>
                      </a: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None/>
                      </a:pP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- 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 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 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(NFF 12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양극 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356 Lot, 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음극 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261 Lot 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 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 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中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None/>
                      </a:pP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= Σ(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수율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생산량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전극 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개선 길이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)* 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단가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(m)*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 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Roll(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)*12</a:t>
                      </a: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None/>
                      </a:pP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* 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실적입력 자동화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OEE 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시간 개선은 시간 테이블로 별도 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Logic 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롤맵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활용 생산성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 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품질 개선 요구사항 협의 및 상세요건 수립</a:t>
                      </a:r>
                      <a:endParaRPr lang="ko-KR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3574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공정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 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요건별 </a:t>
                      </a:r>
                      <a:r>
                        <a:rPr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롤맵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기술 개발 고도화</a:t>
                      </a:r>
                      <a:endParaRPr lang="ko-KR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3276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80000"/>
                        <a:buFont typeface="Arial,Sans-Serif" panose="020B0604020202020204" pitchFamily="34" charset="0"/>
                        <a:buChar char="•"/>
                      </a:pP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개선사항 검증 및 양산 적용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347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양산 모니터링 및 고도화 과제 발굴 </a:t>
                      </a:r>
                      <a:endParaRPr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816359"/>
                  </a:ext>
                </a:extLst>
              </a:tr>
              <a:tr h="79392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80000"/>
                        <a:buNone/>
                      </a:pP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[1분기] 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개선 요구사항 협의 및 상세 요건 수립</a:t>
                      </a:r>
                      <a:endParaRPr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</a:pP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공정별 </a:t>
                      </a:r>
                      <a:r>
                        <a:rPr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데이터 분석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영향인자 발굴</a:t>
                      </a: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-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사양별 상세 요건 수립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[2분기] </a:t>
                      </a:r>
                      <a:r>
                        <a:rPr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롤맵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기술 개발 </a:t>
                      </a:r>
                      <a:endParaRPr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v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-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레인별 불량 배출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(TWS,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두께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아일랜드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정보활용 고도화</a:t>
                      </a: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v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- 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포일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조건 </a:t>
                      </a:r>
                      <a:r>
                        <a:rPr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조정시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폐기 수동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Tag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안정화 구간 자동 마킹 </a:t>
                      </a: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v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- 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 공정 정보 활용 공정 </a:t>
                      </a:r>
                      <a:r>
                        <a:rPr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직행률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개선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전공정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사전알림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확장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lv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[3분기] 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개선사항 검증 및 양산 적용</a:t>
                      </a:r>
                      <a:endParaRPr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-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공정별 개선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Logic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반영 및 검증</a:t>
                      </a:r>
                      <a:endParaRPr lang="en-US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[4분기] 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양산 모니터링 및 고도화 과제 발굴</a:t>
                      </a:r>
                      <a:endParaRPr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</a:pP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최종 효과 분석 및 추가 개선 과제 발굴</a:t>
                      </a:r>
                      <a:endParaRPr lang="en-US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6056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89535" marR="0" lvl="0" indent="-89535" algn="l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endParaRPr lang="ko-KR" altLang="en-US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None/>
                      </a:pP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공정 생산 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이상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</a:t>
                      </a:r>
                      <a:r>
                        <a:rPr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120% </a:t>
                      </a:r>
                      <a:r>
                        <a:rPr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None/>
                      </a:pP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4점 :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공정 생산 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이상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</a:t>
                      </a:r>
                      <a:r>
                        <a:rPr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110% </a:t>
                      </a:r>
                      <a:r>
                        <a:rPr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None/>
                      </a:pP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3점 :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공정 생산 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이상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None/>
                      </a:pP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2점 :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공정 생산 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이상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</a:t>
                      </a:r>
                      <a:r>
                        <a:rPr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80% </a:t>
                      </a:r>
                      <a:r>
                        <a:rPr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None/>
                      </a:pP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1점 :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공정 생산 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이상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</a:t>
                      </a:r>
                      <a:r>
                        <a:rPr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80% </a:t>
                      </a:r>
                      <a:r>
                        <a:rPr lang="en-US" altLang="ko-KR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C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생산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Loss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개선  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억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, D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: ‘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26.12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4</a:t>
                      </a:r>
                      <a:r>
                        <a:rPr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C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생산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Loss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개선  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억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, D : ‘26.12</a:t>
                      </a:r>
                      <a:endParaRPr kumimoji="1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C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생산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Loss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개선  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10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억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, D : ‘26.12</a:t>
                      </a:r>
                      <a:endParaRPr kumimoji="1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C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생산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Loss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개선  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8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억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, </a:t>
                      </a:r>
                      <a:r>
                        <a:rPr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: ‘26.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12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C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생산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Loss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개선  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8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억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, D : ‘26.12</a:t>
                      </a:r>
                      <a:endParaRPr kumimoji="1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34448A5-B208-C8FA-774B-38D5CF908F65}"/>
              </a:ext>
            </a:extLst>
          </p:cNvPr>
          <p:cNvSpPr txBox="1"/>
          <p:nvPr/>
        </p:nvSpPr>
        <p:spPr>
          <a:xfrm>
            <a:off x="4721902" y="253008"/>
            <a:ext cx="5019349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(4/11)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6C7F9A-CFE2-0935-E402-F12B4D97A2B4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품질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DX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담당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/ 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송영민 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 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책임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46785-E7B7-DE32-2160-2DFAAEE3A43B}"/>
              </a:ext>
            </a:extLst>
          </p:cNvPr>
          <p:cNvSpPr txBox="1"/>
          <p:nvPr/>
        </p:nvSpPr>
        <p:spPr>
          <a:xfrm>
            <a:off x="4454656" y="251357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6605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030529"/>
              </p:ext>
            </p:extLst>
          </p:nvPr>
        </p:nvGraphicFramePr>
        <p:xfrm>
          <a:off x="173693" y="620689"/>
          <a:ext cx="9429492" cy="5735402"/>
        </p:xfrm>
        <a:graphic>
          <a:graphicData uri="http://schemas.openxmlformats.org/drawingml/2006/table">
            <a:tbl>
              <a:tblPr/>
              <a:tblGrid>
                <a:gridCol w="853249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156435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88208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563455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293825">
                  <a:extLst>
                    <a:ext uri="{9D8B030D-6E8A-4147-A177-3AD203B41FA5}">
                      <a16:colId xmlns:a16="http://schemas.microsoft.com/office/drawing/2014/main" val="2939834845"/>
                    </a:ext>
                  </a:extLst>
                </a:gridCol>
              </a:tblGrid>
              <a:tr h="1605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427531">
                <a:tc rowSpan="1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효율화 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(3/3)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​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71755" marR="0" lvl="0" indent="-717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수주대응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(RFx)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건설투자비 산출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L/T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단축</a:t>
                      </a: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(66% </a:t>
                      </a: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단축</a:t>
                      </a: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6%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없음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신규과제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89535" marR="0" lvl="0" indent="-89535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설정 근거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사업환경 변화 및 고객 대응을 위한 </a:t>
                      </a:r>
                      <a:r>
                        <a:rPr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건설공사에</a:t>
                      </a:r>
                      <a:r>
                        <a:rPr kumimoji="1"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대한 투자비 산출요청이 증가하고 있음</a:t>
                      </a:r>
                      <a:r>
                        <a:rPr kumimoji="1" lang="en-US" altLang="ko-KR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. </a:t>
                      </a:r>
                      <a:r>
                        <a:rPr kumimoji="1"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데이터 표준화 및 산출 </a:t>
                      </a:r>
                      <a:r>
                        <a:rPr kumimoji="1" lang="en-US" altLang="ko-KR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Logic </a:t>
                      </a:r>
                      <a:r>
                        <a:rPr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수립 및 모델 개발, 자동 데이터</a:t>
                      </a:r>
                      <a:r>
                        <a:rPr kumimoji="1"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수집</a:t>
                      </a:r>
                      <a:r>
                        <a:rPr kumimoji="1" lang="en-US" altLang="ko-KR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의사결정 </a:t>
                      </a:r>
                      <a:r>
                        <a:rPr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지원</a:t>
                      </a:r>
                      <a:r>
                        <a:rPr kumimoji="1"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Agent </a:t>
                      </a:r>
                      <a:r>
                        <a:rPr kumimoji="1"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개발을 통한 대응 </a:t>
                      </a:r>
                      <a:r>
                        <a:rPr kumimoji="1" lang="en-US" altLang="ko-KR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L/T </a:t>
                      </a:r>
                      <a:r>
                        <a:rPr kumimoji="1"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단축</a:t>
                      </a:r>
                      <a:br>
                        <a:rPr kumimoji="1"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kumimoji="1"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현황</a:t>
                      </a:r>
                      <a:r>
                        <a:rPr kumimoji="1" lang="en-US" altLang="ko-KR" sz="1000" b="0" i="0" u="none" strike="noStrike" kern="1200" cap="none" spc="-4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]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견적원가추정 기초정보의 데이터</a:t>
                      </a:r>
                      <a:r>
                        <a:rPr kumimoji="1" lang="en-US" altLang="ko-KR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표준화가 미흡</a:t>
                      </a:r>
                      <a:br>
                        <a:rPr kumimoji="1" lang="en-US" altLang="ko-KR" sz="1000" b="0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일부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Data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에 근거한 유사 프로젝트 선택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활용하며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실무자의 경험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</a:t>
                      </a:r>
                      <a:b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지식이 견적 결과에 큰 영향을 미침 </a:t>
                      </a:r>
                      <a:b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- Factor, Input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정보에 따른 투자비 변화 분석에 한계가 존재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[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건설 투자비 산출을 위한 개산견적 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 및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Agent 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</a:p>
                    <a:p>
                      <a:pPr marL="89535" marR="0" lvl="0" indent="-89535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설정목표에 대한 산출 로직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수주대응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(RFx) 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건설 투자비 산출 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L/T 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단축</a:t>
                      </a:r>
                      <a:b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L/T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단축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(6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2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66%)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0" lang="en-US" altLang="ko-KR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L/T </a:t>
                      </a:r>
                      <a:r>
                        <a:rPr kumimoji="0" lang="ko-KR" altLang="en-US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 비율</a:t>
                      </a:r>
                      <a:r>
                        <a:rPr kumimoji="0" lang="en-US" altLang="ko-KR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(%)= {1-(Agent </a:t>
                      </a:r>
                      <a:r>
                        <a:rPr kumimoji="0" lang="ko-KR" altLang="en-US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lang="ko-KR" altLang="en-US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견적산출</a:t>
                      </a:r>
                      <a:r>
                        <a:rPr kumimoji="0" lang="ko-KR" altLang="en-US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L/T) / (As-is</a:t>
                      </a:r>
                      <a:r>
                        <a:rPr kumimoji="0" lang="ko-KR" altLang="en-US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견적산출 </a:t>
                      </a:r>
                      <a:r>
                        <a:rPr kumimoji="0" lang="en-US" altLang="ko-KR" sz="9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L/T)} x 100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데이터 수집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분석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정리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-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설계 정보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면적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수집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분석 및 자동 연계 체계 수립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4938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데이터 표준화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변환 및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Factor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도출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-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공사항목 표준화 및 기준정보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Mapping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-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추가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Factor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도출 및 정의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5288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투자비 산출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Agent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-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외부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Factor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정보 자동 수집 유사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PJT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추천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Agent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</a:t>
                      </a:r>
                      <a:b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 -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건설 투자비 산출 모델 개발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5288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4Q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투자비 산출 모델 검증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- Reference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투자비 정보 기반 교차 검증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정확도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, L/T)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816359"/>
                  </a:ext>
                </a:extLst>
              </a:tr>
              <a:tr h="79392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데이터 수집 및 분석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(1Q)</a:t>
                      </a: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데이터 표준화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변환 및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Factor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도출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(2Q)</a:t>
                      </a:r>
                    </a:p>
                    <a:p>
                      <a:pPr marL="90170" marR="0" lvl="0" indent="-9017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투자비 산출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Agent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/모델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(2Q~4Q)</a:t>
                      </a: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투자비 산출 모델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검증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3Q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~4Q)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6056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977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89535" marR="0" lvl="0" indent="-8953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L/T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단축 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(66%)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의  </a:t>
                      </a:r>
                      <a:r>
                        <a:rPr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120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66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X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1.2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=79.2%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L/T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단축 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(66%)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의 </a:t>
                      </a:r>
                      <a:r>
                        <a:rPr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110%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</a:t>
                      </a:r>
                      <a:r>
                        <a:rPr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66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X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1.1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= 72.6%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3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L/T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단축 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(66%)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의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100%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</a:t>
                      </a:r>
                      <a:r>
                        <a:rPr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66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X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1.0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= 66%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2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L/T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단축 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(66%)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의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80%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66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X </a:t>
                      </a:r>
                      <a:r>
                        <a:rPr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0.8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= 52.8%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1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L/T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단축 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(66%)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의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달성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66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X </a:t>
                      </a:r>
                      <a:r>
                        <a:rPr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0.8 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=52.8%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투자비 산출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L/T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단축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79.2%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이상 달성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 : ‘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26.4Q</a:t>
                      </a:r>
                      <a:endParaRPr kumimoji="1" lang="ko-KR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977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투자비 산출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L/T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단축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72.6%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이상 달성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 : ‘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26.4Q</a:t>
                      </a:r>
                      <a:endParaRPr kumimoji="1" lang="ko-KR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977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투자비 산출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L/T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단축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66%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이상 달성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 : ‘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26.4Q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977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투자비 산출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L/T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단축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52.8%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이상 달성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 : ‘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26.4Q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977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투자비 산출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L/T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단축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52.8%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미만 달성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D : ‘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26.4Q</a:t>
                      </a:r>
                      <a:endParaRPr kumimoji="1" lang="ko-KR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ED67CFF-1B66-41DC-9A1F-60D4F0E98B82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품질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DX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담당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/ 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송영민 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 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책임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62F0E8-A50B-4420-B4F7-FD86E4567339}"/>
              </a:ext>
            </a:extLst>
          </p:cNvPr>
          <p:cNvSpPr txBox="1"/>
          <p:nvPr/>
        </p:nvSpPr>
        <p:spPr>
          <a:xfrm>
            <a:off x="5124262" y="264097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(5/11)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E27EEC-A865-7E18-DDFD-CA27AC097029}"/>
              </a:ext>
            </a:extLst>
          </p:cNvPr>
          <p:cNvSpPr txBox="1"/>
          <p:nvPr/>
        </p:nvSpPr>
        <p:spPr>
          <a:xfrm>
            <a:off x="4454656" y="251357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8EE33-3180-814D-595A-CC2C0A9DEB60}"/>
              </a:ext>
            </a:extLst>
          </p:cNvPr>
          <p:cNvSpPr txBox="1"/>
          <p:nvPr/>
        </p:nvSpPr>
        <p:spPr>
          <a:xfrm>
            <a:off x="3970870" y="3328422"/>
            <a:ext cx="1265499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분석 및 산출 기간 기준</a:t>
            </a:r>
          </a:p>
        </p:txBody>
      </p:sp>
    </p:spTree>
    <p:extLst>
      <p:ext uri="{BB962C8B-B14F-4D97-AF65-F5344CB8AC3E}">
        <p14:creationId xmlns:p14="http://schemas.microsoft.com/office/powerpoint/2010/main" val="2121304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9C9244-3919-2953-77A5-975B74D636E5}"/>
              </a:ext>
            </a:extLst>
          </p:cNvPr>
          <p:cNvSpPr txBox="1"/>
          <p:nvPr/>
        </p:nvSpPr>
        <p:spPr>
          <a:xfrm>
            <a:off x="95895" y="164148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품질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담당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/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송영민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책임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211746"/>
              </p:ext>
            </p:extLst>
          </p:nvPr>
        </p:nvGraphicFramePr>
        <p:xfrm>
          <a:off x="182233" y="536045"/>
          <a:ext cx="9582666" cy="5991243"/>
        </p:xfrm>
        <a:graphic>
          <a:graphicData uri="http://schemas.openxmlformats.org/drawingml/2006/table">
            <a:tbl>
              <a:tblPr/>
              <a:tblGrid>
                <a:gridCol w="853200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345066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4592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'26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620808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/ESS BM/PD 20%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(25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比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en-US" altLang="ko-KR" sz="1000" b="0" kern="1200" spc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 공정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COT/Roll Press/PKG/L&amp;S/AZS/NTC)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6208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6208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108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]</a:t>
                      </a: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데이터 수집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정리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검사기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검출력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CTP / CTQ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검사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SPEC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관리 항목 대상 정의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]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플랫폼 환경 셋업 및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AX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모델 개발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테스트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검출력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CTP FDC /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검사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SPEC SPC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데이터 수집 연계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[3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]</a:t>
                      </a: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유효 실적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Data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기반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BM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조치 가이드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Agent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적용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FDC / SPC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를 활용한 검사기 관리 운영 적용</a:t>
                      </a: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45927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24%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22%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16%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16%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24%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22%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20%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16%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16%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미만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3C572D3-1560-496D-9648-77117FE761B3}"/>
              </a:ext>
            </a:extLst>
          </p:cNvPr>
          <p:cNvGraphicFramePr>
            <a:graphicFrameLocks noGrp="1"/>
          </p:cNvGraphicFramePr>
          <p:nvPr/>
        </p:nvGraphicFramePr>
        <p:xfrm>
          <a:off x="2366039" y="885999"/>
          <a:ext cx="3542165" cy="648000"/>
        </p:xfrm>
        <a:graphic>
          <a:graphicData uri="http://schemas.openxmlformats.org/drawingml/2006/table">
            <a:tbl>
              <a:tblPr/>
              <a:tblGrid>
                <a:gridCol w="338296">
                  <a:extLst>
                    <a:ext uri="{9D8B030D-6E8A-4147-A177-3AD203B41FA5}">
                      <a16:colId xmlns:a16="http://schemas.microsoft.com/office/drawing/2014/main" val="448372699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3531961852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3876058939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1144578316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2758194912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1690716757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3938954016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2741989067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3800816768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672968338"/>
                    </a:ext>
                  </a:extLst>
                </a:gridCol>
                <a:gridCol w="338296">
                  <a:extLst>
                    <a:ext uri="{9D8B030D-6E8A-4147-A177-3AD203B41FA5}">
                      <a16:colId xmlns:a16="http://schemas.microsoft.com/office/drawing/2014/main" val="1593203743"/>
                    </a:ext>
                  </a:extLst>
                </a:gridCol>
              </a:tblGrid>
              <a:tr h="216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 dirty="0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 dirty="0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 dirty="0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 dirty="0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 dirty="0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법인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19082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COT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PKG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Lami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AZS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RP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NTC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PKG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Lami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NTC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8428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11%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17%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35%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14%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37%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43%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20.0%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8343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F156D26-62D4-4E32-9751-019749323187}"/>
              </a:ext>
            </a:extLst>
          </p:cNvPr>
          <p:cNvSpPr txBox="1"/>
          <p:nvPr/>
        </p:nvSpPr>
        <p:spPr>
          <a:xfrm>
            <a:off x="2319691" y="1562102"/>
            <a:ext cx="4736613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각 공정 개선율의 산술평균으로 목표 산정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4D53BC-1963-248C-945B-DA073F51AEF8}"/>
              </a:ext>
            </a:extLst>
          </p:cNvPr>
          <p:cNvSpPr txBox="1"/>
          <p:nvPr/>
        </p:nvSpPr>
        <p:spPr>
          <a:xfrm>
            <a:off x="5124262" y="184585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(6/11)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6933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014565"/>
              </p:ext>
            </p:extLst>
          </p:nvPr>
        </p:nvGraphicFramePr>
        <p:xfrm>
          <a:off x="173693" y="620688"/>
          <a:ext cx="9541534" cy="5011715"/>
        </p:xfrm>
        <a:graphic>
          <a:graphicData uri="http://schemas.openxmlformats.org/drawingml/2006/table">
            <a:tbl>
              <a:tblPr/>
              <a:tblGrid>
                <a:gridCol w="550207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189702">
                  <a:extLst>
                    <a:ext uri="{9D8B030D-6E8A-4147-A177-3AD203B41FA5}">
                      <a16:colId xmlns:a16="http://schemas.microsoft.com/office/drawing/2014/main" val="3159860772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75612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구축</a:t>
                      </a:r>
                      <a:r>
                        <a:rPr lang="en-US" altLang="ko-KR" sz="10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(1/4)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6995" marR="0" lvl="0" indent="-8699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서버 기반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IVS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적용을 통한 작업자 업무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Load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저감 </a:t>
                      </a:r>
                      <a:b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19,612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운영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(26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단독법인 인원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없음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신규과제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설정 근거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26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연말 인원 사업계획 대비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5%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추가 절감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국내 인원 제외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서버기반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IVS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대상법인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ESHM </a:t>
                      </a:r>
                      <a:endParaRPr lang="ko-KR" altLang="en-US" sz="10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서버기반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IVS ESHM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대상 아키텍처 정의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요건 정의 및 사전 준비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ESHZ 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법인 </a:t>
                      </a: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AZS Cutter 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공정 </a:t>
                      </a: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IVS 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환경 구축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기능개발 진행 및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Pilot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오픈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1047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서버기반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IVS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확대 적용 및 알고리즘 관리기능 고도화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안정화 및 변화 관리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972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[1Q]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서버기반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IVS ESHM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대상 아키텍처 정의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ESHM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IVS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개소 요건 정의 및 아키텍처 설계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법인 유휴 서버를 활용한 파일럿 적용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[2Q] </a:t>
                      </a: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ESHM 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법인 </a:t>
                      </a: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AZS Cutter 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공정 </a:t>
                      </a: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IVS 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IVS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시스템 운영적용</a:t>
                      </a:r>
                      <a:endParaRPr kumimoji="1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3Q] IVS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알고리즘 관리기능 고도화 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알고리즘 학습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배포 기능 적용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Spotfire Upgrade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를 위한 사전 준비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Automation AI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활용 시나리오 수립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AX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과제 요건 정의 및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AOF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 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통합스케줄러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통합 형태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PoC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진행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 법인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Spotfire Upgrade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진행 및 주요 법인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Co-Pilot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서비스 환경 구축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Automation AI Agent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 진행 및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Pilot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오픈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Spotfire Co-Pilot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서비스 확산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Automation AI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기능 정식 오픈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105%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Δ1,459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명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Δ1,392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명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Δ1,326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명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Δ1,193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명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Δ1,193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명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미만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034E26B-36FA-44F6-15F6-4EA01C49DEB7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품질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담당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/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송영민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책임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E2E515-542A-F16D-4BC4-864F45B1EE7E}"/>
              </a:ext>
            </a:extLst>
          </p:cNvPr>
          <p:cNvSpPr txBox="1"/>
          <p:nvPr/>
        </p:nvSpPr>
        <p:spPr>
          <a:xfrm>
            <a:off x="4454656" y="251357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F6989E-7F5A-2AA0-64A6-BF5AB522E143}"/>
              </a:ext>
            </a:extLst>
          </p:cNvPr>
          <p:cNvSpPr txBox="1"/>
          <p:nvPr/>
        </p:nvSpPr>
        <p:spPr>
          <a:xfrm>
            <a:off x="4953000" y="264097"/>
            <a:ext cx="4816826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(7/11)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3573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480873"/>
              </p:ext>
            </p:extLst>
          </p:nvPr>
        </p:nvGraphicFramePr>
        <p:xfrm>
          <a:off x="173693" y="620688"/>
          <a:ext cx="9541534" cy="5194595"/>
        </p:xfrm>
        <a:graphic>
          <a:graphicData uri="http://schemas.openxmlformats.org/drawingml/2006/table">
            <a:tbl>
              <a:tblPr/>
              <a:tblGrid>
                <a:gridCol w="550207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189702">
                  <a:extLst>
                    <a:ext uri="{9D8B030D-6E8A-4147-A177-3AD203B41FA5}">
                      <a16:colId xmlns:a16="http://schemas.microsoft.com/office/drawing/2014/main" val="3159860772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75612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구축</a:t>
                      </a:r>
                      <a:r>
                        <a:rPr lang="en-US" altLang="ko-KR" sz="10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(2/4)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6995" marR="0" lvl="0" indent="-8699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사전 예측을 위한 모델링 검증 환경 구축</a:t>
                      </a:r>
                      <a:b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Q 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D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‘26.12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없음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신규과제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설정 근거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FDC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검증 환경 구축을 통한 이상감지 적확도 개선 진행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BM : 60%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80%, 20%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PD :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65%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85%, 20%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설정목표에 대한 산출 로직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Q(50%) : 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적확도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D(50%) : 12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대상법인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WA </a:t>
                      </a:r>
                      <a:endParaRPr lang="ko-KR" altLang="en-US" sz="10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사전 예측 검증 환경 요건 정의 및 아키텍처 설계 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요건 정의 및 사전 준비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검증 환경 테스트</a:t>
                      </a: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서버 인프라 구축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환경 구축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기능개발 진행 및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Pilot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오픈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1047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모델링 검증 환경 구축 및 고도화 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안정화 및 변화 관리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972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[1Q]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사전 예측 검증 환경 요건 정의 및 아키텍처 설계 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사전 예측 검증 환경 요건 정의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테스트서버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–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다빈치 연계 아키텍처 설계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[2Q] 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검증 환경 테스트</a:t>
                      </a: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서버 인프라 구축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테스트 서버 인프라 구축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[3Q]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모델링 검증 환경 구축 및 고도화 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모델 검증 테스트 서버 운영 적용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(9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테스트 서버 고도화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(12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Spotfire Upgrade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를 위한 사전 준비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Automation AI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활용 시나리오 수립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AX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과제 요건 정의 및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AOF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 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통합스케줄러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통합 형태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PoC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진행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 법인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Spotfire Upgrade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진행 및 주요 법인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Co-Pilot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서비스 환경 구축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Automation AI Agent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 진행 및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Pilot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오픈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Spotfire Co-Pilot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서비스 확산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Automation AI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기능 정식 오픈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24%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22%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18%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18%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M+1</a:t>
                      </a: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24%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22%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18%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18%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M+1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034E26B-36FA-44F6-15F6-4EA01C49DEB7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품질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담당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/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송영민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책임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49F47B-F9E6-EFC3-ED64-B411CBC233C9}"/>
              </a:ext>
            </a:extLst>
          </p:cNvPr>
          <p:cNvSpPr txBox="1"/>
          <p:nvPr/>
        </p:nvSpPr>
        <p:spPr>
          <a:xfrm>
            <a:off x="4454656" y="251357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F86781-56B0-DA96-1AC0-A7E5E7326991}"/>
              </a:ext>
            </a:extLst>
          </p:cNvPr>
          <p:cNvSpPr txBox="1"/>
          <p:nvPr/>
        </p:nvSpPr>
        <p:spPr>
          <a:xfrm>
            <a:off x="4953000" y="264097"/>
            <a:ext cx="4816826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(8/11)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7209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11C1EE4-747E-4E35-871A-928FDC248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223626"/>
              </p:ext>
            </p:extLst>
          </p:nvPr>
        </p:nvGraphicFramePr>
        <p:xfrm>
          <a:off x="173693" y="620687"/>
          <a:ext cx="9541534" cy="6187110"/>
        </p:xfrm>
        <a:graphic>
          <a:graphicData uri="http://schemas.openxmlformats.org/drawingml/2006/table">
            <a:tbl>
              <a:tblPr/>
              <a:tblGrid>
                <a:gridCol w="616882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220444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70168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2604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20418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204189">
                <a:tc rowSpan="1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시스템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경쟁력 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강화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(1/2)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기반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DAVINCI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플랫폼 강화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Q :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플랫폼 개선 과제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건 적용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D : ‘26.11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(OC,WA)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없음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신규과제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목표설정 근거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기반 의사결정의 효율성과 정확성을 높이기 위해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DAVINCI 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내에서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자동화 및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Agent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분석 지원 기능을 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선제적으로 적용할 필요가 있음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DAVINCI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플랫폼에서 가장 많이 사용하는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Spotfire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에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LLM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서비스를 강화하고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자동 요약 기능을 구축하여 사용자 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편의성과 핵심 인사이트 도출 효율성을 동시 제고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DAVINCI Tool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을 종합적으로 활용한 분석 활용씬에서 분단된 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분석결과를 통합하고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Agent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기반으로 핵심 비즈니스 인사이트를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종합적으로 제공해야 함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품질 이슈 선별 및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Risk/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원인 분석에 필요한 대용량 데이터를 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사용자에게 제공하기 위해 가공하는 시간이 지연되고 사용자가 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조회하고 다운로드 시간이 길어 즉각적인 분석이 어려움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.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설정목표에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Q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(50%) :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완성도 기준을 달성한 개선 과제 완료 여부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D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(50%) :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일정 내 적기 구축 여부</a:t>
                      </a:r>
                      <a:endParaRPr kumimoji="1" lang="en-US" altLang="ko-KR" sz="1000" b="0" i="0" u="none" strike="noStrike" kern="1200" cap="none" spc="-4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기반 플랫폼 구축 방안 분석 및 사전준비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04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DAVINCI AI Agent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구축 및 빅데이터 전용 인프라 구축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04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플랫폼 서비스 개발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04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4Q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OC, WA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법인 전체 개선 과제 적용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649639"/>
                  </a:ext>
                </a:extLst>
              </a:tr>
              <a:tr h="292754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[1Q] AX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기반 플랫폼 구축 방안 분석 및 사전준비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Spotfire Upgrade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를 위한 사전 준비 및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Pain point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AX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과제 요건 정의 및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AOF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 통합스케줄러 통합 형태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PoC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진행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빅데이터 모델 및 아키텍처 개선점 도출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및 인프라 설계</a:t>
                      </a:r>
                      <a:endParaRPr kumimoji="1" lang="en-US" altLang="ko-KR" sz="10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[2Q] DAVINCI AI Agent 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구축 및 빅데이터 전용 인프라 구축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Spotfire Upgrade 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AI Agent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자동화 환경 구축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</a:t>
                      </a:r>
                      <a:r>
                        <a:rPr kumimoji="1" lang="en-US" altLang="ko-KR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Spark Cluster </a:t>
                      </a:r>
                      <a:r>
                        <a:rPr kumimoji="1" lang="ko-KR" alt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등 빅데이터 전용 독립 인프라 구축</a:t>
                      </a:r>
                      <a:endParaRPr kumimoji="1" lang="en-US" altLang="ko-KR" sz="10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[3Q] 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플랫폼 서비스 개발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Spotfire Co-Pilot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서비스 개발 및 환경 구축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개별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AI Agent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클러스터 기반 데이터 최적화 수행</a:t>
                      </a:r>
                      <a:endParaRPr kumimoji="1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[4Q]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OC, WA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법인 전체 개선 과제 적용</a:t>
                      </a:r>
                      <a:b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OC,WA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법인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Spotfire Co-Pilot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서비스 적용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DAVINCI AI Agent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환경 오픈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</a:t>
                      </a:r>
                      <a:r>
                        <a:rPr kumimoji="1" lang="ko-KR" alt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신규 인프라 기반 최적 빅데이터 아키텍처 적용 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20418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364304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개선 과제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 완료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- 1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개선 과제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 완료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- 0.5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개선 과제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 완료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개선 과제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 완료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+ 0.5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개선 과제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 완료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+ 1</a:t>
                      </a: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플랫폼 개선 과제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건 적용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– 1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364304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플랫폼 개선 과제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건 적용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- 0.5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364304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플랫폼 개선 과제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건 적용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364304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플랫폼 개선 과제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건 적용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+ 0.5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364304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플랫폼 개선 과제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건 적용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+ 1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B72F842-1150-4920-BA5D-922929F0C980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품질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담당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/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송영민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책임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8F3AEE-B8B7-0F6B-AA33-774CC6806EE5}"/>
              </a:ext>
            </a:extLst>
          </p:cNvPr>
          <p:cNvSpPr txBox="1"/>
          <p:nvPr/>
        </p:nvSpPr>
        <p:spPr>
          <a:xfrm>
            <a:off x="5012012" y="264097"/>
            <a:ext cx="475781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(9/11)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2A397-D553-D733-F4AA-16E240C1C94E}"/>
              </a:ext>
            </a:extLst>
          </p:cNvPr>
          <p:cNvSpPr txBox="1"/>
          <p:nvPr/>
        </p:nvSpPr>
        <p:spPr>
          <a:xfrm>
            <a:off x="4454656" y="251357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A7739E9-3C1B-C50F-A681-741537AE468B}"/>
              </a:ext>
            </a:extLst>
          </p:cNvPr>
          <p:cNvGraphicFramePr>
            <a:graphicFrameLocks noGrp="1"/>
          </p:cNvGraphicFramePr>
          <p:nvPr/>
        </p:nvGraphicFramePr>
        <p:xfrm>
          <a:off x="2409675" y="6216229"/>
          <a:ext cx="3409061" cy="486156"/>
        </p:xfrm>
        <a:graphic>
          <a:graphicData uri="http://schemas.openxmlformats.org/drawingml/2006/table">
            <a:tbl>
              <a:tblPr firstRow="1" firstCol="1" bandRow="1"/>
              <a:tblGrid>
                <a:gridCol w="217834">
                  <a:extLst>
                    <a:ext uri="{9D8B030D-6E8A-4147-A177-3AD203B41FA5}">
                      <a16:colId xmlns:a16="http://schemas.microsoft.com/office/drawing/2014/main" val="1939989799"/>
                    </a:ext>
                  </a:extLst>
                </a:gridCol>
                <a:gridCol w="800897">
                  <a:extLst>
                    <a:ext uri="{9D8B030D-6E8A-4147-A177-3AD203B41FA5}">
                      <a16:colId xmlns:a16="http://schemas.microsoft.com/office/drawing/2014/main" val="257901220"/>
                    </a:ext>
                  </a:extLst>
                </a:gridCol>
                <a:gridCol w="2390330">
                  <a:extLst>
                    <a:ext uri="{9D8B030D-6E8A-4147-A177-3AD203B41FA5}">
                      <a16:colId xmlns:a16="http://schemas.microsoft.com/office/drawing/2014/main" val="1912456098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900" b="0" kern="10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구분</a:t>
                      </a:r>
                      <a:endParaRPr lang="ko-KR" sz="900" b="0" kern="10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8E3A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ko-KR" sz="800" b="0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900" b="0" kern="100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개선 과제 완성도 기준</a:t>
                      </a:r>
                      <a:endParaRPr lang="ko-KR" sz="900" b="0" kern="100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8E3A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84196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ko-KR" sz="900" b="0" kern="10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Q</a:t>
                      </a:r>
                      <a:endParaRPr lang="ko-KR" sz="900" b="0" kern="10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900" b="0" kern="100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과제 완성도</a:t>
                      </a:r>
                      <a:endParaRPr lang="en-US" altLang="ko-KR" sz="900" b="0" kern="100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7313" marR="0" lvl="0" indent="-87313" algn="l" defTabSz="914395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00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개선과제 기반 업무 효율성 </a:t>
                      </a:r>
                      <a:r>
                        <a:rPr lang="en-US" altLang="ko-KR" sz="900" b="0" kern="100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30% </a:t>
                      </a:r>
                      <a:r>
                        <a:rPr lang="ko-KR" altLang="en-US" sz="900" b="0" kern="100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향상</a:t>
                      </a:r>
                      <a:endParaRPr lang="en-US" altLang="ko-KR" sz="900" b="0" kern="100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88889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ko-KR" sz="900" b="0" kern="10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D</a:t>
                      </a:r>
                      <a:endParaRPr lang="ko-KR" sz="900" b="0" kern="10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900" b="0" kern="10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적기 구축</a:t>
                      </a:r>
                      <a:endParaRPr lang="ko-KR" sz="900" b="0" kern="10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7313" indent="-87313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kern="100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굴림" panose="020B0600000101010101" pitchFamily="50" charset="-127"/>
                        </a:rPr>
                        <a:t>개선 과제 완료 여부</a:t>
                      </a:r>
                      <a:endParaRPr lang="ko-KR" sz="900" b="0" kern="100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굴림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478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309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147712"/>
              </p:ext>
            </p:extLst>
          </p:nvPr>
        </p:nvGraphicFramePr>
        <p:xfrm>
          <a:off x="173693" y="620688"/>
          <a:ext cx="9541534" cy="5373600"/>
        </p:xfrm>
        <a:graphic>
          <a:graphicData uri="http://schemas.openxmlformats.org/drawingml/2006/table">
            <a:tbl>
              <a:tblPr/>
              <a:tblGrid>
                <a:gridCol w="550207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189702">
                  <a:extLst>
                    <a:ext uri="{9D8B030D-6E8A-4147-A177-3AD203B41FA5}">
                      <a16:colId xmlns:a16="http://schemas.microsoft.com/office/drawing/2014/main" val="3159860772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75612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시스템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경쟁력 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강화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(2/2)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eIoT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→ FDC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통합 적기 대응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14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 법인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’26.12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없음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신규과제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설정 근거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E IoT → FDC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통합을 통한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IT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비용 절감 필요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: 25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전사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E-IoT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전사 라이선스 비용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35.3(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설비 데이터 수집 기능을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와 통합하여 라이선스 비용 절감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: 26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통합 후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27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이후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99.0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(33.0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3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 가능  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설정목표에 대한 산출 로직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Q(50%) :  14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D(50%) : 12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대상법인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OC,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HD,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MI_L, ST,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AZ,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HG,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MI,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GM1,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GM2,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HM, WA, NA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 NB, NJ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※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법인별 생산 일정을 고려한 확산 전개 예정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OC eIoT -&gt; FDC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전환을 위한 기능 개발 완료 및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 법인 적용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요건 정의 및 사전 준비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 법인 확산 적용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환경 구축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기능개발 진행 및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Pilot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오픈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1047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 법인 확산 적용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안정화 및 변화 관리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972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[1Q] eIoT -&gt; FDC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전환을 위한 기능 개발 완료 </a:t>
                      </a:r>
                      <a:b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수집프로그램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유관시스템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I/F,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실시간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측정기 조회 기능 개발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OC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전환 완료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- 2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 법인 확산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(MI_L,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HD)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[2Q] 4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 법인 확산 적용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ST, AZ, HG, MI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확산 진행</a:t>
                      </a:r>
                      <a:b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[3Q] 4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 법인 확산 진행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GM1, GM2, HM, NA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Spotfire Upgrade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를 위한 사전 준비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Automation AI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활용 시나리오 수립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AX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과제 요건 정의 및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AOF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 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통합스케줄러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통합 형태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PoC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진행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 법인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Spotfire Upgrade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진행 및 주요 법인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Co-Pilot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서비스 환경 구축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Automation AI Agent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 진행 및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Pilot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오픈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Spotfire Co-Pilot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서비스 확산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Automation AI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기능 정식 오픈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– 1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M, 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- 0.5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+ 0.5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10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 미만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+ 1</a:t>
                      </a: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14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– 1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14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– 0.5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14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+ 0.5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+ 1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034E26B-36FA-44F6-15F6-4EA01C49DEB7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품질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담당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/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송영민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책임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21F484-1699-B2DE-2753-D02A44F25DC3}"/>
              </a:ext>
            </a:extLst>
          </p:cNvPr>
          <p:cNvSpPr txBox="1"/>
          <p:nvPr/>
        </p:nvSpPr>
        <p:spPr>
          <a:xfrm>
            <a:off x="4953000" y="264097"/>
            <a:ext cx="4816826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(10/11)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E0AE1D-A463-016F-132E-C04A35CA3FFB}"/>
              </a:ext>
            </a:extLst>
          </p:cNvPr>
          <p:cNvSpPr txBox="1"/>
          <p:nvPr/>
        </p:nvSpPr>
        <p:spPr>
          <a:xfrm>
            <a:off x="4454656" y="251357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4414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961215"/>
              </p:ext>
            </p:extLst>
          </p:nvPr>
        </p:nvGraphicFramePr>
        <p:xfrm>
          <a:off x="173693" y="620688"/>
          <a:ext cx="9541534" cy="6135600"/>
        </p:xfrm>
        <a:graphic>
          <a:graphicData uri="http://schemas.openxmlformats.org/drawingml/2006/table">
            <a:tbl>
              <a:tblPr/>
              <a:tblGrid>
                <a:gridCol w="550207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189702">
                  <a:extLst>
                    <a:ext uri="{9D8B030D-6E8A-4147-A177-3AD203B41FA5}">
                      <a16:colId xmlns:a16="http://schemas.microsoft.com/office/drawing/2014/main" val="3159860772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75612">
                <a:tc rowSpan="1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IT </a:t>
                      </a:r>
                      <a:r>
                        <a:rPr kumimoji="0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시스템 적기 </a:t>
                      </a:r>
                      <a:r>
                        <a:rPr kumimoji="0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Open</a:t>
                      </a:r>
                      <a:r>
                        <a:rPr kumimoji="0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으로 신공장 조기 안정화</a:t>
                      </a:r>
                      <a:endParaRPr kumimoji="1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71755" marR="0" lvl="0" indent="-717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 법인 샘플 대응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IT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시스템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적용</a:t>
                      </a:r>
                      <a:b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- Q :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 시스템 적용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D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: ’26.6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15%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없음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신규과제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설정 근거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 법인 샘플 대응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IT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시스템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적용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신규법인 샘플 생산 대응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IT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시스템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대응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ESAG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</a:t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완료기준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: 6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ko-KR" altLang="en-US" sz="1000" b="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PDS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확산</a:t>
                      </a:r>
                      <a:br>
                        <a:rPr lang="ko-KR" altLang="en-US" sz="1000" b="0" i="0" u="none" strike="noStrike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1000" b="0" i="0" u="none" strike="noStrike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목표 : GODHL 법인의 PDS 적용을 통한 기준정보 정합화</a:t>
                      </a:r>
                      <a:br>
                        <a:rPr lang="ko-KR" altLang="en-US" sz="1000" b="0" i="0" u="none" strike="noStrike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0" i="0" u="none" strike="noStrike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대상법인 </a:t>
                      </a:r>
                      <a:r>
                        <a:rPr lang="en-US" sz="1000" b="0" i="0" u="none" strike="noStrike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OC, ST, AZ, HD, MI1, MILS, HG</a:t>
                      </a:r>
                      <a:br>
                        <a:rPr lang="en-US" sz="1000" b="0" i="0" u="none" strike="noStrike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1000" b="0" i="0" u="none" strike="noStrike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b="0" i="0" u="none" strike="noStrike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완료기준</a:t>
                      </a:r>
                      <a:r>
                        <a:rPr lang="en-US" sz="1000" b="0" i="0" u="none" strike="noStrike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: 11</a:t>
                      </a:r>
                      <a:r>
                        <a:rPr lang="ko-KR" altLang="en-US" sz="1000" b="0" i="0" u="none" strike="noStrike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br>
                        <a:rPr lang="en-US" sz="1000" b="0" i="0" u="none" strike="noStrike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1000" b="0" i="0" u="none" strike="noStrike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※ </a:t>
                      </a:r>
                      <a:r>
                        <a:rPr lang="ko-KR" altLang="en-US" sz="1000" b="0" i="0" u="none" strike="noStrike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법인별 외부 환경을 고려한 </a:t>
                      </a:r>
                      <a:r>
                        <a:rPr lang="ko-KR" sz="1000" b="0" i="0" u="none" strike="noStrike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확산 전개 </a:t>
                      </a:r>
                      <a:r>
                        <a:rPr lang="ko-KR" altLang="en-US" sz="1000" b="0" i="0" u="none" strike="noStrike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예정</a:t>
                      </a:r>
                      <a:r>
                        <a:rPr lang="en-US" altLang="ko-KR" sz="1000" b="0" i="0" u="none" strike="noStrike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 </a:t>
                      </a:r>
                      <a:endParaRPr lang="en-US" sz="1000" b="0" i="0" u="none" strike="noStrike" kern="1200" noProof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5725" marR="0" lvl="0" indent="-85725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altLang="ko-KR" sz="1000" b="0" i="0" u="none" strike="noStrike" kern="1200" noProof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설정목표에 대한 산출 로직</a:t>
                      </a:r>
                      <a:b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spc="-3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As-Is: QMS, MIMS, RMS, FDC, SPC, EMS, EDC, eIoT, DAVINCI, VTS</a:t>
                      </a:r>
                      <a:br>
                        <a:rPr kumimoji="0" lang="en-US" altLang="ko-KR" sz="1000" b="0" spc="-3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000" b="0" spc="-3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To-Be : QMS, MIMS, RMS, FDC, SPC, EMS, EDC, eIoT, DAVINCI, VTS, APC, </a:t>
                      </a:r>
                      <a:br>
                        <a:rPr kumimoji="0" lang="en-US" altLang="ko-KR" sz="1000" b="0" spc="-3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0" lang="en-US" altLang="ko-KR" sz="1000" b="0" spc="-3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     </a:t>
                      </a:r>
                      <a:r>
                        <a:rPr kumimoji="0" lang="ko-KR" altLang="en-US" sz="1000" b="0" spc="-3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롤맵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1Q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PDS 확산 : ESST</a:t>
                      </a:r>
                      <a:endParaRPr kumimoji="1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요건 정의 및 사전 준비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2Q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ESAZ 12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 시스템 적용</a:t>
                      </a: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PDS 확산 : ESOC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환경 구축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기능개발 진행 및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Pilot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오픈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1047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3Q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PDS 확산 : ESAZ, ESHD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안정화 및 변화 관리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1047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None/>
                        <a:tabLst/>
                      </a:pPr>
                      <a:r>
                        <a:rPr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4Q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>
                    <a:lnL w="3174">
                      <a:solidFill>
                        <a:schemeClr val="bg1">
                          <a:lumMod val="50000"/>
                        </a:schemeClr>
                      </a:solidFill>
                    </a:lnL>
                    <a:lnR w="3174">
                      <a:solidFill>
                        <a:schemeClr val="bg1">
                          <a:lumMod val="50000"/>
                        </a:schemeClr>
                      </a:solidFill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bg1">
                          <a:lumMod val="5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PDS 확산 : ESMI1, ESMILS, ESHG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>
                    <a:lnL w="3174">
                      <a:solidFill>
                        <a:schemeClr val="bg1">
                          <a:lumMod val="50000"/>
                        </a:schemeClr>
                      </a:solidFill>
                    </a:lnL>
                    <a:lnR w="3174">
                      <a:solidFill>
                        <a:schemeClr val="bg1">
                          <a:lumMod val="50000"/>
                        </a:schemeClr>
                      </a:solidFill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bg1">
                          <a:lumMod val="5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248342"/>
                  </a:ext>
                </a:extLst>
              </a:tr>
              <a:tr h="972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[1Q] PDS 1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 법인 확산 적용</a:t>
                      </a:r>
                      <a:endParaRPr lang="en-US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 </a:t>
                      </a:r>
                      <a:r>
                        <a:rPr 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확산 진행</a:t>
                      </a:r>
                      <a:endParaRPr lang="ko-KR" alt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[2Q] 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ESAZ IT </a:t>
                      </a:r>
                      <a:r>
                        <a:rPr lang="ko-KR" altLang="en-US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시스템 샘플 단계 적용</a:t>
                      </a:r>
                      <a:b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 - ESAZ(6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[2Q] PDS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 법인 확산 적용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ESOC </a:t>
                      </a:r>
                      <a:r>
                        <a:rPr 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확산 진행</a:t>
                      </a: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[3Q]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PDS 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 법인 확산 적용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AZ, HD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확산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</a:t>
                      </a: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[4Q]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PDS 3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 법인 확산 적용</a:t>
                      </a: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MI1, MILS, HG </a:t>
                      </a:r>
                      <a:r>
                        <a:rPr 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</a:t>
                      </a:r>
                      <a:endParaRPr lang="ko-KR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Spotfire Upgrade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를 위한 사전 준비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Automation AI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활용 시나리오 수립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AX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과제 요건 정의 및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AOF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 </a:t>
                      </a:r>
                      <a:r>
                        <a:rPr kumimoji="1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통합스케줄러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통합 형태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PoC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진행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 법인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Spotfire Upgrade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진행 및 주요 법인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Co-Pilot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서비스 환경 구축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Automation AI Agent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 진행 및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Pilot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오픈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Spotfire Co-Pilot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서비스 확산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Automation AI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기능 정식 오픈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89535" marR="0" lvl="0" indent="-8953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시스템 이상 적용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시스템 이상 적용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시스템 이상 적용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10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시스템 이상 적용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10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시스템 미만 적용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시스템 이상 적용 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시스템 이상 적용 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시스템 이상 적용 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Q : 10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시스템 이상 적용 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Q : 10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 시스템 미만 적용 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 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034E26B-36FA-44F6-15F6-4EA01C49DEB7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품질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담당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/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송영민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책임 </a:t>
            </a: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C04A4E-0D98-2101-6163-88A80BE613A6}"/>
              </a:ext>
            </a:extLst>
          </p:cNvPr>
          <p:cNvSpPr txBox="1"/>
          <p:nvPr/>
        </p:nvSpPr>
        <p:spPr>
          <a:xfrm>
            <a:off x="4953000" y="264097"/>
            <a:ext cx="4816826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(11/11)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4F640A-A30E-EA3D-5CEE-53D4EAA4E1EC}"/>
              </a:ext>
            </a:extLst>
          </p:cNvPr>
          <p:cNvSpPr txBox="1"/>
          <p:nvPr/>
        </p:nvSpPr>
        <p:spPr>
          <a:xfrm>
            <a:off x="4454656" y="251357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7421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DEA82D8-838B-4BB7-8CC3-D776D5B45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753082"/>
              </p:ext>
            </p:extLst>
          </p:nvPr>
        </p:nvGraphicFramePr>
        <p:xfrm>
          <a:off x="200025" y="633045"/>
          <a:ext cx="9577387" cy="5070392"/>
        </p:xfrm>
        <a:graphic>
          <a:graphicData uri="http://schemas.openxmlformats.org/drawingml/2006/table">
            <a:tbl>
              <a:tblPr/>
              <a:tblGrid>
                <a:gridCol w="864543">
                  <a:extLst>
                    <a:ext uri="{9D8B030D-6E8A-4147-A177-3AD203B41FA5}">
                      <a16:colId xmlns:a16="http://schemas.microsoft.com/office/drawing/2014/main" val="1485838750"/>
                    </a:ext>
                  </a:extLst>
                </a:gridCol>
                <a:gridCol w="2179146">
                  <a:extLst>
                    <a:ext uri="{9D8B030D-6E8A-4147-A177-3AD203B41FA5}">
                      <a16:colId xmlns:a16="http://schemas.microsoft.com/office/drawing/2014/main" val="2421510175"/>
                    </a:ext>
                  </a:extLst>
                </a:gridCol>
                <a:gridCol w="308008">
                  <a:extLst>
                    <a:ext uri="{9D8B030D-6E8A-4147-A177-3AD203B41FA5}">
                      <a16:colId xmlns:a16="http://schemas.microsoft.com/office/drawing/2014/main" val="185255041"/>
                    </a:ext>
                  </a:extLst>
                </a:gridCol>
                <a:gridCol w="1037615">
                  <a:extLst>
                    <a:ext uri="{9D8B030D-6E8A-4147-A177-3AD203B41FA5}">
                      <a16:colId xmlns:a16="http://schemas.microsoft.com/office/drawing/2014/main" val="1923265575"/>
                    </a:ext>
                  </a:extLst>
                </a:gridCol>
                <a:gridCol w="1037615">
                  <a:extLst>
                    <a:ext uri="{9D8B030D-6E8A-4147-A177-3AD203B41FA5}">
                      <a16:colId xmlns:a16="http://schemas.microsoft.com/office/drawing/2014/main" val="905851894"/>
                    </a:ext>
                  </a:extLst>
                </a:gridCol>
                <a:gridCol w="1037615">
                  <a:extLst>
                    <a:ext uri="{9D8B030D-6E8A-4147-A177-3AD203B41FA5}">
                      <a16:colId xmlns:a16="http://schemas.microsoft.com/office/drawing/2014/main" val="3300058648"/>
                    </a:ext>
                  </a:extLst>
                </a:gridCol>
                <a:gridCol w="1037615">
                  <a:extLst>
                    <a:ext uri="{9D8B030D-6E8A-4147-A177-3AD203B41FA5}">
                      <a16:colId xmlns:a16="http://schemas.microsoft.com/office/drawing/2014/main" val="3159466843"/>
                    </a:ext>
                  </a:extLst>
                </a:gridCol>
                <a:gridCol w="1037615">
                  <a:extLst>
                    <a:ext uri="{9D8B030D-6E8A-4147-A177-3AD203B41FA5}">
                      <a16:colId xmlns:a16="http://schemas.microsoft.com/office/drawing/2014/main" val="819276790"/>
                    </a:ext>
                  </a:extLst>
                </a:gridCol>
                <a:gridCol w="1037615">
                  <a:extLst>
                    <a:ext uri="{9D8B030D-6E8A-4147-A177-3AD203B41FA5}">
                      <a16:colId xmlns:a16="http://schemas.microsoft.com/office/drawing/2014/main" val="46673577"/>
                    </a:ext>
                  </a:extLst>
                </a:gridCol>
              </a:tblGrid>
              <a:tr h="189786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1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1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1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비중</a:t>
                      </a:r>
                      <a:endParaRPr lang="en-US" altLang="ko-KR" sz="1100" b="1" i="0" u="none" strike="noStrike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11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r>
                        <a:rPr lang="ko-KR" altLang="en-US" sz="11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 </a:t>
                      </a:r>
                      <a:r>
                        <a:rPr lang="en-US" altLang="ko-KR" sz="11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" marR="3600" marT="10800" marB="108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ko-KR" altLang="en-US" sz="1100" b="1" i="0" u="none" strike="noStrike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 지표</a:t>
                      </a:r>
                      <a:endParaRPr lang="en-US" sz="1100" b="1" i="0" u="none" strike="noStrike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913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endParaRPr lang="ko-KR" altLang="en-US" sz="11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endParaRPr lang="ko-KR" altLang="en-US" sz="11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11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100" b="1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100" b="1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endParaRPr lang="en-US" sz="1100" b="1" i="0" u="none" strike="noStrike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686049"/>
                  </a:ext>
                </a:extLst>
              </a:tr>
              <a:tr h="219394">
                <a:tc rowSpan="2"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</a:t>
                      </a:r>
                      <a:r>
                        <a:rPr kumimoji="0" lang="en-US" altLang="ko-KR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</a:t>
                      </a:r>
                      <a:br>
                        <a:rPr kumimoji="0" lang="en-US" altLang="ko-KR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달성</a:t>
                      </a: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30.05 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36.06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 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33.055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30.05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24.04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24.04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미만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394">
                <a:tc vMerge="1">
                  <a:txBody>
                    <a:bodyPr/>
                    <a:lstStyle/>
                    <a:p>
                      <a:pPr marL="108000" marR="0" lvl="0" indent="-108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 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4,000 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4,800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4,400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4,000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3,200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3,200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미만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379521"/>
                  </a:ext>
                </a:extLst>
              </a:tr>
              <a:tr h="69830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품질 </a:t>
                      </a:r>
                      <a:b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경쟁력 강화</a:t>
                      </a:r>
                      <a:endParaRPr kumimoji="1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ESS Safety Risk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판단 </a:t>
                      </a: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Fast Track 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체계 구축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15%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C :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분석업무 효율화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8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억 절감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 D : Safety Issue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분석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L/T 28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일 →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11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일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 : 9.6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21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 : 8.8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21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 : 8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21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 : 6.4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21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 : 6.4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↓ 절감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21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↓ 단축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365298"/>
                  </a:ext>
                </a:extLst>
              </a:tr>
              <a:tr h="698303"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br>
                        <a:rPr lang="en-US" altLang="ko-KR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</a:t>
                      </a:r>
                      <a:r>
                        <a:rPr lang="ko-KR" altLang="en-US" sz="1000" b="1" kern="1200" spc="-1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b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ESS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 라인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95.4% </a:t>
                      </a:r>
                      <a:r>
                        <a:rPr lang="ko-KR" altLang="en-US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94.9%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002411"/>
                  </a:ext>
                </a:extLst>
              </a:tr>
              <a:tr h="698303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기반 업무 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효율화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수작업 업무 제거</a:t>
                      </a:r>
                      <a:b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C : 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업무 시간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79.2hr/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 절감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(9.9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명 절감효과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’26.12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95.0hr/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↑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‘25.4Q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87.1hr/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↑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‘25.4Q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79.2hr/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↑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‘25.4Q</a:t>
                      </a: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63..4hr/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↑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‘25.4Q</a:t>
                      </a: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63..4hr/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↓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‘25.4Q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25549"/>
                  </a:ext>
                </a:extLst>
              </a:tr>
              <a:tr h="6983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롤맵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데이터 활용 생산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Loss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개선</a:t>
                      </a:r>
                      <a:endParaRPr kumimoji="1" lang="en-US" altLang="ko-KR" sz="10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 - C :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전극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Loss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개선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(10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억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  - D :  ‘26.12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7%</a:t>
                      </a:r>
                      <a:endParaRPr lang="en-US" altLang="ko-KR" sz="1000" b="1" i="0" u="none" strike="noStrike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C : 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Loss 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개선   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(12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억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D :  ‘26.12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월</a:t>
                      </a:r>
                      <a:endParaRPr kumimoji="0" lang="ko-KR" altLang="en-US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C : 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Loss 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개선   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(11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억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D :  ‘26.12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월</a:t>
                      </a:r>
                      <a:endParaRPr kumimoji="0" lang="ko-KR" altLang="en-US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C :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Loss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개선  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(10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억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D :  ‘26.12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월</a:t>
                      </a:r>
                      <a:endParaRPr kumimoji="0" lang="ko-KR" altLang="en-US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C : 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Loss 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개선   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(8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억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D :  ‘26.12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월</a:t>
                      </a:r>
                      <a:endParaRPr kumimoji="0" lang="ko-KR" altLang="en-US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C : 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Loss 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개선   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(8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억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D :  ‘26.12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/>
                          <a:ea typeface="LG스마트체 Regular"/>
                          <a:cs typeface="Arial"/>
                        </a:rPr>
                        <a:t>월</a:t>
                      </a:r>
                      <a:endParaRPr kumimoji="0" lang="ko-KR" altLang="en-US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674123"/>
                  </a:ext>
                </a:extLst>
              </a:tr>
              <a:tr h="6983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수주대응</a:t>
                      </a:r>
                      <a:r>
                        <a:rPr kumimoji="1" lang="en-US" altLang="ko-KR" sz="10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(RFx) </a:t>
                      </a:r>
                      <a:r>
                        <a:rPr kumimoji="1" lang="ko-KR" altLang="en-US" sz="10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건설투자비 산출 </a:t>
                      </a:r>
                      <a:r>
                        <a:rPr kumimoji="1" lang="en-US" altLang="ko-KR" sz="10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L/T </a:t>
                      </a:r>
                      <a:r>
                        <a:rPr kumimoji="1" lang="ko-KR" altLang="en-US" sz="10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단축</a:t>
                      </a:r>
                      <a:br>
                        <a:rPr kumimoji="1" lang="ko-KR" altLang="en-US" sz="10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건설공사 견적산출 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Agent 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</a:t>
                      </a:r>
                      <a:b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(6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일→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</a:t>
                      </a: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66%)</a:t>
                      </a:r>
                      <a:b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D : ‘26.12</a:t>
                      </a:r>
                      <a:r>
                        <a:rPr kumimoji="1" lang="ko-KR" altLang="en-US" sz="1000" b="0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6%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투자비 산출 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L/T</a:t>
                      </a:r>
                      <a:b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79.2%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단축</a:t>
                      </a:r>
                      <a:endParaRPr kumimoji="0" lang="en-US" altLang="ko-KR" sz="1000" b="0" i="0" u="none" strike="noStrike" kern="1200" cap="none" spc="-8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‘25.4Q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투자비 산출 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L/T</a:t>
                      </a:r>
                      <a:b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72.6%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단축</a:t>
                      </a:r>
                      <a:endParaRPr kumimoji="0" lang="en-US" altLang="ko-KR" sz="1000" b="0" i="0" u="none" strike="noStrike" kern="1200" cap="none" spc="-8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‘25.4Q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투자비 산출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L/T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66%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단축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‘25.4Q</a:t>
                      </a: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투자비 산출 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L/T</a:t>
                      </a:r>
                      <a:b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52.8%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단축</a:t>
                      </a:r>
                      <a:endParaRPr kumimoji="0" lang="en-US" altLang="ko-KR" sz="1000" b="0" i="0" u="none" strike="noStrike" kern="1200" cap="none" spc="-8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‘25.4Q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투자비 산출 </a:t>
                      </a: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L/T</a:t>
                      </a:r>
                      <a:b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52.8% </a:t>
                      </a:r>
                      <a:r>
                        <a:rPr kumimoji="0" lang="ko-KR" altLang="en-US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단축</a:t>
                      </a:r>
                      <a:endParaRPr kumimoji="0" lang="en-US" altLang="ko-KR" sz="1000" b="0" i="0" u="none" strike="noStrike" kern="1200" cap="none" spc="-8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‘25.4Q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751808"/>
                  </a:ext>
                </a:extLst>
              </a:tr>
              <a:tr h="698303"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제조 운영 </a:t>
                      </a: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AX</a:t>
                      </a:r>
                      <a:b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BM/PD </a:t>
                      </a: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개선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BM/PD Loss 20%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(Global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전체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24%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1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22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1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1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16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1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16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개선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21491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16FC5BA-7E40-4398-94C6-553D4E6FC6CA}"/>
              </a:ext>
            </a:extLst>
          </p:cNvPr>
          <p:cNvSpPr txBox="1"/>
          <p:nvPr/>
        </p:nvSpPr>
        <p:spPr>
          <a:xfrm>
            <a:off x="7224092" y="204865"/>
            <a:ext cx="2545733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➌ 평가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</a:t>
            </a:r>
            <a:endParaRPr kumimoji="0" lang="ko-KR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592498-96D3-4FF8-B548-D49CEB0FE505}"/>
              </a:ext>
            </a:extLst>
          </p:cNvPr>
          <p:cNvSpPr txBox="1"/>
          <p:nvPr/>
        </p:nvSpPr>
        <p:spPr>
          <a:xfrm>
            <a:off x="7468375" y="174087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3]</a:t>
            </a: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DEE693-C5B3-11A1-50FC-BD2C014088E2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품질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담당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/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송영민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책임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0173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DEA82D8-838B-4BB7-8CC3-D776D5B45916}"/>
              </a:ext>
            </a:extLst>
          </p:cNvPr>
          <p:cNvGraphicFramePr>
            <a:graphicFrameLocks noGrp="1"/>
          </p:cNvGraphicFramePr>
          <p:nvPr/>
        </p:nvGraphicFramePr>
        <p:xfrm>
          <a:off x="200025" y="633045"/>
          <a:ext cx="9577387" cy="4388524"/>
        </p:xfrm>
        <a:graphic>
          <a:graphicData uri="http://schemas.openxmlformats.org/drawingml/2006/table">
            <a:tbl>
              <a:tblPr/>
              <a:tblGrid>
                <a:gridCol w="864543">
                  <a:extLst>
                    <a:ext uri="{9D8B030D-6E8A-4147-A177-3AD203B41FA5}">
                      <a16:colId xmlns:a16="http://schemas.microsoft.com/office/drawing/2014/main" val="1485838750"/>
                    </a:ext>
                  </a:extLst>
                </a:gridCol>
                <a:gridCol w="2179146">
                  <a:extLst>
                    <a:ext uri="{9D8B030D-6E8A-4147-A177-3AD203B41FA5}">
                      <a16:colId xmlns:a16="http://schemas.microsoft.com/office/drawing/2014/main" val="2421510175"/>
                    </a:ext>
                  </a:extLst>
                </a:gridCol>
                <a:gridCol w="308008">
                  <a:extLst>
                    <a:ext uri="{9D8B030D-6E8A-4147-A177-3AD203B41FA5}">
                      <a16:colId xmlns:a16="http://schemas.microsoft.com/office/drawing/2014/main" val="185255041"/>
                    </a:ext>
                  </a:extLst>
                </a:gridCol>
                <a:gridCol w="1037615">
                  <a:extLst>
                    <a:ext uri="{9D8B030D-6E8A-4147-A177-3AD203B41FA5}">
                      <a16:colId xmlns:a16="http://schemas.microsoft.com/office/drawing/2014/main" val="1923265575"/>
                    </a:ext>
                  </a:extLst>
                </a:gridCol>
                <a:gridCol w="1037615">
                  <a:extLst>
                    <a:ext uri="{9D8B030D-6E8A-4147-A177-3AD203B41FA5}">
                      <a16:colId xmlns:a16="http://schemas.microsoft.com/office/drawing/2014/main" val="905851894"/>
                    </a:ext>
                  </a:extLst>
                </a:gridCol>
                <a:gridCol w="1037615">
                  <a:extLst>
                    <a:ext uri="{9D8B030D-6E8A-4147-A177-3AD203B41FA5}">
                      <a16:colId xmlns:a16="http://schemas.microsoft.com/office/drawing/2014/main" val="3300058648"/>
                    </a:ext>
                  </a:extLst>
                </a:gridCol>
                <a:gridCol w="1037615">
                  <a:extLst>
                    <a:ext uri="{9D8B030D-6E8A-4147-A177-3AD203B41FA5}">
                      <a16:colId xmlns:a16="http://schemas.microsoft.com/office/drawing/2014/main" val="3159466843"/>
                    </a:ext>
                  </a:extLst>
                </a:gridCol>
                <a:gridCol w="1037615">
                  <a:extLst>
                    <a:ext uri="{9D8B030D-6E8A-4147-A177-3AD203B41FA5}">
                      <a16:colId xmlns:a16="http://schemas.microsoft.com/office/drawing/2014/main" val="819276790"/>
                    </a:ext>
                  </a:extLst>
                </a:gridCol>
                <a:gridCol w="1037615">
                  <a:extLst>
                    <a:ext uri="{9D8B030D-6E8A-4147-A177-3AD203B41FA5}">
                      <a16:colId xmlns:a16="http://schemas.microsoft.com/office/drawing/2014/main" val="46673577"/>
                    </a:ext>
                  </a:extLst>
                </a:gridCol>
              </a:tblGrid>
              <a:tr h="189786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1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1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1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비중</a:t>
                      </a:r>
                      <a:endParaRPr lang="en-US" altLang="ko-KR" sz="1100" b="1" i="0" u="none" strike="noStrike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11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r>
                        <a:rPr lang="ko-KR" altLang="en-US" sz="11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 </a:t>
                      </a:r>
                      <a:r>
                        <a:rPr lang="en-US" altLang="ko-KR" sz="11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" marR="3600" marT="10800" marB="108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ko-KR" altLang="en-US" sz="1100" b="1" i="0" u="none" strike="noStrike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 지표</a:t>
                      </a:r>
                      <a:endParaRPr lang="en-US" sz="1100" b="1" i="0" u="none" strike="noStrike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9136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endParaRPr lang="ko-KR" altLang="en-US" sz="11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endParaRPr lang="ko-KR" altLang="en-US" sz="11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1100" b="1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100" b="1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100" b="1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endParaRPr lang="en-US" sz="1100" b="1" i="0" u="none" strike="noStrike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686049"/>
                  </a:ext>
                </a:extLst>
              </a:tr>
              <a:tr h="765504">
                <a:tc rowSpan="4"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AX </a:t>
                      </a: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기반 구축 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서버 기반 </a:t>
                      </a:r>
                      <a:r>
                        <a:rPr kumimoji="0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IVS </a:t>
                      </a:r>
                      <a:r>
                        <a:rPr kumimoji="0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적용을 통한 작업자 업무 </a:t>
                      </a:r>
                      <a:r>
                        <a:rPr kumimoji="0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Load </a:t>
                      </a:r>
                      <a:r>
                        <a:rPr kumimoji="0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저감 </a:t>
                      </a:r>
                      <a:br>
                        <a:rPr kumimoji="0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19,612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운영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('26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단독법인 인원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l-GR" altLang="ko-KR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1,459</a:t>
                      </a:r>
                      <a:r>
                        <a:rPr kumimoji="0" lang="ko-KR" altLang="en-US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이상 효율화</a:t>
                      </a:r>
                      <a:endParaRPr kumimoji="0" lang="en-US" altLang="ko-KR" sz="9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l-GR" altLang="ko-KR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1,</a:t>
                      </a:r>
                      <a:r>
                        <a:rPr kumimoji="0" lang="en-US" altLang="ko-KR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392</a:t>
                      </a:r>
                      <a:r>
                        <a:rPr kumimoji="0" lang="ko-KR" altLang="en-US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이상 효율화</a:t>
                      </a:r>
                      <a:endParaRPr kumimoji="0" lang="en-US" altLang="ko-KR" sz="9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l-GR" altLang="ko-KR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1,</a:t>
                      </a:r>
                      <a:r>
                        <a:rPr kumimoji="0" lang="en-US" altLang="ko-KR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326</a:t>
                      </a:r>
                      <a:r>
                        <a:rPr kumimoji="0" lang="ko-KR" altLang="en-US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이상 효율화</a:t>
                      </a:r>
                      <a:endParaRPr kumimoji="0" lang="en-US" altLang="ko-KR" sz="9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l-GR" altLang="ko-KR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1,</a:t>
                      </a:r>
                      <a:r>
                        <a:rPr kumimoji="0" lang="en-US" altLang="ko-KR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193</a:t>
                      </a:r>
                      <a:r>
                        <a:rPr kumimoji="0" lang="ko-KR" altLang="en-US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이상 효율화</a:t>
                      </a:r>
                      <a:endParaRPr kumimoji="0" lang="en-US" altLang="ko-KR" sz="9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l-GR" altLang="ko-KR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1,</a:t>
                      </a:r>
                      <a:r>
                        <a:rPr kumimoji="0" lang="en-US" altLang="ko-KR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193</a:t>
                      </a:r>
                      <a:r>
                        <a:rPr kumimoji="0" lang="ko-KR" altLang="en-US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미만 효율화</a:t>
                      </a:r>
                      <a:endParaRPr kumimoji="0" lang="en-US" altLang="ko-KR" sz="9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571303"/>
                  </a:ext>
                </a:extLst>
              </a:tr>
              <a:tr h="765504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6995" marR="0" lvl="0" indent="-8699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lang="ko-KR" altLang="en-US" sz="900" b="1" kern="1200" spc="-1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사전 예측을 위한 모델링 검증 환경 구축</a:t>
                      </a:r>
                      <a:br>
                        <a:rPr kumimoji="0" lang="en-US" altLang="ko-KR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- Q :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- D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‘26.9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9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24%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적기구축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0" lang="ko-KR" altLang="en-US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22%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적기구축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0" lang="ko-KR" altLang="en-US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20%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적기구축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0" lang="ko-KR" altLang="en-US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18%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적기구축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  <a:endParaRPr kumimoji="0" lang="ko-KR" altLang="en-US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18%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개선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적기구축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M+1</a:t>
                      </a:r>
                      <a:endParaRPr kumimoji="0" lang="ko-KR" altLang="en-US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25549"/>
                  </a:ext>
                </a:extLst>
              </a:tr>
              <a:tr h="765504">
                <a:tc vMerge="1"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ko-KR" altLang="en-US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DAVINCI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플랫폼 강화</a:t>
                      </a:r>
                      <a:b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AX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플랫폼 개선 과제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건 적용</a:t>
                      </a:r>
                      <a:b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‘26.11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(OC,WA)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과제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 적용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– 1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과제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 적용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– 0.5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과제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 적용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</a:t>
                      </a:r>
                    </a:p>
                  </a:txBody>
                  <a:tcPr marL="36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과제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 적용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+ 0.5</a:t>
                      </a:r>
                    </a:p>
                  </a:txBody>
                  <a:tcPr marL="36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과제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 적용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+ 1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214913"/>
                  </a:ext>
                </a:extLst>
              </a:tr>
              <a:tr h="76550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kern="1200" spc="-3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eIoT</a:t>
                      </a:r>
                      <a:r>
                        <a:rPr kumimoji="1" lang="en-US" altLang="ko-KR" sz="10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→ FDC </a:t>
                      </a:r>
                      <a:r>
                        <a:rPr kumimoji="1" lang="ko-KR" altLang="en-US" sz="10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통합 적기 대응 </a:t>
                      </a:r>
                      <a:br>
                        <a:rPr kumimoji="1" lang="en-US" altLang="ko-KR" sz="10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14</a:t>
                      </a:r>
                      <a:r>
                        <a:rPr kumimoji="1" lang="ko-KR" altLang="en-US" sz="10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</a:t>
                      </a:r>
                      <a:br>
                        <a:rPr kumimoji="1" lang="en-US" altLang="ko-KR" sz="10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10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kern="1200" spc="-6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14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– 1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14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– 0.5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14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</a:t>
                      </a: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14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+ 0.5</a:t>
                      </a: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14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구축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 + 1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616982"/>
                  </a:ext>
                </a:extLst>
              </a:tr>
              <a:tr h="884722"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신</a:t>
                      </a: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증설 </a:t>
                      </a:r>
                      <a:b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IT </a:t>
                      </a: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시스템 적기 </a:t>
                      </a:r>
                      <a:b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Open</a:t>
                      </a: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으로 </a:t>
                      </a:r>
                      <a:br>
                        <a:rPr kumimoji="1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조기 안정화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6995" marR="0" lvl="0" indent="-8699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샘플 생산 시 시스템을 통한 공장 운영</a:t>
                      </a:r>
                      <a:br>
                        <a:rPr kumimoji="0" lang="en-US" altLang="ko-KR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샘플 생산 시  적용 시스템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12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(ESAZ)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PDS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신규확산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(NFF/ESS)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  <a:endParaRPr lang="ko-KR" altLang="en-US" sz="9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14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 이상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13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 이상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 이상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 이상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 미만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3894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2F79528-CE14-15DE-954B-E853E83A1929}"/>
              </a:ext>
            </a:extLst>
          </p:cNvPr>
          <p:cNvSpPr txBox="1"/>
          <p:nvPr/>
        </p:nvSpPr>
        <p:spPr>
          <a:xfrm>
            <a:off x="7224092" y="204865"/>
            <a:ext cx="2545733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➌ 평가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</a:t>
            </a:r>
            <a:endParaRPr kumimoji="0" lang="ko-KR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C9599-F957-9B5D-1FF2-B106363D340E}"/>
              </a:ext>
            </a:extLst>
          </p:cNvPr>
          <p:cNvSpPr txBox="1"/>
          <p:nvPr/>
        </p:nvSpPr>
        <p:spPr>
          <a:xfrm>
            <a:off x="7468375" y="174087"/>
            <a:ext cx="886091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3]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8C9701-FFEE-EFBC-9C9D-D2B1CD122063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품질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담당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/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송영민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책임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934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FA3ADA6-01DE-4292-8CB6-A80B3EA94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679674"/>
              </p:ext>
            </p:extLst>
          </p:nvPr>
        </p:nvGraphicFramePr>
        <p:xfrm>
          <a:off x="112932" y="625053"/>
          <a:ext cx="9680135" cy="3188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34">
                  <a:extLst>
                    <a:ext uri="{9D8B030D-6E8A-4147-A177-3AD203B41FA5}">
                      <a16:colId xmlns:a16="http://schemas.microsoft.com/office/drawing/2014/main" val="2812083310"/>
                    </a:ext>
                  </a:extLst>
                </a:gridCol>
                <a:gridCol w="1516625">
                  <a:extLst>
                    <a:ext uri="{9D8B030D-6E8A-4147-A177-3AD203B41FA5}">
                      <a16:colId xmlns:a16="http://schemas.microsoft.com/office/drawing/2014/main" val="3081028036"/>
                    </a:ext>
                  </a:extLst>
                </a:gridCol>
                <a:gridCol w="1965888">
                  <a:extLst>
                    <a:ext uri="{9D8B030D-6E8A-4147-A177-3AD203B41FA5}">
                      <a16:colId xmlns:a16="http://schemas.microsoft.com/office/drawing/2014/main" val="286802300"/>
                    </a:ext>
                  </a:extLst>
                </a:gridCol>
                <a:gridCol w="2029388">
                  <a:extLst>
                    <a:ext uri="{9D8B030D-6E8A-4147-A177-3AD203B41FA5}">
                      <a16:colId xmlns:a16="http://schemas.microsoft.com/office/drawing/2014/main" val="1983613499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421180291"/>
                    </a:ext>
                  </a:extLst>
                </a:gridCol>
              </a:tblGrid>
              <a:tr h="181311"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대상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사유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</a:t>
                      </a: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 </a:t>
                      </a:r>
                      <a:endParaRPr lang="ko-KR" altLang="en-US" sz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사유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577804"/>
                  </a:ext>
                </a:extLst>
              </a:tr>
              <a:tr h="181311">
                <a:tc v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전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후 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382961"/>
                  </a:ext>
                </a:extLst>
              </a:tr>
              <a:tr h="1412881">
                <a:tc rowSpan="2">
                  <a:txBody>
                    <a:bodyPr/>
                    <a:lstStyle/>
                    <a:p>
                      <a:pPr marL="34925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목표 범위</a:t>
                      </a:r>
                      <a:endParaRPr kumimoji="1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비중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변경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타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삭제로 인한 비중 확대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9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수작업 업무 제거 </a:t>
                      </a:r>
                      <a:r>
                        <a:rPr lang="en-US" altLang="ko-KR" sz="900" b="1" kern="1200" spc="-5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(20%)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C : 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시간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79.2hr/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절감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(9.9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절감효과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9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수작업 업무 제거 </a:t>
                      </a:r>
                      <a:r>
                        <a:rPr lang="en-US" altLang="ko-KR" sz="900" b="1" kern="1200" spc="-5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(25%)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C : 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시간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79.2hr/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절감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(9.9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절감효과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90488" marR="0" lvl="0" indent="-555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CQO </a:t>
                      </a:r>
                      <a:r>
                        <a:rPr lang="ko-KR" altLang="en-US" sz="12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조직 </a:t>
                      </a:r>
                      <a:r>
                        <a:rPr lang="en-US" altLang="ko-KR" sz="12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 </a:t>
                      </a:r>
                      <a:r>
                        <a:rPr lang="ko-KR" altLang="en-US" sz="12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변경에 따른 </a:t>
                      </a:r>
                      <a:r>
                        <a:rPr lang="en-US" altLang="ko-KR" sz="12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Co-KPI Align</a:t>
                      </a:r>
                      <a:br>
                        <a:rPr lang="en-US" altLang="ko-KR" sz="12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CQO, </a:t>
                      </a: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신뢰성품질담당</a:t>
                      </a:r>
                      <a:b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Palantir </a:t>
                      </a: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비용 통제에 따른 데이터 전송 및 플랫폼 활용이 제한되어 당초 계획대비</a:t>
                      </a:r>
                      <a:b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추진 및 성과 측정이 어려움</a:t>
                      </a:r>
                      <a:b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(CQO)</a:t>
                      </a: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Palantir </a:t>
                      </a: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</a:t>
                      </a: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List</a:t>
                      </a:r>
                      <a:b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0" kern="1200" spc="-3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1) </a:t>
                      </a:r>
                      <a:r>
                        <a:rPr lang="ko-KR" altLang="en-US" sz="1100" b="0" kern="1200" spc="-3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사외 품질 비용 검증 체계 고도화</a:t>
                      </a:r>
                      <a:b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2) </a:t>
                      </a: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통합 품질 </a:t>
                      </a: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생태계 구축  → </a:t>
                      </a: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KPI </a:t>
                      </a: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제외 </a:t>
                      </a:r>
                      <a:b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100" b="0" kern="1200" spc="-3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en-US" altLang="ko-KR" sz="1100" b="0" kern="1200" spc="-3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3) Field </a:t>
                      </a:r>
                      <a:r>
                        <a:rPr lang="ko-KR" altLang="en-US" sz="1100" b="0" kern="1200" spc="-3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조기 이상 감지</a:t>
                      </a:r>
                      <a:br>
                        <a:rPr lang="en-US" altLang="ko-KR" sz="1100" b="0" kern="1200" spc="-3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100" b="0" kern="1200" spc="-3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en-US" altLang="ko-KR" sz="1100" b="0" kern="1200" spc="-3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4) Field </a:t>
                      </a:r>
                      <a:r>
                        <a:rPr lang="ko-KR" altLang="en-US" sz="1100" b="0" kern="1200" spc="-3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이슈 원인 분석 및 개선 가속화</a:t>
                      </a:r>
                      <a:endParaRPr lang="en-US" altLang="ko-KR" sz="1200" b="0" kern="1200" spc="-3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394214"/>
                  </a:ext>
                </a:extLst>
              </a:tr>
              <a:tr h="1412881">
                <a:tc vMerge="1">
                  <a:txBody>
                    <a:bodyPr/>
                    <a:lstStyle/>
                    <a:p>
                      <a:pPr marL="34925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삭제</a:t>
                      </a:r>
                      <a:endParaRPr kumimoji="1" lang="en-US" altLang="ko-KR" sz="9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kumimoji="1" lang="ko-KR" altLang="en-US" sz="10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통합 품질 </a:t>
                      </a:r>
                      <a:r>
                        <a:rPr kumimoji="1" lang="en-US" altLang="ko-KR" sz="10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kumimoji="1" lang="ko-KR" altLang="en-US" sz="10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구축</a:t>
                      </a:r>
                      <a:r>
                        <a:rPr kumimoji="1" lang="en-US" altLang="ko-KR" sz="10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(5%)</a:t>
                      </a:r>
                      <a:br>
                        <a:rPr kumimoji="1" lang="ko-KR" altLang="en-US" sz="10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/ C : EBM/AEROS, </a:t>
                      </a:r>
                      <a:r>
                        <a:rPr kumimoji="1" lang="ko-KR" altLang="en-US" sz="9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다빈치 공정</a:t>
                      </a:r>
                      <a:r>
                        <a:rPr kumimoji="1" lang="en-US" altLang="ko-KR" sz="9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검사 </a:t>
                      </a:r>
                      <a:r>
                        <a:rPr kumimoji="1" lang="en-US" altLang="ko-KR" sz="9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br>
                        <a:rPr kumimoji="1" lang="en-US" altLang="ko-KR" sz="9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</a:t>
                      </a:r>
                      <a:r>
                        <a:rPr kumimoji="1" lang="ko-KR" altLang="en-US" sz="9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생태계 구축</a:t>
                      </a:r>
                      <a:br>
                        <a:rPr kumimoji="1" lang="ko-KR" altLang="en-US" sz="9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26.12</a:t>
                      </a:r>
                      <a:r>
                        <a:rPr kumimoji="1" lang="ko-KR" altLang="en-US" sz="9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90488" marR="0" lvl="0" indent="-555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b="1" kern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987729"/>
                  </a:ext>
                </a:extLst>
              </a:tr>
            </a:tbl>
          </a:graphicData>
        </a:graphic>
      </p:graphicFrame>
      <p:sp>
        <p:nvSpPr>
          <p:cNvPr id="12" name="Text Box 3">
            <a:extLst>
              <a:ext uri="{FF2B5EF4-FFF2-40B4-BE49-F238E27FC236}">
                <a16:creationId xmlns:a16="http://schemas.microsoft.com/office/drawing/2014/main" id="{FEFC288F-77CA-406B-9803-9093227EC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6699" y="115888"/>
            <a:ext cx="938325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algn="r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KPI </a:t>
            </a:r>
            <a:r>
              <a:rPr kumimoji="1"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수정안</a:t>
            </a:r>
            <a:endParaRPr kumimoji="1" lang="ko-KR" altLang="en-US" sz="1600" dirty="0">
              <a:solidFill>
                <a:prstClr val="black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1" name="실행 단추: 앞으로 또는 다음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27716D6-DE28-C225-C7D7-EEC51F8F4BEB}"/>
              </a:ext>
            </a:extLst>
          </p:cNvPr>
          <p:cNvSpPr/>
          <p:nvPr/>
        </p:nvSpPr>
        <p:spPr>
          <a:xfrm>
            <a:off x="6131319" y="999321"/>
            <a:ext cx="140400" cy="13320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E86E6-57D7-4FCA-8318-6CA28D5A88FF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- 1 / 1 -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8ED68-1B38-1AA8-D2AA-81D644FE677E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품질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담당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송영민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7482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092C-06C5-D484-F1E7-7F7F80B7C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E3B08520-1321-C2D9-EA71-C4A8074C1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273850"/>
              </p:ext>
            </p:extLst>
          </p:nvPr>
        </p:nvGraphicFramePr>
        <p:xfrm>
          <a:off x="917420" y="620689"/>
          <a:ext cx="8797255" cy="5967888"/>
        </p:xfrm>
        <a:graphic>
          <a:graphicData uri="http://schemas.openxmlformats.org/drawingml/2006/table">
            <a:tbl>
              <a:tblPr/>
              <a:tblGrid>
                <a:gridCol w="791333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377878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570935">
                  <a:extLst>
                    <a:ext uri="{9D8B030D-6E8A-4147-A177-3AD203B41FA5}">
                      <a16:colId xmlns:a16="http://schemas.microsoft.com/office/drawing/2014/main" val="940625267"/>
                    </a:ext>
                  </a:extLst>
                </a:gridCol>
                <a:gridCol w="206656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64294">
                  <a:extLst>
                    <a:ext uri="{9D8B030D-6E8A-4147-A177-3AD203B41FA5}">
                      <a16:colId xmlns:a16="http://schemas.microsoft.com/office/drawing/2014/main" val="4057220351"/>
                    </a:ext>
                  </a:extLst>
                </a:gridCol>
                <a:gridCol w="812889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907258">
                  <a:extLst>
                    <a:ext uri="{9D8B030D-6E8A-4147-A177-3AD203B41FA5}">
                      <a16:colId xmlns:a16="http://schemas.microsoft.com/office/drawing/2014/main" val="2558446385"/>
                    </a:ext>
                  </a:extLst>
                </a:gridCol>
                <a:gridCol w="1094912">
                  <a:extLst>
                    <a:ext uri="{9D8B030D-6E8A-4147-A177-3AD203B41FA5}">
                      <a16:colId xmlns:a16="http://schemas.microsoft.com/office/drawing/2014/main" val="4074200436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209925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03836669"/>
                    </a:ext>
                  </a:extLst>
                </a:gridCol>
              </a:tblGrid>
              <a:tr h="3433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ko-KR" altLang="en-US"/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진척평가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439200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자동화</a:t>
                      </a:r>
                      <a:endParaRPr lang="ko-KR" altLang="en-US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marL="71755" marR="0" lvl="0" indent="-71755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수작업 업무 제거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C : 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시간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79.2hr/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절감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(9.9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절감효과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없음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신규과제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9535" marR="0" lvl="0" indent="-89535" algn="l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목표설정 근거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수작업으로 수행하거나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반복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중복적으로 실행하는 업무를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전환으로 효율성을 향상 시키고자 함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1) PPAP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문서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AX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 검증 체계를 통한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Workload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: 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매뉴얼 기반 문서작성 여부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검증 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Human error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발생 가능성 차단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2)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검교정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성적서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검토 및 자동 입력을 통한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Workload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: AI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 검증으로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오등록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차단 및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업무 완성도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향상​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3)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검사기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딥러닝을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활용한 수작업 업무 효율화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원통형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NFF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비전 알고리즘 자동 학습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배포와 딥러닝 모델 정합성 향상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4)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친환경문서 자동 검토를 통한 업무 효율화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유해물질문서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균질재질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친환경자재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자동판독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통한 품질 확보 및 효율화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설정목표에 대한 산출 로직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 전 업무 시간  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 후 업무 시간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 =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업무 단축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시간</a:t>
                      </a:r>
                      <a:r>
                        <a:rPr kumimoji="1" lang="en-US" altLang="ko-KR" sz="1000" b="1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br>
                        <a:rPr kumimoji="1" lang="en-US" altLang="ko-KR" sz="1000" b="1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1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[(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 전 업무 시간 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–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 후 업무 시간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/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년간 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 업무 시간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</a:t>
                      </a:r>
                      <a:b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=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인원 효율화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단위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명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현황분석 및 </a:t>
                      </a:r>
                      <a:r>
                        <a:rPr kumimoji="1" lang="ko-KR" altLang="en-US" sz="10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아키텍쳐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정의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FF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r>
                        <a:rPr lang="ko-KR" altLang="en-US" sz="2000" u="none" spc="-50" baseline="3000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00B05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43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검증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Tool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발굴 및 분석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학습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Agent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43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기능 구축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 및 적용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7779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[1Q]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현황분석 및 </a:t>
                      </a:r>
                      <a:r>
                        <a:rPr kumimoji="1" lang="ko-KR" altLang="en-US" sz="10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아키텍쳐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정의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자동 검증 대상 정의 및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AI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기술 활용한 개선 방안 도출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알고리즘 학습용 이미지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DFS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인프라 구축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[2Q] AX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검증 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Tool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학습 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Agent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AI OCR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기능 검토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및 추출 대상 정의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DAP – DFS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연계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Agent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 및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ESAZ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법인 환경 구축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7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[3Q]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기능 구축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 및 적용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PPAP AI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검토 자동화 기능 개발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검교정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성적서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AI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자동 </a:t>
                      </a:r>
                      <a:r>
                        <a:rPr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검증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기능 개발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검사기 학습용 이미지 자동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Upload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기능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Open</a:t>
                      </a: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DFS(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이미지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 / SPC(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데이터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 / DAP(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딥러닝 학습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연계환경 구축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유해물질 문서 판독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Agent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적용 및 정확도 검증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[4Q]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시스템 안정화 및 변화 관리</a:t>
                      </a:r>
                      <a:endParaRPr lang="en-US" altLang="ko-KR" sz="1000" b="0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67648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경쟁지표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971758"/>
                  </a:ext>
                </a:extLst>
              </a:tr>
              <a:tr h="16764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03302"/>
                  </a:ext>
                </a:extLst>
              </a:tr>
              <a:tr h="51016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95.0hr/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↑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87.1hr/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↑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79.2hr/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↑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63..4hr/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↑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 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63..4hr/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↓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xx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394541"/>
                  </a:ext>
                </a:extLst>
              </a:tr>
              <a:tr h="2520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기준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616984"/>
                  </a:ext>
                </a:extLst>
              </a:tr>
              <a:tr h="728172">
                <a:tc gridSpan="10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lang="ko-KR" altLang="en-US" sz="1000" b="1" i="0" u="none" strike="noStrike" kern="1200" spc="-3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등록 업무 인원 </a:t>
                      </a:r>
                      <a:r>
                        <a:rPr lang="ko-KR" altLang="en-US" sz="1000" b="1" i="0" u="none" strike="noStrike" kern="1200" spc="-3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lang="ko-KR" altLang="en-US" sz="1000" b="1" i="0" u="none" strike="noStrike" kern="1200" spc="-3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등록 업무 인원 </a:t>
                      </a:r>
                      <a:r>
                        <a:rPr lang="ko-KR" altLang="en-US" sz="1000" b="1" i="0" u="none" strike="noStrike" kern="1200" spc="-3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lang="ko-KR" altLang="en-US" sz="1000" b="1" i="0" u="none" strike="noStrike" kern="1200" spc="-3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등록 업무 인원 </a:t>
                      </a:r>
                      <a:r>
                        <a:rPr lang="ko-KR" altLang="en-US" sz="1000" b="1" i="0" u="none" strike="noStrike" kern="1200" spc="-3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lang="ko-KR" altLang="en-US" sz="1000" b="1" i="0" u="none" strike="noStrike" kern="1200" spc="-3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등록 업무 인원 </a:t>
                      </a:r>
                      <a:r>
                        <a:rPr lang="ko-KR" altLang="en-US" sz="1000" b="1" i="0" u="none" strike="noStrike" kern="1200" spc="-3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달성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Char char="•"/>
                        <a:tabLst>
                          <a:tab pos="0" algn="l"/>
                        </a:tabLst>
                        <a:defRPr/>
                      </a:pP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812589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1C64B8D1-6DEA-E143-8A6B-1B7807EECAE8}"/>
              </a:ext>
            </a:extLst>
          </p:cNvPr>
          <p:cNvSpPr/>
          <p:nvPr/>
        </p:nvSpPr>
        <p:spPr>
          <a:xfrm>
            <a:off x="200025" y="620688"/>
            <a:ext cx="576263" cy="59769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변경 후</a:t>
            </a: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5B5FDDB8-4BC5-F2B0-ECBA-DF0990693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2560" y="115888"/>
            <a:ext cx="2280039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➍ KPI 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수정 검토양식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상세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  <a:endParaRPr kumimoji="1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" name="실행 단추: 홈으로 이동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B78B393-2748-0F2D-886B-F4CEA3E2DB11}"/>
              </a:ext>
            </a:extLst>
          </p:cNvPr>
          <p:cNvSpPr/>
          <p:nvPr/>
        </p:nvSpPr>
        <p:spPr>
          <a:xfrm>
            <a:off x="9559720" y="92454"/>
            <a:ext cx="208721" cy="215315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82A376-2AB6-AA5F-897E-FEFF00FBA058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- 1 / 1 -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A348B4-92F5-13B9-9F3E-D175E49066DD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품질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담당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송영민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책임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9468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9_기본 디자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sz="1200" b="1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14256</TotalTime>
  <Words>8670</Words>
  <Application>Microsoft Office PowerPoint</Application>
  <PresentationFormat>A4 용지(210x297mm)</PresentationFormat>
  <Paragraphs>1031</Paragraphs>
  <Slides>17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17</vt:i4>
      </vt:variant>
    </vt:vector>
  </HeadingPairs>
  <TitlesOfParts>
    <vt:vector size="29" baseType="lpstr">
      <vt:lpstr>Arial,Sans-Serif</vt:lpstr>
      <vt:lpstr>LG스마트체 Regular</vt:lpstr>
      <vt:lpstr>굴림</vt:lpstr>
      <vt:lpstr>맑은 고딕</vt:lpstr>
      <vt:lpstr>Arial</vt:lpstr>
      <vt:lpstr>Arial Narrow</vt:lpstr>
      <vt:lpstr>Calibri</vt:lpstr>
      <vt:lpstr>Calibri Light</vt:lpstr>
      <vt:lpstr>Wingdings</vt:lpstr>
      <vt:lpstr>Office 테마</vt:lpstr>
      <vt:lpstr>19_기본 디자인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김대홍(DaehongKim)[daehong_kim]/책임/자동차.사업전략.사업전략팀</dc:creator>
  <cp:lastModifiedBy>이재후(JAEHU LEE)[jaehu]/사원/제조DX.기획팀</cp:lastModifiedBy>
  <cp:revision>784</cp:revision>
  <cp:lastPrinted>2025-03-26T08:19:46Z</cp:lastPrinted>
  <dcterms:created xsi:type="dcterms:W3CDTF">2025-01-20T23:43:33Z</dcterms:created>
  <dcterms:modified xsi:type="dcterms:W3CDTF">2026-09-08T00:21:59Z</dcterms:modified>
</cp:coreProperties>
</file>