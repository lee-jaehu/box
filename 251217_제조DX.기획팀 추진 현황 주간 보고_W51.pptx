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26" r:id="rId4"/>
  </p:sldMasterIdLst>
  <p:notesMasterIdLst>
    <p:notesMasterId r:id="rId56"/>
  </p:notesMasterIdLst>
  <p:handoutMasterIdLst>
    <p:handoutMasterId r:id="rId57"/>
  </p:handoutMasterIdLst>
  <p:sldIdLst>
    <p:sldId id="746" r:id="rId5"/>
    <p:sldId id="2278" r:id="rId6"/>
    <p:sldId id="2147481953" r:id="rId7"/>
    <p:sldId id="2147481967" r:id="rId8"/>
    <p:sldId id="2147481960" r:id="rId9"/>
    <p:sldId id="2147481954" r:id="rId10"/>
    <p:sldId id="2147481951" r:id="rId11"/>
    <p:sldId id="2147481942" r:id="rId12"/>
    <p:sldId id="2147481966" r:id="rId13"/>
    <p:sldId id="2147481957" r:id="rId14"/>
    <p:sldId id="2147481948" r:id="rId15"/>
    <p:sldId id="2147481910" r:id="rId16"/>
    <p:sldId id="2147481938" r:id="rId17"/>
    <p:sldId id="2147481883" r:id="rId18"/>
    <p:sldId id="2147481964" r:id="rId19"/>
    <p:sldId id="2147481921" r:id="rId20"/>
    <p:sldId id="2147481963" r:id="rId21"/>
    <p:sldId id="2147481944" r:id="rId22"/>
    <p:sldId id="2147481946" r:id="rId23"/>
    <p:sldId id="2147481940" r:id="rId24"/>
    <p:sldId id="2147481962" r:id="rId25"/>
    <p:sldId id="2147481925" r:id="rId26"/>
    <p:sldId id="2147481961" r:id="rId27"/>
    <p:sldId id="2147481935" r:id="rId28"/>
    <p:sldId id="2147481955" r:id="rId29"/>
    <p:sldId id="2147481945" r:id="rId30"/>
    <p:sldId id="2147481930" r:id="rId31"/>
    <p:sldId id="2147481931" r:id="rId32"/>
    <p:sldId id="2147481939" r:id="rId33"/>
    <p:sldId id="2147481936" r:id="rId34"/>
    <p:sldId id="2147481912" r:id="rId35"/>
    <p:sldId id="2147481929" r:id="rId36"/>
    <p:sldId id="2147481932" r:id="rId37"/>
    <p:sldId id="2147481933" r:id="rId38"/>
    <p:sldId id="2147481919" r:id="rId39"/>
    <p:sldId id="2147481926" r:id="rId40"/>
    <p:sldId id="2147481913" r:id="rId41"/>
    <p:sldId id="2147481911" r:id="rId42"/>
    <p:sldId id="2147481915" r:id="rId43"/>
    <p:sldId id="2147481891" r:id="rId44"/>
    <p:sldId id="2147481885" r:id="rId45"/>
    <p:sldId id="2147481892" r:id="rId46"/>
    <p:sldId id="2147481916" r:id="rId47"/>
    <p:sldId id="2147481920" r:id="rId48"/>
    <p:sldId id="2147481914" r:id="rId49"/>
    <p:sldId id="2147481918" r:id="rId50"/>
    <p:sldId id="2147481884" r:id="rId51"/>
    <p:sldId id="2147481934" r:id="rId52"/>
    <p:sldId id="2147481956" r:id="rId53"/>
    <p:sldId id="2147481950" r:id="rId54"/>
    <p:sldId id="2147481958" r:id="rId5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조지능화 추진 현황" id="{757319E2-B87E-41C3-A0CA-96E8E34394ED}">
          <p14:sldIdLst>
            <p14:sldId id="746"/>
            <p14:sldId id="2278"/>
          </p14:sldIdLst>
        </p14:section>
        <p14:section name="1. 과제 진행 현황_기획팀" id="{FE3C852B-9504-4B85-B18D-C0C284D185BE}">
          <p14:sldIdLst>
            <p14:sldId id="2147481953"/>
            <p14:sldId id="2147481967"/>
            <p14:sldId id="2147481960"/>
            <p14:sldId id="2147481954"/>
            <p14:sldId id="2147481951"/>
            <p14:sldId id="2147481942"/>
            <p14:sldId id="2147481966"/>
            <p14:sldId id="2147481957"/>
            <p14:sldId id="2147481948"/>
            <p14:sldId id="2147481910"/>
            <p14:sldId id="2147481938"/>
            <p14:sldId id="2147481883"/>
            <p14:sldId id="2147481964"/>
            <p14:sldId id="2147481921"/>
            <p14:sldId id="2147481963"/>
            <p14:sldId id="2147481944"/>
            <p14:sldId id="2147481946"/>
            <p14:sldId id="2147481940"/>
            <p14:sldId id="2147481962"/>
            <p14:sldId id="2147481925"/>
            <p14:sldId id="2147481961"/>
            <p14:sldId id="2147481935"/>
            <p14:sldId id="2147481955"/>
            <p14:sldId id="2147481945"/>
            <p14:sldId id="2147481930"/>
            <p14:sldId id="2147481931"/>
            <p14:sldId id="2147481939"/>
            <p14:sldId id="2147481936"/>
            <p14:sldId id="2147481912"/>
            <p14:sldId id="2147481929"/>
            <p14:sldId id="2147481932"/>
            <p14:sldId id="2147481933"/>
            <p14:sldId id="2147481919"/>
            <p14:sldId id="2147481926"/>
            <p14:sldId id="2147481913"/>
            <p14:sldId id="2147481911"/>
            <p14:sldId id="2147481915"/>
            <p14:sldId id="2147481891"/>
            <p14:sldId id="2147481885"/>
            <p14:sldId id="2147481892"/>
            <p14:sldId id="2147481916"/>
            <p14:sldId id="2147481920"/>
            <p14:sldId id="2147481914"/>
            <p14:sldId id="2147481918"/>
            <p14:sldId id="2147481884"/>
            <p14:sldId id="2147481934"/>
            <p14:sldId id="2147481956"/>
            <p14:sldId id="2147481950"/>
            <p14:sldId id="21474819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1414FE"/>
    <a:srgbClr val="008000"/>
    <a:srgbClr val="FFFF00"/>
    <a:srgbClr val="000000"/>
    <a:srgbClr val="FFFFCC"/>
    <a:srgbClr val="FFC000"/>
    <a:srgbClr val="339933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216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commentAuthors" Target="commentAuthors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정윤(JUNGYOUN JUNG)[jungyun.jung]/책임/제조DX.기획팀" userId="17ca600b-9b76-4936-af22-4427d2c446b2" providerId="ADAL" clId="{A0D634B2-696F-4F8E-A44B-1AF783728B0F}"/>
    <pc:docChg chg="custSel modSld">
      <pc:chgData name="정정윤(JUNGYOUN JUNG)[jungyun.jung]/책임/제조DX.기획팀" userId="17ca600b-9b76-4936-af22-4427d2c446b2" providerId="ADAL" clId="{A0D634B2-696F-4F8E-A44B-1AF783728B0F}" dt="2025-12-10T05:18:50.977" v="1476" actId="20577"/>
      <pc:docMkLst>
        <pc:docMk/>
      </pc:docMkLst>
      <pc:sldChg chg="modSp mod">
        <pc:chgData name="정정윤(JUNGYOUN JUNG)[jungyun.jung]/책임/제조DX.기획팀" userId="17ca600b-9b76-4936-af22-4427d2c446b2" providerId="ADAL" clId="{A0D634B2-696F-4F8E-A44B-1AF783728B0F}" dt="2025-12-10T05:18:50.977" v="1476" actId="20577"/>
        <pc:sldMkLst>
          <pc:docMk/>
          <pc:sldMk cId="748844535" sldId="2147481953"/>
        </pc:sldMkLst>
        <pc:spChg chg="mod">
          <ac:chgData name="정정윤(JUNGYOUN JUNG)[jungyun.jung]/책임/제조DX.기획팀" userId="17ca600b-9b76-4936-af22-4427d2c446b2" providerId="ADAL" clId="{A0D634B2-696F-4F8E-A44B-1AF783728B0F}" dt="2025-12-10T05:17:33.026" v="1407" actId="20577"/>
          <ac:spMkLst>
            <pc:docMk/>
            <pc:sldMk cId="748844535" sldId="2147481953"/>
            <ac:spMk id="5" creationId="{57EE8376-1042-449C-B823-F39F4DD715DC}"/>
          </ac:spMkLst>
        </pc:spChg>
        <pc:graphicFrameChg chg="mod modGraphic">
          <ac:chgData name="정정윤(JUNGYOUN JUNG)[jungyun.jung]/책임/제조DX.기획팀" userId="17ca600b-9b76-4936-af22-4427d2c446b2" providerId="ADAL" clId="{A0D634B2-696F-4F8E-A44B-1AF783728B0F}" dt="2025-12-10T05:18:50.977" v="1476" actId="20577"/>
          <ac:graphicFrameMkLst>
            <pc:docMk/>
            <pc:sldMk cId="748844535" sldId="2147481953"/>
            <ac:graphicFrameMk id="2" creationId="{D9C6C542-2C2E-4A1B-8A21-6D6D3ECD449F}"/>
          </ac:graphicFrameMkLst>
        </pc:graphicFrameChg>
      </pc:sldChg>
    </pc:docChg>
  </pc:docChgLst>
  <pc:docChgLst>
    <pc:chgData name="이정연(JEONGYEON LEE)[lotusy]/사원/제조DX.기획팀" userId="3d2f8fd7-90a7-4554-92c1-4e1f447c4093" providerId="ADAL" clId="{BB1448EE-3045-4545-A421-8FBF921F27A3}"/>
    <pc:docChg chg="custSel modSld">
      <pc:chgData name="이정연(JEONGYEON LEE)[lotusy]/사원/제조DX.기획팀" userId="3d2f8fd7-90a7-4554-92c1-4e1f447c4093" providerId="ADAL" clId="{BB1448EE-3045-4545-A421-8FBF921F27A3}" dt="2025-12-16T02:17:44.932" v="418" actId="20577"/>
      <pc:docMkLst>
        <pc:docMk/>
      </pc:docMkLst>
      <pc:sldChg chg="modSp mod">
        <pc:chgData name="이정연(JEONGYEON LEE)[lotusy]/사원/제조DX.기획팀" userId="3d2f8fd7-90a7-4554-92c1-4e1f447c4093" providerId="ADAL" clId="{BB1448EE-3045-4545-A421-8FBF921F27A3}" dt="2025-12-16T02:17:44.932" v="418" actId="20577"/>
        <pc:sldMkLst>
          <pc:docMk/>
          <pc:sldMk cId="256222476" sldId="2147481925"/>
        </pc:sldMkLst>
        <pc:spChg chg="mod">
          <ac:chgData name="이정연(JEONGYEON LEE)[lotusy]/사원/제조DX.기획팀" userId="3d2f8fd7-90a7-4554-92c1-4e1f447c4093" providerId="ADAL" clId="{BB1448EE-3045-4545-A421-8FBF921F27A3}" dt="2025-12-16T02:16:06.408" v="21" actId="20577"/>
          <ac:spMkLst>
            <pc:docMk/>
            <pc:sldMk cId="256222476" sldId="2147481925"/>
            <ac:spMk id="9" creationId="{B5840AC6-D288-4190-89A9-88F0476A4F12}"/>
          </ac:spMkLst>
        </pc:spChg>
        <pc:graphicFrameChg chg="mod modGraphic">
          <ac:chgData name="이정연(JEONGYEON LEE)[lotusy]/사원/제조DX.기획팀" userId="3d2f8fd7-90a7-4554-92c1-4e1f447c4093" providerId="ADAL" clId="{BB1448EE-3045-4545-A421-8FBF921F27A3}" dt="2025-12-16T02:17:44.932" v="418" actId="20577"/>
          <ac:graphicFrameMkLst>
            <pc:docMk/>
            <pc:sldMk cId="256222476" sldId="2147481925"/>
            <ac:graphicFrameMk id="3" creationId="{3E86696F-E35A-4B06-9B46-63A4A6A986C1}"/>
          </ac:graphicFrameMkLst>
        </pc:graphicFrameChg>
      </pc:sldChg>
      <pc:sldChg chg="modSp mod">
        <pc:chgData name="이정연(JEONGYEON LEE)[lotusy]/사원/제조DX.기획팀" userId="3d2f8fd7-90a7-4554-92c1-4e1f447c4093" providerId="ADAL" clId="{BB1448EE-3045-4545-A421-8FBF921F27A3}" dt="2025-12-16T02:15:32.649" v="1" actId="20577"/>
        <pc:sldMkLst>
          <pc:docMk/>
          <pc:sldMk cId="1905048286" sldId="2147481938"/>
        </pc:sldMkLst>
        <pc:spChg chg="mod">
          <ac:chgData name="이정연(JEONGYEON LEE)[lotusy]/사원/제조DX.기획팀" userId="3d2f8fd7-90a7-4554-92c1-4e1f447c4093" providerId="ADAL" clId="{BB1448EE-3045-4545-A421-8FBF921F27A3}" dt="2025-12-16T02:15:32.649" v="1" actId="20577"/>
          <ac:spMkLst>
            <pc:docMk/>
            <pc:sldMk cId="1905048286" sldId="2147481938"/>
            <ac:spMk id="9" creationId="{B5840AC6-D288-4190-89A9-88F0476A4F12}"/>
          </ac:spMkLst>
        </pc:spChg>
      </pc:sldChg>
      <pc:sldChg chg="modSp mod">
        <pc:chgData name="이정연(JEONGYEON LEE)[lotusy]/사원/제조DX.기획팀" userId="3d2f8fd7-90a7-4554-92c1-4e1f447c4093" providerId="ADAL" clId="{BB1448EE-3045-4545-A421-8FBF921F27A3}" dt="2025-12-16T02:16:10.704" v="23" actId="20577"/>
        <pc:sldMkLst>
          <pc:docMk/>
          <pc:sldMk cId="3327369779" sldId="2147481962"/>
        </pc:sldMkLst>
        <pc:spChg chg="mod">
          <ac:chgData name="이정연(JEONGYEON LEE)[lotusy]/사원/제조DX.기획팀" userId="3d2f8fd7-90a7-4554-92c1-4e1f447c4093" providerId="ADAL" clId="{BB1448EE-3045-4545-A421-8FBF921F27A3}" dt="2025-12-16T02:16:10.704" v="23" actId="20577"/>
          <ac:spMkLst>
            <pc:docMk/>
            <pc:sldMk cId="3327369779" sldId="2147481962"/>
            <ac:spMk id="9" creationId="{B5840AC6-D288-4190-89A9-88F0476A4F12}"/>
          </ac:spMkLst>
        </pc:spChg>
        <pc:graphicFrameChg chg="mod modGraphic">
          <ac:chgData name="이정연(JEONGYEON LEE)[lotusy]/사원/제조DX.기획팀" userId="3d2f8fd7-90a7-4554-92c1-4e1f447c4093" providerId="ADAL" clId="{BB1448EE-3045-4545-A421-8FBF921F27A3}" dt="2025-12-16T02:16:00.508" v="19" actId="6549"/>
          <ac:graphicFrameMkLst>
            <pc:docMk/>
            <pc:sldMk cId="3327369779" sldId="2147481962"/>
            <ac:graphicFrameMk id="3" creationId="{3E86696F-E35A-4B06-9B46-63A4A6A986C1}"/>
          </ac:graphicFrameMkLst>
        </pc:graphicFrameChg>
      </pc:sldChg>
    </pc:docChg>
  </pc:docChgLst>
  <pc:docChgLst>
    <pc:chgData name="이정연(JEONGYEON LEE)[lotusy]/사원/제조DX.기획팀" userId="3d2f8fd7-90a7-4554-92c1-4e1f447c4093" providerId="ADAL" clId="{D009690A-A0A3-4A00-A752-C36E9F4F66A4}"/>
    <pc:docChg chg="custSel modSld">
      <pc:chgData name="이정연(JEONGYEON LEE)[lotusy]/사원/제조DX.기획팀" userId="3d2f8fd7-90a7-4554-92c1-4e1f447c4093" providerId="ADAL" clId="{D009690A-A0A3-4A00-A752-C36E9F4F66A4}" dt="2025-12-03T00:59:06.256" v="432" actId="20577"/>
      <pc:docMkLst>
        <pc:docMk/>
      </pc:docMkLst>
      <pc:sldChg chg="modSp mod">
        <pc:chgData name="이정연(JEONGYEON LEE)[lotusy]/사원/제조DX.기획팀" userId="3d2f8fd7-90a7-4554-92c1-4e1f447c4093" providerId="ADAL" clId="{D009690A-A0A3-4A00-A752-C36E9F4F66A4}" dt="2025-12-03T00:59:06.256" v="432" actId="20577"/>
        <pc:sldMkLst>
          <pc:docMk/>
          <pc:sldMk cId="256222476" sldId="2147481925"/>
        </pc:sldMkLst>
        <pc:spChg chg="mod">
          <ac:chgData name="이정연(JEONGYEON LEE)[lotusy]/사원/제조DX.기획팀" userId="3d2f8fd7-90a7-4554-92c1-4e1f447c4093" providerId="ADAL" clId="{D009690A-A0A3-4A00-A752-C36E9F4F66A4}" dt="2025-12-03T00:59:06.256" v="432" actId="20577"/>
          <ac:spMkLst>
            <pc:docMk/>
            <pc:sldMk cId="256222476" sldId="2147481925"/>
            <ac:spMk id="9" creationId="{B5840AC6-D288-4190-89A9-88F0476A4F12}"/>
          </ac:spMkLst>
        </pc:spChg>
      </pc:sldChg>
      <pc:sldChg chg="modSp mod">
        <pc:chgData name="이정연(JEONGYEON LEE)[lotusy]/사원/제조DX.기획팀" userId="3d2f8fd7-90a7-4554-92c1-4e1f447c4093" providerId="ADAL" clId="{D009690A-A0A3-4A00-A752-C36E9F4F66A4}" dt="2025-12-03T00:42:20.518" v="43" actId="20577"/>
        <pc:sldMkLst>
          <pc:docMk/>
          <pc:sldMk cId="1905048286" sldId="2147481938"/>
        </pc:sldMkLst>
        <pc:spChg chg="mod">
          <ac:chgData name="이정연(JEONGYEON LEE)[lotusy]/사원/제조DX.기획팀" userId="3d2f8fd7-90a7-4554-92c1-4e1f447c4093" providerId="ADAL" clId="{D009690A-A0A3-4A00-A752-C36E9F4F66A4}" dt="2025-12-03T00:42:20.518" v="43" actId="20577"/>
          <ac:spMkLst>
            <pc:docMk/>
            <pc:sldMk cId="1905048286" sldId="2147481938"/>
            <ac:spMk id="9" creationId="{B5840AC6-D288-4190-89A9-88F0476A4F12}"/>
          </ac:spMkLst>
        </pc:spChg>
        <pc:graphicFrameChg chg="mod modGraphic">
          <ac:chgData name="이정연(JEONGYEON LEE)[lotusy]/사원/제조DX.기획팀" userId="3d2f8fd7-90a7-4554-92c1-4e1f447c4093" providerId="ADAL" clId="{D009690A-A0A3-4A00-A752-C36E9F4F66A4}" dt="2025-12-03T00:42:17.501" v="36"/>
          <ac:graphicFrameMkLst>
            <pc:docMk/>
            <pc:sldMk cId="1905048286" sldId="2147481938"/>
            <ac:graphicFrameMk id="3" creationId="{3E86696F-E35A-4B06-9B46-63A4A6A986C1}"/>
          </ac:graphicFrameMkLst>
        </pc:graphicFrameChg>
      </pc:sldChg>
      <pc:sldChg chg="addSp delSp modSp mod">
        <pc:chgData name="이정연(JEONGYEON LEE)[lotusy]/사원/제조DX.기획팀" userId="3d2f8fd7-90a7-4554-92c1-4e1f447c4093" providerId="ADAL" clId="{D009690A-A0A3-4A00-A752-C36E9F4F66A4}" dt="2025-12-03T00:58:59.084" v="427" actId="20577"/>
        <pc:sldMkLst>
          <pc:docMk/>
          <pc:sldMk cId="3327369779" sldId="2147481962"/>
        </pc:sldMkLst>
        <pc:spChg chg="mod">
          <ac:chgData name="이정연(JEONGYEON LEE)[lotusy]/사원/제조DX.기획팀" userId="3d2f8fd7-90a7-4554-92c1-4e1f447c4093" providerId="ADAL" clId="{D009690A-A0A3-4A00-A752-C36E9F4F66A4}" dt="2025-12-03T00:42:36.149" v="52" actId="20577"/>
          <ac:spMkLst>
            <pc:docMk/>
            <pc:sldMk cId="3327369779" sldId="2147481962"/>
            <ac:spMk id="9" creationId="{B5840AC6-D288-4190-89A9-88F0476A4F12}"/>
          </ac:spMkLst>
        </pc:spChg>
        <pc:graphicFrameChg chg="add del mod modGraphic">
          <ac:chgData name="이정연(JEONGYEON LEE)[lotusy]/사원/제조DX.기획팀" userId="3d2f8fd7-90a7-4554-92c1-4e1f447c4093" providerId="ADAL" clId="{D009690A-A0A3-4A00-A752-C36E9F4F66A4}" dt="2025-12-03T00:58:01.199" v="167" actId="478"/>
          <ac:graphicFrameMkLst>
            <pc:docMk/>
            <pc:sldMk cId="3327369779" sldId="2147481962"/>
            <ac:graphicFrameMk id="2" creationId="{9734FA54-C2F5-D8A6-D17B-C3B9512779F0}"/>
          </ac:graphicFrameMkLst>
        </pc:graphicFrameChg>
        <pc:graphicFrameChg chg="mod modGraphic">
          <ac:chgData name="이정연(JEONGYEON LEE)[lotusy]/사원/제조DX.기획팀" userId="3d2f8fd7-90a7-4554-92c1-4e1f447c4093" providerId="ADAL" clId="{D009690A-A0A3-4A00-A752-C36E9F4F66A4}" dt="2025-12-03T00:58:59.084" v="427" actId="20577"/>
          <ac:graphicFrameMkLst>
            <pc:docMk/>
            <pc:sldMk cId="3327369779" sldId="2147481962"/>
            <ac:graphicFrameMk id="3" creationId="{3E86696F-E35A-4B06-9B46-63A4A6A986C1}"/>
          </ac:graphicFrameMkLst>
        </pc:graphicFrameChg>
        <pc:graphicFrameChg chg="add del mod modGraphic">
          <ac:chgData name="이정연(JEONGYEON LEE)[lotusy]/사원/제조DX.기획팀" userId="3d2f8fd7-90a7-4554-92c1-4e1f447c4093" providerId="ADAL" clId="{D009690A-A0A3-4A00-A752-C36E9F4F66A4}" dt="2025-12-03T00:58:11.263" v="171" actId="478"/>
          <ac:graphicFrameMkLst>
            <pc:docMk/>
            <pc:sldMk cId="3327369779" sldId="2147481962"/>
            <ac:graphicFrameMk id="4" creationId="{852F9902-44A9-3FAA-2861-FEE431B0AA69}"/>
          </ac:graphicFrameMkLst>
        </pc:graphicFrameChg>
        <pc:graphicFrameChg chg="add mod modGraphic">
          <ac:chgData name="이정연(JEONGYEON LEE)[lotusy]/사원/제조DX.기획팀" userId="3d2f8fd7-90a7-4554-92c1-4e1f447c4093" providerId="ADAL" clId="{D009690A-A0A3-4A00-A752-C36E9F4F66A4}" dt="2025-12-03T00:58:09.836" v="170" actId="14100"/>
          <ac:graphicFrameMkLst>
            <pc:docMk/>
            <pc:sldMk cId="3327369779" sldId="2147481962"/>
            <ac:graphicFrameMk id="6" creationId="{353537E7-520B-879F-BBB9-CCC736F5DEC8}"/>
          </ac:graphicFrameMkLst>
        </pc:graphicFrameChg>
        <pc:graphicFrameChg chg="add mod modGraphic">
          <ac:chgData name="이정연(JEONGYEON LEE)[lotusy]/사원/제조DX.기획팀" userId="3d2f8fd7-90a7-4554-92c1-4e1f447c4093" providerId="ADAL" clId="{D009690A-A0A3-4A00-A752-C36E9F4F66A4}" dt="2025-12-03T00:58:21.499" v="174" actId="14100"/>
          <ac:graphicFrameMkLst>
            <pc:docMk/>
            <pc:sldMk cId="3327369779" sldId="2147481962"/>
            <ac:graphicFrameMk id="8" creationId="{19615328-566E-1744-E22E-D260CD3EE6D9}"/>
          </ac:graphicFrameMkLst>
        </pc:graphicFrameChg>
        <pc:graphicFrameChg chg="del mod">
          <ac:chgData name="이정연(JEONGYEON LEE)[lotusy]/사원/제조DX.기획팀" userId="3d2f8fd7-90a7-4554-92c1-4e1f447c4093" providerId="ADAL" clId="{D009690A-A0A3-4A00-A752-C36E9F4F66A4}" dt="2025-12-03T00:43:17.574" v="54" actId="478"/>
          <ac:graphicFrameMkLst>
            <pc:docMk/>
            <pc:sldMk cId="3327369779" sldId="2147481962"/>
            <ac:graphicFrameMk id="10" creationId="{223FF4A4-CA5A-4E0A-93DA-CD20E65FCD99}"/>
          </ac:graphicFrameMkLst>
        </pc:graphicFrameChg>
        <pc:graphicFrameChg chg="del">
          <ac:chgData name="이정연(JEONGYEON LEE)[lotusy]/사원/제조DX.기획팀" userId="3d2f8fd7-90a7-4554-92c1-4e1f447c4093" providerId="ADAL" clId="{D009690A-A0A3-4A00-A752-C36E9F4F66A4}" dt="2025-12-03T00:43:29.383" v="58" actId="478"/>
          <ac:graphicFrameMkLst>
            <pc:docMk/>
            <pc:sldMk cId="3327369779" sldId="2147481962"/>
            <ac:graphicFrameMk id="13" creationId="{C8471771-F58E-42CE-9EAD-13DA12929CAC}"/>
          </ac:graphicFrameMkLst>
        </pc:graphicFrameChg>
      </pc:sldChg>
    </pc:docChg>
  </pc:docChgLst>
  <pc:docChgLst>
    <pc:chgData name="이재후(JAEHU LEE)[jaehu]/사원/제조DX.기획팀" userId="ba3706c8-877b-448c-835e-ccf5ef4fa863" providerId="ADAL" clId="{5A3C3052-840C-41E4-868D-BB5524B9962D}"/>
    <pc:docChg chg="custSel modSld">
      <pc:chgData name="이재후(JAEHU LEE)[jaehu]/사원/제조DX.기획팀" userId="ba3706c8-877b-448c-835e-ccf5ef4fa863" providerId="ADAL" clId="{5A3C3052-840C-41E4-868D-BB5524B9962D}" dt="2025-12-09T02:22:54.628" v="57" actId="20577"/>
      <pc:docMkLst>
        <pc:docMk/>
      </pc:docMkLst>
      <pc:sldChg chg="modSp mod">
        <pc:chgData name="이재후(JAEHU LEE)[jaehu]/사원/제조DX.기획팀" userId="ba3706c8-877b-448c-835e-ccf5ef4fa863" providerId="ADAL" clId="{5A3C3052-840C-41E4-868D-BB5524B9962D}" dt="2025-12-09T02:20:51.948" v="3" actId="20577"/>
        <pc:sldMkLst>
          <pc:docMk/>
          <pc:sldMk cId="2751367990" sldId="746"/>
        </pc:sldMkLst>
        <pc:spChg chg="mod">
          <ac:chgData name="이재후(JAEHU LEE)[jaehu]/사원/제조DX.기획팀" userId="ba3706c8-877b-448c-835e-ccf5ef4fa863" providerId="ADAL" clId="{5A3C3052-840C-41E4-868D-BB5524B9962D}" dt="2025-12-09T02:20:51.948" v="3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modSp mod">
        <pc:chgData name="이재후(JAEHU LEE)[jaehu]/사원/제조DX.기획팀" userId="ba3706c8-877b-448c-835e-ccf5ef4fa863" providerId="ADAL" clId="{5A3C3052-840C-41E4-868D-BB5524B9962D}" dt="2025-12-09T02:21:01.487" v="4" actId="207"/>
        <pc:sldMkLst>
          <pc:docMk/>
          <pc:sldMk cId="3266697761" sldId="2278"/>
        </pc:sldMkLst>
        <pc:spChg chg="mod">
          <ac:chgData name="이재후(JAEHU LEE)[jaehu]/사원/제조DX.기획팀" userId="ba3706c8-877b-448c-835e-ccf5ef4fa863" providerId="ADAL" clId="{5A3C3052-840C-41E4-868D-BB5524B9962D}" dt="2025-12-09T02:21:01.487" v="4" actId="207"/>
          <ac:spMkLst>
            <pc:docMk/>
            <pc:sldMk cId="3266697761" sldId="2278"/>
            <ac:spMk id="7" creationId="{89D4B324-277C-4D43-94A6-E585665C7CD5}"/>
          </ac:spMkLst>
        </pc:spChg>
        <pc:spChg chg="mod">
          <ac:chgData name="이재후(JAEHU LEE)[jaehu]/사원/제조DX.기획팀" userId="ba3706c8-877b-448c-835e-ccf5ef4fa863" providerId="ADAL" clId="{5A3C3052-840C-41E4-868D-BB5524B9962D}" dt="2025-12-09T02:21:01.487" v="4" actId="207"/>
          <ac:spMkLst>
            <pc:docMk/>
            <pc:sldMk cId="3266697761" sldId="2278"/>
            <ac:spMk id="8" creationId="{173AF454-BA1E-4DDA-A247-11F709DB6CF2}"/>
          </ac:spMkLst>
        </pc:spChg>
        <pc:spChg chg="mod">
          <ac:chgData name="이재후(JAEHU LEE)[jaehu]/사원/제조DX.기획팀" userId="ba3706c8-877b-448c-835e-ccf5ef4fa863" providerId="ADAL" clId="{5A3C3052-840C-41E4-868D-BB5524B9962D}" dt="2025-12-09T02:21:01.487" v="4" actId="207"/>
          <ac:spMkLst>
            <pc:docMk/>
            <pc:sldMk cId="3266697761" sldId="2278"/>
            <ac:spMk id="12" creationId="{F5AF6C6D-537A-4009-A822-082640F0DDD5}"/>
          </ac:spMkLst>
        </pc:spChg>
        <pc:spChg chg="mod">
          <ac:chgData name="이재후(JAEHU LEE)[jaehu]/사원/제조DX.기획팀" userId="ba3706c8-877b-448c-835e-ccf5ef4fa863" providerId="ADAL" clId="{5A3C3052-840C-41E4-868D-BB5524B9962D}" dt="2025-12-09T02:21:01.487" v="4" actId="207"/>
          <ac:spMkLst>
            <pc:docMk/>
            <pc:sldMk cId="3266697761" sldId="2278"/>
            <ac:spMk id="13" creationId="{E1757AD5-F069-4840-92A4-691371A30877}"/>
          </ac:spMkLst>
        </pc:spChg>
      </pc:sldChg>
      <pc:sldChg chg="modSp mod">
        <pc:chgData name="이재후(JAEHU LEE)[jaehu]/사원/제조DX.기획팀" userId="ba3706c8-877b-448c-835e-ccf5ef4fa863" providerId="ADAL" clId="{5A3C3052-840C-41E4-868D-BB5524B9962D}" dt="2025-12-09T02:22:28.768" v="45" actId="20577"/>
        <pc:sldMkLst>
          <pc:docMk/>
          <pc:sldMk cId="44733976" sldId="2147481883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2:28.768" v="45" actId="20577"/>
          <ac:graphicFrameMkLst>
            <pc:docMk/>
            <pc:sldMk cId="44733976" sldId="2147481883"/>
            <ac:graphicFrameMk id="9" creationId="{05FC5328-2198-4089-99D2-3C663AE66700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2:16.512" v="37" actId="207"/>
        <pc:sldMkLst>
          <pc:docMk/>
          <pc:sldMk cId="2649124581" sldId="2147481910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2:16.512" v="37" actId="207"/>
          <ac:graphicFrameMkLst>
            <pc:docMk/>
            <pc:sldMk cId="2649124581" sldId="2147481910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2:41.229" v="49" actId="20577"/>
        <pc:sldMkLst>
          <pc:docMk/>
          <pc:sldMk cId="2804836000" sldId="2147481921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2:41.229" v="49" actId="20577"/>
          <ac:graphicFrameMkLst>
            <pc:docMk/>
            <pc:sldMk cId="2804836000" sldId="2147481921"/>
            <ac:graphicFrameMk id="9" creationId="{05FC5328-2198-4089-99D2-3C663AE66700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2:54.628" v="57" actId="20577"/>
        <pc:sldMkLst>
          <pc:docMk/>
          <pc:sldMk cId="256222476" sldId="2147481925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2:54.628" v="57" actId="20577"/>
          <ac:graphicFrameMkLst>
            <pc:docMk/>
            <pc:sldMk cId="256222476" sldId="2147481925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2:22.775" v="41" actId="20577"/>
        <pc:sldMkLst>
          <pc:docMk/>
          <pc:sldMk cId="1905048286" sldId="2147481938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2:22.775" v="41" actId="20577"/>
          <ac:graphicFrameMkLst>
            <pc:docMk/>
            <pc:sldMk cId="1905048286" sldId="2147481938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1:48.548" v="24" actId="207"/>
        <pc:sldMkLst>
          <pc:docMk/>
          <pc:sldMk cId="1990289466" sldId="2147481942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1:48.548" v="24" actId="207"/>
          <ac:graphicFrameMkLst>
            <pc:docMk/>
            <pc:sldMk cId="1990289466" sldId="2147481942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2:04.553" v="32" actId="20577"/>
        <pc:sldMkLst>
          <pc:docMk/>
          <pc:sldMk cId="294245755" sldId="2147481948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2:04.553" v="32" actId="20577"/>
          <ac:graphicFrameMkLst>
            <pc:docMk/>
            <pc:sldMk cId="294245755" sldId="2147481948"/>
            <ac:graphicFrameMk id="35" creationId="{1253D908-610B-44F3-BFC0-7E83108DB8C6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1:38.171" v="19" actId="207"/>
        <pc:sldMkLst>
          <pc:docMk/>
          <pc:sldMk cId="2744705665" sldId="2147481951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1:38.171" v="19" actId="207"/>
          <ac:graphicFrameMkLst>
            <pc:docMk/>
            <pc:sldMk cId="2744705665" sldId="2147481951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1:13.801" v="9" actId="207"/>
        <pc:sldMkLst>
          <pc:docMk/>
          <pc:sldMk cId="748844535" sldId="2147481953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1:13.801" v="9" actId="207"/>
          <ac:graphicFrameMkLst>
            <pc:docMk/>
            <pc:sldMk cId="748844535" sldId="2147481953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1:29.914" v="14" actId="207"/>
        <pc:sldMkLst>
          <pc:docMk/>
          <pc:sldMk cId="2942103815" sldId="2147481954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1:29.914" v="14" actId="207"/>
          <ac:graphicFrameMkLst>
            <pc:docMk/>
            <pc:sldMk cId="2942103815" sldId="2147481954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1:57.872" v="28" actId="20577"/>
        <pc:sldMkLst>
          <pc:docMk/>
          <pc:sldMk cId="1696538127" sldId="2147481957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1:57.872" v="28" actId="20577"/>
          <ac:graphicFrameMkLst>
            <pc:docMk/>
            <pc:sldMk cId="1696538127" sldId="2147481957"/>
            <ac:graphicFrameMk id="35" creationId="{1253D908-610B-44F3-BFC0-7E83108DB8C6}"/>
          </ac:graphicFrameMkLst>
        </pc:graphicFrameChg>
      </pc:sldChg>
      <pc:sldChg chg="modSp mod">
        <pc:chgData name="이재후(JAEHU LEE)[jaehu]/사원/제조DX.기획팀" userId="ba3706c8-877b-448c-835e-ccf5ef4fa863" providerId="ADAL" clId="{5A3C3052-840C-41E4-868D-BB5524B9962D}" dt="2025-12-09T02:22:49.168" v="53" actId="20577"/>
        <pc:sldMkLst>
          <pc:docMk/>
          <pc:sldMk cId="3327369779" sldId="2147481962"/>
        </pc:sldMkLst>
        <pc:graphicFrameChg chg="modGraphic">
          <ac:chgData name="이재후(JAEHU LEE)[jaehu]/사원/제조DX.기획팀" userId="ba3706c8-877b-448c-835e-ccf5ef4fa863" providerId="ADAL" clId="{5A3C3052-840C-41E4-868D-BB5524B9962D}" dt="2025-12-09T02:22:49.168" v="53" actId="20577"/>
          <ac:graphicFrameMkLst>
            <pc:docMk/>
            <pc:sldMk cId="3327369779" sldId="2147481962"/>
            <ac:graphicFrameMk id="3" creationId="{3E86696F-E35A-4B06-9B46-63A4A6A986C1}"/>
          </ac:graphicFrameMkLst>
        </pc:graphicFrameChg>
      </pc:sldChg>
    </pc:docChg>
  </pc:docChgLst>
  <pc:docChgLst>
    <pc:chgData name="신낙천(NAKCHEON SHIN)[nch_shin]/선임/제조DX.기획팀" userId="5f68e214-0d7a-435b-a27c-64d4781182de" providerId="ADAL" clId="{EAD49E91-5101-44AF-B859-E06EDB9BF530}"/>
    <pc:docChg chg="custSel modSld">
      <pc:chgData name="신낙천(NAKCHEON SHIN)[nch_shin]/선임/제조DX.기획팀" userId="5f68e214-0d7a-435b-a27c-64d4781182de" providerId="ADAL" clId="{EAD49E91-5101-44AF-B859-E06EDB9BF530}" dt="2025-12-11T00:14:36.824" v="2904"/>
      <pc:docMkLst>
        <pc:docMk/>
      </pc:docMkLst>
      <pc:sldChg chg="modSp mod">
        <pc:chgData name="신낙천(NAKCHEON SHIN)[nch_shin]/선임/제조DX.기획팀" userId="5f68e214-0d7a-435b-a27c-64d4781182de" providerId="ADAL" clId="{EAD49E91-5101-44AF-B859-E06EDB9BF530}" dt="2025-12-11T00:14:36.824" v="2904"/>
        <pc:sldMkLst>
          <pc:docMk/>
          <pc:sldMk cId="1990289466" sldId="2147481942"/>
        </pc:sldMkLst>
        <pc:spChg chg="mod">
          <ac:chgData name="신낙천(NAKCHEON SHIN)[nch_shin]/선임/제조DX.기획팀" userId="5f68e214-0d7a-435b-a27c-64d4781182de" providerId="ADAL" clId="{EAD49E91-5101-44AF-B859-E06EDB9BF530}" dt="2025-12-11T00:07:20.415" v="1827" actId="20577"/>
          <ac:spMkLst>
            <pc:docMk/>
            <pc:sldMk cId="1990289466" sldId="2147481942"/>
            <ac:spMk id="5" creationId="{57EE8376-1042-449C-B823-F39F4DD715DC}"/>
          </ac:spMkLst>
        </pc:spChg>
        <pc:graphicFrameChg chg="mod modGraphic">
          <ac:chgData name="신낙천(NAKCHEON SHIN)[nch_shin]/선임/제조DX.기획팀" userId="5f68e214-0d7a-435b-a27c-64d4781182de" providerId="ADAL" clId="{EAD49E91-5101-44AF-B859-E06EDB9BF530}" dt="2025-12-11T00:14:36.824" v="2904"/>
          <ac:graphicFrameMkLst>
            <pc:docMk/>
            <pc:sldMk cId="1990289466" sldId="2147481942"/>
            <ac:graphicFrameMk id="2" creationId="{D9C6C542-2C2E-4A1B-8A21-6D6D3ECD449F}"/>
          </ac:graphicFrameMkLst>
        </pc:graphicFrameChg>
      </pc:sldChg>
      <pc:sldChg chg="modSp mod">
        <pc:chgData name="신낙천(NAKCHEON SHIN)[nch_shin]/선임/제조DX.기획팀" userId="5f68e214-0d7a-435b-a27c-64d4781182de" providerId="ADAL" clId="{EAD49E91-5101-44AF-B859-E06EDB9BF530}" dt="2025-12-11T00:07:58.572" v="1981" actId="6549"/>
        <pc:sldMkLst>
          <pc:docMk/>
          <pc:sldMk cId="2744705665" sldId="2147481951"/>
        </pc:sldMkLst>
        <pc:spChg chg="mod">
          <ac:chgData name="신낙천(NAKCHEON SHIN)[nch_shin]/선임/제조DX.기획팀" userId="5f68e214-0d7a-435b-a27c-64d4781182de" providerId="ADAL" clId="{EAD49E91-5101-44AF-B859-E06EDB9BF530}" dt="2025-12-11T00:03:55.574" v="1052"/>
          <ac:spMkLst>
            <pc:docMk/>
            <pc:sldMk cId="2744705665" sldId="2147481951"/>
            <ac:spMk id="5" creationId="{57EE8376-1042-449C-B823-F39F4DD715DC}"/>
          </ac:spMkLst>
        </pc:spChg>
        <pc:graphicFrameChg chg="mod modGraphic">
          <ac:chgData name="신낙천(NAKCHEON SHIN)[nch_shin]/선임/제조DX.기획팀" userId="5f68e214-0d7a-435b-a27c-64d4781182de" providerId="ADAL" clId="{EAD49E91-5101-44AF-B859-E06EDB9BF530}" dt="2025-12-11T00:07:58.572" v="1981" actId="6549"/>
          <ac:graphicFrameMkLst>
            <pc:docMk/>
            <pc:sldMk cId="2744705665" sldId="2147481951"/>
            <ac:graphicFrameMk id="2" creationId="{D9C6C542-2C2E-4A1B-8A21-6D6D3ECD449F}"/>
          </ac:graphicFrameMkLst>
        </pc:graphicFrameChg>
      </pc:sldChg>
      <pc:sldChg chg="modSp mod">
        <pc:chgData name="신낙천(NAKCHEON SHIN)[nch_shin]/선임/제조DX.기획팀" userId="5f68e214-0d7a-435b-a27c-64d4781182de" providerId="ADAL" clId="{EAD49E91-5101-44AF-B859-E06EDB9BF530}" dt="2025-12-11T00:06:52.292" v="1820" actId="20577"/>
        <pc:sldMkLst>
          <pc:docMk/>
          <pc:sldMk cId="2942103815" sldId="2147481954"/>
        </pc:sldMkLst>
        <pc:spChg chg="mod">
          <ac:chgData name="신낙천(NAKCHEON SHIN)[nch_shin]/선임/제조DX.기획팀" userId="5f68e214-0d7a-435b-a27c-64d4781182de" providerId="ADAL" clId="{EAD49E91-5101-44AF-B859-E06EDB9BF530}" dt="2025-12-10T23:56:45.569" v="6" actId="20577"/>
          <ac:spMkLst>
            <pc:docMk/>
            <pc:sldMk cId="2942103815" sldId="2147481954"/>
            <ac:spMk id="5" creationId="{57EE8376-1042-449C-B823-F39F4DD715DC}"/>
          </ac:spMkLst>
        </pc:spChg>
        <pc:spChg chg="mod">
          <ac:chgData name="신낙천(NAKCHEON SHIN)[nch_shin]/선임/제조DX.기획팀" userId="5f68e214-0d7a-435b-a27c-64d4781182de" providerId="ADAL" clId="{EAD49E91-5101-44AF-B859-E06EDB9BF530}" dt="2025-12-10T23:57:13.086" v="15" actId="20577"/>
          <ac:spMkLst>
            <pc:docMk/>
            <pc:sldMk cId="2942103815" sldId="2147481954"/>
            <ac:spMk id="37" creationId="{5F8AACC1-1AA7-499D-9173-F4B7A8D6A54C}"/>
          </ac:spMkLst>
        </pc:spChg>
        <pc:graphicFrameChg chg="mod modGraphic">
          <ac:chgData name="신낙천(NAKCHEON SHIN)[nch_shin]/선임/제조DX.기획팀" userId="5f68e214-0d7a-435b-a27c-64d4781182de" providerId="ADAL" clId="{EAD49E91-5101-44AF-B859-E06EDB9BF530}" dt="2025-12-11T00:06:52.292" v="1820" actId="20577"/>
          <ac:graphicFrameMkLst>
            <pc:docMk/>
            <pc:sldMk cId="2942103815" sldId="2147481954"/>
            <ac:graphicFrameMk id="2" creationId="{D9C6C542-2C2E-4A1B-8A21-6D6D3ECD449F}"/>
          </ac:graphicFrameMkLst>
        </pc:graphicFrameChg>
      </pc:sldChg>
    </pc:docChg>
  </pc:docChgLst>
  <pc:docChgLst>
    <pc:chgData name="박종석(JONG SEOK PARK)[jaypark]/팀장/제조DX.기획팀" userId="e8212c48-e98c-4075-8dbf-ce8a424e30ad" providerId="ADAL" clId="{F52EECA6-8F04-4E64-BA07-C3C86CBDF325}"/>
    <pc:docChg chg="custSel modSld">
      <pc:chgData name="박종석(JONG SEOK PARK)[jaypark]/팀장/제조DX.기획팀" userId="e8212c48-e98c-4075-8dbf-ce8a424e30ad" providerId="ADAL" clId="{F52EECA6-8F04-4E64-BA07-C3C86CBDF325}" dt="2025-12-10T23:26:42.343" v="1417" actId="1076"/>
      <pc:docMkLst>
        <pc:docMk/>
      </pc:docMkLst>
      <pc:sldChg chg="addSp delSp modSp mod">
        <pc:chgData name="박종석(JONG SEOK PARK)[jaypark]/팀장/제조DX.기획팀" userId="e8212c48-e98c-4075-8dbf-ce8a424e30ad" providerId="ADAL" clId="{F52EECA6-8F04-4E64-BA07-C3C86CBDF325}" dt="2025-12-10T23:26:42.343" v="1417" actId="1076"/>
        <pc:sldMkLst>
          <pc:docMk/>
          <pc:sldMk cId="3266697761" sldId="2278"/>
        </pc:sldMkLst>
        <pc:spChg chg="add del mod">
          <ac:chgData name="박종석(JONG SEOK PARK)[jaypark]/팀장/제조DX.기획팀" userId="e8212c48-e98c-4075-8dbf-ce8a424e30ad" providerId="ADAL" clId="{F52EECA6-8F04-4E64-BA07-C3C86CBDF325}" dt="2025-12-10T22:54:58.020" v="5" actId="478"/>
          <ac:spMkLst>
            <pc:docMk/>
            <pc:sldMk cId="3266697761" sldId="2278"/>
            <ac:spMk id="5" creationId="{C2BD92F6-5605-781F-FA3E-801DBC004B5B}"/>
          </ac:spMkLst>
        </pc:spChg>
        <pc:spChg chg="mod">
          <ac:chgData name="박종석(JONG SEOK PARK)[jaypark]/팀장/제조DX.기획팀" userId="e8212c48-e98c-4075-8dbf-ce8a424e30ad" providerId="ADAL" clId="{F52EECA6-8F04-4E64-BA07-C3C86CBDF325}" dt="2025-12-10T23:26:42.343" v="1417" actId="1076"/>
          <ac:spMkLst>
            <pc:docMk/>
            <pc:sldMk cId="3266697761" sldId="2278"/>
            <ac:spMk id="7" creationId="{89D4B324-277C-4D43-94A6-E585665C7CD5}"/>
          </ac:spMkLst>
        </pc:spChg>
        <pc:spChg chg="mod">
          <ac:chgData name="박종석(JONG SEOK PARK)[jaypark]/팀장/제조DX.기획팀" userId="e8212c48-e98c-4075-8dbf-ce8a424e30ad" providerId="ADAL" clId="{F52EECA6-8F04-4E64-BA07-C3C86CBDF325}" dt="2025-12-10T23:26:42.343" v="1417" actId="1076"/>
          <ac:spMkLst>
            <pc:docMk/>
            <pc:sldMk cId="3266697761" sldId="2278"/>
            <ac:spMk id="8" creationId="{173AF454-BA1E-4DDA-A247-11F709DB6CF2}"/>
          </ac:spMkLst>
        </pc:spChg>
        <pc:spChg chg="add del mod">
          <ac:chgData name="박종석(JONG SEOK PARK)[jaypark]/팀장/제조DX.기획팀" userId="e8212c48-e98c-4075-8dbf-ce8a424e30ad" providerId="ADAL" clId="{F52EECA6-8F04-4E64-BA07-C3C86CBDF325}" dt="2025-12-10T23:01:18.517" v="839" actId="478"/>
          <ac:spMkLst>
            <pc:docMk/>
            <pc:sldMk cId="3266697761" sldId="2278"/>
            <ac:spMk id="10" creationId="{9F6ABA78-B63B-645E-AD96-02BF0F785964}"/>
          </ac:spMkLst>
        </pc:spChg>
        <pc:spChg chg="mod">
          <ac:chgData name="박종석(JONG SEOK PARK)[jaypark]/팀장/제조DX.기획팀" userId="e8212c48-e98c-4075-8dbf-ce8a424e30ad" providerId="ADAL" clId="{F52EECA6-8F04-4E64-BA07-C3C86CBDF325}" dt="2025-12-10T23:26:34.606" v="1416" actId="20577"/>
          <ac:spMkLst>
            <pc:docMk/>
            <pc:sldMk cId="3266697761" sldId="2278"/>
            <ac:spMk id="12" creationId="{F5AF6C6D-537A-4009-A822-082640F0DDD5}"/>
          </ac:spMkLst>
        </pc:spChg>
        <pc:spChg chg="mod">
          <ac:chgData name="박종석(JONG SEOK PARK)[jaypark]/팀장/제조DX.기획팀" userId="e8212c48-e98c-4075-8dbf-ce8a424e30ad" providerId="ADAL" clId="{F52EECA6-8F04-4E64-BA07-C3C86CBDF325}" dt="2025-12-10T23:26:42.343" v="1417" actId="1076"/>
          <ac:spMkLst>
            <pc:docMk/>
            <pc:sldMk cId="3266697761" sldId="2278"/>
            <ac:spMk id="13" creationId="{E1757AD5-F069-4840-92A4-691371A30877}"/>
          </ac:spMkLst>
        </pc:spChg>
        <pc:spChg chg="add del mod">
          <ac:chgData name="박종석(JONG SEOK PARK)[jaypark]/팀장/제조DX.기획팀" userId="e8212c48-e98c-4075-8dbf-ce8a424e30ad" providerId="ADAL" clId="{F52EECA6-8F04-4E64-BA07-C3C86CBDF325}" dt="2025-12-10T23:25:54.037" v="1412" actId="478"/>
          <ac:spMkLst>
            <pc:docMk/>
            <pc:sldMk cId="3266697761" sldId="2278"/>
            <ac:spMk id="16" creationId="{4BC64A3B-8820-FC9A-2CDE-5597888E174E}"/>
          </ac:spMkLst>
        </pc:spChg>
        <pc:graphicFrameChg chg="mod modGraphic">
          <ac:chgData name="박종석(JONG SEOK PARK)[jaypark]/팀장/제조DX.기획팀" userId="e8212c48-e98c-4075-8dbf-ce8a424e30ad" providerId="ADAL" clId="{F52EECA6-8F04-4E64-BA07-C3C86CBDF325}" dt="2025-12-10T23:26:42.343" v="1417" actId="1076"/>
          <ac:graphicFrameMkLst>
            <pc:docMk/>
            <pc:sldMk cId="3266697761" sldId="2278"/>
            <ac:graphicFrameMk id="11" creationId="{2B67C6E4-83F8-5A2F-7F09-19DEBA46C52F}"/>
          </ac:graphicFrameMkLst>
        </pc:graphicFrameChg>
        <pc:picChg chg="add del mod">
          <ac:chgData name="박종석(JONG SEOK PARK)[jaypark]/팀장/제조DX.기획팀" userId="e8212c48-e98c-4075-8dbf-ce8a424e30ad" providerId="ADAL" clId="{F52EECA6-8F04-4E64-BA07-C3C86CBDF325}" dt="2025-12-10T22:54:56.797" v="4" actId="478"/>
          <ac:picMkLst>
            <pc:docMk/>
            <pc:sldMk cId="3266697761" sldId="2278"/>
            <ac:picMk id="4" creationId="{D4E6C0B9-BE60-BB45-7CDD-298BE8359B55}"/>
          </ac:picMkLst>
        </pc:picChg>
        <pc:picChg chg="add del mod">
          <ac:chgData name="박종석(JONG SEOK PARK)[jaypark]/팀장/제조DX.기획팀" userId="e8212c48-e98c-4075-8dbf-ce8a424e30ad" providerId="ADAL" clId="{F52EECA6-8F04-4E64-BA07-C3C86CBDF325}" dt="2025-12-10T23:01:17.483" v="838" actId="478"/>
          <ac:picMkLst>
            <pc:docMk/>
            <pc:sldMk cId="3266697761" sldId="2278"/>
            <ac:picMk id="9" creationId="{4FC71BF4-041D-E66A-F103-60E490308FE8}"/>
          </ac:picMkLst>
        </pc:picChg>
        <pc:picChg chg="add del mod">
          <ac:chgData name="박종석(JONG SEOK PARK)[jaypark]/팀장/제조DX.기획팀" userId="e8212c48-e98c-4075-8dbf-ce8a424e30ad" providerId="ADAL" clId="{F52EECA6-8F04-4E64-BA07-C3C86CBDF325}" dt="2025-12-10T23:25:56.343" v="1413" actId="478"/>
          <ac:picMkLst>
            <pc:docMk/>
            <pc:sldMk cId="3266697761" sldId="2278"/>
            <ac:picMk id="15" creationId="{7B484491-0A55-B16C-BB48-B7C70F19164A}"/>
          </ac:picMkLst>
        </pc:picChg>
      </pc:sldChg>
    </pc:docChg>
  </pc:docChgLst>
  <pc:docChgLst>
    <pc:chgData name="최수정(SU JEONG CHOI)[csj11]/사원/제조DX.기획팀" userId="3f1e39ad-357d-4de4-8db3-3ab430410289" providerId="ADAL" clId="{CF321E47-AE58-4507-B848-5BC9FBE42459}"/>
    <pc:docChg chg="custSel modSld">
      <pc:chgData name="최수정(SU JEONG CHOI)[csj11]/사원/제조DX.기획팀" userId="3f1e39ad-357d-4de4-8db3-3ab430410289" providerId="ADAL" clId="{CF321E47-AE58-4507-B848-5BC9FBE42459}" dt="2025-12-10T01:10:08.486" v="164" actId="20577"/>
      <pc:docMkLst>
        <pc:docMk/>
      </pc:docMkLst>
      <pc:sldChg chg="modSp mod">
        <pc:chgData name="최수정(SU JEONG CHOI)[csj11]/사원/제조DX.기획팀" userId="3f1e39ad-357d-4de4-8db3-3ab430410289" providerId="ADAL" clId="{CF321E47-AE58-4507-B848-5BC9FBE42459}" dt="2025-12-10T01:09:56.304" v="159" actId="20577"/>
        <pc:sldMkLst>
          <pc:docMk/>
          <pc:sldMk cId="44733976" sldId="2147481883"/>
        </pc:sldMkLst>
        <pc:spChg chg="mod">
          <ac:chgData name="최수정(SU JEONG CHOI)[csj11]/사원/제조DX.기획팀" userId="3f1e39ad-357d-4de4-8db3-3ab430410289" providerId="ADAL" clId="{CF321E47-AE58-4507-B848-5BC9FBE42459}" dt="2025-12-10T01:09:20.710" v="2" actId="20577"/>
          <ac:spMkLst>
            <pc:docMk/>
            <pc:sldMk cId="44733976" sldId="2147481883"/>
            <ac:spMk id="12" creationId="{9D0EE530-A532-47EF-8E5A-D46D78AD73E5}"/>
          </ac:spMkLst>
        </pc:spChg>
        <pc:graphicFrameChg chg="mod modGraphic">
          <ac:chgData name="최수정(SU JEONG CHOI)[csj11]/사원/제조DX.기획팀" userId="3f1e39ad-357d-4de4-8db3-3ab430410289" providerId="ADAL" clId="{CF321E47-AE58-4507-B848-5BC9FBE42459}" dt="2025-12-10T01:09:56.304" v="159" actId="20577"/>
          <ac:graphicFrameMkLst>
            <pc:docMk/>
            <pc:sldMk cId="44733976" sldId="2147481883"/>
            <ac:graphicFrameMk id="9" creationId="{05FC5328-2198-4089-99D2-3C663AE66700}"/>
          </ac:graphicFrameMkLst>
        </pc:graphicFrameChg>
        <pc:graphicFrameChg chg="modGraphic">
          <ac:chgData name="최수정(SU JEONG CHOI)[csj11]/사원/제조DX.기획팀" userId="3f1e39ad-357d-4de4-8db3-3ab430410289" providerId="ADAL" clId="{CF321E47-AE58-4507-B848-5BC9FBE42459}" dt="2025-12-10T01:09:27.539" v="3" actId="207"/>
          <ac:graphicFrameMkLst>
            <pc:docMk/>
            <pc:sldMk cId="44733976" sldId="2147481883"/>
            <ac:graphicFrameMk id="10" creationId="{5FE218EB-59E0-4A89-93C5-B080E7A4CC1C}"/>
          </ac:graphicFrameMkLst>
        </pc:graphicFrameChg>
      </pc:sldChg>
      <pc:sldChg chg="modSp mod">
        <pc:chgData name="최수정(SU JEONG CHOI)[csj11]/사원/제조DX.기획팀" userId="3f1e39ad-357d-4de4-8db3-3ab430410289" providerId="ADAL" clId="{CF321E47-AE58-4507-B848-5BC9FBE42459}" dt="2025-12-10T01:10:08.486" v="164" actId="20577"/>
        <pc:sldMkLst>
          <pc:docMk/>
          <pc:sldMk cId="2804836000" sldId="2147481921"/>
        </pc:sldMkLst>
        <pc:spChg chg="mod">
          <ac:chgData name="최수정(SU JEONG CHOI)[csj11]/사원/제조DX.기획팀" userId="3f1e39ad-357d-4de4-8db3-3ab430410289" providerId="ADAL" clId="{CF321E47-AE58-4507-B848-5BC9FBE42459}" dt="2025-12-10T01:10:08.486" v="164" actId="20577"/>
          <ac:spMkLst>
            <pc:docMk/>
            <pc:sldMk cId="2804836000" sldId="2147481921"/>
            <ac:spMk id="12" creationId="{9D0EE530-A532-47EF-8E5A-D46D78AD73E5}"/>
          </ac:spMkLst>
        </pc:spChg>
        <pc:graphicFrameChg chg="mod modGraphic">
          <ac:chgData name="최수정(SU JEONG CHOI)[csj11]/사원/제조DX.기획팀" userId="3f1e39ad-357d-4de4-8db3-3ab430410289" providerId="ADAL" clId="{CF321E47-AE58-4507-B848-5BC9FBE42459}" dt="2025-12-10T01:10:05.204" v="161" actId="20577"/>
          <ac:graphicFrameMkLst>
            <pc:docMk/>
            <pc:sldMk cId="2804836000" sldId="2147481921"/>
            <ac:graphicFrameMk id="9" creationId="{05FC5328-2198-4089-99D2-3C663AE66700}"/>
          </ac:graphicFrameMkLst>
        </pc:graphicFrameChg>
      </pc:sldChg>
    </pc:docChg>
  </pc:docChgLst>
  <pc:docChgLst>
    <pc:chgData name="정정윤(JUNGYOUN JUNG)[jungyun.jung]/책임/제조DX.기획팀" userId="17ca600b-9b76-4936-af22-4427d2c446b2" providerId="ADAL" clId="{3D2669FD-B34F-4421-A8E6-4E78829E13FF}"/>
    <pc:docChg chg="undo custSel modSld">
      <pc:chgData name="정정윤(JUNGYOUN JUNG)[jungyun.jung]/책임/제조DX.기획팀" userId="17ca600b-9b76-4936-af22-4427d2c446b2" providerId="ADAL" clId="{3D2669FD-B34F-4421-A8E6-4E78829E13FF}" dt="2025-12-03T05:56:49.632" v="946" actId="20577"/>
      <pc:docMkLst>
        <pc:docMk/>
      </pc:docMkLst>
      <pc:sldChg chg="modSp mod">
        <pc:chgData name="정정윤(JUNGYOUN JUNG)[jungyun.jung]/책임/제조DX.기획팀" userId="17ca600b-9b76-4936-af22-4427d2c446b2" providerId="ADAL" clId="{3D2669FD-B34F-4421-A8E6-4E78829E13FF}" dt="2025-12-03T05:56:49.632" v="946" actId="20577"/>
        <pc:sldMkLst>
          <pc:docMk/>
          <pc:sldMk cId="748844535" sldId="2147481953"/>
        </pc:sldMkLst>
        <pc:spChg chg="mod">
          <ac:chgData name="정정윤(JUNGYOUN JUNG)[jungyun.jung]/책임/제조DX.기획팀" userId="17ca600b-9b76-4936-af22-4427d2c446b2" providerId="ADAL" clId="{3D2669FD-B34F-4421-A8E6-4E78829E13FF}" dt="2025-12-03T05:47:03.348" v="4" actId="20577"/>
          <ac:spMkLst>
            <pc:docMk/>
            <pc:sldMk cId="748844535" sldId="2147481953"/>
            <ac:spMk id="5" creationId="{57EE8376-1042-449C-B823-F39F4DD715DC}"/>
          </ac:spMkLst>
        </pc:spChg>
        <pc:spChg chg="mod">
          <ac:chgData name="정정윤(JUNGYOUN JUNG)[jungyun.jung]/책임/제조DX.기획팀" userId="17ca600b-9b76-4936-af22-4427d2c446b2" providerId="ADAL" clId="{3D2669FD-B34F-4421-A8E6-4E78829E13FF}" dt="2025-12-03T05:56:49.632" v="946" actId="20577"/>
          <ac:spMkLst>
            <pc:docMk/>
            <pc:sldMk cId="748844535" sldId="2147481953"/>
            <ac:spMk id="13" creationId="{D533F64C-1DF4-481B-B825-D3C91E867FEC}"/>
          </ac:spMkLst>
        </pc:spChg>
        <pc:graphicFrameChg chg="mod modGraphic">
          <ac:chgData name="정정윤(JUNGYOUN JUNG)[jungyun.jung]/책임/제조DX.기획팀" userId="17ca600b-9b76-4936-af22-4427d2c446b2" providerId="ADAL" clId="{3D2669FD-B34F-4421-A8E6-4E78829E13FF}" dt="2025-12-03T05:56:21.547" v="929" actId="6549"/>
          <ac:graphicFrameMkLst>
            <pc:docMk/>
            <pc:sldMk cId="748844535" sldId="2147481953"/>
            <ac:graphicFrameMk id="2" creationId="{D9C6C542-2C2E-4A1B-8A21-6D6D3ECD449F}"/>
          </ac:graphicFrameMkLst>
        </pc:graphicFrameChg>
      </pc:sldChg>
    </pc:docChg>
  </pc:docChgLst>
  <pc:docChgLst>
    <pc:chgData name="심민규(MIN KYU SIM)[minkyu.sim]/책임/제조DX.기획팀" userId="ef28b2ab-721c-4963-a722-1b1db0464185" providerId="ADAL" clId="{4DC40BA7-C570-4FC5-A49F-25BD3D420C8E}"/>
    <pc:docChg chg="modSld">
      <pc:chgData name="심민규(MIN KYU SIM)[minkyu.sim]/책임/제조DX.기획팀" userId="ef28b2ab-721c-4963-a722-1b1db0464185" providerId="ADAL" clId="{4DC40BA7-C570-4FC5-A49F-25BD3D420C8E}" dt="2025-12-11T00:12:37.437" v="879" actId="20577"/>
      <pc:docMkLst>
        <pc:docMk/>
      </pc:docMkLst>
      <pc:sldChg chg="modSp mod">
        <pc:chgData name="심민규(MIN KYU SIM)[minkyu.sim]/책임/제조DX.기획팀" userId="ef28b2ab-721c-4963-a722-1b1db0464185" providerId="ADAL" clId="{4DC40BA7-C570-4FC5-A49F-25BD3D420C8E}" dt="2025-12-11T00:12:37.437" v="879" actId="20577"/>
        <pc:sldMkLst>
          <pc:docMk/>
          <pc:sldMk cId="1990289466" sldId="2147481942"/>
        </pc:sldMkLst>
        <pc:spChg chg="mod">
          <ac:chgData name="심민규(MIN KYU SIM)[minkyu.sim]/책임/제조DX.기획팀" userId="ef28b2ab-721c-4963-a722-1b1db0464185" providerId="ADAL" clId="{4DC40BA7-C570-4FC5-A49F-25BD3D420C8E}" dt="2025-12-11T00:12:37.437" v="879" actId="20577"/>
          <ac:spMkLst>
            <pc:docMk/>
            <pc:sldMk cId="1990289466" sldId="2147481942"/>
            <ac:spMk id="5" creationId="{57EE8376-1042-449C-B823-F39F4DD715DC}"/>
          </ac:spMkLst>
        </pc:spChg>
        <pc:graphicFrameChg chg="mod modGraphic">
          <ac:chgData name="심민규(MIN KYU SIM)[minkyu.sim]/책임/제조DX.기획팀" userId="ef28b2ab-721c-4963-a722-1b1db0464185" providerId="ADAL" clId="{4DC40BA7-C570-4FC5-A49F-25BD3D420C8E}" dt="2025-12-11T00:12:32.746" v="873"/>
          <ac:graphicFrameMkLst>
            <pc:docMk/>
            <pc:sldMk cId="1990289466" sldId="2147481942"/>
            <ac:graphicFrameMk id="2" creationId="{D9C6C542-2C2E-4A1B-8A21-6D6D3ECD449F}"/>
          </ac:graphicFrameMkLst>
        </pc:graphicFrameChg>
      </pc:sldChg>
      <pc:sldChg chg="modSp mod">
        <pc:chgData name="심민규(MIN KYU SIM)[minkyu.sim]/책임/제조DX.기획팀" userId="ef28b2ab-721c-4963-a722-1b1db0464185" providerId="ADAL" clId="{4DC40BA7-C570-4FC5-A49F-25BD3D420C8E}" dt="2025-12-11T00:12:01.570" v="845" actId="20577"/>
        <pc:sldMkLst>
          <pc:docMk/>
          <pc:sldMk cId="2744705665" sldId="2147481951"/>
        </pc:sldMkLst>
        <pc:spChg chg="mod">
          <ac:chgData name="심민규(MIN KYU SIM)[minkyu.sim]/책임/제조DX.기획팀" userId="ef28b2ab-721c-4963-a722-1b1db0464185" providerId="ADAL" clId="{4DC40BA7-C570-4FC5-A49F-25BD3D420C8E}" dt="2025-12-11T00:11:51.891" v="837" actId="20577"/>
          <ac:spMkLst>
            <pc:docMk/>
            <pc:sldMk cId="2744705665" sldId="2147481951"/>
            <ac:spMk id="5" creationId="{57EE8376-1042-449C-B823-F39F4DD715DC}"/>
          </ac:spMkLst>
        </pc:spChg>
        <pc:spChg chg="mod">
          <ac:chgData name="심민규(MIN KYU SIM)[minkyu.sim]/책임/제조DX.기획팀" userId="ef28b2ab-721c-4963-a722-1b1db0464185" providerId="ADAL" clId="{4DC40BA7-C570-4FC5-A49F-25BD3D420C8E}" dt="2025-12-11T00:11:45.556" v="831" actId="20577"/>
          <ac:spMkLst>
            <pc:docMk/>
            <pc:sldMk cId="2744705665" sldId="2147481951"/>
            <ac:spMk id="13" creationId="{D533F64C-1DF4-481B-B825-D3C91E867FEC}"/>
          </ac:spMkLst>
        </pc:spChg>
        <pc:graphicFrameChg chg="modGraphic">
          <ac:chgData name="심민규(MIN KYU SIM)[minkyu.sim]/책임/제조DX.기획팀" userId="ef28b2ab-721c-4963-a722-1b1db0464185" providerId="ADAL" clId="{4DC40BA7-C570-4FC5-A49F-25BD3D420C8E}" dt="2025-12-11T00:12:01.570" v="845" actId="20577"/>
          <ac:graphicFrameMkLst>
            <pc:docMk/>
            <pc:sldMk cId="2744705665" sldId="2147481951"/>
            <ac:graphicFrameMk id="2" creationId="{D9C6C542-2C2E-4A1B-8A21-6D6D3ECD449F}"/>
          </ac:graphicFrameMkLst>
        </pc:graphicFrameChg>
      </pc:sldChg>
      <pc:sldChg chg="modSp mod">
        <pc:chgData name="심민규(MIN KYU SIM)[minkyu.sim]/책임/제조DX.기획팀" userId="ef28b2ab-721c-4963-a722-1b1db0464185" providerId="ADAL" clId="{4DC40BA7-C570-4FC5-A49F-25BD3D420C8E}" dt="2025-12-11T00:10:39.964" v="823" actId="20577"/>
        <pc:sldMkLst>
          <pc:docMk/>
          <pc:sldMk cId="748844535" sldId="2147481953"/>
        </pc:sldMkLst>
        <pc:spChg chg="mod">
          <ac:chgData name="심민규(MIN KYU SIM)[minkyu.sim]/책임/제조DX.기획팀" userId="ef28b2ab-721c-4963-a722-1b1db0464185" providerId="ADAL" clId="{4DC40BA7-C570-4FC5-A49F-25BD3D420C8E}" dt="2025-12-11T00:10:39.964" v="823" actId="20577"/>
          <ac:spMkLst>
            <pc:docMk/>
            <pc:sldMk cId="748844535" sldId="2147481953"/>
            <ac:spMk id="13" creationId="{D533F64C-1DF4-481B-B825-D3C91E867FEC}"/>
          </ac:spMkLst>
        </pc:spChg>
        <pc:graphicFrameChg chg="mod modGraphic">
          <ac:chgData name="심민규(MIN KYU SIM)[minkyu.sim]/책임/제조DX.기획팀" userId="ef28b2ab-721c-4963-a722-1b1db0464185" providerId="ADAL" clId="{4DC40BA7-C570-4FC5-A49F-25BD3D420C8E}" dt="2025-12-11T00:10:19.967" v="813" actId="20577"/>
          <ac:graphicFrameMkLst>
            <pc:docMk/>
            <pc:sldMk cId="748844535" sldId="2147481953"/>
            <ac:graphicFrameMk id="2" creationId="{D9C6C542-2C2E-4A1B-8A21-6D6D3ECD449F}"/>
          </ac:graphicFrameMkLst>
        </pc:graphicFrameChg>
      </pc:sldChg>
      <pc:sldChg chg="modSp mod">
        <pc:chgData name="심민규(MIN KYU SIM)[minkyu.sim]/책임/제조DX.기획팀" userId="ef28b2ab-721c-4963-a722-1b1db0464185" providerId="ADAL" clId="{4DC40BA7-C570-4FC5-A49F-25BD3D420C8E}" dt="2025-12-11T00:11:29.515" v="830" actId="6549"/>
        <pc:sldMkLst>
          <pc:docMk/>
          <pc:sldMk cId="2942103815" sldId="2147481954"/>
        </pc:sldMkLst>
        <pc:spChg chg="mod">
          <ac:chgData name="심민규(MIN KYU SIM)[minkyu.sim]/책임/제조DX.기획팀" userId="ef28b2ab-721c-4963-a722-1b1db0464185" providerId="ADAL" clId="{4DC40BA7-C570-4FC5-A49F-25BD3D420C8E}" dt="2025-12-11T00:10:55.855" v="829" actId="20577"/>
          <ac:spMkLst>
            <pc:docMk/>
            <pc:sldMk cId="2942103815" sldId="2147481954"/>
            <ac:spMk id="5" creationId="{57EE8376-1042-449C-B823-F39F4DD715DC}"/>
          </ac:spMkLst>
        </pc:spChg>
        <pc:graphicFrameChg chg="modGraphic">
          <ac:chgData name="심민규(MIN KYU SIM)[minkyu.sim]/책임/제조DX.기획팀" userId="ef28b2ab-721c-4963-a722-1b1db0464185" providerId="ADAL" clId="{4DC40BA7-C570-4FC5-A49F-25BD3D420C8E}" dt="2025-12-11T00:11:29.515" v="830" actId="6549"/>
          <ac:graphicFrameMkLst>
            <pc:docMk/>
            <pc:sldMk cId="2942103815" sldId="2147481954"/>
            <ac:graphicFrameMk id="2" creationId="{D9C6C542-2C2E-4A1B-8A21-6D6D3ECD449F}"/>
          </ac:graphicFrameMkLst>
        </pc:graphicFrameChg>
      </pc:sldChg>
    </pc:docChg>
  </pc:docChgLst>
  <pc:docChgLst>
    <pc:chgData name="이정연(JEONGYEON LEE)[lotusy]/사원/제조DX.기획팀" userId="3d2f8fd7-90a7-4554-92c1-4e1f447c4093" providerId="ADAL" clId="{4D38DED3-5EFF-4C8C-9614-760F20A46230}"/>
    <pc:docChg chg="delSld modSld modSection">
      <pc:chgData name="이정연(JEONGYEON LEE)[lotusy]/사원/제조DX.기획팀" userId="3d2f8fd7-90a7-4554-92c1-4e1f447c4093" providerId="ADAL" clId="{4D38DED3-5EFF-4C8C-9614-760F20A46230}" dt="2025-12-10T04:23:04.026" v="65" actId="20577"/>
      <pc:docMkLst>
        <pc:docMk/>
      </pc:docMkLst>
      <pc:sldChg chg="modSp mod">
        <pc:chgData name="이정연(JEONGYEON LEE)[lotusy]/사원/제조DX.기획팀" userId="3d2f8fd7-90a7-4554-92c1-4e1f447c4093" providerId="ADAL" clId="{4D38DED3-5EFF-4C8C-9614-760F20A46230}" dt="2025-12-10T04:23:04.026" v="65" actId="20577"/>
        <pc:sldMkLst>
          <pc:docMk/>
          <pc:sldMk cId="256222476" sldId="2147481925"/>
        </pc:sldMkLst>
        <pc:spChg chg="mod">
          <ac:chgData name="이정연(JEONGYEON LEE)[lotusy]/사원/제조DX.기획팀" userId="3d2f8fd7-90a7-4554-92c1-4e1f447c4093" providerId="ADAL" clId="{4D38DED3-5EFF-4C8C-9614-760F20A46230}" dt="2025-12-10T04:23:04.026" v="65" actId="20577"/>
          <ac:spMkLst>
            <pc:docMk/>
            <pc:sldMk cId="256222476" sldId="2147481925"/>
            <ac:spMk id="9" creationId="{B5840AC6-D288-4190-89A9-88F0476A4F12}"/>
          </ac:spMkLst>
        </pc:spChg>
      </pc:sldChg>
      <pc:sldChg chg="modSp mod">
        <pc:chgData name="이정연(JEONGYEON LEE)[lotusy]/사원/제조DX.기획팀" userId="3d2f8fd7-90a7-4554-92c1-4e1f447c4093" providerId="ADAL" clId="{4D38DED3-5EFF-4C8C-9614-760F20A46230}" dt="2025-12-10T04:22:25.261" v="10" actId="20577"/>
        <pc:sldMkLst>
          <pc:docMk/>
          <pc:sldMk cId="1905048286" sldId="2147481938"/>
        </pc:sldMkLst>
        <pc:spChg chg="mod">
          <ac:chgData name="이정연(JEONGYEON LEE)[lotusy]/사원/제조DX.기획팀" userId="3d2f8fd7-90a7-4554-92c1-4e1f447c4093" providerId="ADAL" clId="{4D38DED3-5EFF-4C8C-9614-760F20A46230}" dt="2025-12-10T04:22:25.261" v="10" actId="20577"/>
          <ac:spMkLst>
            <pc:docMk/>
            <pc:sldMk cId="1905048286" sldId="2147481938"/>
            <ac:spMk id="9" creationId="{B5840AC6-D288-4190-89A9-88F0476A4F12}"/>
          </ac:spMkLst>
        </pc:spChg>
      </pc:sldChg>
      <pc:sldChg chg="modSp mod">
        <pc:chgData name="이정연(JEONGYEON LEE)[lotusy]/사원/제조DX.기획팀" userId="3d2f8fd7-90a7-4554-92c1-4e1f447c4093" providerId="ADAL" clId="{4D38DED3-5EFF-4C8C-9614-760F20A46230}" dt="2025-12-10T04:23:00.534" v="62" actId="20577"/>
        <pc:sldMkLst>
          <pc:docMk/>
          <pc:sldMk cId="3327369779" sldId="2147481962"/>
        </pc:sldMkLst>
        <pc:spChg chg="mod">
          <ac:chgData name="이정연(JEONGYEON LEE)[lotusy]/사원/제조DX.기획팀" userId="3d2f8fd7-90a7-4554-92c1-4e1f447c4093" providerId="ADAL" clId="{4D38DED3-5EFF-4C8C-9614-760F20A46230}" dt="2025-12-10T04:23:00.534" v="62" actId="20577"/>
          <ac:spMkLst>
            <pc:docMk/>
            <pc:sldMk cId="3327369779" sldId="2147481962"/>
            <ac:spMk id="9" creationId="{B5840AC6-D288-4190-89A9-88F0476A4F12}"/>
          </ac:spMkLst>
        </pc:spChg>
        <pc:graphicFrameChg chg="mod modGraphic">
          <ac:chgData name="이정연(JEONGYEON LEE)[lotusy]/사원/제조DX.기획팀" userId="3d2f8fd7-90a7-4554-92c1-4e1f447c4093" providerId="ADAL" clId="{4D38DED3-5EFF-4C8C-9614-760F20A46230}" dt="2025-12-10T04:22:59.382" v="59"/>
          <ac:graphicFrameMkLst>
            <pc:docMk/>
            <pc:sldMk cId="3327369779" sldId="2147481962"/>
            <ac:graphicFrameMk id="3" creationId="{3E86696F-E35A-4B06-9B46-63A4A6A986C1}"/>
          </ac:graphicFrameMkLst>
        </pc:graphicFrameChg>
      </pc:sldChg>
      <pc:sldChg chg="del">
        <pc:chgData name="이정연(JEONGYEON LEE)[lotusy]/사원/제조DX.기획팀" userId="3d2f8fd7-90a7-4554-92c1-4e1f447c4093" providerId="ADAL" clId="{4D38DED3-5EFF-4C8C-9614-760F20A46230}" dt="2025-12-10T04:22:41.508" v="11" actId="47"/>
        <pc:sldMkLst>
          <pc:docMk/>
          <pc:sldMk cId="2055025068" sldId="2147481965"/>
        </pc:sldMkLst>
      </pc:sldChg>
    </pc:docChg>
  </pc:docChgLst>
  <pc:docChgLst>
    <pc:chgData name="최수정(SU JEONG CHOI)[csj11]/사원/제조DX.기획팀" userId="3f1e39ad-357d-4de4-8db3-3ab430410289" providerId="ADAL" clId="{4853926C-1B4D-48B6-BE55-10A99C145F83}"/>
    <pc:docChg chg="custSel modSld">
      <pc:chgData name="최수정(SU JEONG CHOI)[csj11]/사원/제조DX.기획팀" userId="3f1e39ad-357d-4de4-8db3-3ab430410289" providerId="ADAL" clId="{4853926C-1B4D-48B6-BE55-10A99C145F83}" dt="2025-12-03T04:10:06.430" v="83" actId="20577"/>
      <pc:docMkLst>
        <pc:docMk/>
      </pc:docMkLst>
      <pc:sldChg chg="modSp mod">
        <pc:chgData name="최수정(SU JEONG CHOI)[csj11]/사원/제조DX.기획팀" userId="3f1e39ad-357d-4de4-8db3-3ab430410289" providerId="ADAL" clId="{4853926C-1B4D-48B6-BE55-10A99C145F83}" dt="2025-12-03T04:09:20.206" v="50" actId="20577"/>
        <pc:sldMkLst>
          <pc:docMk/>
          <pc:sldMk cId="44733976" sldId="2147481883"/>
        </pc:sldMkLst>
        <pc:spChg chg="mod">
          <ac:chgData name="최수정(SU JEONG CHOI)[csj11]/사원/제조DX.기획팀" userId="3f1e39ad-357d-4de4-8db3-3ab430410289" providerId="ADAL" clId="{4853926C-1B4D-48B6-BE55-10A99C145F83}" dt="2025-12-03T04:09:20.206" v="50" actId="20577"/>
          <ac:spMkLst>
            <pc:docMk/>
            <pc:sldMk cId="44733976" sldId="2147481883"/>
            <ac:spMk id="12" creationId="{9D0EE530-A532-47EF-8E5A-D46D78AD73E5}"/>
          </ac:spMkLst>
        </pc:spChg>
        <pc:graphicFrameChg chg="mod modGraphic">
          <ac:chgData name="최수정(SU JEONG CHOI)[csj11]/사원/제조DX.기획팀" userId="3f1e39ad-357d-4de4-8db3-3ab430410289" providerId="ADAL" clId="{4853926C-1B4D-48B6-BE55-10A99C145F83}" dt="2025-12-03T04:09:15.471" v="45" actId="20577"/>
          <ac:graphicFrameMkLst>
            <pc:docMk/>
            <pc:sldMk cId="44733976" sldId="2147481883"/>
            <ac:graphicFrameMk id="9" creationId="{05FC5328-2198-4089-99D2-3C663AE66700}"/>
          </ac:graphicFrameMkLst>
        </pc:graphicFrameChg>
      </pc:sldChg>
      <pc:sldChg chg="modSp mod">
        <pc:chgData name="최수정(SU JEONG CHOI)[csj11]/사원/제조DX.기획팀" userId="3f1e39ad-357d-4de4-8db3-3ab430410289" providerId="ADAL" clId="{4853926C-1B4D-48B6-BE55-10A99C145F83}" dt="2025-12-03T04:10:06.430" v="83" actId="20577"/>
        <pc:sldMkLst>
          <pc:docMk/>
          <pc:sldMk cId="2804836000" sldId="2147481921"/>
        </pc:sldMkLst>
        <pc:spChg chg="mod">
          <ac:chgData name="최수정(SU JEONG CHOI)[csj11]/사원/제조DX.기획팀" userId="3f1e39ad-357d-4de4-8db3-3ab430410289" providerId="ADAL" clId="{4853926C-1B4D-48B6-BE55-10A99C145F83}" dt="2025-12-03T04:10:06.430" v="83" actId="20577"/>
          <ac:spMkLst>
            <pc:docMk/>
            <pc:sldMk cId="2804836000" sldId="2147481921"/>
            <ac:spMk id="12" creationId="{9D0EE530-A532-47EF-8E5A-D46D78AD73E5}"/>
          </ac:spMkLst>
        </pc:spChg>
        <pc:graphicFrameChg chg="mod modGraphic">
          <ac:chgData name="최수정(SU JEONG CHOI)[csj11]/사원/제조DX.기획팀" userId="3f1e39ad-357d-4de4-8db3-3ab430410289" providerId="ADAL" clId="{4853926C-1B4D-48B6-BE55-10A99C145F83}" dt="2025-12-03T04:09:51.496" v="78" actId="207"/>
          <ac:graphicFrameMkLst>
            <pc:docMk/>
            <pc:sldMk cId="2804836000" sldId="2147481921"/>
            <ac:graphicFrameMk id="7" creationId="{2514E4D7-0AEC-4444-873C-CA7C83F7A230}"/>
          </ac:graphicFrameMkLst>
        </pc:graphicFrameChg>
        <pc:graphicFrameChg chg="mod">
          <ac:chgData name="최수정(SU JEONG CHOI)[csj11]/사원/제조DX.기획팀" userId="3f1e39ad-357d-4de4-8db3-3ab430410289" providerId="ADAL" clId="{4853926C-1B4D-48B6-BE55-10A99C145F83}" dt="2025-12-03T04:09:32.687" v="51"/>
          <ac:graphicFrameMkLst>
            <pc:docMk/>
            <pc:sldMk cId="2804836000" sldId="2147481921"/>
            <ac:graphicFrameMk id="9" creationId="{05FC5328-2198-4089-99D2-3C663AE66700}"/>
          </ac:graphicFrameMkLst>
        </pc:graphicFrameChg>
      </pc:sldChg>
    </pc:docChg>
  </pc:docChgLst>
  <pc:docChgLst>
    <pc:chgData name="이재후(JAEHU LEE)[jaehu]/사원/제조DX.기획팀" userId="ba3706c8-877b-448c-835e-ccf5ef4fa863" providerId="ADAL" clId="{23FAB3DE-C4AA-4687-901E-FBBFFD4ED2D8}"/>
    <pc:docChg chg="custSel modSld">
      <pc:chgData name="이재후(JAEHU LEE)[jaehu]/사원/제조DX.기획팀" userId="ba3706c8-877b-448c-835e-ccf5ef4fa863" providerId="ADAL" clId="{23FAB3DE-C4AA-4687-901E-FBBFFD4ED2D8}" dt="2025-12-16T00:46:26.465" v="29" actId="20577"/>
      <pc:docMkLst>
        <pc:docMk/>
      </pc:docMkLst>
      <pc:sldChg chg="modSp mod">
        <pc:chgData name="이재후(JAEHU LEE)[jaehu]/사원/제조DX.기획팀" userId="ba3706c8-877b-448c-835e-ccf5ef4fa863" providerId="ADAL" clId="{23FAB3DE-C4AA-4687-901E-FBBFFD4ED2D8}" dt="2025-12-16T00:44:23.286" v="0" actId="20577"/>
        <pc:sldMkLst>
          <pc:docMk/>
          <pc:sldMk cId="2751367990" sldId="746"/>
        </pc:sldMkLst>
        <pc:spChg chg="mod">
          <ac:chgData name="이재후(JAEHU LEE)[jaehu]/사원/제조DX.기획팀" userId="ba3706c8-877b-448c-835e-ccf5ef4fa863" providerId="ADAL" clId="{23FAB3DE-C4AA-4687-901E-FBBFFD4ED2D8}" dt="2025-12-16T00:44:23.286" v="0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modSp mod">
        <pc:chgData name="이재후(JAEHU LEE)[jaehu]/사원/제조DX.기획팀" userId="ba3706c8-877b-448c-835e-ccf5ef4fa863" providerId="ADAL" clId="{23FAB3DE-C4AA-4687-901E-FBBFFD4ED2D8}" dt="2025-12-16T00:44:30.135" v="1" actId="207"/>
        <pc:sldMkLst>
          <pc:docMk/>
          <pc:sldMk cId="3266697761" sldId="2278"/>
        </pc:sldMkLst>
        <pc:spChg chg="mod">
          <ac:chgData name="이재후(JAEHU LEE)[jaehu]/사원/제조DX.기획팀" userId="ba3706c8-877b-448c-835e-ccf5ef4fa863" providerId="ADAL" clId="{23FAB3DE-C4AA-4687-901E-FBBFFD4ED2D8}" dt="2025-12-16T00:44:30.135" v="1" actId="207"/>
          <ac:spMkLst>
            <pc:docMk/>
            <pc:sldMk cId="3266697761" sldId="2278"/>
            <ac:spMk id="7" creationId="{89D4B324-277C-4D43-94A6-E585665C7CD5}"/>
          </ac:spMkLst>
        </pc:spChg>
        <pc:spChg chg="mod">
          <ac:chgData name="이재후(JAEHU LEE)[jaehu]/사원/제조DX.기획팀" userId="ba3706c8-877b-448c-835e-ccf5ef4fa863" providerId="ADAL" clId="{23FAB3DE-C4AA-4687-901E-FBBFFD4ED2D8}" dt="2025-12-16T00:44:30.135" v="1" actId="207"/>
          <ac:spMkLst>
            <pc:docMk/>
            <pc:sldMk cId="3266697761" sldId="2278"/>
            <ac:spMk id="8" creationId="{173AF454-BA1E-4DDA-A247-11F709DB6CF2}"/>
          </ac:spMkLst>
        </pc:spChg>
        <pc:spChg chg="mod">
          <ac:chgData name="이재후(JAEHU LEE)[jaehu]/사원/제조DX.기획팀" userId="ba3706c8-877b-448c-835e-ccf5ef4fa863" providerId="ADAL" clId="{23FAB3DE-C4AA-4687-901E-FBBFFD4ED2D8}" dt="2025-12-16T00:44:30.135" v="1" actId="207"/>
          <ac:spMkLst>
            <pc:docMk/>
            <pc:sldMk cId="3266697761" sldId="2278"/>
            <ac:spMk id="13" creationId="{E1757AD5-F069-4840-92A4-691371A30877}"/>
          </ac:spMkLst>
        </pc:spChg>
      </pc:sldChg>
      <pc:sldChg chg="modSp mod">
        <pc:chgData name="이재후(JAEHU LEE)[jaehu]/사원/제조DX.기획팀" userId="ba3706c8-877b-448c-835e-ccf5ef4fa863" providerId="ADAL" clId="{23FAB3DE-C4AA-4687-901E-FBBFFD4ED2D8}" dt="2025-12-16T00:46:09.352" v="23" actId="20577"/>
        <pc:sldMkLst>
          <pc:docMk/>
          <pc:sldMk cId="44733976" sldId="2147481883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6:09.352" v="23" actId="20577"/>
          <ac:graphicFrameMkLst>
            <pc:docMk/>
            <pc:sldMk cId="44733976" sldId="2147481883"/>
            <ac:graphicFrameMk id="9" creationId="{05FC5328-2198-4089-99D2-3C663AE66700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5:42.406" v="19" actId="20577"/>
        <pc:sldMkLst>
          <pc:docMk/>
          <pc:sldMk cId="2649124581" sldId="2147481910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5:42.406" v="19" actId="20577"/>
          <ac:graphicFrameMkLst>
            <pc:docMk/>
            <pc:sldMk cId="2649124581" sldId="2147481910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6:15.980" v="25" actId="20577"/>
        <pc:sldMkLst>
          <pc:docMk/>
          <pc:sldMk cId="2804836000" sldId="2147481921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6:15.980" v="25" actId="20577"/>
          <ac:graphicFrameMkLst>
            <pc:docMk/>
            <pc:sldMk cId="2804836000" sldId="2147481921"/>
            <ac:graphicFrameMk id="9" creationId="{05FC5328-2198-4089-99D2-3C663AE66700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6:26.465" v="29" actId="20577"/>
        <pc:sldMkLst>
          <pc:docMk/>
          <pc:sldMk cId="256222476" sldId="2147481925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6:26.465" v="29" actId="20577"/>
          <ac:graphicFrameMkLst>
            <pc:docMk/>
            <pc:sldMk cId="256222476" sldId="2147481925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6:02.927" v="21" actId="20577"/>
        <pc:sldMkLst>
          <pc:docMk/>
          <pc:sldMk cId="1905048286" sldId="2147481938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6:02.927" v="21" actId="20577"/>
          <ac:graphicFrameMkLst>
            <pc:docMk/>
            <pc:sldMk cId="1905048286" sldId="2147481938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5:16.693" v="13" actId="207"/>
        <pc:sldMkLst>
          <pc:docMk/>
          <pc:sldMk cId="1990289466" sldId="2147481942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5:16.693" v="13" actId="207"/>
          <ac:graphicFrameMkLst>
            <pc:docMk/>
            <pc:sldMk cId="1990289466" sldId="2147481942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5:28.241" v="17" actId="20577"/>
        <pc:sldMkLst>
          <pc:docMk/>
          <pc:sldMk cId="294245755" sldId="2147481948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5:28.241" v="17" actId="20577"/>
          <ac:graphicFrameMkLst>
            <pc:docMk/>
            <pc:sldMk cId="294245755" sldId="2147481948"/>
            <ac:graphicFrameMk id="35" creationId="{1253D908-610B-44F3-BFC0-7E83108DB8C6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5:07.896" v="10" actId="207"/>
        <pc:sldMkLst>
          <pc:docMk/>
          <pc:sldMk cId="2744705665" sldId="2147481951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5:07.896" v="10" actId="207"/>
          <ac:graphicFrameMkLst>
            <pc:docMk/>
            <pc:sldMk cId="2744705665" sldId="2147481951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4:41.399" v="4" actId="207"/>
        <pc:sldMkLst>
          <pc:docMk/>
          <pc:sldMk cId="748844535" sldId="2147481953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4:41.399" v="4" actId="207"/>
          <ac:graphicFrameMkLst>
            <pc:docMk/>
            <pc:sldMk cId="748844535" sldId="2147481953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4:57.870" v="7" actId="207"/>
        <pc:sldMkLst>
          <pc:docMk/>
          <pc:sldMk cId="2942103815" sldId="2147481954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4:57.870" v="7" actId="207"/>
          <ac:graphicFrameMkLst>
            <pc:docMk/>
            <pc:sldMk cId="2942103815" sldId="2147481954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5:23.336" v="15" actId="20577"/>
        <pc:sldMkLst>
          <pc:docMk/>
          <pc:sldMk cId="1696538127" sldId="2147481957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5:23.336" v="15" actId="20577"/>
          <ac:graphicFrameMkLst>
            <pc:docMk/>
            <pc:sldMk cId="1696538127" sldId="2147481957"/>
            <ac:graphicFrameMk id="35" creationId="{1253D908-610B-44F3-BFC0-7E83108DB8C6}"/>
          </ac:graphicFrameMkLst>
        </pc:graphicFrameChg>
      </pc:sldChg>
      <pc:sldChg chg="modSp mod">
        <pc:chgData name="이재후(JAEHU LEE)[jaehu]/사원/제조DX.기획팀" userId="ba3706c8-877b-448c-835e-ccf5ef4fa863" providerId="ADAL" clId="{23FAB3DE-C4AA-4687-901E-FBBFFD4ED2D8}" dt="2025-12-16T00:46:22.137" v="27" actId="20577"/>
        <pc:sldMkLst>
          <pc:docMk/>
          <pc:sldMk cId="3327369779" sldId="2147481962"/>
        </pc:sldMkLst>
        <pc:graphicFrameChg chg="modGraphic">
          <ac:chgData name="이재후(JAEHU LEE)[jaehu]/사원/제조DX.기획팀" userId="ba3706c8-877b-448c-835e-ccf5ef4fa863" providerId="ADAL" clId="{23FAB3DE-C4AA-4687-901E-FBBFFD4ED2D8}" dt="2025-12-16T00:46:22.137" v="27" actId="20577"/>
          <ac:graphicFrameMkLst>
            <pc:docMk/>
            <pc:sldMk cId="3327369779" sldId="2147481962"/>
            <ac:graphicFrameMk id="3" creationId="{3E86696F-E35A-4B06-9B46-63A4A6A986C1}"/>
          </ac:graphicFrameMkLst>
        </pc:graphicFrameChg>
      </pc:sldChg>
    </pc:docChg>
  </pc:docChgLst>
  <pc:docChgLst>
    <pc:chgData name="이재후(JAEHU LEE)[jaehu]/사원/제조DX.기획팀" userId="ba3706c8-877b-448c-835e-ccf5ef4fa863" providerId="ADAL" clId="{E4395CE6-7B7D-42D0-96AD-57637A3B80B2}"/>
    <pc:docChg chg="custSel modSld sldOrd">
      <pc:chgData name="이재후(JAEHU LEE)[jaehu]/사원/제조DX.기획팀" userId="ba3706c8-877b-448c-835e-ccf5ef4fa863" providerId="ADAL" clId="{E4395CE6-7B7D-42D0-96AD-57637A3B80B2}" dt="2025-12-02T02:31:52.457" v="42"/>
      <pc:docMkLst>
        <pc:docMk/>
      </pc:docMkLst>
      <pc:sldChg chg="modSp mod">
        <pc:chgData name="이재후(JAEHU LEE)[jaehu]/사원/제조DX.기획팀" userId="ba3706c8-877b-448c-835e-ccf5ef4fa863" providerId="ADAL" clId="{E4395CE6-7B7D-42D0-96AD-57637A3B80B2}" dt="2025-12-02T02:04:11.637" v="2" actId="20577"/>
        <pc:sldMkLst>
          <pc:docMk/>
          <pc:sldMk cId="2751367990" sldId="746"/>
        </pc:sldMkLst>
        <pc:spChg chg="mod">
          <ac:chgData name="이재후(JAEHU LEE)[jaehu]/사원/제조DX.기획팀" userId="ba3706c8-877b-448c-835e-ccf5ef4fa863" providerId="ADAL" clId="{E4395CE6-7B7D-42D0-96AD-57637A3B80B2}" dt="2025-12-02T02:04:11.637" v="2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modSp mod">
        <pc:chgData name="이재후(JAEHU LEE)[jaehu]/사원/제조DX.기획팀" userId="ba3706c8-877b-448c-835e-ccf5ef4fa863" providerId="ADAL" clId="{E4395CE6-7B7D-42D0-96AD-57637A3B80B2}" dt="2025-12-02T02:04:19.670" v="3" actId="207"/>
        <pc:sldMkLst>
          <pc:docMk/>
          <pc:sldMk cId="3266697761" sldId="2278"/>
        </pc:sldMkLst>
        <pc:spChg chg="mod">
          <ac:chgData name="이재후(JAEHU LEE)[jaehu]/사원/제조DX.기획팀" userId="ba3706c8-877b-448c-835e-ccf5ef4fa863" providerId="ADAL" clId="{E4395CE6-7B7D-42D0-96AD-57637A3B80B2}" dt="2025-12-02T02:04:19.670" v="3" actId="207"/>
          <ac:spMkLst>
            <pc:docMk/>
            <pc:sldMk cId="3266697761" sldId="2278"/>
            <ac:spMk id="7" creationId="{89D4B324-277C-4D43-94A6-E585665C7CD5}"/>
          </ac:spMkLst>
        </pc:spChg>
        <pc:spChg chg="mod">
          <ac:chgData name="이재후(JAEHU LEE)[jaehu]/사원/제조DX.기획팀" userId="ba3706c8-877b-448c-835e-ccf5ef4fa863" providerId="ADAL" clId="{E4395CE6-7B7D-42D0-96AD-57637A3B80B2}" dt="2025-12-02T02:04:19.670" v="3" actId="207"/>
          <ac:spMkLst>
            <pc:docMk/>
            <pc:sldMk cId="3266697761" sldId="2278"/>
            <ac:spMk id="8" creationId="{173AF454-BA1E-4DDA-A247-11F709DB6CF2}"/>
          </ac:spMkLst>
        </pc:spChg>
        <pc:spChg chg="mod">
          <ac:chgData name="이재후(JAEHU LEE)[jaehu]/사원/제조DX.기획팀" userId="ba3706c8-877b-448c-835e-ccf5ef4fa863" providerId="ADAL" clId="{E4395CE6-7B7D-42D0-96AD-57637A3B80B2}" dt="2025-12-02T02:04:19.670" v="3" actId="207"/>
          <ac:spMkLst>
            <pc:docMk/>
            <pc:sldMk cId="3266697761" sldId="2278"/>
            <ac:spMk id="12" creationId="{F5AF6C6D-537A-4009-A822-082640F0DDD5}"/>
          </ac:spMkLst>
        </pc:spChg>
        <pc:spChg chg="mod">
          <ac:chgData name="이재후(JAEHU LEE)[jaehu]/사원/제조DX.기획팀" userId="ba3706c8-877b-448c-835e-ccf5ef4fa863" providerId="ADAL" clId="{E4395CE6-7B7D-42D0-96AD-57637A3B80B2}" dt="2025-12-02T02:04:19.670" v="3" actId="207"/>
          <ac:spMkLst>
            <pc:docMk/>
            <pc:sldMk cId="3266697761" sldId="2278"/>
            <ac:spMk id="13" creationId="{E1757AD5-F069-4840-92A4-691371A30877}"/>
          </ac:spMkLst>
        </pc:spChg>
      </pc:sldChg>
      <pc:sldChg chg="modSp mod">
        <pc:chgData name="이재후(JAEHU LEE)[jaehu]/사원/제조DX.기획팀" userId="ba3706c8-877b-448c-835e-ccf5ef4fa863" providerId="ADAL" clId="{E4395CE6-7B7D-42D0-96AD-57637A3B80B2}" dt="2025-12-02T02:06:10.936" v="28" actId="20577"/>
        <pc:sldMkLst>
          <pc:docMk/>
          <pc:sldMk cId="44733976" sldId="2147481883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6:10.936" v="28" actId="20577"/>
          <ac:graphicFrameMkLst>
            <pc:docMk/>
            <pc:sldMk cId="44733976" sldId="2147481883"/>
            <ac:graphicFrameMk id="9" creationId="{05FC5328-2198-4089-99D2-3C663AE66700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5:40.322" v="24" actId="207"/>
        <pc:sldMkLst>
          <pc:docMk/>
          <pc:sldMk cId="2649124581" sldId="2147481910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5:40.322" v="24" actId="207"/>
          <ac:graphicFrameMkLst>
            <pc:docMk/>
            <pc:sldMk cId="2649124581" sldId="2147481910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7:42.942" v="30" actId="20577"/>
        <pc:sldMkLst>
          <pc:docMk/>
          <pc:sldMk cId="2804836000" sldId="2147481921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7:42.942" v="30" actId="20577"/>
          <ac:graphicFrameMkLst>
            <pc:docMk/>
            <pc:sldMk cId="2804836000" sldId="2147481921"/>
            <ac:graphicFrameMk id="9" creationId="{05FC5328-2198-4089-99D2-3C663AE66700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11:01.745" v="40" actId="20577"/>
        <pc:sldMkLst>
          <pc:docMk/>
          <pc:sldMk cId="256222476" sldId="2147481925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11:01.745" v="40" actId="20577"/>
          <ac:graphicFrameMkLst>
            <pc:docMk/>
            <pc:sldMk cId="256222476" sldId="2147481925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5:46.864" v="26" actId="20577"/>
        <pc:sldMkLst>
          <pc:docMk/>
          <pc:sldMk cId="1905048286" sldId="2147481938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5:46.864" v="26" actId="20577"/>
          <ac:graphicFrameMkLst>
            <pc:docMk/>
            <pc:sldMk cId="1905048286" sldId="2147481938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10:42.427" v="36" actId="20577"/>
        <pc:sldMkLst>
          <pc:docMk/>
          <pc:sldMk cId="772433798" sldId="2147481940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10:42.427" v="36" actId="20577"/>
          <ac:graphicFrameMkLst>
            <pc:docMk/>
            <pc:sldMk cId="772433798" sldId="2147481940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5:17.415" v="17" actId="207"/>
        <pc:sldMkLst>
          <pc:docMk/>
          <pc:sldMk cId="1990289466" sldId="2147481942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5:17.415" v="17" actId="207"/>
          <ac:graphicFrameMkLst>
            <pc:docMk/>
            <pc:sldMk cId="1990289466" sldId="2147481942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7:48.246" v="32" actId="20577"/>
        <pc:sldMkLst>
          <pc:docMk/>
          <pc:sldMk cId="3852496075" sldId="2147481944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7:48.246" v="32" actId="20577"/>
          <ac:graphicFrameMkLst>
            <pc:docMk/>
            <pc:sldMk cId="3852496075" sldId="2147481944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7:52.209" v="34" actId="20577"/>
        <pc:sldMkLst>
          <pc:docMk/>
          <pc:sldMk cId="3996172432" sldId="2147481946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7:52.209" v="34" actId="20577"/>
          <ac:graphicFrameMkLst>
            <pc:docMk/>
            <pc:sldMk cId="3996172432" sldId="2147481946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5:30.364" v="21" actId="20577"/>
        <pc:sldMkLst>
          <pc:docMk/>
          <pc:sldMk cId="294245755" sldId="2147481948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5:30.364" v="21" actId="20577"/>
          <ac:graphicFrameMkLst>
            <pc:docMk/>
            <pc:sldMk cId="294245755" sldId="2147481948"/>
            <ac:graphicFrameMk id="35" creationId="{1253D908-610B-44F3-BFC0-7E83108DB8C6}"/>
          </ac:graphicFrameMkLst>
        </pc:graphicFrameChg>
      </pc:sldChg>
      <pc:sldChg chg="ord">
        <pc:chgData name="이재후(JAEHU LEE)[jaehu]/사원/제조DX.기획팀" userId="ba3706c8-877b-448c-835e-ccf5ef4fa863" providerId="ADAL" clId="{E4395CE6-7B7D-42D0-96AD-57637A3B80B2}" dt="2025-12-02T02:31:52.457" v="42"/>
        <pc:sldMkLst>
          <pc:docMk/>
          <pc:sldMk cId="4116986874" sldId="2147481950"/>
        </pc:sldMkLst>
      </pc:sldChg>
      <pc:sldChg chg="modSp mod">
        <pc:chgData name="이재후(JAEHU LEE)[jaehu]/사원/제조DX.기획팀" userId="ba3706c8-877b-448c-835e-ccf5ef4fa863" providerId="ADAL" clId="{E4395CE6-7B7D-42D0-96AD-57637A3B80B2}" dt="2025-12-02T02:05:07.455" v="14" actId="207"/>
        <pc:sldMkLst>
          <pc:docMk/>
          <pc:sldMk cId="2744705665" sldId="2147481951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5:07.455" v="14" actId="207"/>
          <ac:graphicFrameMkLst>
            <pc:docMk/>
            <pc:sldMk cId="2744705665" sldId="2147481951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4:38.516" v="6" actId="207"/>
        <pc:sldMkLst>
          <pc:docMk/>
          <pc:sldMk cId="748844535" sldId="2147481953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4:38.516" v="6" actId="207"/>
          <ac:graphicFrameMkLst>
            <pc:docMk/>
            <pc:sldMk cId="748844535" sldId="2147481953"/>
            <ac:graphicFrameMk id="2" creationId="{D9C6C542-2C2E-4A1B-8A21-6D6D3ECD449F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4:57.472" v="11" actId="207"/>
        <pc:sldMkLst>
          <pc:docMk/>
          <pc:sldMk cId="2942103815" sldId="2147481954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4:57.472" v="11" actId="207"/>
          <ac:graphicFrameMkLst>
            <pc:docMk/>
            <pc:sldMk cId="2942103815" sldId="2147481954"/>
            <ac:graphicFrameMk id="2" creationId="{D9C6C542-2C2E-4A1B-8A21-6D6D3ECD449F}"/>
          </ac:graphicFrameMkLst>
        </pc:graphicFrameChg>
      </pc:sldChg>
      <pc:sldChg chg="ord">
        <pc:chgData name="이재후(JAEHU LEE)[jaehu]/사원/제조DX.기획팀" userId="ba3706c8-877b-448c-835e-ccf5ef4fa863" providerId="ADAL" clId="{E4395CE6-7B7D-42D0-96AD-57637A3B80B2}" dt="2025-12-02T02:31:52.457" v="42"/>
        <pc:sldMkLst>
          <pc:docMk/>
          <pc:sldMk cId="3348592881" sldId="2147481956"/>
        </pc:sldMkLst>
      </pc:sldChg>
      <pc:sldChg chg="modSp mod">
        <pc:chgData name="이재후(JAEHU LEE)[jaehu]/사원/제조DX.기획팀" userId="ba3706c8-877b-448c-835e-ccf5ef4fa863" providerId="ADAL" clId="{E4395CE6-7B7D-42D0-96AD-57637A3B80B2}" dt="2025-12-02T02:05:25.362" v="19" actId="20577"/>
        <pc:sldMkLst>
          <pc:docMk/>
          <pc:sldMk cId="1696538127" sldId="2147481957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5:25.362" v="19" actId="20577"/>
          <ac:graphicFrameMkLst>
            <pc:docMk/>
            <pc:sldMk cId="1696538127" sldId="2147481957"/>
            <ac:graphicFrameMk id="35" creationId="{1253D908-610B-44F3-BFC0-7E83108DB8C6}"/>
          </ac:graphicFrameMkLst>
        </pc:graphicFrameChg>
      </pc:sldChg>
      <pc:sldChg chg="ord">
        <pc:chgData name="이재후(JAEHU LEE)[jaehu]/사원/제조DX.기획팀" userId="ba3706c8-877b-448c-835e-ccf5ef4fa863" providerId="ADAL" clId="{E4395CE6-7B7D-42D0-96AD-57637A3B80B2}" dt="2025-12-02T02:31:52.457" v="42"/>
        <pc:sldMkLst>
          <pc:docMk/>
          <pc:sldMk cId="3616180365" sldId="2147481958"/>
        </pc:sldMkLst>
      </pc:sldChg>
      <pc:sldChg chg="modSp mod">
        <pc:chgData name="이재후(JAEHU LEE)[jaehu]/사원/제조DX.기획팀" userId="ba3706c8-877b-448c-835e-ccf5ef4fa863" providerId="ADAL" clId="{E4395CE6-7B7D-42D0-96AD-57637A3B80B2}" dt="2025-12-02T02:10:53.548" v="38" actId="20577"/>
        <pc:sldMkLst>
          <pc:docMk/>
          <pc:sldMk cId="3327369779" sldId="2147481962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10:53.548" v="38" actId="20577"/>
          <ac:graphicFrameMkLst>
            <pc:docMk/>
            <pc:sldMk cId="3327369779" sldId="2147481962"/>
            <ac:graphicFrameMk id="3" creationId="{3E86696F-E35A-4B06-9B46-63A4A6A986C1}"/>
          </ac:graphicFrameMkLst>
        </pc:graphicFrameChg>
      </pc:sldChg>
      <pc:sldChg chg="modSp mod">
        <pc:chgData name="이재후(JAEHU LEE)[jaehu]/사원/제조DX.기획팀" userId="ba3706c8-877b-448c-835e-ccf5ef4fa863" providerId="ADAL" clId="{E4395CE6-7B7D-42D0-96AD-57637A3B80B2}" dt="2025-12-02T02:04:43.734" v="8" actId="20577"/>
        <pc:sldMkLst>
          <pc:docMk/>
          <pc:sldMk cId="3058175687" sldId="2147481967"/>
        </pc:sldMkLst>
        <pc:graphicFrameChg chg="modGraphic">
          <ac:chgData name="이재후(JAEHU LEE)[jaehu]/사원/제조DX.기획팀" userId="ba3706c8-877b-448c-835e-ccf5ef4fa863" providerId="ADAL" clId="{E4395CE6-7B7D-42D0-96AD-57637A3B80B2}" dt="2025-12-02T02:04:43.734" v="8" actId="20577"/>
          <ac:graphicFrameMkLst>
            <pc:docMk/>
            <pc:sldMk cId="3058175687" sldId="2147481967"/>
            <ac:graphicFrameMk id="2" creationId="{D9C6C542-2C2E-4A1B-8A21-6D6D3ECD449F}"/>
          </ac:graphicFrameMkLst>
        </pc:graphicFrameChg>
      </pc:sldChg>
    </pc:docChg>
  </pc:docChgLst>
  <pc:docChgLst>
    <pc:chgData name="고지연(JEEYEON KOH)[jiyeon.ko]/선임/제조DX.기획팀" userId="251a82e0-2810-4b20-8379-8241aee8777c" providerId="ADAL" clId="{106B9CED-53D1-46AA-867B-FB545D64A691}"/>
    <pc:docChg chg="custSel modSld">
      <pc:chgData name="고지연(JEEYEON KOH)[jiyeon.ko]/선임/제조DX.기획팀" userId="251a82e0-2810-4b20-8379-8241aee8777c" providerId="ADAL" clId="{106B9CED-53D1-46AA-867B-FB545D64A691}" dt="2025-12-16T02:08:46.398" v="1456" actId="20577"/>
      <pc:docMkLst>
        <pc:docMk/>
      </pc:docMkLst>
      <pc:sldChg chg="modSp mod">
        <pc:chgData name="고지연(JEEYEON KOH)[jiyeon.ko]/선임/제조DX.기획팀" userId="251a82e0-2810-4b20-8379-8241aee8777c" providerId="ADAL" clId="{106B9CED-53D1-46AA-867B-FB545D64A691}" dt="2025-12-16T02:08:46.398" v="1456" actId="20577"/>
        <pc:sldMkLst>
          <pc:docMk/>
          <pc:sldMk cId="1990289466" sldId="2147481942"/>
        </pc:sldMkLst>
        <pc:spChg chg="mod">
          <ac:chgData name="고지연(JEEYEON KOH)[jiyeon.ko]/선임/제조DX.기획팀" userId="251a82e0-2810-4b20-8379-8241aee8777c" providerId="ADAL" clId="{106B9CED-53D1-46AA-867B-FB545D64A691}" dt="2025-12-16T02:03:15.390" v="1040" actId="20577"/>
          <ac:spMkLst>
            <pc:docMk/>
            <pc:sldMk cId="1990289466" sldId="2147481942"/>
            <ac:spMk id="5" creationId="{57EE8376-1042-449C-B823-F39F4DD715DC}"/>
          </ac:spMkLst>
        </pc:spChg>
        <pc:graphicFrameChg chg="mod modGraphic">
          <ac:chgData name="고지연(JEEYEON KOH)[jiyeon.ko]/선임/제조DX.기획팀" userId="251a82e0-2810-4b20-8379-8241aee8777c" providerId="ADAL" clId="{106B9CED-53D1-46AA-867B-FB545D64A691}" dt="2025-12-16T02:08:46.398" v="1456" actId="20577"/>
          <ac:graphicFrameMkLst>
            <pc:docMk/>
            <pc:sldMk cId="1990289466" sldId="2147481942"/>
            <ac:graphicFrameMk id="2" creationId="{D9C6C542-2C2E-4A1B-8A21-6D6D3ECD449F}"/>
          </ac:graphicFrameMkLst>
        </pc:graphicFrameChg>
      </pc:sldChg>
      <pc:sldChg chg="modSp mod">
        <pc:chgData name="고지연(JEEYEON KOH)[jiyeon.ko]/선임/제조DX.기획팀" userId="251a82e0-2810-4b20-8379-8241aee8777c" providerId="ADAL" clId="{106B9CED-53D1-46AA-867B-FB545D64A691}" dt="2025-12-16T02:02:45.032" v="1035"/>
        <pc:sldMkLst>
          <pc:docMk/>
          <pc:sldMk cId="2744705665" sldId="2147481951"/>
        </pc:sldMkLst>
        <pc:spChg chg="mod">
          <ac:chgData name="고지연(JEEYEON KOH)[jiyeon.ko]/선임/제조DX.기획팀" userId="251a82e0-2810-4b20-8379-8241aee8777c" providerId="ADAL" clId="{106B9CED-53D1-46AA-867B-FB545D64A691}" dt="2025-12-16T01:58:52.492" v="293" actId="20577"/>
          <ac:spMkLst>
            <pc:docMk/>
            <pc:sldMk cId="2744705665" sldId="2147481951"/>
            <ac:spMk id="5" creationId="{57EE8376-1042-449C-B823-F39F4DD715DC}"/>
          </ac:spMkLst>
        </pc:spChg>
        <pc:graphicFrameChg chg="mod modGraphic">
          <ac:chgData name="고지연(JEEYEON KOH)[jiyeon.ko]/선임/제조DX.기획팀" userId="251a82e0-2810-4b20-8379-8241aee8777c" providerId="ADAL" clId="{106B9CED-53D1-46AA-867B-FB545D64A691}" dt="2025-12-16T02:02:45.032" v="1035"/>
          <ac:graphicFrameMkLst>
            <pc:docMk/>
            <pc:sldMk cId="2744705665" sldId="2147481951"/>
            <ac:graphicFrameMk id="2" creationId="{D9C6C542-2C2E-4A1B-8A21-6D6D3ECD449F}"/>
          </ac:graphicFrameMkLst>
        </pc:graphicFrameChg>
      </pc:sldChg>
      <pc:sldChg chg="modSp mod">
        <pc:chgData name="고지연(JEEYEON KOH)[jiyeon.ko]/선임/제조DX.기획팀" userId="251a82e0-2810-4b20-8379-8241aee8777c" providerId="ADAL" clId="{106B9CED-53D1-46AA-867B-FB545D64A691}" dt="2025-12-16T01:58:22.548" v="282" actId="20577"/>
        <pc:sldMkLst>
          <pc:docMk/>
          <pc:sldMk cId="2942103815" sldId="2147481954"/>
        </pc:sldMkLst>
        <pc:spChg chg="mod">
          <ac:chgData name="고지연(JEEYEON KOH)[jiyeon.ko]/선임/제조DX.기획팀" userId="251a82e0-2810-4b20-8379-8241aee8777c" providerId="ADAL" clId="{106B9CED-53D1-46AA-867B-FB545D64A691}" dt="2025-12-16T01:57:14.642" v="191" actId="20577"/>
          <ac:spMkLst>
            <pc:docMk/>
            <pc:sldMk cId="2942103815" sldId="2147481954"/>
            <ac:spMk id="5" creationId="{57EE8376-1042-449C-B823-F39F4DD715DC}"/>
          </ac:spMkLst>
        </pc:spChg>
        <pc:graphicFrameChg chg="mod modGraphic">
          <ac:chgData name="고지연(JEEYEON KOH)[jiyeon.ko]/선임/제조DX.기획팀" userId="251a82e0-2810-4b20-8379-8241aee8777c" providerId="ADAL" clId="{106B9CED-53D1-46AA-867B-FB545D64A691}" dt="2025-12-16T01:58:22.548" v="282" actId="20577"/>
          <ac:graphicFrameMkLst>
            <pc:docMk/>
            <pc:sldMk cId="2942103815" sldId="2147481954"/>
            <ac:graphicFrameMk id="2" creationId="{D9C6C542-2C2E-4A1B-8A21-6D6D3ECD449F}"/>
          </ac:graphicFrameMkLst>
        </pc:graphicFrameChg>
      </pc:sldChg>
    </pc:docChg>
  </pc:docChgLst>
  <pc:docChgLst>
    <pc:chgData clId="Web-{86A46F2D-D77C-4BE3-B543-E63C24D1221D}"/>
    <pc:docChg chg="modSld">
      <pc:chgData name="" userId="" providerId="" clId="Web-{86A46F2D-D77C-4BE3-B543-E63C24D1221D}" dt="2025-12-16T00:47:27.127" v="0" actId="20577"/>
      <pc:docMkLst>
        <pc:docMk/>
      </pc:docMkLst>
      <pc:sldChg chg="modSp">
        <pc:chgData name="" userId="" providerId="" clId="Web-{86A46F2D-D77C-4BE3-B543-E63C24D1221D}" dt="2025-12-16T00:47:27.127" v="0" actId="20577"/>
        <pc:sldMkLst>
          <pc:docMk/>
          <pc:sldMk cId="2751367990" sldId="746"/>
        </pc:sldMkLst>
        <pc:spChg chg="mod">
          <ac:chgData name="" userId="" providerId="" clId="Web-{86A46F2D-D77C-4BE3-B543-E63C24D1221D}" dt="2025-12-16T00:47:27.127" v="0" actId="20577"/>
          <ac:spMkLst>
            <pc:docMk/>
            <pc:sldMk cId="2751367990" sldId="746"/>
            <ac:spMk id="19" creationId="{00000000-0000-0000-0000-000000000000}"/>
          </ac:spMkLst>
        </pc:spChg>
      </pc:sldChg>
    </pc:docChg>
  </pc:docChgLst>
  <pc:docChgLst>
    <pc:chgData name="김경민(KYUNGMIN KIM)[kkm10151]/책임/제조DX.기획팀" userId="cd5bc4c8-197e-47fb-9d90-18a04da6f3ec" providerId="ADAL" clId="{36C63ED6-20A8-49D8-8081-4DD532861558}"/>
    <pc:docChg chg="modSld">
      <pc:chgData name="김경민(KYUNGMIN KIM)[kkm10151]/책임/제조DX.기획팀" userId="cd5bc4c8-197e-47fb-9d90-18a04da6f3ec" providerId="ADAL" clId="{36C63ED6-20A8-49D8-8081-4DD532861558}" dt="2025-12-03T02:54:18.713" v="2" actId="729"/>
      <pc:docMkLst>
        <pc:docMk/>
      </pc:docMkLst>
      <pc:sldChg chg="mod modShow">
        <pc:chgData name="김경민(KYUNGMIN KIM)[kkm10151]/책임/제조DX.기획팀" userId="cd5bc4c8-197e-47fb-9d90-18a04da6f3ec" providerId="ADAL" clId="{36C63ED6-20A8-49D8-8081-4DD532861558}" dt="2025-12-03T02:54:18.713" v="2" actId="729"/>
        <pc:sldMkLst>
          <pc:docMk/>
          <pc:sldMk cId="772433798" sldId="2147481940"/>
        </pc:sldMkLst>
      </pc:sldChg>
      <pc:sldChg chg="mod modShow">
        <pc:chgData name="김경민(KYUNGMIN KIM)[kkm10151]/책임/제조DX.기획팀" userId="cd5bc4c8-197e-47fb-9d90-18a04da6f3ec" providerId="ADAL" clId="{36C63ED6-20A8-49D8-8081-4DD532861558}" dt="2025-12-03T02:54:01.633" v="0" actId="729"/>
        <pc:sldMkLst>
          <pc:docMk/>
          <pc:sldMk cId="3852496075" sldId="2147481944"/>
        </pc:sldMkLst>
      </pc:sldChg>
      <pc:sldChg chg="mod modShow">
        <pc:chgData name="김경민(KYUNGMIN KIM)[kkm10151]/책임/제조DX.기획팀" userId="cd5bc4c8-197e-47fb-9d90-18a04da6f3ec" providerId="ADAL" clId="{36C63ED6-20A8-49D8-8081-4DD532861558}" dt="2025-12-03T02:54:09.915" v="1" actId="729"/>
        <pc:sldMkLst>
          <pc:docMk/>
          <pc:sldMk cId="3996172432" sldId="2147481946"/>
        </pc:sldMkLst>
      </pc:sldChg>
    </pc:docChg>
  </pc:docChgLst>
  <pc:docChgLst>
    <pc:chgData name="김준희(JUNEHEE KIM)[junehee.kim]/선임/제조DX.기획팀" userId="69f2e786-4f8d-44b2-b4dc-7e342bf760d0" providerId="ADAL" clId="{54AF1D1A-DA60-461F-A40B-AF1EC00FA2CF}"/>
    <pc:docChg chg="undo custSel modSld">
      <pc:chgData name="김준희(JUNEHEE KIM)[junehee.kim]/선임/제조DX.기획팀" userId="69f2e786-4f8d-44b2-b4dc-7e342bf760d0" providerId="ADAL" clId="{54AF1D1A-DA60-461F-A40B-AF1EC00FA2CF}" dt="2025-12-10T23:44:46.842" v="2346" actId="20577"/>
      <pc:docMkLst>
        <pc:docMk/>
      </pc:docMkLst>
      <pc:sldChg chg="addSp delSp modSp mod">
        <pc:chgData name="김준희(JUNEHEE KIM)[junehee.kim]/선임/제조DX.기획팀" userId="69f2e786-4f8d-44b2-b4dc-7e342bf760d0" providerId="ADAL" clId="{54AF1D1A-DA60-461F-A40B-AF1EC00FA2CF}" dt="2025-12-10T23:44:46.842" v="2346" actId="20577"/>
        <pc:sldMkLst>
          <pc:docMk/>
          <pc:sldMk cId="2649124581" sldId="2147481910"/>
        </pc:sldMkLst>
        <pc:spChg chg="mod">
          <ac:chgData name="김준희(JUNEHEE KIM)[junehee.kim]/선임/제조DX.기획팀" userId="69f2e786-4f8d-44b2-b4dc-7e342bf760d0" providerId="ADAL" clId="{54AF1D1A-DA60-461F-A40B-AF1EC00FA2CF}" dt="2025-12-10T05:05:00.351" v="1726" actId="20577"/>
          <ac:spMkLst>
            <pc:docMk/>
            <pc:sldMk cId="2649124581" sldId="2147481910"/>
            <ac:spMk id="5" creationId="{57EE8376-1042-449C-B823-F39F4DD715DC}"/>
          </ac:spMkLst>
        </pc:spChg>
        <pc:spChg chg="mod">
          <ac:chgData name="김준희(JUNEHEE KIM)[junehee.kim]/선임/제조DX.기획팀" userId="69f2e786-4f8d-44b2-b4dc-7e342bf760d0" providerId="ADAL" clId="{54AF1D1A-DA60-461F-A40B-AF1EC00FA2CF}" dt="2025-12-10T05:05:38.378" v="1740" actId="20577"/>
          <ac:spMkLst>
            <pc:docMk/>
            <pc:sldMk cId="2649124581" sldId="2147481910"/>
            <ac:spMk id="10" creationId="{D3F11C96-11E0-4282-BCC2-080AA9DA74A6}"/>
          </ac:spMkLst>
        </pc:spChg>
        <pc:spChg chg="add del mod">
          <ac:chgData name="김준희(JUNEHEE KIM)[junehee.kim]/선임/제조DX.기획팀" userId="69f2e786-4f8d-44b2-b4dc-7e342bf760d0" providerId="ADAL" clId="{54AF1D1A-DA60-461F-A40B-AF1EC00FA2CF}" dt="2025-12-10T05:02:59.828" v="1485" actId="478"/>
          <ac:spMkLst>
            <pc:docMk/>
            <pc:sldMk cId="2649124581" sldId="2147481910"/>
            <ac:spMk id="13" creationId="{0DD4DA7F-704C-1251-03BD-E6B2AAA9FC35}"/>
          </ac:spMkLst>
        </pc:spChg>
        <pc:graphicFrameChg chg="mod modGraphic">
          <ac:chgData name="김준희(JUNEHEE KIM)[junehee.kim]/선임/제조DX.기획팀" userId="69f2e786-4f8d-44b2-b4dc-7e342bf760d0" providerId="ADAL" clId="{54AF1D1A-DA60-461F-A40B-AF1EC00FA2CF}" dt="2025-12-10T23:44:46.842" v="2346" actId="20577"/>
          <ac:graphicFrameMkLst>
            <pc:docMk/>
            <pc:sldMk cId="2649124581" sldId="2147481910"/>
            <ac:graphicFrameMk id="2" creationId="{D9C6C542-2C2E-4A1B-8A21-6D6D3ECD449F}"/>
          </ac:graphicFrameMkLst>
        </pc:graphicFrameChg>
        <pc:graphicFrameChg chg="mod modGraphic">
          <ac:chgData name="김준희(JUNEHEE KIM)[junehee.kim]/선임/제조DX.기획팀" userId="69f2e786-4f8d-44b2-b4dc-7e342bf760d0" providerId="ADAL" clId="{54AF1D1A-DA60-461F-A40B-AF1EC00FA2CF}" dt="2025-12-10T05:04:50.944" v="1723"/>
          <ac:graphicFrameMkLst>
            <pc:docMk/>
            <pc:sldMk cId="2649124581" sldId="2147481910"/>
            <ac:graphicFrameMk id="8" creationId="{E091D0AA-6716-F5C1-036A-A3D3EF30E3D1}"/>
          </ac:graphicFrameMkLst>
        </pc:graphicFrameChg>
      </pc:sldChg>
    </pc:docChg>
  </pc:docChgLst>
  <pc:docChgLst>
    <pc:chgData name="김준희(JUNEHEE KIM)[junehee.kim]/선임/제조DX.기획팀" userId="69f2e786-4f8d-44b2-b4dc-7e342bf760d0" providerId="ADAL" clId="{F899F83C-02F7-42D0-BC36-A7B31B9B1A12}"/>
    <pc:docChg chg="undo custSel modSld">
      <pc:chgData name="김준희(JUNEHEE KIM)[junehee.kim]/선임/제조DX.기획팀" userId="69f2e786-4f8d-44b2-b4dc-7e342bf760d0" providerId="ADAL" clId="{F899F83C-02F7-42D0-BC36-A7B31B9B1A12}" dt="2025-12-03T06:28:01.181" v="1967" actId="20577"/>
      <pc:docMkLst>
        <pc:docMk/>
      </pc:docMkLst>
      <pc:sldChg chg="modSp mod">
        <pc:chgData name="김준희(JUNEHEE KIM)[junehee.kim]/선임/제조DX.기획팀" userId="69f2e786-4f8d-44b2-b4dc-7e342bf760d0" providerId="ADAL" clId="{F899F83C-02F7-42D0-BC36-A7B31B9B1A12}" dt="2025-12-03T06:28:01.181" v="1967" actId="20577"/>
        <pc:sldMkLst>
          <pc:docMk/>
          <pc:sldMk cId="2649124581" sldId="2147481910"/>
        </pc:sldMkLst>
        <pc:spChg chg="mod">
          <ac:chgData name="김준희(JUNEHEE KIM)[junehee.kim]/선임/제조DX.기획팀" userId="69f2e786-4f8d-44b2-b4dc-7e342bf760d0" providerId="ADAL" clId="{F899F83C-02F7-42D0-BC36-A7B31B9B1A12}" dt="2025-12-03T06:28:01.181" v="1967" actId="20577"/>
          <ac:spMkLst>
            <pc:docMk/>
            <pc:sldMk cId="2649124581" sldId="2147481910"/>
            <ac:spMk id="5" creationId="{57EE8376-1042-449C-B823-F39F4DD715DC}"/>
          </ac:spMkLst>
        </pc:spChg>
        <pc:spChg chg="mod">
          <ac:chgData name="김준희(JUNEHEE KIM)[junehee.kim]/선임/제조DX.기획팀" userId="69f2e786-4f8d-44b2-b4dc-7e342bf760d0" providerId="ADAL" clId="{F899F83C-02F7-42D0-BC36-A7B31B9B1A12}" dt="2025-12-03T06:27:54.422" v="1960" actId="20577"/>
          <ac:spMkLst>
            <pc:docMk/>
            <pc:sldMk cId="2649124581" sldId="2147481910"/>
            <ac:spMk id="10" creationId="{D3F11C96-11E0-4282-BCC2-080AA9DA74A6}"/>
          </ac:spMkLst>
        </pc:spChg>
        <pc:graphicFrameChg chg="mod modGraphic">
          <ac:chgData name="김준희(JUNEHEE KIM)[junehee.kim]/선임/제조DX.기획팀" userId="69f2e786-4f8d-44b2-b4dc-7e342bf760d0" providerId="ADAL" clId="{F899F83C-02F7-42D0-BC36-A7B31B9B1A12}" dt="2025-12-03T06:27:30.771" v="1944" actId="20577"/>
          <ac:graphicFrameMkLst>
            <pc:docMk/>
            <pc:sldMk cId="2649124581" sldId="2147481910"/>
            <ac:graphicFrameMk id="2" creationId="{D9C6C542-2C2E-4A1B-8A21-6D6D3ECD449F}"/>
          </ac:graphicFrameMkLst>
        </pc:graphicFrameChg>
        <pc:graphicFrameChg chg="mod modGraphic">
          <ac:chgData name="김준희(JUNEHEE KIM)[junehee.kim]/선임/제조DX.기획팀" userId="69f2e786-4f8d-44b2-b4dc-7e342bf760d0" providerId="ADAL" clId="{F899F83C-02F7-42D0-BC36-A7B31B9B1A12}" dt="2025-12-03T06:04:21.107" v="12"/>
          <ac:graphicFrameMkLst>
            <pc:docMk/>
            <pc:sldMk cId="2649124581" sldId="2147481910"/>
            <ac:graphicFrameMk id="8" creationId="{E091D0AA-6716-F5C1-036A-A3D3EF30E3D1}"/>
          </ac:graphicFrameMkLst>
        </pc:graphicFrameChg>
      </pc:sldChg>
    </pc:docChg>
  </pc:docChgLst>
  <pc:docChgLst>
    <pc:chgData name="정정윤(JUNGYOUN JUNG)[jungyun.jung]/책임/제조DX.기획팀" userId="17ca600b-9b76-4936-af22-4427d2c446b2" providerId="ADAL" clId="{227A6663-2E1B-4CBE-A332-074BF9F56383}"/>
    <pc:docChg chg="custSel modSld">
      <pc:chgData name="정정윤(JUNGYOUN JUNG)[jungyun.jung]/책임/제조DX.기획팀" userId="17ca600b-9b76-4936-af22-4427d2c446b2" providerId="ADAL" clId="{227A6663-2E1B-4CBE-A332-074BF9F56383}" dt="2025-12-16T23:43:04.614" v="223" actId="20577"/>
      <pc:docMkLst>
        <pc:docMk/>
      </pc:docMkLst>
      <pc:sldChg chg="modSp mod">
        <pc:chgData name="정정윤(JUNGYOUN JUNG)[jungyun.jung]/책임/제조DX.기획팀" userId="17ca600b-9b76-4936-af22-4427d2c446b2" providerId="ADAL" clId="{227A6663-2E1B-4CBE-A332-074BF9F56383}" dt="2025-12-16T23:43:04.614" v="223" actId="20577"/>
        <pc:sldMkLst>
          <pc:docMk/>
          <pc:sldMk cId="748844535" sldId="2147481953"/>
        </pc:sldMkLst>
        <pc:spChg chg="mod">
          <ac:chgData name="정정윤(JUNGYOUN JUNG)[jungyun.jung]/책임/제조DX.기획팀" userId="17ca600b-9b76-4936-af22-4427d2c446b2" providerId="ADAL" clId="{227A6663-2E1B-4CBE-A332-074BF9F56383}" dt="2025-12-16T23:40:11.226" v="3" actId="20577"/>
          <ac:spMkLst>
            <pc:docMk/>
            <pc:sldMk cId="748844535" sldId="2147481953"/>
            <ac:spMk id="5" creationId="{57EE8376-1042-449C-B823-F39F4DD715DC}"/>
          </ac:spMkLst>
        </pc:spChg>
        <pc:graphicFrameChg chg="mod modGraphic">
          <ac:chgData name="정정윤(JUNGYOUN JUNG)[jungyun.jung]/책임/제조DX.기획팀" userId="17ca600b-9b76-4936-af22-4427d2c446b2" providerId="ADAL" clId="{227A6663-2E1B-4CBE-A332-074BF9F56383}" dt="2025-12-16T23:43:04.614" v="223" actId="20577"/>
          <ac:graphicFrameMkLst>
            <pc:docMk/>
            <pc:sldMk cId="748844535" sldId="2147481953"/>
            <ac:graphicFrameMk id="2" creationId="{D9C6C542-2C2E-4A1B-8A21-6D6D3ECD449F}"/>
          </ac:graphicFrameMkLst>
        </pc:graphicFrameChg>
      </pc:sldChg>
    </pc:docChg>
  </pc:docChgLst>
  <pc:docChgLst>
    <pc:chgData name="신낙천(NAKCHEON SHIN)[nch_shin]/선임/제조DX.기획팀" userId="5f68e214-0d7a-435b-a27c-64d4781182de" providerId="ADAL" clId="{BFC0902C-AC6F-4A5C-90B2-1BA3DBF189B5}"/>
    <pc:docChg chg="custSel addSld delSld modSld modSection">
      <pc:chgData name="신낙천(NAKCHEON SHIN)[nch_shin]/선임/제조DX.기획팀" userId="5f68e214-0d7a-435b-a27c-64d4781182de" providerId="ADAL" clId="{BFC0902C-AC6F-4A5C-90B2-1BA3DBF189B5}" dt="2025-12-03T06:31:29.558" v="2623" actId="207"/>
      <pc:docMkLst>
        <pc:docMk/>
      </pc:docMkLst>
      <pc:sldChg chg="addSp delSp modSp mod">
        <pc:chgData name="신낙천(NAKCHEON SHIN)[nch_shin]/선임/제조DX.기획팀" userId="5f68e214-0d7a-435b-a27c-64d4781182de" providerId="ADAL" clId="{BFC0902C-AC6F-4A5C-90B2-1BA3DBF189B5}" dt="2025-12-03T06:31:29.558" v="2623" actId="207"/>
        <pc:sldMkLst>
          <pc:docMk/>
          <pc:sldMk cId="1990289466" sldId="2147481942"/>
        </pc:sldMkLst>
        <pc:spChg chg="add mod">
          <ac:chgData name="신낙천(NAKCHEON SHIN)[nch_shin]/선임/제조DX.기획팀" userId="5f68e214-0d7a-435b-a27c-64d4781182de" providerId="ADAL" clId="{BFC0902C-AC6F-4A5C-90B2-1BA3DBF189B5}" dt="2025-12-03T06:28:48.872" v="2254"/>
          <ac:spMkLst>
            <pc:docMk/>
            <pc:sldMk cId="1990289466" sldId="2147481942"/>
            <ac:spMk id="3" creationId="{CB3B5DEF-4A31-972B-3D85-ED6ED2F0C42A}"/>
          </ac:spMkLst>
        </pc:spChg>
        <pc:spChg chg="mod">
          <ac:chgData name="신낙천(NAKCHEON SHIN)[nch_shin]/선임/제조DX.기획팀" userId="5f68e214-0d7a-435b-a27c-64d4781182de" providerId="ADAL" clId="{BFC0902C-AC6F-4A5C-90B2-1BA3DBF189B5}" dt="2025-12-03T06:28:56.217" v="2263" actId="20577"/>
          <ac:spMkLst>
            <pc:docMk/>
            <pc:sldMk cId="1990289466" sldId="2147481942"/>
            <ac:spMk id="5" creationId="{57EE8376-1042-449C-B823-F39F4DD715DC}"/>
          </ac:spMkLst>
        </pc:spChg>
        <pc:spChg chg="del">
          <ac:chgData name="신낙천(NAKCHEON SHIN)[nch_shin]/선임/제조DX.기획팀" userId="5f68e214-0d7a-435b-a27c-64d4781182de" providerId="ADAL" clId="{BFC0902C-AC6F-4A5C-90B2-1BA3DBF189B5}" dt="2025-12-03T06:28:47.299" v="2253" actId="478"/>
          <ac:spMkLst>
            <pc:docMk/>
            <pc:sldMk cId="1990289466" sldId="2147481942"/>
            <ac:spMk id="11" creationId="{7CA8219C-E1D5-44CC-9058-AA3F410B1190}"/>
          </ac:spMkLst>
        </pc:spChg>
        <pc:graphicFrameChg chg="mod modGraphic">
          <ac:chgData name="신낙천(NAKCHEON SHIN)[nch_shin]/선임/제조DX.기획팀" userId="5f68e214-0d7a-435b-a27c-64d4781182de" providerId="ADAL" clId="{BFC0902C-AC6F-4A5C-90B2-1BA3DBF189B5}" dt="2025-12-03T06:31:29.558" v="2623" actId="207"/>
          <ac:graphicFrameMkLst>
            <pc:docMk/>
            <pc:sldMk cId="1990289466" sldId="2147481942"/>
            <ac:graphicFrameMk id="2" creationId="{D9C6C542-2C2E-4A1B-8A21-6D6D3ECD449F}"/>
          </ac:graphicFrameMkLst>
        </pc:graphicFrameChg>
      </pc:sldChg>
      <pc:sldChg chg="modSp mod">
        <pc:chgData name="신낙천(NAKCHEON SHIN)[nch_shin]/선임/제조DX.기획팀" userId="5f68e214-0d7a-435b-a27c-64d4781182de" providerId="ADAL" clId="{BFC0902C-AC6F-4A5C-90B2-1BA3DBF189B5}" dt="2025-12-03T06:27:59.629" v="2244"/>
        <pc:sldMkLst>
          <pc:docMk/>
          <pc:sldMk cId="2744705665" sldId="2147481951"/>
        </pc:sldMkLst>
        <pc:spChg chg="mod">
          <ac:chgData name="신낙천(NAKCHEON SHIN)[nch_shin]/선임/제조DX.기획팀" userId="5f68e214-0d7a-435b-a27c-64d4781182de" providerId="ADAL" clId="{BFC0902C-AC6F-4A5C-90B2-1BA3DBF189B5}" dt="2025-12-03T06:21:33.812" v="1108" actId="20577"/>
          <ac:spMkLst>
            <pc:docMk/>
            <pc:sldMk cId="2744705665" sldId="2147481951"/>
            <ac:spMk id="5" creationId="{57EE8376-1042-449C-B823-F39F4DD715DC}"/>
          </ac:spMkLst>
        </pc:spChg>
        <pc:spChg chg="mod">
          <ac:chgData name="신낙천(NAKCHEON SHIN)[nch_shin]/선임/제조DX.기획팀" userId="5f68e214-0d7a-435b-a27c-64d4781182de" providerId="ADAL" clId="{BFC0902C-AC6F-4A5C-90B2-1BA3DBF189B5}" dt="2025-12-03T06:21:42.058" v="1116" actId="20577"/>
          <ac:spMkLst>
            <pc:docMk/>
            <pc:sldMk cId="2744705665" sldId="2147481951"/>
            <ac:spMk id="13" creationId="{D533F64C-1DF4-481B-B825-D3C91E867FEC}"/>
          </ac:spMkLst>
        </pc:spChg>
        <pc:graphicFrameChg chg="mod modGraphic">
          <ac:chgData name="신낙천(NAKCHEON SHIN)[nch_shin]/선임/제조DX.기획팀" userId="5f68e214-0d7a-435b-a27c-64d4781182de" providerId="ADAL" clId="{BFC0902C-AC6F-4A5C-90B2-1BA3DBF189B5}" dt="2025-12-03T06:27:59.629" v="2244"/>
          <ac:graphicFrameMkLst>
            <pc:docMk/>
            <pc:sldMk cId="2744705665" sldId="2147481951"/>
            <ac:graphicFrameMk id="2" creationId="{D9C6C542-2C2E-4A1B-8A21-6D6D3ECD449F}"/>
          </ac:graphicFrameMkLst>
        </pc:graphicFrameChg>
      </pc:sldChg>
      <pc:sldChg chg="delSp modSp mod">
        <pc:chgData name="신낙천(NAKCHEON SHIN)[nch_shin]/선임/제조DX.기획팀" userId="5f68e214-0d7a-435b-a27c-64d4781182de" providerId="ADAL" clId="{BFC0902C-AC6F-4A5C-90B2-1BA3DBF189B5}" dt="2025-12-03T06:20:36.590" v="1100" actId="20577"/>
        <pc:sldMkLst>
          <pc:docMk/>
          <pc:sldMk cId="2942103815" sldId="2147481954"/>
        </pc:sldMkLst>
        <pc:spChg chg="mod">
          <ac:chgData name="신낙천(NAKCHEON SHIN)[nch_shin]/선임/제조DX.기획팀" userId="5f68e214-0d7a-435b-a27c-64d4781182de" providerId="ADAL" clId="{BFC0902C-AC6F-4A5C-90B2-1BA3DBF189B5}" dt="2025-12-03T06:04:17.727" v="5" actId="20577"/>
          <ac:spMkLst>
            <pc:docMk/>
            <pc:sldMk cId="2942103815" sldId="2147481954"/>
            <ac:spMk id="5" creationId="{57EE8376-1042-449C-B823-F39F4DD715DC}"/>
          </ac:spMkLst>
        </pc:spChg>
        <pc:spChg chg="mod">
          <ac:chgData name="신낙천(NAKCHEON SHIN)[nch_shin]/선임/제조DX.기획팀" userId="5f68e214-0d7a-435b-a27c-64d4781182de" providerId="ADAL" clId="{BFC0902C-AC6F-4A5C-90B2-1BA3DBF189B5}" dt="2025-12-03T06:04:55.554" v="11" actId="20577"/>
          <ac:spMkLst>
            <pc:docMk/>
            <pc:sldMk cId="2942103815" sldId="2147481954"/>
            <ac:spMk id="37" creationId="{5F8AACC1-1AA7-499D-9173-F4B7A8D6A54C}"/>
          </ac:spMkLst>
        </pc:spChg>
        <pc:graphicFrameChg chg="mod modGraphic">
          <ac:chgData name="신낙천(NAKCHEON SHIN)[nch_shin]/선임/제조DX.기획팀" userId="5f68e214-0d7a-435b-a27c-64d4781182de" providerId="ADAL" clId="{BFC0902C-AC6F-4A5C-90B2-1BA3DBF189B5}" dt="2025-12-03T06:20:36.590" v="1100" actId="20577"/>
          <ac:graphicFrameMkLst>
            <pc:docMk/>
            <pc:sldMk cId="2942103815" sldId="2147481954"/>
            <ac:graphicFrameMk id="2" creationId="{D9C6C542-2C2E-4A1B-8A21-6D6D3ECD449F}"/>
          </ac:graphicFrameMkLst>
        </pc:graphicFrameChg>
        <pc:picChg chg="del">
          <ac:chgData name="신낙천(NAKCHEON SHIN)[nch_shin]/선임/제조DX.기획팀" userId="5f68e214-0d7a-435b-a27c-64d4781182de" providerId="ADAL" clId="{BFC0902C-AC6F-4A5C-90B2-1BA3DBF189B5}" dt="2025-12-03T06:13:35.646" v="451" actId="478"/>
          <ac:picMkLst>
            <pc:docMk/>
            <pc:sldMk cId="2942103815" sldId="2147481954"/>
            <ac:picMk id="9" creationId="{FFC3266D-5B2A-845E-0AA8-AFBA1E085281}"/>
          </ac:picMkLst>
        </pc:picChg>
      </pc:sldChg>
      <pc:sldChg chg="addSp delSp modSp del mod">
        <pc:chgData name="신낙천(NAKCHEON SHIN)[nch_shin]/선임/제조DX.기획팀" userId="5f68e214-0d7a-435b-a27c-64d4781182de" providerId="ADAL" clId="{BFC0902C-AC6F-4A5C-90B2-1BA3DBF189B5}" dt="2025-12-03T06:28:29.974" v="2252" actId="47"/>
        <pc:sldMkLst>
          <pc:docMk/>
          <pc:sldMk cId="765910879" sldId="2147481959"/>
        </pc:sldMkLst>
        <pc:spChg chg="add mod">
          <ac:chgData name="신낙천(NAKCHEON SHIN)[nch_shin]/선임/제조DX.기획팀" userId="5f68e214-0d7a-435b-a27c-64d4781182de" providerId="ADAL" clId="{BFC0902C-AC6F-4A5C-90B2-1BA3DBF189B5}" dt="2025-12-03T06:28:18.472" v="2251"/>
          <ac:spMkLst>
            <pc:docMk/>
            <pc:sldMk cId="765910879" sldId="2147481959"/>
            <ac:spMk id="3" creationId="{22CCA883-30A4-11CA-D91D-0F429193A990}"/>
          </ac:spMkLst>
        </pc:spChg>
        <pc:spChg chg="mod">
          <ac:chgData name="신낙천(NAKCHEON SHIN)[nch_shin]/선임/제조DX.기획팀" userId="5f68e214-0d7a-435b-a27c-64d4781182de" providerId="ADAL" clId="{BFC0902C-AC6F-4A5C-90B2-1BA3DBF189B5}" dt="2025-12-03T06:28:10.474" v="2249" actId="20577"/>
          <ac:spMkLst>
            <pc:docMk/>
            <pc:sldMk cId="765910879" sldId="2147481959"/>
            <ac:spMk id="5" creationId="{57EE8376-1042-449C-B823-F39F4DD715DC}"/>
          </ac:spMkLst>
        </pc:spChg>
        <pc:spChg chg="del">
          <ac:chgData name="신낙천(NAKCHEON SHIN)[nch_shin]/선임/제조DX.기획팀" userId="5f68e214-0d7a-435b-a27c-64d4781182de" providerId="ADAL" clId="{BFC0902C-AC6F-4A5C-90B2-1BA3DBF189B5}" dt="2025-12-03T06:28:18.198" v="2250" actId="478"/>
          <ac:spMkLst>
            <pc:docMk/>
            <pc:sldMk cId="765910879" sldId="2147481959"/>
            <ac:spMk id="13" creationId="{D533F64C-1DF4-481B-B825-D3C91E867FEC}"/>
          </ac:spMkLst>
        </pc:spChg>
      </pc:sldChg>
      <pc:sldChg chg="add del">
        <pc:chgData name="신낙천(NAKCHEON SHIN)[nch_shin]/선임/제조DX.기획팀" userId="5f68e214-0d7a-435b-a27c-64d4781182de" providerId="ADAL" clId="{BFC0902C-AC6F-4A5C-90B2-1BA3DBF189B5}" dt="2025-12-03T06:21:26.227" v="1101" actId="47"/>
        <pc:sldMkLst>
          <pc:docMk/>
          <pc:sldMk cId="2902028626" sldId="2147481968"/>
        </pc:sldMkLst>
      </pc:sldChg>
    </pc:docChg>
  </pc:docChgLst>
  <pc:docChgLst>
    <pc:chgData name="최수정(SU JEONG CHOI)[csj11]/사원/제조DX.기획팀" userId="3f1e39ad-357d-4de4-8db3-3ab430410289" providerId="ADAL" clId="{621929D1-6E13-4C2E-AEFB-831839AA5192}"/>
    <pc:docChg chg="modSld">
      <pc:chgData name="최수정(SU JEONG CHOI)[csj11]/사원/제조DX.기획팀" userId="3f1e39ad-357d-4de4-8db3-3ab430410289" providerId="ADAL" clId="{621929D1-6E13-4C2E-AEFB-831839AA5192}" dt="2025-12-17T02:07:54.551" v="135"/>
      <pc:docMkLst>
        <pc:docMk/>
      </pc:docMkLst>
      <pc:sldChg chg="modSp mod">
        <pc:chgData name="최수정(SU JEONG CHOI)[csj11]/사원/제조DX.기획팀" userId="3f1e39ad-357d-4de4-8db3-3ab430410289" providerId="ADAL" clId="{621929D1-6E13-4C2E-AEFB-831839AA5192}" dt="2025-12-17T02:07:45.399" v="134" actId="20577"/>
        <pc:sldMkLst>
          <pc:docMk/>
          <pc:sldMk cId="44733976" sldId="2147481883"/>
        </pc:sldMkLst>
        <pc:spChg chg="mod">
          <ac:chgData name="최수정(SU JEONG CHOI)[csj11]/사원/제조DX.기획팀" userId="3f1e39ad-357d-4de4-8db3-3ab430410289" providerId="ADAL" clId="{621929D1-6E13-4C2E-AEFB-831839AA5192}" dt="2025-12-17T02:07:23.258" v="1" actId="20577"/>
          <ac:spMkLst>
            <pc:docMk/>
            <pc:sldMk cId="44733976" sldId="2147481883"/>
            <ac:spMk id="12" creationId="{9D0EE530-A532-47EF-8E5A-D46D78AD73E5}"/>
          </ac:spMkLst>
        </pc:spChg>
        <pc:graphicFrameChg chg="mod modGraphic">
          <ac:chgData name="최수정(SU JEONG CHOI)[csj11]/사원/제조DX.기획팀" userId="3f1e39ad-357d-4de4-8db3-3ab430410289" providerId="ADAL" clId="{621929D1-6E13-4C2E-AEFB-831839AA5192}" dt="2025-12-17T02:07:45.399" v="134" actId="20577"/>
          <ac:graphicFrameMkLst>
            <pc:docMk/>
            <pc:sldMk cId="44733976" sldId="2147481883"/>
            <ac:graphicFrameMk id="9" creationId="{05FC5328-2198-4089-99D2-3C663AE66700}"/>
          </ac:graphicFrameMkLst>
        </pc:graphicFrameChg>
      </pc:sldChg>
      <pc:sldChg chg="modSp">
        <pc:chgData name="최수정(SU JEONG CHOI)[csj11]/사원/제조DX.기획팀" userId="3f1e39ad-357d-4de4-8db3-3ab430410289" providerId="ADAL" clId="{621929D1-6E13-4C2E-AEFB-831839AA5192}" dt="2025-12-17T02:07:54.551" v="135"/>
        <pc:sldMkLst>
          <pc:docMk/>
          <pc:sldMk cId="2804836000" sldId="2147481921"/>
        </pc:sldMkLst>
        <pc:graphicFrameChg chg="mod">
          <ac:chgData name="최수정(SU JEONG CHOI)[csj11]/사원/제조DX.기획팀" userId="3f1e39ad-357d-4de4-8db3-3ab430410289" providerId="ADAL" clId="{621929D1-6E13-4C2E-AEFB-831839AA5192}" dt="2025-12-17T02:07:54.551" v="135"/>
          <ac:graphicFrameMkLst>
            <pc:docMk/>
            <pc:sldMk cId="2804836000" sldId="2147481921"/>
            <ac:graphicFrameMk id="9" creationId="{05FC5328-2198-4089-99D2-3C663AE66700}"/>
          </ac:graphicFrameMkLst>
        </pc:graphicFrameChg>
      </pc:sldChg>
    </pc:docChg>
  </pc:docChgLst>
  <pc:docChgLst>
    <pc:chgData name="박종석(JONG SEOK PARK)[jaypark]/팀장/제조DX.기획팀" userId="e8212c48-e98c-4075-8dbf-ce8a424e30ad" providerId="ADAL" clId="{AEED477C-9EF8-48B8-9F0C-693D6F8663D5}"/>
    <pc:docChg chg="undo redo custSel modSld">
      <pc:chgData name="박종석(JONG SEOK PARK)[jaypark]/팀장/제조DX.기획팀" userId="e8212c48-e98c-4075-8dbf-ce8a424e30ad" providerId="ADAL" clId="{AEED477C-9EF8-48B8-9F0C-693D6F8663D5}" dt="2025-12-03T08:59:24.508" v="1788" actId="478"/>
      <pc:docMkLst>
        <pc:docMk/>
      </pc:docMkLst>
      <pc:sldChg chg="addSp delSp modSp mod">
        <pc:chgData name="박종석(JONG SEOK PARK)[jaypark]/팀장/제조DX.기획팀" userId="e8212c48-e98c-4075-8dbf-ce8a424e30ad" providerId="ADAL" clId="{AEED477C-9EF8-48B8-9F0C-693D6F8663D5}" dt="2025-12-03T08:59:24.508" v="1788" actId="478"/>
        <pc:sldMkLst>
          <pc:docMk/>
          <pc:sldMk cId="3266697761" sldId="2278"/>
        </pc:sldMkLst>
        <pc:spChg chg="add del mod">
          <ac:chgData name="박종석(JONG SEOK PARK)[jaypark]/팀장/제조DX.기획팀" userId="e8212c48-e98c-4075-8dbf-ce8a424e30ad" providerId="ADAL" clId="{AEED477C-9EF8-48B8-9F0C-693D6F8663D5}" dt="2025-12-03T08:28:38.183" v="778" actId="478"/>
          <ac:spMkLst>
            <pc:docMk/>
            <pc:sldMk cId="3266697761" sldId="2278"/>
            <ac:spMk id="5" creationId="{D22C4B96-2760-5004-C61B-CAC75AC9D50E}"/>
          </ac:spMkLst>
        </pc:spChg>
        <pc:spChg chg="mod">
          <ac:chgData name="박종석(JONG SEOK PARK)[jaypark]/팀장/제조DX.기획팀" userId="e8212c48-e98c-4075-8dbf-ce8a424e30ad" providerId="ADAL" clId="{AEED477C-9EF8-48B8-9F0C-693D6F8663D5}" dt="2025-12-03T08:59:22.916" v="1787" actId="207"/>
          <ac:spMkLst>
            <pc:docMk/>
            <pc:sldMk cId="3266697761" sldId="2278"/>
            <ac:spMk id="7" creationId="{89D4B324-277C-4D43-94A6-E585665C7CD5}"/>
          </ac:spMkLst>
        </pc:spChg>
        <pc:spChg chg="mod">
          <ac:chgData name="박종석(JONG SEOK PARK)[jaypark]/팀장/제조DX.기획팀" userId="e8212c48-e98c-4075-8dbf-ce8a424e30ad" providerId="ADAL" clId="{AEED477C-9EF8-48B8-9F0C-693D6F8663D5}" dt="2025-12-03T08:39:29.073" v="1329" actId="1076"/>
          <ac:spMkLst>
            <pc:docMk/>
            <pc:sldMk cId="3266697761" sldId="2278"/>
            <ac:spMk id="8" creationId="{173AF454-BA1E-4DDA-A247-11F709DB6CF2}"/>
          </ac:spMkLst>
        </pc:spChg>
        <pc:spChg chg="add del mod">
          <ac:chgData name="박종석(JONG SEOK PARK)[jaypark]/팀장/제조DX.기획팀" userId="e8212c48-e98c-4075-8dbf-ce8a424e30ad" providerId="ADAL" clId="{AEED477C-9EF8-48B8-9F0C-693D6F8663D5}" dt="2025-12-03T08:41:53.281" v="1633" actId="478"/>
          <ac:spMkLst>
            <pc:docMk/>
            <pc:sldMk cId="3266697761" sldId="2278"/>
            <ac:spMk id="10" creationId="{36479EF6-0947-2FD7-FF82-5F77D78A9FAD}"/>
          </ac:spMkLst>
        </pc:spChg>
        <pc:spChg chg="mod">
          <ac:chgData name="박종석(JONG SEOK PARK)[jaypark]/팀장/제조DX.기획팀" userId="e8212c48-e98c-4075-8dbf-ce8a424e30ad" providerId="ADAL" clId="{AEED477C-9EF8-48B8-9F0C-693D6F8663D5}" dt="2025-12-03T08:32:28.422" v="958" actId="207"/>
          <ac:spMkLst>
            <pc:docMk/>
            <pc:sldMk cId="3266697761" sldId="2278"/>
            <ac:spMk id="12" creationId="{F5AF6C6D-537A-4009-A822-082640F0DDD5}"/>
          </ac:spMkLst>
        </pc:spChg>
        <pc:spChg chg="mod">
          <ac:chgData name="박종석(JONG SEOK PARK)[jaypark]/팀장/제조DX.기획팀" userId="e8212c48-e98c-4075-8dbf-ce8a424e30ad" providerId="ADAL" clId="{AEED477C-9EF8-48B8-9F0C-693D6F8663D5}" dt="2025-12-03T08:41:49.815" v="1631" actId="20577"/>
          <ac:spMkLst>
            <pc:docMk/>
            <pc:sldMk cId="3266697761" sldId="2278"/>
            <ac:spMk id="13" creationId="{E1757AD5-F069-4840-92A4-691371A30877}"/>
          </ac:spMkLst>
        </pc:spChg>
        <pc:graphicFrameChg chg="mod">
          <ac:chgData name="박종석(JONG SEOK PARK)[jaypark]/팀장/제조DX.기획팀" userId="e8212c48-e98c-4075-8dbf-ce8a424e30ad" providerId="ADAL" clId="{AEED477C-9EF8-48B8-9F0C-693D6F8663D5}" dt="2025-12-03T08:39:29.073" v="1329" actId="1076"/>
          <ac:graphicFrameMkLst>
            <pc:docMk/>
            <pc:sldMk cId="3266697761" sldId="2278"/>
            <ac:graphicFrameMk id="11" creationId="{2B67C6E4-83F8-5A2F-7F09-19DEBA46C52F}"/>
          </ac:graphicFrameMkLst>
        </pc:graphicFrameChg>
        <pc:picChg chg="add del mod">
          <ac:chgData name="박종석(JONG SEOK PARK)[jaypark]/팀장/제조DX.기획팀" userId="e8212c48-e98c-4075-8dbf-ce8a424e30ad" providerId="ADAL" clId="{AEED477C-9EF8-48B8-9F0C-693D6F8663D5}" dt="2025-12-03T08:28:39.133" v="779" actId="478"/>
          <ac:picMkLst>
            <pc:docMk/>
            <pc:sldMk cId="3266697761" sldId="2278"/>
            <ac:picMk id="4" creationId="{81E4F70A-8710-77BF-CC5F-6D2C40691770}"/>
          </ac:picMkLst>
        </pc:picChg>
        <pc:picChg chg="add del mod">
          <ac:chgData name="박종석(JONG SEOK PARK)[jaypark]/팀장/제조DX.기획팀" userId="e8212c48-e98c-4075-8dbf-ce8a424e30ad" providerId="ADAL" clId="{AEED477C-9EF8-48B8-9F0C-693D6F8663D5}" dt="2025-12-03T08:41:52.021" v="1632" actId="478"/>
          <ac:picMkLst>
            <pc:docMk/>
            <pc:sldMk cId="3266697761" sldId="2278"/>
            <ac:picMk id="9" creationId="{932386D2-EA80-3D63-62A3-77D291E4381F}"/>
          </ac:picMkLst>
        </pc:picChg>
        <pc:picChg chg="add del mod">
          <ac:chgData name="박종석(JONG SEOK PARK)[jaypark]/팀장/제조DX.기획팀" userId="e8212c48-e98c-4075-8dbf-ce8a424e30ad" providerId="ADAL" clId="{AEED477C-9EF8-48B8-9F0C-693D6F8663D5}" dt="2025-12-03T08:34:23.312" v="995" actId="478"/>
          <ac:picMkLst>
            <pc:docMk/>
            <pc:sldMk cId="3266697761" sldId="2278"/>
            <ac:picMk id="15" creationId="{E7EBA157-AF58-4AEF-0BB6-064964C61FAB}"/>
          </ac:picMkLst>
        </pc:picChg>
        <pc:picChg chg="add del mod">
          <ac:chgData name="박종석(JONG SEOK PARK)[jaypark]/팀장/제조DX.기획팀" userId="e8212c48-e98c-4075-8dbf-ce8a424e30ad" providerId="ADAL" clId="{AEED477C-9EF8-48B8-9F0C-693D6F8663D5}" dt="2025-12-03T08:59:24.508" v="1788" actId="478"/>
          <ac:picMkLst>
            <pc:docMk/>
            <pc:sldMk cId="3266697761" sldId="2278"/>
            <ac:picMk id="17" creationId="{BB7F958E-7164-548D-5987-8377607B61C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395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C5283-F698-4B70-A5AB-FFCC0F08C4A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70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094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094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094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169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628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4881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4881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174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6721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ctr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699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154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65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651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164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91647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6963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9060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04111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611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731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731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4793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1542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4325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5130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730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5600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207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12648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86539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9319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7652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3258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27706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3305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4389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4416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4339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674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380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3895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2578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2469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3228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15600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86678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12498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49463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43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28087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16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1525" y="6650863"/>
            <a:ext cx="402923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21</a:t>
            </a:r>
          </a:p>
        </p:txBody>
      </p:sp>
    </p:spTree>
    <p:extLst>
      <p:ext uri="{BB962C8B-B14F-4D97-AF65-F5344CB8AC3E}">
        <p14:creationId xmlns:p14="http://schemas.microsoft.com/office/powerpoint/2010/main" val="2856474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val 232"/>
          <p:cNvSpPr>
            <a:spLocks noChangeArrowheads="1"/>
          </p:cNvSpPr>
          <p:nvPr/>
        </p:nvSpPr>
        <p:spPr bwMode="auto">
          <a:xfrm>
            <a:off x="1093036" y="95250"/>
            <a:ext cx="900000" cy="5461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G스마트체 Regular"/>
            </a:endParaRPr>
          </a:p>
        </p:txBody>
      </p:sp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616228"/>
              </p:ext>
            </p:extLst>
          </p:nvPr>
        </p:nvGraphicFramePr>
        <p:xfrm>
          <a:off x="207966" y="176213"/>
          <a:ext cx="2667000" cy="361950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일반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General)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대외비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Confidential)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비밀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LG스마트체 Regular" pitchFamily="50" charset="-127"/>
                          <a:ea typeface="LG스마트체 Regular" pitchFamily="50" charset="-127"/>
                        </a:rPr>
                        <a:t>Secret)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Picture 32" descr="솔루션파트너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77194" y="176213"/>
            <a:ext cx="180022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90EB3D21-7275-42BF-94DC-05EB15260B5A}"/>
              </a:ext>
            </a:extLst>
          </p:cNvPr>
          <p:cNvGrpSpPr/>
          <p:nvPr/>
        </p:nvGrpSpPr>
        <p:grpSpPr>
          <a:xfrm>
            <a:off x="2823250" y="1134300"/>
            <a:ext cx="4259499" cy="1836806"/>
            <a:chOff x="3095707" y="1134300"/>
            <a:chExt cx="4259499" cy="1836806"/>
          </a:xfrm>
        </p:grpSpPr>
        <p:sp>
          <p:nvSpPr>
            <p:cNvPr id="99" name="Text Box 37"/>
            <p:cNvSpPr txBox="1">
              <a:spLocks noChangeArrowheads="1"/>
            </p:cNvSpPr>
            <p:nvPr/>
          </p:nvSpPr>
          <p:spPr bwMode="auto">
            <a:xfrm>
              <a:off x="4068729" y="2568047"/>
              <a:ext cx="2226892" cy="403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92075" indent="-92075">
                <a:lnSpc>
                  <a:spcPct val="140000"/>
                </a:lnSpc>
                <a:buFontTx/>
                <a:buAutoNum type="arabicPeriod"/>
              </a:pP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 charset="0"/>
                </a:rPr>
                <a:t> 과제 진행 현황</a:t>
              </a:r>
              <a:r>
                <a:rPr lang="en-US" alt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 charset="0"/>
                </a:rPr>
                <a:t>_</a:t>
              </a: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 charset="0"/>
                </a:rPr>
                <a:t>기획팀</a:t>
              </a:r>
              <a:endParaRPr lang="en-US" altLang="ko-KR" sz="1600" b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G스마트체 Regular"/>
                <a:cs typeface="Arial" charset="0"/>
              </a:endParaRPr>
            </a:p>
          </p:txBody>
        </p:sp>
        <p:sp>
          <p:nvSpPr>
            <p:cNvPr id="33" name="제목 1"/>
            <p:cNvSpPr txBox="1">
              <a:spLocks/>
            </p:cNvSpPr>
            <p:nvPr/>
          </p:nvSpPr>
          <p:spPr bwMode="auto">
            <a:xfrm>
              <a:off x="3095707" y="1134300"/>
              <a:ext cx="4259499" cy="584775"/>
            </a:xfrm>
            <a:prstGeom prst="rect">
              <a:avLst/>
            </a:prstGeom>
            <a:solidFill>
              <a:schemeClr val="bg1"/>
            </a:solidFill>
            <a:ln w="12700">
              <a:gradFill>
                <a:gsLst>
                  <a:gs pos="0">
                    <a:schemeClr val="bg1">
                      <a:alpha val="0"/>
                      <a:lumMod val="0"/>
                      <a:lumOff val="100000"/>
                    </a:schemeClr>
                  </a:gs>
                  <a:gs pos="98000">
                    <a:schemeClr val="bg1">
                      <a:alpha val="0"/>
                      <a:lumMod val="0"/>
                      <a:lumOff val="100000"/>
                    </a:schemeClr>
                  </a:gs>
                  <a:gs pos="99000">
                    <a:schemeClr val="tx1"/>
                  </a:gs>
                </a:gsLst>
                <a:lin ang="5400000" scaled="0"/>
              </a:gradFill>
              <a:miter lim="800000"/>
              <a:headEnd/>
              <a:tailEnd/>
            </a:ln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2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j-cs"/>
                </a:defRPr>
              </a:lvl1pPr>
              <a:lvl2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defRPr/>
              </a:pPr>
              <a:r>
                <a:rPr lang="ko-KR" altLang="en-US" sz="3200" kern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스마트체 Regular"/>
                </a:rPr>
                <a:t>제조</a:t>
              </a:r>
              <a:r>
                <a:rPr lang="en-US" altLang="ko-KR" sz="3200" kern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스마트체 Regular"/>
                </a:rPr>
                <a:t>DX.</a:t>
              </a:r>
              <a:r>
                <a:rPr lang="ko-KR" altLang="en-US" sz="3200" kern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스마트체 Regular"/>
                </a:rPr>
                <a:t>기획팀 추진 현황</a:t>
              </a:r>
            </a:p>
          </p:txBody>
        </p:sp>
        <p:sp>
          <p:nvSpPr>
            <p:cNvPr id="34" name="제목 1"/>
            <p:cNvSpPr txBox="1">
              <a:spLocks/>
            </p:cNvSpPr>
            <p:nvPr/>
          </p:nvSpPr>
          <p:spPr bwMode="auto">
            <a:xfrm>
              <a:off x="4931145" y="2173480"/>
              <a:ext cx="588623" cy="369332"/>
            </a:xfrm>
            <a:prstGeom prst="rect">
              <a:avLst/>
            </a:prstGeom>
            <a:solidFill>
              <a:schemeClr val="bg1"/>
            </a:solidFill>
            <a:ln w="12700">
              <a:gradFill>
                <a:gsLst>
                  <a:gs pos="0">
                    <a:schemeClr val="bg1">
                      <a:alpha val="0"/>
                      <a:lumMod val="0"/>
                      <a:lumOff val="100000"/>
                    </a:schemeClr>
                  </a:gs>
                  <a:gs pos="98000">
                    <a:schemeClr val="bg1">
                      <a:alpha val="0"/>
                      <a:lumMod val="0"/>
                      <a:lumOff val="100000"/>
                    </a:schemeClr>
                  </a:gs>
                  <a:gs pos="99000">
                    <a:schemeClr val="tx1"/>
                  </a:gs>
                </a:gsLst>
                <a:lin ang="5400000" scaled="0"/>
              </a:gradFill>
              <a:miter lim="800000"/>
              <a:headEnd/>
              <a:tailEnd/>
            </a:ln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algn="l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2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+mj-cs"/>
                </a:defRPr>
              </a:lvl1pPr>
              <a:lvl2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2pPr>
              <a:lvl3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3pPr>
              <a:lvl4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4pPr>
              <a:lvl5pPr algn="ctr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5pPr>
              <a:lvl6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6pPr>
              <a:lvl7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7pPr>
              <a:lvl8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8pPr>
              <a:lvl9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defRPr/>
              </a:pPr>
              <a:r>
                <a:rPr lang="ko-KR" altLang="en-US" sz="1800" kern="0"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ea typeface="LG스마트체 Regular"/>
                </a:rPr>
                <a:t>목차</a:t>
              </a: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4646519" y="6494868"/>
            <a:ext cx="622484" cy="337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788365" y="5250686"/>
            <a:ext cx="3918902" cy="1288993"/>
            <a:chOff x="2990669" y="5250686"/>
            <a:chExt cx="3918902" cy="1288993"/>
          </a:xfrm>
        </p:grpSpPr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4460247" y="5574722"/>
              <a:ext cx="1390124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 charset="0"/>
                </a:rPr>
                <a:t>제조</a:t>
              </a:r>
              <a:r>
                <a:rPr lang="en-US" alt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 charset="0"/>
                </a:rPr>
                <a:t>DX.</a:t>
              </a:r>
              <a:r>
                <a:rPr lang="ko-KR" altLang="en-US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 charset="0"/>
                </a:rPr>
                <a:t>기획팀</a:t>
              </a:r>
            </a:p>
          </p:txBody>
        </p:sp>
        <p:sp>
          <p:nvSpPr>
            <p:cNvPr id="19" name="Text Box 34"/>
            <p:cNvSpPr txBox="1">
              <a:spLocks noChangeArrowheads="1"/>
            </p:cNvSpPr>
            <p:nvPr/>
          </p:nvSpPr>
          <p:spPr bwMode="auto">
            <a:xfrm>
              <a:off x="4074217" y="5250686"/>
              <a:ext cx="2162175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0" tIns="45720" rIns="91440" bIns="4572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ko-KR" sz="1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LG스마트체 Regular"/>
                  <a:cs typeface="Arial"/>
                </a:rPr>
                <a:t>2025. 12. 17</a:t>
              </a:r>
            </a:p>
          </p:txBody>
        </p:sp>
        <p:grpSp>
          <p:nvGrpSpPr>
            <p:cNvPr id="6" name="그룹 5"/>
            <p:cNvGrpSpPr/>
            <p:nvPr/>
          </p:nvGrpSpPr>
          <p:grpSpPr>
            <a:xfrm>
              <a:off x="2990669" y="6111503"/>
              <a:ext cx="3918902" cy="428176"/>
              <a:chOff x="2990669" y="6111503"/>
              <a:chExt cx="3918902" cy="428176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990669" y="6111503"/>
                <a:ext cx="2180745" cy="428176"/>
              </a:xfrm>
              <a:prstGeom prst="rect">
                <a:avLst/>
              </a:prstGeom>
            </p:spPr>
          </p:pic>
          <p:sp>
            <p:nvSpPr>
              <p:cNvPr id="17" name="Text Box 6"/>
              <p:cNvSpPr txBox="1">
                <a:spLocks noChangeArrowheads="1"/>
              </p:cNvSpPr>
              <p:nvPr/>
            </p:nvSpPr>
            <p:spPr bwMode="auto">
              <a:xfrm>
                <a:off x="5099460" y="6156314"/>
                <a:ext cx="1810111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ko-KR" sz="16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G스마트체 Regular"/>
                    <a:cs typeface="Arial" charset="0"/>
                  </a:rPr>
                  <a:t>/ CDO.</a:t>
                </a:r>
                <a:r>
                  <a:rPr lang="ko-KR" altLang="en-US" sz="16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G스마트체 Regular"/>
                    <a:cs typeface="Arial" charset="0"/>
                  </a:rPr>
                  <a:t>제조</a:t>
                </a:r>
                <a:r>
                  <a:rPr lang="en-US" altLang="ko-KR" sz="16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G스마트체 Regular"/>
                    <a:cs typeface="Arial" charset="0"/>
                  </a:rPr>
                  <a:t>DX</a:t>
                </a:r>
                <a:r>
                  <a:rPr lang="ko-KR" altLang="en-US" sz="1600" b="1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LG스마트체 Regular"/>
                    <a:cs typeface="Arial" charset="0"/>
                  </a:rPr>
                  <a:t>그룹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513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제목 1"/>
          <p:cNvSpPr txBox="1">
            <a:spLocks/>
          </p:cNvSpPr>
          <p:nvPr/>
        </p:nvSpPr>
        <p:spPr>
          <a:xfrm>
            <a:off x="124961" y="132021"/>
            <a:ext cx="2161169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r>
              <a:rPr lang="ko-KR" altLang="en-US" sz="1800">
                <a:solidFill>
                  <a:schemeClr val="tx1"/>
                </a:solidFill>
                <a:latin typeface="+mn-lt"/>
                <a:ea typeface="+mn-ea"/>
                <a:cs typeface="Malgun Gothic Semilight" panose="020B0502040204020203" pitchFamily="50" charset="-127"/>
              </a:rPr>
              <a:t>기획팀 금주 주요 내용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4D1C8-EFD7-4EEA-9F91-A92B5BA54A09}"/>
              </a:ext>
            </a:extLst>
          </p:cNvPr>
          <p:cNvSpPr txBox="1"/>
          <p:nvPr/>
        </p:nvSpPr>
        <p:spPr>
          <a:xfrm>
            <a:off x="9100971" y="55197"/>
            <a:ext cx="8050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작성자 </a:t>
            </a:r>
            <a:r>
              <a:rPr lang="en-US" altLang="ko-KR" sz="800"/>
              <a:t>: </a:t>
            </a:r>
            <a:r>
              <a:rPr lang="ko-KR" altLang="en-US" sz="800"/>
              <a:t>박종석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AF6C6D-537A-4009-A822-082640F0DDD5}"/>
              </a:ext>
            </a:extLst>
          </p:cNvPr>
          <p:cNvSpPr txBox="1"/>
          <p:nvPr/>
        </p:nvSpPr>
        <p:spPr>
          <a:xfrm>
            <a:off x="0" y="641075"/>
            <a:ext cx="99060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1" lang="en-US" altLang="ko-KR" sz="1200" b="1" kern="0">
                <a:cs typeface="Arial"/>
              </a:rPr>
              <a:t>Data </a:t>
            </a:r>
            <a:r>
              <a:rPr kumimoji="1" lang="ko-KR" altLang="en-US" sz="1200" b="1" kern="0">
                <a:cs typeface="Arial"/>
              </a:rPr>
              <a:t>통합 운영</a:t>
            </a:r>
            <a:br>
              <a:rPr lang="en-US" altLang="ko-KR" sz="1200" b="1" kern="0">
                <a:cs typeface="Arial"/>
              </a:rPr>
            </a:br>
            <a:r>
              <a:rPr lang="en-US" altLang="ko-KR" sz="1200">
                <a:cs typeface="Malgun Gothic Semilight"/>
              </a:rPr>
              <a:t>: Data </a:t>
            </a:r>
            <a:r>
              <a:rPr lang="ko-KR" altLang="en-US" sz="1200">
                <a:cs typeface="Malgun Gothic Semilight"/>
              </a:rPr>
              <a:t>통합 운영 현대向 </a:t>
            </a:r>
            <a:r>
              <a:rPr lang="en-US" altLang="ko-KR" sz="1200">
                <a:cs typeface="Malgun Gothic Semilight"/>
              </a:rPr>
              <a:t>Normal Line </a:t>
            </a:r>
            <a:r>
              <a:rPr lang="ko-KR" altLang="en-US" sz="1200" err="1">
                <a:cs typeface="Malgun Gothic Semilight"/>
              </a:rPr>
              <a:t>노칭</a:t>
            </a:r>
            <a:r>
              <a:rPr lang="en-US" altLang="ko-KR" sz="1200">
                <a:cs typeface="Malgun Gothic Semilight"/>
              </a:rPr>
              <a:t>/</a:t>
            </a:r>
            <a:r>
              <a:rPr lang="ko-KR" altLang="en-US" sz="1200" err="1">
                <a:cs typeface="Malgun Gothic Semilight"/>
              </a:rPr>
              <a:t>라미</a:t>
            </a:r>
            <a:r>
              <a:rPr lang="ko-KR" altLang="en-US" sz="1200">
                <a:cs typeface="Malgun Gothic Semilight"/>
              </a:rPr>
              <a:t> 대상</a:t>
            </a:r>
            <a:r>
              <a:rPr lang="en-US" altLang="ko-KR" sz="1200">
                <a:cs typeface="Malgun Gothic Semilight"/>
              </a:rPr>
              <a:t>(18</a:t>
            </a:r>
            <a:r>
              <a:rPr lang="ko-KR" altLang="en-US" sz="1200">
                <a:cs typeface="Malgun Gothic Semilight"/>
              </a:rPr>
              <a:t>대</a:t>
            </a:r>
            <a:r>
              <a:rPr lang="en-US" altLang="ko-KR" sz="1200">
                <a:cs typeface="Malgun Gothic Semilight"/>
              </a:rPr>
              <a:t>) </a:t>
            </a:r>
            <a:r>
              <a:rPr lang="ko-KR" altLang="en-US" sz="1200">
                <a:cs typeface="Malgun Gothic Semilight"/>
              </a:rPr>
              <a:t>추가 적용 건 입니다</a:t>
            </a:r>
            <a:r>
              <a:rPr lang="en-US" altLang="ko-KR" sz="1200">
                <a:cs typeface="Malgun Gothic Semilight"/>
              </a:rPr>
              <a:t>.  </a:t>
            </a:r>
            <a:br>
              <a:rPr lang="en-US" altLang="ko-KR" sz="1200">
                <a:cs typeface="Malgun Gothic Semilight"/>
              </a:rPr>
            </a:br>
            <a:r>
              <a:rPr lang="en-US" altLang="ko-KR" sz="1200">
                <a:cs typeface="Malgun Gothic Semilight"/>
              </a:rPr>
              <a:t>: </a:t>
            </a:r>
            <a:r>
              <a:rPr lang="ko-KR" altLang="en-US" sz="1200">
                <a:cs typeface="Malgun Gothic Semilight"/>
              </a:rPr>
              <a:t>전체 </a:t>
            </a:r>
            <a:r>
              <a:rPr lang="en-US" altLang="ko-KR" sz="1200">
                <a:cs typeface="Malgun Gothic Semilight"/>
              </a:rPr>
              <a:t>18</a:t>
            </a:r>
            <a:r>
              <a:rPr lang="ko-KR" altLang="en-US" sz="1200">
                <a:cs typeface="Malgun Gothic Semilight"/>
              </a:rPr>
              <a:t>대 대상 중 </a:t>
            </a:r>
            <a:r>
              <a:rPr lang="en-US" altLang="ko-KR" sz="1200">
                <a:cs typeface="Malgun Gothic Semilight"/>
              </a:rPr>
              <a:t>18</a:t>
            </a:r>
            <a:r>
              <a:rPr lang="ko-KR" altLang="en-US" sz="1200">
                <a:cs typeface="Malgun Gothic Semilight"/>
              </a:rPr>
              <a:t>대 작업 완료 하였습니다</a:t>
            </a:r>
            <a:r>
              <a:rPr lang="en-US" altLang="ko-KR" sz="1200">
                <a:cs typeface="Malgun Gothic Semilight"/>
              </a:rPr>
              <a:t>.</a:t>
            </a:r>
            <a:r>
              <a:rPr lang="ko-KR" altLang="en-US" sz="1200">
                <a:cs typeface="Malgun Gothic Semilight"/>
              </a:rPr>
              <a:t> 조립</a:t>
            </a:r>
            <a:r>
              <a:rPr lang="en-US" altLang="ko-KR" sz="1200">
                <a:cs typeface="Malgun Gothic Semilight"/>
              </a:rPr>
              <a:t>FDC</a:t>
            </a:r>
            <a:r>
              <a:rPr lang="ko-KR" altLang="en-US" sz="1200">
                <a:cs typeface="Malgun Gothic Semilight"/>
              </a:rPr>
              <a:t>팀에서 해당 </a:t>
            </a:r>
            <a:r>
              <a:rPr lang="en-US" altLang="ko-KR" sz="1200">
                <a:cs typeface="Malgun Gothic Semilight"/>
              </a:rPr>
              <a:t>Data </a:t>
            </a:r>
            <a:r>
              <a:rPr lang="ko-KR" altLang="en-US" sz="1200">
                <a:cs typeface="Malgun Gothic Semilight"/>
              </a:rPr>
              <a:t>활용 관련 부족한 부분이 있는 확인해서 수정 필요사항 있는지 점검 하도록 하겠습니다</a:t>
            </a:r>
            <a:r>
              <a:rPr lang="en-US" altLang="ko-KR" sz="1200">
                <a:cs typeface="Malgun Gothic Semilight"/>
              </a:rPr>
              <a:t>.</a:t>
            </a:r>
            <a:br>
              <a:rPr lang="en-US" altLang="ko-KR" sz="1200">
                <a:cs typeface="Malgun Gothic Semilight"/>
              </a:rPr>
            </a:br>
            <a:r>
              <a:rPr lang="en-US" altLang="ko-KR" sz="1200">
                <a:cs typeface="Malgun Gothic Semilight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757AD5-F069-4840-92A4-691371A30877}"/>
              </a:ext>
            </a:extLst>
          </p:cNvPr>
          <p:cNvSpPr txBox="1"/>
          <p:nvPr/>
        </p:nvSpPr>
        <p:spPr>
          <a:xfrm>
            <a:off x="9236" y="4847468"/>
            <a:ext cx="990600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  <a:defRPr/>
            </a:pPr>
            <a:r>
              <a:rPr kumimoji="1" lang="en-US" altLang="ko-KR" sz="1200" b="1" kern="0">
                <a:cs typeface="Arial"/>
              </a:rPr>
              <a:t>Ontology</a:t>
            </a:r>
            <a:br>
              <a:rPr kumimoji="1" lang="en-US" altLang="ko-KR" sz="1200" b="1" kern="0">
                <a:cs typeface="Arial"/>
              </a:rPr>
            </a:br>
            <a:r>
              <a:rPr kumimoji="1" lang="en-US" altLang="ko-KR" sz="1200" kern="0">
                <a:cs typeface="Arial"/>
              </a:rPr>
              <a:t>: </a:t>
            </a:r>
            <a:r>
              <a:rPr kumimoji="1" lang="ko-KR" altLang="en-US" sz="1200" kern="0">
                <a:cs typeface="Malgun Gothic Semilight"/>
              </a:rPr>
              <a:t>추진 목적은 </a:t>
            </a:r>
            <a:r>
              <a:rPr kumimoji="1" lang="en-US" altLang="ko-KR" sz="1200" kern="0">
                <a:cs typeface="Malgun Gothic Semilight"/>
              </a:rPr>
              <a:t>’25</a:t>
            </a:r>
            <a:r>
              <a:rPr kumimoji="1" lang="ko-KR" altLang="en-US" sz="1200" kern="0">
                <a:cs typeface="Malgun Gothic Semilight"/>
              </a:rPr>
              <a:t>년 현재까지 그룹 차원의 </a:t>
            </a:r>
            <a:r>
              <a:rPr kumimoji="1" lang="en-US" altLang="ko-KR" sz="1200" kern="0">
                <a:cs typeface="Malgun Gothic Semilight"/>
              </a:rPr>
              <a:t>AI </a:t>
            </a:r>
            <a:r>
              <a:rPr kumimoji="1" lang="ko-KR" altLang="en-US" sz="1200" kern="0">
                <a:cs typeface="Malgun Gothic Semilight"/>
              </a:rPr>
              <a:t>관련 업무를 추진하는 과정에 있어 </a:t>
            </a:r>
            <a:r>
              <a:rPr kumimoji="1" lang="en-US" altLang="ko-KR" sz="1200" kern="0">
                <a:cs typeface="Malgun Gothic Semilight"/>
              </a:rPr>
              <a:t>Test </a:t>
            </a:r>
            <a:r>
              <a:rPr kumimoji="1" lang="ko-KR" altLang="en-US" sz="1200" kern="0">
                <a:cs typeface="Malgun Gothic Semilight"/>
              </a:rPr>
              <a:t>진행 시</a:t>
            </a:r>
            <a:r>
              <a:rPr kumimoji="1" lang="en-US" altLang="ko-KR" sz="1200" kern="0">
                <a:cs typeface="Malgun Gothic Semilight"/>
              </a:rPr>
              <a:t>, LLM</a:t>
            </a:r>
            <a:r>
              <a:rPr kumimoji="1" lang="ko-KR" altLang="en-US" sz="1200" kern="0">
                <a:cs typeface="Malgun Gothic Semilight"/>
              </a:rPr>
              <a:t>이 자사 </a:t>
            </a:r>
            <a:r>
              <a:rPr kumimoji="1" lang="en-US" altLang="ko-KR" sz="1200" kern="0">
                <a:cs typeface="Malgun Gothic Semilight"/>
              </a:rPr>
              <a:t>Data</a:t>
            </a:r>
            <a:r>
              <a:rPr kumimoji="1" lang="ko-KR" altLang="en-US" sz="1200" kern="0">
                <a:cs typeface="Malgun Gothic Semilight"/>
              </a:rPr>
              <a:t>의 의미를 이해</a:t>
            </a:r>
            <a:r>
              <a:rPr kumimoji="1" lang="en-US" altLang="ko-KR" sz="1200" kern="0">
                <a:cs typeface="Malgun Gothic Semilight"/>
              </a:rPr>
              <a:t>(</a:t>
            </a:r>
            <a:r>
              <a:rPr kumimoji="1" lang="ko-KR" altLang="en-US" sz="1200" kern="0">
                <a:cs typeface="Malgun Gothic Semilight"/>
              </a:rPr>
              <a:t>학습</a:t>
            </a:r>
            <a:r>
              <a:rPr kumimoji="1" lang="en-US" altLang="ko-KR" sz="1200" kern="0">
                <a:cs typeface="Malgun Gothic Semilight"/>
              </a:rPr>
              <a:t>)</a:t>
            </a:r>
            <a:r>
              <a:rPr kumimoji="1" lang="ko-KR" altLang="en-US" sz="1200" kern="0">
                <a:cs typeface="Malgun Gothic Semilight"/>
              </a:rPr>
              <a:t>하지 못해 엔지니어의 분석</a:t>
            </a:r>
            <a:br>
              <a:rPr kumimoji="1" lang="en-US" altLang="ko-KR" sz="1200" kern="0">
                <a:cs typeface="Malgun Gothic Semilight"/>
              </a:rPr>
            </a:br>
            <a:r>
              <a:rPr kumimoji="1" lang="en-US" altLang="ko-KR" sz="1200" kern="0">
                <a:cs typeface="Malgun Gothic Semilight"/>
              </a:rPr>
              <a:t>  </a:t>
            </a:r>
            <a:r>
              <a:rPr kumimoji="1" lang="ko-KR" altLang="en-US" sz="1200" kern="0">
                <a:cs typeface="Malgun Gothic Semilight"/>
              </a:rPr>
              <a:t>결과와 상이한 부분이 있었습니다</a:t>
            </a:r>
            <a:r>
              <a:rPr kumimoji="1" lang="en-US" altLang="ko-KR" sz="1200" kern="0">
                <a:cs typeface="Malgun Gothic Semilight"/>
              </a:rPr>
              <a:t>. </a:t>
            </a:r>
            <a:r>
              <a:rPr kumimoji="1" lang="ko-KR" altLang="en-US" sz="1200" kern="0">
                <a:cs typeface="Malgun Gothic Semilight"/>
              </a:rPr>
              <a:t>앞으로 </a:t>
            </a:r>
            <a:r>
              <a:rPr kumimoji="1" lang="en-US" altLang="ko-KR" sz="1200" kern="0">
                <a:cs typeface="Malgun Gothic Semilight"/>
              </a:rPr>
              <a:t>LLM</a:t>
            </a:r>
            <a:r>
              <a:rPr kumimoji="1" lang="ko-KR" altLang="en-US" sz="1200" kern="0">
                <a:cs typeface="Malgun Gothic Semilight"/>
              </a:rPr>
              <a:t>을 활용한 업무 효율화를 위해 </a:t>
            </a:r>
            <a:r>
              <a:rPr kumimoji="1" lang="en-US" altLang="ko-KR" sz="1200" kern="0">
                <a:cs typeface="Malgun Gothic Semilight"/>
              </a:rPr>
              <a:t>Data </a:t>
            </a:r>
            <a:r>
              <a:rPr kumimoji="1" lang="ko-KR" altLang="en-US" sz="1200" kern="0">
                <a:cs typeface="Malgun Gothic Semilight"/>
              </a:rPr>
              <a:t>인프라 환경 강화를 위해 자체적으로 </a:t>
            </a:r>
            <a:r>
              <a:rPr kumimoji="1" lang="ko-KR" altLang="en-US" sz="1200" kern="0" err="1">
                <a:cs typeface="Malgun Gothic Semilight"/>
              </a:rPr>
              <a:t>온톨리지를</a:t>
            </a:r>
            <a:r>
              <a:rPr kumimoji="1" lang="ko-KR" altLang="en-US" sz="1200" kern="0">
                <a:cs typeface="Malgun Gothic Semilight"/>
              </a:rPr>
              <a:t> 추진하고자 합니다</a:t>
            </a:r>
            <a:r>
              <a:rPr kumimoji="1" lang="en-US" altLang="ko-KR" sz="1200" kern="0">
                <a:cs typeface="Malgun Gothic Semilight"/>
              </a:rPr>
              <a:t>. </a:t>
            </a:r>
            <a:br>
              <a:rPr kumimoji="1" lang="en-US" altLang="ko-KR" sz="1200" kern="0">
                <a:cs typeface="Malgun Gothic Semilight"/>
              </a:rPr>
            </a:br>
            <a:r>
              <a:rPr kumimoji="1" lang="en-US" altLang="ko-KR" sz="1200" kern="0">
                <a:cs typeface="Malgun Gothic Semilight"/>
              </a:rPr>
              <a:t>: </a:t>
            </a:r>
            <a:r>
              <a:rPr kumimoji="1" lang="ko-KR" altLang="en-US" sz="1200" kern="0" err="1">
                <a:cs typeface="Malgun Gothic Semilight"/>
              </a:rPr>
              <a:t>라미</a:t>
            </a:r>
            <a:r>
              <a:rPr kumimoji="1" lang="ko-KR" altLang="en-US" sz="1200" kern="0">
                <a:cs typeface="Malgun Gothic Semilight"/>
              </a:rPr>
              <a:t> 위치 불량 항목으로 </a:t>
            </a:r>
            <a:r>
              <a:rPr kumimoji="1" lang="ko-KR" altLang="en-US" sz="1200" kern="0" err="1">
                <a:cs typeface="Malgun Gothic Semilight"/>
              </a:rPr>
              <a:t>온톨로지한</a:t>
            </a:r>
            <a:r>
              <a:rPr kumimoji="1" lang="ko-KR" altLang="en-US" sz="1200" kern="0">
                <a:cs typeface="Malgun Gothic Semilight"/>
              </a:rPr>
              <a:t> </a:t>
            </a:r>
            <a:r>
              <a:rPr kumimoji="1" lang="en-US" altLang="ko-KR" sz="1200" kern="0">
                <a:cs typeface="Malgun Gothic Semilight"/>
              </a:rPr>
              <a:t>Data</a:t>
            </a:r>
            <a:r>
              <a:rPr kumimoji="1" lang="ko-KR" altLang="en-US" sz="1200" kern="0">
                <a:cs typeface="Malgun Gothic Semilight"/>
              </a:rPr>
              <a:t>를 활용하여 데이터통합분석팀과 사내 </a:t>
            </a:r>
            <a:r>
              <a:rPr kumimoji="1" lang="en-US" altLang="ko-KR" sz="1200" kern="0">
                <a:cs typeface="Malgun Gothic Semilight"/>
              </a:rPr>
              <a:t>Test</a:t>
            </a:r>
            <a:r>
              <a:rPr kumimoji="1" lang="ko-KR" altLang="en-US" sz="1200" kern="0">
                <a:cs typeface="Malgun Gothic Semilight"/>
              </a:rPr>
              <a:t>를 한 것 관련 이전 정기 보고 때 대면으로 간략히 말씀을 드렸었고</a:t>
            </a:r>
            <a:r>
              <a:rPr kumimoji="1" lang="en-US" altLang="ko-KR" sz="1200" kern="0">
                <a:cs typeface="Malgun Gothic Semilight"/>
              </a:rPr>
              <a:t>, </a:t>
            </a:r>
            <a:r>
              <a:rPr kumimoji="1" lang="ko-KR" altLang="en-US" sz="1200" kern="0">
                <a:cs typeface="Malgun Gothic Semilight"/>
              </a:rPr>
              <a:t>요지는</a:t>
            </a:r>
            <a:br>
              <a:rPr kumimoji="1" lang="en-US" altLang="ko-KR" sz="1200" kern="0">
                <a:cs typeface="Malgun Gothic Semilight"/>
              </a:rPr>
            </a:br>
            <a:r>
              <a:rPr kumimoji="1" lang="en-US" altLang="ko-KR" sz="1200" kern="0">
                <a:cs typeface="Malgun Gothic Semilight"/>
              </a:rPr>
              <a:t>  </a:t>
            </a:r>
            <a:r>
              <a:rPr kumimoji="1" lang="ko-KR" altLang="en-US" sz="1200" kern="0">
                <a:cs typeface="Malgun Gothic Semilight"/>
              </a:rPr>
              <a:t>온톨로지 기반 </a:t>
            </a:r>
            <a:r>
              <a:rPr kumimoji="1" lang="en-US" altLang="ko-KR" sz="1200" kern="0">
                <a:cs typeface="Malgun Gothic Semilight"/>
              </a:rPr>
              <a:t>LLM </a:t>
            </a:r>
            <a:r>
              <a:rPr kumimoji="1" lang="ko-KR" altLang="en-US" sz="1200" kern="0">
                <a:cs typeface="Malgun Gothic Semilight"/>
              </a:rPr>
              <a:t>활용 </a:t>
            </a:r>
            <a:r>
              <a:rPr kumimoji="1" lang="en-US" altLang="ko-KR" sz="1200" kern="0">
                <a:cs typeface="Malgun Gothic Semilight"/>
              </a:rPr>
              <a:t>Data </a:t>
            </a:r>
            <a:r>
              <a:rPr kumimoji="1" lang="ko-KR" altLang="en-US" sz="1200" kern="0">
                <a:cs typeface="Malgun Gothic Semilight"/>
              </a:rPr>
              <a:t>분석이 엔지니어가 분석하는 것 관련 효과성이 있다 였습니다</a:t>
            </a:r>
            <a:r>
              <a:rPr kumimoji="1" lang="en-US" altLang="ko-KR" sz="1200" kern="0">
                <a:cs typeface="Malgun Gothic Semilight"/>
              </a:rPr>
              <a:t>. </a:t>
            </a:r>
            <a:r>
              <a:rPr kumimoji="1" lang="ko-KR" altLang="en-US" sz="1200" kern="0">
                <a:cs typeface="Malgun Gothic Semilight"/>
              </a:rPr>
              <a:t>추가로 </a:t>
            </a:r>
            <a:r>
              <a:rPr kumimoji="1" lang="ko-KR" altLang="en-US" sz="1200" kern="0" err="1">
                <a:cs typeface="Malgun Gothic Semilight"/>
              </a:rPr>
              <a:t>엑사원</a:t>
            </a:r>
            <a:r>
              <a:rPr kumimoji="1" lang="ko-KR" altLang="en-US" sz="1200" kern="0">
                <a:cs typeface="Malgun Gothic Semilight"/>
              </a:rPr>
              <a:t> 보다는 외산 </a:t>
            </a:r>
            <a:r>
              <a:rPr kumimoji="1" lang="en-US" altLang="ko-KR" sz="1200" kern="0">
                <a:cs typeface="Malgun Gothic Semilight"/>
              </a:rPr>
              <a:t>LLM (Claude, </a:t>
            </a:r>
            <a:r>
              <a:rPr kumimoji="1" lang="en-US" altLang="ko-KR" sz="1200" kern="0" err="1">
                <a:cs typeface="Malgun Gothic Semilight"/>
              </a:rPr>
              <a:t>CodeSpace</a:t>
            </a:r>
            <a:r>
              <a:rPr kumimoji="1" lang="en-US" altLang="ko-KR" sz="1200" kern="0">
                <a:cs typeface="Malgun Gothic Semilight"/>
              </a:rPr>
              <a:t> DX </a:t>
            </a:r>
            <a:r>
              <a:rPr kumimoji="1" lang="ko-KR" altLang="en-US" sz="1200" kern="0">
                <a:cs typeface="Malgun Gothic Semilight"/>
              </a:rPr>
              <a:t>활용</a:t>
            </a:r>
            <a:r>
              <a:rPr kumimoji="1" lang="en-US" altLang="ko-KR" sz="1200" kern="0">
                <a:cs typeface="Malgun Gothic Semilight"/>
              </a:rPr>
              <a:t>)</a:t>
            </a:r>
            <a:r>
              <a:rPr kumimoji="1" lang="ko-KR" altLang="en-US" sz="1200" kern="0">
                <a:cs typeface="Malgun Gothic Semilight"/>
              </a:rPr>
              <a:t>이</a:t>
            </a:r>
            <a:br>
              <a:rPr kumimoji="1" lang="en-US" altLang="ko-KR" sz="1200" kern="0">
                <a:cs typeface="Malgun Gothic Semilight"/>
              </a:rPr>
            </a:br>
            <a:r>
              <a:rPr kumimoji="1" lang="en-US" altLang="ko-KR" sz="1200" kern="0">
                <a:cs typeface="Malgun Gothic Semilight"/>
              </a:rPr>
              <a:t>  </a:t>
            </a:r>
            <a:r>
              <a:rPr kumimoji="1" lang="ko-KR" altLang="en-US" sz="1200" kern="0">
                <a:cs typeface="Malgun Gothic Semilight"/>
              </a:rPr>
              <a:t>더 효과적이었습니다</a:t>
            </a:r>
            <a:r>
              <a:rPr kumimoji="1" lang="en-US" altLang="ko-KR" sz="1200" kern="0">
                <a:cs typeface="Malgun Gothic Semilight"/>
              </a:rPr>
              <a:t>. </a:t>
            </a:r>
            <a:r>
              <a:rPr kumimoji="1" lang="ko-KR" altLang="en-US" sz="1200" kern="0">
                <a:cs typeface="Malgun Gothic Semilight"/>
              </a:rPr>
              <a:t>다만</a:t>
            </a:r>
            <a:r>
              <a:rPr kumimoji="1" lang="en-US" altLang="ko-KR" sz="1200" kern="0">
                <a:cs typeface="Malgun Gothic Semilight"/>
              </a:rPr>
              <a:t>, </a:t>
            </a:r>
            <a:r>
              <a:rPr kumimoji="1" lang="ko-KR" altLang="en-US" sz="1200" kern="0">
                <a:cs typeface="Malgun Gothic Semilight"/>
              </a:rPr>
              <a:t>분석 </a:t>
            </a:r>
            <a:r>
              <a:rPr kumimoji="1" lang="ko-KR" altLang="en-US" sz="1200" kern="0" err="1">
                <a:cs typeface="Malgun Gothic Semilight"/>
              </a:rPr>
              <a:t>오류난</a:t>
            </a:r>
            <a:r>
              <a:rPr kumimoji="1" lang="ko-KR" altLang="en-US" sz="1200" kern="0">
                <a:cs typeface="Malgun Gothic Semilight"/>
              </a:rPr>
              <a:t> 부분이 있어 온톨로지 설계 보완이 필요하여 보완 중에 있습니다</a:t>
            </a:r>
            <a:r>
              <a:rPr kumimoji="1" lang="en-US" altLang="ko-KR" sz="1200" kern="0">
                <a:cs typeface="Malgun Gothic Semilight"/>
              </a:rPr>
              <a:t>. </a:t>
            </a:r>
            <a:br>
              <a:rPr kumimoji="1" lang="en-US" altLang="ko-KR" sz="1200" kern="0">
                <a:cs typeface="Malgun Gothic Semilight"/>
              </a:rPr>
            </a:br>
            <a:r>
              <a:rPr kumimoji="1" lang="en-US" altLang="ko-KR" sz="1200" kern="0">
                <a:cs typeface="Malgun Gothic Semilight"/>
              </a:rPr>
              <a:t>: </a:t>
            </a:r>
            <a:r>
              <a:rPr kumimoji="1" lang="ko-KR" altLang="en-US" sz="1200" kern="0">
                <a:cs typeface="Malgun Gothic Semilight"/>
              </a:rPr>
              <a:t>온톨로지 설계도를 </a:t>
            </a:r>
            <a:r>
              <a:rPr kumimoji="1" lang="en-US" altLang="ko-KR" sz="1200" kern="0">
                <a:cs typeface="Malgun Gothic Semilight"/>
              </a:rPr>
              <a:t>LLM</a:t>
            </a:r>
            <a:r>
              <a:rPr kumimoji="1" lang="ko-KR" altLang="en-US" sz="1200" kern="0">
                <a:cs typeface="Malgun Gothic Semilight"/>
              </a:rPr>
              <a:t>이 이해하기 쉽게 하기 위해 설계도 </a:t>
            </a:r>
            <a:r>
              <a:rPr kumimoji="1" lang="en-US" altLang="ko-KR" sz="1200" kern="0">
                <a:cs typeface="Malgun Gothic Semilight"/>
              </a:rPr>
              <a:t>Type</a:t>
            </a:r>
            <a:r>
              <a:rPr kumimoji="1" lang="ko-KR" altLang="en-US" sz="1200" kern="0">
                <a:cs typeface="Malgun Gothic Semilight"/>
              </a:rPr>
              <a:t>을 </a:t>
            </a:r>
            <a:r>
              <a:rPr kumimoji="1" lang="en-US" altLang="ko-KR" sz="1200" kern="0">
                <a:cs typeface="Malgun Gothic Semilight"/>
              </a:rPr>
              <a:t>TTL(Terse RDF Triple </a:t>
            </a:r>
            <a:r>
              <a:rPr kumimoji="1" lang="en-US" altLang="ko-KR" sz="1200" kern="0" err="1">
                <a:cs typeface="Malgun Gothic Semilight"/>
              </a:rPr>
              <a:t>Langauge</a:t>
            </a:r>
            <a:r>
              <a:rPr kumimoji="1" lang="en-US" altLang="ko-KR" sz="1200" kern="0">
                <a:cs typeface="Malgun Gothic Semilight"/>
              </a:rPr>
              <a:t>)</a:t>
            </a:r>
            <a:r>
              <a:rPr kumimoji="1" lang="ko-KR" altLang="en-US" sz="1200" kern="0">
                <a:cs typeface="Malgun Gothic Semilight"/>
              </a:rPr>
              <a:t>에서 </a:t>
            </a:r>
            <a:r>
              <a:rPr kumimoji="1" lang="en-US" altLang="ko-KR" sz="1200" kern="0">
                <a:cs typeface="Malgun Gothic Semilight"/>
              </a:rPr>
              <a:t>JSON </a:t>
            </a:r>
            <a:r>
              <a:rPr kumimoji="1" lang="ko-KR" altLang="en-US" sz="1200" kern="0">
                <a:cs typeface="Malgun Gothic Semilight"/>
              </a:rPr>
              <a:t>방식으로 변경 중 입니다</a:t>
            </a:r>
            <a:r>
              <a:rPr kumimoji="1" lang="en-US" altLang="ko-KR" sz="1200" kern="0">
                <a:cs typeface="Malgun Gothic Semilight"/>
              </a:rPr>
              <a:t>. Test </a:t>
            </a:r>
            <a:r>
              <a:rPr kumimoji="1" lang="ko-KR" altLang="en-US" sz="1200" kern="0">
                <a:cs typeface="Malgun Gothic Semilight"/>
              </a:rPr>
              <a:t>진행 시</a:t>
            </a:r>
            <a:r>
              <a:rPr kumimoji="1" lang="en-US" altLang="ko-KR" sz="1200" kern="0">
                <a:cs typeface="Malgun Gothic Semilight"/>
              </a:rPr>
              <a:t>, TTL </a:t>
            </a:r>
            <a:r>
              <a:rPr kumimoji="1" lang="ko-KR" altLang="en-US" sz="1200" kern="0">
                <a:cs typeface="Malgun Gothic Semilight"/>
              </a:rPr>
              <a:t>방식</a:t>
            </a:r>
            <a:br>
              <a:rPr kumimoji="1" lang="en-US" altLang="ko-KR" sz="1200" kern="0">
                <a:cs typeface="Malgun Gothic Semilight"/>
              </a:rPr>
            </a:br>
            <a:r>
              <a:rPr kumimoji="1" lang="en-US" altLang="ko-KR" sz="1200" kern="0">
                <a:cs typeface="Malgun Gothic Semilight"/>
              </a:rPr>
              <a:t>  </a:t>
            </a:r>
            <a:r>
              <a:rPr kumimoji="1" lang="ko-KR" altLang="en-US" sz="1200" kern="0">
                <a:cs typeface="Malgun Gothic Semilight"/>
              </a:rPr>
              <a:t>보다 </a:t>
            </a:r>
            <a:r>
              <a:rPr kumimoji="1" lang="en-US" altLang="ko-KR" sz="1200" kern="0">
                <a:cs typeface="Malgun Gothic Semilight"/>
              </a:rPr>
              <a:t>JSON</a:t>
            </a:r>
            <a:r>
              <a:rPr kumimoji="1" lang="ko-KR" altLang="en-US" sz="1200" kern="0">
                <a:cs typeface="Malgun Gothic Semilight"/>
              </a:rPr>
              <a:t>이 속도 및 기타 여러가지 측면에서 효과적인 것을 확인 했습니다</a:t>
            </a:r>
            <a:r>
              <a:rPr kumimoji="1" lang="en-US" altLang="ko-KR" sz="1200" kern="0">
                <a:cs typeface="Malgun Gothic Semilight"/>
              </a:rPr>
              <a:t>. (TTL</a:t>
            </a:r>
            <a:r>
              <a:rPr kumimoji="1" lang="ko-KR" altLang="en-US" sz="1200" kern="0">
                <a:cs typeface="Malgun Gothic Semilight"/>
              </a:rPr>
              <a:t>은 </a:t>
            </a:r>
            <a:r>
              <a:rPr kumimoji="1" lang="en-US" altLang="ko-KR" sz="1200" kern="0">
                <a:cs typeface="Malgun Gothic Semilight"/>
              </a:rPr>
              <a:t>Protégé Tool  </a:t>
            </a:r>
            <a:r>
              <a:rPr kumimoji="1" lang="ko-KR" altLang="en-US" sz="1200" kern="0">
                <a:cs typeface="Malgun Gothic Semilight"/>
              </a:rPr>
              <a:t>활용 시 사용했던 </a:t>
            </a:r>
            <a:r>
              <a:rPr kumimoji="1" lang="en-US" altLang="ko-KR" sz="1200" kern="0">
                <a:cs typeface="Malgun Gothic Semilight"/>
              </a:rPr>
              <a:t>Type </a:t>
            </a:r>
            <a:r>
              <a:rPr kumimoji="1" lang="ko-KR" altLang="en-US" sz="1200" kern="0">
                <a:cs typeface="Malgun Gothic Semilight"/>
              </a:rPr>
              <a:t>입니다</a:t>
            </a:r>
            <a:r>
              <a:rPr kumimoji="1" lang="en-US" altLang="ko-KR" sz="1200" kern="0">
                <a:cs typeface="Malgun Gothic Semilight"/>
              </a:rPr>
              <a:t>. Protégé</a:t>
            </a:r>
            <a:r>
              <a:rPr kumimoji="1" lang="ko-KR" altLang="en-US" sz="1200" kern="0">
                <a:cs typeface="Malgun Gothic Semilight"/>
              </a:rPr>
              <a:t>를 통해 </a:t>
            </a:r>
            <a:r>
              <a:rPr kumimoji="1" lang="en-US" altLang="ko-KR" sz="1200" kern="0">
                <a:cs typeface="Malgun Gothic Semilight"/>
              </a:rPr>
              <a:t>TTL</a:t>
            </a:r>
            <a:r>
              <a:rPr kumimoji="1" lang="ko-KR" altLang="en-US" sz="1200" kern="0">
                <a:cs typeface="Malgun Gothic Semilight"/>
              </a:rPr>
              <a:t>로 만든</a:t>
            </a:r>
            <a:br>
              <a:rPr kumimoji="1" lang="en-US" altLang="ko-KR" sz="1200" kern="0">
                <a:cs typeface="Malgun Gothic Semilight"/>
              </a:rPr>
            </a:br>
            <a:r>
              <a:rPr kumimoji="1" lang="en-US" altLang="ko-KR" sz="1200" kern="0">
                <a:cs typeface="Malgun Gothic Semilight"/>
              </a:rPr>
              <a:t>  </a:t>
            </a:r>
            <a:r>
              <a:rPr kumimoji="1" lang="ko-KR" altLang="en-US" sz="1200" kern="0">
                <a:cs typeface="Malgun Gothic Semilight"/>
              </a:rPr>
              <a:t>이후 </a:t>
            </a:r>
            <a:r>
              <a:rPr kumimoji="1" lang="en-US" altLang="ko-KR" sz="1200" kern="0">
                <a:cs typeface="Malgun Gothic Semilight"/>
              </a:rPr>
              <a:t>JSON</a:t>
            </a:r>
            <a:r>
              <a:rPr kumimoji="1" lang="ko-KR" altLang="en-US" sz="1200" kern="0">
                <a:cs typeface="Malgun Gothic Semilight"/>
              </a:rPr>
              <a:t>으로 변환하는 작업 방식 입니다</a:t>
            </a:r>
            <a:r>
              <a:rPr kumimoji="1" lang="en-US" altLang="ko-KR" sz="1200" kern="0">
                <a:cs typeface="Malgun Gothic Semilight"/>
              </a:rPr>
              <a:t>.)</a:t>
            </a:r>
            <a:endParaRPr lang="en-US" altLang="ko-KR" sz="1200">
              <a:cs typeface="Malgun Gothic Semi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4B324-277C-4D43-94A6-E585665C7CD5}"/>
              </a:ext>
            </a:extLst>
          </p:cNvPr>
          <p:cNvSpPr txBox="1"/>
          <p:nvPr/>
        </p:nvSpPr>
        <p:spPr>
          <a:xfrm>
            <a:off x="9236" y="1571620"/>
            <a:ext cx="9906000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85725" lvl="0" indent="-85725">
              <a:buFont typeface="Arial" panose="020B0604020202020204" pitchFamily="34" charset="0"/>
              <a:buChar char="•"/>
              <a:defRPr/>
            </a:pPr>
            <a:r>
              <a:rPr kumimoji="1" lang="en-US" altLang="ko-KR" sz="1200" b="1" kern="0">
                <a:cs typeface="Arial"/>
              </a:rPr>
              <a:t>MES</a:t>
            </a:r>
            <a:r>
              <a:rPr kumimoji="1" lang="ko-KR" altLang="en-US" sz="1200" b="1" kern="0">
                <a:cs typeface="Arial"/>
              </a:rPr>
              <a:t> </a:t>
            </a:r>
            <a:r>
              <a:rPr kumimoji="1" lang="en-US" altLang="ko-KR" sz="1200" b="1" kern="0">
                <a:cs typeface="Arial"/>
              </a:rPr>
              <a:t>Loss </a:t>
            </a:r>
            <a:r>
              <a:rPr kumimoji="1" lang="ko-KR" altLang="en-US" sz="1200" b="1" kern="0">
                <a:cs typeface="Arial"/>
              </a:rPr>
              <a:t>자동 등록</a:t>
            </a:r>
            <a:endParaRPr lang="en-US" altLang="ko-KR" sz="1200">
              <a:cs typeface="Malgun Gothic Semilight"/>
            </a:endParaRPr>
          </a:p>
          <a:p>
            <a:pPr lvl="0">
              <a:defRPr/>
            </a:pPr>
            <a:r>
              <a:rPr lang="en-US" altLang="ko-KR" sz="1200">
                <a:cs typeface="Malgun Gothic Semilight"/>
              </a:rPr>
              <a:t> : </a:t>
            </a:r>
            <a:r>
              <a:rPr lang="ko-KR" altLang="en-US" sz="1200">
                <a:cs typeface="Malgun Gothic Semilight"/>
              </a:rPr>
              <a:t>수평 전개 현황은 표로 재정리 하였습니다</a:t>
            </a:r>
            <a:r>
              <a:rPr lang="en-US" altLang="ko-KR" sz="1200">
                <a:cs typeface="Malgun Gothic Semilight"/>
              </a:rPr>
              <a:t>. (</a:t>
            </a:r>
            <a:r>
              <a:rPr lang="ko-KR" altLang="en-US" sz="1200">
                <a:cs typeface="Malgun Gothic Semilight"/>
              </a:rPr>
              <a:t>우측</a:t>
            </a:r>
            <a:r>
              <a:rPr lang="en-US" altLang="ko-KR" sz="1200">
                <a:cs typeface="Malgun Gothic Semilight"/>
              </a:rPr>
              <a:t>)</a:t>
            </a:r>
            <a:br>
              <a:rPr lang="en-US" altLang="ko-KR" sz="1200">
                <a:cs typeface="Malgun Gothic Semilight"/>
              </a:rPr>
            </a:br>
            <a:r>
              <a:rPr lang="en-US" altLang="ko-KR" sz="1200">
                <a:cs typeface="Malgun Gothic Semilight"/>
              </a:rPr>
              <a:t>   </a:t>
            </a:r>
            <a:r>
              <a:rPr lang="ko-KR" altLang="en-US" sz="1200">
                <a:cs typeface="Malgun Gothic Semilight"/>
              </a:rPr>
              <a:t>수평 전개 대상 </a:t>
            </a:r>
            <a:r>
              <a:rPr lang="en-US" altLang="ko-KR" sz="1200">
                <a:cs typeface="Malgun Gothic Semilight"/>
              </a:rPr>
              <a:t>Site(WA, GM1, GM2, MI, HM)</a:t>
            </a:r>
            <a:r>
              <a:rPr lang="ko-KR" altLang="en-US" sz="1200">
                <a:cs typeface="Malgun Gothic Semilight"/>
              </a:rPr>
              <a:t>에 대해 전극</a:t>
            </a:r>
            <a:r>
              <a:rPr lang="en-US" altLang="ko-KR" sz="1200">
                <a:cs typeface="Malgun Gothic Semilight"/>
              </a:rPr>
              <a:t>~</a:t>
            </a:r>
            <a:r>
              <a:rPr lang="ko-KR" altLang="en-US" sz="1200">
                <a:cs typeface="Malgun Gothic Semilight"/>
              </a:rPr>
              <a:t>활성화 모두 적용 완료 하였습니다</a:t>
            </a:r>
            <a:r>
              <a:rPr lang="en-US" altLang="ko-KR" sz="1200">
                <a:cs typeface="Malgun Gothic Semilight"/>
              </a:rPr>
              <a:t>. </a:t>
            </a:r>
            <a:br>
              <a:rPr lang="en-US" altLang="ko-KR" sz="1200">
                <a:cs typeface="Malgun Gothic Semilight"/>
              </a:rPr>
            </a:br>
            <a:r>
              <a:rPr lang="en-US" altLang="ko-KR" sz="1200">
                <a:cs typeface="Malgun Gothic Semilight"/>
              </a:rPr>
              <a:t> : </a:t>
            </a:r>
            <a:r>
              <a:rPr lang="ko-KR" altLang="en-US" sz="1200">
                <a:cs typeface="Malgun Gothic Semilight"/>
              </a:rPr>
              <a:t>자동 입력된 현상</a:t>
            </a:r>
            <a:r>
              <a:rPr lang="en-US" altLang="ko-KR" sz="1200">
                <a:cs typeface="Malgun Gothic Semilight"/>
              </a:rPr>
              <a:t>/</a:t>
            </a:r>
            <a:r>
              <a:rPr lang="ko-KR" altLang="en-US" sz="1200">
                <a:cs typeface="Malgun Gothic Semilight"/>
              </a:rPr>
              <a:t>원인 정보와 작업자가 입력하는 비고 정보를 </a:t>
            </a:r>
            <a:r>
              <a:rPr lang="en-US" altLang="ko-KR" sz="1200">
                <a:cs typeface="Malgun Gothic Semilight"/>
              </a:rPr>
              <a:t>AI</a:t>
            </a:r>
            <a:r>
              <a:rPr lang="ko-KR" altLang="en-US" sz="1200">
                <a:cs typeface="Malgun Gothic Semilight"/>
              </a:rPr>
              <a:t>활용하여 분석 </a:t>
            </a:r>
            <a:r>
              <a:rPr lang="ko-KR" altLang="en-US" sz="1200" err="1">
                <a:cs typeface="Malgun Gothic Semilight"/>
              </a:rPr>
              <a:t>레포트</a:t>
            </a:r>
            <a:r>
              <a:rPr lang="ko-KR" altLang="en-US" sz="1200">
                <a:cs typeface="Malgun Gothic Semilight"/>
              </a:rPr>
              <a:t> 고도화는</a:t>
            </a:r>
            <a:br>
              <a:rPr lang="en-US" altLang="ko-KR" sz="1200">
                <a:cs typeface="Malgun Gothic Semilight"/>
              </a:rPr>
            </a:br>
            <a:r>
              <a:rPr lang="en-US" altLang="ko-KR" sz="1200">
                <a:cs typeface="Malgun Gothic Semilight"/>
              </a:rPr>
              <a:t>  ESMI2 </a:t>
            </a:r>
            <a:r>
              <a:rPr lang="ko-KR" altLang="en-US" sz="1200">
                <a:cs typeface="Malgun Gothic Semilight"/>
              </a:rPr>
              <a:t>대상으로 진행 중이었고</a:t>
            </a:r>
            <a:r>
              <a:rPr lang="en-US" altLang="ko-KR" sz="1200">
                <a:cs typeface="Malgun Gothic Semilight"/>
              </a:rPr>
              <a:t>, IT </a:t>
            </a:r>
            <a:r>
              <a:rPr lang="ko-KR" altLang="en-US" sz="1200">
                <a:cs typeface="Malgun Gothic Semilight"/>
              </a:rPr>
              <a:t>이슈로 지연되고 있어 전주 정기 </a:t>
            </a:r>
            <a:r>
              <a:rPr lang="en-US" altLang="ko-KR" sz="1200">
                <a:cs typeface="Malgun Gothic Semilight"/>
              </a:rPr>
              <a:t>Review </a:t>
            </a:r>
            <a:r>
              <a:rPr lang="ko-KR" altLang="en-US" sz="1200">
                <a:cs typeface="Malgun Gothic Semilight"/>
              </a:rPr>
              <a:t>시 말씀을 드렸는데</a:t>
            </a:r>
            <a:r>
              <a:rPr lang="en-US" altLang="ko-KR" sz="1200">
                <a:cs typeface="Malgun Gothic Semilight"/>
              </a:rPr>
              <a:t>, Comment </a:t>
            </a:r>
            <a:r>
              <a:rPr lang="ko-KR" altLang="en-US" sz="1200">
                <a:cs typeface="Malgun Gothic Semilight"/>
              </a:rPr>
              <a:t>사항으로</a:t>
            </a:r>
            <a:br>
              <a:rPr lang="en-US" altLang="ko-KR" sz="1200">
                <a:cs typeface="Malgun Gothic Semilight"/>
              </a:rPr>
            </a:br>
            <a:r>
              <a:rPr lang="en-US" altLang="ko-KR" sz="1200">
                <a:cs typeface="Malgun Gothic Semilight"/>
              </a:rPr>
              <a:t>  </a:t>
            </a:r>
            <a:r>
              <a:rPr lang="ko-KR" altLang="en-US" sz="1200">
                <a:cs typeface="Malgun Gothic Semilight"/>
              </a:rPr>
              <a:t>타 사이트 추가 전개 건을 말씀하셔서 검토 했습니다</a:t>
            </a:r>
            <a:r>
              <a:rPr lang="en-US" altLang="ko-KR" sz="1200">
                <a:cs typeface="Malgun Gothic Semilight"/>
              </a:rPr>
              <a:t>. </a:t>
            </a:r>
            <a:r>
              <a:rPr lang="ko-KR" altLang="en-US" sz="1200">
                <a:cs typeface="Malgun Gothic Semilight"/>
              </a:rPr>
              <a:t>검토 결과 딥러닝 기술이 필요한 과제이며 </a:t>
            </a:r>
            <a:r>
              <a:rPr lang="en-US" altLang="ko-KR" sz="1200">
                <a:cs typeface="Malgun Gothic Semilight"/>
              </a:rPr>
              <a:t>MI2 </a:t>
            </a:r>
            <a:r>
              <a:rPr lang="ko-KR" altLang="en-US" sz="1200">
                <a:cs typeface="Malgun Gothic Semilight"/>
              </a:rPr>
              <a:t>대상으로 개발 되어 있어 타 사이트 보다는</a:t>
            </a:r>
            <a:br>
              <a:rPr lang="en-US" altLang="ko-KR" sz="1200">
                <a:cs typeface="Malgun Gothic Semilight"/>
              </a:rPr>
            </a:br>
            <a:r>
              <a:rPr lang="en-US" altLang="ko-KR" sz="1200">
                <a:cs typeface="Malgun Gothic Semilight"/>
              </a:rPr>
              <a:t>  MES 2.0 </a:t>
            </a:r>
            <a:r>
              <a:rPr lang="ko-KR" altLang="en-US" sz="1200">
                <a:cs typeface="Malgun Gothic Semilight"/>
              </a:rPr>
              <a:t>배포가 </a:t>
            </a:r>
            <a:r>
              <a:rPr lang="en-US" altLang="ko-KR" sz="1200">
                <a:cs typeface="Malgun Gothic Semilight"/>
              </a:rPr>
              <a:t>12/2</a:t>
            </a:r>
            <a:r>
              <a:rPr lang="ko-KR" altLang="en-US" sz="1200">
                <a:cs typeface="Malgun Gothic Semilight"/>
              </a:rPr>
              <a:t>일 되어 적용되어 있어 </a:t>
            </a:r>
            <a:r>
              <a:rPr lang="en-US" altLang="ko-KR" sz="1200">
                <a:cs typeface="Malgun Gothic Semilight"/>
              </a:rPr>
              <a:t>Data </a:t>
            </a:r>
            <a:r>
              <a:rPr lang="ko-KR" altLang="en-US" sz="1200">
                <a:cs typeface="Malgun Gothic Semilight"/>
              </a:rPr>
              <a:t>수집이 되고 있기에 </a:t>
            </a:r>
            <a:r>
              <a:rPr lang="en-US" altLang="ko-KR" sz="1200">
                <a:cs typeface="Malgun Gothic Semilight"/>
              </a:rPr>
              <a:t>MI2 </a:t>
            </a:r>
            <a:r>
              <a:rPr lang="ko-KR" altLang="en-US" sz="1200">
                <a:cs typeface="Malgun Gothic Semilight"/>
              </a:rPr>
              <a:t>대상으로 하고자 하며</a:t>
            </a:r>
            <a:r>
              <a:rPr lang="en-US" altLang="ko-KR" sz="1200">
                <a:cs typeface="Malgun Gothic Semilight"/>
              </a:rPr>
              <a:t>, Data </a:t>
            </a:r>
            <a:r>
              <a:rPr lang="ko-KR" altLang="en-US" sz="1200">
                <a:cs typeface="Malgun Gothic Semilight"/>
              </a:rPr>
              <a:t>수집 및 고도화 진행 중에 있습니다</a:t>
            </a:r>
            <a:r>
              <a:rPr lang="en-US" altLang="ko-KR" sz="1200">
                <a:cs typeface="Malgun Gothic Semilight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AF454-BA1E-4DDA-A247-11F709DB6CF2}"/>
              </a:ext>
            </a:extLst>
          </p:cNvPr>
          <p:cNvSpPr txBox="1"/>
          <p:nvPr/>
        </p:nvSpPr>
        <p:spPr>
          <a:xfrm>
            <a:off x="9236" y="3122491"/>
            <a:ext cx="9906000" cy="1708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85725" lvl="0" indent="-85725">
              <a:lnSpc>
                <a:spcPts val="1440"/>
              </a:lnSpc>
              <a:buFont typeface="Arial" panose="020B0604020202020204" pitchFamily="34" charset="0"/>
              <a:buChar char="•"/>
              <a:defRPr/>
            </a:pPr>
            <a:r>
              <a:rPr kumimoji="1" lang="ko-KR" altLang="en-US" sz="1200" b="1" kern="0">
                <a:cs typeface="Arial"/>
              </a:rPr>
              <a:t>생성형 </a:t>
            </a:r>
            <a:r>
              <a:rPr kumimoji="1" lang="en-US" altLang="ko-KR" sz="1200" b="1" kern="0">
                <a:cs typeface="Arial"/>
              </a:rPr>
              <a:t>AI </a:t>
            </a:r>
            <a:r>
              <a:rPr kumimoji="1" lang="ko-KR" altLang="en-US" sz="1200" b="1" kern="0">
                <a:cs typeface="Arial"/>
              </a:rPr>
              <a:t>기반 생산운영 체계</a:t>
            </a:r>
            <a:endParaRPr kumimoji="1" lang="en-US" altLang="ko-KR" sz="1200" b="1" kern="0">
              <a:cs typeface="Arial"/>
            </a:endParaRPr>
          </a:p>
          <a:p>
            <a:pPr lvl="0">
              <a:lnSpc>
                <a:spcPts val="1440"/>
              </a:lnSpc>
              <a:defRPr/>
            </a:pPr>
            <a:r>
              <a:rPr lang="en-US" altLang="ko-KR" sz="1200">
                <a:cs typeface="Malgun Gothic Semilight"/>
              </a:rPr>
              <a:t> :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’25.11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월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GCP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활용 산업통상부 승인 받아 제조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DX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그룹 한정으로 내부 과제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Test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중에 있습니다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.  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: GCP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활용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Test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는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“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라미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위치 불량 현상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조치 방안 제공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“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입니다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이를 위해 세부 과제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개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①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SPC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데이터로 위치불량 현상을 확인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②FDC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데이터로 원인 분석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③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비정형 데이터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 Loss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조치 이력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NCR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자료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)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원인과 매칭되는 조치 내용 도출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④ SPC Data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컬럼에 의미성 부여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온톨로지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))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선정 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: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③번 과제 관련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MES Loss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정보 기반으로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Agent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생성 하였으며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Loss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정보와 관련된 질문을 했을 때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정합화 된 답변을 하는 것을 확인 하였습니다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Test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항목으로는 현상 및 발생 빈도 분석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현상 기준의 세부 유형 및 유형 별 발생 빈도 분석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유형 별 원인 및 조치 방안 연계 제공 입니다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: RAG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활용하여 비정형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Data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Test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진행 하였습니다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. 1~2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가지 사례를 기반으로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Test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한 결과 당연하지만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RAG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 전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후 결과 차이가 있습니다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다만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결과의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정합성이 맞는지 여부를 확인하기 위해 사례를 추가하여 추가 검증 진행 중 입니다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. (~ 12/11)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이후 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GCP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내 </a:t>
            </a:r>
            <a:r>
              <a:rPr lang="ko-KR" altLang="en-US" sz="1200" err="1">
                <a:latin typeface="Arial Narrow" panose="020B0606020202030204" pitchFamily="34" charset="0"/>
                <a:ea typeface="LG스마트체 Regular" panose="020B0600000101010101" pitchFamily="50" charset="-127"/>
              </a:rPr>
              <a:t>챗봇을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간략히 만들 수 있는 기능이 있어 이 부분 또한</a:t>
            </a:r>
            <a:b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   </a:t>
            </a:r>
            <a:r>
              <a:rPr lang="ko-KR" altLang="en-US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확인해 보도록 하겠습니다</a:t>
            </a:r>
            <a:r>
              <a:rPr lang="en-US" altLang="ko-KR" sz="1200">
                <a:latin typeface="Arial Narrow" panose="020B0606020202030204" pitchFamily="34" charset="0"/>
                <a:ea typeface="LG스마트체 Regular" panose="020B0600000101010101" pitchFamily="50" charset="-127"/>
              </a:rPr>
              <a:t>. </a:t>
            </a:r>
            <a:endParaRPr lang="en-US" altLang="ko-KR" sz="1200" b="0" i="0" u="none" strike="noStrike" baseline="0" noProof="0">
              <a:effectLst/>
              <a:latin typeface="+mn-lt"/>
              <a:ea typeface="+mn-ea"/>
              <a:cs typeface="Malgun Gothic Semilight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B67C6E4-83F8-5A2F-7F09-19DEBA46C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714133"/>
              </p:ext>
            </p:extLst>
          </p:nvPr>
        </p:nvGraphicFramePr>
        <p:xfrm>
          <a:off x="7225145" y="1636088"/>
          <a:ext cx="2216728" cy="8245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7982">
                  <a:extLst>
                    <a:ext uri="{9D8B030D-6E8A-4147-A177-3AD203B41FA5}">
                      <a16:colId xmlns:a16="http://schemas.microsoft.com/office/drawing/2014/main" val="3416691709"/>
                    </a:ext>
                  </a:extLst>
                </a:gridCol>
                <a:gridCol w="942109">
                  <a:extLst>
                    <a:ext uri="{9D8B030D-6E8A-4147-A177-3AD203B41FA5}">
                      <a16:colId xmlns:a16="http://schemas.microsoft.com/office/drawing/2014/main" val="2270274414"/>
                    </a:ext>
                  </a:extLst>
                </a:gridCol>
                <a:gridCol w="325582">
                  <a:extLst>
                    <a:ext uri="{9D8B030D-6E8A-4147-A177-3AD203B41FA5}">
                      <a16:colId xmlns:a16="http://schemas.microsoft.com/office/drawing/2014/main" val="1164257969"/>
                    </a:ext>
                  </a:extLst>
                </a:gridCol>
                <a:gridCol w="471055">
                  <a:extLst>
                    <a:ext uri="{9D8B030D-6E8A-4147-A177-3AD203B41FA5}">
                      <a16:colId xmlns:a16="http://schemas.microsoft.com/office/drawing/2014/main" val="3046017241"/>
                    </a:ext>
                  </a:extLst>
                </a:gridCol>
              </a:tblGrid>
              <a:tr h="123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Site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3056"/>
                  </a:ext>
                </a:extLst>
              </a:tr>
              <a:tr h="123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ESWA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465944"/>
                  </a:ext>
                </a:extLst>
              </a:tr>
              <a:tr h="123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ESGM1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270997"/>
                  </a:ext>
                </a:extLst>
              </a:tr>
              <a:tr h="1387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ESGM2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925723"/>
                  </a:ext>
                </a:extLst>
              </a:tr>
              <a:tr h="123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ESMI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849186"/>
                  </a:ext>
                </a:extLst>
              </a:tr>
              <a:tr h="123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ESHM</a:t>
                      </a:r>
                      <a:endParaRPr lang="ko-KR" altLang="en-US" sz="900" baseline="0"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7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69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9C6C542-2C2E-4A1B-8A21-6D6D3ECD4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75185"/>
              </p:ext>
            </p:extLst>
          </p:nvPr>
        </p:nvGraphicFramePr>
        <p:xfrm>
          <a:off x="33428" y="869795"/>
          <a:ext cx="9587281" cy="5438978"/>
        </p:xfrm>
        <a:graphic>
          <a:graphicData uri="http://schemas.openxmlformats.org/drawingml/2006/table">
            <a:tbl>
              <a:tblPr/>
              <a:tblGrid>
                <a:gridCol w="64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77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469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Gemini2.5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연계 성능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Test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TBD</a:t>
                      </a: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(W51)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핵심 내용은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Agent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개발을 통한 설비 알람 시점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정보 제공 시 현상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원인 분석 결과 및 조치 사항 제공하는지 검증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endParaRPr lang="en-US" altLang="ko-KR" sz="1000" b="0" i="0" u="none" strike="noStrike" baseline="0" noProof="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Gemini2.5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연계 성능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▶과제내용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 분석 및  패턴 식별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_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생성형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AI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활용한 데이터 분석 자동화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 패턴 기반 인사이트 발굴 체계 구축</a:t>
                      </a:r>
                      <a:b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         </a:t>
                      </a:r>
                      <a:r>
                        <a:rPr kumimoji="1" lang="ko-KR" altLang="en-US" sz="1000" b="0" spc="-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비정형 데이터 지식화</a:t>
                      </a:r>
                      <a:r>
                        <a:rPr kumimoji="1" lang="en-US" altLang="ko-KR" sz="1000" b="0" spc="-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_</a:t>
                      </a:r>
                      <a:r>
                        <a:rPr kumimoji="1" lang="ko-KR" altLang="en-US" sz="1000" b="0" spc="-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비정형 데이터의 체계적인 지식화 및 가시화</a:t>
                      </a:r>
                      <a:r>
                        <a:rPr kumimoji="1" lang="en-US" altLang="ko-KR" sz="1000" b="0" spc="-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 </a:t>
                      </a:r>
                      <a:r>
                        <a:rPr kumimoji="1" lang="ko-KR" altLang="en-US" sz="1000" b="0" spc="-1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설비 고장 및 불량 원인 정보의 실시간 검색 및 활용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▶진행사항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b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1. Test Data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확보 및 보안성 검토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성능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 구글 사전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), GCP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성능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( 10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3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주차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GCP &amp;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원천데이터 연계 후 추가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 예정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_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구글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Agent Space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오픈으로 제조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DX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그룹 일부 인원 권한 부여 예정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서울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리전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내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Agent Space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적용 일정 지연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(9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→ 검토 중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 따른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GCP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방안 논의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(10/17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(DX) DB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GCP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연계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AX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과제 활용을 위해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TA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업무요청 정의서 작성하여 사전협의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(10/23, IT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인프라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정보보안팀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및 과제접수 하였으며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기능구현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아키텍쳐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검토하여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Gemini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GCP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과제 생성 승인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(11/5)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되었습니다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: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컬럼명을 변환하지 않은 생산 실데이터를 수동으로 업로드하여 우선 검증하고 데이터 자동 파이프라인 구성 위한 준비는 병렬로 진행  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2 . GCP(Google Cloud Platform)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보안 업무 진행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[1]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구글 클라우드 연계 과제 진척 사항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: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금번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를 활용하여 하고자 하는 과제는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“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라미위치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불량 현상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원인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조치 방안 제공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”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해당 과제를 진행 하기 위해 필요한 기술을 세부 과제로 구분하여 ①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SPC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데이터로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위치불량 현상을 확인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②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FDC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데이터로 원인 분석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③ 비정형 데이터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 Loss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조치 이력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NCR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자료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현상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원인과 매칭되는 조치 내용 도출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④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SPC 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컬럼에 의미성 부여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온톨로지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과제 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: GCP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에서 개발 과제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Agent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개발 중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아웃바운드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네트워크 에러가 발생 하였고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확인 결과 구글 클라우드는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Agent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개발을 위해서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필요한 라이브러리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호출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설치를 위해 외부 인터넷망이 연결 되어야 하나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해당 구간의 방화벽 해제가 되지 않은 것으로 확인 되었습니다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</a:t>
                      </a:r>
                    </a:p>
                    <a:p>
                      <a:pPr lvl="0">
                        <a:defRPr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IT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인프라팀과 사이버보안팀에서는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MI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랜섬웨어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이슈로 외부 방화벽 해제는 보안적 이슈로 최소화 승인을 해주었고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11/25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일부터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를 활용해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Agent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개발 진행 중입니다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진행 중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RAG Engine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에 파일 업로드가 에러가 발생하였고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, GCP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내부 문제로 확인되어 조치완료 되었습니다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.(12/3)</a:t>
                      </a:r>
                    </a:p>
                    <a:p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     </a:t>
                      </a:r>
                    </a:p>
                    <a:p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    :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MES Loss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정보 기반으로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Agent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를 생성하였고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Loss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정보와 관련된 질문을 했을 때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정합화 된 답변을 하는 것을 확인 하였습니다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  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→ 주요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Test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항목은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CSV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파일 내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정보 기반으로 이슈가 발생된  ① 현상 및 발생 빈도 분석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② 현상 기준의 세부 유형이 무엇이고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유형별 </a:t>
                      </a:r>
                      <a:endParaRPr lang="en-US" altLang="ko-KR" sz="1000" b="0" u="non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       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발생 빈도 분석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③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Loss 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유형별 원인 및 조치 방안 연계 제공  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Test</a:t>
                      </a:r>
                      <a:r>
                        <a:rPr lang="ko-KR" altLang="en-US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를 진행하였습니다</a:t>
                      </a:r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r>
                        <a:rPr lang="en-US" altLang="ko-KR" sz="1000" b="0" u="non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Malgun Gothic Semilight"/>
                      </a:endParaRPr>
                    </a:p>
                    <a:p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   : RAG Engine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파일 업로드 이슈가 조치 되면서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(12/3) RAG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Engine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에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MES Loss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정보를 등록 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. </a:t>
                      </a:r>
                    </a:p>
                    <a:p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     RAG Engine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사용 전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후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Malgun Gothic Semilight"/>
                        </a:rPr>
                        <a:t>결과물에 차이점은 ③ </a:t>
                      </a:r>
                      <a:r>
                        <a:rPr lang="en-US" altLang="ko-KR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Loss </a:t>
                      </a:r>
                      <a:r>
                        <a:rPr lang="ko-KR" altLang="en-US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유형별 원인 및 조치 방안 연계 제공 </a:t>
                      </a:r>
                      <a:r>
                        <a:rPr lang="en-US" altLang="ko-KR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Test</a:t>
                      </a:r>
                      <a:r>
                        <a:rPr lang="ko-KR" altLang="en-US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에서 </a:t>
                      </a:r>
                      <a:r>
                        <a:rPr lang="en-US" altLang="ko-KR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RAG</a:t>
                      </a:r>
                      <a:r>
                        <a:rPr lang="ko-KR" altLang="en-US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전에는 단순 </a:t>
                      </a:r>
                      <a:r>
                        <a:rPr lang="en-US" altLang="ko-KR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Text</a:t>
                      </a:r>
                      <a:r>
                        <a:rPr lang="ko-KR" altLang="en-US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를 종합하여 </a:t>
                      </a:r>
                      <a:endParaRPr lang="en-US" altLang="ko-KR" sz="1000" b="0" u="none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답변하는 형태라면</a:t>
                      </a:r>
                      <a:r>
                        <a:rPr lang="en-US" altLang="ko-KR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RAG </a:t>
                      </a:r>
                      <a:r>
                        <a:rPr lang="ko-KR" altLang="en-US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이후에는 이슈의 발생 현상과 가장 관련 있는 조치 정보를 연결해서 제공하는 점이 큰 차이점 입니다</a:t>
                      </a:r>
                      <a:r>
                        <a:rPr lang="en-US" altLang="ko-KR" sz="1000" b="0" u="non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altLang="ko-KR" sz="1000" b="0" u="none" kern="1200" dirty="0">
                        <a:solidFill>
                          <a:srgbClr val="0000FF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u="none" kern="120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  <a:cs typeface="+mn-cs"/>
                        </a:rPr>
                        <a:t>   : 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직접 개발한 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Agent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에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+mn-cs"/>
                        </a:rPr>
                        <a:t>설비 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알람 시점과 알람 정보를 제공하였을 때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해당 시점의 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SPC(Ontology 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기반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), FDC Data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를 활용하여 현상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원인을 </a:t>
                      </a:r>
                      <a:endParaRPr lang="en-US" altLang="ko-KR" sz="1000" b="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     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도출하고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, MES Loss Data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에서 도출된 현상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원인과 매칭되는 조치 방안을 제공 하는지 검증 하였습니다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. 12/24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일까지 설비 알람 상황을</a:t>
                      </a:r>
                      <a:endParaRPr lang="en-US" altLang="ko-KR" sz="1000" b="0" dirty="0">
                        <a:solidFill>
                          <a:srgbClr val="0000FF"/>
                        </a:solidFill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     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추가 제공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(10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개 이상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하여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 Agent </a:t>
                      </a:r>
                      <a:r>
                        <a:rPr lang="ko-KR" altLang="en-US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답변 정합성을 검증하고 보완 진행 하겠습니다</a:t>
                      </a:r>
                      <a:r>
                        <a:rPr lang="en-US" altLang="ko-KR" sz="1000" b="0" dirty="0">
                          <a:solidFill>
                            <a:srgbClr val="0000FF"/>
                          </a:solidFill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신종권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정정윤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김준희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고지연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897065" y="376121"/>
            <a:ext cx="839975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정정윤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E8376-1042-449C-B823-F39F4DD715DC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12/16 17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6" name="내용 개체 틀 20">
            <a:extLst>
              <a:ext uri="{FF2B5EF4-FFF2-40B4-BE49-F238E27FC236}">
                <a16:creationId xmlns:a16="http://schemas.microsoft.com/office/drawing/2014/main" id="{34DE0612-21EC-4D81-9176-A94A225866F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2872581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_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생성형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AI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기반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생산운영체계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B76D5-7916-4CE1-B2CB-A518AB27B68A}"/>
              </a:ext>
            </a:extLst>
          </p:cNvPr>
          <p:cNvSpPr txBox="1"/>
          <p:nvPr/>
        </p:nvSpPr>
        <p:spPr>
          <a:xfrm>
            <a:off x="19348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A575AD3E-B92B-4A72-B3CF-A1F62A492752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A2283-A5C7-468C-9A7C-15ADCC9B60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-#5,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3F64C-1DF4-481B-B825-D3C91E867FEC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‘25.12.05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‘25.12.17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84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9C6C542-2C2E-4A1B-8A21-6D6D3ECD4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30822"/>
              </p:ext>
            </p:extLst>
          </p:nvPr>
        </p:nvGraphicFramePr>
        <p:xfrm>
          <a:off x="33428" y="869795"/>
          <a:ext cx="9587281" cy="5736208"/>
        </p:xfrm>
        <a:graphic>
          <a:graphicData uri="http://schemas.openxmlformats.org/drawingml/2006/table">
            <a:tbl>
              <a:tblPr/>
              <a:tblGrid>
                <a:gridCol w="64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1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50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Gemini2.5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연계 성능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Test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TBD</a:t>
                      </a: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(W49)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핵심 내용은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구글클라우드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국내 인원 활용에 대한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산자부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승인 및 과제 선정 결과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    </a:t>
                      </a:r>
                    </a:p>
                    <a:p>
                      <a:pPr marL="0" lvl="0" indent="0" algn="l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Gemini2.5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연계 성능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▶과제내용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 분석 및  패턴 식별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_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생성형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AI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활용한 데이터 분석 자동화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 패턴 기반 인사이트 발굴 체계 구축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         </a:t>
                      </a:r>
                      <a:r>
                        <a:rPr kumimoji="1" lang="ko-KR" altLang="en-US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비정형 데이터 지식화</a:t>
                      </a:r>
                      <a:r>
                        <a:rPr kumimoji="1" lang="en-US" altLang="ko-KR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_</a:t>
                      </a:r>
                      <a:r>
                        <a:rPr kumimoji="1" lang="ko-KR" altLang="en-US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비정형 데이터의 체계적인 지식화 및 가시화</a:t>
                      </a:r>
                      <a:r>
                        <a:rPr kumimoji="1" lang="en-US" altLang="ko-KR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 </a:t>
                      </a:r>
                      <a:r>
                        <a:rPr kumimoji="1" lang="ko-KR" altLang="en-US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설비 고장 및 불량 원인 정보의 실시간 검색 및 활용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▶진행사항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1. Test Data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확보 및 보안성 검토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성능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 구글 사전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), GCP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성능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( 10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3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주차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GCP &amp;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원천데이터 연계 후 추가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 예정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_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구글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Agent Space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오픈으로 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DX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그룹 일부 인원 권한 부여 예정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서울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리전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Agent Space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적용 일정 지연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(9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→ 검토 중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 따른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방안 논의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(10/17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Codespace(DX) DB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연계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AX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과제 활용을 위해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업무요청 정의서 작성하여 사전협의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(10/23, IT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인프라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정보보안팀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및 과제접수 하였으며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기능구현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아키텍쳐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검토하여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Gemini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GCP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과제 생성 승인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(11/5)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되었습니다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: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컬럼명을 변환하지 않은 생산 실데이터를 수동으로 업로드하여 우선 검증하고 데이터 자동 파이프라인 구성 위한 준비는 병렬로 진행 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2 . GCP(Google Cloud Platform)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보안 업무 진행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수출 신고서 준비 관련하여 구글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보안전략팀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대외협력팀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기획팀 개별 준비 사항을 논의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(9/16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 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금번 논의를 통하여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국내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Data/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국내리전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국내인이 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Data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를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와 연계하여 사용하는 경우 수출 신고서 작성이 필요 없다는 부분이 확인 되었고 이에 따라 수출신고서 업무는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2 Track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으로 진행 하고자 합니다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[1]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국내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Data 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서울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리전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연계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DX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그룹 구성원 활용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: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보안 가이드 체크리스트 기반으로 대외협력팀에서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산자부에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질의 공문을 보냈고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국내 인원이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서울리전을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활용하는 것은 가능하다는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답변을 받았습니다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다만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생성형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AI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활용 관점에서는 현재 별도 가이드가 없어서 정확한 답변을 주기는 어렵다고 하였으나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추후 정부에서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별도 가이드가 마련된다면 가이드 만족 기준에 따라 현재 사용중인 부분에 보완이 필요하다는 의견도 병행 되었습니다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(11/7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</a:t>
                      </a:r>
                    </a:p>
                    <a:p>
                      <a:pPr lvl="0">
                        <a:defRPr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금번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를 활용하여 하고자 하는 과제는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“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라미위치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불량 현상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원인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조치 방안 제공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”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해당 과제를 진행 하기 위해 필요한 기술을 세부 과제로 구분하여 ①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SPC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데이터로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위치불량 현상을 확인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②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FDC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데이터로 원인 분석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③ 비정형 데이터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 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조치 이력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NCR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자료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현상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원인과 매칭되는 조치 내용 도출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④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SPC 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컬럼에 의미성 부여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온톨로지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과제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defRPr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: GCP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활용을 통한 업무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분석 효율 검증을 위하여 그룹내 데이터통합분석팀 박형식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MC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자동보정팀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최창락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님을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권한 부여 하였고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과제 진행 간 협업 및 개별 과제 진행으로 추가 검증 하고자 합니다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(11/12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 과제 진행 미팅 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_With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구글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[2]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국내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Data 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서울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리전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연계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 Global Site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활용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: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수출 신고서 접수 승인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(10/E)_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수출신고접수 일정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: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체크리스트 작성 내용 기반으로 항목별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Solution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준비는 완료 되었으나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근거 서류  확보를 위하여 구글 측에서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Customers Audit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을 요청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(LG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엔솔에서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구글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Audit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을 통한 항목별 근거 서류 검토를 위함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금년 내 구글 코리아 내부 사정으로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Customer Audit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진행이 어렵다고 하여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체크리스트 각 항목별 근거 서류를 구글에서 확보하여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보안전략팀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대외협력팀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DX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기획팀에 검토 진행 하는 것으로 논의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현재 각 항목별 근거서류 확보 완료 예정인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10/31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일이며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서류 접수 되는 대로 보안전략팀과 논의하여 리뷰 일정 잡도록 하겠습니다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</a:t>
                      </a: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~’25.9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신종권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정정윤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김준희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고지연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897065" y="376121"/>
            <a:ext cx="839975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정정윤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E8376-1042-449C-B823-F39F4DD715DC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11/18 16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6" name="내용 개체 틀 20">
            <a:extLst>
              <a:ext uri="{FF2B5EF4-FFF2-40B4-BE49-F238E27FC236}">
                <a16:creationId xmlns:a16="http://schemas.microsoft.com/office/drawing/2014/main" id="{34DE0612-21EC-4D81-9176-A94A225866F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2872581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_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생성형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AI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기반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생산운영체계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B76D5-7916-4CE1-B2CB-A518AB27B68A}"/>
              </a:ext>
            </a:extLst>
          </p:cNvPr>
          <p:cNvSpPr txBox="1"/>
          <p:nvPr/>
        </p:nvSpPr>
        <p:spPr>
          <a:xfrm>
            <a:off x="19348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A575AD3E-B92B-4A72-B3CF-A1F62A492752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A2283-A5C7-468C-9A7C-15ADCC9B60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-#5,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3F64C-1DF4-481B-B825-D3C91E867FEC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‘25.9.10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‘25.10.15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817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9C6C542-2C2E-4A1B-8A21-6D6D3ECD4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798559"/>
              </p:ext>
            </p:extLst>
          </p:nvPr>
        </p:nvGraphicFramePr>
        <p:xfrm>
          <a:off x="33428" y="869795"/>
          <a:ext cx="9587281" cy="5736208"/>
        </p:xfrm>
        <a:graphic>
          <a:graphicData uri="http://schemas.openxmlformats.org/drawingml/2006/table">
            <a:tbl>
              <a:tblPr/>
              <a:tblGrid>
                <a:gridCol w="64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1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(W48)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50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Gemini2.5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연계 성능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Test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TBD</a:t>
                      </a: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(W48)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핵심 내용은 구글클라우드 국내 인원 활용을 위하여 대외협력팀에서 산자부 질의 공문 발송을 위한 사전 자료 준비 완료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   </a:t>
                      </a:r>
                    </a:p>
                    <a:p>
                      <a:pPr marL="0" lvl="0" indent="0" algn="l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Gemini2.5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연계 성능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▶과제내용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 분석 및  패턴 식별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_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생성형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AI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활용한 데이터 분석 자동화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 패턴 기반 인사이트 발굴 체계 구축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         </a:t>
                      </a:r>
                      <a:r>
                        <a:rPr kumimoji="1" lang="ko-KR" altLang="en-US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비정형 데이터 지식화</a:t>
                      </a:r>
                      <a:r>
                        <a:rPr kumimoji="1" lang="en-US" altLang="ko-KR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_</a:t>
                      </a:r>
                      <a:r>
                        <a:rPr kumimoji="1" lang="ko-KR" altLang="en-US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비정형 데이터의 체계적인 지식화 및 가시화</a:t>
                      </a:r>
                      <a:r>
                        <a:rPr kumimoji="1" lang="en-US" altLang="ko-KR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,  </a:t>
                      </a:r>
                      <a:r>
                        <a:rPr kumimoji="1" lang="ko-KR" altLang="en-US" sz="1000" b="0" spc="-1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/>
                        </a:rPr>
                        <a:t>설비 고장 및 불량 원인 정보의 실시간 검색 및 활용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▶진행사항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1. Test Data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확보 및 보안성 검토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성능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 구글 사전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), GCP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성능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( 10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3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주차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GCP &amp;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원천데이터 연계 후 추가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 예정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_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구글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Agent Space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오픈으로 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DX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그룹 일부 인원 권한 부여 예정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서울 리전 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Agent Space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적용 일정 지연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(9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→ 검토 중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 따른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방안 논의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(10/17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Codespace(DX) DB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연계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AX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과제 활용을 위해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업무요청 정의서 작성하여 사전협의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(10/23, IT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인프라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정보보안팀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및 과제접수 하였으며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기능구현 아키텍쳐 검토하여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Gemini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GCP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과제 생성 승인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(11/5)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되었습니다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: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컬럼명을 변환하지 않은 생산 실데이터를 수동으로 업로드하여 우선 검증하고 데이터 자동 파이프라인 구성 위한 준비는 병렬로 진행 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2 . GCP(Google Cloud Platform)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보안 업무 진행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수출 신고서 준비 관련하여 구글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보안전략팀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대외협력팀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기획팀 개별 준비 사항을 논의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(9/16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 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금번 논의를 통하여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국내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Data/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국내리전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국내인이 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Data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를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와 연계하여 사용하는 경우 수출 신고서 작성이 필요 없다는 부분이 확인 되었고 이에 따라 수출신고서 업무는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2 Track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으로 진행 하고자 합니다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① 국내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Data 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서울 리전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연계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DX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그룹 구성원 활용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 체크리스트 작성 및 근거자료 확보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구글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를 통한 보안팀 승인 후 활용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(9/E)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구글 내부에서 산자부 체크리스트 작성 완료 및 보안전략팀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차 검토 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(10/2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구글에서 준비 사항 기반으로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“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①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Track”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활용 가능 여부 보안전략팀 논의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(10/17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자료 보완 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11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월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부터 활용 협의 했습니다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: 10/31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일한으로 산자부에 메일 및 대면으로 국내 인원 활용에 대한 의견을 얻고자 하였으나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 국정감사 진행으로 해당 건 논의가 어려워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11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1W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주차에 대외협력팀에서 산자부 대면 미팅 예정입니다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(11/7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대면 논의 자료 및 예상 질의 자료 정리하여 대외협력팀에 회신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완료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(11/5)._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금주 내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(11/7)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대외 협력팀에서 산자부로 질의 공문 발송 예정입니다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(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발송 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활용 가능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→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암호화 및 계약 체결 항목에 대한 체크리스트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보완 완료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(10/28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_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구글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→ 산자부 질의 공문 작성 요청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대외협력팀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에 따라 초안 송부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(10/28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하였으며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추가 요청에 대한 보완 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(11/5)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② 국내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Data 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서울 리전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GCP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연계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/ Global Site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활용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 수출 신고서 접수 승인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(10/E)_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 수출신고접수 일정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산자부 체크리스트 작성 내용 기반으로 항목별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Solution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준비는 완료 되었으나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근거 서류  확보를 위하여 구글 측에서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Customers Audit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을 요청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(LG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엔솔에서 구글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Audit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을 통한 항목별 근거 서류 검토를 위함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)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금년 내 구글 코리아 내부 사정으로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Customer Audit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진행이 어렵다고 하여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체크리스트 각 항목별 근거 서류를 구글에서 확보하여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보안전략팀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대외협력팀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DX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기획팀에 검토 진행 하는 것으로 논의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현재 각 항목별 근거서류 확보 완료 예정인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10/31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일이며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서류 접수 되는 대로 보안전략팀과 논의하여 리뷰 일정 잡도록 하겠습니다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Malgun Gothic Semilight"/>
                      </a:endParaRPr>
                    </a:p>
                    <a:p>
                      <a:pPr lvl="0"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Malgun Gothic Semilight"/>
                        </a:rPr>
                        <a:t>         </a:t>
                      </a: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~’25.9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신종권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정정윤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김준희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고지연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897065" y="376121"/>
            <a:ext cx="839975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정정윤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E8376-1042-449C-B823-F39F4DD715DC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11/12 16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6" name="내용 개체 틀 20">
            <a:extLst>
              <a:ext uri="{FF2B5EF4-FFF2-40B4-BE49-F238E27FC236}">
                <a16:creationId xmlns:a16="http://schemas.microsoft.com/office/drawing/2014/main" id="{34DE0612-21EC-4D81-9176-A94A225866F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2872581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_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생성형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AI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기반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생산운영체계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B76D5-7916-4CE1-B2CB-A518AB27B68A}"/>
              </a:ext>
            </a:extLst>
          </p:cNvPr>
          <p:cNvSpPr txBox="1"/>
          <p:nvPr/>
        </p:nvSpPr>
        <p:spPr>
          <a:xfrm>
            <a:off x="19348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A575AD3E-B92B-4A72-B3CF-A1F62A492752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A2283-A5C7-468C-9A7C-15ADCC9B60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-#5,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3F64C-1DF4-481B-B825-D3C91E867FEC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‘25.9.10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‘25.10.15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92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9C6C542-2C2E-4A1B-8A21-6D6D3ECD4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817087"/>
              </p:ext>
            </p:extLst>
          </p:nvPr>
        </p:nvGraphicFramePr>
        <p:xfrm>
          <a:off x="33428" y="869795"/>
          <a:ext cx="9587281" cy="5761486"/>
        </p:xfrm>
        <a:graphic>
          <a:graphicData uri="http://schemas.openxmlformats.org/drawingml/2006/table">
            <a:tbl>
              <a:tblPr/>
              <a:tblGrid>
                <a:gridCol w="64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1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50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Ontology 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기반 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CT-Matrix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표준화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관리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TBD</a:t>
                      </a: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(W51) GCP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활용하여 실제 사례 바탕으로 온톨로지 효과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하고 있는 사항과 다빈치팀에서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팔란티어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강점 벤치마킹 중인 사항 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endParaRPr lang="en-US" altLang="ko-KR" sz="1000" b="0" i="0" u="none" strike="noStrike" baseline="0" noProof="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i="0" u="none" strike="noStrike" baseline="0" noProof="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Ontology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기반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CT-Matrix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표준화 관리</a:t>
                      </a:r>
                      <a:endParaRPr lang="ko-KR" altLang="en-US" sz="900" b="0" i="0" u="none" strike="noStrike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▶과제내용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Ontology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방법론 기반 데이터 테이블 벡터화 및 표준화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LLM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서비스 연계를 위한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 Mart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구성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spc="-1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Arial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▶진행사항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b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1.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온톨로지 학습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Ontology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의 정의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필요성 및 구축 시 고려 필요 사항 검토 완료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(8/6)</a:t>
                      </a:r>
                      <a:b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</a:t>
                      </a:r>
                      <a:b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2.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온톨로지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PoC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과제 추진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(~’25.12)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-.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배경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논리적 추론에 한계가 있는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LLM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을 활용하여 수집 중인 데이터 기반 불량 분석의 도움을 받고자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Ontology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검토를 시작했으며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</a:t>
                      </a:r>
                      <a:b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 과정에서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Ontology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전문가 확보의 어려움 과 막대한 비용이 예상되는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Palantir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사 섭외의 어려움을 고려하여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Ontology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효과를 명확히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검증하고자 자체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PoC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필요성을 확인했습니다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-. PoC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대상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ESWA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E81B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라인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공정의 주요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저하 주 원인인 위치 불량 대상으로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Ontology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하여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LLM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을 통한 불량률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 항목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             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불량 원인 을 확인 하고자 합니다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   -. Step2.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관계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그래프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구성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(~11/E)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       -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우선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위치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불량에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대해서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Ontology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하기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위해서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라미라는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공정이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어떤식으로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구현되는지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관계식을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정리하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였고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        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Ontololgy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사용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Tool(Protégé)을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사용해서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정의한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관계식을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표현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하였습니다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rPr>
                        <a:t>.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관련하여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Protégé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를 사용해서 다비치의 데이터가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Protégé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에서 정상적으로 값이 추출되는지 확인하는 사전 테스트 진행 했습니다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 (10/2)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설계도 기반 관계 정의 계층을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Ontology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언어를 통해 구현 완료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(10/22)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했으며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Chat GPT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와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Codespace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(DX) LLM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통해 개념적인 부분에 대해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질문을 하여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Ontology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지식 그래프 적용 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후 답변 정확성 측면에서 효과가 있는 것을 확인하였습니다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데이터통합분석팀에서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SPC Raw Data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를 통한 위치 불량 파악 과정을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이 동일하게 수행할 수 있는지 테스트해보기 위하여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라미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위치 불량을 구분하는 로직에 관련한 질문과 복합 불량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탭 접힘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Y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축 불량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과 관련한 질문 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가지를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에게 질의하였습니다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.(11/18)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답변 정확도가 떨어졌던 원인으로 사료되는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불량 유형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”, “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라미위치불량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구분 로직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“, “MES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재료교체 정보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”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을 설계도에 반영하고자 하며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실제 사례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데이터통합분석팀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기반의 반복적인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LLM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질의를 통해 설계도 상 보완 필요한 부분을 찾아 설계도 확장 및 고도화 작업 진행 중 입니다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또한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RAG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기법을 활용하여 설계도를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에게 정보제공을 할 것인데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이 설계도를 이해하기 쉽게 설계도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Type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TTL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→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JSON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방식으로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변경 중 입니다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변경 사유는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은 자연어 기반의 언어를 이해하기 쉬운 구조인데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TTL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은 복잡한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Coding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형식이고 직관적인 형태인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JSON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으로 설계도를 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표현하여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LLM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에 잘못 이해하는 상황을 제거하기 위함 입니다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- GCP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내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Gemini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를 통해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라미위치불량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분석 과정을 수행하고 효과성을 확인하고자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GCP(Gemini)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에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Ontology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설계도를 올리는 최적 방식과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GCP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에서 어떻게 활용할지에 대해 구글 실무 인원과 지속 논의하며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Gemini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연동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Test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환경 구축하여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PoC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진행 중 입니다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GCP 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내 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Gemini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에서 실제 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Raw Data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를 활용하여 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ontology 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기반으로 분석한 결과에 대해 금주 정기리뷰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(12/17)</a:t>
                      </a:r>
                      <a:r>
                        <a:rPr lang="ko-KR" altLang="en-US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 시 보고 드리겠습니다</a:t>
                      </a:r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다빈치팀에서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팔란티어의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강점 부분을 벤치마킹해서 자사 플랫폼에 없는 기능을 도입 검토하고 있으며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그 외 타사 제공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Solution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중 자사에 도입하면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효과가 있을만한 제품을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Searching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중 입니다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그룹장님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12/10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일 보고 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다빈치팀에서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GCP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도 함께 검토 할 수 있게 권한 부여하여 검토 병행 될 수 있게 하겠습니다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신낙천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이재후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967599" y="376121"/>
            <a:ext cx="769441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신낙천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E8376-1042-449C-B823-F39F4DD715DC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12/16 12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6" name="내용 개체 틀 20">
            <a:extLst>
              <a:ext uri="{FF2B5EF4-FFF2-40B4-BE49-F238E27FC236}">
                <a16:creationId xmlns:a16="http://schemas.microsoft.com/office/drawing/2014/main" id="{34DE0612-21EC-4D81-9176-A94A225866F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2872581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_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생성형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AI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기반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생산운영체계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B76D5-7916-4CE1-B2CB-A518AB27B68A}"/>
              </a:ext>
            </a:extLst>
          </p:cNvPr>
          <p:cNvSpPr txBox="1"/>
          <p:nvPr/>
        </p:nvSpPr>
        <p:spPr>
          <a:xfrm>
            <a:off x="19348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A575AD3E-B92B-4A72-B3CF-A1F62A492752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A2283-A5C7-468C-9A7C-15ADCC9B60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-#6,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6" name="object 38">
            <a:extLst>
              <a:ext uri="{FF2B5EF4-FFF2-40B4-BE49-F238E27FC236}">
                <a16:creationId xmlns:a16="http://schemas.microsoft.com/office/drawing/2014/main" id="{04070B18-4BD0-4DBB-9DEC-60CCF5899FFB}"/>
              </a:ext>
            </a:extLst>
          </p:cNvPr>
          <p:cNvSpPr txBox="1"/>
          <p:nvPr/>
        </p:nvSpPr>
        <p:spPr>
          <a:xfrm>
            <a:off x="1216056" y="2097368"/>
            <a:ext cx="921385" cy="332783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algn="ctr" defTabSz="457200" latinLnBrk="0"/>
            <a:r>
              <a:rPr lang="ko-KR" altLang="en-US" sz="1000" spc="-190">
                <a:solidFill>
                  <a:srgbClr val="333333"/>
                </a:solidFill>
                <a:cs typeface="Liberation Sans"/>
              </a:rPr>
              <a:t>온톨로지 학습</a:t>
            </a:r>
            <a:endParaRPr lang="en-US" altLang="ko-KR" sz="1000" spc="-190">
              <a:solidFill>
                <a:srgbClr val="333333"/>
              </a:solidFill>
              <a:cs typeface="Liberation Sans"/>
            </a:endParaRPr>
          </a:p>
          <a:p>
            <a:pPr algn="ctr" defTabSz="457200" latinLnBrk="0"/>
            <a:r>
              <a:rPr lang="en-US" altLang="ko-KR" sz="900" spc="-10">
                <a:solidFill>
                  <a:srgbClr val="6A7280"/>
                </a:solidFill>
                <a:cs typeface="Liberation Sans"/>
              </a:rPr>
              <a:t>(8/10)</a:t>
            </a:r>
            <a:endParaRPr lang="en-US" sz="900">
              <a:solidFill>
                <a:prstClr val="black"/>
              </a:solidFill>
              <a:cs typeface="Liberation Sans"/>
            </a:endParaRPr>
          </a:p>
        </p:txBody>
      </p:sp>
      <p:sp>
        <p:nvSpPr>
          <p:cNvPr id="77" name="object 39">
            <a:extLst>
              <a:ext uri="{FF2B5EF4-FFF2-40B4-BE49-F238E27FC236}">
                <a16:creationId xmlns:a16="http://schemas.microsoft.com/office/drawing/2014/main" id="{110999EB-B159-4AA9-A782-2B3CD5C6EFC2}"/>
              </a:ext>
            </a:extLst>
          </p:cNvPr>
          <p:cNvSpPr txBox="1"/>
          <p:nvPr/>
        </p:nvSpPr>
        <p:spPr>
          <a:xfrm>
            <a:off x="2839388" y="1693129"/>
            <a:ext cx="1403251" cy="1788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algn="ctr" defTabSz="457200" latinLnBrk="0"/>
            <a:r>
              <a:rPr lang="en-US" altLang="ko-KR" sz="900" spc="-10">
                <a:solidFill>
                  <a:srgbClr val="6A7280"/>
                </a:solidFill>
                <a:cs typeface="Liberation Sans"/>
              </a:rPr>
              <a:t>~10/E</a:t>
            </a:r>
            <a:endParaRPr sz="900">
              <a:solidFill>
                <a:prstClr val="black"/>
              </a:solidFill>
              <a:cs typeface="Liberation Sans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FFCE1B3-0F90-4B53-8AD8-20E9CAE41C3D}"/>
              </a:ext>
            </a:extLst>
          </p:cNvPr>
          <p:cNvSpPr/>
          <p:nvPr/>
        </p:nvSpPr>
        <p:spPr>
          <a:xfrm>
            <a:off x="1916022" y="2008694"/>
            <a:ext cx="6238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latinLnBrk="0"/>
            <a:r>
              <a:rPr lang="en-US" altLang="ko-KR" sz="800" b="1">
                <a:solidFill>
                  <a:srgbClr val="006600"/>
                </a:solidFill>
                <a:cs typeface="Dotum"/>
              </a:rPr>
              <a:t>* </a:t>
            </a:r>
            <a:r>
              <a:rPr lang="ko-KR" altLang="en-US" sz="800" b="1">
                <a:solidFill>
                  <a:srgbClr val="006600"/>
                </a:solidFill>
                <a:cs typeface="Dotum"/>
              </a:rPr>
              <a:t>개념 숙지</a:t>
            </a:r>
            <a:br>
              <a:rPr lang="en-US" altLang="ko-KR" sz="800" b="1">
                <a:solidFill>
                  <a:srgbClr val="006600"/>
                </a:solidFill>
                <a:cs typeface="Dotum"/>
              </a:rPr>
            </a:br>
            <a:r>
              <a:rPr lang="en-US" altLang="ko-KR" sz="800" b="1">
                <a:solidFill>
                  <a:srgbClr val="006600"/>
                </a:solidFill>
                <a:cs typeface="Dotum"/>
              </a:rPr>
              <a:t>*</a:t>
            </a:r>
            <a:r>
              <a:rPr lang="ko-KR" altLang="en-US" sz="800" b="1">
                <a:solidFill>
                  <a:srgbClr val="006600"/>
                </a:solidFill>
                <a:cs typeface="Dotum"/>
              </a:rPr>
              <a:t> 사례 </a:t>
            </a:r>
            <a:r>
              <a:rPr lang="en-US" altLang="ko-KR" sz="800" b="1">
                <a:solidFill>
                  <a:srgbClr val="006600"/>
                </a:solidFill>
                <a:cs typeface="Dotum"/>
              </a:rPr>
              <a:t>B/M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11D1D16C-5777-49C4-9FF0-A334FC06AD55}"/>
              </a:ext>
            </a:extLst>
          </p:cNvPr>
          <p:cNvCxnSpPr/>
          <p:nvPr/>
        </p:nvCxnSpPr>
        <p:spPr>
          <a:xfrm>
            <a:off x="1663940" y="1989728"/>
            <a:ext cx="6480000" cy="0"/>
          </a:xfrm>
          <a:prstGeom prst="line">
            <a:avLst/>
          </a:prstGeom>
          <a:noFill/>
          <a:ln w="285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80" name="타원 79">
            <a:extLst>
              <a:ext uri="{FF2B5EF4-FFF2-40B4-BE49-F238E27FC236}">
                <a16:creationId xmlns:a16="http://schemas.microsoft.com/office/drawing/2014/main" id="{18F2E6E7-92E9-4526-8E74-A61800D1CF02}"/>
              </a:ext>
            </a:extLst>
          </p:cNvPr>
          <p:cNvSpPr/>
          <p:nvPr/>
        </p:nvSpPr>
        <p:spPr>
          <a:xfrm>
            <a:off x="1573178" y="1900241"/>
            <a:ext cx="180000" cy="180000"/>
          </a:xfrm>
          <a:prstGeom prst="ellipse">
            <a:avLst/>
          </a:prstGeom>
          <a:solidFill>
            <a:schemeClr val="tx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7196FBAA-269E-4385-A42F-E6CCD8F5DC21}"/>
              </a:ext>
            </a:extLst>
          </p:cNvPr>
          <p:cNvSpPr/>
          <p:nvPr/>
        </p:nvSpPr>
        <p:spPr>
          <a:xfrm>
            <a:off x="2981237" y="1900241"/>
            <a:ext cx="180000" cy="18000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6D74DE1-29EE-47C1-86FB-271D158E6563}"/>
              </a:ext>
            </a:extLst>
          </p:cNvPr>
          <p:cNvSpPr/>
          <p:nvPr/>
        </p:nvSpPr>
        <p:spPr>
          <a:xfrm>
            <a:off x="5652476" y="1785784"/>
            <a:ext cx="320711" cy="198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1414FE"/>
                </a:solidFill>
              </a:rPr>
              <a:t>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3BC9D10-3EA5-4B78-95EC-7541755A6458}"/>
              </a:ext>
            </a:extLst>
          </p:cNvPr>
          <p:cNvSpPr/>
          <p:nvPr/>
        </p:nvSpPr>
        <p:spPr>
          <a:xfrm>
            <a:off x="2722203" y="1688375"/>
            <a:ext cx="76174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>
                <a:solidFill>
                  <a:prstClr val="black"/>
                </a:solidFill>
                <a:cs typeface="Malgun Gothic Semilight"/>
              </a:rPr>
              <a:t>PoC. Step #1</a:t>
            </a:r>
            <a:endParaRPr lang="ko-KR" altLang="en-US" sz="1600" b="1"/>
          </a:p>
        </p:txBody>
      </p:sp>
      <p:sp>
        <p:nvSpPr>
          <p:cNvPr id="27" name="object 39">
            <a:extLst>
              <a:ext uri="{FF2B5EF4-FFF2-40B4-BE49-F238E27FC236}">
                <a16:creationId xmlns:a16="http://schemas.microsoft.com/office/drawing/2014/main" id="{3014B5EA-E683-4699-A85E-E98855EE3A0F}"/>
              </a:ext>
            </a:extLst>
          </p:cNvPr>
          <p:cNvSpPr txBox="1"/>
          <p:nvPr/>
        </p:nvSpPr>
        <p:spPr>
          <a:xfrm>
            <a:off x="4174969" y="1703333"/>
            <a:ext cx="1403251" cy="1788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algn="ctr" defTabSz="457200" latinLnBrk="0"/>
            <a:r>
              <a:rPr lang="en-US" altLang="ko-KR" sz="900" spc="-10">
                <a:solidFill>
                  <a:srgbClr val="6A7280"/>
                </a:solidFill>
                <a:cs typeface="Liberation Sans"/>
              </a:rPr>
              <a:t>~11/E</a:t>
            </a:r>
            <a:endParaRPr sz="900">
              <a:solidFill>
                <a:prstClr val="black"/>
              </a:solidFill>
              <a:cs typeface="Liberation Sans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C3D88B7-FAAC-43E8-B6ED-7CF84B3A6184}"/>
              </a:ext>
            </a:extLst>
          </p:cNvPr>
          <p:cNvSpPr/>
          <p:nvPr/>
        </p:nvSpPr>
        <p:spPr>
          <a:xfrm>
            <a:off x="4313528" y="1900241"/>
            <a:ext cx="180000" cy="18000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3C6CE0-9387-40F1-8E2B-A56A904F7B0F}"/>
              </a:ext>
            </a:extLst>
          </p:cNvPr>
          <p:cNvSpPr/>
          <p:nvPr/>
        </p:nvSpPr>
        <p:spPr>
          <a:xfrm>
            <a:off x="4054494" y="1688375"/>
            <a:ext cx="76174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>
                <a:solidFill>
                  <a:prstClr val="black"/>
                </a:solidFill>
                <a:cs typeface="Malgun Gothic Semilight"/>
              </a:rPr>
              <a:t>PoC. Step #2</a:t>
            </a:r>
            <a:endParaRPr lang="ko-KR" altLang="en-US" sz="1600" b="1"/>
          </a:p>
        </p:txBody>
      </p:sp>
      <p:sp>
        <p:nvSpPr>
          <p:cNvPr id="30" name="object 39">
            <a:extLst>
              <a:ext uri="{FF2B5EF4-FFF2-40B4-BE49-F238E27FC236}">
                <a16:creationId xmlns:a16="http://schemas.microsoft.com/office/drawing/2014/main" id="{D995C012-0038-4AE4-B3FA-6AF72D746081}"/>
              </a:ext>
            </a:extLst>
          </p:cNvPr>
          <p:cNvSpPr txBox="1"/>
          <p:nvPr/>
        </p:nvSpPr>
        <p:spPr>
          <a:xfrm>
            <a:off x="6020540" y="1693129"/>
            <a:ext cx="1403251" cy="1788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algn="ctr" defTabSz="457200" latinLnBrk="0"/>
            <a:r>
              <a:rPr lang="en-US" altLang="ko-KR" sz="900" spc="-10">
                <a:solidFill>
                  <a:srgbClr val="6A7280"/>
                </a:solidFill>
                <a:cs typeface="Liberation Sans"/>
              </a:rPr>
              <a:t>~12/E</a:t>
            </a:r>
            <a:endParaRPr sz="900">
              <a:solidFill>
                <a:prstClr val="black"/>
              </a:solidFill>
              <a:cs typeface="Liberation Sans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7BA2553-5DA4-431A-8F90-92055959BEAF}"/>
              </a:ext>
            </a:extLst>
          </p:cNvPr>
          <p:cNvSpPr/>
          <p:nvPr/>
        </p:nvSpPr>
        <p:spPr>
          <a:xfrm>
            <a:off x="6160115" y="1900241"/>
            <a:ext cx="180000" cy="18000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A0DCE35-5177-4F0A-B2AF-583BDCABF9DE}"/>
              </a:ext>
            </a:extLst>
          </p:cNvPr>
          <p:cNvSpPr/>
          <p:nvPr/>
        </p:nvSpPr>
        <p:spPr>
          <a:xfrm>
            <a:off x="5901081" y="1688375"/>
            <a:ext cx="76174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>
                <a:solidFill>
                  <a:prstClr val="black"/>
                </a:solidFill>
                <a:cs typeface="Malgun Gothic Semilight"/>
              </a:rPr>
              <a:t>PoC. Step #3</a:t>
            </a:r>
            <a:endParaRPr lang="ko-KR" altLang="en-US" sz="1600" b="1"/>
          </a:p>
        </p:txBody>
      </p:sp>
      <p:sp>
        <p:nvSpPr>
          <p:cNvPr id="33" name="object 39">
            <a:extLst>
              <a:ext uri="{FF2B5EF4-FFF2-40B4-BE49-F238E27FC236}">
                <a16:creationId xmlns:a16="http://schemas.microsoft.com/office/drawing/2014/main" id="{67022FD7-3CF2-448D-9CC2-11E0DF2379F3}"/>
              </a:ext>
            </a:extLst>
          </p:cNvPr>
          <p:cNvSpPr txBox="1"/>
          <p:nvPr/>
        </p:nvSpPr>
        <p:spPr>
          <a:xfrm>
            <a:off x="7305294" y="1693129"/>
            <a:ext cx="1403251" cy="17889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algn="ctr" defTabSz="457200" latinLnBrk="0"/>
            <a:r>
              <a:rPr lang="en-US" altLang="ko-KR" sz="900" spc="-10">
                <a:solidFill>
                  <a:srgbClr val="6A7280"/>
                </a:solidFill>
                <a:cs typeface="Liberation Sans"/>
              </a:rPr>
              <a:t>~12/E</a:t>
            </a:r>
            <a:endParaRPr sz="900">
              <a:solidFill>
                <a:prstClr val="black"/>
              </a:solidFill>
              <a:cs typeface="Liberation Sans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DD68513-FC2A-4917-B256-3E54EAD87A4C}"/>
              </a:ext>
            </a:extLst>
          </p:cNvPr>
          <p:cNvSpPr/>
          <p:nvPr/>
        </p:nvSpPr>
        <p:spPr>
          <a:xfrm>
            <a:off x="7415237" y="1900241"/>
            <a:ext cx="180000" cy="18000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B59B5D9-C80F-493F-9BA2-35298496EF3D}"/>
              </a:ext>
            </a:extLst>
          </p:cNvPr>
          <p:cNvSpPr/>
          <p:nvPr/>
        </p:nvSpPr>
        <p:spPr>
          <a:xfrm>
            <a:off x="7156203" y="1688375"/>
            <a:ext cx="76174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>
                <a:solidFill>
                  <a:prstClr val="black"/>
                </a:solidFill>
                <a:cs typeface="Malgun Gothic Semilight"/>
              </a:rPr>
              <a:t>PoC. Step #4</a:t>
            </a:r>
            <a:endParaRPr lang="ko-KR" altLang="en-US" sz="1600" b="1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E0450C-C4E2-42BA-9130-B18D03EBA3B0}"/>
              </a:ext>
            </a:extLst>
          </p:cNvPr>
          <p:cNvSpPr/>
          <p:nvPr/>
        </p:nvSpPr>
        <p:spPr>
          <a:xfrm>
            <a:off x="2505198" y="2067905"/>
            <a:ext cx="1144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900" b="1">
                <a:solidFill>
                  <a:prstClr val="black"/>
                </a:solidFill>
                <a:cs typeface="Malgun Gothic Semilight"/>
              </a:rPr>
              <a:t>PoC</a:t>
            </a:r>
            <a:r>
              <a:rPr lang="ko-KR" altLang="en-US" sz="900" b="1">
                <a:solidFill>
                  <a:prstClr val="black"/>
                </a:solidFill>
                <a:cs typeface="Malgun Gothic Semilight"/>
              </a:rPr>
              <a:t> 과제 선정 및 </a:t>
            </a:r>
            <a:br>
              <a:rPr lang="en-US" altLang="ko-KR" sz="900" b="1">
                <a:solidFill>
                  <a:prstClr val="black"/>
                </a:solidFill>
                <a:cs typeface="Malgun Gothic Semilight"/>
              </a:rPr>
            </a:br>
            <a:r>
              <a:rPr lang="ko-KR" altLang="en-US" sz="900" b="1">
                <a:solidFill>
                  <a:prstClr val="black"/>
                </a:solidFill>
                <a:cs typeface="Malgun Gothic Semilight"/>
              </a:rPr>
              <a:t>엔지니어 노하우 수집</a:t>
            </a:r>
            <a:endParaRPr lang="ko-KR" altLang="en-US" sz="1600" b="1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1DBEF97-23B0-4A96-A16D-B93553A47B7B}"/>
              </a:ext>
            </a:extLst>
          </p:cNvPr>
          <p:cNvSpPr/>
          <p:nvPr/>
        </p:nvSpPr>
        <p:spPr>
          <a:xfrm>
            <a:off x="3937358" y="2067905"/>
            <a:ext cx="94288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b="1">
                <a:solidFill>
                  <a:prstClr val="black"/>
                </a:solidFill>
                <a:cs typeface="Malgun Gothic Semilight"/>
              </a:rPr>
              <a:t>관계 그래프 구성</a:t>
            </a:r>
            <a:endParaRPr lang="ko-KR" altLang="en-US" sz="1600" b="1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8AADD06-6B80-492F-BAD4-547E629241ED}"/>
              </a:ext>
            </a:extLst>
          </p:cNvPr>
          <p:cNvSpPr/>
          <p:nvPr/>
        </p:nvSpPr>
        <p:spPr>
          <a:xfrm>
            <a:off x="5931988" y="2067905"/>
            <a:ext cx="60625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900" b="1">
                <a:solidFill>
                  <a:prstClr val="black"/>
                </a:solidFill>
                <a:cs typeface="Malgun Gothic Semilight"/>
              </a:rPr>
              <a:t>LLM </a:t>
            </a:r>
            <a:r>
              <a:rPr lang="ko-KR" altLang="en-US" sz="900" b="1">
                <a:solidFill>
                  <a:prstClr val="black"/>
                </a:solidFill>
                <a:cs typeface="Malgun Gothic Semilight"/>
              </a:rPr>
              <a:t>연동</a:t>
            </a:r>
            <a:endParaRPr lang="ko-KR" altLang="en-US" sz="1600" b="1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D22C81B-9867-4F35-BAD9-519773FDEE86}"/>
              </a:ext>
            </a:extLst>
          </p:cNvPr>
          <p:cNvSpPr/>
          <p:nvPr/>
        </p:nvSpPr>
        <p:spPr>
          <a:xfrm>
            <a:off x="6856665" y="2067905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900" b="1">
                <a:solidFill>
                  <a:prstClr val="black"/>
                </a:solidFill>
                <a:cs typeface="Malgun Gothic Semilight"/>
              </a:rPr>
              <a:t>결과 분석 및 효과성 검증</a:t>
            </a:r>
            <a:endParaRPr lang="ko-KR" altLang="en-US" sz="1600" b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8AACC1-1AA7-499D-9173-F4B7A8D6A54C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</a:t>
            </a:r>
            <a:r>
              <a:rPr lang="en-US" altLang="ko-KR" sz="900">
                <a:solidFill>
                  <a:srgbClr val="FF0000"/>
                </a:solidFill>
                <a:latin typeface="Arial Narrow"/>
                <a:ea typeface="LG스마트체 Regular"/>
              </a:rPr>
              <a:t>25.12.05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</a:t>
            </a:r>
            <a:r>
              <a:rPr lang="en-US" altLang="ko-KR" sz="900">
                <a:solidFill>
                  <a:srgbClr val="FF0000"/>
                </a:solidFill>
                <a:latin typeface="Arial Narrow"/>
                <a:ea typeface="LG스마트체 Regular"/>
              </a:rPr>
              <a:t>25.12.17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9007B5C-8C17-48E6-9242-086DE588F56B}"/>
              </a:ext>
            </a:extLst>
          </p:cNvPr>
          <p:cNvSpPr/>
          <p:nvPr/>
        </p:nvSpPr>
        <p:spPr>
          <a:xfrm>
            <a:off x="4806655" y="2008694"/>
            <a:ext cx="12298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 latinLnBrk="0"/>
            <a:r>
              <a:rPr lang="ko-KR" altLang="en-US" sz="800" b="1">
                <a:solidFill>
                  <a:srgbClr val="006600"/>
                </a:solidFill>
                <a:cs typeface="Dotum"/>
              </a:rPr>
              <a:t>관계 그래프 고도화 및 </a:t>
            </a:r>
            <a:endParaRPr lang="en-US" altLang="ko-KR" sz="800" b="1">
              <a:solidFill>
                <a:srgbClr val="006600"/>
              </a:solidFill>
              <a:cs typeface="Dotum"/>
            </a:endParaRPr>
          </a:p>
          <a:p>
            <a:pPr defTabSz="457200" latinLnBrk="0"/>
            <a:r>
              <a:rPr lang="en-US" altLang="ko-KR" sz="800" b="1">
                <a:solidFill>
                  <a:srgbClr val="006600"/>
                </a:solidFill>
                <a:cs typeface="Dotum"/>
              </a:rPr>
              <a:t>GCP(Gemini) </a:t>
            </a:r>
            <a:r>
              <a:rPr lang="ko-KR" altLang="en-US" sz="800" b="1">
                <a:solidFill>
                  <a:srgbClr val="006600"/>
                </a:solidFill>
                <a:cs typeface="Dotum"/>
              </a:rPr>
              <a:t>연동 작업 中</a:t>
            </a:r>
            <a:endParaRPr lang="en-US" altLang="ko-KR" sz="800" b="1">
              <a:solidFill>
                <a:srgbClr val="006600"/>
              </a:solidFill>
              <a:cs typeface="Dotum"/>
            </a:endParaRPr>
          </a:p>
        </p:txBody>
      </p:sp>
    </p:spTree>
    <p:extLst>
      <p:ext uri="{BB962C8B-B14F-4D97-AF65-F5344CB8AC3E}">
        <p14:creationId xmlns:p14="http://schemas.microsoft.com/office/powerpoint/2010/main" val="2942103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9C6C542-2C2E-4A1B-8A21-6D6D3ECD4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718393"/>
              </p:ext>
            </p:extLst>
          </p:nvPr>
        </p:nvGraphicFramePr>
        <p:xfrm>
          <a:off x="33428" y="869795"/>
          <a:ext cx="9587281" cy="5761486"/>
        </p:xfrm>
        <a:graphic>
          <a:graphicData uri="http://schemas.openxmlformats.org/drawingml/2006/table">
            <a:tbl>
              <a:tblPr/>
              <a:tblGrid>
                <a:gridCol w="64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1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50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Data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통합 운영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ESWA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MEB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라인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(W51)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핵심 조립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FDC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팀과 논의하였고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수율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TDR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진행하면서 도출된 항목 추가 수집 검토 중인 사항 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i="0" u="none" strike="noStrike" baseline="0" noProof="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▶과제내용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DTC PLC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통해 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ID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기반 실시간으로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수집하여 시스템에 제공해주는 것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1. ESWA 11-1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시스템 대상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DTC PLC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통한 실시간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전송 검증 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(9/9)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2. ESWA 21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 </a:t>
                      </a:r>
                      <a:r>
                        <a:rPr lang="en-US" altLang="ko-KR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LnS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/PKG FDC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시스템 대상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DTC PLC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통한 공정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FDC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항목 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ID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연계 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(12/5) 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1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3. 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WA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양산 적용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-. WA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MEB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전극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4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/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조립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대상으로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 양산 적용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(‘25.6)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다만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VW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신규 모델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E77A SOP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지연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(‘25.6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→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‘26.1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으로 효과 검증을 하지 못했습니다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  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E77A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모델 생산 재개된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13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 대상으로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수집 이상 여부 확인 진행 중이며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현재까지 특이사항 없습니다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.(~12/3)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전극 설비 담당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하재욱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님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요청으로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추가 수집 중에 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ESWA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는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타발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시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타발부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Flatness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이상으로 불량이 발생할 것으로 예상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(FDC ITEM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발굴 중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하여 변위센서 데이터 추가 수집 요청을 하였으며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해당 데이터 포함하여 전체 수평전개 완료 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.(6/25)    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-. Normal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 확산 전개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-.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전극 공정 담당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공선배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님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요청으로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Normal 15,18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호기 확산 전개 검토 진행 중입니다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전극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FDC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그룹장님께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WA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출장 보고 드린 내용으로 법인에 공유가 되었고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공선배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님이 출장보고서 내용을 자세히 듣고 싶다고 하여 별도 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공유회가 진행되었습니다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(7/4).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해당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공유회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진행 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ID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기반으로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NND Molding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부 변위 데이터를 고해상도로 보고 있다는 내용에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대해 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법인에서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Dancer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각도도 고해상도로 보고싶다는 니즈가 있었고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생산이 많은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15,18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호기 우선 적용하여 데이터 수집 가능한지 문의가 왔습니다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-.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 수집은 가능하나 금번 작업한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MEB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라인이 아닌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Normal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라인은 별도 작업이 필요하며 그룹 내 예산이 부족하니 법인에서 비용 지원이 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가능한지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문의드렸고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공선배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님이 해당 건 추진하라고 지시하여 법인 내 투자비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5,000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만원 확보 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(8/5)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법인에서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8,15,18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현대향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설비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10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투자비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5,000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만원 마련하였으며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MEB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수평전개 후 남은 재원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(8,000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만원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으로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현대향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(15,18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포함하여 투자 진행할 수 있도록 준비 중에 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8/19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그룹장님께 투자심의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보고드렸으며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검토가격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Pass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cs typeface="Malgun Gothic Semilight"/>
                        </a:rPr>
                        <a:t>Data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cs typeface="Malgun Gothic Semilight"/>
                        </a:rPr>
                        <a:t>통합 운영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현대向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Normal Line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대상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(18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1.01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PLX MEB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현대向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Normal Line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노칭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라미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대상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(98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1.15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으로 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2.16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집행하고자 합니다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.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-.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신낙천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고지연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폴란드 출장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(9/26 ~ 10/22)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대응 후 복귀 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금번 대상 라인은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15,18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(+8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호기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해당 라인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현대향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은 현재 생산량이 많은 라인으로 부동이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Bottle Neck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기준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1.5hr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 필요한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Action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이나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고객사 물량을 맞추기 위해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1.5hr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0.5hr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로 단축해서 진행해달라는 생산관리팀 요청이 있어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 후 최소한의 이상여부만 확인하는 방향으로 작업 진행하였습니다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전체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설비 대상으로 부동 필요 작업 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(10/5)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하였고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양극 대표호기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 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(10/10)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및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FDC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수집 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(10/13)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전호기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수평전개 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(10/14)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및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FDC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수집 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(10/15)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하였으며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6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 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(10/16)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및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FDC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수집 완료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(10/17)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일부 데이터에서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EQP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영역과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영역의 데이터 수집 방식에 차이가 있어 데이터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Trend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는 유사하나 센서 측정값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Scale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 다른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현상이 있어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EQP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영역 데이터 수집 방식과 동일하게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영역 수정하여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Counter Spec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업데이트 및 배포하여 수정 적용 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.(11/9)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총 투자 대상은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적용 완료했습니다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.(11/28)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그룹장님께 진척 현황 및 완료 보고 이후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(12/3),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조립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FDC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팀에서 해당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활용할 수 있도록 부족한 부분이 무엇인지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검토 지시하신 부분에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대해 이현우 팀장과 논의하였으며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(12/4),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부족한 부분은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수율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TDR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진행하면서 도출된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가 추가 수집되면 좋겠다는 의견을 받았습니다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수율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TDR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과정에서 신규 도출된 추가 수집 필요 항목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List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확보하여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WA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호기 선정하여 적용하고자 합니다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별도 투자 없이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호기만</a:t>
                      </a:r>
                      <a:endParaRPr lang="en-US" altLang="ko-KR" sz="1000" b="0" i="0" u="none" strike="noStrike" baseline="0" noProof="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적용해보는 것으로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삼익과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협의하였으며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12/19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일까지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Counter Spec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반영 및 배포하여 가장 빠른 일정으로 적용할 수 있도록 검토 중입니다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(6/26)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신낙천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고지연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427386" y="376121"/>
            <a:ext cx="1309654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신낙천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S,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고지연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E8376-1042-449C-B823-F39F4DD715DC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12/16 12</a:t>
            </a:r>
            <a:r>
              <a:rPr lang="ko-KR" altLang="en-US" sz="1000" dirty="0">
                <a:solidFill>
                  <a:prstClr val="black"/>
                </a:solidFill>
                <a:latin typeface="Arial Narrow"/>
                <a:ea typeface="LG스마트체 Regular"/>
              </a:rPr>
              <a:t>시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6" name="내용 개체 틀 20">
            <a:extLst>
              <a:ext uri="{FF2B5EF4-FFF2-40B4-BE49-F238E27FC236}">
                <a16:creationId xmlns:a16="http://schemas.microsoft.com/office/drawing/2014/main" id="{34DE0612-21EC-4D81-9176-A94A225866F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2019784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_Data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통합 운영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B76D5-7916-4CE1-B2CB-A518AB27B68A}"/>
              </a:ext>
            </a:extLst>
          </p:cNvPr>
          <p:cNvSpPr txBox="1"/>
          <p:nvPr/>
        </p:nvSpPr>
        <p:spPr>
          <a:xfrm>
            <a:off x="19348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A575AD3E-B92B-4A72-B3CF-A1F62A492752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A2283-A5C7-468C-9A7C-15ADCC9B60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-#1,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3F64C-1DF4-481B-B825-D3C91E867FEC}"/>
              </a:ext>
            </a:extLst>
          </p:cNvPr>
          <p:cNvSpPr txBox="1"/>
          <p:nvPr/>
        </p:nvSpPr>
        <p:spPr>
          <a:xfrm>
            <a:off x="859" y="1855868"/>
            <a:ext cx="109826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‘25.12.03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‘25.12.17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705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9C6C542-2C2E-4A1B-8A21-6D6D3ECD4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468377"/>
              </p:ext>
            </p:extLst>
          </p:nvPr>
        </p:nvGraphicFramePr>
        <p:xfrm>
          <a:off x="33428" y="869795"/>
          <a:ext cx="9587281" cy="5761486"/>
        </p:xfrm>
        <a:graphic>
          <a:graphicData uri="http://schemas.openxmlformats.org/drawingml/2006/table">
            <a:tbl>
              <a:tblPr/>
              <a:tblGrid>
                <a:gridCol w="64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1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50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DTC PLC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통합관리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Solution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ESWA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MEB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라인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(W51)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내용은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WA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대상 호기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잔여호기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18-2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 완료한 사항입니다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DTC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통합관리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▶과제내용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DTC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프로그램 관리 및 모니터링이 가능한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의 중앙 관리화 환경 구축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-. DTC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관리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관리 하는 기본 기능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 관리 기능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셀 추적 특화 기능으로 구분하여 개발 예정 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1.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기본 기능으로는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원격으로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프로그램 업로드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(DTC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Solution) /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다운로드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(Solution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&amp;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프로그램 변경에 따른 자동 버전 관리 기능이 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해당 기능은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’24.11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ESWA 21-1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STK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Prototype Test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 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Keyence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자체 이상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관련 알람을 모니터링하는 기능을 넣고자 합니다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 추적 이상 관련 알람이 아닌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PLC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자체적으로 발생하는 문제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 Ex)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CPU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전원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(Power)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2.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또한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Data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통합 운영 관리 기능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정상 수집 여부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모니터링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할 수 있는 기능이 있는지 함께 검토 중에 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3.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 추적 특화 사양은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통신 알람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 추적에 필요한 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Device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간 통신 이상 알람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모니터링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 추적 이상 알람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인식률 저하 알람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정합성 이상 알람 등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모니터링 기능이 있으며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구현 가능한지 검토 중 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정합성 이상 알람 경우엔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현재 셀추적기술팀에서 수동으로 점검하고 있는 검사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와 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ID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연계 정합성을 자동으로 구현하는 프로그램을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검토 중이며 해당 기술이 개발되며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모니터링이 가능한지 검토 하고 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4.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일정 경우엔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기능 고도화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(~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25.6),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검증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Test(~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25.6), WA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양산 적용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(~’25.9),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추적성 특화 기능 개발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(~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25.10)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 LG CNS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관리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개발 정상 진행 중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(~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25.6)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WA MEB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 양산 적용 타겟으로 기능 개발 중이며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6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말까지 기능 개발 완료 및 사용 할 수 있도록 일정 협의 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현재 기준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(5/7)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버전 관리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프로그램 배포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상태 모니터링 개발하였으며 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6/15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일까지 셀 추적 특화 기능 및 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 기능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정상 수집 여부 모니터링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개발 예정 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 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현장에 작업 필요 사항들은 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 셋업 시 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DTC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관리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작업까지 모두 진행 할 계획 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.(~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25.6)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현장 작업 필요 사항은 크게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3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가지로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①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SD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카드 추가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(DTC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관련 정보 저장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②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과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간 통신 영역 설정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③ 셀 추적 관련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HMI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원격 조정을 위한 설비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영역 설정 작업이 있습니다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③번과 같이 설비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영역 설정 작업이 필요한 사유는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기존에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HMI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설정값을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변경하는 경우에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HMI(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PLC) → DTC PLC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로 단방향으로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통신 했으나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Solution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원격으로  조정하기 위해서는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 → DTC PLC → HMI(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로 통신하기 위해서 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6/2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 기준으로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100%(80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80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완료한 상태로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On-Track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중 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신낙천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고지연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폴란드 출장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(9/26 ~ 10/22)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대응 후 복귀하였습니다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-.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PLX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양산 적용 대상은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MEB 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라인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(10,13,14,20,21,22,23,24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스태킹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패키지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+ Normal 15,18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(+8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호기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-.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전체 대상 호기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모두 셋업 완료하였습니다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출장 복귀 당시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98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94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완료한 상태였으나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잔여호기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4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3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양극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10-1,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18-1,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스태킹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10-3)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11/14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 및 적용 완료 하였으며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마지막 잔여 호기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18-2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LAM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12/3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 작업 완료하였습니다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*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당 확인 필요 항목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NND 353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LAM 372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STK 464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PKG 202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셀추적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관련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Para / Keyence PLC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자체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Para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-. CNS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내부적으로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편의성 및 완성도가 떨어진다고 판단하여 별도 디자인 개발자와 함께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개선 작업 진행 중입니다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(~.25.12)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*11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내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개발 및 연동 작업 완료되면 솔루션 사용 가능하며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이후에는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개선 작업만 진행하는 건입니다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-.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셀추적기술팀과 미팅하여 현재까지 개발된 사항으로 활용 가능한 부분이 무엇인지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앞으로 추가 개발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해야하는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부분에 대해서 확인하겠습니다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-.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박경찬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팀장과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PLX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활용 가능 부분 및 보완 필요 사항 논의하였으며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(12/5),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단기적으론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보완하여 다수의 설비 상태를 한눈에 볼 수 있게 하여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관리 목적으로 활용할 예정이며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그외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설비동작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이상점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모니터링 기능 추가하여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수율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개선 아이템 도출할 수 있게 활용하는 것으로 </a:t>
                      </a:r>
                      <a:endParaRPr lang="en-US" altLang="ko-KR" sz="1000" b="0" i="0" u="none" strike="noStrike" baseline="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논의하였습니다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최근 일반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L&amp;S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의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스태킹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공정에서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모노셀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적재 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NG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발생시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티칭옵셋값이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누락된 것을 확인하여 </a:t>
                      </a:r>
                      <a:r>
                        <a:rPr lang="ko-KR" altLang="en-US" sz="1000" b="0" i="0" u="none" strike="noStrike" baseline="0" noProof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수율</a:t>
                      </a:r>
                      <a:r>
                        <a:rPr lang="ko-KR" altLang="en-US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개선한 사항과 같은</a:t>
                      </a:r>
                      <a:r>
                        <a:rPr lang="en-US" altLang="ko-KR" sz="1000" b="0" i="0" u="none" strike="noStrike" baseline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~‘25.10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신낙천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고지연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EE8376-1042-449C-B823-F39F4DD715DC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lang="en-US" altLang="ko-KR" sz="1000" dirty="0">
                <a:solidFill>
                  <a:prstClr val="black"/>
                </a:solidFill>
                <a:latin typeface="Arial Narrow"/>
                <a:ea typeface="LG스마트체 Regular"/>
              </a:rPr>
              <a:t>12/16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12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6" name="내용 개체 틀 20">
            <a:extLst>
              <a:ext uri="{FF2B5EF4-FFF2-40B4-BE49-F238E27FC236}">
                <a16:creationId xmlns:a16="http://schemas.microsoft.com/office/drawing/2014/main" id="{34DE0612-21EC-4D81-9176-A94A225866F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2851743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_DTC PLC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통합관리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B76D5-7916-4CE1-B2CB-A518AB27B68A}"/>
              </a:ext>
            </a:extLst>
          </p:cNvPr>
          <p:cNvSpPr txBox="1"/>
          <p:nvPr/>
        </p:nvSpPr>
        <p:spPr>
          <a:xfrm>
            <a:off x="19348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A575AD3E-B92B-4A72-B3CF-A1F62A492752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A2283-A5C7-468C-9A7C-15ADCC9B60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-#2,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5" name="내용 개체 틀 20">
            <a:extLst>
              <a:ext uri="{FF2B5EF4-FFF2-40B4-BE49-F238E27FC236}">
                <a16:creationId xmlns:a16="http://schemas.microsoft.com/office/drawing/2014/main" id="{6D29F9E5-011F-4B86-BACD-1AB927BD6869}"/>
              </a:ext>
            </a:extLst>
          </p:cNvPr>
          <p:cNvSpPr txBox="1">
            <a:spLocks/>
          </p:cNvSpPr>
          <p:nvPr/>
        </p:nvSpPr>
        <p:spPr>
          <a:xfrm>
            <a:off x="8427386" y="376121"/>
            <a:ext cx="1309654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신낙천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S,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고지연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B5DEF-4A31-972B-3D85-ED6ED2F0C42A}"/>
              </a:ext>
            </a:extLst>
          </p:cNvPr>
          <p:cNvSpPr txBox="1"/>
          <p:nvPr/>
        </p:nvSpPr>
        <p:spPr>
          <a:xfrm>
            <a:off x="859" y="1855868"/>
            <a:ext cx="109826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‘25.12.3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‘25.12.17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028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9C6C542-2C2E-4A1B-8A21-6D6D3ECD4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856582"/>
              </p:ext>
            </p:extLst>
          </p:nvPr>
        </p:nvGraphicFramePr>
        <p:xfrm>
          <a:off x="33428" y="869795"/>
          <a:ext cx="9587281" cy="6320286"/>
        </p:xfrm>
        <a:graphic>
          <a:graphicData uri="http://schemas.openxmlformats.org/drawingml/2006/table">
            <a:tbl>
              <a:tblPr/>
              <a:tblGrid>
                <a:gridCol w="64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0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18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(W48)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502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DTC PLC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통합관리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Solution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ESWA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MEB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라인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(W48)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내용은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ESWA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대상호기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98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94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셋업 완료 및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PLX UI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편의성 개선을 위한 작업 진행 중인 사항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endParaRPr lang="en-US" altLang="ko-KR" sz="1000" b="0" i="0" u="none" strike="noStrike" baseline="0" noProof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DTC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통합관리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▶과제내용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DTC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프로그램 관리 및 모니터링이 가능한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의 중앙 관리화 환경 구축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-. DTC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관리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관리 하는 기본 기능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 관리 기능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셀 추적 특화 기능으로 구분하여 개발 예정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1.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기본 기능으로는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원격으로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프로그램 업로드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(DTC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Solution) 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다운로드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(Solution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&amp;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프로그램 변경에 따른 자동 버전 관리 기능이 있습니다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해당 기능은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’24.11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ESWA 21-1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STK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Prototype Test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했습니다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 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Keyence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자체 이상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관련 알람을 모니터링하는 기능을 넣고자 합니다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 추적 이상 관련 알람이 아닌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PLC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자체적으로 발생하는 문제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 Ex)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CPU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전원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(Power)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2.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또한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Data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통합 운영 관리 기능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정상 수집 여부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모니터링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할 수 있는 기능이 있는지 함께 검토 중에 있습니다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3.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 추적 특화 사양은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통신 알람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 추적에 필요한 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Device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간 통신 이상 알람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모니터링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 추적 이상 알람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인식률 저하 알람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정합성 이상 알람 등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모니터링 기능이 있으며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구현 가능한지 검토 중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정합성 이상 알람 경우엔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현재 셀추적기술팀에서 수동으로 점검하고 있는 검사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와 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ID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연계 정합성을 자동으로 구현하는 프로그램을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검토 중이며 해당 기술이 개발되며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모니터링이 가능한지 검토 하고 있습니다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4.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일정 경우엔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기능 고도화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(~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25.6),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검증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Test(~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25.6), WA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양산 적용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(~’25.9),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추적성 특화 기능 개발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(~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25.10)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 LG CNS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관리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개발 정상 진행 중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(~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25.6)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WA MEB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 양산 적용 타겟으로 기능 개발 중이며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6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말까지 기능 개발 완료 및 사용 할 수 있도록 일정 협의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현재 기준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(5/7)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버전 관리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프로그램 배포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상태 모니터링 개발하였으며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6/15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일까지 셀 추적 특화 기능 및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 기능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정상 수집 여부 모니터링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개발 예정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그 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현장에 작업 필요 사항들은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 셋업 시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DTC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관리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작업까지 모두 진행 할 계획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.(~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＇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25.6)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현장 작업 필요 사항은 크게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3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가지로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①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SD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카드 추가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(DTC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관련 정보 저장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②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과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DTC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간 통신 영역 설정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③ 셀 추적 관련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HMI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원격 조정을 위한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영역 설정 작업이 있습니다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③번과 같이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영역 설정 작업이 필요한 사유는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기존에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HMI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설정값을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변경하는 경우에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HMI(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PLC) → DTC PLC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로 단방향으로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통신 했으나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Solution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원격으로  조정하기 위해서는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Solution → DTC PLC → HMI(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로 통신하기 위해서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6/2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 기준으로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100%(80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80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완료한 상태로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On-Track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중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신낙천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고지연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폴란드 출장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(9/26 ~ 10/22)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대응 후 복귀하였습니다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-.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PLX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양산 적용 대상은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MEB 8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라인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(10,13,14,20,21,22,23,24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스태킹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패키지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+ Normal 15,18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(+8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호기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-.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전체 대상 호기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98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94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셋업 완료하였습니다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잔여호기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4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 중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18-1,2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 운영 수평전개 후 작업 예정이며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2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노칭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양극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10-1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스태킹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10-3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는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본기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or PLC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전원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Off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상태로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MEB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SOP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이후 잔여 항목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진행하여 셋업 완료 하고자 합니다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*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당 확인 필요 항목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NND 353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LAM 372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STK 464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PKG 202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셀추적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관련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Para / Keyence 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자체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Para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-. 8/18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 그룹장님께 기본 기능에 대해 시연 드렸으나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개발 미완료 되었던 기능과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개발 및 연동 작업 진행 중입니다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(~’25.11)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CNS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내부적으로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편의성 및 완성도가 떨어진다고 판단하여 별도 디자인 개발자와 함께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개선 작업 진행 중입니다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(~.25.12)</a:t>
                      </a:r>
                    </a:p>
                    <a:p>
                      <a:pPr lvl="0">
                        <a:lnSpc>
                          <a:spcPts val="1100"/>
                        </a:lnSpc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*11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월 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개발 및 연동 작업 완료되면 솔루션 사용 가능하며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이후에는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UI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개선 작업만 진행하는 건입니다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~‘25.10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신낙천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고지연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7EE8376-1042-449C-B823-F39F4DD715DC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lang="en-US" altLang="ko-KR" sz="1000">
                <a:solidFill>
                  <a:prstClr val="black"/>
                </a:solidFill>
                <a:latin typeface="Arial Narrow"/>
                <a:ea typeface="LG스마트체 Regular"/>
              </a:rPr>
              <a:t>11/18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lang="en-US" altLang="ko-KR" sz="1000">
                <a:solidFill>
                  <a:prstClr val="black"/>
                </a:solidFill>
                <a:latin typeface="Arial Narrow"/>
                <a:ea typeface="LG스마트체 Regular"/>
              </a:rPr>
              <a:t>16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6" name="내용 개체 틀 20">
            <a:extLst>
              <a:ext uri="{FF2B5EF4-FFF2-40B4-BE49-F238E27FC236}">
                <a16:creationId xmlns:a16="http://schemas.microsoft.com/office/drawing/2014/main" id="{34DE0612-21EC-4D81-9176-A94A225866F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2851743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_DTC PLC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통합관리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B76D5-7916-4CE1-B2CB-A518AB27B68A}"/>
              </a:ext>
            </a:extLst>
          </p:cNvPr>
          <p:cNvSpPr txBox="1"/>
          <p:nvPr/>
        </p:nvSpPr>
        <p:spPr>
          <a:xfrm>
            <a:off x="19348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A575AD3E-B92B-4A72-B3CF-A1F62A492752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EA2283-A5C7-468C-9A7C-15ADCC9B60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-#2,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5" name="내용 개체 틀 20">
            <a:extLst>
              <a:ext uri="{FF2B5EF4-FFF2-40B4-BE49-F238E27FC236}">
                <a16:creationId xmlns:a16="http://schemas.microsoft.com/office/drawing/2014/main" id="{6D29F9E5-011F-4B86-BACD-1AB927BD6869}"/>
              </a:ext>
            </a:extLst>
          </p:cNvPr>
          <p:cNvSpPr txBox="1">
            <a:spLocks/>
          </p:cNvSpPr>
          <p:nvPr/>
        </p:nvSpPr>
        <p:spPr>
          <a:xfrm>
            <a:off x="8427386" y="376121"/>
            <a:ext cx="1309654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신낙천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S,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고지연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8219C-E1D5-44CC-9058-AA3F410B1190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‘25.11.5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‘25.11.19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2856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881036" y="376121"/>
            <a:ext cx="856004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신종권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</a:t>
            </a:r>
          </a:p>
        </p:txBody>
      </p:sp>
      <p:sp>
        <p:nvSpPr>
          <p:cNvPr id="33" name="제목 1">
            <a:extLst>
              <a:ext uri="{FF2B5EF4-FFF2-40B4-BE49-F238E27FC236}">
                <a16:creationId xmlns:a16="http://schemas.microsoft.com/office/drawing/2014/main" id="{E70AC04A-822D-4EBC-B08B-D44518724C41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7E8D27-1992-4FC2-9DC2-4843E6FA951B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10/21 16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29" name="내용 개체 틀 20">
            <a:extLst>
              <a:ext uri="{FF2B5EF4-FFF2-40B4-BE49-F238E27FC236}">
                <a16:creationId xmlns:a16="http://schemas.microsoft.com/office/drawing/2014/main" id="{3EBE8CB9-63DD-45E7-9860-F1B1EDBFB770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5341206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</a:rPr>
              <a:t>■ 미래기술</a:t>
            </a:r>
            <a:r>
              <a:rPr lang="en-US" altLang="ko-KR" sz="1400" b="1">
                <a:solidFill>
                  <a:prstClr val="black"/>
                </a:solidFill>
              </a:rPr>
              <a:t>_</a:t>
            </a:r>
            <a:r>
              <a:rPr lang="ko-KR" altLang="en-US" sz="1400" b="1">
                <a:solidFill>
                  <a:prstClr val="black"/>
                </a:solidFill>
              </a:rPr>
              <a:t>제조지능화 업무 체계 개선 </a:t>
            </a:r>
            <a:r>
              <a:rPr lang="en-US" altLang="ko-KR" sz="1400" b="1">
                <a:solidFill>
                  <a:prstClr val="black"/>
                </a:solidFill>
              </a:rPr>
              <a:t>(</a:t>
            </a:r>
            <a:r>
              <a:rPr lang="en-US" altLang="ko-KR" sz="1400" b="1" err="1">
                <a:solidFill>
                  <a:prstClr val="black"/>
                </a:solidFill>
              </a:rPr>
              <a:t>CodeSpace</a:t>
            </a:r>
            <a:r>
              <a:rPr lang="en-US" altLang="ko-KR" sz="1400" b="1">
                <a:solidFill>
                  <a:prstClr val="black"/>
                </a:solidFill>
              </a:rPr>
              <a:t>(DX) C</a:t>
            </a:r>
            <a:r>
              <a:rPr lang="ko-KR" altLang="en-US" sz="1400" b="1">
                <a:solidFill>
                  <a:prstClr val="black"/>
                </a:solidFill>
              </a:rPr>
              <a:t>언어 대응 고도화</a:t>
            </a:r>
            <a:r>
              <a:rPr lang="en-US" altLang="ko-KR" sz="1400" b="1">
                <a:solidFill>
                  <a:prstClr val="black"/>
                </a:solidFill>
              </a:rPr>
              <a:t>)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253D908-610B-44F3-BFC0-7E83108DB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124338"/>
              </p:ext>
            </p:extLst>
          </p:nvPr>
        </p:nvGraphicFramePr>
        <p:xfrm>
          <a:off x="36075" y="869795"/>
          <a:ext cx="9804440" cy="7428720"/>
        </p:xfrm>
        <a:graphic>
          <a:graphicData uri="http://schemas.openxmlformats.org/drawingml/2006/table">
            <a:tbl>
              <a:tblPr/>
              <a:tblGrid>
                <a:gridCol w="663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99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0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325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CodeSpace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(DX)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ESWA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전공정</a:t>
                      </a: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(W51)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(DX)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특이사항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 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 대응 고도화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조립공정 대상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▶과제배경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: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(DX) Python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언어 표준화 기반으로 시스템 구축되어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언어 검증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배포 기능 활용을 위해 조립공정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대상 구축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▶일정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계획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▶개발 진척사항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 통합 검증 화면 분석 및 설계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(7/7)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하였으며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검증 기능 구성에 필요한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데이터 생성 및 알고리즘 실행 파일 분석 완료하였습니다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(7/25)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 환경 내 화면 정의된 부분과 기능 동작 여부를 확인하기 위한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진행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(8/7)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하였고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피드백 사항들 반영 완료했습니다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(8/22)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 통합 검증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배포 기능을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운영 서버로 배포하여 검증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배포 기능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Test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를 진행하며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보완 사항 점검 완료했습니다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(9/5)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 검증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배포 환경 개발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(8/29)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하였으며 사용자 기능테스트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(~9/16)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진행하여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최종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검증하고 사용자 매뉴얼 준비하여 자동보정 대상으로 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시스템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Open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및 설명회 진행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(9/17)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  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조립자동보정 검증 대상인원 선정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이왕주님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스태킹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김태승님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    - </a:t>
                      </a:r>
                      <a:r>
                        <a:rPr kumimoji="1" lang="en-US" altLang="ko-KR" sz="1000" kern="0" err="1">
                          <a:solidFill>
                            <a:schemeClr val="tx1"/>
                          </a:solidFill>
                          <a:cs typeface="Malgun Gothic Semilight"/>
                        </a:rPr>
                        <a:t>Codespace</a:t>
                      </a:r>
                      <a:r>
                        <a:rPr kumimoji="1" lang="en-US" altLang="ko-KR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 </a:t>
                      </a:r>
                      <a:r>
                        <a:rPr kumimoji="1" lang="ko-KR" altLang="en-US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시스템 </a:t>
                      </a:r>
                      <a:r>
                        <a:rPr kumimoji="1" lang="ko-KR" altLang="en-US" sz="1000" kern="0" err="1">
                          <a:solidFill>
                            <a:schemeClr val="tx1"/>
                          </a:solidFill>
                          <a:cs typeface="Malgun Gothic Semilight"/>
                        </a:rPr>
                        <a:t>전환률은</a:t>
                      </a:r>
                      <a:r>
                        <a:rPr kumimoji="1" lang="ko-KR" altLang="en-US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 </a:t>
                      </a:r>
                      <a:r>
                        <a:rPr kumimoji="1" lang="en-US" altLang="ko-KR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100%(43/ 43</a:t>
                      </a:r>
                      <a:r>
                        <a:rPr kumimoji="1" lang="ko-KR" altLang="en-US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명</a:t>
                      </a:r>
                      <a:r>
                        <a:rPr kumimoji="1" lang="en-US" altLang="ko-KR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)</a:t>
                      </a:r>
                      <a:r>
                        <a:rPr kumimoji="1" lang="ko-KR" altLang="en-US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로 최종 완료</a:t>
                      </a:r>
                      <a:r>
                        <a:rPr kumimoji="1" lang="en-US" altLang="ko-KR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(9/12)</a:t>
                      </a:r>
                      <a:r>
                        <a:rPr kumimoji="1" lang="ko-KR" altLang="en-US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하였습니다</a:t>
                      </a:r>
                      <a:r>
                        <a:rPr kumimoji="1" lang="en-US" altLang="ko-KR" sz="1000" kern="0">
                          <a:solidFill>
                            <a:schemeClr val="tx1"/>
                          </a:solidFill>
                          <a:cs typeface="Malgun Gothic Semilight"/>
                        </a:rPr>
                        <a:t>. 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① 검증 환경 개발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 Windows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서버 내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조립공정 알고리즘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(C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실행 파일을 검증할 수 있는 기능 구축</a:t>
                      </a:r>
                      <a:b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통합검증 화면 분석 및 설계가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(7/7)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되었으며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데이터 생성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코드검증 기능 구체화를 위한 실무 미팅 진행하였습니다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(7/9, w/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조립자동보정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신규 검증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파이프라인 구축에 따라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메인 화면 및 통합 검증 화면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구성시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변경점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및 화면정의서 논의 진행하였습니다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(7/15)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 대상 검증 기능을 구현하기 위해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Input/ Output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데이터 및 알고리즘 실행파일 분석 완료하였고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 환경 구성 논의 진행하였습니다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(7/25)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 환경을 생성하기 위한 분석과제 요청 화면 기능 개발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(8/4)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하였으며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가상 데이터 생성 및 검증하고자 하는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Data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저장을 위한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데이터셋 기능을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차 개발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(8/12)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기능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Test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시 데이터셋 화면 정의 및 기능 관련하여 피드백 사항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반영 완료했습니다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(8/22)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- 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개발이 완료된 항목을 운영 서버로 배포 완료하여 자체 테스트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(9/12),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STK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공정 검증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(9/16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김태승님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완료하였으며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공정은 이왕주님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출장 복귀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(9/19)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하여 사용자 추가 검증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(9/30)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② 배포 환경 개발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 APC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조립공정 대상 검증 완료된 과제에 대해 통합 결재 및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배포 환경 개발</a:t>
                      </a:r>
                      <a:endParaRPr kumimoji="0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알고리즘 배포 화면 분석 및 기능 설계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(7/28)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및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기 구축된 시스템의 배포 환경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변경점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분석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(7/31)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하여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개발 중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(~8/29)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알고리즘 배포 전 코드 검증 결과가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OK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인지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배포 파일 형식이 맞는지 등을 최종 체크할 수 있는 기능에 대해서 설계 중으로 기 구축된 배포 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환경에 대한 수정 개발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(8/12)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되었고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표준 알고리즘 등록 및 관리 개발 화면 개발 완료 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(~8/29)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알고리즘 배포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직접 호출 방식 적용시 전송 용량제한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사유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 Message Que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방식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90Mb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이하 까지 지원하나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코터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알고리즘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300Mb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수준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으로 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.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DB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로 자동 배포하는 방식으로 변경하였습니다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개발서버 기준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차 기능구현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7/21,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개발서버 검증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8/12)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: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운영 서버에서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운영 서버로 배포 파일 전송 및 파일 선택 기능 테스트 완료했습니다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(8/28)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알고리즘 배포 기능을 포함해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ESWA APC 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월 패치에 적용 및 최종 검증 완료 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.(9/30 w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공정제어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DX)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: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에서 알고리즘 패키지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로 전송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APC UI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에서 패키지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원클릭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선택 등록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APC Test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서버로 검증 이관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이상없음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’25.9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신종권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이재후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8EA8266-2C88-4571-8D29-F9481F1BFA53}"/>
              </a:ext>
            </a:extLst>
          </p:cNvPr>
          <p:cNvSpPr txBox="1"/>
          <p:nvPr/>
        </p:nvSpPr>
        <p:spPr>
          <a:xfrm>
            <a:off x="42057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37" name="오각형 12">
            <a:extLst>
              <a:ext uri="{FF2B5EF4-FFF2-40B4-BE49-F238E27FC236}">
                <a16:creationId xmlns:a16="http://schemas.microsoft.com/office/drawing/2014/main" id="{45E4BF10-BAB7-402D-BD0B-2701D6F694A6}"/>
              </a:ext>
            </a:extLst>
          </p:cNvPr>
          <p:cNvSpPr/>
          <p:nvPr/>
        </p:nvSpPr>
        <p:spPr>
          <a:xfrm>
            <a:off x="2407315" y="1982610"/>
            <a:ext cx="900000" cy="315943"/>
          </a:xfrm>
          <a:prstGeom prst="homePlate">
            <a:avLst>
              <a:gd name="adj" fmla="val 20529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집행품의</a:t>
            </a:r>
            <a:r>
              <a:rPr lang="en-US" altLang="ko-KR" sz="900">
                <a:solidFill>
                  <a:schemeClr val="tx1"/>
                </a:solidFill>
                <a:latin typeface="Arial Narrow"/>
                <a:ea typeface="LG스마트체 Regular"/>
              </a:rPr>
              <a:t>/</a:t>
            </a: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투자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(PO)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8" name="갈매기형 수장 14">
            <a:extLst>
              <a:ext uri="{FF2B5EF4-FFF2-40B4-BE49-F238E27FC236}">
                <a16:creationId xmlns:a16="http://schemas.microsoft.com/office/drawing/2014/main" id="{E89BA4A3-5AB0-4952-B2FA-C3B7B963C448}"/>
              </a:ext>
            </a:extLst>
          </p:cNvPr>
          <p:cNvSpPr/>
          <p:nvPr/>
        </p:nvSpPr>
        <p:spPr>
          <a:xfrm>
            <a:off x="3280308" y="1982610"/>
            <a:ext cx="2624676" cy="315941"/>
          </a:xfrm>
          <a:prstGeom prst="chevron">
            <a:avLst>
              <a:gd name="adj" fmla="val 19425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</a:t>
            </a:r>
          </a:p>
        </p:txBody>
      </p:sp>
      <p:sp>
        <p:nvSpPr>
          <p:cNvPr id="39" name="TextBox 354">
            <a:extLst>
              <a:ext uri="{FF2B5EF4-FFF2-40B4-BE49-F238E27FC236}">
                <a16:creationId xmlns:a16="http://schemas.microsoft.com/office/drawing/2014/main" id="{4AAA67F9-A391-4F5E-AFDF-F1CA704875C5}"/>
              </a:ext>
            </a:extLst>
          </p:cNvPr>
          <p:cNvSpPr txBox="1"/>
          <p:nvPr/>
        </p:nvSpPr>
        <p:spPr>
          <a:xfrm>
            <a:off x="5080930" y="2316661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‘25.9/15</a:t>
            </a:r>
          </a:p>
        </p:txBody>
      </p:sp>
      <p:sp>
        <p:nvSpPr>
          <p:cNvPr id="40" name="갈매기형 수장 17">
            <a:extLst>
              <a:ext uri="{FF2B5EF4-FFF2-40B4-BE49-F238E27FC236}">
                <a16:creationId xmlns:a16="http://schemas.microsoft.com/office/drawing/2014/main" id="{86A83847-4CC5-4B87-8C6F-4B3064404184}"/>
              </a:ext>
            </a:extLst>
          </p:cNvPr>
          <p:cNvSpPr/>
          <p:nvPr/>
        </p:nvSpPr>
        <p:spPr>
          <a:xfrm>
            <a:off x="5280267" y="2046551"/>
            <a:ext cx="611410" cy="252000"/>
          </a:xfrm>
          <a:prstGeom prst="chevron">
            <a:avLst>
              <a:gd name="adj" fmla="val 19425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>
                <a:solidFill>
                  <a:schemeClr val="tx1"/>
                </a:solidFill>
                <a:latin typeface="Arial Narrow"/>
                <a:ea typeface="LG스마트체 Regular"/>
              </a:rPr>
              <a:t>시스템</a:t>
            </a:r>
            <a:r>
              <a:rPr lang="en-US" altLang="ko-KR" sz="900">
                <a:solidFill>
                  <a:schemeClr val="tx1"/>
                </a:solidFill>
                <a:latin typeface="Arial Narrow"/>
                <a:ea typeface="LG스마트체 Regular"/>
              </a:rPr>
              <a:t>Open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41" name="TextBox 354">
            <a:extLst>
              <a:ext uri="{FF2B5EF4-FFF2-40B4-BE49-F238E27FC236}">
                <a16:creationId xmlns:a16="http://schemas.microsoft.com/office/drawing/2014/main" id="{ED21D329-2B9B-45F9-A4D0-F07FD4D39924}"/>
              </a:ext>
            </a:extLst>
          </p:cNvPr>
          <p:cNvSpPr txBox="1"/>
          <p:nvPr/>
        </p:nvSpPr>
        <p:spPr>
          <a:xfrm>
            <a:off x="5981797" y="2335789"/>
            <a:ext cx="644411" cy="82453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‘25.10</a:t>
            </a:r>
            <a:r>
              <a:rPr lang="en-US" altLang="ko-KR" sz="800" b="1" kern="0">
                <a:solidFill>
                  <a:schemeClr val="tx1"/>
                </a:solidFill>
                <a:latin typeface="Arial Narrow"/>
                <a:ea typeface="LG스마트체 Regular"/>
              </a:rPr>
              <a:t>/M</a:t>
            </a:r>
            <a:endParaRPr kumimoji="0" lang="en-US" altLang="ko-KR" sz="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4" name="TextBox 354">
            <a:extLst>
              <a:ext uri="{FF2B5EF4-FFF2-40B4-BE49-F238E27FC236}">
                <a16:creationId xmlns:a16="http://schemas.microsoft.com/office/drawing/2014/main" id="{28CA24A6-37AE-49A3-9796-F55DE8446378}"/>
              </a:ext>
            </a:extLst>
          </p:cNvPr>
          <p:cNvSpPr txBox="1"/>
          <p:nvPr/>
        </p:nvSpPr>
        <p:spPr>
          <a:xfrm>
            <a:off x="2933186" y="2307607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‘25.6/E</a:t>
            </a:r>
          </a:p>
        </p:txBody>
      </p:sp>
      <p:sp>
        <p:nvSpPr>
          <p:cNvPr id="45" name="갈매기형 수장 21">
            <a:extLst>
              <a:ext uri="{FF2B5EF4-FFF2-40B4-BE49-F238E27FC236}">
                <a16:creationId xmlns:a16="http://schemas.microsoft.com/office/drawing/2014/main" id="{923D314C-BF24-4F65-B766-8B5F3794E5C6}"/>
              </a:ext>
            </a:extLst>
          </p:cNvPr>
          <p:cNvSpPr/>
          <p:nvPr/>
        </p:nvSpPr>
        <p:spPr>
          <a:xfrm>
            <a:off x="5870966" y="1982610"/>
            <a:ext cx="543985" cy="309343"/>
          </a:xfrm>
          <a:prstGeom prst="chevron">
            <a:avLst>
              <a:gd name="adj" fmla="val 194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완료보고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505ECBD-9441-48F1-97A8-E4E8E8BD5B81}"/>
              </a:ext>
            </a:extLst>
          </p:cNvPr>
          <p:cNvSpPr/>
          <p:nvPr/>
        </p:nvSpPr>
        <p:spPr>
          <a:xfrm>
            <a:off x="3881803" y="1862027"/>
            <a:ext cx="756100" cy="174851"/>
          </a:xfrm>
          <a:prstGeom prst="rect">
            <a:avLst/>
          </a:prstGeom>
          <a:solidFill>
            <a:schemeClr val="bg1"/>
          </a:solidFill>
        </p:spPr>
        <p:txBody>
          <a:bodyPr wrap="none" lIns="18000" tIns="18000" rIns="18000" bIns="18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&lt;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시스템 개발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&gt;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"/>
              <a:ea typeface="LG스마트체 Regular"/>
              <a:cs typeface="Malgun Gothic Semilight" panose="020B0502040204020203" pitchFamily="50" charset="-127"/>
            </a:endParaRPr>
          </a:p>
        </p:txBody>
      </p:sp>
      <p:sp>
        <p:nvSpPr>
          <p:cNvPr id="48" name="갈매기형 수장 17">
            <a:extLst>
              <a:ext uri="{FF2B5EF4-FFF2-40B4-BE49-F238E27FC236}">
                <a16:creationId xmlns:a16="http://schemas.microsoft.com/office/drawing/2014/main" id="{643D20C4-794D-48DF-AE39-455B23696ECE}"/>
              </a:ext>
            </a:extLst>
          </p:cNvPr>
          <p:cNvSpPr/>
          <p:nvPr/>
        </p:nvSpPr>
        <p:spPr>
          <a:xfrm>
            <a:off x="3305220" y="2046551"/>
            <a:ext cx="900000" cy="252000"/>
          </a:xfrm>
          <a:prstGeom prst="chevron">
            <a:avLst>
              <a:gd name="adj" fmla="val 19425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상세설계</a:t>
            </a:r>
          </a:p>
        </p:txBody>
      </p:sp>
      <p:sp>
        <p:nvSpPr>
          <p:cNvPr id="49" name="갈매기형 수장 17">
            <a:extLst>
              <a:ext uri="{FF2B5EF4-FFF2-40B4-BE49-F238E27FC236}">
                <a16:creationId xmlns:a16="http://schemas.microsoft.com/office/drawing/2014/main" id="{2BAC9B9A-947F-41AD-9AD1-0531DF2BC737}"/>
              </a:ext>
            </a:extLst>
          </p:cNvPr>
          <p:cNvSpPr/>
          <p:nvPr/>
        </p:nvSpPr>
        <p:spPr>
          <a:xfrm>
            <a:off x="4147203" y="2046551"/>
            <a:ext cx="1152496" cy="252000"/>
          </a:xfrm>
          <a:prstGeom prst="chevron">
            <a:avLst>
              <a:gd name="adj" fmla="val 19425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개발</a:t>
            </a:r>
          </a:p>
        </p:txBody>
      </p:sp>
      <p:sp>
        <p:nvSpPr>
          <p:cNvPr id="51" name="TextBox 354">
            <a:extLst>
              <a:ext uri="{FF2B5EF4-FFF2-40B4-BE49-F238E27FC236}">
                <a16:creationId xmlns:a16="http://schemas.microsoft.com/office/drawing/2014/main" id="{B70E7A48-9C8C-491D-A875-EDC9C923C15A}"/>
              </a:ext>
            </a:extLst>
          </p:cNvPr>
          <p:cNvSpPr txBox="1"/>
          <p:nvPr/>
        </p:nvSpPr>
        <p:spPr>
          <a:xfrm>
            <a:off x="3809723" y="2307607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’25.7/E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B8F543-5F3F-4354-B68E-B9E1F55DA1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-#3,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899EB2-E2A5-426B-B9E8-866E513883DE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‘25.11.5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‘25.11.19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66" name="갈매기형 수장 21">
            <a:extLst>
              <a:ext uri="{FF2B5EF4-FFF2-40B4-BE49-F238E27FC236}">
                <a16:creationId xmlns:a16="http://schemas.microsoft.com/office/drawing/2014/main" id="{1D55C5A0-5EDE-4BCB-ACC4-57D71EDA9B96}"/>
              </a:ext>
            </a:extLst>
          </p:cNvPr>
          <p:cNvSpPr/>
          <p:nvPr/>
        </p:nvSpPr>
        <p:spPr>
          <a:xfrm>
            <a:off x="6384198" y="1982292"/>
            <a:ext cx="829514" cy="309343"/>
          </a:xfrm>
          <a:prstGeom prst="chevron">
            <a:avLst>
              <a:gd name="adj" fmla="val 194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>
                <a:solidFill>
                  <a:schemeClr val="tx1"/>
                </a:solidFill>
                <a:latin typeface="Arial Narrow"/>
                <a:ea typeface="LG스마트체 Regular"/>
              </a:rPr>
              <a:t>수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평</a:t>
            </a:r>
            <a:r>
              <a:rPr lang="ko-KR" altLang="en-US" sz="900">
                <a:solidFill>
                  <a:schemeClr val="tx1"/>
                </a:solidFill>
                <a:latin typeface="Arial Narrow"/>
                <a:ea typeface="LG스마트체 Regular"/>
              </a:rPr>
              <a:t>전개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/>
              <a:ea typeface="LG스마트체 Regular"/>
            </a:endParaRPr>
          </a:p>
        </p:txBody>
      </p:sp>
      <p:sp>
        <p:nvSpPr>
          <p:cNvPr id="67" name="TextBox 354">
            <a:extLst>
              <a:ext uri="{FF2B5EF4-FFF2-40B4-BE49-F238E27FC236}">
                <a16:creationId xmlns:a16="http://schemas.microsoft.com/office/drawing/2014/main" id="{6BE47923-99A9-4F1B-9DCF-E8756C1EF262}"/>
              </a:ext>
            </a:extLst>
          </p:cNvPr>
          <p:cNvSpPr txBox="1"/>
          <p:nvPr/>
        </p:nvSpPr>
        <p:spPr>
          <a:xfrm>
            <a:off x="6714797" y="2285285"/>
            <a:ext cx="789658" cy="147100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‘25.12/E(ESOC)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4393514-DD42-4DC4-8C12-22BB238C21E2}"/>
              </a:ext>
            </a:extLst>
          </p:cNvPr>
          <p:cNvCxnSpPr>
            <a:cxnSpLocks/>
          </p:cNvCxnSpPr>
          <p:nvPr/>
        </p:nvCxnSpPr>
        <p:spPr>
          <a:xfrm>
            <a:off x="6525966" y="2030948"/>
            <a:ext cx="0" cy="288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354">
            <a:extLst>
              <a:ext uri="{FF2B5EF4-FFF2-40B4-BE49-F238E27FC236}">
                <a16:creationId xmlns:a16="http://schemas.microsoft.com/office/drawing/2014/main" id="{DDA6989F-ECB4-4187-9CC2-9BDFADBD05CF}"/>
              </a:ext>
            </a:extLst>
          </p:cNvPr>
          <p:cNvSpPr txBox="1"/>
          <p:nvPr/>
        </p:nvSpPr>
        <p:spPr>
          <a:xfrm>
            <a:off x="6280460" y="1957147"/>
            <a:ext cx="486550" cy="61150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▼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538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881036" y="376121"/>
            <a:ext cx="856004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신종권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</a:t>
            </a:r>
          </a:p>
        </p:txBody>
      </p:sp>
      <p:sp>
        <p:nvSpPr>
          <p:cNvPr id="33" name="제목 1">
            <a:extLst>
              <a:ext uri="{FF2B5EF4-FFF2-40B4-BE49-F238E27FC236}">
                <a16:creationId xmlns:a16="http://schemas.microsoft.com/office/drawing/2014/main" id="{E70AC04A-822D-4EBC-B08B-D44518724C41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7E8D27-1992-4FC2-9DC2-4843E6FA951B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10</a:t>
            </a:r>
            <a:r>
              <a:rPr lang="en-US" altLang="ko-KR" sz="1000">
                <a:solidFill>
                  <a:prstClr val="black"/>
                </a:solidFill>
                <a:latin typeface="Arial Narrow"/>
                <a:ea typeface="LG스마트체 Regular"/>
              </a:rPr>
              <a:t>/21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16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29" name="내용 개체 틀 20">
            <a:extLst>
              <a:ext uri="{FF2B5EF4-FFF2-40B4-BE49-F238E27FC236}">
                <a16:creationId xmlns:a16="http://schemas.microsoft.com/office/drawing/2014/main" id="{3EBE8CB9-63DD-45E7-9860-F1B1EDBFB770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5341206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</a:rPr>
              <a:t>■ 미래기술</a:t>
            </a:r>
            <a:r>
              <a:rPr lang="en-US" altLang="ko-KR" sz="1400" b="1">
                <a:solidFill>
                  <a:prstClr val="black"/>
                </a:solidFill>
              </a:rPr>
              <a:t>_</a:t>
            </a:r>
            <a:r>
              <a:rPr lang="ko-KR" altLang="en-US" sz="1400" b="1">
                <a:solidFill>
                  <a:prstClr val="black"/>
                </a:solidFill>
              </a:rPr>
              <a:t>제조지능화 업무 체계 개선 </a:t>
            </a:r>
            <a:r>
              <a:rPr lang="en-US" altLang="ko-KR" sz="1400" b="1">
                <a:solidFill>
                  <a:prstClr val="black"/>
                </a:solidFill>
              </a:rPr>
              <a:t>(</a:t>
            </a:r>
            <a:r>
              <a:rPr lang="en-US" altLang="ko-KR" sz="1400" b="1" err="1">
                <a:solidFill>
                  <a:prstClr val="black"/>
                </a:solidFill>
              </a:rPr>
              <a:t>CodeSpace</a:t>
            </a:r>
            <a:r>
              <a:rPr lang="en-US" altLang="ko-KR" sz="1400" b="1">
                <a:solidFill>
                  <a:prstClr val="black"/>
                </a:solidFill>
              </a:rPr>
              <a:t>(DX) C</a:t>
            </a:r>
            <a:r>
              <a:rPr lang="ko-KR" altLang="en-US" sz="1400" b="1">
                <a:solidFill>
                  <a:prstClr val="black"/>
                </a:solidFill>
              </a:rPr>
              <a:t>언어 대응 고도화</a:t>
            </a:r>
            <a:r>
              <a:rPr lang="en-US" altLang="ko-KR" sz="1400" b="1">
                <a:solidFill>
                  <a:prstClr val="black"/>
                </a:solidFill>
              </a:rPr>
              <a:t>)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253D908-610B-44F3-BFC0-7E83108DB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023893"/>
              </p:ext>
            </p:extLst>
          </p:nvPr>
        </p:nvGraphicFramePr>
        <p:xfrm>
          <a:off x="36075" y="869794"/>
          <a:ext cx="9804440" cy="5737080"/>
        </p:xfrm>
        <a:graphic>
          <a:graphicData uri="http://schemas.openxmlformats.org/drawingml/2006/table">
            <a:tbl>
              <a:tblPr/>
              <a:tblGrid>
                <a:gridCol w="663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99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09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9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CodeSpace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(DX)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ESWA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전공정</a:t>
                      </a: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(W51)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(DX)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특이사항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③ 검증 프로그램 관제 기능 개발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 APC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조립공정 대상 알고리즘 통합 검증 모듈 및 모니터링 환경 개발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Windows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서버와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Linux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서버 간 파일을 공유할 수 있는 공유 디스크 발급이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(7/3)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되었으며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공유 디스크 구성 설계 완료했습니다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(7/25)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Windows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서버에서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 검증기능 구현을 위한 프로그램 실행 방식 및 배포 폴더 구성 관련 실무 미팅 진행하였습니다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(7/22, w/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조립자동보정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Linux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서버에서 알고리즘 프로그램을 실행할 수 있도록 조립자동보정팀에서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알고리즘 내 폴더 경로 지정 방식 수정 완료했습니다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(8/8)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현재까지 개발된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Generator/ Validator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에 대한 동작 기능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Test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진행 및 화면 구성 점검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(8/7)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하여 보완점 파악 및 개선했습니다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(8/14)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데이터생성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(Generator)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환경 및 설계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(8/12),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코드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(Validator)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분석환경 구성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(8/22)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하여 개발 완료하였습니다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.(~8/29)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기 구축된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Python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 환경과 동일한 기능으로 검증 실행 결과에 따른 로그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자원 사용량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트렌드 모니터링 기능 개발 완료했습니다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(8/18)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▶개발 진척도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 -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 </a:t>
                      </a:r>
                      <a:r>
                        <a:rPr lang="ko-KR" altLang="en-US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진척률은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100%(86/86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건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로 기능 개발 완료하였으며 자동보정 대상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Open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설명회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(9/17)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했습니다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’25.9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신종권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이재후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8EA8266-2C88-4571-8D29-F9481F1BFA53}"/>
              </a:ext>
            </a:extLst>
          </p:cNvPr>
          <p:cNvSpPr txBox="1"/>
          <p:nvPr/>
        </p:nvSpPr>
        <p:spPr>
          <a:xfrm>
            <a:off x="42057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B8F543-5F3F-4354-B68E-B9E1F55DA1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-#3,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940AEC9-3FD4-5484-36D4-1B4B053AF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288826"/>
              </p:ext>
            </p:extLst>
          </p:nvPr>
        </p:nvGraphicFramePr>
        <p:xfrm>
          <a:off x="1331859" y="2863879"/>
          <a:ext cx="7242282" cy="3348990"/>
        </p:xfrm>
        <a:graphic>
          <a:graphicData uri="http://schemas.openxmlformats.org/drawingml/2006/table">
            <a:tbl>
              <a:tblPr/>
              <a:tblGrid>
                <a:gridCol w="1169880">
                  <a:extLst>
                    <a:ext uri="{9D8B030D-6E8A-4147-A177-3AD203B41FA5}">
                      <a16:colId xmlns:a16="http://schemas.microsoft.com/office/drawing/2014/main" val="3387855720"/>
                    </a:ext>
                  </a:extLst>
                </a:gridCol>
                <a:gridCol w="1819419">
                  <a:extLst>
                    <a:ext uri="{9D8B030D-6E8A-4147-A177-3AD203B41FA5}">
                      <a16:colId xmlns:a16="http://schemas.microsoft.com/office/drawing/2014/main" val="471377889"/>
                    </a:ext>
                  </a:extLst>
                </a:gridCol>
                <a:gridCol w="254861">
                  <a:extLst>
                    <a:ext uri="{9D8B030D-6E8A-4147-A177-3AD203B41FA5}">
                      <a16:colId xmlns:a16="http://schemas.microsoft.com/office/drawing/2014/main" val="451387239"/>
                    </a:ext>
                  </a:extLst>
                </a:gridCol>
                <a:gridCol w="254861">
                  <a:extLst>
                    <a:ext uri="{9D8B030D-6E8A-4147-A177-3AD203B41FA5}">
                      <a16:colId xmlns:a16="http://schemas.microsoft.com/office/drawing/2014/main" val="1640271233"/>
                    </a:ext>
                  </a:extLst>
                </a:gridCol>
                <a:gridCol w="325655">
                  <a:extLst>
                    <a:ext uri="{9D8B030D-6E8A-4147-A177-3AD203B41FA5}">
                      <a16:colId xmlns:a16="http://schemas.microsoft.com/office/drawing/2014/main" val="2563585760"/>
                    </a:ext>
                  </a:extLst>
                </a:gridCol>
                <a:gridCol w="254861">
                  <a:extLst>
                    <a:ext uri="{9D8B030D-6E8A-4147-A177-3AD203B41FA5}">
                      <a16:colId xmlns:a16="http://schemas.microsoft.com/office/drawing/2014/main" val="563294329"/>
                    </a:ext>
                  </a:extLst>
                </a:gridCol>
                <a:gridCol w="368131">
                  <a:extLst>
                    <a:ext uri="{9D8B030D-6E8A-4147-A177-3AD203B41FA5}">
                      <a16:colId xmlns:a16="http://schemas.microsoft.com/office/drawing/2014/main" val="688887703"/>
                    </a:ext>
                  </a:extLst>
                </a:gridCol>
                <a:gridCol w="2794614">
                  <a:extLst>
                    <a:ext uri="{9D8B030D-6E8A-4147-A177-3AD203B41FA5}">
                      <a16:colId xmlns:a16="http://schemas.microsoft.com/office/drawing/2014/main" val="1352623765"/>
                    </a:ext>
                  </a:extLst>
                </a:gridCol>
              </a:tblGrid>
              <a:tr h="70663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기능</a:t>
                      </a:r>
                    </a:p>
                  </a:txBody>
                  <a:tcPr marL="0" marR="0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설명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일정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대상</a:t>
                      </a:r>
                      <a:b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모수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실적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달성율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 진척 사항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806896"/>
                  </a:ext>
                </a:extLst>
              </a:tr>
              <a:tr h="1367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상세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설계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완료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033102"/>
                  </a:ext>
                </a:extLst>
              </a:tr>
              <a:tr h="599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1)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검증 환경 개발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통합 검증 관리 환경 개발 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Malgun Gothic Semilight" panose="020B0502040204020203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모니터링 환경 개발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테스트 환경 구축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7/31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9/15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32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32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조립 공정 개발자 대상 검증기능 구현 방안 논의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(7/9)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알고리즘 검증 화면 구성 초안 논의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(7/15)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검증 환경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DB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설계 작업 완료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(7/18)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Generator, Validator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작동 방식 구성 논의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(7/25)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분석 과제 생성 화면 기능 개발 완료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(8/4)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검증 환경 내 데이터셋 구성 및 기능 개발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차 완료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(8/12)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: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피드백 사항에 대한 보완 작업 완료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(8/22)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Generator/Validator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관리 기능 개발 완료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(8/14)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검증 환경 기능 통합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Test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진행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(~9/16)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995749"/>
                  </a:ext>
                </a:extLst>
              </a:tr>
              <a:tr h="3349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2)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결재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배포 환경 개발</a:t>
                      </a:r>
                    </a:p>
                  </a:txBody>
                  <a:tcPr marL="0" marR="0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배포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결재 관리 환경 개발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7/31</a:t>
                      </a:r>
                      <a:endParaRPr lang="en-US" altLang="ko-KR" sz="900" b="0" i="0" u="none" strike="noStrike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9/15</a:t>
                      </a:r>
                      <a:endParaRPr lang="en-US" altLang="ko-KR" sz="900" b="0" i="0" u="none" strike="noStrike" kern="120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14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14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기초 모델링 설계 완료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(7/15)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알고리즘 배포 화면 및 기능 설계 및 개발 완료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(8/4)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빌드 및 배포 기능 </a:t>
                      </a:r>
                      <a:r>
                        <a:rPr lang="ko-KR" altLang="en-US" sz="900" b="0" i="0" u="none" strike="noStrike" kern="120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변경점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수정 완료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(8/14)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배포 전 파일 체크 기능 분석 및 설계 완료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(8/22)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/>
                        </a:rPr>
                        <a:t>표준 알고리즘 등록 및 관리 개발 화면 개발 완료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/>
                        </a:rPr>
                        <a:t>(8/29)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93889"/>
                  </a:ext>
                </a:extLst>
              </a:tr>
              <a:tr h="4010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3)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검증 프로그램 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관제 기능 개발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- Windows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서버 설정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검증 프로그램 모니터링 기능 개발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7/31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9/15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40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40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윈도우 서버 및 공유 디스크 발급 완료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(7/3)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검증 프로그램 실행 방식 및 폴더 구성 방안 논의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(7/22)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아키텍처 분석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설계 및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S/W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구성 완료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(7/25)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자동보정 알고리즘 실행 경로 관련 논의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(8/5)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-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검증 실행 로그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자원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트렌드 모니터링 기능 개발 완료 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(8/18)</a:t>
                      </a:r>
                      <a:b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</a:b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- Generator, Validator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검증 분석 설계 완료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(8/29)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668137"/>
                  </a:ext>
                </a:extLst>
              </a:tr>
              <a:tr h="72164"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합계　</a:t>
                      </a:r>
                    </a:p>
                  </a:txBody>
                  <a:tcPr marL="0" marR="0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solidFill>
                          <a:srgbClr val="0000FF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kern="1200">
                        <a:solidFill>
                          <a:srgbClr val="0000FF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kern="1200">
                        <a:solidFill>
                          <a:srgbClr val="0000FF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86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86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</a:t>
                      </a: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0" marR="0" marT="952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59918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8F8EA9F-B6C7-4E26-5549-9C3785075145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‘25.11.5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‘25.11.19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45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9C6C542-2C2E-4A1B-8A21-6D6D3ECD4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072567"/>
              </p:ext>
            </p:extLst>
          </p:nvPr>
        </p:nvGraphicFramePr>
        <p:xfrm>
          <a:off x="33428" y="869795"/>
          <a:ext cx="9833853" cy="5769088"/>
        </p:xfrm>
        <a:graphic>
          <a:graphicData uri="http://schemas.openxmlformats.org/drawingml/2006/table">
            <a:tbl>
              <a:tblPr/>
              <a:tblGrid>
                <a:gridCol w="64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7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5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338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450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Manual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Activity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개선방안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구체화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(Activity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단순화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Pilot </a:t>
                      </a: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라인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검토 중</a:t>
                      </a:r>
                      <a:endParaRPr lang="en-US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(W51)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핵심내용은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GM2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전극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WA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활성화 공정 자동 등록 완료하여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수평전개 대상 전 법인 등록 완료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▶이슈사항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없음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MES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자동 등록을 통한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Activity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개선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▶과제배경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생산 현장에서 작업자가 개입하는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Activity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현황을 파악하고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작업자 판단 및 역량 편차를 </a:t>
                      </a:r>
                    </a:p>
                    <a:p>
                      <a:pPr marL="0" lvl="0" indent="0" algn="l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         제거 하기 위하여 시스템간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의 유기적인 연계를 통하여 작업자의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Activity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최소화 하고자 합니다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1. GMES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등록 자동화</a:t>
                      </a:r>
                      <a:b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1) As-is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현상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BM/PD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등에 대한 조치 진행 후 작업자가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GMES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등록함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b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GMES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입력 자동화 기능 없음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작업자가 설비에서 발생한 이슈 및 조치사항에 대해 알지 못함</a:t>
                      </a:r>
                      <a:b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 Pain Point 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작업자가 직접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GMES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등록하는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Activity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로 인한 업무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발생</a:t>
                      </a:r>
                      <a:b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2) To-be</a:t>
                      </a:r>
                      <a:b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개선 방안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①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알람 정보 기반으로 알람별 현상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원인을 매핑하여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등록 자동화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     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② 알람 미발생의 경우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PV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변경값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분석을 통해 현상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원인 매핑하여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등록 자동화</a:t>
                      </a:r>
                    </a:p>
                    <a:p>
                      <a:pPr fontAlgn="ctr"/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효과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①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등록 자동화를 통한 작업자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Activity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제거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②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분석 결과 기반으로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현황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Report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를 통한 정확한 정보 제공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fontAlgn="ctr"/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BM/PD Trouble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알람에 대해서 현상 원인 자동 등록 기술 개발 완료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('24.01)</a:t>
                      </a: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자동화 확산 용이성 및 자동 등록되는 현상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원인의 기준 정보 정합성 개선을 위해 수정할 수 있는 기능을 개발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('25.08)</a:t>
                      </a: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→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자동 등록된 정보에서 작업자가 현상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원인 정보를 수정 한다면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MES UI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 수정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Flag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로 식별하고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초기 자동 등록된 정보도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Data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화 하여 분석 가능</a:t>
                      </a:r>
                    </a:p>
                    <a:p>
                      <a:pPr fontAlgn="ctr"/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 ESGM1, WA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법인 대상 전극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~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조립 공정 전체 설비 및 활성화 대표라인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(8, 18, 26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적용 완료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('25.09)</a:t>
                      </a: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ESHM, ESMI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법인 대상 전극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~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활성화 공정 전체 설비에 대해 적용 완료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(’25.10)</a:t>
                      </a: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ESGM2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법인 조립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~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활성화 공정 전체 설비에 대해 적용 완료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('25.11)</a:t>
                      </a:r>
                    </a:p>
                    <a:p>
                      <a:pPr fontAlgn="ctr"/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진행중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수평전개 대상 법인 전체 공정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전극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~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활성화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수평전개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100%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완료 </a:t>
                      </a:r>
                      <a:endParaRPr lang="en-US" altLang="ko-KR" sz="1000" b="0" i="0" u="none" strike="noStrike" baseline="0" noProof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ESGM2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전극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/ ESWA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활성화 공정 현상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원인 정의 후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MMD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기준정보 반영을 위해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CSR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요청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(12/4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하여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자동 등록 완료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(12/8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  </a:t>
                      </a:r>
                    </a:p>
                    <a:p>
                      <a:pPr fontAlgn="ctr"/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- Wait 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정합화 개선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Main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에서 발생하는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Wait 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중 전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후 공정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Trouble Loss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에 대해 원인 설비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정보를 매핑하는 기술을 개발 하였으며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</a:t>
                      </a: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ESGM1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법인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라미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공정 대상으로 적용하기 위해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PLC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수정이 필요하여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OEM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작업인원이 대응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중이였으나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비자 이슈로 현재 보류 중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: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타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Site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수평전개를 위해 생산공정운영팀에서 전체 법인 대상 기술공유회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(12/3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진행 하였으며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니즈가 있는 법인 의견을 취합 중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-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생산가동률 연계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Drill Down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분석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W/F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구성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→ 작업자의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Note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기반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딥러닝을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통해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Loss Lv3(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부동내용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을 재 분류하고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(w/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데이터통합분석팀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), BM/PD Loss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의 현상과 원인을 자동 등록 기술을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통합하여 세부적으로 분석을 할 수 있도록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ESMI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대상으로 고도화 진행 중입니다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(~＇25.12)</a:t>
                      </a: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: ESMI IT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이슈로 법인 변경을 검토 하였으나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Loss Lv3 (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부동내용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재분류가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MI2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대상으로 개발 되어 있고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MES 2.0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배포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(12/2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이후 시점부터 </a:t>
                      </a:r>
                      <a:endParaRPr lang="en-US" altLang="ko-KR" sz="1000" b="0" i="0" u="none" strike="noStrike" baseline="0" noProof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fontAlgn="ctr"/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         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 수집되는 것을 확인 하였습니다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데이터통합분석팀 담당자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ko-KR" altLang="en-US" sz="1000" b="0" i="0" u="none" strike="noStrike" baseline="0" noProof="0" err="1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서동민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최재호 님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출장 복귀 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(12/15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일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lang="ko-KR" altLang="en-US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후 추가 논의 예정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‘25.06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김준희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정정윤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568450" y="376121"/>
            <a:ext cx="1168590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: </a:t>
            </a:r>
            <a:r>
              <a:rPr lang="ko-KR" altLang="en-US" sz="1000">
                <a:solidFill>
                  <a:prstClr val="black"/>
                </a:solidFill>
              </a:rPr>
              <a:t>정정윤</a:t>
            </a:r>
            <a:r>
              <a:rPr lang="en-US" altLang="ko-KR" sz="1000">
                <a:solidFill>
                  <a:prstClr val="black"/>
                </a:solidFill>
              </a:rPr>
              <a:t>, </a:t>
            </a:r>
            <a:r>
              <a:rPr lang="ko-KR" altLang="en-US" sz="1000">
                <a:solidFill>
                  <a:prstClr val="black"/>
                </a:solidFill>
              </a:rPr>
              <a:t>김준희</a:t>
            </a:r>
            <a:endParaRPr kumimoji="0" lang="en-US" altLang="ko-K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E8376-1042-449C-B823-F39F4DD715DC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+mn-cs"/>
              </a:rPr>
              <a:t>: 12/10</a:t>
            </a:r>
            <a:r>
              <a:rPr lang="en-US" altLang="ko-KR" sz="1000"/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+mn-cs"/>
              </a:rPr>
              <a:t>16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cs typeface="+mn-cs"/>
              </a:rPr>
              <a:t>시</a:t>
            </a:r>
          </a:p>
        </p:txBody>
      </p:sp>
      <p:sp>
        <p:nvSpPr>
          <p:cNvPr id="6" name="내용 개체 틀 20">
            <a:extLst>
              <a:ext uri="{FF2B5EF4-FFF2-40B4-BE49-F238E27FC236}">
                <a16:creationId xmlns:a16="http://schemas.microsoft.com/office/drawing/2014/main" id="{34DE0612-21EC-4D81-9176-A94A225866F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708568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_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유기적인 시스템 연계를 통한 생산 운영 체계 개선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_GMES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 등록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Activity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개선 방안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B76D5-7916-4CE1-B2CB-A518AB27B68A}"/>
              </a:ext>
            </a:extLst>
          </p:cNvPr>
          <p:cNvSpPr txBox="1"/>
          <p:nvPr/>
        </p:nvSpPr>
        <p:spPr>
          <a:xfrm>
            <a:off x="19348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미래기술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FD326B6C-F7A6-4057-86A7-14AC45966A21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6765ED-265E-480A-88DD-420099A76D4C}"/>
              </a:ext>
            </a:extLst>
          </p:cNvPr>
          <p:cNvSpPr txBox="1"/>
          <p:nvPr/>
        </p:nvSpPr>
        <p:spPr>
          <a:xfrm>
            <a:off x="6183203" y="330310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[ </a:t>
            </a:r>
            <a:r>
              <a:rPr lang="ko-KR" altLang="en-US" sz="1100"/>
              <a:t>과제번호 </a:t>
            </a:r>
            <a:r>
              <a:rPr lang="en-US" altLang="ko-KR" sz="1100"/>
              <a:t>: </a:t>
            </a:r>
            <a:r>
              <a:rPr lang="ko-KR" altLang="en-US" sz="1100"/>
              <a:t>기획</a:t>
            </a:r>
            <a:r>
              <a:rPr lang="en-US" altLang="ko-KR" sz="1100"/>
              <a:t>-#4,   </a:t>
            </a:r>
            <a:r>
              <a:rPr lang="ko-KR" altLang="en-US" sz="1100"/>
              <a:t>진행 상태 </a:t>
            </a:r>
            <a:r>
              <a:rPr lang="en-US" altLang="ko-KR" sz="1100"/>
              <a:t>: </a:t>
            </a:r>
            <a:r>
              <a:rPr lang="ko-KR" altLang="en-US" sz="1100">
                <a:solidFill>
                  <a:srgbClr val="339933"/>
                </a:solidFill>
              </a:rPr>
              <a:t>● </a:t>
            </a:r>
            <a:r>
              <a:rPr lang="en-US" altLang="ko-KR" sz="1100"/>
              <a:t>] </a:t>
            </a:r>
            <a:endParaRPr lang="ko-KR" alt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11C96-11E0-4282-BCC2-080AA9DA74A6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‘25.12/3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‘25.12/12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091D0AA-6716-F5C1-036A-A3D3EF30E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723661"/>
              </p:ext>
            </p:extLst>
          </p:nvPr>
        </p:nvGraphicFramePr>
        <p:xfrm>
          <a:off x="6903567" y="1363134"/>
          <a:ext cx="1690284" cy="1126064"/>
        </p:xfrm>
        <a:graphic>
          <a:graphicData uri="http://schemas.openxmlformats.org/drawingml/2006/table">
            <a:tbl>
              <a:tblPr/>
              <a:tblGrid>
                <a:gridCol w="422571">
                  <a:extLst>
                    <a:ext uri="{9D8B030D-6E8A-4147-A177-3AD203B41FA5}">
                      <a16:colId xmlns:a16="http://schemas.microsoft.com/office/drawing/2014/main" val="3503406132"/>
                    </a:ext>
                  </a:extLst>
                </a:gridCol>
                <a:gridCol w="422571">
                  <a:extLst>
                    <a:ext uri="{9D8B030D-6E8A-4147-A177-3AD203B41FA5}">
                      <a16:colId xmlns:a16="http://schemas.microsoft.com/office/drawing/2014/main" val="999206770"/>
                    </a:ext>
                  </a:extLst>
                </a:gridCol>
                <a:gridCol w="422571">
                  <a:extLst>
                    <a:ext uri="{9D8B030D-6E8A-4147-A177-3AD203B41FA5}">
                      <a16:colId xmlns:a16="http://schemas.microsoft.com/office/drawing/2014/main" val="1028878291"/>
                    </a:ext>
                  </a:extLst>
                </a:gridCol>
                <a:gridCol w="422571">
                  <a:extLst>
                    <a:ext uri="{9D8B030D-6E8A-4147-A177-3AD203B41FA5}">
                      <a16:colId xmlns:a16="http://schemas.microsoft.com/office/drawing/2014/main" val="2589056493"/>
                    </a:ext>
                  </a:extLst>
                </a:gridCol>
              </a:tblGrid>
              <a:tr h="14075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Site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적용 현황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326956"/>
                  </a:ext>
                </a:extLst>
              </a:tr>
              <a:tr h="1407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활성화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11566"/>
                  </a:ext>
                </a:extLst>
              </a:tr>
              <a:tr h="140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ESWA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096232"/>
                  </a:ext>
                </a:extLst>
              </a:tr>
              <a:tr h="140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ESGM1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8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54758"/>
                  </a:ext>
                </a:extLst>
              </a:tr>
              <a:tr h="140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ESGM2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784375"/>
                  </a:ext>
                </a:extLst>
              </a:tr>
              <a:tr h="140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ESMI1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405041"/>
                  </a:ext>
                </a:extLst>
              </a:tr>
              <a:tr h="140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ESMI2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150507"/>
                  </a:ext>
                </a:extLst>
              </a:tr>
              <a:tr h="140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ESHM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66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05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086BAC-E12F-0988-B60F-99E26AA09D9A}"/>
              </a:ext>
            </a:extLst>
          </p:cNvPr>
          <p:cNvSpPr txBox="1"/>
          <p:nvPr/>
        </p:nvSpPr>
        <p:spPr>
          <a:xfrm>
            <a:off x="7251556" y="2489198"/>
            <a:ext cx="14863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>
                <a:solidFill>
                  <a:srgbClr val="008000"/>
                </a:solidFill>
                <a:latin typeface="+mj-ea"/>
                <a:ea typeface="+mj-ea"/>
              </a:rPr>
              <a:t>●</a:t>
            </a:r>
            <a:r>
              <a:rPr lang="ko-KR" altLang="en-US" sz="700">
                <a:latin typeface="+mj-ea"/>
                <a:ea typeface="+mj-ea"/>
              </a:rPr>
              <a:t> 적용완료 </a:t>
            </a:r>
            <a:r>
              <a:rPr lang="en-US" altLang="ko-KR" sz="700">
                <a:latin typeface="+mj-ea"/>
                <a:ea typeface="+mj-ea"/>
              </a:rPr>
              <a:t>/ </a:t>
            </a:r>
            <a:r>
              <a:rPr lang="ko-KR" altLang="en-US" sz="700">
                <a:solidFill>
                  <a:srgbClr val="FFC000"/>
                </a:solidFill>
                <a:latin typeface="+mj-ea"/>
                <a:ea typeface="+mj-ea"/>
              </a:rPr>
              <a:t>●</a:t>
            </a:r>
            <a:r>
              <a:rPr lang="ko-KR" altLang="en-US" sz="700">
                <a:latin typeface="+mj-ea"/>
                <a:ea typeface="+mj-ea"/>
              </a:rPr>
              <a:t> 진행중 </a:t>
            </a:r>
            <a:r>
              <a:rPr lang="en-US" altLang="ko-KR" sz="700">
                <a:latin typeface="+mj-ea"/>
                <a:ea typeface="+mj-ea"/>
              </a:rPr>
              <a:t>/ </a:t>
            </a:r>
            <a:r>
              <a:rPr lang="ko-KR" altLang="en-US" sz="700">
                <a:solidFill>
                  <a:srgbClr val="C00000"/>
                </a:solidFill>
                <a:latin typeface="+mj-ea"/>
                <a:ea typeface="+mj-ea"/>
              </a:rPr>
              <a:t>●</a:t>
            </a:r>
            <a:r>
              <a:rPr lang="ko-KR" altLang="en-US" sz="700">
                <a:latin typeface="+mj-ea"/>
                <a:ea typeface="+mj-ea"/>
              </a:rPr>
              <a:t> 미적용</a:t>
            </a:r>
          </a:p>
        </p:txBody>
      </p:sp>
    </p:spTree>
    <p:extLst>
      <p:ext uri="{BB962C8B-B14F-4D97-AF65-F5344CB8AC3E}">
        <p14:creationId xmlns:p14="http://schemas.microsoft.com/office/powerpoint/2010/main" val="2649124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301"/>
              </p:ext>
            </p:extLst>
          </p:nvPr>
        </p:nvGraphicFramePr>
        <p:xfrm>
          <a:off x="125047" y="866774"/>
          <a:ext cx="9644176" cy="5767560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9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04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25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년 교육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(W51)</a:t>
                      </a: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특이사항 없습니다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CNS AX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구성원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역량 향상을 위해 하반기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CNS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주관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 진행 중에 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1) AI Digest : 7/21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일자 교육 완료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2)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생성형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활용 입문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8/19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일자 교육 완료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3) 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데이터 분석 입문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9/18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일자 교육 완료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4) AX Inspire : 11/6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일자 진행 예정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참석자 취합 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팀제이커브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그룹장님 통해 소개받은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팀제이커브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정현민 대표님과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 관련 미팅을 진행하였고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대략적인 교육 진행 방향 및 교육비 관련 안내가 있었습니다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 참여자들의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리터러시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수준에 맞춰 현장 교육 레벨 조정되며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어느 정도 수준을 보유한 팀장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+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명으로 견적 받아보았고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시간 기준 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750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만원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~ 900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만원으로 안내 받았습니다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현재 하반기 교육 잔여 예산이 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백만원으로 예상되나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상기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CNS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 중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번 교육 진행 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-5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백만원하여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잔여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백만원 예상됩니다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또한 리더육성팀에서도 금액이 높아 진행이 어려울 것 같다는 가이드가 있어 우선 미진행으로 두었으나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그룹장님 복귀 시 말씀드릴 예정으로 홀딩 중인 상황입니다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3. CNS EIF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롤맵기술팀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니즈가 있어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CNS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쪽에 오프라인 강좌 개설 요청 드렸습니다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10/16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일자 교육 개설되어 참석자 취합 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(36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및 공유하여 진행 완료하였습니다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4. 25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분기 교육 니즈 조사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 및 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그룹장님께서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바이브코딩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교육 발굴 말씀 주시어 구성원 설문 조사 및 보고 완료하였으며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가용 예산에 대해 선착순 진행 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 예산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확보 시 추가 희망 인원 진행 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기타 교육에 대해서는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 교육 계획 수립 시 반영하도록 하겠습니다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교육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</a:t>
            </a:r>
            <a:r>
              <a:rPr lang="en-US" altLang="ko-KR" dirty="0">
                <a:latin typeface="Arial Narrow"/>
                <a:ea typeface="LG스마트체 Regular"/>
                <a:cs typeface="Malgun Gothic Semilight"/>
              </a:rPr>
              <a:t>12/17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767557" y="403273"/>
            <a:ext cx="923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이정연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</p:spTree>
    <p:extLst>
      <p:ext uri="{BB962C8B-B14F-4D97-AF65-F5344CB8AC3E}">
        <p14:creationId xmlns:p14="http://schemas.microsoft.com/office/powerpoint/2010/main" val="190504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321378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채용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W51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신입사원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명 입사 포기하여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1.5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字 입사인원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명 →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명으로 감소했습니다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’25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후기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연고대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계약학과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’25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월에 입학하는 계약학과 신입생을 선발하는 건으로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석사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석박통합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학위 과정 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LGES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입사예정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* LGES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통합면접 후 학교 전형을 합격해야 최종 합격하는 인원이며 학교 합격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T/O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가 적은 편입니다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연세대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석사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석박통합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고려대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석사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석박통합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~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3/13(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까지 서류 회람 및 면접 대상자 총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선정 완료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(+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팀장 배석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통합면접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 진행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인성검사 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명은 불합격으로 총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면접 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솔루션 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 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면접 진행 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전원 학교전형까지 합격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최종 합격으로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후 입사예정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’26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전기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연고대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계약학과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’26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월에 입학하는 계약학과 신입생을 선발하는 건으로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석사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석박통합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학위 과정 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LGES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입사예정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* LGES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통합면접 후 학교 전형을 합격해야 최종 합격하는 인원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희망 대상자 선정완료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Needs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솔루션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차주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통합 면접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 진행 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씩 총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합격으로 결과 송부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솔루션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인사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12/17 </a:t>
            </a:r>
            <a:r>
              <a:rPr lang="en-US" altLang="ko-KR" dirty="0">
                <a:latin typeface="+mn-lt"/>
                <a:ea typeface="+mn-ea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FE218EB-59E0-4A89-93C5-B080E7A4C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953763"/>
              </p:ext>
            </p:extLst>
          </p:nvPr>
        </p:nvGraphicFramePr>
        <p:xfrm>
          <a:off x="1746080" y="4592074"/>
          <a:ext cx="3241714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314">
                  <a:extLst>
                    <a:ext uri="{9D8B030D-6E8A-4147-A177-3AD203B41FA5}">
                      <a16:colId xmlns:a16="http://schemas.microsoft.com/office/drawing/2014/main" val="260486257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242955077"/>
                    </a:ext>
                  </a:extLst>
                </a:gridCol>
              </a:tblGrid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853155"/>
                  </a:ext>
                </a:extLst>
              </a:tr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9/10(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~ 9/16(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서류회람 및 면접 대상자 선정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009948"/>
                  </a:ext>
                </a:extLst>
              </a:tr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9/22(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~9/24(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통합면접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952509"/>
                  </a:ext>
                </a:extLst>
              </a:tr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11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학교 전형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416971"/>
                  </a:ext>
                </a:extLst>
              </a:tr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‘26.3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입학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09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33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469907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(W48)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채용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W48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화요일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~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목요일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오창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에너지플랜트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에서 신입사원 오프라인 면접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팀장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담당급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진행 중입니다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’25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후기 </a:t>
                      </a:r>
                      <a:r>
                        <a:rPr kumimoji="0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연고대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계약학과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’25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월에 입학하는 계약학과 신입생을 선발하는 건으로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석박통합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학위 과정 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LGES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입사예정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* LGES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통합면접 후 학교 전형을 합격해야 최종 합격하는 인원이며 학교 합격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T/O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가 적은 편입니다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연세대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석박통합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고려대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석박통합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~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3/13(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까지 서류 회람 및 면접 대상자 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선정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(+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팀장 배석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통합면접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 진행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인성검사 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명은 불합격으로 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면접 진행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솔루션 각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 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면접 진행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전원 학교전형까지 합격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최종 합격으로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후 입사예정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’26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전기 </a:t>
                      </a:r>
                      <a:r>
                        <a:rPr kumimoji="0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연고대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계약학과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’26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월에 입학하는 계약학과 신입생을 선발하는 건으로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석박통합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학위 과정 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LGES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입사예정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* LGES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통합면접 후 학교 전형을 합격해야 최종 합격하는 인원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희망 대상자 선정완료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Needs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솔루션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차주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통합 면접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 진행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씩 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합격으로 결과 송부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솔루션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인사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11/19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FE218EB-59E0-4A89-93C5-B080E7A4C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650475"/>
              </p:ext>
            </p:extLst>
          </p:nvPr>
        </p:nvGraphicFramePr>
        <p:xfrm>
          <a:off x="1746080" y="4592074"/>
          <a:ext cx="3241714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314">
                  <a:extLst>
                    <a:ext uri="{9D8B030D-6E8A-4147-A177-3AD203B41FA5}">
                      <a16:colId xmlns:a16="http://schemas.microsoft.com/office/drawing/2014/main" val="260486257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242955077"/>
                    </a:ext>
                  </a:extLst>
                </a:gridCol>
              </a:tblGrid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853155"/>
                  </a:ext>
                </a:extLst>
              </a:tr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9/10(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~ 9/16(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서류회람 및 면접 대상자 선정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009948"/>
                  </a:ext>
                </a:extLst>
              </a:tr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9/22(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~9/24(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통합면접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952509"/>
                  </a:ext>
                </a:extLst>
              </a:tr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11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학교 전형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416971"/>
                  </a:ext>
                </a:extLst>
              </a:tr>
              <a:tr h="1859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‘26.3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입학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09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256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152915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채용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W51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신입사원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명 입사 포기하여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1.5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字 입사인원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명 →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명으로 감소했습니다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유럽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유럽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 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유럽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R&amp;D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인재 중 현업 관심인원이 입사 희망할 경우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 후 유럽 행사에서 센터장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 C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레벨급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- 1/24(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자동보정담당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관심 있음으로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송부 완료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온라인 면담 진행 완료 했으며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채용 전형 진행 희망하여 면담 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 면접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팀장급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- 4/15(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자동보정담당에서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담당에서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완료 → 자동보정에서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합격으로 결과 확정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- 6/21(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토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행사 진행 완료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(CDO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완료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다 합격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’25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하반기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’26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상반기 입사 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미주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BTC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미주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BTC 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미주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R&amp;D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인재 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LGES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입사 희망하는 인원 대상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2/26(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 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행사에서 센터장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 C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레벨급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 지원자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명이며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서류 합격으로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2/26(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담당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팀장급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 완료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합격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26 ~ 27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미주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CDO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 면접 완료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불합격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CDO Comment :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실질적인 업무 경험은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PM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 기획 경험이 주가 되어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향후 석사 과정 중에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AI/ML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에서 전문성을 더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키워야할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것으로 보여 현재는 채용이 어렵습니다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국내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국내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 :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타겟랩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활동으로 모집한 국내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R&amp;D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인재 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LGES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입사 희망하는 인원 대상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월말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 8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월초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 후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레벨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급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 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인력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Pool 11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채용전형 희망인원으로 선정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최종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채용전형 희망하였으며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면접 진행 희망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 완료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명만 면접 진행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9/5(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BTC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 →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9/17(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 예정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 ’25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하반기 신입사원 채용</a:t>
                      </a:r>
                      <a:b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총 모집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T/O : 14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솔루션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 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 2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인사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12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/10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514E4D7-0AEC-4444-873C-CA7C83F7A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999145"/>
              </p:ext>
            </p:extLst>
          </p:nvPr>
        </p:nvGraphicFramePr>
        <p:xfrm>
          <a:off x="1705421" y="5290419"/>
          <a:ext cx="3241714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7413">
                  <a:extLst>
                    <a:ext uri="{9D8B030D-6E8A-4147-A177-3AD203B41FA5}">
                      <a16:colId xmlns:a16="http://schemas.microsoft.com/office/drawing/2014/main" val="2604862574"/>
                    </a:ext>
                  </a:extLst>
                </a:gridCol>
                <a:gridCol w="1964301">
                  <a:extLst>
                    <a:ext uri="{9D8B030D-6E8A-4147-A177-3AD203B41FA5}">
                      <a16:colId xmlns:a16="http://schemas.microsoft.com/office/drawing/2014/main" val="4242955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853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8/29(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~ 9/10(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채용공고 게시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00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주차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서류전형 및 인적성 전형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952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11/3 ~ 11/14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One Day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면접 진행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416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‘26.1.5</a:t>
                      </a:r>
                      <a:endParaRPr lang="ko-KR" altLang="en-US" sz="900" baseline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09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836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239167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(W48)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채용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W48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화요일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~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목요일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오창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에너지플랜트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에서 신입사원 오프라인 면접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팀장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담당급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진행 중입니다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유럽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유럽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 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유럽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R&amp;D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인재 중 현업 관심인원이 입사 희망할 경우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 후 유럽 행사에서 센터장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 C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레벨급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- 1/24(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자동보정담당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관심 있음으로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송부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온라인 면담 진행 완료 했으며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채용 전형 진행 희망하여 면담 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 면접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팀장급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- 4/15(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자동보정담당에서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담당에서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완료 → 자동보정에서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합격으로 결과 확정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- 6/21(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행사 진행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(CDO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다 합격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’25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하반기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’26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상반기 입사 예정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미주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BTC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BTC 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미주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R&amp;D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인재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LGES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입사 희망하는 인원 대상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2/26(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 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행사에서 센터장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 C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레벨급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 지원자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명이며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서류 합격으로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2/26(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담당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팀장급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합격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26 ~ 27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미주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CDO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 면접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결과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불합격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CDO Comment 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실질적인 업무 경험은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PM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서비스 기획 경험이 주가 되어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향후 석사 과정 중에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AI/ML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에서 전문성을 더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키워야할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것으로 보여 현재는 채용이 어렵습니다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국내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국내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 :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타겟랩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활동으로 모집한 국내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R&amp;D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인재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LGES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입사 희망하는 인원 대상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월말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 8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월초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면접 진행 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레벨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급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 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인력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Pool 11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채용전형 희망인원으로 선정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박사 최종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채용전형 희망하였으며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면접 진행 희망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명만 면접 진행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9/5(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BTC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 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9/17(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차면접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 예정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 ’25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하반기 신입사원 채용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총 모집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T/O : 14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솔루션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 3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FDC DX 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인사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11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/19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514E4D7-0AEC-4444-873C-CA7C83F7A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19796"/>
              </p:ext>
            </p:extLst>
          </p:nvPr>
        </p:nvGraphicFramePr>
        <p:xfrm>
          <a:off x="1705421" y="5288775"/>
          <a:ext cx="3241714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7413">
                  <a:extLst>
                    <a:ext uri="{9D8B030D-6E8A-4147-A177-3AD203B41FA5}">
                      <a16:colId xmlns:a16="http://schemas.microsoft.com/office/drawing/2014/main" val="2604862574"/>
                    </a:ext>
                  </a:extLst>
                </a:gridCol>
                <a:gridCol w="1964301">
                  <a:extLst>
                    <a:ext uri="{9D8B030D-6E8A-4147-A177-3AD203B41FA5}">
                      <a16:colId xmlns:a16="http://schemas.microsoft.com/office/drawing/2014/main" val="42429550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853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8/29(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~ 9/10(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채용공고 게시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00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주차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서류전형 및 인적성 전형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952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11/3 ~ 11/14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One Day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면접 진행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416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 초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입사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09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780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121776"/>
              </p:ext>
            </p:extLst>
          </p:nvPr>
        </p:nvGraphicFramePr>
        <p:xfrm>
          <a:off x="125047" y="866775"/>
          <a:ext cx="9644176" cy="5767560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AZ 2170</a:t>
                      </a:r>
                    </a:p>
                    <a:p>
                      <a:pPr lvl="0" algn="ctr">
                        <a:buNone/>
                      </a:pP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원통형 </a:t>
                      </a: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증설 </a:t>
                      </a: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en-US" altLang="ko-KR" sz="9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Tabless</a:t>
                      </a: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AZ 2170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(W49)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 특이사항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AZ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46xx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라인이 기존에 전극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(130ppm) 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라인으로 검토되었으나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생산속도를 향상하여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(130ppm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→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200ppm)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재검토하면서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기존 생산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Capa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가 충족됨에 따라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46xx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조립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라인을 제외하고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2170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라인을 추가 증설하는 건입니다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또한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2170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공급 시점이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46xx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공급 시점보다 빨라서 기존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AZ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호라인에서 전극을 공급받아 생산하는 일정으로 진행 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→ 기존에 검토되었던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2170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 투자는 취소되었으며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Tabless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 투자로 변경 됨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AZ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2170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증설 투자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Tabless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AZ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호라인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개조 후 전극 공급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’26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샘플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SOP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일정 미정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투자비 해당 기술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6/4 AZ 2170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투자를 위한 유관부서와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Kick off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미팅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6/10 AZ 2170 LOB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배포 및 세부 일정 공유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endParaRPr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6/13 UT Matrix/Packing List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6/20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 투자비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endParaRPr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7/1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일정미정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8/13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투자비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재논의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8/26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센터장 리뷰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9/17 AZ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법인장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투자위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10/14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센터장 리뷰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10/17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사업부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투자위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10/21 CPO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→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F/U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사항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롤맵은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기존 검사기 하드웨어 사용하는 기준으로 재검토 할 것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소형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Tabless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와인더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공정 검사기를 활용한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BCR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대체하여 적용하는 것으로 검토 완료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-. PC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통합화 의 경우 차주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TEST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이행 결과에 따라 통합화 가능 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무에 대해서 판단 예정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※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현대향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H19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모델 수주가 확정되어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AZ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에서 진행 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. SOP '27.12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월이나 고객에서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Sample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'26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 초에 요청을 받은 사항입니다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고객 일정대로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Sample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대응은 어려워 일정 조율 중입니다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※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생산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Capa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270ppm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으로 검토하고 있습니다만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셀에서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해소해야하는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공정은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집전판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용접 공정 속도에 검증이 부족하여</a:t>
                      </a:r>
                      <a:b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</a:b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10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월까지 검증 후 확정 예정입니다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~‘25.09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11/26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3852496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599131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WA 4680</a:t>
                      </a: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투자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WA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법인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전극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: 8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동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조립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: 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동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(W49)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WA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4680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제품 생산을 위해 전극 개조 후 재활용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슬리터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~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조립은 신작으로 투자비 검토 하는 건 입니다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WA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Side Terminal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각형 투자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(28.12 SOP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목표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8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동 전극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코터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롤프레스 개조 후 재활용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→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코터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호 재활용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롤프레스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호 재활용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롤프레스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 신작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동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슬리터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및 조립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슬리터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와인더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 신작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6/16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킥오프 미팅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6/20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UT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매트릭스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→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코터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레이저마킹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사양 반영을 위한 추가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UT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매트릭스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7/18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 투자비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7/25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생산센터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/WA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8/11 WA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차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9/2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센터장 투자심의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차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9/15 CPO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투자심의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지연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일정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재수립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예정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※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그룹이 해당되는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F/u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사항으로 신작과 개조를 별도로 분리해서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신작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vs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신작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/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vs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개조 로 비교할 수 있는 장표를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재작성할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것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~‘25.09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11/26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247CE2-C01B-47FA-B325-7FE980F6B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675802"/>
              </p:ext>
            </p:extLst>
          </p:nvPr>
        </p:nvGraphicFramePr>
        <p:xfrm>
          <a:off x="5372835" y="2426017"/>
          <a:ext cx="2666265" cy="16316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8755">
                  <a:extLst>
                    <a:ext uri="{9D8B030D-6E8A-4147-A177-3AD203B41FA5}">
                      <a16:colId xmlns:a16="http://schemas.microsoft.com/office/drawing/2014/main" val="2758334524"/>
                    </a:ext>
                  </a:extLst>
                </a:gridCol>
                <a:gridCol w="888755">
                  <a:extLst>
                    <a:ext uri="{9D8B030D-6E8A-4147-A177-3AD203B41FA5}">
                      <a16:colId xmlns:a16="http://schemas.microsoft.com/office/drawing/2014/main" val="678177535"/>
                    </a:ext>
                  </a:extLst>
                </a:gridCol>
                <a:gridCol w="888755">
                  <a:extLst>
                    <a:ext uri="{9D8B030D-6E8A-4147-A177-3AD203B41FA5}">
                      <a16:colId xmlns:a16="http://schemas.microsoft.com/office/drawing/2014/main" val="1797234824"/>
                    </a:ext>
                  </a:extLst>
                </a:gridCol>
              </a:tblGrid>
              <a:tr h="181293">
                <a:tc row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공정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1st line(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금번투자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539278"/>
                  </a:ext>
                </a:extLst>
              </a:tr>
              <a:tr h="18129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양극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음극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390547"/>
                  </a:ext>
                </a:extLst>
              </a:tr>
              <a:tr h="18129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Mixer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3(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기존 설비 활용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4(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기존 설비 활용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840449"/>
                  </a:ext>
                </a:extLst>
              </a:tr>
              <a:tr h="18129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Coater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1(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기존 설비 활용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1(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기존 설비 활용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74933"/>
                  </a:ext>
                </a:extLst>
              </a:tr>
              <a:tr h="18129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Roll press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3(1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대 신작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3(1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대 신작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546019"/>
                  </a:ext>
                </a:extLst>
              </a:tr>
              <a:tr h="18129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Slitter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4(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신작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4(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신작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983910"/>
                  </a:ext>
                </a:extLst>
              </a:tr>
              <a:tr h="18129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Winder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12(</a:t>
                      </a:r>
                      <a:r>
                        <a:rPr lang="ko-KR" sz="80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고속와인더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 신작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16595"/>
                  </a:ext>
                </a:extLst>
              </a:tr>
              <a:tr h="18129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Assembly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1(200PPM, 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개조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587379"/>
                  </a:ext>
                </a:extLst>
              </a:tr>
              <a:tr h="181293">
                <a:tc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Formation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1(200PPM, </a:t>
                      </a:r>
                      <a:r>
                        <a:rPr lang="ko-KR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신작</a:t>
                      </a: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ko-KR" sz="8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62865" marR="62865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6833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1F48DB0-91AA-48A3-8279-18119E8294B4}"/>
              </a:ext>
            </a:extLst>
          </p:cNvPr>
          <p:cNvSpPr txBox="1"/>
          <p:nvPr/>
        </p:nvSpPr>
        <p:spPr>
          <a:xfrm>
            <a:off x="5272505" y="2173932"/>
            <a:ext cx="802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LOB</a:t>
            </a:r>
            <a:endParaRPr lang="ko-KR" altLang="en-US" sz="11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7929B5-7D5B-4648-B9DA-817FD60B6761}"/>
              </a:ext>
            </a:extLst>
          </p:cNvPr>
          <p:cNvSpPr txBox="1"/>
          <p:nvPr/>
        </p:nvSpPr>
        <p:spPr>
          <a:xfrm>
            <a:off x="5291554" y="4096255"/>
            <a:ext cx="1490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투자비 요약</a:t>
            </a:r>
            <a:endParaRPr lang="ko-KR" altLang="en-US" sz="11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B5D1C5-61D3-63D1-1FFF-1CC62E034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101" y="4351879"/>
            <a:ext cx="2883409" cy="203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72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510641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GM2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각형 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LMR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투자비 검토</a:t>
                      </a:r>
                      <a:endParaRPr lang="en-US" altLang="ko-KR" sz="9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GM2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(W49) GM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측 제품 전략 변경으로 인한 투자비 재검토 진행 중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파우치형 → 각형으로 </a:t>
                      </a:r>
                      <a:r>
                        <a:rPr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폼팩터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전환을 위해 투자비를 산출 및 투자 진행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라인은 기존 파우치 설비를 개조하여 생산 예정이며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노칭은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설비 철거 후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신규 </a:t>
                      </a:r>
                      <a:r>
                        <a:rPr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슬리터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추가 예정입니다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 라인은 기존 파우치 조립라인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6~10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호 기존 장비들을 철거한 후 신규 각형 조립라인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설치 예정입니다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철거한 설비들의 사용처는 미정이며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재활용을 검토 중 입니다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필요 </a:t>
                      </a:r>
                      <a:r>
                        <a:rPr lang="en-US" altLang="ko-KR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Capa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및 사이트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en-US" altLang="ko-KR" sz="9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20.6GWh /  GM2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→ </a:t>
                      </a:r>
                      <a:r>
                        <a:rPr lang="en-US" altLang="ko-KR" sz="900" strike="noStrike">
                          <a:solidFill>
                            <a:schemeClr val="tx1"/>
                          </a:solidFill>
                        </a:rPr>
                        <a:t>BEV N LMR 8GWh / BEV N Hi Ni 8GWh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fr-FR" altLang="ko-KR" sz="9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Sample ’27.1Q, SOP ’28.1Q</a:t>
                      </a:r>
                      <a:endParaRPr lang="en-US" altLang="ko-KR" sz="900" b="0" i="0" u="none" strike="sng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셀사양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LMR, </a:t>
                      </a:r>
                      <a:r>
                        <a:rPr lang="en-US" altLang="ko-KR" sz="9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260 x 103 x 63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en-US" altLang="ko-KR" sz="9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145+1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Stack (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각형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Top Terminal) / Hi Ni, </a:t>
                      </a:r>
                      <a:r>
                        <a:rPr lang="en-US" altLang="ko-KR" sz="9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260 x 103 x 30.9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79+1</a:t>
                      </a:r>
                      <a:r>
                        <a:rPr lang="en-US" altLang="ko-KR" sz="900" b="0" i="0" u="none" strike="noStrike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Stack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각형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Top Terminal)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 개조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슬리터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신작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 신작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→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Single DNC, Multi AZS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적용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※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기존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BET Gen2 3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 생산 →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BEV N LMR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+ BEV N HI NI 2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 로 투자비 검토 기준 변경하여 진행 중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5/7 LOB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확정 및 양식 배포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5/15 UT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Matrix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제출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–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5/23 </a:t>
                      </a:r>
                      <a:r>
                        <a:rPr lang="en-US" altLang="ko-KR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Pakcing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List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제출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5/29 </a:t>
                      </a:r>
                      <a:r>
                        <a:rPr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법투위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자료 제출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-5/23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6/5 </a:t>
                      </a:r>
                      <a:r>
                        <a:rPr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담당급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리뷰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6/11 CPO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리뷰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10/14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제품 전략 변경 킥오프 미팅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10/17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투자비 제출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11/10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제품별 타겟 생산량 변경으로 인한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Kick off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미팅 </a:t>
                      </a:r>
                      <a:r>
                        <a:rPr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재진행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11/11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가투자비 제출 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- </a:t>
                      </a:r>
                      <a:r>
                        <a:rPr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기존 투자비 제출과 비교하여 설비수량 변경 외엔 단가 변경 없음</a:t>
                      </a:r>
                      <a:endParaRPr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11/26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3DD517-5AB9-1494-1136-8CC770DE6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87" y="3933825"/>
            <a:ext cx="2805113" cy="8128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0BE8D3-6878-3EA6-4E8A-AF1A3176F6A9}"/>
              </a:ext>
            </a:extLst>
          </p:cNvPr>
          <p:cNvSpPr txBox="1"/>
          <p:nvPr/>
        </p:nvSpPr>
        <p:spPr>
          <a:xfrm>
            <a:off x="5072062" y="3721052"/>
            <a:ext cx="1462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■ 투자비 요약</a:t>
            </a:r>
          </a:p>
        </p:txBody>
      </p:sp>
    </p:spTree>
    <p:extLst>
      <p:ext uri="{BB962C8B-B14F-4D97-AF65-F5344CB8AC3E}">
        <p14:creationId xmlns:p14="http://schemas.microsoft.com/office/powerpoint/2010/main" val="772433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510623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그룹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경상투자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(W51)</a:t>
                      </a:r>
                      <a:r>
                        <a:rPr lang="ko-KR" altLang="en-US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특이사항 없습니다</a:t>
                      </a:r>
                      <a:r>
                        <a:rPr lang="en-US" altLang="ko-KR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매월 실적 관리 및 담당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팀별 이동계획 수립 중에 있으며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이를 기반으로 매월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셋째주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담당급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주간회의 시 투자 현황 안건으로 상정 중입니다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12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기준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PR/PO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마감일자 맞추어 잔여 투자 진행하였으며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잔여 예산 없습니다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1)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일반경상투자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2) PJT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경상투자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1187826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경상투자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12/1</a:t>
            </a:r>
            <a:r>
              <a:rPr lang="en-US" altLang="ko-KR" dirty="0">
                <a:latin typeface="Arial Narrow"/>
                <a:ea typeface="LG스마트체 Regular"/>
                <a:cs typeface="Malgun Gothic Semilight"/>
              </a:rPr>
              <a:t>7 14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767557" y="403273"/>
            <a:ext cx="923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이정연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3537E7-520B-879F-BBB9-CCC736F5DE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017872"/>
              </p:ext>
            </p:extLst>
          </p:nvPr>
        </p:nvGraphicFramePr>
        <p:xfrm>
          <a:off x="1889231" y="2731833"/>
          <a:ext cx="6494371" cy="1730836"/>
        </p:xfrm>
        <a:graphic>
          <a:graphicData uri="http://schemas.openxmlformats.org/drawingml/2006/table">
            <a:tbl>
              <a:tblPr/>
              <a:tblGrid>
                <a:gridCol w="1180776">
                  <a:extLst>
                    <a:ext uri="{9D8B030D-6E8A-4147-A177-3AD203B41FA5}">
                      <a16:colId xmlns:a16="http://schemas.microsoft.com/office/drawing/2014/main" val="129509401"/>
                    </a:ext>
                  </a:extLst>
                </a:gridCol>
                <a:gridCol w="579089">
                  <a:extLst>
                    <a:ext uri="{9D8B030D-6E8A-4147-A177-3AD203B41FA5}">
                      <a16:colId xmlns:a16="http://schemas.microsoft.com/office/drawing/2014/main" val="475558883"/>
                    </a:ext>
                  </a:extLst>
                </a:gridCol>
                <a:gridCol w="550840">
                  <a:extLst>
                    <a:ext uri="{9D8B030D-6E8A-4147-A177-3AD203B41FA5}">
                      <a16:colId xmlns:a16="http://schemas.microsoft.com/office/drawing/2014/main" val="2608800247"/>
                    </a:ext>
                  </a:extLst>
                </a:gridCol>
                <a:gridCol w="926722">
                  <a:extLst>
                    <a:ext uri="{9D8B030D-6E8A-4147-A177-3AD203B41FA5}">
                      <a16:colId xmlns:a16="http://schemas.microsoft.com/office/drawing/2014/main" val="3373863019"/>
                    </a:ext>
                  </a:extLst>
                </a:gridCol>
                <a:gridCol w="910755">
                  <a:extLst>
                    <a:ext uri="{9D8B030D-6E8A-4147-A177-3AD203B41FA5}">
                      <a16:colId xmlns:a16="http://schemas.microsoft.com/office/drawing/2014/main" val="1359801083"/>
                    </a:ext>
                  </a:extLst>
                </a:gridCol>
                <a:gridCol w="910755">
                  <a:extLst>
                    <a:ext uri="{9D8B030D-6E8A-4147-A177-3AD203B41FA5}">
                      <a16:colId xmlns:a16="http://schemas.microsoft.com/office/drawing/2014/main" val="2743392912"/>
                    </a:ext>
                  </a:extLst>
                </a:gridCol>
                <a:gridCol w="689215">
                  <a:extLst>
                    <a:ext uri="{9D8B030D-6E8A-4147-A177-3AD203B41FA5}">
                      <a16:colId xmlns:a16="http://schemas.microsoft.com/office/drawing/2014/main" val="1699946270"/>
                    </a:ext>
                  </a:extLst>
                </a:gridCol>
                <a:gridCol w="746219">
                  <a:extLst>
                    <a:ext uri="{9D8B030D-6E8A-4147-A177-3AD203B41FA5}">
                      <a16:colId xmlns:a16="http://schemas.microsoft.com/office/drawing/2014/main" val="2820665888"/>
                    </a:ext>
                  </a:extLst>
                </a:gridCol>
              </a:tblGrid>
              <a:tr h="42556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예산</a:t>
                      </a:r>
                      <a:endParaRPr lang="en-US" altLang="ko-KR" sz="9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ERP</a:t>
                      </a:r>
                    </a:p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en-US" altLang="ko-KR" sz="9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(B)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계획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이연투자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잔여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(A-B-C)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530644"/>
                  </a:ext>
                </a:extLst>
              </a:tr>
              <a:tr h="42556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1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11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순수 인건비</a:t>
                      </a:r>
                      <a:endParaRPr lang="en-US" altLang="ko-KR" sz="9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PO 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완료 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잔금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9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</a:t>
                      </a:r>
                      <a:endParaRPr lang="en-US" altLang="ko-KR" sz="900" b="1" i="0" u="none" strike="noStrike" baseline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9150447"/>
                  </a:ext>
                </a:extLst>
              </a:tr>
              <a:tr h="21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솔루션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365112"/>
                  </a:ext>
                </a:extLst>
              </a:tr>
              <a:tr h="21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469033"/>
                  </a:ext>
                </a:extLst>
              </a:tr>
              <a:tr h="21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DX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227836"/>
                  </a:ext>
                </a:extLst>
              </a:tr>
              <a:tr h="21992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35.6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22.8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16141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615328-566E-1744-E22E-D260CD3EE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851214"/>
              </p:ext>
            </p:extLst>
          </p:nvPr>
        </p:nvGraphicFramePr>
        <p:xfrm>
          <a:off x="1889231" y="4836794"/>
          <a:ext cx="6494370" cy="1490934"/>
        </p:xfrm>
        <a:graphic>
          <a:graphicData uri="http://schemas.openxmlformats.org/drawingml/2006/table">
            <a:tbl>
              <a:tblPr/>
              <a:tblGrid>
                <a:gridCol w="1110155">
                  <a:extLst>
                    <a:ext uri="{9D8B030D-6E8A-4147-A177-3AD203B41FA5}">
                      <a16:colId xmlns:a16="http://schemas.microsoft.com/office/drawing/2014/main" val="129509401"/>
                    </a:ext>
                  </a:extLst>
                </a:gridCol>
                <a:gridCol w="663834">
                  <a:extLst>
                    <a:ext uri="{9D8B030D-6E8A-4147-A177-3AD203B41FA5}">
                      <a16:colId xmlns:a16="http://schemas.microsoft.com/office/drawing/2014/main" val="475558883"/>
                    </a:ext>
                  </a:extLst>
                </a:gridCol>
                <a:gridCol w="621461">
                  <a:extLst>
                    <a:ext uri="{9D8B030D-6E8A-4147-A177-3AD203B41FA5}">
                      <a16:colId xmlns:a16="http://schemas.microsoft.com/office/drawing/2014/main" val="2608800247"/>
                    </a:ext>
                  </a:extLst>
                </a:gridCol>
                <a:gridCol w="1370040">
                  <a:extLst>
                    <a:ext uri="{9D8B030D-6E8A-4147-A177-3AD203B41FA5}">
                      <a16:colId xmlns:a16="http://schemas.microsoft.com/office/drawing/2014/main" val="3373863019"/>
                    </a:ext>
                  </a:extLst>
                </a:gridCol>
                <a:gridCol w="1059309">
                  <a:extLst>
                    <a:ext uri="{9D8B030D-6E8A-4147-A177-3AD203B41FA5}">
                      <a16:colId xmlns:a16="http://schemas.microsoft.com/office/drawing/2014/main" val="2743392912"/>
                    </a:ext>
                  </a:extLst>
                </a:gridCol>
                <a:gridCol w="801635">
                  <a:extLst>
                    <a:ext uri="{9D8B030D-6E8A-4147-A177-3AD203B41FA5}">
                      <a16:colId xmlns:a16="http://schemas.microsoft.com/office/drawing/2014/main" val="1699946270"/>
                    </a:ext>
                  </a:extLst>
                </a:gridCol>
                <a:gridCol w="867936">
                  <a:extLst>
                    <a:ext uri="{9D8B030D-6E8A-4147-A177-3AD203B41FA5}">
                      <a16:colId xmlns:a16="http://schemas.microsoft.com/office/drawing/2014/main" val="2820665888"/>
                    </a:ext>
                  </a:extLst>
                </a:gridCol>
              </a:tblGrid>
              <a:tr h="41600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예산</a:t>
                      </a:r>
                      <a:endParaRPr lang="en-US" altLang="ko-KR" sz="9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ERP </a:t>
                      </a:r>
                    </a:p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실적</a:t>
                      </a:r>
                      <a:endParaRPr lang="en-US" altLang="ko-KR" sz="9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(B)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계획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26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이연투자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잔여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(A-B-C)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530644"/>
                  </a:ext>
                </a:extLst>
              </a:tr>
              <a:tr h="214985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1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11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11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투자심의 완료</a:t>
                      </a:r>
                      <a:endParaRPr lang="en-US" altLang="ko-KR" sz="9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</a:t>
                      </a:r>
                      <a:r>
                        <a:rPr lang="ko-KR" altLang="en-US" sz="900" b="1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</a:t>
                      </a:r>
                      <a:endParaRPr lang="en-US" altLang="ko-KR" sz="900" b="1" i="0" u="none" strike="noStrike" baseline="0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9150447"/>
                  </a:ext>
                </a:extLst>
              </a:tr>
              <a:tr h="21498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직속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12.0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11.4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365112"/>
                  </a:ext>
                </a:extLst>
              </a:tr>
              <a:tr h="21498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</a:t>
                      </a:r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솔루션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469033"/>
                  </a:ext>
                </a:extLst>
              </a:tr>
              <a:tr h="21498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endParaRPr lang="ko-KR" altLang="en-US" sz="9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196.0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149.9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44.1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baseline="0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227836"/>
                  </a:ext>
                </a:extLst>
              </a:tr>
              <a:tr h="2149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210.1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162.1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44.7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161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7369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687033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(W51)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IT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비용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(W51)</a:t>
                      </a:r>
                      <a:r>
                        <a:rPr lang="ko-KR" altLang="en-US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핵심내용은 품질</a:t>
                      </a:r>
                      <a:r>
                        <a:rPr lang="en-US" altLang="ko-KR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DX</a:t>
                      </a:r>
                      <a:r>
                        <a:rPr lang="ko-KR" altLang="en-US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담당 연간 </a:t>
                      </a:r>
                      <a:r>
                        <a:rPr lang="en-US" altLang="ko-KR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IT</a:t>
                      </a:r>
                      <a:r>
                        <a:rPr lang="ko-KR" altLang="en-US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비용 실적 </a:t>
                      </a:r>
                      <a:r>
                        <a:rPr lang="en-US" altLang="ko-KR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85</a:t>
                      </a:r>
                      <a:r>
                        <a:rPr lang="ko-KR" altLang="en-US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억으로</a:t>
                      </a:r>
                      <a:r>
                        <a:rPr lang="en-US" altLang="ko-KR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도전목표 </a:t>
                      </a:r>
                      <a:r>
                        <a:rPr lang="en-US" altLang="ko-KR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101</a:t>
                      </a:r>
                      <a:r>
                        <a:rPr lang="ko-KR" altLang="en-US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억 내 달성한 점입니다</a:t>
                      </a:r>
                      <a:r>
                        <a:rPr lang="en-US" altLang="ko-KR" sz="1000" b="0" baseline="0" dirty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조직개편으로 인해 품질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담당이 제조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 산하로 변경됨에 따라 기존에 관리하고 있지 않던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IT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비용에 대한 업무가 추가되었습니다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이에 매월 이동계획 수립을 통해 도전목표 이내로 집행되도록 관리하고자 합니다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endParaRPr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12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예상 실적은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7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연간 누계 실적은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85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억으로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금년 도전목표 금액은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101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내 달성하였습니다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(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다빈치팀 해외법인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중국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/MI)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사용분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전환 완료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*12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기준 연간예상 금액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85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*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도전목표 금액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101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*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실적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계획 대비 도전목표 초과 예산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없음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매월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IT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비용 통합품의 상신 전 그룹장님께 서면보고 드리도록 하겠습니다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(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사업계획 금액 및 도전목표 금액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당월 실적 등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통합품의 상신 일정 </a:t>
                      </a: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매월 </a:t>
                      </a:r>
                      <a:r>
                        <a:rPr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셋째주</a:t>
                      </a:r>
                      <a:r>
                        <a:rPr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예정</a:t>
                      </a:r>
                      <a:endParaRPr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</a:t>
            </a:r>
            <a:r>
              <a:rPr lang="ko-KR" altLang="en-US" sz="1400" b="1">
                <a:solidFill>
                  <a:prstClr val="black"/>
                </a:solidFill>
                <a:latin typeface="Arial Narrow"/>
                <a:ea typeface="LG스마트체 Regular"/>
                <a:cs typeface="Malgun Gothic Semilight" panose="020B0502040204020203" pitchFamily="50" charset="-127"/>
              </a:rPr>
              <a:t>비용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12/17</a:t>
            </a:r>
            <a:r>
              <a:rPr lang="en-US" altLang="ko-KR" dirty="0">
                <a:latin typeface="Arial Narrow"/>
                <a:ea typeface="LG스마트체 Regular"/>
                <a:cs typeface="Malgun Gothic Semilight"/>
              </a:rPr>
              <a:t> 14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767557" y="403273"/>
            <a:ext cx="923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이정연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</p:spTree>
    <p:extLst>
      <p:ext uri="{BB962C8B-B14F-4D97-AF65-F5344CB8AC3E}">
        <p14:creationId xmlns:p14="http://schemas.microsoft.com/office/powerpoint/2010/main" val="256222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537186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(W48)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IT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비용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(W48)</a:t>
                      </a: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특이사항 없습니다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조직개편으로 인해 품질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담당이 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 산하로 변경됨에 따라 기존에 관리하고 있지 않던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IT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비용에 대한 업무가 추가되었습니다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이에 매월 이동계획 수립을 통해 도전목표 이내로 집행되도록 관리하고자 합니다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endParaRPr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10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기준 실적 및 계획 금액은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99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억이며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금년 도전목표 금액은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101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10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예상 실적은 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7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억으로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1~10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누계실적은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72.5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억이며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도전목표 대비 달성 가능으로 예상됩니다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다빈치팀 해외법인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중국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/MI)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사용분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내 전환 완료 예정으로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(MI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34.4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절감 예상되어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누계실적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+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향후 계획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포함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99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억으로 도전목표 대비 초과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*10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기준 연간예상 금액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99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*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도전목표 금액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101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*10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누계 실적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72.5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예상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*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실적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계획 대비 도전목표 초과 예산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없음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매월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IT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비용 통합품의 상신 전 그룹장님께 서면보고 드리도록 하겠습니다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사업계획 금액 및 도전목표 금액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당월 실적 등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통합품의 상신 일정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매월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셋째주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예정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</a:t>
            </a:r>
            <a:r>
              <a:rPr lang="ko-KR" altLang="en-US" sz="1400" b="1">
                <a:solidFill>
                  <a:prstClr val="black"/>
                </a:solidFill>
                <a:latin typeface="Arial Narrow"/>
                <a:ea typeface="LG스마트체 Regular"/>
                <a:cs typeface="Malgun Gothic Semilight" panose="020B0502040204020203" pitchFamily="50" charset="-127"/>
              </a:rPr>
              <a:t>비용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11/19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767557" y="403273"/>
            <a:ext cx="923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이정연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</p:spTree>
    <p:extLst>
      <p:ext uri="{BB962C8B-B14F-4D97-AF65-F5344CB8AC3E}">
        <p14:creationId xmlns:p14="http://schemas.microsoft.com/office/powerpoint/2010/main" val="2434725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926383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(W39)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사무공간</a:t>
                      </a:r>
                      <a:b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개선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W39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특이사항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조명 설치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문 교체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(6/16)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CNS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인원 에너지플랜트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에너지플랜트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이동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(6/21)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공기 청정 관련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방향제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공기청정기 잘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작동되는거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확인하였으며 습도가 높은 것 같아 공조기 기온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낮춰둠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일주일동안 기온 낮춘 후 개선되는지 확인했고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전보다 사무실 온도 개선되었으나 공기 청정은 되지 않음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탈취제 비치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자동 분사 탈취제 추가 설치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점심시간 사무실 전등 소등 관련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Needs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확인했고 품질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다수 인원이 소등 희망하여 공사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(8/2)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8/4(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부터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~ 13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시에 소등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품질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 신발장 신규 구매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~’25.09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6085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Layout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9/17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8D4EB7-B93C-4AB3-8EF7-599F7D94D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629" y="3340342"/>
            <a:ext cx="3912828" cy="247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74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503652"/>
              </p:ext>
            </p:extLst>
          </p:nvPr>
        </p:nvGraphicFramePr>
        <p:xfrm>
          <a:off x="125047" y="866774"/>
          <a:ext cx="9644176" cy="5732433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(W35)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98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전지 교육 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차수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다빈치 교육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AI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기본 교육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(W35)</a:t>
                      </a: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특이사항 없습니다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그룹장님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주관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기본교육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2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그룹장님 주관 전지 교육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차수 말씀 주시어 설문 진행했으며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관련 보고 및 논의 진행했습니다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(4/9)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히스토리 및 개념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원리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활용 사례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데이터 수집 및 연결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등 주제로 교육 완료 및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차수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배터리 기초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재진행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완료하였습니다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다빈치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Step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별 교육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주간회의 시 다빈치 교육 총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6 Step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에 대해 그룹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구성원 필수 수강 단계와 고급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분석가 인원 수강 단계로 나누어 교육 진행할 것이라는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코멘트 사항이 있었습니다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미수강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인원에 대한 설문 결과 구두로 보고 드렸으며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전체 구성원에 대해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1,2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는 온라인 수강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3,4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는 오프라인 니즈가 있는 구성원에 한해서 진행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나머지는 전부 온라인 수강으로 진행하고자 합니다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그룹장님 및 다빈치팀과 논의 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상반기까지 교육 수강 독려하였으며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그룹장님 결과보고 완료하였습니다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 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3. AI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기본 교육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4/8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일자 교육 관련 보고 그룹장님 요청 주신 건으로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기본 교육 발굴 관련 말씀 주셨습니다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AIFactory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김태영 대표님과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컨택하여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1,2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차 모두 교육 완료하였습니다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해당 교육 이후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GOOGLE 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세미나 팀장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필참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7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 이내 인원 선정 및 진행 완료하였습니다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(6/25 14~16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4. AI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활용 교육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단순 이론 교육이 아닌 활용 교육에 대한 니즈가 많아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구글코리아와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협업하여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Test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팀 구성 및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DAP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GenAI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활용 교육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직무역량개발팀 주관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생성형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활용 교육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CNS AX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 예정 중에 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생성형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활용 교육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직무역량개발팀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8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 진행 예정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CNS AX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가지 중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가지 교육 확정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가지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코딩 실무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폐강되었습니다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구글코리아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교육은 보안 이슈로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홀딩하였습니다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5. CNS EIF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 및 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롤맵기술팀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니즈가 있어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CNS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쪽에 오프라인 강좌 개설 요청 드렸으며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10/16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일자 교육 개설되어 참석자 취합 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(36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및 공유하였습니다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교육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8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/26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767557" y="403273"/>
            <a:ext cx="923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이정연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</p:spTree>
    <p:extLst>
      <p:ext uri="{BB962C8B-B14F-4D97-AF65-F5344CB8AC3E}">
        <p14:creationId xmlns:p14="http://schemas.microsoft.com/office/powerpoint/2010/main" val="1611256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844624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(W30)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WA VW</a:t>
                      </a: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향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S/T </a:t>
                      </a: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각형 투자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WA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법인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전극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미정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조립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: WA3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동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(W30)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WA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VW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향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Side Terminal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각형 투자 검토하는 건입니다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WA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Side Terminal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각형 투자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(28.06 SOP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목표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기존 라인 개조하여 재활용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호기 미정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WA3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동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 신작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(48ppm)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6/9 WA3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동 조립라인 신작으로 의사결정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6/18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 라인 신작 가투자비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3. LOB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LOB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는 배포 완료되었으나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 몇 호를 개조할지 미정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AR.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기획팀에서 법인과 협의중에 있으며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금일까지 공유된 내용 없음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~‘25.08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7/23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2230496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881036" y="376121"/>
            <a:ext cx="856004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신종권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</a:t>
            </a:r>
          </a:p>
        </p:txBody>
      </p:sp>
      <p:sp>
        <p:nvSpPr>
          <p:cNvPr id="33" name="제목 1">
            <a:extLst>
              <a:ext uri="{FF2B5EF4-FFF2-40B4-BE49-F238E27FC236}">
                <a16:creationId xmlns:a16="http://schemas.microsoft.com/office/drawing/2014/main" id="{E70AC04A-822D-4EBC-B08B-D44518724C41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7E8D27-1992-4FC2-9DC2-4843E6FA951B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lang="en-US" altLang="ko-KR" sz="1000">
                <a:solidFill>
                  <a:prstClr val="black"/>
                </a:solidFill>
                <a:latin typeface="Arial Narrow"/>
                <a:ea typeface="LG스마트체 Regular"/>
              </a:rPr>
              <a:t>6/18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16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29" name="내용 개체 틀 20">
            <a:extLst>
              <a:ext uri="{FF2B5EF4-FFF2-40B4-BE49-F238E27FC236}">
                <a16:creationId xmlns:a16="http://schemas.microsoft.com/office/drawing/2014/main" id="{3EBE8CB9-63DD-45E7-9860-F1B1EDBFB770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4432304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_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제조지능화 업무 체계 개선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0" lang="en-US" altLang="ko-KR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CodeS</a:t>
            </a:r>
            <a:r>
              <a:rPr lang="en-US" altLang="ko-KR" sz="1400" b="1">
                <a:solidFill>
                  <a:prstClr val="black"/>
                </a:solidFill>
                <a:latin typeface="Arial Narrow"/>
                <a:ea typeface="LG스마트체 Regular"/>
              </a:rPr>
              <a:t>pace(DX)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구축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253D908-610B-44F3-BFC0-7E83108DB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203082"/>
              </p:ext>
            </p:extLst>
          </p:nvPr>
        </p:nvGraphicFramePr>
        <p:xfrm>
          <a:off x="36075" y="869794"/>
          <a:ext cx="9804440" cy="5742761"/>
        </p:xfrm>
        <a:graphic>
          <a:graphicData uri="http://schemas.openxmlformats.org/drawingml/2006/table">
            <a:tbl>
              <a:tblPr/>
              <a:tblGrid>
                <a:gridCol w="663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99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6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(W26)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1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CodeSpace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(DX)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ESWA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전공정</a:t>
                      </a: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W26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특이사항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000" b="0" i="0" u="none" strike="noStrike" kern="1200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▶과제명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lang="en-US" altLang="ko-KR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(DX)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양산 적용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(ESWA 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전공정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 대상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▶과제배경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DX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그룹 개발 표준환경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(Data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수집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전처리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알고리즘 개발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검증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운영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을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ESWA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전체 공정 대상으로 구축 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▶일정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계획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: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※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개발환경이 구성되는 ’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25.4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차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Open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하여 코드개발 및 보완사항 점검하고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배포기능이 개발되는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’25.6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월을 정식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Open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Target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으로 개발 진행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▶개발 진척사항</a:t>
                      </a:r>
                      <a:endParaRPr lang="en-US" altLang="ko-KR" sz="10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데이터 수집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~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검증까지 각 기능별 개발 완료하였으며 사용자 가이드 문서와 교육 동영상을 기반으로 설명회를 진행 후 시스템 정식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Open(5/29)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하였습니다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APC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공정별 대표 담당자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코터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김형준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롤프레스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김치완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NND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차영은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LAM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이왕주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STK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김태승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PKG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박준오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통해 시스템 안정화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활동과 적용시 효과 정리하여 완료보고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(6/18)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드렸습니다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현재 데이터수집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알고리즘 개발은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전공정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검증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배포는 전극공정에 활용 가능합니다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조립공정 검증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배포를 위한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 지원 기능 확장이 </a:t>
                      </a:r>
                      <a:endParaRPr kumimoji="0" lang="en-US" altLang="ko-KR" sz="1000" b="0" i="0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필요하여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SW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개발비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1.07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억을 투자하고 합니다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.(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공수합리화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차 진행을 통한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개발공수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절감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5.8M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→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4.64M)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C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 지원 기능 확장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투자심의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(6/11), CNS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제안서 등록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(6/13)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하였으며 집행품의 진행하여 개발 착수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(6/23~)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예정입니다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- 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 공정의 경우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’25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6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월부터 </a:t>
                      </a:r>
                      <a:r>
                        <a:rPr kumimoji="0" lang="en-US" altLang="ko-KR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를 통해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C#, C++ → Python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언어 변경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코드 표준화 포함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을 진행하여 완료되는 알고리즘 부터는</a:t>
                      </a:r>
                      <a:endParaRPr kumimoji="0" lang="en-US" altLang="ko-KR" sz="1000" b="0" i="0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모든 기능을 활용 할 계획이며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기존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Edge PC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개발환경까지 개발언어를 표준화하기에는 많은 시간이 소요 될 것으로 예상되어</a:t>
                      </a:r>
                      <a:endParaRPr kumimoji="0" lang="en-US" altLang="ko-KR" sz="1000" b="0" i="0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CodeSpace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(DX)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개발환경에서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C#, C++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대응할 수 있도록 기능 고도화 진행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(~9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/E)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하겠습니다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i="0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① 데이터 수집 파이프라인 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 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각 </a:t>
                      </a:r>
                      <a:r>
                        <a:rPr kumimoji="0" lang="ko-KR" altLang="en-US" sz="1000" b="1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법인별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다빈치 데이터를 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ESHQ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로 수집하고 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DevOps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내 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Workplace 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마트를 구성하여 개발자 공동으로 활용하고자 함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- Raw Data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수집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: APC Raw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데이터를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압축 후  공용 저장소로 직접 전송하는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API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개발하여 적재완료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테스트 진행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(3/28)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        : ESWA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전공정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Raw Data 1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일치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압축전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3.4Gbyte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→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압축후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309Mbyte (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압출률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92%)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로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공용저장소 수용 협의 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(3/14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다빈치팀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  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→ 전극 </a:t>
                      </a:r>
                      <a:r>
                        <a:rPr kumimoji="0" lang="ko-KR" altLang="en-US" sz="1000" b="0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코터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Raw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데이터 수집 중에 있으며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순차적으로 공정별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Raw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데이터 수집 파이프라인 구축 진행 중 입니다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        : ESWA APC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패치 적용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(5/14)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후 조립 공정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Raw Data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포함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ESWA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전체 호기 데이터 수집 중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(5/15~)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이며 특이사항 없습니다</a:t>
                      </a:r>
                      <a:endParaRPr kumimoji="0" lang="en-US" altLang="ko-KR" sz="1000" b="0" i="0" u="none" strike="noStrike" kern="1200" cap="none" spc="0" normalizeH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 - APC Summary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Data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ESWA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다빈치 공용저장소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(S3)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적재 완료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(2/8), ESOC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공용저장소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(S3)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이동 테스트 완료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(2/28), 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파이프라인 개발 완료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(3/14)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② 개발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 환경구축 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 DevOps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내 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MLDL3.0(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학습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추론기능강화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기능을 이식하고 </a:t>
                      </a:r>
                      <a:r>
                        <a:rPr kumimoji="0" lang="en-US" altLang="ko-KR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GitHub-Copilot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을 활용하여 코드 개발을 </a:t>
                      </a:r>
                      <a:r>
                        <a:rPr kumimoji="0" lang="ko-KR" altLang="en-US" sz="1000" b="1" i="0" u="none" strike="noStrike" kern="1200" cap="none" spc="0" normalizeH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효율화하고자</a:t>
                      </a:r>
                      <a:r>
                        <a:rPr kumimoji="0" lang="ko-KR" altLang="en-US" sz="1000" b="1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함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- DevOps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내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MLDL3.0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설치 완료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(1/10),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호환성 개선 및 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MLDL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에서 데이터 마트를 조회 할 수 있는 기능 설계 완료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(2/3)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및 개발 완료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(3/14)</a:t>
                      </a:r>
                      <a:r>
                        <a:rPr kumimoji="0" lang="ko-KR" altLang="en-US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했습니다</a:t>
                      </a:r>
                      <a:r>
                        <a:rPr kumimoji="0" lang="en-US" altLang="ko-KR" sz="1000" b="0" i="0" u="none" strike="noStrike" kern="1200" cap="none" spc="0" normalizeH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- 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알고리즘 배포 전 사고 예방 목적으로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알고리즘 사전 검증체계 보완을 위한 미팅을 진행하였습니다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(/w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품질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DX/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자동보정담당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4/2)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 : APC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에서 간헐적으로 발생되는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Data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 대해 재현성이 낮아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데이터의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Abnormal case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 대해 사전 점검할 수 있는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Case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발굴 필요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-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자동보정담당에서 알고리즘 검증케이스 전극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(~5/15),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조립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(~7/18)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발굴하여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제너레이터에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등록 및 사용 하기로 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시뮬레이터는 수집 데이터를 활용한 기본 코드검증 기능을 실사용해 보고 고도화 필요시 개발하기로 협의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(4/3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품질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DX,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학습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검증기능 구현을 위한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ESWA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코터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최신 알고리즘 분석하여 설비데이터를 활용한 데이터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생성기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코드검증 기능 개발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(5/9)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하여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테스트 및 사용자 매뉴얼 및 튜토리얼 영상 제작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(5/28)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’25.6</a:t>
                      </a:r>
                    </a:p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신종권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이재후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8EA8266-2C88-4571-8D29-F9481F1BFA53}"/>
              </a:ext>
            </a:extLst>
          </p:cNvPr>
          <p:cNvSpPr txBox="1"/>
          <p:nvPr/>
        </p:nvSpPr>
        <p:spPr>
          <a:xfrm>
            <a:off x="42057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sp>
        <p:nvSpPr>
          <p:cNvPr id="37" name="오각형 12">
            <a:extLst>
              <a:ext uri="{FF2B5EF4-FFF2-40B4-BE49-F238E27FC236}">
                <a16:creationId xmlns:a16="http://schemas.microsoft.com/office/drawing/2014/main" id="{45E4BF10-BAB7-402D-BD0B-2701D6F694A6}"/>
              </a:ext>
            </a:extLst>
          </p:cNvPr>
          <p:cNvSpPr/>
          <p:nvPr/>
        </p:nvSpPr>
        <p:spPr>
          <a:xfrm>
            <a:off x="2101167" y="1877158"/>
            <a:ext cx="742787" cy="315943"/>
          </a:xfrm>
          <a:prstGeom prst="homePlate">
            <a:avLst>
              <a:gd name="adj" fmla="val 20529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양산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요건정의</a:t>
            </a:r>
          </a:p>
        </p:txBody>
      </p:sp>
      <p:sp>
        <p:nvSpPr>
          <p:cNvPr id="38" name="갈매기형 수장 14">
            <a:extLst>
              <a:ext uri="{FF2B5EF4-FFF2-40B4-BE49-F238E27FC236}">
                <a16:creationId xmlns:a16="http://schemas.microsoft.com/office/drawing/2014/main" id="{E89BA4A3-5AB0-4952-B2FA-C3B7B963C448}"/>
              </a:ext>
            </a:extLst>
          </p:cNvPr>
          <p:cNvSpPr/>
          <p:nvPr/>
        </p:nvSpPr>
        <p:spPr>
          <a:xfrm>
            <a:off x="3280307" y="1877158"/>
            <a:ext cx="2890693" cy="315941"/>
          </a:xfrm>
          <a:prstGeom prst="chevron">
            <a:avLst>
              <a:gd name="adj" fmla="val 19425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   </a:t>
            </a:r>
          </a:p>
        </p:txBody>
      </p:sp>
      <p:sp>
        <p:nvSpPr>
          <p:cNvPr id="39" name="TextBox 354">
            <a:extLst>
              <a:ext uri="{FF2B5EF4-FFF2-40B4-BE49-F238E27FC236}">
                <a16:creationId xmlns:a16="http://schemas.microsoft.com/office/drawing/2014/main" id="{4AAA67F9-A391-4F5E-AFDF-F1CA704875C5}"/>
              </a:ext>
            </a:extLst>
          </p:cNvPr>
          <p:cNvSpPr txBox="1"/>
          <p:nvPr/>
        </p:nvSpPr>
        <p:spPr>
          <a:xfrm>
            <a:off x="4435669" y="2211209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‘25.3/E</a:t>
            </a:r>
          </a:p>
        </p:txBody>
      </p:sp>
      <p:sp>
        <p:nvSpPr>
          <p:cNvPr id="40" name="갈매기형 수장 17">
            <a:extLst>
              <a:ext uri="{FF2B5EF4-FFF2-40B4-BE49-F238E27FC236}">
                <a16:creationId xmlns:a16="http://schemas.microsoft.com/office/drawing/2014/main" id="{86A83847-4CC5-4B87-8C6F-4B3064404184}"/>
              </a:ext>
            </a:extLst>
          </p:cNvPr>
          <p:cNvSpPr/>
          <p:nvPr/>
        </p:nvSpPr>
        <p:spPr>
          <a:xfrm>
            <a:off x="4654610" y="1941099"/>
            <a:ext cx="704654" cy="252000"/>
          </a:xfrm>
          <a:prstGeom prst="chevron">
            <a:avLst>
              <a:gd name="adj" fmla="val 1942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차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Open</a:t>
            </a: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개발환경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1" name="TextBox 354">
            <a:extLst>
              <a:ext uri="{FF2B5EF4-FFF2-40B4-BE49-F238E27FC236}">
                <a16:creationId xmlns:a16="http://schemas.microsoft.com/office/drawing/2014/main" id="{ED21D329-2B9B-45F9-A4D0-F07FD4D39924}"/>
              </a:ext>
            </a:extLst>
          </p:cNvPr>
          <p:cNvSpPr txBox="1"/>
          <p:nvPr/>
        </p:nvSpPr>
        <p:spPr>
          <a:xfrm>
            <a:off x="6343747" y="2193099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‘25.6/E</a:t>
            </a:r>
          </a:p>
        </p:txBody>
      </p:sp>
      <p:sp>
        <p:nvSpPr>
          <p:cNvPr id="42" name="TextBox 354">
            <a:extLst>
              <a:ext uri="{FF2B5EF4-FFF2-40B4-BE49-F238E27FC236}">
                <a16:creationId xmlns:a16="http://schemas.microsoft.com/office/drawing/2014/main" id="{589F69C4-60A0-400E-A9EE-EF30474DE38E}"/>
              </a:ext>
            </a:extLst>
          </p:cNvPr>
          <p:cNvSpPr txBox="1"/>
          <p:nvPr/>
        </p:nvSpPr>
        <p:spPr>
          <a:xfrm>
            <a:off x="2901289" y="2211209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’24.11/E</a:t>
            </a:r>
          </a:p>
        </p:txBody>
      </p:sp>
      <p:sp>
        <p:nvSpPr>
          <p:cNvPr id="43" name="갈매기형 수장 14">
            <a:extLst>
              <a:ext uri="{FF2B5EF4-FFF2-40B4-BE49-F238E27FC236}">
                <a16:creationId xmlns:a16="http://schemas.microsoft.com/office/drawing/2014/main" id="{8287F05A-0294-49EB-8EB0-EA10A3C9E41A}"/>
              </a:ext>
            </a:extLst>
          </p:cNvPr>
          <p:cNvSpPr/>
          <p:nvPr/>
        </p:nvSpPr>
        <p:spPr>
          <a:xfrm>
            <a:off x="2827423" y="1877158"/>
            <a:ext cx="475449" cy="315941"/>
          </a:xfrm>
          <a:prstGeom prst="chevron">
            <a:avLst>
              <a:gd name="adj" fmla="val 1942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투자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(PO)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4" name="TextBox 354">
            <a:extLst>
              <a:ext uri="{FF2B5EF4-FFF2-40B4-BE49-F238E27FC236}">
                <a16:creationId xmlns:a16="http://schemas.microsoft.com/office/drawing/2014/main" id="{28CA24A6-37AE-49A3-9796-F55DE8446378}"/>
              </a:ext>
            </a:extLst>
          </p:cNvPr>
          <p:cNvSpPr txBox="1"/>
          <p:nvPr/>
        </p:nvSpPr>
        <p:spPr>
          <a:xfrm>
            <a:off x="2378584" y="2202155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‘24.10/E</a:t>
            </a:r>
          </a:p>
        </p:txBody>
      </p:sp>
      <p:sp>
        <p:nvSpPr>
          <p:cNvPr id="45" name="갈매기형 수장 21">
            <a:extLst>
              <a:ext uri="{FF2B5EF4-FFF2-40B4-BE49-F238E27FC236}">
                <a16:creationId xmlns:a16="http://schemas.microsoft.com/office/drawing/2014/main" id="{923D314C-BF24-4F65-B766-8B5F3794E5C6}"/>
              </a:ext>
            </a:extLst>
          </p:cNvPr>
          <p:cNvSpPr/>
          <p:nvPr/>
        </p:nvSpPr>
        <p:spPr>
          <a:xfrm>
            <a:off x="6160911" y="1877158"/>
            <a:ext cx="648000" cy="309343"/>
          </a:xfrm>
          <a:prstGeom prst="chevron">
            <a:avLst>
              <a:gd name="adj" fmla="val 1942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66F30B-CE6D-4A98-8E31-EC2227DF3C4A}"/>
              </a:ext>
            </a:extLst>
          </p:cNvPr>
          <p:cNvSpPr/>
          <p:nvPr/>
        </p:nvSpPr>
        <p:spPr>
          <a:xfrm>
            <a:off x="6117945" y="1927135"/>
            <a:ext cx="731405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완료보고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505ECBD-9441-48F1-97A8-E4E8E8BD5B81}"/>
              </a:ext>
            </a:extLst>
          </p:cNvPr>
          <p:cNvSpPr/>
          <p:nvPr/>
        </p:nvSpPr>
        <p:spPr>
          <a:xfrm>
            <a:off x="3881803" y="1756575"/>
            <a:ext cx="756100" cy="174851"/>
          </a:xfrm>
          <a:prstGeom prst="rect">
            <a:avLst/>
          </a:prstGeom>
          <a:solidFill>
            <a:schemeClr val="bg1"/>
          </a:solidFill>
        </p:spPr>
        <p:txBody>
          <a:bodyPr wrap="none" lIns="18000" tIns="18000" rIns="18000" bIns="18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&lt;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시스템 개발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&gt;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Malgun Gothic Semilight" panose="020B0502040204020203" pitchFamily="50" charset="-127"/>
            </a:endParaRPr>
          </a:p>
        </p:txBody>
      </p:sp>
      <p:sp>
        <p:nvSpPr>
          <p:cNvPr id="48" name="갈매기형 수장 17">
            <a:extLst>
              <a:ext uri="{FF2B5EF4-FFF2-40B4-BE49-F238E27FC236}">
                <a16:creationId xmlns:a16="http://schemas.microsoft.com/office/drawing/2014/main" id="{643D20C4-794D-48DF-AE39-455B23696ECE}"/>
              </a:ext>
            </a:extLst>
          </p:cNvPr>
          <p:cNvSpPr/>
          <p:nvPr/>
        </p:nvSpPr>
        <p:spPr>
          <a:xfrm>
            <a:off x="3305220" y="1938398"/>
            <a:ext cx="510530" cy="252000"/>
          </a:xfrm>
          <a:prstGeom prst="chevron">
            <a:avLst>
              <a:gd name="adj" fmla="val 1942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상세설계</a:t>
            </a:r>
          </a:p>
        </p:txBody>
      </p:sp>
      <p:sp>
        <p:nvSpPr>
          <p:cNvPr id="49" name="갈매기형 수장 17">
            <a:extLst>
              <a:ext uri="{FF2B5EF4-FFF2-40B4-BE49-F238E27FC236}">
                <a16:creationId xmlns:a16="http://schemas.microsoft.com/office/drawing/2014/main" id="{2BAC9B9A-947F-41AD-9AD1-0531DF2BC737}"/>
              </a:ext>
            </a:extLst>
          </p:cNvPr>
          <p:cNvSpPr/>
          <p:nvPr/>
        </p:nvSpPr>
        <p:spPr>
          <a:xfrm>
            <a:off x="3785133" y="1938084"/>
            <a:ext cx="899672" cy="252000"/>
          </a:xfrm>
          <a:prstGeom prst="chevron">
            <a:avLst>
              <a:gd name="adj" fmla="val 1942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개발</a:t>
            </a:r>
          </a:p>
        </p:txBody>
      </p:sp>
      <p:sp>
        <p:nvSpPr>
          <p:cNvPr id="51" name="TextBox 354">
            <a:extLst>
              <a:ext uri="{FF2B5EF4-FFF2-40B4-BE49-F238E27FC236}">
                <a16:creationId xmlns:a16="http://schemas.microsoft.com/office/drawing/2014/main" id="{B70E7A48-9C8C-491D-A875-EDC9C923C15A}"/>
              </a:ext>
            </a:extLst>
          </p:cNvPr>
          <p:cNvSpPr txBox="1"/>
          <p:nvPr/>
        </p:nvSpPr>
        <p:spPr>
          <a:xfrm>
            <a:off x="3455620" y="2202155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’25.12/E</a:t>
            </a:r>
          </a:p>
        </p:txBody>
      </p:sp>
      <p:sp>
        <p:nvSpPr>
          <p:cNvPr id="63" name="TextBox 354">
            <a:extLst>
              <a:ext uri="{FF2B5EF4-FFF2-40B4-BE49-F238E27FC236}">
                <a16:creationId xmlns:a16="http://schemas.microsoft.com/office/drawing/2014/main" id="{7E7BE92F-37F3-4E6F-85FE-339B703A33FE}"/>
              </a:ext>
            </a:extLst>
          </p:cNvPr>
          <p:cNvSpPr txBox="1"/>
          <p:nvPr/>
        </p:nvSpPr>
        <p:spPr>
          <a:xfrm>
            <a:off x="5202858" y="2218562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‘25.5/E</a:t>
            </a:r>
          </a:p>
        </p:txBody>
      </p:sp>
      <p:sp>
        <p:nvSpPr>
          <p:cNvPr id="64" name="갈매기형 수장 17">
            <a:extLst>
              <a:ext uri="{FF2B5EF4-FFF2-40B4-BE49-F238E27FC236}">
                <a16:creationId xmlns:a16="http://schemas.microsoft.com/office/drawing/2014/main" id="{27BF3D60-A68D-464C-A6AB-6A424D6AC43D}"/>
              </a:ext>
            </a:extLst>
          </p:cNvPr>
          <p:cNvSpPr/>
          <p:nvPr/>
        </p:nvSpPr>
        <p:spPr>
          <a:xfrm>
            <a:off x="5329881" y="1941099"/>
            <a:ext cx="822070" cy="252000"/>
          </a:xfrm>
          <a:prstGeom prst="chevron">
            <a:avLst>
              <a:gd name="adj" fmla="val 19425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2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차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Open</a:t>
            </a: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배포기능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B8F543-5F3F-4354-B68E-B9E1F55DA151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-#3,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AD6B18D-43B0-42A6-9A15-F286DDA9516F}"/>
              </a:ext>
            </a:extLst>
          </p:cNvPr>
          <p:cNvGrpSpPr/>
          <p:nvPr/>
        </p:nvGrpSpPr>
        <p:grpSpPr>
          <a:xfrm>
            <a:off x="6336143" y="1851695"/>
            <a:ext cx="486550" cy="361801"/>
            <a:chOff x="3044685" y="2102183"/>
            <a:chExt cx="486550" cy="361801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54393514-DD42-4DC4-8C12-22BB238C21E2}"/>
                </a:ext>
              </a:extLst>
            </p:cNvPr>
            <p:cNvCxnSpPr>
              <a:cxnSpLocks/>
            </p:cNvCxnSpPr>
            <p:nvPr/>
          </p:nvCxnSpPr>
          <p:spPr>
            <a:xfrm>
              <a:off x="3287980" y="2175984"/>
              <a:ext cx="0" cy="288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354">
              <a:extLst>
                <a:ext uri="{FF2B5EF4-FFF2-40B4-BE49-F238E27FC236}">
                  <a16:creationId xmlns:a16="http://schemas.microsoft.com/office/drawing/2014/main" id="{DDA6989F-ECB4-4187-9CC2-9BDFADBD05CF}"/>
                </a:ext>
              </a:extLst>
            </p:cNvPr>
            <p:cNvSpPr txBox="1"/>
            <p:nvPr/>
          </p:nvSpPr>
          <p:spPr>
            <a:xfrm>
              <a:off x="3044685" y="2102183"/>
              <a:ext cx="486550" cy="61150"/>
            </a:xfrm>
            <a:prstGeom prst="rect">
              <a:avLst/>
            </a:prstGeom>
            <a:noFill/>
            <a:ln w="9525" cmpd="sng">
              <a:noFill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/>
                  <a:ea typeface="LG스마트체 Regular"/>
                  <a:cs typeface="+mn-cs"/>
                </a:rPr>
                <a:t>▼</a:t>
              </a:r>
              <a:endPara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D899EB2-E2A5-426B-B9E8-866E513883DE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‘25.6.18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‘25.7.2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5" name="TextBox 354">
            <a:extLst>
              <a:ext uri="{FF2B5EF4-FFF2-40B4-BE49-F238E27FC236}">
                <a16:creationId xmlns:a16="http://schemas.microsoft.com/office/drawing/2014/main" id="{F600D37C-40E9-4D2E-8F80-7865A221FA6B}"/>
              </a:ext>
            </a:extLst>
          </p:cNvPr>
          <p:cNvSpPr txBox="1"/>
          <p:nvPr/>
        </p:nvSpPr>
        <p:spPr>
          <a:xfrm>
            <a:off x="7338123" y="2191590"/>
            <a:ext cx="644411" cy="119692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‘25.9/E</a:t>
            </a:r>
          </a:p>
        </p:txBody>
      </p:sp>
      <p:sp>
        <p:nvSpPr>
          <p:cNvPr id="56" name="갈매기형 수장 21">
            <a:extLst>
              <a:ext uri="{FF2B5EF4-FFF2-40B4-BE49-F238E27FC236}">
                <a16:creationId xmlns:a16="http://schemas.microsoft.com/office/drawing/2014/main" id="{C1419861-9454-42B1-BDC5-1E27E830E63B}"/>
              </a:ext>
            </a:extLst>
          </p:cNvPr>
          <p:cNvSpPr/>
          <p:nvPr/>
        </p:nvSpPr>
        <p:spPr>
          <a:xfrm>
            <a:off x="6820304" y="1875649"/>
            <a:ext cx="1029555" cy="309343"/>
          </a:xfrm>
          <a:prstGeom prst="chevron">
            <a:avLst>
              <a:gd name="adj" fmla="val 194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B3C8F1D-36D2-4E2C-9CEA-69E0C965AB46}"/>
              </a:ext>
            </a:extLst>
          </p:cNvPr>
          <p:cNvSpPr/>
          <p:nvPr/>
        </p:nvSpPr>
        <p:spPr>
          <a:xfrm>
            <a:off x="6895034" y="1925626"/>
            <a:ext cx="900507" cy="216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C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언어 기능지원</a:t>
            </a:r>
          </a:p>
        </p:txBody>
      </p:sp>
      <p:sp>
        <p:nvSpPr>
          <p:cNvPr id="66" name="갈매기형 수장 21">
            <a:extLst>
              <a:ext uri="{FF2B5EF4-FFF2-40B4-BE49-F238E27FC236}">
                <a16:creationId xmlns:a16="http://schemas.microsoft.com/office/drawing/2014/main" id="{1D55C5A0-5EDE-4BCB-ACC4-57D71EDA9B96}"/>
              </a:ext>
            </a:extLst>
          </p:cNvPr>
          <p:cNvSpPr/>
          <p:nvPr/>
        </p:nvSpPr>
        <p:spPr>
          <a:xfrm>
            <a:off x="7849859" y="1870490"/>
            <a:ext cx="432631" cy="309343"/>
          </a:xfrm>
          <a:prstGeom prst="chevron">
            <a:avLst>
              <a:gd name="adj" fmla="val 19425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>
                <a:solidFill>
                  <a:prstClr val="black"/>
                </a:solidFill>
                <a:latin typeface="Arial Narrow"/>
                <a:ea typeface="LG스마트체 Regular"/>
              </a:rPr>
              <a:t>수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평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>
                <a:solidFill>
                  <a:prstClr val="black"/>
                </a:solidFill>
                <a:latin typeface="Arial Narrow"/>
                <a:ea typeface="LG스마트체 Regular"/>
              </a:rPr>
              <a:t>전개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67" name="TextBox 354">
            <a:extLst>
              <a:ext uri="{FF2B5EF4-FFF2-40B4-BE49-F238E27FC236}">
                <a16:creationId xmlns:a16="http://schemas.microsoft.com/office/drawing/2014/main" id="{6BE47923-99A9-4F1B-9DCF-E8756C1EF262}"/>
              </a:ext>
            </a:extLst>
          </p:cNvPr>
          <p:cNvSpPr txBox="1"/>
          <p:nvPr/>
        </p:nvSpPr>
        <p:spPr>
          <a:xfrm>
            <a:off x="7783576" y="2179833"/>
            <a:ext cx="789658" cy="147100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‘25.10/E(ESOC)</a:t>
            </a:r>
          </a:p>
        </p:txBody>
      </p:sp>
    </p:spTree>
    <p:extLst>
      <p:ext uri="{BB962C8B-B14F-4D97-AF65-F5344CB8AC3E}">
        <p14:creationId xmlns:p14="http://schemas.microsoft.com/office/powerpoint/2010/main" val="1646309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0">
            <a:extLst>
              <a:ext uri="{FF2B5EF4-FFF2-40B4-BE49-F238E27FC236}">
                <a16:creationId xmlns:a16="http://schemas.microsoft.com/office/drawing/2014/main" id="{E17E9B84-A47B-4572-8CB7-205E45AC3EA9}"/>
              </a:ext>
            </a:extLst>
          </p:cNvPr>
          <p:cNvSpPr txBox="1">
            <a:spLocks/>
          </p:cNvSpPr>
          <p:nvPr/>
        </p:nvSpPr>
        <p:spPr>
          <a:xfrm>
            <a:off x="8881036" y="376121"/>
            <a:ext cx="856004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작성자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신종권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P</a:t>
            </a:r>
          </a:p>
        </p:txBody>
      </p:sp>
      <p:sp>
        <p:nvSpPr>
          <p:cNvPr id="33" name="제목 1">
            <a:extLst>
              <a:ext uri="{FF2B5EF4-FFF2-40B4-BE49-F238E27FC236}">
                <a16:creationId xmlns:a16="http://schemas.microsoft.com/office/drawing/2014/main" id="{E70AC04A-822D-4EBC-B08B-D44518724C41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7E8D27-1992-4FC2-9DC2-4843E6FA951B}"/>
              </a:ext>
            </a:extLst>
          </p:cNvPr>
          <p:cNvSpPr txBox="1"/>
          <p:nvPr/>
        </p:nvSpPr>
        <p:spPr>
          <a:xfrm>
            <a:off x="7994708" y="545398"/>
            <a:ext cx="1875463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lvl="0" algn="r"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업데이트 시간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6/18</a:t>
            </a:r>
            <a:r>
              <a:rPr lang="en-US" altLang="ko-KR" sz="1000">
                <a:solidFill>
                  <a:prstClr val="black"/>
                </a:solidFill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16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시</a:t>
            </a:r>
          </a:p>
        </p:txBody>
      </p:sp>
      <p:sp>
        <p:nvSpPr>
          <p:cNvPr id="29" name="내용 개체 틀 20">
            <a:extLst>
              <a:ext uri="{FF2B5EF4-FFF2-40B4-BE49-F238E27FC236}">
                <a16:creationId xmlns:a16="http://schemas.microsoft.com/office/drawing/2014/main" id="{3EBE8CB9-63DD-45E7-9860-F1B1EDBFB770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4432304" cy="215444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_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제조지능화 업무 체계 개선 </a:t>
            </a:r>
            <a:r>
              <a:rPr lang="en-US" altLang="ko-KR" sz="1400" b="1">
                <a:solidFill>
                  <a:prstClr val="black"/>
                </a:solidFill>
              </a:rPr>
              <a:t>(</a:t>
            </a:r>
            <a:r>
              <a:rPr lang="en-US" altLang="ko-KR" sz="1400" b="1" err="1">
                <a:solidFill>
                  <a:prstClr val="black"/>
                </a:solidFill>
              </a:rPr>
              <a:t>CodeSpace</a:t>
            </a:r>
            <a:r>
              <a:rPr lang="en-US" altLang="ko-KR" sz="1400" b="1">
                <a:solidFill>
                  <a:prstClr val="black"/>
                </a:solidFill>
              </a:rPr>
              <a:t>(DX)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구축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)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253D908-610B-44F3-BFC0-7E83108DB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892351"/>
              </p:ext>
            </p:extLst>
          </p:nvPr>
        </p:nvGraphicFramePr>
        <p:xfrm>
          <a:off x="36075" y="869794"/>
          <a:ext cx="9804440" cy="5742761"/>
        </p:xfrm>
        <a:graphic>
          <a:graphicData uri="http://schemas.openxmlformats.org/drawingml/2006/table">
            <a:tbl>
              <a:tblPr/>
              <a:tblGrid>
                <a:gridCol w="663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22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99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362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(W26)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 완료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1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CodeSpace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(DX)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72000" marB="0" anchor="ctr">
                    <a:lnL w="0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ESWA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전공정</a:t>
                      </a: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4400" marR="14400" marT="72000" marB="144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W26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특이사항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③ 배포 기능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: DevOps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에서 개발된 알고리즘을 중계서버를 활용하여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Legacy System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으로 배포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kumimoji="0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망외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배포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하고자 합니다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*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수평전개 비용을 절감하는 차원에서 중계서버를 대체하여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APC Test(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배포 전 검증 용도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서버를 활용 방안 논의하기 위해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자동보정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품질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미팅 진행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(4/2)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개발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검증 완료 된 알고리즘을 패키지화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(Zip)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Workplace DB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 배포하면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임시저장소로 자동배치로 전송하여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시스템에서 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패키지를 선택 등록하는 프로세스와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예외처리 방안을 수립하여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배포기능 개발 중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(5/27)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.(/w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공정제어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자동보정팀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APC DC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서버로 직접 파일을 전송하는 방식에서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안정성을 고려하여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MQ(Massage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Que)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방식으로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에서 호출하는 방식으로 변경되어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호출 인터페이스 기능 개발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(~6/10 MQ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인터페이스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 CNS)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WA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법인의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패치 일정에 맞추어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월 말 적용될 예정입니다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④ 화면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/UI :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알고리즘 개발 프로세스와 연결성 있게 편의 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UI </a:t>
                      </a:r>
                      <a:r>
                        <a:rPr kumimoji="0"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제공</a:t>
                      </a:r>
                      <a:endParaRPr kumimoji="0"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.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포털화면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구성 개발 화면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차 리뷰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(2/18)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하여 시뮬레이터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학습화면 등 하위 화면 구성하여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차 오픈 전 단위 기능 테스트 및 안정화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차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(3/28),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사용자 편의성 개선을 위한 과제 통합 화면 개발 완료하여 통합 테스트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(5/23)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화면 정의서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차 리뷰하였으며 사용자 편의성 개선을 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  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위한 데이터 간편 다운로드 기능 및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Github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소스 관리 현황 추가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(5/23)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되었으며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사용자 매뉴얼 및 가이드 영상 제작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(5/28)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 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▶개발 진척도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 -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 </a:t>
                      </a:r>
                      <a:r>
                        <a:rPr lang="ko-KR" altLang="en-US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진척률은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100%(122/122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건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로 개발 완료하여 시스템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Open(5/29)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하였습니다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.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36000" marR="14400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’25.6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ctr" defTabSz="914400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72000" marB="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신종권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  <a:p>
                      <a:pPr lvl="0" algn="ctr">
                        <a:lnSpc>
                          <a:spcPct val="95000"/>
                        </a:lnSpc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이재후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36000" marR="14400" marT="72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09692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38EA8266-2C88-4571-8D29-F9481F1BFA53}"/>
              </a:ext>
            </a:extLst>
          </p:cNvPr>
          <p:cNvSpPr txBox="1"/>
          <p:nvPr/>
        </p:nvSpPr>
        <p:spPr>
          <a:xfrm>
            <a:off x="42057" y="116974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미래기술</a:t>
            </a:r>
          </a:p>
        </p:txBody>
      </p:sp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085D6399-E64D-428A-910E-33448F03B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915696"/>
              </p:ext>
            </p:extLst>
          </p:nvPr>
        </p:nvGraphicFramePr>
        <p:xfrm>
          <a:off x="1385669" y="3524408"/>
          <a:ext cx="8084256" cy="3005007"/>
        </p:xfrm>
        <a:graphic>
          <a:graphicData uri="http://schemas.openxmlformats.org/drawingml/2006/table">
            <a:tbl>
              <a:tblPr/>
              <a:tblGrid>
                <a:gridCol w="1065998">
                  <a:extLst>
                    <a:ext uri="{9D8B030D-6E8A-4147-A177-3AD203B41FA5}">
                      <a16:colId xmlns:a16="http://schemas.microsoft.com/office/drawing/2014/main" val="3387855720"/>
                    </a:ext>
                  </a:extLst>
                </a:gridCol>
                <a:gridCol w="1858622">
                  <a:extLst>
                    <a:ext uri="{9D8B030D-6E8A-4147-A177-3AD203B41FA5}">
                      <a16:colId xmlns:a16="http://schemas.microsoft.com/office/drawing/2014/main" val="471377889"/>
                    </a:ext>
                  </a:extLst>
                </a:gridCol>
                <a:gridCol w="483204">
                  <a:extLst>
                    <a:ext uri="{9D8B030D-6E8A-4147-A177-3AD203B41FA5}">
                      <a16:colId xmlns:a16="http://schemas.microsoft.com/office/drawing/2014/main" val="451387239"/>
                    </a:ext>
                  </a:extLst>
                </a:gridCol>
                <a:gridCol w="457779">
                  <a:extLst>
                    <a:ext uri="{9D8B030D-6E8A-4147-A177-3AD203B41FA5}">
                      <a16:colId xmlns:a16="http://schemas.microsoft.com/office/drawing/2014/main" val="1640271233"/>
                    </a:ext>
                  </a:extLst>
                </a:gridCol>
                <a:gridCol w="394191">
                  <a:extLst>
                    <a:ext uri="{9D8B030D-6E8A-4147-A177-3AD203B41FA5}">
                      <a16:colId xmlns:a16="http://schemas.microsoft.com/office/drawing/2014/main" val="2563585760"/>
                    </a:ext>
                  </a:extLst>
                </a:gridCol>
                <a:gridCol w="373028">
                  <a:extLst>
                    <a:ext uri="{9D8B030D-6E8A-4147-A177-3AD203B41FA5}">
                      <a16:colId xmlns:a16="http://schemas.microsoft.com/office/drawing/2014/main" val="563294329"/>
                    </a:ext>
                  </a:extLst>
                </a:gridCol>
                <a:gridCol w="389929">
                  <a:extLst>
                    <a:ext uri="{9D8B030D-6E8A-4147-A177-3AD203B41FA5}">
                      <a16:colId xmlns:a16="http://schemas.microsoft.com/office/drawing/2014/main" val="688887703"/>
                    </a:ext>
                  </a:extLst>
                </a:gridCol>
                <a:gridCol w="3061505">
                  <a:extLst>
                    <a:ext uri="{9D8B030D-6E8A-4147-A177-3AD203B41FA5}">
                      <a16:colId xmlns:a16="http://schemas.microsoft.com/office/drawing/2014/main" val="1911060403"/>
                    </a:ext>
                  </a:extLst>
                </a:gridCol>
              </a:tblGrid>
              <a:tr h="49311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기능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일정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대상</a:t>
                      </a:r>
                      <a:b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모수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실적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달성율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 진척 사항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806896"/>
                  </a:ext>
                </a:extLst>
              </a:tr>
              <a:tr h="158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상세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설계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완료</a:t>
                      </a:r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033102"/>
                  </a:ext>
                </a:extLst>
              </a:tr>
              <a:tr h="2786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1)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데이터 수집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파이프라인 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구축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(APC, FDC)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User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Database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구축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APC Raw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수집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파이프라인 구축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데이터 수집 파이프라인구축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완료</a:t>
                      </a:r>
                      <a:endParaRPr lang="en-US" altLang="ko-KR" sz="9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(12/30)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</a:t>
                      </a:r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차</a:t>
                      </a:r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APC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(3/28)</a:t>
                      </a:r>
                    </a:p>
                    <a:p>
                      <a:pPr algn="ctr" fontAlgn="ctr">
                        <a:lnSpc>
                          <a:spcPct val="50000"/>
                        </a:lnSpc>
                      </a:pPr>
                      <a:endParaRPr lang="en-US" altLang="ko-KR" sz="9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2</a:t>
                      </a:r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차</a:t>
                      </a:r>
                      <a:endParaRPr lang="en-US" altLang="ko-KR" sz="9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(5/29)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52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52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APC summary/MMD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데이터 수집 파이프라인 구축 완료</a:t>
                      </a: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(3/14)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APC </a:t>
                      </a:r>
                      <a:r>
                        <a:rPr lang="ko-KR" altLang="en-US" sz="900" b="0" u="none" strike="noStrike" kern="120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코터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Raw 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데이터 수집 파이프라인 구축 완료</a:t>
                      </a: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(3/28)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  . 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잔여 공정 순차적으로 수집 파이프라인 테스트 진행 완료</a:t>
                      </a: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(5/14)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  : ESWA APC 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패치 일정</a:t>
                      </a: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(5/14)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에 따라 수집 일정 변동</a:t>
                      </a:r>
                      <a:endParaRPr lang="en-US" altLang="ko-KR" sz="900" b="0" u="none" strike="noStrike" kern="1200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  <a:cs typeface="Malgun Gothic Semilight" panose="020B0502040204020203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APC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Raw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data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ko-KR" altLang="en-US" sz="900" b="0" u="none" strike="noStrike" kern="1200" err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전공정</a:t>
                      </a:r>
                      <a:r>
                        <a:rPr lang="ko-KR" altLang="en-US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데이터 수집 </a:t>
                      </a:r>
                      <a:r>
                        <a:rPr lang="en-US" altLang="ko-KR" sz="9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(5/15~)</a:t>
                      </a:r>
                    </a:p>
                  </a:txBody>
                  <a:tcPr marL="5989" marR="5989" marT="598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20207"/>
                  </a:ext>
                </a:extLst>
              </a:tr>
              <a:tr h="4169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2)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/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검증 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환경 구축  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MLDL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3.0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구성 및 커스터마이징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개발환경 구축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마이그레이션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)</a:t>
                      </a: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테스트 환경 구축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완료</a:t>
                      </a:r>
                      <a:endParaRPr lang="en-US" altLang="ko-KR" sz="9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(12/30)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</a:t>
                      </a:r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차</a:t>
                      </a:r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APC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(3/28)</a:t>
                      </a:r>
                    </a:p>
                    <a:p>
                      <a:pPr algn="ctr" fontAlgn="ctr">
                        <a:lnSpc>
                          <a:spcPct val="50000"/>
                        </a:lnSpc>
                      </a:pPr>
                      <a:endParaRPr lang="en-US" altLang="ko-KR" sz="9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2</a:t>
                      </a:r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차</a:t>
                      </a:r>
                      <a:endParaRPr lang="en-US" altLang="ko-KR" sz="9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(5/29)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- 1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차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Open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완료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(3/31)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및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자동보정 대상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Open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설명회 완료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(4/2)</a:t>
                      </a:r>
                      <a:endParaRPr kumimoji="0" lang="en-US" altLang="ko-KR" sz="9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자동보정 엔지니어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MLDL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검증 기능 테스트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(5/21~)</a:t>
                      </a: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사용자 매뉴얼 및 튜토리얼 영상 제작 완료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(5/28)</a:t>
                      </a: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자동보정 대상 정식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Open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설명회 진행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(5/29) </a:t>
                      </a:r>
                    </a:p>
                  </a:txBody>
                  <a:tcPr marL="5989" marR="5989" marT="598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995749"/>
                  </a:ext>
                </a:extLst>
              </a:tr>
              <a:tr h="2325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3)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배포기능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모델 배포 기능 개발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중계서버 포탈 구성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완료</a:t>
                      </a:r>
                      <a:endParaRPr lang="en-US" altLang="ko-KR" sz="9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(12/30)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5/29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파이썬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실행파일 빌드를 위한 파이프라인 개발 완료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(4/25)</a:t>
                      </a:r>
                      <a:b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</a:b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중계서버 대신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APC Test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서버 활용 배포 방식 개발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(5/28)</a:t>
                      </a: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배포시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APC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직접 호출방식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API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개발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(~6/10)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   . APC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패치 일정에 맞춰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API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적용 예정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/>
                          <a:cs typeface="Malgun Gothic Semilight" panose="020B0502040204020203" pitchFamily="50" charset="-127"/>
                        </a:rPr>
                        <a:t>(6/30)</a:t>
                      </a:r>
                    </a:p>
                  </a:txBody>
                  <a:tcPr marL="5989" marR="5989" marT="598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93889"/>
                  </a:ext>
                </a:extLst>
              </a:tr>
              <a:tr h="1864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4)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화면 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UI</a:t>
                      </a:r>
                      <a:b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</a:b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 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개발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표준 환경 구성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MLDL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3.0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관리화면 연동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관리포탈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화면 개발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완료</a:t>
                      </a:r>
                      <a:endParaRPr lang="en-US" altLang="ko-KR" sz="900" b="0" i="0" u="none" strike="noStrike" kern="12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(12/30)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5/29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검증 결과 트렌드 모니터링 기능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차 개발 완료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(4/18)</a:t>
                      </a: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 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.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모니터링 화면 편의성 개선 기능 개발 완료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(5/23)</a:t>
                      </a: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통합 검증 및 배포 화면 개발 완료 및 테스트 완료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(5/23)</a:t>
                      </a:r>
                    </a:p>
                    <a:p>
                      <a:pPr marL="0" indent="0" algn="l" rtl="0" fontAlgn="ctr">
                        <a:buFontTx/>
                        <a:buNone/>
                      </a:pP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- </a:t>
                      </a:r>
                      <a:r>
                        <a:rPr kumimoji="0" lang="ko-KR" altLang="en-US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최종 운영 환경 </a:t>
                      </a:r>
                      <a:r>
                        <a:rPr kumimoji="0" lang="en-US" altLang="ko-KR" sz="9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Open(5/28~)</a:t>
                      </a:r>
                    </a:p>
                  </a:txBody>
                  <a:tcPr marL="5989" marR="5989" marT="598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39613"/>
                  </a:ext>
                </a:extLst>
              </a:tr>
              <a:tr h="49311"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합계　</a:t>
                      </a:r>
                    </a:p>
                  </a:txBody>
                  <a:tcPr marL="9525" marR="9525" marT="9525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>
                        <a:solidFill>
                          <a:srgbClr val="0000FF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kern="1200">
                        <a:solidFill>
                          <a:srgbClr val="0000FF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kern="1200">
                        <a:solidFill>
                          <a:srgbClr val="0000FF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122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122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fontAlgn="ctr"/>
                      <a:endParaRPr lang="en-US" altLang="ko-KR" sz="9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Malgun Gothic Semilight" panose="020B0502040204020203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59918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5884801-78E5-49D7-A982-DA7689B56453}"/>
              </a:ext>
            </a:extLst>
          </p:cNvPr>
          <p:cNvSpPr txBox="1"/>
          <p:nvPr/>
        </p:nvSpPr>
        <p:spPr>
          <a:xfrm>
            <a:off x="6183203" y="566564"/>
            <a:ext cx="2244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[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과제번호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기획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-#3,  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진행 상태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●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] 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A69B7-7EF7-449A-97DA-F497C064791D}"/>
              </a:ext>
            </a:extLst>
          </p:cNvPr>
          <p:cNvSpPr txBox="1"/>
          <p:nvPr/>
        </p:nvSpPr>
        <p:spPr>
          <a:xfrm>
            <a:off x="859" y="1855868"/>
            <a:ext cx="1098268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전주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‘25.6.18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금주 정기</a:t>
            </a:r>
            <a:b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</a:b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리뷰 일자 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/>
                <a:ea typeface="LG스마트체 Regular"/>
                <a:cs typeface="+mn-cs"/>
              </a:rPr>
              <a:t>: ‘25.7.2</a:t>
            </a:r>
            <a:endParaRPr kumimoji="0" lang="ko-KR" altLang="en-US" sz="9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"/>
              <a:ea typeface="LG스마트체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979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092837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(W26)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서초</a:t>
                      </a:r>
                      <a:b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이동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W26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특이사항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서초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R&amp;D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캠퍼스 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좌석 부여 받아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FDC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자동보정선행개발팀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 배부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과천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오창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전 인원 다 착석 가능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서초 이동 후 앉을 개인 좌석번호 지정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서초 이동 후 바로 무선랜 사용 가능하도록 개인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번호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IP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주소 조사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기존 과천 인원은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6/9(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 서초 이동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추가 이동자는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6/16(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 이동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~’25.06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6085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Layout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6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/25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pic>
        <p:nvPicPr>
          <p:cNvPr id="1026" name="Picture 2" descr="B53004FEA462@lgensol">
            <a:extLst>
              <a:ext uri="{FF2B5EF4-FFF2-40B4-BE49-F238E27FC236}">
                <a16:creationId xmlns:a16="http://schemas.microsoft.com/office/drawing/2014/main" id="{D046C429-AA88-448E-94D2-F0C73E511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218" y="2480544"/>
            <a:ext cx="6018183" cy="3785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1898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581980"/>
              </p:ext>
            </p:extLst>
          </p:nvPr>
        </p:nvGraphicFramePr>
        <p:xfrm>
          <a:off x="125047" y="866774"/>
          <a:ext cx="9644176" cy="5732433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5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(W21)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98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GenAI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활용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기술 검토 및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교육 계획 수립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(W21)</a:t>
                      </a: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핵심내용은 </a:t>
                      </a:r>
                      <a:r>
                        <a:rPr lang="en-US" altLang="ko-KR" sz="1000" b="0" baseline="0" err="1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GenAI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플랫폼 활용을 위해 자사 </a:t>
                      </a:r>
                      <a:r>
                        <a:rPr lang="en-US" altLang="ko-KR" sz="1000" b="0" baseline="0" err="1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GenAI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플랫폼 교육 계획 수립 진행 중인 사항 입니다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▶배경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: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제조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DX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부문 업무에 </a:t>
                      </a:r>
                      <a:r>
                        <a:rPr lang="en-US" altLang="ko-KR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GenAI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활용을 위해 자사 </a:t>
                      </a:r>
                      <a:r>
                        <a:rPr lang="en-US" altLang="ko-KR" sz="1000" b="0" i="0" u="none" strike="noStrike" baseline="0" noProof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GenAI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플랫폼 교육 계획 수립 및 활용 기술 검토 진행 중 입니다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.</a:t>
                      </a:r>
                    </a:p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▶진행사항 </a:t>
                      </a:r>
                      <a:r>
                        <a:rPr lang="en-US" altLang="ko-KR" sz="10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Malgun Gothic Semilight" panose="020B0502040204020203" pitchFamily="50" charset="-127"/>
                        </a:rPr>
                        <a:t>: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자사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GenAI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플랫폼 활용 교육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GenAI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솔루션팀과 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 구성원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GenAI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플랫폼 활용 교육 계획 중 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우선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5/13~14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“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나만의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챗봇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만들기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”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실습 교육이 예정되어 있어 선행인원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18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솔루션담당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기획팀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선정하여 교육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진행하고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피드백 및 보완하여 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 전체 구성원 대상 교육 일정 수립할 예정 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~’25.06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심민규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1702389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미래기술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0" lang="en-US" altLang="ko-KR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GenAI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 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활용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5/14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 15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844501" y="403273"/>
            <a:ext cx="846386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심민규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D384D21-E0C3-4CAF-A162-F63F87AE0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417799"/>
              </p:ext>
            </p:extLst>
          </p:nvPr>
        </p:nvGraphicFramePr>
        <p:xfrm>
          <a:off x="4090850" y="2701950"/>
          <a:ext cx="2671232" cy="1104441"/>
        </p:xfrm>
        <a:graphic>
          <a:graphicData uri="http://schemas.openxmlformats.org/drawingml/2006/table">
            <a:tbl>
              <a:tblPr/>
              <a:tblGrid>
                <a:gridCol w="1144357">
                  <a:extLst>
                    <a:ext uri="{9D8B030D-6E8A-4147-A177-3AD203B41FA5}">
                      <a16:colId xmlns:a16="http://schemas.microsoft.com/office/drawing/2014/main" val="3172510976"/>
                    </a:ext>
                  </a:extLst>
                </a:gridCol>
                <a:gridCol w="1526875">
                  <a:extLst>
                    <a:ext uri="{9D8B030D-6E8A-4147-A177-3AD203B41FA5}">
                      <a16:colId xmlns:a16="http://schemas.microsoft.com/office/drawing/2014/main" val="2183699151"/>
                    </a:ext>
                  </a:extLst>
                </a:gridCol>
              </a:tblGrid>
              <a:tr h="157777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소속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914918"/>
                  </a:ext>
                </a:extLst>
              </a:tr>
              <a:tr h="631109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제조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솔루션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(12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한기덕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박수완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김도원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김지원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이성규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이희원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algn="ctr" fontAlgn="b"/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임성묵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조은지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김종우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최재호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정재호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안태규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305440"/>
                  </a:ext>
                </a:extLst>
              </a:tr>
              <a:tr h="315555"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기획팀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(6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명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="0" i="0" u="none" strike="noStrike">
                        <a:solidFill>
                          <a:schemeClr val="tx1"/>
                        </a:solidFill>
                        <a:effectLst/>
                        <a:latin typeface="+mj-lt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박종석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심민규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신종권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</a:t>
                      </a:r>
                    </a:p>
                    <a:p>
                      <a:pPr algn="ctr" fontAlgn="b"/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이재후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최수정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  <a:ea typeface="LG스마트체 Regular" panose="020B0600000101010101" pitchFamily="50" charset="-127"/>
                        </a:rPr>
                        <a:t>이정연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370963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CA36F810-56D2-42C0-BF08-3680DE63565F}"/>
              </a:ext>
            </a:extLst>
          </p:cNvPr>
          <p:cNvSpPr/>
          <p:nvPr/>
        </p:nvSpPr>
        <p:spPr>
          <a:xfrm>
            <a:off x="1811045" y="2455729"/>
            <a:ext cx="121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■ </a:t>
            </a:r>
            <a:r>
              <a:rPr lang="ko-KR" altLang="en-US" sz="1000" err="1">
                <a:latin typeface="+mj-lt"/>
                <a:ea typeface="LG스마트체 Regular" panose="020B0600000101010101" pitchFamily="50" charset="-127"/>
              </a:rPr>
              <a:t>교육명</a:t>
            </a:r>
            <a:endParaRPr lang="en-US" altLang="ko-KR" sz="1000">
              <a:latin typeface="+mj-lt"/>
              <a:ea typeface="LG스마트체 Regular" panose="020B0600000101010101" pitchFamily="50" charset="-127"/>
            </a:endParaRPr>
          </a:p>
          <a:p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나만의 </a:t>
            </a:r>
            <a:r>
              <a:rPr lang="ko-KR" altLang="en-US" sz="1000" err="1">
                <a:latin typeface="+mj-lt"/>
                <a:ea typeface="LG스마트체 Regular" panose="020B0600000101010101" pitchFamily="50" charset="-127"/>
              </a:rPr>
              <a:t>챗봇</a:t>
            </a:r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 만들기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689E3C-28DB-4F34-BDA4-89D1098529EB}"/>
              </a:ext>
            </a:extLst>
          </p:cNvPr>
          <p:cNvSpPr/>
          <p:nvPr/>
        </p:nvSpPr>
        <p:spPr>
          <a:xfrm>
            <a:off x="4013216" y="2455729"/>
            <a:ext cx="6735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■ 참석자</a:t>
            </a:r>
            <a:endParaRPr lang="en-US" altLang="ko-KR" sz="1000">
              <a:latin typeface="+mj-lt"/>
              <a:ea typeface="LG스마트체 Regular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B9079E-58AC-46F2-BB61-56310FB453E7}"/>
              </a:ext>
            </a:extLst>
          </p:cNvPr>
          <p:cNvSpPr/>
          <p:nvPr/>
        </p:nvSpPr>
        <p:spPr>
          <a:xfrm>
            <a:off x="1811045" y="3150063"/>
            <a:ext cx="185178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■ 교육 내용</a:t>
            </a:r>
            <a:endParaRPr lang="en-US" altLang="ko-KR" sz="1000">
              <a:latin typeface="+mj-lt"/>
              <a:ea typeface="LG스마트체 Regular" panose="020B0600000101010101" pitchFamily="50" charset="-127"/>
            </a:endParaRPr>
          </a:p>
          <a:p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1. Knowledge Lake </a:t>
            </a:r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사용</a:t>
            </a:r>
            <a:endParaRPr lang="en-US" altLang="ko-KR" sz="1000">
              <a:latin typeface="+mj-lt"/>
              <a:ea typeface="LG스마트체 Regular" panose="020B0600000101010101" pitchFamily="50" charset="-127"/>
            </a:endParaRPr>
          </a:p>
          <a:p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2. </a:t>
            </a:r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파이프라인 및 </a:t>
            </a:r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RAG </a:t>
            </a:r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구축</a:t>
            </a:r>
            <a:endParaRPr lang="en-US" altLang="ko-KR" sz="1000">
              <a:latin typeface="+mj-lt"/>
              <a:ea typeface="LG스마트체 Regular" panose="020B0600000101010101" pitchFamily="50" charset="-127"/>
            </a:endParaRPr>
          </a:p>
          <a:p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3. </a:t>
            </a:r>
            <a:r>
              <a:rPr lang="en-US" altLang="ko-KR" sz="1000" err="1">
                <a:latin typeface="+mj-lt"/>
                <a:ea typeface="LG스마트체 Regular" panose="020B0600000101010101" pitchFamily="50" charset="-127"/>
              </a:rPr>
              <a:t>LangFlow</a:t>
            </a:r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생성 및 </a:t>
            </a:r>
            <a:r>
              <a:rPr lang="en-US" altLang="ko-KR" sz="1000" err="1">
                <a:latin typeface="+mj-lt"/>
                <a:ea typeface="LG스마트체 Regular" panose="020B0600000101010101" pitchFamily="50" charset="-127"/>
              </a:rPr>
              <a:t>Streamlit</a:t>
            </a:r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배포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F2221D-1CE6-4FD2-AB69-A40BB120F50C}"/>
              </a:ext>
            </a:extLst>
          </p:cNvPr>
          <p:cNvSpPr/>
          <p:nvPr/>
        </p:nvSpPr>
        <p:spPr>
          <a:xfrm>
            <a:off x="1811045" y="2802896"/>
            <a:ext cx="14398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■ 일정</a:t>
            </a:r>
            <a:endParaRPr lang="en-US" altLang="ko-KR" sz="1000">
              <a:latin typeface="+mj-lt"/>
              <a:ea typeface="LG스마트체 Regular" panose="020B0600000101010101" pitchFamily="50" charset="-127"/>
            </a:endParaRPr>
          </a:p>
          <a:p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- 5/13~14(1</a:t>
            </a:r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일 </a:t>
            </a:r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3</a:t>
            </a:r>
            <a:r>
              <a:rPr lang="ko-KR" altLang="en-US" sz="1000">
                <a:latin typeface="+mj-lt"/>
                <a:ea typeface="LG스마트체 Regular" panose="020B0600000101010101" pitchFamily="50" charset="-127"/>
              </a:rPr>
              <a:t>시간 교육</a:t>
            </a:r>
            <a:r>
              <a:rPr lang="en-US" altLang="ko-KR" sz="1000">
                <a:latin typeface="+mj-lt"/>
                <a:ea typeface="LG스마트체 Regular" panose="020B0600000101010101" pitchFamily="50" charset="-127"/>
              </a:rPr>
              <a:t>)</a:t>
            </a:r>
            <a:endParaRPr lang="ko-KR" altLang="en-US" sz="1000">
              <a:latin typeface="+mj-lt"/>
              <a:ea typeface="LG스마트체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80C2565-E008-4661-85BF-0FE8F160D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187" y="3894408"/>
            <a:ext cx="7675713" cy="286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46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33322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(W20)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AZ 2170</a:t>
                      </a:r>
                    </a:p>
                    <a:p>
                      <a:pPr lvl="0" algn="ctr">
                        <a:buNone/>
                      </a:pP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원통형 </a:t>
                      </a: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증설 </a:t>
                      </a: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</a:t>
                      </a:r>
                      <a:endParaRPr lang="en-US" altLang="ko-KR" sz="9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AZ 2170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(W20)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AZ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46xx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라인이 기존에 전극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(130ppm) 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라인으로 검토되었으나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생산속도를 향상하여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(130ppm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→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200ppm)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재검토하면서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기존 생산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Capa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가 충족됨에 따라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46xx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조립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라인을 제외하고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2170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라인을 추가 증설하는 건입니다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또한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2170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공급 시점이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46xx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공급 시점보다 빨라서 기존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AZ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코터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롤프레스를 개조하여 전극을 우선 공급 한 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’28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년부터 타 법인에서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전극을 공급받아 생산하는 일정으로 진행 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 공급 법인에 대해서는 확정되지 않았습니다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AZ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2170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증설 투자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(S/L ~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AZ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에서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’27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년까지 전극 공급 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’28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년부터 타 법인에서 전극 공급 예정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미정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’26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3Q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양산 목표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투자비 해당 기술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12/17 AZ 2170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투자를 위한 유관부서와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Kick off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미팅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1/2 AZ 2170 LOB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배포 및 세부 일정 공유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endParaRPr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1/13 UT Matrix/Packing List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1/20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 투자비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endParaRPr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2/27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–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 관련 피드백 사항 없음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3/24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차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생산센터 투자심의 일정 미정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3. LOB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세부사항 파악 및 설비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LOB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입수 후 각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UT Matrix/Packing List/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투자비 요청 완료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UT Matrix/Packing list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제출 완료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(1/13) 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셀추적의 경우 소형 전지 셀추적은 원통형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조립설비기술팀에서 주관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투자비 제출 완료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(1/17) ※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소형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투자비는 원통형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조립설비기술팀 주관 </a:t>
                      </a:r>
                      <a:b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</a:b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※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잉크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마킹기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→ 레이저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마킹기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변경으로 인한 투자비 변경 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(2/27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보고 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~‘25.04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4/16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CC41318-72BC-4228-8FCB-B5BAEBBD6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453621"/>
              </p:ext>
            </p:extLst>
          </p:nvPr>
        </p:nvGraphicFramePr>
        <p:xfrm>
          <a:off x="1745027" y="4469690"/>
          <a:ext cx="4775041" cy="8183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7119">
                  <a:extLst>
                    <a:ext uri="{9D8B030D-6E8A-4147-A177-3AD203B41FA5}">
                      <a16:colId xmlns:a16="http://schemas.microsoft.com/office/drawing/2014/main" val="2799915607"/>
                    </a:ext>
                  </a:extLst>
                </a:gridCol>
                <a:gridCol w="597119">
                  <a:extLst>
                    <a:ext uri="{9D8B030D-6E8A-4147-A177-3AD203B41FA5}">
                      <a16:colId xmlns:a16="http://schemas.microsoft.com/office/drawing/2014/main" val="1309406052"/>
                    </a:ext>
                  </a:extLst>
                </a:gridCol>
                <a:gridCol w="595208">
                  <a:extLst>
                    <a:ext uri="{9D8B030D-6E8A-4147-A177-3AD203B41FA5}">
                      <a16:colId xmlns:a16="http://schemas.microsoft.com/office/drawing/2014/main" val="4142115836"/>
                    </a:ext>
                  </a:extLst>
                </a:gridCol>
                <a:gridCol w="597119">
                  <a:extLst>
                    <a:ext uri="{9D8B030D-6E8A-4147-A177-3AD203B41FA5}">
                      <a16:colId xmlns:a16="http://schemas.microsoft.com/office/drawing/2014/main" val="3675451204"/>
                    </a:ext>
                  </a:extLst>
                </a:gridCol>
                <a:gridCol w="597119">
                  <a:extLst>
                    <a:ext uri="{9D8B030D-6E8A-4147-A177-3AD203B41FA5}">
                      <a16:colId xmlns:a16="http://schemas.microsoft.com/office/drawing/2014/main" val="3298562779"/>
                    </a:ext>
                  </a:extLst>
                </a:gridCol>
                <a:gridCol w="597119">
                  <a:extLst>
                    <a:ext uri="{9D8B030D-6E8A-4147-A177-3AD203B41FA5}">
                      <a16:colId xmlns:a16="http://schemas.microsoft.com/office/drawing/2014/main" val="2997481314"/>
                    </a:ext>
                  </a:extLst>
                </a:gridCol>
                <a:gridCol w="597119">
                  <a:extLst>
                    <a:ext uri="{9D8B030D-6E8A-4147-A177-3AD203B41FA5}">
                      <a16:colId xmlns:a16="http://schemas.microsoft.com/office/drawing/2014/main" val="3327521397"/>
                    </a:ext>
                  </a:extLst>
                </a:gridCol>
                <a:gridCol w="597119">
                  <a:extLst>
                    <a:ext uri="{9D8B030D-6E8A-4147-A177-3AD203B41FA5}">
                      <a16:colId xmlns:a16="http://schemas.microsoft.com/office/drawing/2014/main" val="16720418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코터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롤프레스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테이핑기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재와인딩기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R2R </a:t>
                      </a:r>
                      <a:r>
                        <a:rPr lang="ko-KR" sz="800" kern="10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슬리터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와인더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조립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216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대수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4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4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18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55202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비고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양</a:t>
                      </a: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</a:t>
                      </a: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음</a:t>
                      </a: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양</a:t>
                      </a: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음</a:t>
                      </a: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양극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양</a:t>
                      </a: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</a:t>
                      </a: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음</a:t>
                      </a: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양</a:t>
                      </a: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음</a:t>
                      </a: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11, 12</a:t>
                      </a: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호 재활용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78155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ko-KR" sz="1000" kern="10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개조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개조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신작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신작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S/L </a:t>
                      </a: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재활용</a:t>
                      </a: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 </a:t>
                      </a:r>
                      <a:b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</a:b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R2R </a:t>
                      </a: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신작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r>
                        <a:rPr lang="ko-KR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대 신작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233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4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4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18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ko-KR" sz="800" kern="1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24644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9797207-9AF2-4412-934F-783069005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724957"/>
              </p:ext>
            </p:extLst>
          </p:nvPr>
        </p:nvGraphicFramePr>
        <p:xfrm>
          <a:off x="6988282" y="4294507"/>
          <a:ext cx="1438158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715">
                  <a:extLst>
                    <a:ext uri="{9D8B030D-6E8A-4147-A177-3AD203B41FA5}">
                      <a16:colId xmlns:a16="http://schemas.microsoft.com/office/drawing/2014/main" val="238214299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75184489"/>
                    </a:ext>
                  </a:extLst>
                </a:gridCol>
                <a:gridCol w="307715">
                  <a:extLst>
                    <a:ext uri="{9D8B030D-6E8A-4147-A177-3AD203B41FA5}">
                      <a16:colId xmlns:a16="http://schemas.microsoft.com/office/drawing/2014/main" val="2071123615"/>
                    </a:ext>
                  </a:extLst>
                </a:gridCol>
                <a:gridCol w="354728">
                  <a:extLst>
                    <a:ext uri="{9D8B030D-6E8A-4147-A177-3AD203B41FA5}">
                      <a16:colId xmlns:a16="http://schemas.microsoft.com/office/drawing/2014/main" val="2485907872"/>
                    </a:ext>
                  </a:extLst>
                </a:gridCol>
              </a:tblGrid>
              <a:tr h="2081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err="1">
                          <a:effectLst/>
                          <a:latin typeface="Arial Narrow" panose="020B0606020202030204" pitchFamily="34" charset="0"/>
                          <a:ea typeface="+mn-ea"/>
                        </a:rPr>
                        <a:t>기술명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공정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대수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투자비</a:t>
                      </a:r>
                      <a:br>
                        <a:rPr lang="ko-KR" altLang="en-US" sz="800" b="1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</a:br>
                      <a:r>
                        <a:rPr lang="en-US" altLang="ko-KR" sz="800" b="1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(</a:t>
                      </a:r>
                      <a:r>
                        <a:rPr lang="ko-KR" altLang="en-US" sz="800" b="1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억원</a:t>
                      </a:r>
                      <a:r>
                        <a:rPr lang="en-US" altLang="ko-KR" sz="800" b="1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23702"/>
                  </a:ext>
                </a:extLst>
              </a:tr>
              <a:tr h="10408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롤맵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코터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2.5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669406"/>
                  </a:ext>
                </a:extLst>
              </a:tr>
              <a:tr h="104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테이핑기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2.3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885405"/>
                  </a:ext>
                </a:extLst>
              </a:tr>
              <a:tr h="104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err="1">
                          <a:effectLst/>
                          <a:latin typeface="Arial Narrow" panose="020B0606020202030204" pitchFamily="34" charset="0"/>
                          <a:ea typeface="+mn-ea"/>
                        </a:rPr>
                        <a:t>재와인딩기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2.3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008474"/>
                  </a:ext>
                </a:extLst>
              </a:tr>
              <a:tr h="104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슬리터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4.5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883099"/>
                  </a:ext>
                </a:extLst>
              </a:tr>
              <a:tr h="104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와인더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18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15.7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14394"/>
                  </a:ext>
                </a:extLst>
              </a:tr>
              <a:tr h="10408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자동</a:t>
                      </a:r>
                      <a:endParaRPr lang="en-US" altLang="ko-KR" sz="800" u="none" strike="noStrike"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보정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롤프레스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0.2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053191"/>
                  </a:ext>
                </a:extLst>
              </a:tr>
              <a:tr h="1040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와인더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18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0.2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255835"/>
                  </a:ext>
                </a:extLst>
              </a:tr>
              <a:tr h="104082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Total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  <a:latin typeface="Arial Narrow" panose="020B0606020202030204" pitchFamily="34" charset="0"/>
                          <a:ea typeface="+mn-ea"/>
                        </a:rPr>
                        <a:t>27.7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6687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E9A7BAC-9C02-49D2-AC4D-F081FEB0FE2B}"/>
              </a:ext>
            </a:extLst>
          </p:cNvPr>
          <p:cNvSpPr txBox="1"/>
          <p:nvPr/>
        </p:nvSpPr>
        <p:spPr>
          <a:xfrm>
            <a:off x="6878953" y="4055166"/>
            <a:ext cx="12089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■ </a:t>
            </a:r>
            <a:r>
              <a:rPr lang="ko-KR" altLang="en-US" sz="1100"/>
              <a:t>투자비 내역</a:t>
            </a:r>
          </a:p>
        </p:txBody>
      </p:sp>
    </p:spTree>
    <p:extLst>
      <p:ext uri="{BB962C8B-B14F-4D97-AF65-F5344CB8AC3E}">
        <p14:creationId xmlns:p14="http://schemas.microsoft.com/office/powerpoint/2010/main" val="3788036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120026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북미 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Tesla</a:t>
                      </a:r>
                    </a:p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ESS 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각형</a:t>
                      </a:r>
                      <a:endParaRPr lang="en-US" altLang="ko-KR" sz="9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투자비 검토</a:t>
                      </a:r>
                      <a:endParaRPr lang="en-US" altLang="ko-KR" sz="9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MI </a:t>
                      </a:r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랜싱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(W19)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 특이사항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 ※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보안 유지 필수 항목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Tesla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측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ESS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수요로 인해 각형 투자비 검토하는 건입니다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미확정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필요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Capa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및 사이트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총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30GWh /  MI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랜싱으로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검토 중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셀사양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LFP, 174x207x67.3, 150+1Stack (Top Terminal)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Tesla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투자비 관련 미팅에서 공유 받은 내용으로 투자비 절감을 위해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Multi DNC/STK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를 검토하고 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Multi DNC/STK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Top Terminal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에만 적용 가능 공정으로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Tesla/GM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향 제품에 적용 검토 중입니다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Multi STK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25.07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에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오창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각형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Top Terminal pilot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라인에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 입고하여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TEST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예정이며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Multi DNC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는 당사 라인에 입고하지 않고 설비업체에서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TEST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8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월까지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Multi DNC/STK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TEST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결과를 보고 발주 여부 결정 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해당 설비의 주관부서는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파우치선행기술팀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백주환팀장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Single DNC/Multi STK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적용으로 투자비 산출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2/12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가투자비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–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2/20 Multi DNC/STK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변경사항 반영한 상세 투자비 제출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3/18 LOB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변경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3/19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가투자비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–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4/7 UT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Matrix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–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4/14 </a:t>
                      </a:r>
                      <a:r>
                        <a:rPr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Pakcing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List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4/16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법투위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자료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4/22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담당급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리뷰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4/29 CPO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님 리뷰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~‘25.05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4/16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A7E1700-B4CD-4B50-BCB0-128622FCA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652798"/>
              </p:ext>
            </p:extLst>
          </p:nvPr>
        </p:nvGraphicFramePr>
        <p:xfrm>
          <a:off x="4476652" y="3909059"/>
          <a:ext cx="2522370" cy="655817"/>
        </p:xfrm>
        <a:graphic>
          <a:graphicData uri="http://schemas.openxmlformats.org/drawingml/2006/table">
            <a:tbl>
              <a:tblPr/>
              <a:tblGrid>
                <a:gridCol w="504474">
                  <a:extLst>
                    <a:ext uri="{9D8B030D-6E8A-4147-A177-3AD203B41FA5}">
                      <a16:colId xmlns:a16="http://schemas.microsoft.com/office/drawing/2014/main" val="2551687979"/>
                    </a:ext>
                  </a:extLst>
                </a:gridCol>
                <a:gridCol w="504474">
                  <a:extLst>
                    <a:ext uri="{9D8B030D-6E8A-4147-A177-3AD203B41FA5}">
                      <a16:colId xmlns:a16="http://schemas.microsoft.com/office/drawing/2014/main" val="1895718038"/>
                    </a:ext>
                  </a:extLst>
                </a:gridCol>
                <a:gridCol w="504474">
                  <a:extLst>
                    <a:ext uri="{9D8B030D-6E8A-4147-A177-3AD203B41FA5}">
                      <a16:colId xmlns:a16="http://schemas.microsoft.com/office/drawing/2014/main" val="173897995"/>
                    </a:ext>
                  </a:extLst>
                </a:gridCol>
                <a:gridCol w="504474">
                  <a:extLst>
                    <a:ext uri="{9D8B030D-6E8A-4147-A177-3AD203B41FA5}">
                      <a16:colId xmlns:a16="http://schemas.microsoft.com/office/drawing/2014/main" val="4189630933"/>
                    </a:ext>
                  </a:extLst>
                </a:gridCol>
                <a:gridCol w="504474">
                  <a:extLst>
                    <a:ext uri="{9D8B030D-6E8A-4147-A177-3AD203B41FA5}">
                      <a16:colId xmlns:a16="http://schemas.microsoft.com/office/drawing/2014/main" val="689862590"/>
                    </a:ext>
                  </a:extLst>
                </a:gridCol>
              </a:tblGrid>
              <a:tr h="157728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 설비대수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756814"/>
                  </a:ext>
                </a:extLst>
              </a:tr>
              <a:tr h="31545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코터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S/L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재와인딩기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점보롤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재와인딩기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팬케익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62216"/>
                  </a:ext>
                </a:extLst>
              </a:tr>
              <a:tr h="18263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8.0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99047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7AFE60E-9CB3-4EA9-B8FC-C0B972B58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258157"/>
              </p:ext>
            </p:extLst>
          </p:nvPr>
        </p:nvGraphicFramePr>
        <p:xfrm>
          <a:off x="6999023" y="3909059"/>
          <a:ext cx="2373578" cy="655817"/>
        </p:xfrm>
        <a:graphic>
          <a:graphicData uri="http://schemas.openxmlformats.org/drawingml/2006/table">
            <a:tbl>
              <a:tblPr/>
              <a:tblGrid>
                <a:gridCol w="593903">
                  <a:extLst>
                    <a:ext uri="{9D8B030D-6E8A-4147-A177-3AD203B41FA5}">
                      <a16:colId xmlns:a16="http://schemas.microsoft.com/office/drawing/2014/main" val="912993513"/>
                    </a:ext>
                  </a:extLst>
                </a:gridCol>
                <a:gridCol w="593903">
                  <a:extLst>
                    <a:ext uri="{9D8B030D-6E8A-4147-A177-3AD203B41FA5}">
                      <a16:colId xmlns:a16="http://schemas.microsoft.com/office/drawing/2014/main" val="2051477100"/>
                    </a:ext>
                  </a:extLst>
                </a:gridCol>
                <a:gridCol w="593903">
                  <a:extLst>
                    <a:ext uri="{9D8B030D-6E8A-4147-A177-3AD203B41FA5}">
                      <a16:colId xmlns:a16="http://schemas.microsoft.com/office/drawing/2014/main" val="2859389291"/>
                    </a:ext>
                  </a:extLst>
                </a:gridCol>
                <a:gridCol w="591869">
                  <a:extLst>
                    <a:ext uri="{9D8B030D-6E8A-4147-A177-3AD203B41FA5}">
                      <a16:colId xmlns:a16="http://schemas.microsoft.com/office/drawing/2014/main" val="4281894598"/>
                    </a:ext>
                  </a:extLst>
                </a:gridCol>
              </a:tblGrid>
              <a:tr h="166427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조립 설비대수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721447228"/>
                  </a:ext>
                </a:extLst>
              </a:tr>
              <a:tr h="32079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D&amp;C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D&amp;C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AZS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Stk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PKG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514112"/>
                  </a:ext>
                </a:extLst>
              </a:tr>
              <a:tr h="16859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448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6900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206664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(W15)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IT1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동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신발장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레이아웃 개편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W15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핵심내용은 품질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담당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EP1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이사로 인해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IT1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동 신발장 레이아웃 개편 완료된 사항입니다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IT1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동 신발장 레이아웃 개편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품질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EP1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으로 이사하게 되어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IT1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동 북측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층 신발장 레이아웃 개편 진행하였습니다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품질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 이외에도 조직개편 사항 반영하여 신규 레이아웃으로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개편 진행하였으며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팀명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재배치 및 구성원 이름표 일괄 배부 완료 및 신발장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미사용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기간 동안 수거된 잔여 신발 모두 폐기처리 하였습니다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출입문 들어오는 기준 왼쪽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[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출입문 들어오는 기준 오른쪽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~’25.03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6085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Layout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362986" y="572550"/>
            <a:ext cx="1324080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4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/2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6" y="403273"/>
            <a:ext cx="923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이정연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6BA2E3-98D6-4A30-950D-1F5249172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789" y="4837023"/>
            <a:ext cx="4848714" cy="15958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D9C6F21-DB4D-467F-B923-9A62453C9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790" y="2840344"/>
            <a:ext cx="4848714" cy="170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538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2242602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KPI 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수립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(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전문위원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_</a:t>
            </a:r>
            <a:r>
              <a:rPr lang="ko-KR" altLang="en-US" sz="1400" b="1" err="1">
                <a:solidFill>
                  <a:prstClr val="black"/>
                </a:solidFill>
                <a:cs typeface="Malgun Gothic Semilight" panose="020B0502040204020203" pitchFamily="50" charset="-127"/>
              </a:rPr>
              <a:t>지용진님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)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graphicFrame>
        <p:nvGraphicFramePr>
          <p:cNvPr id="13" name="표 1">
            <a:extLst>
              <a:ext uri="{FF2B5EF4-FFF2-40B4-BE49-F238E27FC236}">
                <a16:creationId xmlns:a16="http://schemas.microsoft.com/office/drawing/2014/main" id="{646776F5-BF65-461A-9A5A-B0FB82CC4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312621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(W15)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KPI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수립</a:t>
                      </a: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(W15) 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핵심내용은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baseline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지용진님이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전문위원으로 신규 선임됨에 따라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, KPI 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리뷰가 진행되어야 합니다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 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그룹장님 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KPI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리뷰는 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3/28(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으로</a:t>
                      </a:r>
                      <a:endParaRPr lang="en-US" altLang="ko-KR" sz="1000" b="0" baseline="0">
                        <a:solidFill>
                          <a:srgbClr val="0000FF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수립하였습니다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] 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지용진님이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전문위원으로 신규 선임됨에 따라 전문위원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KPI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를 신규로 수립이 필요합니다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진척일정</a:t>
                      </a: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- 3/25 KPI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초안 수립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- 3/28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그룹장님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리뷰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- 3/31(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~ 4/9(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CDO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리뷰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- 4/10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인사팀 최종 제출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~‘25.04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66763C5-FA87-453C-88A5-6BA95ABEE119}"/>
              </a:ext>
            </a:extLst>
          </p:cNvPr>
          <p:cNvSpPr txBox="1"/>
          <p:nvPr/>
        </p:nvSpPr>
        <p:spPr>
          <a:xfrm>
            <a:off x="1630843" y="1678956"/>
            <a:ext cx="3206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100" b="1">
                <a:solidFill>
                  <a:prstClr val="black"/>
                </a:solidFill>
              </a:rPr>
              <a:t>□ 전문위원 </a:t>
            </a:r>
            <a:r>
              <a:rPr lang="en-US" altLang="ko-KR" sz="1100" b="1">
                <a:solidFill>
                  <a:prstClr val="black"/>
                </a:solidFill>
              </a:rPr>
              <a:t>KPI </a:t>
            </a:r>
            <a:r>
              <a:rPr lang="ko-KR" altLang="en-US" sz="1100" b="1">
                <a:solidFill>
                  <a:prstClr val="black"/>
                </a:solidFill>
              </a:rPr>
              <a:t>수립 진척 일정 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FB85F8C2-0BE5-4F4F-AA97-AE6491041A1F}"/>
              </a:ext>
            </a:extLst>
          </p:cNvPr>
          <p:cNvSpPr txBox="1">
            <a:spLocks/>
          </p:cNvSpPr>
          <p:nvPr/>
        </p:nvSpPr>
        <p:spPr>
          <a:xfrm>
            <a:off x="8767556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D494391-8FE4-6CAD-C14F-AE7E81E21C21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EB7FB-3324-4B10-BB2F-A1B8E4DACFB5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3/26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graphicFrame>
        <p:nvGraphicFramePr>
          <p:cNvPr id="12" name="Group 967">
            <a:extLst>
              <a:ext uri="{FF2B5EF4-FFF2-40B4-BE49-F238E27FC236}">
                <a16:creationId xmlns:a16="http://schemas.microsoft.com/office/drawing/2014/main" id="{58BB3AA3-3052-4406-861B-0AA21DCDF10E}"/>
              </a:ext>
            </a:extLst>
          </p:cNvPr>
          <p:cNvGraphicFramePr>
            <a:graphicFrameLocks noGrp="1"/>
          </p:cNvGraphicFramePr>
          <p:nvPr/>
        </p:nvGraphicFramePr>
        <p:xfrm>
          <a:off x="1745961" y="1965517"/>
          <a:ext cx="6799486" cy="1259856"/>
        </p:xfrm>
        <a:graphic>
          <a:graphicData uri="http://schemas.openxmlformats.org/drawingml/2006/table">
            <a:tbl>
              <a:tblPr/>
              <a:tblGrid>
                <a:gridCol w="341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11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576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3/4</a:t>
                      </a: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24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25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26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27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28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400561"/>
                  </a:ext>
                </a:extLst>
              </a:tr>
              <a:tr h="18157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kern="1200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[KPI 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초안 수립</a:t>
                      </a: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[</a:t>
                      </a:r>
                      <a:r>
                        <a:rPr kumimoji="1" lang="ko-KR" altLang="en-US" sz="900" b="1" i="0" u="none" strike="noStrike" kern="1200" cap="none" spc="-50" normalizeH="0" baseline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그룹장</a:t>
                      </a:r>
                      <a:r>
                        <a:rPr kumimoji="1" lang="ko-KR" altLang="en-US" sz="9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KPI </a:t>
                      </a:r>
                      <a:r>
                        <a:rPr kumimoji="1" lang="ko-KR" altLang="en-US" sz="9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리뷰</a:t>
                      </a:r>
                      <a:r>
                        <a:rPr kumimoji="1" lang="en-US" altLang="ko-KR" sz="9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]</a:t>
                      </a:r>
                      <a:endParaRPr kumimoji="1" lang="ko-KR" altLang="en-US" sz="900" b="1" i="0" u="none" strike="noStrike" kern="1200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27782"/>
                  </a:ext>
                </a:extLst>
              </a:tr>
              <a:tr h="18157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1100" b="1" i="0" u="none" strike="noStrike" cap="none" spc="-5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31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151191"/>
                  </a:ext>
                </a:extLst>
              </a:tr>
              <a:tr h="18157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1100" b="1" i="0" u="none" strike="noStrike" cap="none" spc="-5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kern="1200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[CDO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리뷰</a:t>
                      </a: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en-US" altLang="ko-KR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32971"/>
                  </a:ext>
                </a:extLst>
              </a:tr>
              <a:tr h="18157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792522"/>
                  </a:ext>
                </a:extLst>
              </a:tr>
              <a:tr h="18157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kern="1200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인사팀 최종 제출</a:t>
                      </a: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</a:t>
                      </a: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en-US" altLang="ko-KR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225944"/>
                  </a:ext>
                </a:extLst>
              </a:tr>
            </a:tbl>
          </a:graphicData>
        </a:graphic>
      </p:graphicFrame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0C634C3-DB90-4D2F-81B5-F545CE14C5FB}"/>
              </a:ext>
            </a:extLst>
          </p:cNvPr>
          <p:cNvCxnSpPr>
            <a:cxnSpLocks/>
          </p:cNvCxnSpPr>
          <p:nvPr/>
        </p:nvCxnSpPr>
        <p:spPr>
          <a:xfrm flipH="1">
            <a:off x="2159649" y="2749909"/>
            <a:ext cx="2793351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7C45CE1-967D-48E6-9674-1759326BF3D8}"/>
              </a:ext>
            </a:extLst>
          </p:cNvPr>
          <p:cNvCxnSpPr>
            <a:cxnSpLocks/>
          </p:cNvCxnSpPr>
          <p:nvPr/>
        </p:nvCxnSpPr>
        <p:spPr>
          <a:xfrm>
            <a:off x="5623034" y="2751363"/>
            <a:ext cx="2922413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8D45E9E-2C49-4266-8EB4-8AD5F4269542}"/>
              </a:ext>
            </a:extLst>
          </p:cNvPr>
          <p:cNvCxnSpPr>
            <a:cxnSpLocks/>
          </p:cNvCxnSpPr>
          <p:nvPr/>
        </p:nvCxnSpPr>
        <p:spPr>
          <a:xfrm>
            <a:off x="2159649" y="3134990"/>
            <a:ext cx="3757675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073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184983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(W12)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진급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W12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핵심내용은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’25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사원 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진급 일정 및 진행사항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- 2/3(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주간회의에서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 논의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- 2/13(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16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CDO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인재위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통해 심의 최종 확정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참석자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CDO, CDO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산하 각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Staff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인사지원팀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- 2/24(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CEO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보고 및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컨펌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완료 된 최종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진급자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List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확인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2/26(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까지 담당별로 진급 대상자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누락자 피드백 요청 완료하였으며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2/27(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오후에 결과 게시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3/1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字로 진급 변경 확인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- 1/24(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진급 추천 여부 취합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* ’25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진급 대상자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책임 진급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12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(*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전원 추천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선임 진급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32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(*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퇴사 예정자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제외 전원 추천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※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책임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진급 심의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Guide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책임 진급은 후보자 개인의 성과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·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역량과 무관하게 어떤 그룹내에서 평가 받고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진급 심의를 하는지에 따라 진급 결과가 달라지는 현상을 </a:t>
                      </a:r>
                      <a:br>
                        <a:rPr lang="en-US" altLang="ko-KR" sz="100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최소화하고자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, ’23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년부터 기존의 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T/O</a:t>
                      </a:r>
                      <a:r>
                        <a:rPr lang="ko-KR" altLang="en-US" sz="1000" err="1">
                          <a:solidFill>
                            <a:schemeClr val="tx1"/>
                          </a:solidFill>
                        </a:rPr>
                        <a:t>제’에서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후보자를 개별적으로 심의하는 ‘개별 심의 </a:t>
                      </a:r>
                      <a:r>
                        <a:rPr lang="ko-KR" altLang="en-US" sz="1000" err="1">
                          <a:solidFill>
                            <a:schemeClr val="tx1"/>
                          </a:solidFill>
                        </a:rPr>
                        <a:t>방식’로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전환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인사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362985" y="572550"/>
            <a:ext cx="132408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3/5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</p:spTree>
    <p:extLst>
      <p:ext uri="{BB962C8B-B14F-4D97-AF65-F5344CB8AC3E}">
        <p14:creationId xmlns:p14="http://schemas.microsoft.com/office/powerpoint/2010/main" val="2185677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70763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수정인력계획</a:t>
                      </a:r>
                      <a:b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수립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W11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핵심내용은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- 2/10(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’25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인력운영계획 작성 요청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충원 가능 사유에 대해 작성 요청하였으며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3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 필요한 담당의 경우 추가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명에 대한 사유 작성 요청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- 2/13(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까지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취합 예정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취합 결과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2/17(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주간회의 시 공유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- 2/17(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업무혁신 그룹에 자료 송부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업무혁신그룹 임재진 팀장께서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CDO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내용 보고 예정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Staff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인사지원팀 인원 충원 채널 확인 요청이 있었고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커리어플러스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내부 인원 이동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미주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국내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BTC/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일반 산학장학생 채용 채널을 통해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충원 예정으로 답변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인원 현황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채용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이동 계획 인원 포함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인사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2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/26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01C0BBF8-CD37-4B21-A46D-3A522361D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704383"/>
              </p:ext>
            </p:extLst>
          </p:nvPr>
        </p:nvGraphicFramePr>
        <p:xfrm>
          <a:off x="1731018" y="2878041"/>
          <a:ext cx="6821853" cy="1851107"/>
        </p:xfrm>
        <a:graphic>
          <a:graphicData uri="http://schemas.openxmlformats.org/drawingml/2006/table">
            <a:tbl>
              <a:tblPr/>
              <a:tblGrid>
                <a:gridCol w="191277">
                  <a:extLst>
                    <a:ext uri="{9D8B030D-6E8A-4147-A177-3AD203B41FA5}">
                      <a16:colId xmlns:a16="http://schemas.microsoft.com/office/drawing/2014/main" val="3806747598"/>
                    </a:ext>
                  </a:extLst>
                </a:gridCol>
                <a:gridCol w="79610">
                  <a:extLst>
                    <a:ext uri="{9D8B030D-6E8A-4147-A177-3AD203B41FA5}">
                      <a16:colId xmlns:a16="http://schemas.microsoft.com/office/drawing/2014/main" val="3185604031"/>
                    </a:ext>
                  </a:extLst>
                </a:gridCol>
                <a:gridCol w="893128">
                  <a:extLst>
                    <a:ext uri="{9D8B030D-6E8A-4147-A177-3AD203B41FA5}">
                      <a16:colId xmlns:a16="http://schemas.microsoft.com/office/drawing/2014/main" val="3413208127"/>
                    </a:ext>
                  </a:extLst>
                </a:gridCol>
                <a:gridCol w="559367">
                  <a:extLst>
                    <a:ext uri="{9D8B030D-6E8A-4147-A177-3AD203B41FA5}">
                      <a16:colId xmlns:a16="http://schemas.microsoft.com/office/drawing/2014/main" val="2143132884"/>
                    </a:ext>
                  </a:extLst>
                </a:gridCol>
                <a:gridCol w="733481">
                  <a:extLst>
                    <a:ext uri="{9D8B030D-6E8A-4147-A177-3AD203B41FA5}">
                      <a16:colId xmlns:a16="http://schemas.microsoft.com/office/drawing/2014/main" val="1064726894"/>
                    </a:ext>
                  </a:extLst>
                </a:gridCol>
                <a:gridCol w="400970">
                  <a:extLst>
                    <a:ext uri="{9D8B030D-6E8A-4147-A177-3AD203B41FA5}">
                      <a16:colId xmlns:a16="http://schemas.microsoft.com/office/drawing/2014/main" val="809269838"/>
                    </a:ext>
                  </a:extLst>
                </a:gridCol>
                <a:gridCol w="400970">
                  <a:extLst>
                    <a:ext uri="{9D8B030D-6E8A-4147-A177-3AD203B41FA5}">
                      <a16:colId xmlns:a16="http://schemas.microsoft.com/office/drawing/2014/main" val="1839056507"/>
                    </a:ext>
                  </a:extLst>
                </a:gridCol>
                <a:gridCol w="400970">
                  <a:extLst>
                    <a:ext uri="{9D8B030D-6E8A-4147-A177-3AD203B41FA5}">
                      <a16:colId xmlns:a16="http://schemas.microsoft.com/office/drawing/2014/main" val="1398797345"/>
                    </a:ext>
                  </a:extLst>
                </a:gridCol>
                <a:gridCol w="400970">
                  <a:extLst>
                    <a:ext uri="{9D8B030D-6E8A-4147-A177-3AD203B41FA5}">
                      <a16:colId xmlns:a16="http://schemas.microsoft.com/office/drawing/2014/main" val="1108670216"/>
                    </a:ext>
                  </a:extLst>
                </a:gridCol>
                <a:gridCol w="400970">
                  <a:extLst>
                    <a:ext uri="{9D8B030D-6E8A-4147-A177-3AD203B41FA5}">
                      <a16:colId xmlns:a16="http://schemas.microsoft.com/office/drawing/2014/main" val="1708940521"/>
                    </a:ext>
                  </a:extLst>
                </a:gridCol>
                <a:gridCol w="400970">
                  <a:extLst>
                    <a:ext uri="{9D8B030D-6E8A-4147-A177-3AD203B41FA5}">
                      <a16:colId xmlns:a16="http://schemas.microsoft.com/office/drawing/2014/main" val="2868235071"/>
                    </a:ext>
                  </a:extLst>
                </a:gridCol>
                <a:gridCol w="1959170">
                  <a:extLst>
                    <a:ext uri="{9D8B030D-6E8A-4147-A177-3AD203B41FA5}">
                      <a16:colId xmlns:a16="http://schemas.microsoft.com/office/drawing/2014/main" val="1923717468"/>
                    </a:ext>
                  </a:extLst>
                </a:gridCol>
              </a:tblGrid>
              <a:tr h="33490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구분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</a:t>
                      </a:r>
                      <a:r>
                        <a:rPr lang="en-US" altLang="ko-KR" sz="1200" b="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(4)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1200" b="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</a:t>
                      </a:r>
                      <a:r>
                        <a:rPr lang="en-US" altLang="ko-KR" sz="1200" b="0" u="none" strike="noStrike"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(16)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</a:t>
                      </a:r>
                      <a:r>
                        <a:rPr lang="en-US" altLang="ko-KR" sz="10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(4)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rtl="0" fontAlgn="ctr"/>
                      <a:r>
                        <a:rPr lang="ko-KR" altLang="en-US" sz="10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</a:t>
                      </a:r>
                      <a:r>
                        <a:rPr lang="en-US" altLang="ko-KR" sz="10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(16)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‘24.2.12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字</a:t>
                      </a:r>
                      <a:b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현재원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전출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전입계획</a:t>
                      </a:r>
                      <a:b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반영 인원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전출 인원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계획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전입 인원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계획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en-US" altLang="ko-KR" sz="10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644156"/>
                  </a:ext>
                </a:extLst>
              </a:tr>
              <a:tr h="241890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         제조</a:t>
                      </a:r>
                      <a:r>
                        <a:rPr lang="en-US" altLang="ko-KR" sz="10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000" b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그룹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퇴사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주재원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이동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신입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경력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이동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1200" b="1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843236"/>
                  </a:ext>
                </a:extLst>
              </a:tr>
              <a:tr h="241890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　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00" b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직속</a:t>
                      </a:r>
                      <a:endParaRPr lang="ko-KR" altLang="en-US" sz="1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al Narrow"/>
                        <a:ea typeface="LG스마트체 Regular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896275"/>
                  </a:ext>
                </a:extLst>
              </a:tr>
              <a:tr h="241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FDC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DX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담당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49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49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김진영 사원 퇴사 예정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(3.18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字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)</a:t>
                      </a:r>
                    </a:p>
                    <a:p>
                      <a:pPr algn="ctr" rtl="0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이동민 책임 입사 예정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(7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월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550531"/>
                  </a:ext>
                </a:extLst>
              </a:tr>
              <a:tr h="241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자동보정담당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정승일 전문위원 퇴사 예정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(2.17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字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ctr" rtl="0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권세민 책임 입사 예정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343873"/>
                  </a:ext>
                </a:extLst>
              </a:tr>
              <a:tr h="241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제조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DX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솔루션담당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rtl="0" fontAlgn="ctr"/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359470"/>
                  </a:ext>
                </a:extLst>
              </a:tr>
              <a:tr h="241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품질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DX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LG스마트체 Regular"/>
                        </a:rPr>
                        <a:t>담당</a:t>
                      </a:r>
                      <a:endParaRPr lang="ko-KR" altLang="en-US" sz="10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71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rial Narrow"/>
                          <a:ea typeface="LG스마트체 Regular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최상준 책임 이동 예정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(3.1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字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010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680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260717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(W09)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서울대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기술교류회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W9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핵심내용은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서울대 기술교류회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서울대학교 기계공학부와의 인재채용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산학과제 등 진행을 위해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’24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년부터 인재확보팀 주관으로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교류회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’24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년은 상반기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(6/12),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하반기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(9/6) 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번 진행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’25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2/27(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 진행 예정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현업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Lab Tour,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채용 상담 진행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(CTO, Pack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선행개발그룹장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특강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석식만찬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참석 예정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※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1/15(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까지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조사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FDC 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자동보정담당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Needs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있음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나머지 담당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관심 랩실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곳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송부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 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곳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곳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랩투어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 예정이며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팀장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실무자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선정 중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(~2/5)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상세 내용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1)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대상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서울대 기계공학부 관심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Lab.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2)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2025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3)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서울대 기계공학부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추후 상세안내예정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4)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일정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인사 관리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2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/26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C0757E0-027A-4863-A21C-47A83E0B8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580927"/>
              </p:ext>
            </p:extLst>
          </p:nvPr>
        </p:nvGraphicFramePr>
        <p:xfrm>
          <a:off x="1745640" y="3911852"/>
          <a:ext cx="5431908" cy="2369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4578">
                  <a:extLst>
                    <a:ext uri="{9D8B030D-6E8A-4147-A177-3AD203B41FA5}">
                      <a16:colId xmlns:a16="http://schemas.microsoft.com/office/drawing/2014/main" val="2604862574"/>
                    </a:ext>
                  </a:extLst>
                </a:gridCol>
                <a:gridCol w="992168">
                  <a:extLst>
                    <a:ext uri="{9D8B030D-6E8A-4147-A177-3AD203B41FA5}">
                      <a16:colId xmlns:a16="http://schemas.microsoft.com/office/drawing/2014/main" val="4242955077"/>
                    </a:ext>
                  </a:extLst>
                </a:gridCol>
                <a:gridCol w="1889578">
                  <a:extLst>
                    <a:ext uri="{9D8B030D-6E8A-4147-A177-3AD203B41FA5}">
                      <a16:colId xmlns:a16="http://schemas.microsoft.com/office/drawing/2014/main" val="344256289"/>
                    </a:ext>
                  </a:extLst>
                </a:gridCol>
                <a:gridCol w="1395584">
                  <a:extLst>
                    <a:ext uri="{9D8B030D-6E8A-4147-A177-3AD203B41FA5}">
                      <a16:colId xmlns:a16="http://schemas.microsoft.com/office/drawing/2014/main" val="1538983894"/>
                    </a:ext>
                  </a:extLst>
                </a:gridCol>
              </a:tblGrid>
              <a:tr h="170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주요 일정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참석자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853155"/>
                  </a:ext>
                </a:extLst>
              </a:tr>
              <a:tr h="272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12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Lab Tour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관심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Lab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소개 및 기술 교류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FDC DX :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민경춘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김진영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</a:t>
                      </a:r>
                    </a:p>
                    <a:p>
                      <a:pPr algn="l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김기백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b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최창락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S,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신재우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S, </a:t>
                      </a:r>
                      <a:b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이상용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S,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서재근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009948"/>
                  </a:ext>
                </a:extLst>
              </a:tr>
              <a:tr h="272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13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현업리더와 교수 학생 네트워킹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aseline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952509"/>
                  </a:ext>
                </a:extLst>
              </a:tr>
              <a:tr h="272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13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채용설명회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Why Ensol(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인재확보팀 진행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aseline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922511"/>
                  </a:ext>
                </a:extLst>
              </a:tr>
              <a:tr h="27270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15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1:1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참석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R&amp;D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리더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–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학생 간 커리어 상담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677342"/>
                  </a:ext>
                </a:extLst>
              </a:tr>
              <a:tr h="27270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직무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채용상담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상담부스 운영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76980"/>
                  </a:ext>
                </a:extLst>
              </a:tr>
              <a:tr h="272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15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17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임원 특강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Pack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선행개발그룹장 특강</a:t>
                      </a:r>
                      <a:b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CTO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특강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CEO, CTO, CHO, </a:t>
                      </a:r>
                      <a:b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자동차개발센터장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Pack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선행개발그룹장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b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인재확보담당</a:t>
                      </a:r>
                      <a:b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 CDO 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참석 </a:t>
                      </a:r>
                      <a:r>
                        <a:rPr lang="ko-KR" altLang="en-US" sz="90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확인중</a:t>
                      </a:r>
                      <a:endParaRPr lang="ko-KR" altLang="en-US" sz="900" baseline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6416971"/>
                  </a:ext>
                </a:extLst>
              </a:tr>
              <a:tr h="272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17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 </a:t>
                      </a:r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~ 19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석식 만찬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CEO,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aseline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학부장</a:t>
                      </a:r>
                      <a:r>
                        <a:rPr lang="ko-KR" altLang="en-US" sz="900" baseline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주요 교수진 간 만찬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900" baseline="0">
                        <a:solidFill>
                          <a:srgbClr val="0000FF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09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568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1798FA61-FAE9-44CE-9DC5-009EB7071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087473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(W09)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예산 배부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W9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핵심내용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- 1/7(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통제성 비용 가예산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개월치 배부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(*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출장비 제외 본예산 편성 기준 수립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- 1/20(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경영관리팀으로부터 본예산 수립 가이드 전달받았으며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1/24(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본예산 배부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 출장비 배부 내역 일부 수정 예정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해외출장비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1/n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→ 담당별 계획금액의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50%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배부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예산 편성 기준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조직활성화비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인당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6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만원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月</a:t>
                      </a:r>
                      <a:b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시내교통비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인당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만원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月</a:t>
                      </a:r>
                      <a:b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출장비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18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억원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年</a:t>
                      </a:r>
                      <a:b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1)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그룹장님 출장비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1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억</a:t>
                      </a:r>
                      <a:b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2)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기획팀 예비비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1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억</a:t>
                      </a:r>
                      <a:b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3)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국내출장비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1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억</a:t>
                      </a:r>
                      <a:b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4)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해외출장비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15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억</a:t>
                      </a:r>
                      <a:endParaRPr kumimoji="0" lang="en-US" altLang="ko-KR" sz="1000" b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경상회의비 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100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만원</a:t>
                      </a:r>
                      <a: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年</a:t>
                      </a:r>
                      <a:br>
                        <a:rPr kumimoji="0"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특이 사항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통제성 경비 운영방식이 아래와 같이 변경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교제성경비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조직활성화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교제비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는 월별 배부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출장비는 분기별 배부 운영으로 변경되었으며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금액 선반영 및 조정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증액 필요 시 품의 작성 필수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조직활성화 ↔ 시내교통비 계정 간 금액 이동 불가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’25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추가 통제 계정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소모품비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전산용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소모품비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자문용역수수료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통제성 경비 운영방식이 타이트하다는 각 사업부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 기획팀 의견에 따라 아래 건 추가 검토 중 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1)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소모품비 하위계정 간 이관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사무용 ↔ 전산용 ↔ 기타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2)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조직활성화비 → 시내교통비 간 이관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비용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 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AF75BF-A01F-4201-983D-A5654BFE47DE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0">
              <a:defRPr/>
            </a:pPr>
            <a:r>
              <a:rPr lang="ko-KR" altLang="en-US"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: 2/19 14</a:t>
            </a:r>
            <a:r>
              <a:rPr lang="ko-KR" altLang="en-US"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76E132E0-E16E-4520-A339-FF5FEE29C57D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ECF8576-5C0F-E725-20B7-7143DAFC52AD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</p:spTree>
    <p:extLst>
      <p:ext uri="{BB962C8B-B14F-4D97-AF65-F5344CB8AC3E}">
        <p14:creationId xmlns:p14="http://schemas.microsoft.com/office/powerpoint/2010/main" val="2794592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05FC5328-2198-4089-99D2-3C663AE66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362480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(W8, 02/16~)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그룹</a:t>
                      </a:r>
                      <a:b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포상안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W8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핵심내용은 없으며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, Staff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인사지원팀으로부터 확정된 포상 재원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(OSI,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부문포상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공유받은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후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포상안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 진행하겠습니다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</a:br>
                      <a:r>
                        <a:rPr lang="en-US" altLang="ko-KR" sz="1000" b="1" i="0" u="none" strike="noStrike" baseline="0" noProof="0">
                          <a:solidFill>
                            <a:schemeClr val="tx1"/>
                          </a:solidFill>
                          <a:latin typeface="+mn-lt"/>
                        </a:rPr>
                        <a:t>[</a:t>
                      </a:r>
                      <a:r>
                        <a:rPr lang="ko-KR" altLang="en-US" sz="1000" b="1" i="0" u="none" strike="noStrike" baseline="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목적</a:t>
                      </a:r>
                      <a:r>
                        <a:rPr lang="en-US" altLang="ko-KR" sz="1000" b="1" i="0" u="none" strike="noStrike" baseline="0" noProof="0">
                          <a:solidFill>
                            <a:schemeClr val="tx1"/>
                          </a:solidFill>
                          <a:latin typeface="+mn-lt"/>
                        </a:rPr>
                        <a:t>]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올해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OSI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및 부문포상 재원이 축소될 것으로 예상되어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재원을 효율적으로 사용할 수 있도록 그룹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포상안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체계를 새로 수립하고자 합니다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10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포상안</a:t>
                      </a: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1) OSI: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구성원의 성과가 담당을 넘어 그룹 전체에 중요한 가치를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지니고있음을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인정해주고 격려해주기 위해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OSI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재원을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40%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 확대</a:t>
                      </a:r>
                      <a:b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부문포상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개인 활동보다는 그룹 내 진행되는 과제 성과를 격려하고자 과제 포상 위주로 집행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~’25.01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517770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포상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0EE530-A532-47EF-8E5A-D46D78AD73E5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: 2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/19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 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C5C6A2D4-2222-4DBB-82E7-96646115F1E4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91820AF-84BC-6764-AE0C-0F354AA37E9E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22EED94-E7DD-4097-9366-2A0979C16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806179"/>
              </p:ext>
            </p:extLst>
          </p:nvPr>
        </p:nvGraphicFramePr>
        <p:xfrm>
          <a:off x="1710813" y="2394258"/>
          <a:ext cx="6882581" cy="4044640"/>
        </p:xfrm>
        <a:graphic>
          <a:graphicData uri="http://schemas.openxmlformats.org/drawingml/2006/table">
            <a:tbl>
              <a:tblPr/>
              <a:tblGrid>
                <a:gridCol w="266011">
                  <a:extLst>
                    <a:ext uri="{9D8B030D-6E8A-4147-A177-3AD203B41FA5}">
                      <a16:colId xmlns:a16="http://schemas.microsoft.com/office/drawing/2014/main" val="245315300"/>
                    </a:ext>
                  </a:extLst>
                </a:gridCol>
                <a:gridCol w="1261252">
                  <a:extLst>
                    <a:ext uri="{9D8B030D-6E8A-4147-A177-3AD203B41FA5}">
                      <a16:colId xmlns:a16="http://schemas.microsoft.com/office/drawing/2014/main" val="1622004622"/>
                    </a:ext>
                  </a:extLst>
                </a:gridCol>
                <a:gridCol w="1081844">
                  <a:extLst>
                    <a:ext uri="{9D8B030D-6E8A-4147-A177-3AD203B41FA5}">
                      <a16:colId xmlns:a16="http://schemas.microsoft.com/office/drawing/2014/main" val="3166514714"/>
                    </a:ext>
                  </a:extLst>
                </a:gridCol>
                <a:gridCol w="426477">
                  <a:extLst>
                    <a:ext uri="{9D8B030D-6E8A-4147-A177-3AD203B41FA5}">
                      <a16:colId xmlns:a16="http://schemas.microsoft.com/office/drawing/2014/main" val="3971514560"/>
                    </a:ext>
                  </a:extLst>
                </a:gridCol>
                <a:gridCol w="426477">
                  <a:extLst>
                    <a:ext uri="{9D8B030D-6E8A-4147-A177-3AD203B41FA5}">
                      <a16:colId xmlns:a16="http://schemas.microsoft.com/office/drawing/2014/main" val="282387966"/>
                    </a:ext>
                  </a:extLst>
                </a:gridCol>
                <a:gridCol w="1472132">
                  <a:extLst>
                    <a:ext uri="{9D8B030D-6E8A-4147-A177-3AD203B41FA5}">
                      <a16:colId xmlns:a16="http://schemas.microsoft.com/office/drawing/2014/main" val="193544054"/>
                    </a:ext>
                  </a:extLst>
                </a:gridCol>
                <a:gridCol w="1948388">
                  <a:extLst>
                    <a:ext uri="{9D8B030D-6E8A-4147-A177-3AD203B41FA5}">
                      <a16:colId xmlns:a16="http://schemas.microsoft.com/office/drawing/2014/main" val="1873938520"/>
                    </a:ext>
                  </a:extLst>
                </a:gridCol>
              </a:tblGrid>
              <a:tr h="15266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재원 분배율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’24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Reflection</a:t>
                      </a:r>
                      <a:endParaRPr lang="ko-KR" altLang="en-US" sz="900" b="1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’25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354081"/>
                  </a:ext>
                </a:extLst>
              </a:tr>
              <a:tr h="1526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'24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'25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662703"/>
                  </a:ext>
                </a:extLst>
              </a:tr>
              <a:tr h="15266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OSI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구성원 연봉 합 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2.5%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CDO OSI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센터장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OSI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경우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명확한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기준 없이 담당님들께 추천받아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센터장께서 모르는 인원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과제가 추천될 경우해당 인원이 어떤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인원이고 과제는 어떤 과제인지 등의 질문사항을 대응하는데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많은 시간이 소요됐음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1) </a:t>
                      </a: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그룹장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OSI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재원을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30%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확대하며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인원추천 시 그룹장님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대면 보고된 과제 참여인원으로 추천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l" fontAlgn="ctr"/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2)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OSI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지급 시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지급일 이후 그룹장님과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1:1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보고 진행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8061460"/>
                  </a:ext>
                </a:extLst>
              </a:tr>
              <a:tr h="1526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그룹장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OSI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526298"/>
                  </a:ext>
                </a:extLst>
              </a:tr>
              <a:tr h="5928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 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OSI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000239"/>
                  </a:ext>
                </a:extLst>
              </a:tr>
              <a:tr h="77125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부문</a:t>
                      </a:r>
                      <a:b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포상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구성원 수 * 금액</a:t>
                      </a:r>
                      <a:b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 기준은 연도별로 상이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 ’24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인당 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84,000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</a:t>
                      </a:r>
                      <a:b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총 금액 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16,352,000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원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※ ’25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</a:t>
                      </a:r>
                      <a:b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(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동일 기준 가정 시 </a:t>
                      </a:r>
                      <a:b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      : 19,740,000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원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/235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명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algn="ctr" fontAlgn="ctr"/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TDR 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우수과제원 포상</a:t>
                      </a:r>
                      <a:b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그룹 협업과제 포상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가지 부문포상안을 집행했어야 하여 그룹 과제 포상에 많은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재원을 할당할 수 없었음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수율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TDR 1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건만 포상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1)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부문포상 항목을 줄이고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재원 분배율을 높여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협업과제를 많이 포상함으로써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협업의 시너지를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높이고 구성원들이 더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많은   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성과를 낼 수 있도록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동기부여함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2) TDR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외 다른 협업과제도 포상하기 위해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명칭을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“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그룹 협업과제 포상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”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으로 변경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650160"/>
                  </a:ext>
                </a:extLst>
              </a:tr>
              <a:tr h="517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선행과제 </a:t>
                      </a:r>
                      <a: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Awards</a:t>
                      </a:r>
                      <a:br>
                        <a:rPr 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→ 문제해결과제 포상</a:t>
                      </a:r>
                      <a:endParaRPr 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그룹 내 진행되고 있는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선행과제가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많지 않고 선행성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기준이 모호하여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 접수에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어려움이 있음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선행과제가 적다는 한계점과 경영혁신주관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문제해결과제 포상제도가 폐지예정인 점을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감안하여 선행과제 대신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“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문제해결과제 포상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”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으로 운영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550210"/>
                  </a:ext>
                </a:extLst>
              </a:tr>
              <a:tr h="517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그룹장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즉포상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en-US" sz="9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대면보고 우수 발표자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or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우수 </a:t>
                      </a: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과제원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즉포상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위해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“</a:t>
                      </a: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그룹장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즉포상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”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운영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(OSI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지급하기에는 작은 성과 대상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인당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만원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283753"/>
                  </a:ext>
                </a:extLst>
              </a:tr>
              <a:tr h="517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프로성장러 </a:t>
                      </a:r>
                      <a:r>
                        <a:rPr lang="en-US" altLang="ko-KR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폐지</a:t>
                      </a:r>
                      <a:r>
                        <a:rPr lang="en-US" altLang="ko-KR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구성원 참여율 저조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개인 외부 활동을 독려하는 분위기가 될 수 있으며 개인별 역량 향상 여부를 판단하기가 어려움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폐지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73329"/>
                  </a:ext>
                </a:extLst>
              </a:tr>
              <a:tr h="5174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상위 </a:t>
                      </a:r>
                      <a:r>
                        <a:rPr lang="en-US" altLang="ko-KR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20% </a:t>
                      </a:r>
                      <a:r>
                        <a:rPr lang="ko-KR" altLang="en-US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인원 포상 </a:t>
                      </a:r>
                      <a:br>
                        <a:rPr lang="en-US" altLang="ko-KR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폐지</a:t>
                      </a:r>
                      <a:r>
                        <a:rPr lang="en-US" altLang="ko-KR" sz="900" b="0" i="0" u="none" strike="sng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잔여 재원 사용위해 집행한 건이라 정기적 집행이 어려우며 해당 목적 포상은 부문포상이 아닌 </a:t>
                      </a:r>
                      <a: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RI</a:t>
                      </a: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를 </a:t>
                      </a:r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활용하는 게 </a:t>
                      </a:r>
                      <a:r>
                        <a:rPr lang="ko-KR" altLang="en-US" sz="8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적합해보임</a:t>
                      </a:r>
                      <a:endParaRPr lang="en-US" altLang="ko-KR" sz="8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br>
                        <a:rPr lang="en-US" altLang="ko-KR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8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폐지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872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2880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23471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(W2, 01/05~)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신규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확장투자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관리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OC5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동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1,3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층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~‘24.12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7BF916D-8A9E-4800-92E6-357BE0818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799538"/>
              </p:ext>
            </p:extLst>
          </p:nvPr>
        </p:nvGraphicFramePr>
        <p:xfrm>
          <a:off x="1650029" y="1092844"/>
          <a:ext cx="6972241" cy="5454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0218">
                  <a:extLst>
                    <a:ext uri="{9D8B030D-6E8A-4147-A177-3AD203B41FA5}">
                      <a16:colId xmlns:a16="http://schemas.microsoft.com/office/drawing/2014/main" val="556678257"/>
                    </a:ext>
                  </a:extLst>
                </a:gridCol>
                <a:gridCol w="6032023">
                  <a:extLst>
                    <a:ext uri="{9D8B030D-6E8A-4147-A177-3AD203B41FA5}">
                      <a16:colId xmlns:a16="http://schemas.microsoft.com/office/drawing/2014/main" val="2326666024"/>
                    </a:ext>
                  </a:extLst>
                </a:gridCol>
              </a:tblGrid>
              <a:tr h="189212">
                <a:tc gridSpan="2"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9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9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Malgun Gothic Semilight"/>
                        </a:rPr>
                        <a:t>(W2). </a:t>
                      </a:r>
                      <a:r>
                        <a:rPr lang="ko-KR" altLang="en-US" sz="9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Malgun Gothic Semilight"/>
                        </a:rPr>
                        <a:t>특이사항 없습니다</a:t>
                      </a:r>
                      <a:r>
                        <a:rPr lang="en-US" altLang="ko-KR" sz="9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Malgun Gothic Semilight"/>
                        </a:rPr>
                        <a:t>.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586510"/>
                  </a:ext>
                </a:extLst>
              </a:tr>
              <a:tr h="189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구분</a:t>
                      </a: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내용</a:t>
                      </a:r>
                      <a:endParaRPr lang="en-US" altLang="ko-KR" sz="900" b="1" baseline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805053"/>
                  </a:ext>
                </a:extLst>
              </a:tr>
              <a:tr h="50359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각형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Side Terminal</a:t>
                      </a:r>
                    </a:p>
                    <a:p>
                      <a:pPr algn="ctr" latinLnBrk="1"/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Pilot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라인</a:t>
                      </a:r>
                      <a:endParaRPr lang="en-US" altLang="ko-KR" sz="900" b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[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배경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AR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그룹에서 각형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Side Terminal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샘플 대응을 위한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Pilot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라인 투자를 위해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롤맵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/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셀추적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/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자동보정 투자비를</a:t>
                      </a:r>
                      <a:endParaRPr lang="en-US" altLang="ko-KR" sz="1000" b="0" baseline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요청한 건입니다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1.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투자 개요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: VW UCC48, UCM32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프로그램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B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샘플 대응을 위해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OC 5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동에 각형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Side-terminal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파일럿 라인을 구축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2.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진척 일정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10/25(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금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S/T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투자심의회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Kick Off Meeting (AR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기획팀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–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투심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자료 양식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일정 공유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–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완료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11/12(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화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S/T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셀추적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투자심의 자료 사전 보고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담당님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-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완료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11/15(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금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투자심의회 자료 취합 및 리뷰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(AR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기획팀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-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완료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11/27(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수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투자심의회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담당급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리뷰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–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완료</a:t>
                      </a:r>
                      <a:endParaRPr lang="en-US" altLang="ko-KR" sz="1000" b="0" baseline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12/3 (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수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투자심의회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CPO –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완료</a:t>
                      </a:r>
                      <a:endParaRPr lang="en-US" altLang="ko-KR" sz="1000" b="0" baseline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※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설비 수량은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2-4-1(DNC-AZS(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스태커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)-PKG)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이며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,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설비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Capa.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는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DNC/AZS 2.4ppm, PKG 3ppm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입니다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3.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투자비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롤맵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/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셀추적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: 7.26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억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(DNC 2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/AZS 4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/PKG 1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자동보정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: 0.75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억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(DNC/AZS/PKG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각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0.25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억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4.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진행사항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설비 대수 변경으로 인한 투자비 비교 자료 작성</a:t>
                      </a:r>
                      <a:br>
                        <a:rPr lang="ko-KR" altLang="en-US" sz="1000" b="0" baseline="0">
                          <a:solidFill>
                            <a:srgbClr val="000000"/>
                          </a:solidFill>
                          <a:latin typeface="+mj-lt"/>
                          <a:ea typeface="+mn-ea"/>
                        </a:rPr>
                      </a:b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 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롤맵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/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셀추적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투자비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: 13.5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억 →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7.3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억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 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 DNC 4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 →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2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/ AZS 8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 →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4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대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11/27(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수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)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담당급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투자심의회 보완 사항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F/U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및 자료 반영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 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재활용 자재 세부 항목 및 금액 장표 추가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 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 T/T vs S/T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단가 비교 자료 장표 추가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-. CPO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투자심의 참석 및 내용 설명 → 심의 완료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  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- CFO, CEO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보고 후 기본 품의 상신 예정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(12/20)</a:t>
                      </a:r>
                    </a:p>
                  </a:txBody>
                  <a:tcPr marT="36000" marB="36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3931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BA38F9-C999-4D30-8BD4-00B3927E9A6E}"/>
              </a:ext>
            </a:extLst>
          </p:cNvPr>
          <p:cNvSpPr txBox="1"/>
          <p:nvPr/>
        </p:nvSpPr>
        <p:spPr>
          <a:xfrm>
            <a:off x="5136149" y="4472740"/>
            <a:ext cx="1321907" cy="350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cs typeface="+mn-cs"/>
              </a:rPr>
              <a:t>*T/T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cs typeface="+mn-cs"/>
              </a:rPr>
              <a:t>: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cs typeface="+mn-cs"/>
              </a:rPr>
              <a:t>Top Terminal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cs typeface="+mn-cs"/>
              </a:rPr>
              <a:t>*S/T : Side Terminal</a:t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0" name="내용 개체 틀 20">
            <a:extLst>
              <a:ext uri="{FF2B5EF4-FFF2-40B4-BE49-F238E27FC236}">
                <a16:creationId xmlns:a16="http://schemas.microsoft.com/office/drawing/2014/main" id="{4438BEFD-4F3F-4357-849C-99F02966C19C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AB97FB3-4095-4C1B-9248-A3FDC0AE4E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91251" y="3120168"/>
            <a:ext cx="2431020" cy="3405247"/>
          </a:xfrm>
          <a:prstGeom prst="rect">
            <a:avLst/>
          </a:prstGeom>
        </p:spPr>
      </p:pic>
      <p:sp>
        <p:nvSpPr>
          <p:cNvPr id="20" name="내용 개체 틀 20">
            <a:extLst>
              <a:ext uri="{FF2B5EF4-FFF2-40B4-BE49-F238E27FC236}">
                <a16:creationId xmlns:a16="http://schemas.microsoft.com/office/drawing/2014/main" id="{1538BCC5-98DD-416F-9803-6FDFBC657468}"/>
              </a:ext>
            </a:extLst>
          </p:cNvPr>
          <p:cNvSpPr txBox="1">
            <a:spLocks/>
          </p:cNvSpPr>
          <p:nvPr/>
        </p:nvSpPr>
        <p:spPr>
          <a:xfrm>
            <a:off x="8767556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S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4773A99-028E-D1FB-CD3F-89854E13D88D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2328AC-50A1-4805-9071-54F58931D531}"/>
              </a:ext>
            </a:extLst>
          </p:cNvPr>
          <p:cNvSpPr txBox="1"/>
          <p:nvPr/>
        </p:nvSpPr>
        <p:spPr>
          <a:xfrm>
            <a:off x="8362985" y="572550"/>
            <a:ext cx="132408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1/8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3730831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1">
            <a:extLst>
              <a:ext uri="{FF2B5EF4-FFF2-40B4-BE49-F238E27FC236}">
                <a16:creationId xmlns:a16="http://schemas.microsoft.com/office/drawing/2014/main" id="{1798FA61-FAE9-44CE-9DC5-009EB7071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656622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(W2, 01/05~)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조직개편</a:t>
                      </a:r>
                      <a:endParaRPr lang="en-US" altLang="ko-KR" sz="9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(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W2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).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특이사항 없습니다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팀급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조직개편 일정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진행 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- 12/3(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Staff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인사지원팀 피드백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반영본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그룹장님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컨펌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Staff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인사지원팀 송부 및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CDO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 메일 서면보고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CDO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컨펌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확인 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인사발령지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12/5(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회신 예정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- 12/5(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Staff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인사지원팀에 인사발령지 송부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특이 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조직개편에 따른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자리 배치 수정 필요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- 12/5(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오창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레이아웃 작업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- 12/9(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현업에 자리배치 및 이사일정 공지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- 12/12(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과천 레이아웃 협의 및 현업 공지 완료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- 12/17(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16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이사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과천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오창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조직개편에 따른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Teams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채널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이름 수정 및 구성원 추가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제외 작업 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리더채널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 전체구성원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소통채널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채널 및 폴더 명칭변경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제조지능화 → 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리더채널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: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티미팅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논의 및 정보공유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자료 업로드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서면보고 채널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*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 전체구성원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소통채널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교육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세미나자료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Vision/Mission/Role, KPI,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출장가이드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법인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ContactPoint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공유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조직개편 내용 반영 조직도 작성 예정</a:t>
                      </a:r>
                      <a:b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12/20(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조직도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endParaRPr kumimoji="0"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~’24.12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최수정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인사 관리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A9C9507-1B5B-4164-8B98-1CDFE57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258" y="1668585"/>
            <a:ext cx="5661660" cy="8316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AF75BF-A01F-4201-983D-A5654BFE47DE}"/>
              </a:ext>
            </a:extLst>
          </p:cNvPr>
          <p:cNvSpPr txBox="1"/>
          <p:nvPr/>
        </p:nvSpPr>
        <p:spPr>
          <a:xfrm>
            <a:off x="8362985" y="572550"/>
            <a:ext cx="132408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lvl="0">
              <a:defRPr/>
            </a:pPr>
            <a:r>
              <a:rPr lang="ko-KR" altLang="en-US"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: 1/2 16</a:t>
            </a:r>
            <a:r>
              <a:rPr lang="ko-KR" altLang="en-US"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7" name="내용 개체 틀 20">
            <a:extLst>
              <a:ext uri="{FF2B5EF4-FFF2-40B4-BE49-F238E27FC236}">
                <a16:creationId xmlns:a16="http://schemas.microsoft.com/office/drawing/2014/main" id="{76E132E0-E16E-4520-A339-FF5FEE29C57D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최수정</a:t>
            </a:r>
            <a:r>
              <a:rPr lang="en-US" altLang="ko-KR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ECF8576-5C0F-E725-20B7-7143DAFC52AD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</p:spTree>
    <p:extLst>
      <p:ext uri="{BB962C8B-B14F-4D97-AF65-F5344CB8AC3E}">
        <p14:creationId xmlns:p14="http://schemas.microsoft.com/office/powerpoint/2010/main" val="2155759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168862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(W6, 02/02~)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인도 </a:t>
                      </a:r>
                      <a:r>
                        <a:rPr lang="en-US" alt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46</a:t>
                      </a: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시리즈</a:t>
                      </a:r>
                      <a:endParaRPr lang="en-US" altLang="ko-KR" sz="9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원통형 투자</a:t>
                      </a:r>
                      <a:endParaRPr lang="en-US" altLang="ko-KR" sz="9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사전</a:t>
                      </a: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경제성</a:t>
                      </a:r>
                      <a:endParaRPr lang="en-US" altLang="ko-KR" sz="9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검토</a:t>
                      </a:r>
                      <a:endParaRPr lang="en-US" sz="900" b="0" i="0" u="none" strike="noStrike" baseline="0" noProof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인도</a:t>
                      </a:r>
                      <a:b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Honda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공장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근처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벵갈루루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동쪽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(W6)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Honda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社로 부터 인도공장에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시리즈 원통형 제품 납품 검토 요청을 받아 경제성 검토를 위해 투자비를 조사하는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건입니다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현재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Joint Venture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와 자사 공장 중 정해진 바는 없습니다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연내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Honda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社와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MOU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체결을 목표로 경제성 검토를 위한 투자비 산출 및 투자 일정 검토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11/12(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화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인도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시리즈 경제성 검토를 위한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Kick off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미팅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11/19(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화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UT Matrix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및 패킹리스트 제출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12/02(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 투자비 제출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~12/16(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월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경제성 검토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–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자동차경영기획팀 주관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12/18(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수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Honda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社 미팅 예정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투자비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64.3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54.9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2.9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코터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롤프레스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0.2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와인더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0.3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설비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LOB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입수 후 각 기술 담당자들에게 배포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와인더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수량 변경으로 인한 설비 대수 재 배포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와인더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 →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UT Matrix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및 패킹리스트 제출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셀추적은 설비에 조립된 상태이므로 패킹리스트 제외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롤맵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셀추적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 투자비 취합 후 제출</a:t>
                      </a:r>
                      <a:endParaRPr lang="en-US" sz="100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S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A38F9-C999-4D30-8BD4-00B3927E9A6E}"/>
              </a:ext>
            </a:extLst>
          </p:cNvPr>
          <p:cNvSpPr txBox="1"/>
          <p:nvPr/>
        </p:nvSpPr>
        <p:spPr>
          <a:xfrm>
            <a:off x="6178570" y="4902498"/>
            <a:ext cx="13219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cs typeface="+mn-cs"/>
              </a:rPr>
              <a:t>*Honda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cs typeface="+mn-cs"/>
              </a:rPr>
              <a:t>社와 재협의 예정</a:t>
            </a:r>
            <a:endParaRPr kumimoji="0" lang="en-US" altLang="ko-KR" sz="8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B920C1-0AA0-4460-B6A7-436200B4A58F}"/>
              </a:ext>
            </a:extLst>
          </p:cNvPr>
          <p:cNvSpPr txBox="1"/>
          <p:nvPr/>
        </p:nvSpPr>
        <p:spPr>
          <a:xfrm>
            <a:off x="5434089" y="4873623"/>
            <a:ext cx="841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□ 일정가안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C26A489-D4BB-462A-929F-989E34E1AA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836266"/>
              </p:ext>
            </p:extLst>
          </p:nvPr>
        </p:nvGraphicFramePr>
        <p:xfrm>
          <a:off x="5556824" y="5121912"/>
          <a:ext cx="2993046" cy="1120140"/>
        </p:xfrm>
        <a:graphic>
          <a:graphicData uri="http://schemas.openxmlformats.org/drawingml/2006/table">
            <a:tbl>
              <a:tblPr/>
              <a:tblGrid>
                <a:gridCol w="498841">
                  <a:extLst>
                    <a:ext uri="{9D8B030D-6E8A-4147-A177-3AD203B41FA5}">
                      <a16:colId xmlns:a16="http://schemas.microsoft.com/office/drawing/2014/main" val="3816993831"/>
                    </a:ext>
                  </a:extLst>
                </a:gridCol>
                <a:gridCol w="498841">
                  <a:extLst>
                    <a:ext uri="{9D8B030D-6E8A-4147-A177-3AD203B41FA5}">
                      <a16:colId xmlns:a16="http://schemas.microsoft.com/office/drawing/2014/main" val="204981777"/>
                    </a:ext>
                  </a:extLst>
                </a:gridCol>
                <a:gridCol w="498841">
                  <a:extLst>
                    <a:ext uri="{9D8B030D-6E8A-4147-A177-3AD203B41FA5}">
                      <a16:colId xmlns:a16="http://schemas.microsoft.com/office/drawing/2014/main" val="2112333486"/>
                    </a:ext>
                  </a:extLst>
                </a:gridCol>
                <a:gridCol w="498841">
                  <a:extLst>
                    <a:ext uri="{9D8B030D-6E8A-4147-A177-3AD203B41FA5}">
                      <a16:colId xmlns:a16="http://schemas.microsoft.com/office/drawing/2014/main" val="3945189583"/>
                    </a:ext>
                  </a:extLst>
                </a:gridCol>
                <a:gridCol w="498841">
                  <a:extLst>
                    <a:ext uri="{9D8B030D-6E8A-4147-A177-3AD203B41FA5}">
                      <a16:colId xmlns:a16="http://schemas.microsoft.com/office/drawing/2014/main" val="474389843"/>
                    </a:ext>
                  </a:extLst>
                </a:gridCol>
                <a:gridCol w="498841">
                  <a:extLst>
                    <a:ext uri="{9D8B030D-6E8A-4147-A177-3AD203B41FA5}">
                      <a16:colId xmlns:a16="http://schemas.microsoft.com/office/drawing/2014/main" val="4036961237"/>
                    </a:ext>
                  </a:extLst>
                </a:gridCol>
              </a:tblGrid>
              <a:tr h="1365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제작시작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운송시작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셋업시작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샘플시작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185855"/>
                  </a:ext>
                </a:extLst>
              </a:tr>
              <a:tr h="1365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전극기간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M-30.5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M-15.5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M-13.5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M-6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334237"/>
                  </a:ext>
                </a:extLst>
              </a:tr>
              <a:tr h="1365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</a:t>
                      </a:r>
                      <a:endParaRPr lang="ko-KR" altLang="en-US" sz="900" b="0" i="0" u="none" strike="noStrike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'27.7/1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'28.10/1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'28.12/1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'29.7/15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'30.1/15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17533"/>
                  </a:ext>
                </a:extLst>
              </a:tr>
              <a:tr h="1365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</a:t>
                      </a:r>
                      <a:endParaRPr lang="ko-KR" altLang="en-US" sz="900" b="0" i="0" u="none" strike="noStrike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'29.3/1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'30.6/1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'30.8/1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'31.3/15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'31.9/15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164242"/>
                  </a:ext>
                </a:extLst>
              </a:tr>
              <a:tr h="1365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M-21.5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M-10.5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M-8.5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M-5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019544"/>
                  </a:ext>
                </a:extLst>
              </a:tr>
              <a:tr h="1365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</a:t>
                      </a:r>
                      <a:endParaRPr lang="ko-KR" altLang="en-US" sz="900" b="0" i="0" u="none" strike="noStrike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'27.7/1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'28.10/1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'28.12/1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'29.7/15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'30.1/15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023092"/>
                  </a:ext>
                </a:extLst>
              </a:tr>
              <a:tr h="1365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</a:t>
                      </a:r>
                      <a:endParaRPr lang="ko-KR" altLang="en-US" sz="900" b="0" i="0" u="none" strike="noStrike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'29.12/1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'30.11/1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'31.1/1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'31.4/15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'31.9/15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44159"/>
                  </a:ext>
                </a:extLst>
              </a:tr>
              <a:tr h="13659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</a:t>
                      </a:r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FF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</a:t>
                      </a:r>
                      <a:endParaRPr lang="ko-KR" altLang="en-US" sz="900" b="0" i="0" u="none" strike="noStrike"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'34.1/1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'34.12/1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'35.2/1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'35.5/15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'35.10/15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861261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2AED313-5C11-4AC8-9CBA-2ECF2B065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385954"/>
              </p:ext>
            </p:extLst>
          </p:nvPr>
        </p:nvGraphicFramePr>
        <p:xfrm>
          <a:off x="1907393" y="3900830"/>
          <a:ext cx="5599936" cy="518096"/>
        </p:xfrm>
        <a:graphic>
          <a:graphicData uri="http://schemas.openxmlformats.org/drawingml/2006/table">
            <a:tbl>
              <a:tblPr/>
              <a:tblGrid>
                <a:gridCol w="699992">
                  <a:extLst>
                    <a:ext uri="{9D8B030D-6E8A-4147-A177-3AD203B41FA5}">
                      <a16:colId xmlns:a16="http://schemas.microsoft.com/office/drawing/2014/main" val="3706361826"/>
                    </a:ext>
                  </a:extLst>
                </a:gridCol>
                <a:gridCol w="699992">
                  <a:extLst>
                    <a:ext uri="{9D8B030D-6E8A-4147-A177-3AD203B41FA5}">
                      <a16:colId xmlns:a16="http://schemas.microsoft.com/office/drawing/2014/main" val="1871055233"/>
                    </a:ext>
                  </a:extLst>
                </a:gridCol>
                <a:gridCol w="699992">
                  <a:extLst>
                    <a:ext uri="{9D8B030D-6E8A-4147-A177-3AD203B41FA5}">
                      <a16:colId xmlns:a16="http://schemas.microsoft.com/office/drawing/2014/main" val="2987893857"/>
                    </a:ext>
                  </a:extLst>
                </a:gridCol>
                <a:gridCol w="699992">
                  <a:extLst>
                    <a:ext uri="{9D8B030D-6E8A-4147-A177-3AD203B41FA5}">
                      <a16:colId xmlns:a16="http://schemas.microsoft.com/office/drawing/2014/main" val="4158621294"/>
                    </a:ext>
                  </a:extLst>
                </a:gridCol>
                <a:gridCol w="699992">
                  <a:extLst>
                    <a:ext uri="{9D8B030D-6E8A-4147-A177-3AD203B41FA5}">
                      <a16:colId xmlns:a16="http://schemas.microsoft.com/office/drawing/2014/main" val="4268303947"/>
                    </a:ext>
                  </a:extLst>
                </a:gridCol>
                <a:gridCol w="699992">
                  <a:extLst>
                    <a:ext uri="{9D8B030D-6E8A-4147-A177-3AD203B41FA5}">
                      <a16:colId xmlns:a16="http://schemas.microsoft.com/office/drawing/2014/main" val="3516093177"/>
                    </a:ext>
                  </a:extLst>
                </a:gridCol>
                <a:gridCol w="699992">
                  <a:extLst>
                    <a:ext uri="{9D8B030D-6E8A-4147-A177-3AD203B41FA5}">
                      <a16:colId xmlns:a16="http://schemas.microsoft.com/office/drawing/2014/main" val="792575836"/>
                    </a:ext>
                  </a:extLst>
                </a:gridCol>
                <a:gridCol w="699992">
                  <a:extLst>
                    <a:ext uri="{9D8B030D-6E8A-4147-A177-3AD203B41FA5}">
                      <a16:colId xmlns:a16="http://schemas.microsoft.com/office/drawing/2014/main" val="1182458969"/>
                    </a:ext>
                  </a:extLst>
                </a:gridCol>
              </a:tblGrid>
              <a:tr h="127603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조립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라인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586778"/>
                  </a:ext>
                </a:extLst>
              </a:tr>
              <a:tr h="2552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코터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코터</a:t>
                      </a:r>
                      <a:b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R/P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S/L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S/L</a:t>
                      </a:r>
                      <a:b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와인더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조립라인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561988"/>
                  </a:ext>
                </a:extLst>
              </a:tr>
              <a:tr h="12760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3.00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942367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1/22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2913015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1109278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KPI 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수립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(1/2)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graphicFrame>
        <p:nvGraphicFramePr>
          <p:cNvPr id="13" name="표 1">
            <a:extLst>
              <a:ext uri="{FF2B5EF4-FFF2-40B4-BE49-F238E27FC236}">
                <a16:creationId xmlns:a16="http://schemas.microsoft.com/office/drawing/2014/main" id="{646776F5-BF65-461A-9A5A-B0FB82CC4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361027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(W12)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KPI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수립</a:t>
                      </a: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(W12)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핵심내용은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KPI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최종본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품의는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2/21(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까지 상신 예정입니다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] 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- 1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그룹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사업부장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/C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레벨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/CEO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직속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 KPI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CEO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보고 후 피드백 사항을 반영하여 </a:t>
                      </a:r>
                      <a:r>
                        <a:rPr lang="ko-KR" altLang="en-US" sz="1000" b="0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재보고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일정이 수립되어 최종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KPI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품의 일정이 변경되었습니다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진척일정</a:t>
                      </a: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- 1/17(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CDO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분기목표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Description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경영전략 송부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- 1/20(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제조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DX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최종본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그룹장님 서면 보고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- 2/3(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~ 2/7(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피드백 반영 및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- 2/14(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담당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전자결재 상신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 KPI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항목인 ＂인원효율화＂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관련 변경사항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-. KI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목표인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27.0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Ghw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와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얼라인하여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자동차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생산센터장님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차 목표 수립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현재 자동차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사업부장님 보고 후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컨펌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진행 중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(1/17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보고완료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-. CDO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반영 후 경영전략 제출 완료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(1/20)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지표가 변경될 경우 경영전략과 협의 후 변경 가능함을 확인함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(1/21)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인원효율화 목표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“27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en-US" altLang="ko-KR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Gwh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“, “11,905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명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으로 최종 확정 되었습니다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그룹장님 서면 보고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(2/11)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CDO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님께도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서면보고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(2/11) –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메일은 확인하셨으나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 외 피드백 사항 없음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166763C5-FA87-453C-88A5-6BA95ABEE119}"/>
              </a:ext>
            </a:extLst>
          </p:cNvPr>
          <p:cNvSpPr txBox="1"/>
          <p:nvPr/>
        </p:nvSpPr>
        <p:spPr>
          <a:xfrm>
            <a:off x="1630843" y="1678956"/>
            <a:ext cx="32069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ko-KR" altLang="en-US" sz="1100" b="1">
                <a:solidFill>
                  <a:prstClr val="black"/>
                </a:solidFill>
              </a:rPr>
              <a:t>□ 제조</a:t>
            </a:r>
            <a:r>
              <a:rPr lang="en-US" altLang="ko-KR" sz="1100" b="1">
                <a:solidFill>
                  <a:prstClr val="black"/>
                </a:solidFill>
              </a:rPr>
              <a:t>DX</a:t>
            </a:r>
            <a:r>
              <a:rPr lang="ko-KR" altLang="en-US" sz="1100" b="1">
                <a:solidFill>
                  <a:prstClr val="black"/>
                </a:solidFill>
              </a:rPr>
              <a:t>그룹 임원</a:t>
            </a:r>
            <a:r>
              <a:rPr lang="en-US" altLang="ko-KR" sz="1100" b="1">
                <a:solidFill>
                  <a:prstClr val="black"/>
                </a:solidFill>
              </a:rPr>
              <a:t>/</a:t>
            </a:r>
            <a:r>
              <a:rPr lang="ko-KR" altLang="en-US" sz="1100" b="1">
                <a:solidFill>
                  <a:prstClr val="black"/>
                </a:solidFill>
              </a:rPr>
              <a:t>담당 </a:t>
            </a:r>
            <a:r>
              <a:rPr lang="en-US" altLang="ko-KR" sz="1100" b="1">
                <a:solidFill>
                  <a:prstClr val="black"/>
                </a:solidFill>
              </a:rPr>
              <a:t>KPI </a:t>
            </a:r>
            <a:r>
              <a:rPr lang="ko-KR" altLang="en-US" sz="1100" b="1">
                <a:solidFill>
                  <a:prstClr val="black"/>
                </a:solidFill>
              </a:rPr>
              <a:t>수립 진척 일정 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FB85F8C2-0BE5-4F4F-AA97-AE6491041A1F}"/>
              </a:ext>
            </a:extLst>
          </p:cNvPr>
          <p:cNvSpPr txBox="1">
            <a:spLocks/>
          </p:cNvSpPr>
          <p:nvPr/>
        </p:nvSpPr>
        <p:spPr>
          <a:xfrm>
            <a:off x="8767556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S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D494391-8FE4-6CAD-C14F-AE7E81E21C21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EB7FB-3324-4B10-BB2F-A1B8E4DACFB5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2/26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graphicFrame>
        <p:nvGraphicFramePr>
          <p:cNvPr id="12" name="Group 967">
            <a:extLst>
              <a:ext uri="{FF2B5EF4-FFF2-40B4-BE49-F238E27FC236}">
                <a16:creationId xmlns:a16="http://schemas.microsoft.com/office/drawing/2014/main" id="{58BB3AA3-3052-4406-861B-0AA21DCDF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520886"/>
              </p:ext>
            </p:extLst>
          </p:nvPr>
        </p:nvGraphicFramePr>
        <p:xfrm>
          <a:off x="1745961" y="1965517"/>
          <a:ext cx="6799486" cy="1118192"/>
        </p:xfrm>
        <a:graphic>
          <a:graphicData uri="http://schemas.openxmlformats.org/drawingml/2006/table">
            <a:tbl>
              <a:tblPr/>
              <a:tblGrid>
                <a:gridCol w="341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16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11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목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ko-KR" altLang="en-US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576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10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11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12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13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14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400561"/>
                  </a:ext>
                </a:extLst>
              </a:tr>
              <a:tr h="18157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kern="1200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ko-KR" altLang="en-US" sz="900" b="1" spc="-5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분기 목표 </a:t>
                      </a:r>
                      <a:r>
                        <a:rPr lang="en-US" altLang="ko-KR" sz="900" b="1" spc="-5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900" b="1" spc="-5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평가 </a:t>
                      </a:r>
                      <a:r>
                        <a:rPr lang="en-US" altLang="ko-KR" sz="900" b="1" spc="-5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Description</a:t>
                      </a:r>
                      <a:b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경영전략</a:t>
                      </a: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팀 </a:t>
                      </a: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– 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부문間 논의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kern="1200" cap="none" spc="-50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27782"/>
                  </a:ext>
                </a:extLst>
              </a:tr>
              <a:tr h="18157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1100" b="1" i="0" u="none" strike="noStrike" cap="none" spc="-5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17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18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5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21</a:t>
                      </a:r>
                      <a:endParaRPr kumimoji="1" lang="ko-KR" altLang="en-US" sz="1000" b="1" i="0" u="none" strike="noStrike" cap="none" spc="-5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151191"/>
                  </a:ext>
                </a:extLst>
              </a:tr>
              <a:tr h="18157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1100" b="1" i="0" u="none" strike="noStrike" cap="none" spc="-5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kern="1200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ko-KR" altLang="en-US" sz="900" b="1" spc="-5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분기 목표 </a:t>
                      </a:r>
                      <a:r>
                        <a:rPr lang="en-US" altLang="ko-KR" sz="900" b="1" spc="-5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 </a:t>
                      </a:r>
                      <a:r>
                        <a:rPr lang="ko-KR" altLang="en-US" sz="900" b="1" spc="-5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평가 </a:t>
                      </a:r>
                      <a:r>
                        <a:rPr lang="en-US" altLang="ko-KR" sz="900" b="1" spc="-50">
                          <a:solidFill>
                            <a:srgbClr val="0000FF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Description</a:t>
                      </a:r>
                      <a:b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최종합의 </a:t>
                      </a: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[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전자결재</a:t>
                      </a: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] 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임원</a:t>
                      </a: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담당</a:t>
                      </a:r>
                      <a:b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kumimoji="1" lang="en-US" altLang="ko-KR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 KPI Full Package </a:t>
                      </a:r>
                      <a:r>
                        <a:rPr kumimoji="1" lang="ko-KR" altLang="en-US" sz="900" b="1" i="0" u="none" strike="noStrike" cap="none" spc="-50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확정</a:t>
                      </a:r>
                      <a:endParaRPr kumimoji="1" lang="en-US" altLang="ko-KR" sz="900" b="1" i="0" u="none" strike="noStrike" cap="none" spc="-50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18000" marR="18000" marT="0" marB="18000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32971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949058-4F92-4893-9CE9-490E82133E04}"/>
              </a:ext>
            </a:extLst>
          </p:cNvPr>
          <p:cNvCxnSpPr>
            <a:cxnSpLocks/>
          </p:cNvCxnSpPr>
          <p:nvPr/>
        </p:nvCxnSpPr>
        <p:spPr>
          <a:xfrm flipH="1">
            <a:off x="2107096" y="2434598"/>
            <a:ext cx="2504661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2DF3A95-69A0-47FF-8C1A-E3087B38B5D1}"/>
              </a:ext>
            </a:extLst>
          </p:cNvPr>
          <p:cNvCxnSpPr>
            <a:cxnSpLocks/>
          </p:cNvCxnSpPr>
          <p:nvPr/>
        </p:nvCxnSpPr>
        <p:spPr>
          <a:xfrm>
            <a:off x="5983357" y="2444708"/>
            <a:ext cx="2554358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29F3166-B364-4C9E-8D7C-A35E242CEB84}"/>
              </a:ext>
            </a:extLst>
          </p:cNvPr>
          <p:cNvCxnSpPr>
            <a:cxnSpLocks/>
          </p:cNvCxnSpPr>
          <p:nvPr/>
        </p:nvCxnSpPr>
        <p:spPr>
          <a:xfrm>
            <a:off x="2107096" y="2896003"/>
            <a:ext cx="2504661" cy="0"/>
          </a:xfrm>
          <a:prstGeom prst="straightConnector1">
            <a:avLst/>
          </a:prstGeom>
          <a:ln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4978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1109278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■ </a:t>
            </a: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KPI 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수립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(2/2)</a:t>
            </a:r>
            <a:endParaRPr kumimoji="0" lang="ko-KR" alt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graphicFrame>
        <p:nvGraphicFramePr>
          <p:cNvPr id="13" name="표 1">
            <a:extLst>
              <a:ext uri="{FF2B5EF4-FFF2-40B4-BE49-F238E27FC236}">
                <a16:creationId xmlns:a16="http://schemas.microsoft.com/office/drawing/2014/main" id="{646776F5-BF65-461A-9A5A-B0FB82CC4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715435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(W12)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KPI </a:t>
                      </a:r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수립</a:t>
                      </a: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(W12)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핵심내용은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KPI </a:t>
                      </a:r>
                      <a:r>
                        <a:rPr lang="ko-KR" altLang="en-US" sz="1000" b="0" baseline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최종본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품의는 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2/21(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)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까지 상신 예정입니다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  <a:endParaRPr lang="en-US" altLang="ko-KR" sz="1000" b="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 CDO KPI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항목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“ERP/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생산 시스템 혁신＂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관련 변경사항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기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수립안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생산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물류 운영효율성 및 차세대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PLM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시스템구축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적용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변경안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스마트팩토리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기반 강화를 위한 생산시스템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리빌딩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시스템 투자 금액 절감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517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으로 변경이 되면서</a:t>
                      </a:r>
                      <a:b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            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투자효과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319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CDO KPI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 반영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변경 사유로는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경영전략 담당에서 정량적 효과 기입 피드백을 받은 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CDO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님께서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직접 리뷰 하시면서 시스템 투자절감효과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(517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을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추가하라고 지시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319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효과로 반영된 사유로는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CEO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보고 자료 기반으로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356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억으로 산정하여 총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608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 투자효과 산정하고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CDO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님께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보고하였으나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CDO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님께서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효과 금액이 과도하다고 판단하시어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500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 대로 축소를 지시하시면서 투자효과가 가장 높았던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투자효과를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319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억으로 축소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Back data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319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 기준으로 수정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따라서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 해당 목표가 반영 필요하며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 반영되어 있는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신규법인 자동보정 조기 안정화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항목에 반영할 수 있도록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案 검토하여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재보고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예정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(1/24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까지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-. 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투자효과 법인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(MI2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HG, HD, ST)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반영해야하나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HG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법인은 양산이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’26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년으로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적용만을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 반영하기에는 임팩트가 부족한 것으로 생각되어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“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신규법인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조기안정화“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항목에 기존 법인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(ST,HD)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동을 추가하였음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그룹장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서면보고 완료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(1/23)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신규 법인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수율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조기안정화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는 기존 법인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(ST,HD)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만 반영하는 것으로 최종 결정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(2/11)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MI2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동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적용은 송영민님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로 반영되어 있습니다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 APC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투자비 절감효과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(319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관련 진행 사항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-. APC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투자효과 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319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억에 대해 경영전략으로부터 객관적 효과 산정 근거 설정 요청이 왔습니다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.(1/22)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경영전략에서는 사업계획 대비 절감효과로 제안하였으며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CDO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부문에서는 이미 절감된 투자비로 사업계획을 반영하였기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때문에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사업계획비 절감 금액으로는 효과 산정이 불가하다고 대응 예정입니다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현재 객관적 지표를 무엇으로 제시할지 논의 중입니다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지표가 선정되면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재보고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예정입니다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※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목표 수정 가능성도 있음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→ 투자절감 효과 기준을 기본품의로 잡는 것을 논의하고 있으며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현재 양산일정 미정 라인에 대해서는 효과 금액을 제외하는 것으로</a:t>
                      </a: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업무혁신그룹과 논의 중입니다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업무혁신그룹과 기준을 통일하고 경영전략과 </a:t>
                      </a:r>
                      <a:r>
                        <a:rPr kumimoji="0"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재논의</a:t>
                      </a: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예정입니다</a:t>
                      </a: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FB85F8C2-0BE5-4F4F-AA97-AE6491041A1F}"/>
              </a:ext>
            </a:extLst>
          </p:cNvPr>
          <p:cNvSpPr txBox="1">
            <a:spLocks/>
          </p:cNvSpPr>
          <p:nvPr/>
        </p:nvSpPr>
        <p:spPr>
          <a:xfrm>
            <a:off x="8767556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S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D494391-8FE4-6CAD-C14F-AE7E81E21C21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EB7FB-3324-4B10-BB2F-A1B8E4DACFB5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2/26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</p:spTree>
    <p:extLst>
      <p:ext uri="{BB962C8B-B14F-4D97-AF65-F5344CB8AC3E}">
        <p14:creationId xmlns:p14="http://schemas.microsoft.com/office/powerpoint/2010/main" val="34260987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097389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(W12)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다빈치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심화 교육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(W12) 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핵심</a:t>
                      </a:r>
                      <a:r>
                        <a:rPr lang="en-US" altLang="ko-KR" sz="1000" b="0" baseline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내용은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다빈치 심화교육 완료 보고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(03/17)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 한 사항입니다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일정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목적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참석자별 과제 수행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다빈치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Workflow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및 기능 고도화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을 통한 다빈치 활용 역량 강화 목적으로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전문성이 있는 영역에 대해서 교류 및 지원을 통해 과제의 실용도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완성도를 높이며 즉시 실무에 활용할 수 있도록 하고자 합니다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차수 진행하며 팀별 완료된 수행 과제 공유 및 추후 보고 일정에 대해서 안내하였습니다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(02/26)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총 과제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9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건 대상 과제 수행하며 진행한 활동 및 과제 결과물에 대해서 그룹장님께 서면보고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(03/07)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및 대면 보고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(03/10)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드리겠습니다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대면 보고 일정을 석식과 연계하여 진행할 예정이며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장소 및 참석자 미정인 상황으로 확정 후 말씀드리겠습니다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다빈치 심화교육 피드백을 받고자 설문 진행하였으며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(~03/04),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주요 피드백 내용에 대해 정리하여 다빈치팀에서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보고드렸습니다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.(03/05)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교육 참석 인원들의 역량 향상 내용에 대해서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보고드리고자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그룹장님께 교육 완료 서면보고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(03/14)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후 대면보고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(03/17)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드리겠습니다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향후 계획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과제 진행 중 문의사항이나 요청사항에 대해 즉각적인 대응을 위해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Teams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에 실시간 소통 창구를 개설하여 운영하고 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과제의 완성도 향상을 위해서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담당별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과제 진척 현황을 공유하는 자리를 가질 예정이고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결과에 대해서 그룹장님께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보고드리겠습니다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참석자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과제 현황</a:t>
                      </a:r>
                      <a:r>
                        <a:rPr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~’25.03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이재후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교육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3/19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767557" y="403273"/>
            <a:ext cx="923330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/>
              </a:rPr>
              <a:t>이재후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590E37-8C85-492A-A3B1-D66887CC4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124589"/>
              </p:ext>
            </p:extLst>
          </p:nvPr>
        </p:nvGraphicFramePr>
        <p:xfrm>
          <a:off x="1650014" y="4639530"/>
          <a:ext cx="6855811" cy="1645920"/>
        </p:xfrm>
        <a:graphic>
          <a:graphicData uri="http://schemas.openxmlformats.org/drawingml/2006/table">
            <a:tbl>
              <a:tblPr/>
              <a:tblGrid>
                <a:gridCol w="1001411">
                  <a:extLst>
                    <a:ext uri="{9D8B030D-6E8A-4147-A177-3AD203B41FA5}">
                      <a16:colId xmlns:a16="http://schemas.microsoft.com/office/drawing/2014/main" val="1114533927"/>
                    </a:ext>
                  </a:extLst>
                </a:gridCol>
                <a:gridCol w="1085779">
                  <a:extLst>
                    <a:ext uri="{9D8B030D-6E8A-4147-A177-3AD203B41FA5}">
                      <a16:colId xmlns:a16="http://schemas.microsoft.com/office/drawing/2014/main" val="1783838467"/>
                    </a:ext>
                  </a:extLst>
                </a:gridCol>
                <a:gridCol w="1417747">
                  <a:extLst>
                    <a:ext uri="{9D8B030D-6E8A-4147-A177-3AD203B41FA5}">
                      <a16:colId xmlns:a16="http://schemas.microsoft.com/office/drawing/2014/main" val="2612872039"/>
                    </a:ext>
                  </a:extLst>
                </a:gridCol>
                <a:gridCol w="3350874">
                  <a:extLst>
                    <a:ext uri="{9D8B030D-6E8A-4147-A177-3AD203B41FA5}">
                      <a16:colId xmlns:a16="http://schemas.microsoft.com/office/drawing/2014/main" val="1443718275"/>
                    </a:ext>
                  </a:extLst>
                </a:gridCol>
              </a:tblGrid>
              <a:tr h="609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담당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210375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품질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담당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다빈치팀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지원경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김도희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한승구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489988"/>
                  </a:ext>
                </a:extLst>
              </a:tr>
              <a:tr h="609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공정제어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팀</a:t>
                      </a:r>
                    </a:p>
                  </a:txBody>
                  <a:tcPr marL="0" marR="0" marT="0" marB="0"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권오훈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FDC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사용자 업무 능률 향상을 위한 데이터 정합성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Tool W/F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426180"/>
                  </a:ext>
                </a:extLst>
              </a:tr>
              <a:tr h="609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공정검사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이상오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SPC CTQ </a:t>
                      </a: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관리 </a:t>
                      </a: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W/F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23729"/>
                  </a:ext>
                </a:extLst>
              </a:tr>
              <a:tr h="6090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FDC DX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담당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전극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FDC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홍도현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HM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법인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NND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공정 설비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Sameness W/F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797183"/>
                  </a:ext>
                </a:extLst>
              </a:tr>
              <a:tr h="609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조립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FDC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정현아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김병찬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WA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법인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MEB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라인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Sameness W/F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622796"/>
                  </a:ext>
                </a:extLst>
              </a:tr>
              <a:tr h="609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원통형조립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FDC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안진운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김종명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김재희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NJ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법인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원통형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Sameness W/F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2601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자동보정담당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RSND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자동보정팀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박세용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백승민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RSND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자동보정 활용률 저하 원인 분석 지원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W/F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048022"/>
                  </a:ext>
                </a:extLst>
              </a:tr>
              <a:tr h="609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조립자동보정팀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강현웅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김태승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조립 자동보정 활용률 저하 원인 분석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W/F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4260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자동보정선행개발팀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조동현</a:t>
                      </a:r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코터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종합 분석도구 다빈치 </a:t>
                      </a:r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롤맵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 데이터 연계 및 분석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Tool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고도화</a:t>
                      </a:r>
                      <a:endParaRPr lang="en-US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26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솔루션담당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데이터통합분석팀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임성묵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S,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최재호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EDC PV data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와 실시간 불량률 간 트렌드 유사성 파악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W/F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05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직속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기획팀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신종권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P, </a:t>
                      </a:r>
                      <a:r>
                        <a:rPr lang="ko-KR" altLang="en-US" sz="900" b="0" i="0" u="none" strike="noStrik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이재후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 (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간사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58141"/>
                  </a:ext>
                </a:extLst>
              </a:tr>
            </a:tbl>
          </a:graphicData>
        </a:graphic>
      </p:graphicFrame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105ADD70-2658-4900-A1C7-058FFAE61472}"/>
              </a:ext>
            </a:extLst>
          </p:cNvPr>
          <p:cNvSpPr/>
          <p:nvPr/>
        </p:nvSpPr>
        <p:spPr>
          <a:xfrm>
            <a:off x="2138126" y="1738936"/>
            <a:ext cx="6203662" cy="98134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2C68D66-795D-4B95-A7EC-B567DDDE4AED}"/>
              </a:ext>
            </a:extLst>
          </p:cNvPr>
          <p:cNvGrpSpPr/>
          <p:nvPr/>
        </p:nvGrpSpPr>
        <p:grpSpPr>
          <a:xfrm>
            <a:off x="1650014" y="1656242"/>
            <a:ext cx="1431681" cy="635118"/>
            <a:chOff x="267826" y="7426472"/>
            <a:chExt cx="1431681" cy="63511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5777A9D-ED5A-4405-AF2A-5B748DDE25DA}"/>
                </a:ext>
              </a:extLst>
            </p:cNvPr>
            <p:cNvSpPr/>
            <p:nvPr/>
          </p:nvSpPr>
          <p:spPr>
            <a:xfrm>
              <a:off x="839667" y="7426472"/>
              <a:ext cx="288000" cy="28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1/15</a:t>
              </a:r>
              <a:endParaRPr lang="ko-KR" altLang="en-US" sz="8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828346-CF3C-4EB1-ACD9-CB60E3C63119}"/>
                </a:ext>
              </a:extLst>
            </p:cNvPr>
            <p:cNvSpPr/>
            <p:nvPr/>
          </p:nvSpPr>
          <p:spPr>
            <a:xfrm>
              <a:off x="267826" y="7723036"/>
              <a:ext cx="143168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교육 소개 및 과제 공유</a:t>
              </a:r>
              <a:endPara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(1</a:t>
              </a:r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차수</a:t>
              </a:r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3B07032-FC71-446A-9B23-944E8D581E17}"/>
              </a:ext>
            </a:extLst>
          </p:cNvPr>
          <p:cNvGrpSpPr/>
          <p:nvPr/>
        </p:nvGrpSpPr>
        <p:grpSpPr>
          <a:xfrm>
            <a:off x="2821708" y="1656242"/>
            <a:ext cx="714376" cy="635118"/>
            <a:chOff x="2421546" y="7426472"/>
            <a:chExt cx="714376" cy="635118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B3BBBF6C-34B5-4CD9-BEC8-BC959479D6BF}"/>
                </a:ext>
              </a:extLst>
            </p:cNvPr>
            <p:cNvSpPr/>
            <p:nvPr/>
          </p:nvSpPr>
          <p:spPr>
            <a:xfrm>
              <a:off x="2634734" y="7426472"/>
              <a:ext cx="288000" cy="28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1/23</a:t>
              </a:r>
              <a:endParaRPr lang="ko-KR" altLang="en-US" sz="8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842DD48-065E-42B5-8DF5-01DFE8F44304}"/>
                </a:ext>
              </a:extLst>
            </p:cNvPr>
            <p:cNvSpPr/>
            <p:nvPr/>
          </p:nvSpPr>
          <p:spPr>
            <a:xfrm>
              <a:off x="2421546" y="7723036"/>
              <a:ext cx="7143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과제 수행</a:t>
              </a:r>
              <a:endPara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(2</a:t>
              </a:r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차수</a:t>
              </a:r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8C71EA-6515-496F-AE81-EB68406D5B93}"/>
              </a:ext>
            </a:extLst>
          </p:cNvPr>
          <p:cNvGrpSpPr/>
          <p:nvPr/>
        </p:nvGrpSpPr>
        <p:grpSpPr>
          <a:xfrm>
            <a:off x="4537762" y="1656242"/>
            <a:ext cx="714376" cy="635118"/>
            <a:chOff x="6008818" y="7426472"/>
            <a:chExt cx="714376" cy="6351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8DBF411-CEEC-4E03-8840-F88E860243E1}"/>
                </a:ext>
              </a:extLst>
            </p:cNvPr>
            <p:cNvSpPr/>
            <p:nvPr/>
          </p:nvSpPr>
          <p:spPr>
            <a:xfrm>
              <a:off x="6224868" y="7426472"/>
              <a:ext cx="288000" cy="28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2/12</a:t>
              </a:r>
              <a:endParaRPr lang="ko-KR" altLang="en-US" sz="8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8FEC489-7166-49A3-BFD9-DBE6B0EF3A35}"/>
                </a:ext>
              </a:extLst>
            </p:cNvPr>
            <p:cNvSpPr/>
            <p:nvPr/>
          </p:nvSpPr>
          <p:spPr>
            <a:xfrm>
              <a:off x="6008818" y="7723036"/>
              <a:ext cx="7143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과제 수행</a:t>
              </a:r>
              <a:endPara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(4</a:t>
              </a:r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차수</a:t>
              </a:r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3FD1530-20B3-45E3-911A-1A249083A7BC}"/>
              </a:ext>
            </a:extLst>
          </p:cNvPr>
          <p:cNvGrpSpPr/>
          <p:nvPr/>
        </p:nvGrpSpPr>
        <p:grpSpPr>
          <a:xfrm>
            <a:off x="6920839" y="1656242"/>
            <a:ext cx="950615" cy="512008"/>
            <a:chOff x="7682995" y="7426472"/>
            <a:chExt cx="950615" cy="512008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DFE224B-65B6-4C2C-8379-1CE2A157B67B}"/>
                </a:ext>
              </a:extLst>
            </p:cNvPr>
            <p:cNvSpPr/>
            <p:nvPr/>
          </p:nvSpPr>
          <p:spPr>
            <a:xfrm>
              <a:off x="8019934" y="7426472"/>
              <a:ext cx="288000" cy="288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3/10</a:t>
              </a:r>
              <a:endParaRPr lang="ko-KR" altLang="en-US" sz="8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8FECA3E-1313-48E7-B3CA-D23880211100}"/>
                </a:ext>
              </a:extLst>
            </p:cNvPr>
            <p:cNvSpPr/>
            <p:nvPr/>
          </p:nvSpPr>
          <p:spPr>
            <a:xfrm>
              <a:off x="7682995" y="7723036"/>
              <a:ext cx="950615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그룹장님 보고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549A6CB-2971-45B1-A3EC-2A2AE47021A6}"/>
              </a:ext>
            </a:extLst>
          </p:cNvPr>
          <p:cNvGrpSpPr/>
          <p:nvPr/>
        </p:nvGrpSpPr>
        <p:grpSpPr>
          <a:xfrm>
            <a:off x="5395789" y="1656242"/>
            <a:ext cx="714376" cy="635118"/>
            <a:chOff x="6008818" y="7426472"/>
            <a:chExt cx="714376" cy="635118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22C76F7-769A-4173-A829-B66C0C6D66F7}"/>
                </a:ext>
              </a:extLst>
            </p:cNvPr>
            <p:cNvSpPr/>
            <p:nvPr/>
          </p:nvSpPr>
          <p:spPr>
            <a:xfrm>
              <a:off x="6224868" y="7426472"/>
              <a:ext cx="288000" cy="28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2/19</a:t>
              </a:r>
              <a:endParaRPr lang="ko-KR" altLang="en-US" sz="8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98288E3-5677-4D76-BDAE-0050E2B6E0DC}"/>
                </a:ext>
              </a:extLst>
            </p:cNvPr>
            <p:cNvSpPr/>
            <p:nvPr/>
          </p:nvSpPr>
          <p:spPr>
            <a:xfrm>
              <a:off x="6008818" y="7723036"/>
              <a:ext cx="7143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과제 수행</a:t>
              </a:r>
              <a:endPara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(5</a:t>
              </a:r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차수</a:t>
              </a:r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D35D80B-E116-46B2-8251-BD65FF85D326}"/>
              </a:ext>
            </a:extLst>
          </p:cNvPr>
          <p:cNvGrpSpPr/>
          <p:nvPr/>
        </p:nvGrpSpPr>
        <p:grpSpPr>
          <a:xfrm>
            <a:off x="6253816" y="1656242"/>
            <a:ext cx="714376" cy="635118"/>
            <a:chOff x="6008818" y="7426472"/>
            <a:chExt cx="714376" cy="635118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F71F9FAA-6D51-406E-BE4D-A0BF258F1B33}"/>
                </a:ext>
              </a:extLst>
            </p:cNvPr>
            <p:cNvSpPr/>
            <p:nvPr/>
          </p:nvSpPr>
          <p:spPr>
            <a:xfrm>
              <a:off x="6224868" y="7426472"/>
              <a:ext cx="288000" cy="28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2/26</a:t>
              </a:r>
              <a:endParaRPr lang="ko-KR" altLang="en-US" sz="8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872EB49-2E49-4466-B842-CDE103189DE9}"/>
                </a:ext>
              </a:extLst>
            </p:cNvPr>
            <p:cNvSpPr/>
            <p:nvPr/>
          </p:nvSpPr>
          <p:spPr>
            <a:xfrm>
              <a:off x="6008818" y="7723036"/>
              <a:ext cx="7143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과제 수행</a:t>
              </a:r>
              <a:endPara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(6</a:t>
              </a:r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차수</a:t>
              </a:r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endParaRPr kumimoji="1" lang="ko-KR" altLang="en-US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760928C-2B15-43E4-9730-0D42C18985A9}"/>
              </a:ext>
            </a:extLst>
          </p:cNvPr>
          <p:cNvGrpSpPr/>
          <p:nvPr/>
        </p:nvGrpSpPr>
        <p:grpSpPr>
          <a:xfrm>
            <a:off x="3679735" y="1656242"/>
            <a:ext cx="714376" cy="635118"/>
            <a:chOff x="2421546" y="7426472"/>
            <a:chExt cx="714376" cy="635118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9074911-925C-464D-9C54-AB96F86CAB2D}"/>
                </a:ext>
              </a:extLst>
            </p:cNvPr>
            <p:cNvSpPr/>
            <p:nvPr/>
          </p:nvSpPr>
          <p:spPr>
            <a:xfrm>
              <a:off x="2634734" y="7426472"/>
              <a:ext cx="288000" cy="288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>
                  <a:solidFill>
                    <a:schemeClr val="bg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1/23</a:t>
              </a:r>
              <a:endParaRPr lang="ko-KR" altLang="en-US" sz="800" b="1">
                <a:solidFill>
                  <a:schemeClr val="bg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54EC6F41-F652-4917-A779-8FAD9EB2C221}"/>
                </a:ext>
              </a:extLst>
            </p:cNvPr>
            <p:cNvSpPr/>
            <p:nvPr/>
          </p:nvSpPr>
          <p:spPr>
            <a:xfrm>
              <a:off x="2421546" y="7723036"/>
              <a:ext cx="7143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과제 수행</a:t>
              </a:r>
              <a:endParaRPr kumimoji="1" lang="en-US" altLang="ko-KR" sz="800" b="1"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  <a:p>
              <a:pPr algn="ctr"/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(3</a:t>
              </a:r>
              <a:r>
                <a:rPr kumimoji="1" lang="ko-KR" altLang="en-US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차수</a:t>
              </a:r>
              <a:r>
                <a:rPr kumimoji="1" lang="en-US" altLang="ko-KR" sz="800" b="1"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36406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097320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(W11)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LG</a:t>
                      </a:r>
                      <a:r>
                        <a:rPr lang="ko-KR" altLang="en-US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인화원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대학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(W12) </a:t>
                      </a:r>
                      <a:r>
                        <a:rPr lang="ko-KR" altLang="en-US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특이사항 없습니다</a:t>
                      </a:r>
                      <a:r>
                        <a:rPr lang="en-US" altLang="ko-KR" sz="1000" b="0" baseline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직무역량개발팀으로부터 매년 진행되는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LG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인화원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대학에 대해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25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년 과정을 전달 받았습니다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해당 교육에 대해 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그룹에 배분된 참가비 가용 예산은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백만원으로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T/O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로 산정 시 그룹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 참석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가능해보였으나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팀별 회신 주신 교육 필수 인원은 총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명이었습니다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이에 우선순위 고려하여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1,2,3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순위는 직무역량개발팀 예산으로 진행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추가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명은 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 예산으로 진행하기로 논의하였으며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3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명에 대한 참가비는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3,750,000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원으로 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70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만원 증액 가능함을 직무역량개발팀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리더육성팀에 확인 받았습니다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추가 인원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명에 대한 참가비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850,000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원은 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 예산에서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인화원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교육 예산 계정으로 이관 예정이며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출장비는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CDO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산하 전체 참석인원 취합 후 최대한 지원 가능하도록 검토 중이라고 합니다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※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참석 인원 및 희망 교육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신청 사유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  1) FDC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FDC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홍도현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 : Data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의사결정을 위한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Data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시각화</a:t>
                      </a:r>
                      <a:b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</a:b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     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다수의 변수 검토 및 법인에 분석 결과 공유 시 효과적인 시각화 설계 능력이 필요함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  2)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솔루션담당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데이터통합분석팀 박형식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 :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생성형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기반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LG Data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분석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Camp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     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 ESWA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라미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수율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 개선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PJT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진행 중으로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교육 통해 데이터 관점의 근본 원인 도출 능력을 기르고자 함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  3)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솔루션담당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데이터통합분석팀 조은지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 :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업무 패러다임 혁신을 위한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 Literacy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     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통합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수율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 분석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report PJT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진행 중으로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교육 수강 통해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AI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활용하여 정확한 근본 원인 도출 능력을 기르고자 함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  4)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솔루션담당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데이터통합분석팀 김선욱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 : Data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기반 의사결정을 위한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Data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시각화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      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공정 간 연계 분석 통한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저전압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 영향 인자 발굴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PJT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진행 중으로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              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다수의 데이터를 효율적으로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시각화하여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sym typeface="Wingdings" panose="05000000000000000000" pitchFamily="2" charset="2"/>
                        </a:rPr>
                        <a:t> 근본 원인 분석 능력을 기르고자 함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해당 교육은 참가비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출장비 모두 전사 공통예산으로 진행되나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추가 인원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명에 대한 참가비는 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 예산으로 사용하고자 합니다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출장비는 최대한 지원 가능한 방향으로 검토 중입니다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 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리더육성팀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~’25.02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</a:t>
            </a:r>
            <a:r>
              <a:rPr lang="ko-KR" altLang="en-US" sz="1400" b="1">
                <a:solidFill>
                  <a:prstClr val="black"/>
                </a:solidFill>
                <a:latin typeface="Arial Narrow"/>
                <a:ea typeface="LG스마트체 Regular"/>
                <a:cs typeface="Malgun Gothic Semilight" panose="020B0502040204020203" pitchFamily="50" charset="-127"/>
              </a:rPr>
              <a:t>교육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2/26 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767557" y="403273"/>
            <a:ext cx="923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이정연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</p:spTree>
    <p:extLst>
      <p:ext uri="{BB962C8B-B14F-4D97-AF65-F5344CB8AC3E}">
        <p14:creationId xmlns:p14="http://schemas.microsoft.com/office/powerpoint/2010/main" val="33378653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722548"/>
              </p:ext>
            </p:extLst>
          </p:nvPr>
        </p:nvGraphicFramePr>
        <p:xfrm>
          <a:off x="125047" y="866774"/>
          <a:ext cx="9644176" cy="562427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(W16)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51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마키나락스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프로젝트 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사례 </a:t>
                      </a:r>
                      <a:r>
                        <a:rPr lang="ko-KR" altLang="en-US" sz="10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공유회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(W16) </a:t>
                      </a: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특이사항 없습니다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마키나락스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프로젝트 사례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공유회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솔루션 담당님 요청으로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마키나락스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프로젝트 사례 공유회에 대해 그룹 구성원 전체로 확대하여 참석 희망자 조사하였습니다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제조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DX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그룹 구성원 대상 설문 진행 시 총 참석 희망 인원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72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명으로 집계 되었으며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오창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인원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52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과천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파크원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명으로 집계되었습니다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공유회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일정은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4/9(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이며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차수 오프라인 진행하나 화상 동시 진행으로 과천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파크원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인원 수강 가능하도록 진행 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*</a:t>
                      </a:r>
                      <a:r>
                        <a:rPr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일정 및 장소 </a:t>
                      </a:r>
                      <a:r>
                        <a:rPr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4/9(</a:t>
                      </a:r>
                      <a:r>
                        <a:rPr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수</a:t>
                      </a:r>
                      <a:r>
                        <a:rPr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EP1 </a:t>
                      </a:r>
                      <a:r>
                        <a:rPr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본관 </a:t>
                      </a:r>
                      <a:r>
                        <a:rPr lang="ko-KR" altLang="en-US" sz="900" b="1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복지동</a:t>
                      </a:r>
                      <a:r>
                        <a:rPr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4</a:t>
                      </a:r>
                      <a:r>
                        <a:rPr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층 </a:t>
                      </a:r>
                      <a:r>
                        <a:rPr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Collaboration Room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~’25.03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1030731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</a:t>
            </a:r>
            <a:r>
              <a:rPr lang="ko-KR" altLang="en-US" sz="1400" b="1">
                <a:solidFill>
                  <a:prstClr val="black"/>
                </a:solidFill>
                <a:latin typeface="Arial Narrow"/>
                <a:ea typeface="LG스마트체 Regular"/>
                <a:cs typeface="Malgun Gothic Semilight" panose="020B0502040204020203" pitchFamily="50" charset="-127"/>
              </a:rPr>
              <a:t>세미나</a:t>
            </a: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362985" y="572550"/>
            <a:ext cx="132408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4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/2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767557" y="403273"/>
            <a:ext cx="923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이정연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E82557B-564E-4A1B-8F1E-DF5EF02CE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502014"/>
              </p:ext>
            </p:extLst>
          </p:nvPr>
        </p:nvGraphicFramePr>
        <p:xfrm>
          <a:off x="1735114" y="2882065"/>
          <a:ext cx="6848169" cy="3630877"/>
        </p:xfrm>
        <a:graphic>
          <a:graphicData uri="http://schemas.openxmlformats.org/drawingml/2006/table">
            <a:tbl>
              <a:tblPr/>
              <a:tblGrid>
                <a:gridCol w="437931">
                  <a:extLst>
                    <a:ext uri="{9D8B030D-6E8A-4147-A177-3AD203B41FA5}">
                      <a16:colId xmlns:a16="http://schemas.microsoft.com/office/drawing/2014/main" val="73827781"/>
                    </a:ext>
                  </a:extLst>
                </a:gridCol>
                <a:gridCol w="786073">
                  <a:extLst>
                    <a:ext uri="{9D8B030D-6E8A-4147-A177-3AD203B41FA5}">
                      <a16:colId xmlns:a16="http://schemas.microsoft.com/office/drawing/2014/main" val="2179828876"/>
                    </a:ext>
                  </a:extLst>
                </a:gridCol>
                <a:gridCol w="795431">
                  <a:extLst>
                    <a:ext uri="{9D8B030D-6E8A-4147-A177-3AD203B41FA5}">
                      <a16:colId xmlns:a16="http://schemas.microsoft.com/office/drawing/2014/main" val="4200002492"/>
                    </a:ext>
                  </a:extLst>
                </a:gridCol>
                <a:gridCol w="1525731">
                  <a:extLst>
                    <a:ext uri="{9D8B030D-6E8A-4147-A177-3AD203B41FA5}">
                      <a16:colId xmlns:a16="http://schemas.microsoft.com/office/drawing/2014/main" val="47025862"/>
                    </a:ext>
                  </a:extLst>
                </a:gridCol>
                <a:gridCol w="2631940">
                  <a:extLst>
                    <a:ext uri="{9D8B030D-6E8A-4147-A177-3AD203B41FA5}">
                      <a16:colId xmlns:a16="http://schemas.microsoft.com/office/drawing/2014/main" val="3104029567"/>
                    </a:ext>
                  </a:extLst>
                </a:gridCol>
                <a:gridCol w="448754">
                  <a:extLst>
                    <a:ext uri="{9D8B030D-6E8A-4147-A177-3AD203B41FA5}">
                      <a16:colId xmlns:a16="http://schemas.microsoft.com/office/drawing/2014/main" val="1116428297"/>
                    </a:ext>
                  </a:extLst>
                </a:gridCol>
                <a:gridCol w="222309">
                  <a:extLst>
                    <a:ext uri="{9D8B030D-6E8A-4147-A177-3AD203B41FA5}">
                      <a16:colId xmlns:a16="http://schemas.microsoft.com/office/drawing/2014/main" val="3627084292"/>
                    </a:ext>
                  </a:extLst>
                </a:gridCol>
              </a:tblGrid>
              <a:tr h="12296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세션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세부 세션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관련 대상 조직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관심 사례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세부 내용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발표자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시간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444119"/>
                  </a:ext>
                </a:extLst>
              </a:tr>
              <a:tr h="23587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 소개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회사 소개 및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도입 전략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윤성호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(CEO)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520403"/>
                  </a:ext>
                </a:extLst>
              </a:tr>
              <a:tr h="461683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AI/DX 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성공 경험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예지보전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예측분석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DX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로봇팔 예지보전 및 동작 품질 분석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구동 단계별 예지보전 접근법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필요 파라미터 종류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: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온도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진동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전류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예지보전 알고리즘 사례 및 특징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동일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JOB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수행 로봇 간 데이터 분포 기법 및 지표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임용섭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(CDO)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107976"/>
                  </a:ext>
                </a:extLst>
              </a:tr>
              <a:tr h="348779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FDC DX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회전체 장비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모터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예지보전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모터 종류별 필요한 파라미터 및 데이터 수집 주기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적용된 예지보전 알고리즘 및 사례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모터 고장 부위 판단 기법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667444"/>
                  </a:ext>
                </a:extLst>
              </a:tr>
              <a:tr h="23587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DX, FDC DX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반도체 생산 장비 이상예측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생산 과정에 정상 데이터 적용 방식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이상 징후 탐지 및 예측 알고리즘 상세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428531"/>
                  </a:ext>
                </a:extLst>
              </a:tr>
              <a:tr h="122968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Li+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배터리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RUL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예측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 학습 및 시뮬레이션 환경 구축 시 최우선 고려 요소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867861"/>
                  </a:ext>
                </a:extLst>
              </a:tr>
              <a:tr h="348779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최적화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다품종소량생산 공정 최적화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초기 셋업 필요 여부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장비 고장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주문 변경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품목 반영 방식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분포 추정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VS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조립 계획 준수율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19% -&gt; 85%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개선 요인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허영신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(CBO)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726901"/>
                  </a:ext>
                </a:extLst>
              </a:tr>
              <a:tr h="122968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KG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스틸 온도 제어 최적화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405303"/>
                  </a:ext>
                </a:extLst>
              </a:tr>
              <a:tr h="23587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폐기물 소각로 운전 최적화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 =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자동제어를 통한 품질 최적화 사례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465189"/>
                  </a:ext>
                </a:extLst>
              </a:tr>
              <a:tr h="574589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구축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(MLOps)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실시간 데이터 기반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구축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사용한 데이터 종류 및 학습에 활용한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DL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제어 최적화 적용 방식 및 차별점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다운타임 감소 효과가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5~8%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 그친 이유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(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정확성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한계 등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현업과 데이터 공유 및 현장 적용 방식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실시간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PLC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수집을 위한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IT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인프라 구성 방식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30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623957"/>
                  </a:ext>
                </a:extLst>
              </a:tr>
              <a:tr h="46168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품질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DX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제조 공정의 머신비전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구축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 = AI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워크플로우 최적화를 위한 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All-in-one AI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구축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이미지 기반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예측 모델을 개발했던 상세 사례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RunWay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의 사용자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관리자 측면 특장점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RunWay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에서 로우코드 기반 모델 생성 가능 여부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이미지 뷰어 및 시각화 기능 지원 여부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905516"/>
                  </a:ext>
                </a:extLst>
              </a:tr>
              <a:tr h="23587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에이전트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에이전트 정의 및 구현 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에이전트로 해결하는 산업현장의 과제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윤성호</a:t>
                      </a:r>
                      <a:endParaRPr lang="en-US" altLang="ko-KR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(CEO)</a:t>
                      </a: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17135"/>
                  </a:ext>
                </a:extLst>
              </a:tr>
              <a:tr h="1229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Q&amp;A</a:t>
                      </a: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i="0" u="none" strike="noStrike" baseline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DX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활용도</a:t>
                      </a: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비용 측면에서 개선 및 구축이 어려웠던 사례 등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전체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700" b="0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474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260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209884"/>
              </p:ext>
            </p:extLst>
          </p:nvPr>
        </p:nvGraphicFramePr>
        <p:xfrm>
          <a:off x="125047" y="866775"/>
          <a:ext cx="9644176" cy="5615160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407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(W15)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6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다빈치 </a:t>
                      </a:r>
                      <a:r>
                        <a:rPr lang="en-US" altLang="ko-KR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Step</a:t>
                      </a: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별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교육</a:t>
                      </a:r>
                      <a:endParaRPr lang="en-US" altLang="ko-KR" sz="1000" b="0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-</a:t>
                      </a: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금주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(W15) </a:t>
                      </a:r>
                      <a:r>
                        <a:rPr lang="ko-KR" altLang="en-US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특이사항 없습니다</a:t>
                      </a:r>
                      <a:r>
                        <a:rPr lang="en-US" altLang="ko-KR" sz="1000" b="0" baseline="0">
                          <a:solidFill>
                            <a:srgbClr val="1414FE"/>
                          </a:solidFill>
                          <a:latin typeface="+mn-lt"/>
                          <a:ea typeface="+mn-ea"/>
                          <a:cs typeface="Malgun Gothic Semilight"/>
                        </a:rPr>
                        <a:t>.</a:t>
                      </a: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414F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Malgun Gothic Semilight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다빈치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Step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별 교육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그룹장님께서 다빈치팀에 요청주신 사항에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F/U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건으로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다빈치 교육에 대해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Step 1~6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으로 분류된 기준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내용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및 그룹 구성원 수강 현황에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대한 보고를 </a:t>
                      </a:r>
                      <a:r>
                        <a:rPr lang="ko-KR" alt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요청주셨습니다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진행사항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Step 1~6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에 대한 상세 내용은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3/24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일자 주간회의 시 공유 드렸으며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Step 5~6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을 수강한 인원은 총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71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*Step 1~4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수강 인원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214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명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필수로 들어야 할 단계 및 추가로 들어야 할 단계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다빈치 능력 고급 인원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에 대해 분류하여 교육 계획 수립할 것이라는 추가 코멘트 사항에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따라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DAVINCI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팀과 협업하여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F/U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~’25.03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이정연</a:t>
                      </a:r>
                      <a:endParaRPr lang="en-US" altLang="ko-KR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873637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■ 교육 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40AC6-D288-4190-89A9-88F0476A4F12}"/>
              </a:ext>
            </a:extLst>
          </p:cNvPr>
          <p:cNvSpPr txBox="1"/>
          <p:nvPr/>
        </p:nvSpPr>
        <p:spPr>
          <a:xfrm>
            <a:off x="8298865" y="572550"/>
            <a:ext cx="138820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: 3/26</a:t>
            </a:r>
            <a:r>
              <a:rPr lang="en-US" altLang="ko-KR">
                <a:latin typeface="Arial Narrow"/>
                <a:ea typeface="LG스마트체 Regular"/>
                <a:cs typeface="Malgun Gothic Semilight"/>
              </a:rPr>
              <a:t>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"/>
                <a:ea typeface="LG스마트체 Regular"/>
                <a:cs typeface="Malgun Gothic Semilight"/>
              </a:rPr>
              <a:t>시</a:t>
            </a:r>
          </a:p>
        </p:txBody>
      </p:sp>
      <p:sp>
        <p:nvSpPr>
          <p:cNvPr id="16" name="내용 개체 틀 20">
            <a:extLst>
              <a:ext uri="{FF2B5EF4-FFF2-40B4-BE49-F238E27FC236}">
                <a16:creationId xmlns:a16="http://schemas.microsoft.com/office/drawing/2014/main" id="{D3B03705-4928-48C5-926A-3E4878FAC700}"/>
              </a:ext>
            </a:extLst>
          </p:cNvPr>
          <p:cNvSpPr txBox="1">
            <a:spLocks/>
          </p:cNvSpPr>
          <p:nvPr/>
        </p:nvSpPr>
        <p:spPr>
          <a:xfrm>
            <a:off x="8767557" y="403273"/>
            <a:ext cx="923330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lang="ko-KR" altLang="en-US" sz="1100">
                <a:solidFill>
                  <a:prstClr val="black"/>
                </a:solidFill>
                <a:cs typeface="Malgun Gothic Semilight" panose="020B0502040204020203" pitchFamily="50" charset="-127"/>
              </a:rPr>
              <a:t>이정연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A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18DB392-BA1D-BCE8-FD4B-58C7B8C74BB4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74EAB7C-4527-43A2-9E19-FF0BEF74A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060449"/>
              </p:ext>
            </p:extLst>
          </p:nvPr>
        </p:nvGraphicFramePr>
        <p:xfrm>
          <a:off x="1739418" y="2672464"/>
          <a:ext cx="6870429" cy="3167979"/>
        </p:xfrm>
        <a:graphic>
          <a:graphicData uri="http://schemas.openxmlformats.org/drawingml/2006/table">
            <a:tbl>
              <a:tblPr/>
              <a:tblGrid>
                <a:gridCol w="303831">
                  <a:extLst>
                    <a:ext uri="{9D8B030D-6E8A-4147-A177-3AD203B41FA5}">
                      <a16:colId xmlns:a16="http://schemas.microsoft.com/office/drawing/2014/main" val="73827781"/>
                    </a:ext>
                  </a:extLst>
                </a:gridCol>
                <a:gridCol w="1158644">
                  <a:extLst>
                    <a:ext uri="{9D8B030D-6E8A-4147-A177-3AD203B41FA5}">
                      <a16:colId xmlns:a16="http://schemas.microsoft.com/office/drawing/2014/main" val="3467396508"/>
                    </a:ext>
                  </a:extLst>
                </a:gridCol>
                <a:gridCol w="1039469">
                  <a:extLst>
                    <a:ext uri="{9D8B030D-6E8A-4147-A177-3AD203B41FA5}">
                      <a16:colId xmlns:a16="http://schemas.microsoft.com/office/drawing/2014/main" val="2026171596"/>
                    </a:ext>
                  </a:extLst>
                </a:gridCol>
                <a:gridCol w="1174303">
                  <a:extLst>
                    <a:ext uri="{9D8B030D-6E8A-4147-A177-3AD203B41FA5}">
                      <a16:colId xmlns:a16="http://schemas.microsoft.com/office/drawing/2014/main" val="3002284679"/>
                    </a:ext>
                  </a:extLst>
                </a:gridCol>
                <a:gridCol w="1053948">
                  <a:extLst>
                    <a:ext uri="{9D8B030D-6E8A-4147-A177-3AD203B41FA5}">
                      <a16:colId xmlns:a16="http://schemas.microsoft.com/office/drawing/2014/main" val="3642561542"/>
                    </a:ext>
                  </a:extLst>
                </a:gridCol>
                <a:gridCol w="1108642">
                  <a:extLst>
                    <a:ext uri="{9D8B030D-6E8A-4147-A177-3AD203B41FA5}">
                      <a16:colId xmlns:a16="http://schemas.microsoft.com/office/drawing/2014/main" val="1973559927"/>
                    </a:ext>
                  </a:extLst>
                </a:gridCol>
                <a:gridCol w="1031592">
                  <a:extLst>
                    <a:ext uri="{9D8B030D-6E8A-4147-A177-3AD203B41FA5}">
                      <a16:colId xmlns:a16="http://schemas.microsoft.com/office/drawing/2014/main" val="2702173886"/>
                    </a:ext>
                  </a:extLst>
                </a:gridCol>
              </a:tblGrid>
              <a:tr h="8699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구분</a:t>
                      </a:r>
                      <a:endParaRPr lang="en-US" sz="700" b="1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Step1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Step2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Step3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Step4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Step5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Step6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444119"/>
                  </a:ext>
                </a:extLst>
              </a:tr>
              <a:tr h="16687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과정명</a:t>
                      </a:r>
                      <a:endParaRPr lang="en-US" altLang="ko-KR" sz="7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Spotfire </a:t>
                      </a: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조회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Spotfire </a:t>
                      </a: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시각화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Spotfire </a:t>
                      </a: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워크플로우 작성</a:t>
                      </a: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Spotfire </a:t>
                      </a: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통계 분석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빅데이터 조회</a:t>
                      </a: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편집</a:t>
                      </a: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en-US" altLang="ko-KR" sz="700" b="0" i="0" u="none" strike="noStrike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DataPrep</a:t>
                      </a: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시각화</a:t>
                      </a: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(Scatter X)</a:t>
                      </a:r>
                      <a:endParaRPr lang="ko-KR" altLang="en-US" sz="7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MLDL </a:t>
                      </a: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분석환경 </a:t>
                      </a:r>
                      <a:endParaRPr lang="en-US" altLang="ko-KR" sz="7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en-US" altLang="ko-KR" sz="700" b="0" i="0" u="none" strike="noStrike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DataAPI</a:t>
                      </a:r>
                      <a:r>
                        <a:rPr lang="en-US" altLang="ko-KR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(Python) </a:t>
                      </a:r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활용</a:t>
                      </a:r>
                    </a:p>
                  </a:txBody>
                  <a:tcPr marL="9507" marR="9507" marT="95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929756"/>
                  </a:ext>
                </a:extLst>
              </a:tr>
              <a:tr h="21182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내용</a:t>
                      </a:r>
                      <a:endParaRPr lang="en-US" altLang="ko-KR" sz="700" b="0" i="0" u="none" strike="noStrike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9507" marR="9507" marT="950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&lt;DAVINCI 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소개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1.1 Overview</a:t>
                      </a:r>
                      <a:b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1.2 DAVINCI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아키텍처</a:t>
                      </a: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1.3 DAVINCI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포털</a:t>
                      </a: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1.4 DAVINCI </a:t>
                      </a:r>
                      <a:r>
                        <a:rPr lang="en-US" altLang="ko-KR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vApp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&lt;DAVINCI 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이해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2.1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검색</a:t>
                      </a: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2.2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수집 및 보관</a:t>
                      </a: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2.3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조회 방법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&lt;DAVINCI 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활용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3.1 DACINCI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제공 데이터 서비스</a:t>
                      </a: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3.2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Lot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추적 워크플로우 작성</a:t>
                      </a:r>
                      <a:b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3.3 BP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워크플로우 설명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데이터 준비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1.1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불러오기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(Library, File,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서비스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1.2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필터링​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1.3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캔버스 및 속성​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1.4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계산된 컬럼 생성​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endParaRPr lang="ko-KR" altLang="en-US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 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시각화 차트​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endParaRPr lang="ko-KR" altLang="en-US" sz="7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2.1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시각화 차트 생성용 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조회​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2.2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기본 차트 설명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부가 차트 설명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(Mods Chart)​</a:t>
                      </a:r>
                    </a:p>
                    <a:p>
                      <a:pPr algn="l" fontAlgn="ctr"/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워크플로우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3.1 BP Workflow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3.2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 좌표 데이터와 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이미지 연계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Workflow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작성​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3.3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부가 기능 소개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(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자동화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법인 확산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)​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워크플로우 작성 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1​&gt;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1.1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불러오기​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1.2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준비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1.3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월별 투입수량 합계 및 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비교 차트 생성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1.4  </a:t>
                      </a:r>
                      <a:r>
                        <a:rPr lang="ko-KR" altLang="en-US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불량별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발생라인 비율 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차트 생성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1.5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주차 별 라인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설비 기준 불량 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수량 차트 생성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1.6  </a:t>
                      </a:r>
                      <a:r>
                        <a:rPr lang="ko-KR" altLang="en-US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불량별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파레토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차트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워크플로우 작성 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2​&gt;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2.1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준비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2.2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 </a:t>
                      </a:r>
                      <a:r>
                        <a:rPr lang="ko-KR" altLang="en-US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불량율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차트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핸들링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 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3.1 Join(Add as columns to), 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Merge(Add as rows to), Relations​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3.2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일자 데이터와 </a:t>
                      </a:r>
                      <a:r>
                        <a:rPr lang="ko-KR" altLang="en-US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파레토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차트 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연계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(Relations)​</a:t>
                      </a:r>
                    </a:p>
                    <a:p>
                      <a:pPr algn="l" fontAlgn="ctr"/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&lt;Automation&gt;​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4.1  Automation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기본 기능 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4.2  Automation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기능 실습​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도구를 활용 통계 분석​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endParaRPr lang="ko-KR" altLang="en-US" sz="700" b="1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1.1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 도구 기능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Overview​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1.2  Analysis Link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실습​</a:t>
                      </a:r>
                    </a:p>
                    <a:p>
                      <a:pPr algn="l" fontAlgn="ctr"/>
                      <a:endParaRPr lang="ko-KR" altLang="en-US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 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오픈 소스를 활용 통계 분석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2.1  Data function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기능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Overview​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2.2  R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실습​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2.3  Python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실습​</a:t>
                      </a:r>
                    </a:p>
                    <a:p>
                      <a:pPr algn="l" fontAlgn="ctr"/>
                      <a:endParaRPr lang="ko-KR" altLang="en-US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&lt;Spotfire API 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통계 분석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&gt;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3.1  Iron Python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실습​	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빅데이터 조회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편집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700" b="1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DataPrep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)​&gt;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1.1  </a:t>
                      </a:r>
                      <a:r>
                        <a:rPr lang="en-US" altLang="ko-KR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DataPrep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소개 및 기본기능​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1.2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조회​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1.3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편집 및 저장​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1.4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부가 기능 및 활용​</a:t>
                      </a:r>
                    </a:p>
                    <a:p>
                      <a:pPr algn="l" fontAlgn="ctr"/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​</a:t>
                      </a:r>
                    </a:p>
                    <a:p>
                      <a:pPr algn="l" fontAlgn="ctr"/>
                      <a:endParaRPr lang="ko-KR" altLang="en-US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</a:t>
                      </a:r>
                      <a:r>
                        <a:rPr lang="ko-KR" altLang="en-US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빅데이터 시각화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700" b="1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ScatterX</a:t>
                      </a:r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)&gt;​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2.1  </a:t>
                      </a:r>
                      <a:r>
                        <a:rPr lang="en-US" altLang="ko-KR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ScatterX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소개 및 기본기능​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2.2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불러오기​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2.3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시각화 실습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1​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2.4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 시각화 실습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2​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&lt;MLDL​&gt;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1.1  MLDL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소개​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1.2  </a:t>
                      </a:r>
                      <a:r>
                        <a:rPr lang="en-US" altLang="ko-KR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vApp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권한 확인 및 분석 </a:t>
                      </a:r>
                      <a:endParaRPr lang="en-US" altLang="ko-KR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과제 신청​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1.3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대시보드  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1.4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분석과제​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1.5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데이터셋​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1.6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분석환경​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1.7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모델​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1.8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학습​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1.9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스케줄​</a:t>
                      </a:r>
                    </a:p>
                    <a:p>
                      <a:pPr algn="l" fontAlgn="ctr"/>
                      <a:endParaRPr lang="ko-KR" altLang="en-US" sz="700" b="0" i="0" u="none" strike="noStrike" kern="1200" baseline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스마트체 Regular" panose="020B0600000101010101" pitchFamily="50" charset="-127"/>
                        <a:cs typeface="+mn-cs"/>
                      </a:endParaRPr>
                    </a:p>
                    <a:p>
                      <a:pPr algn="l" fontAlgn="ctr"/>
                      <a:r>
                        <a:rPr lang="en-US" altLang="ko-KR" sz="700" b="1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&lt;Data API&gt;​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2.1  </a:t>
                      </a:r>
                      <a:r>
                        <a:rPr lang="en-US" altLang="ko-KR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DataAPI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소개 및 종류​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2.2  API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DynamoDB+S3 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–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단일 테이블 조회​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2.3  API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DynamoDB+S3 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–  SQL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조회​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2.4  API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DynamoDB+S3 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–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함수 조회​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2.5  API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DFS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이미지 조회​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2.6  API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활용 </a:t>
                      </a:r>
                      <a:r>
                        <a:rPr lang="en-US" altLang="ko-KR" sz="700" b="0" i="0" u="none" strike="noStrike" kern="1200" baseline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Webdav</a:t>
                      </a:r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/ S3 </a:t>
                      </a:r>
                    </a:p>
                    <a:p>
                      <a:pPr algn="l" fontAlgn="ctr"/>
                      <a:r>
                        <a:rPr lang="en-US" altLang="ko-KR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       </a:t>
                      </a:r>
                      <a:r>
                        <a:rPr lang="ko-KR" altLang="en-US" sz="7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브라우저</a:t>
                      </a:r>
                    </a:p>
                  </a:txBody>
                  <a:tcPr marL="9525" marR="9525" marT="952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520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5282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942847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(W48)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Honda HEV</a:t>
                      </a:r>
                    </a:p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각형 증설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HD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법인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(W48)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미국 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EV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차량 수요가 감소함에 따라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HD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법인 유휴 공간을 활용하여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HEV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각형 증설을 검토하려고 함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HEV Platform </a:t>
                      </a:r>
                      <a:r>
                        <a:rPr lang="ko-KR" altLang="en-US" sz="10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용</a:t>
                      </a: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모듈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- SOP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’30.2Q (PJT L/T : 6</a:t>
                      </a:r>
                      <a:r>
                        <a:rPr lang="ko-KR" altLang="en-US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년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물량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en-US" altLang="ko-KR" sz="10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Total : 3.5GWh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연 평균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0.6GWh)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※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위 정보 외 세부 사항은 미확정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9/5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킥오프 미팅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9/12 LOB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배포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9/19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~‘25.09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66805" y="572550"/>
            <a:ext cx="142026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:11/19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4820EA2D-12A6-DABA-C788-4CEA27C50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2737" y="1999313"/>
            <a:ext cx="835485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>
              <a:spcBef>
                <a:spcPct val="10000"/>
              </a:spcBef>
              <a:buSzPct val="85000"/>
              <a:defRPr/>
            </a:pPr>
            <a:r>
              <a:rPr lang="ko-KR" altLang="en-US" sz="1100" b="1">
                <a:latin typeface="Arial Narrow" panose="020B0606020202030204" pitchFamily="34" charset="0"/>
                <a:cs typeface="Arial" panose="020B0604020202020204" pitchFamily="34" charset="0"/>
              </a:rPr>
              <a:t>■ </a:t>
            </a:r>
            <a:r>
              <a:rPr lang="en-US" altLang="ko-KR" sz="1100" b="1">
                <a:latin typeface="Arial Narrow" panose="020B0606020202030204" pitchFamily="34" charset="0"/>
                <a:cs typeface="Arial" panose="020B0604020202020204" pitchFamily="34" charset="0"/>
              </a:rPr>
              <a:t>Cell </a:t>
            </a:r>
            <a:r>
              <a:rPr lang="ko-KR" altLang="en-US" sz="1100" b="1">
                <a:latin typeface="Arial Narrow" panose="020B0606020202030204" pitchFamily="34" charset="0"/>
                <a:cs typeface="Arial" panose="020B0604020202020204" pitchFamily="34" charset="0"/>
              </a:rPr>
              <a:t>정보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F92970C-59F1-D5C7-1A34-40BA670E4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463072"/>
              </p:ext>
            </p:extLst>
          </p:nvPr>
        </p:nvGraphicFramePr>
        <p:xfrm>
          <a:off x="4294337" y="2275482"/>
          <a:ext cx="2565107" cy="2197306"/>
        </p:xfrm>
        <a:graphic>
          <a:graphicData uri="http://schemas.openxmlformats.org/drawingml/2006/table">
            <a:tbl>
              <a:tblPr/>
              <a:tblGrid>
                <a:gridCol w="612000">
                  <a:extLst>
                    <a:ext uri="{9D8B030D-6E8A-4147-A177-3AD203B41FA5}">
                      <a16:colId xmlns:a16="http://schemas.microsoft.com/office/drawing/2014/main" val="11785981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703147122"/>
                    </a:ext>
                  </a:extLst>
                </a:gridCol>
                <a:gridCol w="466472">
                  <a:extLst>
                    <a:ext uri="{9D8B030D-6E8A-4147-A177-3AD203B41FA5}">
                      <a16:colId xmlns:a16="http://schemas.microsoft.com/office/drawing/2014/main" val="2438542594"/>
                    </a:ext>
                  </a:extLst>
                </a:gridCol>
                <a:gridCol w="874635">
                  <a:extLst>
                    <a:ext uri="{9D8B030D-6E8A-4147-A177-3AD203B41FA5}">
                      <a16:colId xmlns:a16="http://schemas.microsoft.com/office/drawing/2014/main" val="142404618"/>
                    </a:ext>
                  </a:extLst>
                </a:gridCol>
              </a:tblGrid>
              <a:tr h="13863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단위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단위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577960"/>
                  </a:ext>
                </a:extLst>
              </a:tr>
              <a:tr h="13863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Model or PJT Name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혼다 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HEV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각형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452071"/>
                  </a:ext>
                </a:extLst>
              </a:tr>
              <a:tr h="13863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요청 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Capa 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GWh/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7561"/>
                  </a:ext>
                </a:extLst>
              </a:tr>
              <a:tr h="13863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Double Layer </a:t>
                      </a:r>
                      <a:b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</a:b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유무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Cathode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SINGLE LAYER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183836"/>
                  </a:ext>
                </a:extLst>
              </a:tr>
              <a:tr h="138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Anode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DOUBLE LAYER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2044"/>
                  </a:ext>
                </a:extLst>
              </a:tr>
              <a:tr h="13863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와인딩 길이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Cathode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3253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614338"/>
                  </a:ext>
                </a:extLst>
              </a:tr>
              <a:tr h="138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Anode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mm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3341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646715"/>
                  </a:ext>
                </a:extLst>
              </a:tr>
              <a:tr h="16131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코팅 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Lane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코팅</a:t>
                      </a:r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Lane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06265"/>
                  </a:ext>
                </a:extLst>
              </a:tr>
              <a:tr h="13863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Stack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Cathode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Stack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20319"/>
                  </a:ext>
                </a:extLst>
              </a:tr>
              <a:tr h="138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Anode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Stack </a:t>
                      </a:r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160637"/>
                  </a:ext>
                </a:extLst>
              </a:tr>
              <a:tr h="1449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Capacity (Ah)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Ah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029270"/>
                  </a:ext>
                </a:extLst>
              </a:tr>
              <a:tr h="14493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Nominal Voltage (V)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V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971437"/>
                  </a:ext>
                </a:extLst>
              </a:tr>
              <a:tr h="13863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Wh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Ah * V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17.6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458044"/>
                  </a:ext>
                </a:extLst>
              </a:tr>
              <a:tr h="13863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err="1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환산자</a:t>
                      </a:r>
                      <a:endParaRPr lang="ko-KR" altLang="en-US" sz="800" b="1" i="0" u="none" strike="noStrike">
                        <a:solidFill>
                          <a:schemeClr val="tx1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Cathode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m/cell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3.253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248409"/>
                  </a:ext>
                </a:extLst>
              </a:tr>
              <a:tr h="1386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Anode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m/cell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3.341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307474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4D675EF-F4CC-1AD9-8FD9-D961C54FF7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766967"/>
              </p:ext>
            </p:extLst>
          </p:nvPr>
        </p:nvGraphicFramePr>
        <p:xfrm>
          <a:off x="4306131" y="4829158"/>
          <a:ext cx="3911600" cy="1085850"/>
        </p:xfrm>
        <a:graphic>
          <a:graphicData uri="http://schemas.openxmlformats.org/drawingml/2006/table">
            <a:tbl>
              <a:tblPr/>
              <a:tblGrid>
                <a:gridCol w="599588">
                  <a:extLst>
                    <a:ext uri="{9D8B030D-6E8A-4147-A177-3AD203B41FA5}">
                      <a16:colId xmlns:a16="http://schemas.microsoft.com/office/drawing/2014/main" val="2041937421"/>
                    </a:ext>
                  </a:extLst>
                </a:gridCol>
                <a:gridCol w="1027866">
                  <a:extLst>
                    <a:ext uri="{9D8B030D-6E8A-4147-A177-3AD203B41FA5}">
                      <a16:colId xmlns:a16="http://schemas.microsoft.com/office/drawing/2014/main" val="588676490"/>
                    </a:ext>
                  </a:extLst>
                </a:gridCol>
                <a:gridCol w="761382">
                  <a:extLst>
                    <a:ext uri="{9D8B030D-6E8A-4147-A177-3AD203B41FA5}">
                      <a16:colId xmlns:a16="http://schemas.microsoft.com/office/drawing/2014/main" val="1067067411"/>
                    </a:ext>
                  </a:extLst>
                </a:gridCol>
                <a:gridCol w="761382">
                  <a:extLst>
                    <a:ext uri="{9D8B030D-6E8A-4147-A177-3AD203B41FA5}">
                      <a16:colId xmlns:a16="http://schemas.microsoft.com/office/drawing/2014/main" val="1429727272"/>
                    </a:ext>
                  </a:extLst>
                </a:gridCol>
                <a:gridCol w="761382">
                  <a:extLst>
                    <a:ext uri="{9D8B030D-6E8A-4147-A177-3AD203B41FA5}">
                      <a16:colId xmlns:a16="http://schemas.microsoft.com/office/drawing/2014/main" val="1956333975"/>
                    </a:ext>
                  </a:extLst>
                </a:gridCol>
              </a:tblGrid>
              <a:tr h="180975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기술명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조립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sub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051253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Roll map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10.3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10.8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21.1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799291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셀추적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23.8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23.8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822553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자동보정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851041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합계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11.1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36.1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47.2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824588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               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47.2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759739"/>
                  </a:ext>
                </a:extLst>
              </a:tr>
            </a:tbl>
          </a:graphicData>
        </a:graphic>
      </p:graphicFrame>
      <p:sp>
        <p:nvSpPr>
          <p:cNvPr id="11" name="Rectangle 17">
            <a:extLst>
              <a:ext uri="{FF2B5EF4-FFF2-40B4-BE49-F238E27FC236}">
                <a16:creationId xmlns:a16="http://schemas.microsoft.com/office/drawing/2014/main" id="{A5760569-72D5-36B4-484C-41F898D14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504" y="4558342"/>
            <a:ext cx="994183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atinLnBrk="0">
              <a:spcBef>
                <a:spcPct val="10000"/>
              </a:spcBef>
              <a:buSzPct val="85000"/>
              <a:defRPr/>
            </a:pPr>
            <a:r>
              <a:rPr lang="ko-KR" altLang="en-US" sz="1100" b="1">
                <a:latin typeface="Arial Narrow" panose="020B0606020202030204" pitchFamily="34" charset="0"/>
                <a:cs typeface="Arial" panose="020B0604020202020204" pitchFamily="34" charset="0"/>
              </a:rPr>
              <a:t>■ 투자비 요약</a:t>
            </a:r>
          </a:p>
        </p:txBody>
      </p:sp>
    </p:spTree>
    <p:extLst>
      <p:ext uri="{BB962C8B-B14F-4D97-AF65-F5344CB8AC3E}">
        <p14:creationId xmlns:p14="http://schemas.microsoft.com/office/powerpoint/2010/main" val="33485928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514801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(W48)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각형 </a:t>
                      </a:r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Top Terminal</a:t>
                      </a:r>
                    </a:p>
                    <a:p>
                      <a:pPr algn="ctr" latinLnBrk="1"/>
                      <a:r>
                        <a:rPr lang="en-US" altLang="ko-KR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LV</a:t>
                      </a:r>
                      <a:r>
                        <a:rPr lang="ko-KR" altLang="en-US"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라인</a:t>
                      </a:r>
                      <a:endParaRPr lang="en-US" altLang="ko-KR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OC5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동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1,3,4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층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(W48)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-. GM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은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EV Pick up truck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출시를 위해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LMR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각형 셀을 요구하고 있으며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UC TN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에서 ’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28.1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월부터 양산을 추진하고 있습니다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다만 각형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Formfactor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및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LMR Chemistry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는 양산해보지 않은 모델이기에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미국 대규모 투자에 앞서 오창 공장에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Low Volume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미니 라인을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투자하여 사전에 양산 노하우를 습득코자 합니다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투자 재원은 고객으로부터 일부 지원받기 위해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Preliminary $73.2M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규모의 설비 투자비를 초도 산출하여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$36.6M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지원금 수취를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  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확정하였습니다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OC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5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동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Top Terminal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각형 투자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(26.9 Trial run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목표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산단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Mother Line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에서 공급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-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조립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AZS ~ DNC : OC5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동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층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 PKG : OC5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동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층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/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활성화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: OC5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동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3~4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층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7/21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킥오프 미팅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7/24 2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차 킥오프 미팅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8/13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투자비 제출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8/26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담당급 투자심의 예정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9/4 CPO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투자심의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※ F/u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사항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- 1000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이하가 되면 법투위를 진행할 필요가 없음으로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타겟을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10%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절감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목표로 잡고 투자비 재산정 해볼 것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→ 계측기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data SPC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연동 사양 추가로 인해 투자비 상승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▲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0.96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하였으나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EOP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자재 재활용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▼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0.96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으로 인해 상쇄하여 투자비 변동 없음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~‘25.09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11/26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52C1DC-E908-4528-8C7A-EA15E3F51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29" y="2686050"/>
            <a:ext cx="3825171" cy="22927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2EBCF2-C864-43E4-BC3C-F159D7C2B4AF}"/>
              </a:ext>
            </a:extLst>
          </p:cNvPr>
          <p:cNvSpPr txBox="1"/>
          <p:nvPr/>
        </p:nvSpPr>
        <p:spPr>
          <a:xfrm>
            <a:off x="5333554" y="2371725"/>
            <a:ext cx="1381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■ 투자비 요약 자료</a:t>
            </a:r>
          </a:p>
        </p:txBody>
      </p:sp>
    </p:spTree>
    <p:extLst>
      <p:ext uri="{BB962C8B-B14F-4D97-AF65-F5344CB8AC3E}">
        <p14:creationId xmlns:p14="http://schemas.microsoft.com/office/powerpoint/2010/main" val="4116986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015716"/>
              </p:ext>
            </p:extLst>
          </p:nvPr>
        </p:nvGraphicFramePr>
        <p:xfrm>
          <a:off x="125047" y="866775"/>
          <a:ext cx="9644176" cy="5747089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대상 라인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금주 진행사항 </a:t>
                      </a:r>
                      <a:r>
                        <a:rPr lang="en-US" altLang="ko-KR" sz="900" b="1" i="0" u="none" strike="noStrike" baseline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(W48)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9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OC H52A</a:t>
                      </a:r>
                    </a:p>
                    <a:p>
                      <a:pPr lvl="0" algn="ctr">
                        <a:buNone/>
                      </a:pP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원통형 </a:t>
                      </a:r>
                      <a:r>
                        <a:rPr lang="ko-KR" altLang="en-US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증설 </a:t>
                      </a:r>
                      <a:r>
                        <a:rPr lang="ko-KR" sz="900" b="0" i="0" u="none" strike="noStrike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투자</a:t>
                      </a:r>
                      <a:endParaRPr lang="en-US" altLang="ko-KR" sz="900" b="0" i="0" u="none" strike="noStrike" baseline="0" noProof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ko-KR" sz="900" b="0" i="0" u="none" strike="noStrike" baseline="0" noProof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Capa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UP</a:t>
                      </a: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OC 2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동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금주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(W48)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특이사항 없습니다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414F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[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배경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OC H52A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투자에 이어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Capa Up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을 위해 설비 개조 및 신작을 진행하는 건입니다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기존 투자는 그대로 진행하는 건이며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추가 투자 진행 예정입니다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 개요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 OC H52A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추가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Capa up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투자 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코터 음극 </a:t>
                      </a:r>
                      <a:r>
                        <a:rPr lang="en-US" altLang="ko-KR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 표준폭 → 광폭  개조</a:t>
                      </a:r>
                      <a:endParaRPr lang="en-US" altLang="ko-KR" sz="1000" b="0" i="0" u="none" strike="sng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롤프레스 양극</a:t>
                      </a:r>
                      <a:r>
                        <a:rPr lang="en-US" altLang="ko-KR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음극 </a:t>
                      </a:r>
                      <a:r>
                        <a:rPr lang="en-US" altLang="ko-KR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 개조</a:t>
                      </a:r>
                      <a:endParaRPr lang="en-US" altLang="ko-KR" sz="1000" b="0" i="0" u="none" strike="sng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슬리터 양</a:t>
                      </a:r>
                      <a:r>
                        <a:rPr lang="en-US" altLang="ko-KR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음극 </a:t>
                      </a:r>
                      <a:r>
                        <a:rPr lang="en-US" altLang="ko-KR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</a:t>
                      </a:r>
                      <a:r>
                        <a:rPr lang="ko-KR" altLang="en-US" sz="1000" b="0" i="0" u="none" strike="sng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 개조</a:t>
                      </a:r>
                      <a:endParaRPr lang="en-US" altLang="ko-KR" sz="1000" b="0" i="0" u="none" strike="sng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와인더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 신작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※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전극 설비 속도 상향 검토를 통하여 와인더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대만 투자하는 것으로 의사 결정</a:t>
                      </a: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진척 일정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: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10/2 Kick off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미팅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10/20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투자비 제출 완료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-. 10/24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소형생산센터장 투심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완료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endParaRPr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※ 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생산센터장 투심시 롤맵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자동보정 투자비 추가 절감 지시를 하시어 추가 절감 진행하였습니다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.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     기존 투자비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2.70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→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1.86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(0.84</a:t>
                      </a:r>
                      <a:r>
                        <a:rPr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억 절감</a:t>
                      </a:r>
                      <a:r>
                        <a:rPr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)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~‘25.04</a:t>
                      </a: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김경민</a:t>
                      </a:r>
                      <a:endParaRPr lang="en-US" altLang="ko-KR" sz="9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내용 개체 틀 20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5" y="612730"/>
            <a:ext cx="382517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ts val="0"/>
              </a:spcBef>
              <a:defRPr/>
            </a:pP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■ 신규</a:t>
            </a:r>
            <a:r>
              <a:rPr lang="en-US" altLang="ko-KR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/</a:t>
            </a:r>
            <a:r>
              <a:rPr lang="ko-KR" altLang="en-US" sz="1400" b="1">
                <a:solidFill>
                  <a:prstClr val="black"/>
                </a:solidFill>
                <a:cs typeface="Malgun Gothic Semilight" panose="020B0502040204020203" pitchFamily="50" charset="-127"/>
              </a:rPr>
              <a:t>확장투자 관리</a:t>
            </a:r>
          </a:p>
        </p:txBody>
      </p:sp>
      <p:sp>
        <p:nvSpPr>
          <p:cNvPr id="18" name="내용 개체 틀 20">
            <a:extLst>
              <a:ext uri="{FF2B5EF4-FFF2-40B4-BE49-F238E27FC236}">
                <a16:creationId xmlns:a16="http://schemas.microsoft.com/office/drawing/2014/main" id="{DD73E413-5ABC-4F47-AB69-6D57C7388957}"/>
              </a:ext>
            </a:extLst>
          </p:cNvPr>
          <p:cNvSpPr txBox="1">
            <a:spLocks/>
          </p:cNvSpPr>
          <p:nvPr/>
        </p:nvSpPr>
        <p:spPr>
          <a:xfrm>
            <a:off x="8763735" y="403273"/>
            <a:ext cx="923331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작성자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: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김경민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Malgun Gothic Semilight" panose="020B0502040204020203" pitchFamily="50" charset="-127"/>
              </a:rPr>
              <a:t>P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Malgun Gothic Semilight" panose="020B0502040204020203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CD6AFCA-E326-D59C-5D1C-0C4EB1E57E08}"/>
              </a:ext>
            </a:extLst>
          </p:cNvPr>
          <p:cNvSpPr txBox="1">
            <a:spLocks/>
          </p:cNvSpPr>
          <p:nvPr/>
        </p:nvSpPr>
        <p:spPr>
          <a:xfrm>
            <a:off x="107552" y="123318"/>
            <a:ext cx="2556234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1. 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과제 진행 현황</a:t>
            </a:r>
            <a:r>
              <a:rPr kumimoji="1" lang="en-US" altLang="ko-KR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_</a:t>
            </a:r>
            <a:r>
              <a:rPr kumimoji="1" lang="ko-KR" altLang="en-US" sz="1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/>
                <a:ea typeface="LG스마트체 Regular"/>
                <a:cs typeface="Malgun Gothic Semilight" panose="020B0502040204020203" pitchFamily="50" charset="-127"/>
              </a:rPr>
              <a:t>기획팀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BBEC8E-A515-450D-B2EA-9FC840419A9C}"/>
              </a:ext>
            </a:extLst>
          </p:cNvPr>
          <p:cNvSpPr txBox="1"/>
          <p:nvPr/>
        </p:nvSpPr>
        <p:spPr>
          <a:xfrm>
            <a:off x="8234745" y="572550"/>
            <a:ext cx="1452321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 Semilight" panose="020B0502040204020203" pitchFamily="50" charset="-127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업데이트 시간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: 11/</a:t>
            </a:r>
            <a:r>
              <a:rPr lang="en-US" altLang="ko-KR">
                <a:latin typeface="+mn-lt"/>
                <a:ea typeface="+mn-ea"/>
                <a:cs typeface="Malgun Gothic Semilight"/>
              </a:rPr>
              <a:t>26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 14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Malgun Gothic Semilight"/>
              </a:rPr>
              <a:t>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D6DFBC-49F5-028F-A9A5-4389B8751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340" y="4130610"/>
            <a:ext cx="3240405" cy="205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180365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23" ma:contentTypeDescription="새 문서를 만듭니다." ma:contentTypeScope="" ma:versionID="581b7f97294bd85eb7f2bbd880e37155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d69bced99385a80fadfcd1c46cc2b0ef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A04347-BDD7-4B80-97C4-8F8F989971D4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69aacc19-8f48-4ba8-bfc1-057a6d56306d"/>
  </ds:schemaRefs>
</ds:datastoreItem>
</file>

<file path=customXml/itemProps3.xml><?xml version="1.0" encoding="utf-8"?>
<ds:datastoreItem xmlns:ds="http://schemas.openxmlformats.org/officeDocument/2006/customXml" ds:itemID="{D775792F-5D8E-4B2C-BE5A-A113E635B88A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22541</Words>
  <Application>Microsoft Office PowerPoint</Application>
  <PresentationFormat>A4 용지(210x297mm)</PresentationFormat>
  <Paragraphs>3108</Paragraphs>
  <Slides>51</Slides>
  <Notes>51</Notes>
  <HiddenSlides>37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0" baseType="lpstr">
      <vt:lpstr>LG스마트체 Regular</vt:lpstr>
      <vt:lpstr>LG스마트체2.0 Regular</vt:lpstr>
      <vt:lpstr>Liberation Sans</vt:lpstr>
      <vt:lpstr>Malgun Gothic Semilight</vt:lpstr>
      <vt:lpstr>Dotum</vt:lpstr>
      <vt:lpstr>맑은 고딕</vt:lpstr>
      <vt:lpstr>Arial</vt:lpstr>
      <vt:lpstr>Arial Narrow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최수정(SU JEONG CHOI)[csj11]/사원/제조DX.기획팀</cp:lastModifiedBy>
  <cp:revision>1</cp:revision>
  <cp:lastPrinted>2022-03-03T00:02:18Z</cp:lastPrinted>
  <dcterms:modified xsi:type="dcterms:W3CDTF">2025-12-17T02:07:55Z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</Properties>
</file>