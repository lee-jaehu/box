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pptx" ContentType="application/vnd.openxmlformats-officedocument.presentationml.presentation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930" r:id="rId4"/>
    <p:sldMasterId id="2147483926" r:id="rId5"/>
  </p:sldMasterIdLst>
  <p:notesMasterIdLst>
    <p:notesMasterId r:id="rId131"/>
  </p:notesMasterIdLst>
  <p:handoutMasterIdLst>
    <p:handoutMasterId r:id="rId132"/>
  </p:handoutMasterIdLst>
  <p:sldIdLst>
    <p:sldId id="746" r:id="rId6"/>
    <p:sldId id="2147482099" r:id="rId7"/>
    <p:sldId id="2147482079" r:id="rId8"/>
    <p:sldId id="2147482084" r:id="rId9"/>
    <p:sldId id="2147482078" r:id="rId10"/>
    <p:sldId id="2147482017" r:id="rId11"/>
    <p:sldId id="2147482076" r:id="rId12"/>
    <p:sldId id="266" r:id="rId13"/>
    <p:sldId id="2147482095" r:id="rId14"/>
    <p:sldId id="2147482096" r:id="rId15"/>
    <p:sldId id="2147482080" r:id="rId16"/>
    <p:sldId id="2147482088" r:id="rId17"/>
    <p:sldId id="2147482089" r:id="rId18"/>
    <p:sldId id="2147482090" r:id="rId19"/>
    <p:sldId id="2147482091" r:id="rId20"/>
    <p:sldId id="2147481930" r:id="rId21"/>
    <p:sldId id="2147482070" r:id="rId22"/>
    <p:sldId id="2147482058" r:id="rId23"/>
    <p:sldId id="2147482085" r:id="rId24"/>
    <p:sldId id="267" r:id="rId25"/>
    <p:sldId id="2147482040" r:id="rId26"/>
    <p:sldId id="2147482097" r:id="rId27"/>
    <p:sldId id="2147482098" r:id="rId28"/>
    <p:sldId id="2147481962" r:id="rId29"/>
    <p:sldId id="268" r:id="rId30"/>
    <p:sldId id="2147482036" r:id="rId31"/>
    <p:sldId id="2147481981" r:id="rId32"/>
    <p:sldId id="2147481884" r:id="rId33"/>
    <p:sldId id="2147481961" r:id="rId34"/>
    <p:sldId id="2147481972" r:id="rId35"/>
    <p:sldId id="2147481951" r:id="rId36"/>
    <p:sldId id="2147481933" r:id="rId37"/>
    <p:sldId id="2147481940" r:id="rId38"/>
    <p:sldId id="2147481908" r:id="rId39"/>
    <p:sldId id="2147481911" r:id="rId40"/>
    <p:sldId id="2147481957" r:id="rId41"/>
    <p:sldId id="2147481906" r:id="rId42"/>
    <p:sldId id="2147481895" r:id="rId43"/>
    <p:sldId id="2147481917" r:id="rId44"/>
    <p:sldId id="2147481963" r:id="rId45"/>
    <p:sldId id="2147481897" r:id="rId46"/>
    <p:sldId id="2147481907" r:id="rId47"/>
    <p:sldId id="2147481925" r:id="rId48"/>
    <p:sldId id="2147481956" r:id="rId49"/>
    <p:sldId id="2147481948" r:id="rId50"/>
    <p:sldId id="2147481964" r:id="rId51"/>
    <p:sldId id="2147481966" r:id="rId52"/>
    <p:sldId id="2147481967" r:id="rId53"/>
    <p:sldId id="2147481971" r:id="rId54"/>
    <p:sldId id="2147481976" r:id="rId55"/>
    <p:sldId id="2147481978" r:id="rId56"/>
    <p:sldId id="257" r:id="rId57"/>
    <p:sldId id="264" r:id="rId58"/>
    <p:sldId id="275" r:id="rId59"/>
    <p:sldId id="2147481995" r:id="rId60"/>
    <p:sldId id="276" r:id="rId61"/>
    <p:sldId id="279" r:id="rId62"/>
    <p:sldId id="280" r:id="rId63"/>
    <p:sldId id="281" r:id="rId64"/>
    <p:sldId id="2147481986" r:id="rId65"/>
    <p:sldId id="2147482009" r:id="rId66"/>
    <p:sldId id="2147481989" r:id="rId67"/>
    <p:sldId id="262" r:id="rId68"/>
    <p:sldId id="256" r:id="rId69"/>
    <p:sldId id="260" r:id="rId70"/>
    <p:sldId id="265" r:id="rId71"/>
    <p:sldId id="2147483647" r:id="rId72"/>
    <p:sldId id="2147483600" r:id="rId73"/>
    <p:sldId id="2147483602" r:id="rId74"/>
    <p:sldId id="2147482011" r:id="rId75"/>
    <p:sldId id="2147482012" r:id="rId76"/>
    <p:sldId id="285" r:id="rId77"/>
    <p:sldId id="2147481896" r:id="rId78"/>
    <p:sldId id="2147483642" r:id="rId79"/>
    <p:sldId id="286" r:id="rId80"/>
    <p:sldId id="259" r:id="rId81"/>
    <p:sldId id="287" r:id="rId82"/>
    <p:sldId id="2147481886" r:id="rId83"/>
    <p:sldId id="2147481941" r:id="rId84"/>
    <p:sldId id="258" r:id="rId85"/>
    <p:sldId id="261" r:id="rId86"/>
    <p:sldId id="263" r:id="rId87"/>
    <p:sldId id="289" r:id="rId88"/>
    <p:sldId id="2147483622" r:id="rId89"/>
    <p:sldId id="2147482165" r:id="rId90"/>
    <p:sldId id="269" r:id="rId91"/>
    <p:sldId id="270" r:id="rId92"/>
    <p:sldId id="271" r:id="rId93"/>
    <p:sldId id="2147483644" r:id="rId94"/>
    <p:sldId id="272" r:id="rId95"/>
    <p:sldId id="273" r:id="rId96"/>
    <p:sldId id="274" r:id="rId97"/>
    <p:sldId id="277" r:id="rId98"/>
    <p:sldId id="278" r:id="rId99"/>
    <p:sldId id="2147483624" r:id="rId100"/>
    <p:sldId id="2147483646" r:id="rId101"/>
    <p:sldId id="282" r:id="rId102"/>
    <p:sldId id="283" r:id="rId103"/>
    <p:sldId id="2147482150" r:id="rId104"/>
    <p:sldId id="284" r:id="rId105"/>
    <p:sldId id="2147482138" r:id="rId106"/>
    <p:sldId id="288" r:id="rId107"/>
    <p:sldId id="290" r:id="rId108"/>
    <p:sldId id="291" r:id="rId109"/>
    <p:sldId id="292" r:id="rId110"/>
    <p:sldId id="293" r:id="rId111"/>
    <p:sldId id="294" r:id="rId112"/>
    <p:sldId id="295" r:id="rId113"/>
    <p:sldId id="296" r:id="rId114"/>
    <p:sldId id="2147481958" r:id="rId115"/>
    <p:sldId id="2147481931" r:id="rId116"/>
    <p:sldId id="2147481920" r:id="rId117"/>
    <p:sldId id="2147481938" r:id="rId118"/>
    <p:sldId id="2147481991" r:id="rId119"/>
    <p:sldId id="2147481945" r:id="rId120"/>
    <p:sldId id="2147481947" r:id="rId121"/>
    <p:sldId id="2147481924" r:id="rId122"/>
    <p:sldId id="2147481935" r:id="rId123"/>
    <p:sldId id="2147481928" r:id="rId124"/>
    <p:sldId id="2147481889" r:id="rId125"/>
    <p:sldId id="297" r:id="rId126"/>
    <p:sldId id="2147481980" r:id="rId127"/>
    <p:sldId id="2147481993" r:id="rId128"/>
    <p:sldId id="2147481987" r:id="rId129"/>
    <p:sldId id="2147481994" r:id="rId130"/>
  </p:sldIdLst>
  <p:sldSz cx="9906000" cy="6858000" type="A4"/>
  <p:notesSz cx="6735763" cy="9866313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품질DX담당 추진 현황" id="{757319E2-B87E-41C3-A0CA-96E8E34394ED}">
          <p14:sldIdLst>
            <p14:sldId id="746"/>
          </p14:sldIdLst>
        </p14:section>
        <p14:section name="1. 과제 진행 현황_품질DX팀" id="{CF1D1F38-FE2E-41A0-B321-184CAD821E63}">
          <p14:sldIdLst>
            <p14:sldId id="2147482099"/>
            <p14:sldId id="2147482079"/>
            <p14:sldId id="2147482084"/>
            <p14:sldId id="2147482078"/>
            <p14:sldId id="2147482017"/>
            <p14:sldId id="2147482076"/>
            <p14:sldId id="266"/>
            <p14:sldId id="2147482095"/>
            <p14:sldId id="2147482096"/>
            <p14:sldId id="2147482080"/>
            <p14:sldId id="2147482088"/>
            <p14:sldId id="2147482089"/>
            <p14:sldId id="2147482090"/>
            <p14:sldId id="2147482091"/>
            <p14:sldId id="2147481930"/>
            <p14:sldId id="2147482070"/>
            <p14:sldId id="2147482058"/>
            <p14:sldId id="2147482085"/>
            <p14:sldId id="267"/>
            <p14:sldId id="2147482040"/>
            <p14:sldId id="2147482097"/>
            <p14:sldId id="2147482098"/>
            <p14:sldId id="2147481962"/>
            <p14:sldId id="268"/>
            <p14:sldId id="2147482036"/>
          </p14:sldIdLst>
        </p14:section>
        <p14:section name="2. 과제 진행 현황_다빈치팀" id="{9F07B10A-41F0-42A3-A57A-2E3DBF7C4249}">
          <p14:sldIdLst>
            <p14:sldId id="2147481981"/>
            <p14:sldId id="2147481884"/>
            <p14:sldId id="2147481961"/>
            <p14:sldId id="2147481972"/>
            <p14:sldId id="2147481951"/>
            <p14:sldId id="2147481933"/>
            <p14:sldId id="2147481940"/>
            <p14:sldId id="2147481908"/>
            <p14:sldId id="2147481911"/>
            <p14:sldId id="2147481957"/>
            <p14:sldId id="2147481906"/>
            <p14:sldId id="2147481895"/>
            <p14:sldId id="2147481917"/>
            <p14:sldId id="2147481963"/>
            <p14:sldId id="2147481897"/>
            <p14:sldId id="2147481907"/>
            <p14:sldId id="2147481925"/>
            <p14:sldId id="2147481956"/>
            <p14:sldId id="2147481948"/>
            <p14:sldId id="2147481964"/>
            <p14:sldId id="2147481966"/>
            <p14:sldId id="2147481967"/>
            <p14:sldId id="2147481971"/>
            <p14:sldId id="2147481976"/>
            <p14:sldId id="2147481978"/>
          </p14:sldIdLst>
        </p14:section>
        <p14:section name="3. 과제 진행 현황_공정검사DX팀" id="{FE3C852B-9504-4B85-B18D-C0C284D185BE}">
          <p14:sldIdLst>
            <p14:sldId id="257"/>
            <p14:sldId id="264"/>
            <p14:sldId id="275"/>
            <p14:sldId id="2147481995"/>
            <p14:sldId id="276"/>
            <p14:sldId id="279"/>
            <p14:sldId id="280"/>
            <p14:sldId id="281"/>
            <p14:sldId id="2147481986"/>
            <p14:sldId id="2147482009"/>
            <p14:sldId id="2147481989"/>
            <p14:sldId id="262"/>
            <p14:sldId id="256"/>
            <p14:sldId id="260"/>
            <p14:sldId id="265"/>
            <p14:sldId id="2147483647"/>
            <p14:sldId id="2147483600"/>
            <p14:sldId id="2147483602"/>
            <p14:sldId id="2147482011"/>
            <p14:sldId id="2147482012"/>
            <p14:sldId id="285"/>
            <p14:sldId id="2147481896"/>
            <p14:sldId id="2147483642"/>
            <p14:sldId id="286"/>
            <p14:sldId id="259"/>
            <p14:sldId id="287"/>
            <p14:sldId id="2147481886"/>
            <p14:sldId id="2147481941"/>
            <p14:sldId id="258"/>
            <p14:sldId id="261"/>
            <p14:sldId id="263"/>
            <p14:sldId id="289"/>
          </p14:sldIdLst>
        </p14:section>
        <p14:section name="4. 과제 진행 현황_공정제어DX팀" id="{15F68BAD-C425-4A3F-9EE4-2D855E3EE18E}">
          <p14:sldIdLst>
            <p14:sldId id="2147483622"/>
            <p14:sldId id="2147482165"/>
            <p14:sldId id="269"/>
            <p14:sldId id="270"/>
            <p14:sldId id="271"/>
            <p14:sldId id="2147483644"/>
            <p14:sldId id="272"/>
            <p14:sldId id="273"/>
            <p14:sldId id="274"/>
            <p14:sldId id="277"/>
            <p14:sldId id="278"/>
            <p14:sldId id="2147483624"/>
            <p14:sldId id="2147483646"/>
            <p14:sldId id="282"/>
            <p14:sldId id="283"/>
            <p14:sldId id="2147482150"/>
            <p14:sldId id="284"/>
            <p14:sldId id="2147482138"/>
            <p14:sldId id="288"/>
            <p14:sldId id="290"/>
            <p14:sldId id="291"/>
            <p14:sldId id="292"/>
            <p14:sldId id="293"/>
            <p14:sldId id="294"/>
          </p14:sldIdLst>
        </p14:section>
        <p14:section name="5. 과제 진행 현황_설비DX팀" id="{86943490-30C6-4D83-82E6-055FBAE6AD55}">
          <p14:sldIdLst>
            <p14:sldId id="295"/>
            <p14:sldId id="296"/>
            <p14:sldId id="2147481958"/>
            <p14:sldId id="2147481931"/>
            <p14:sldId id="2147481920"/>
            <p14:sldId id="2147481938"/>
            <p14:sldId id="2147481991"/>
            <p14:sldId id="2147481945"/>
            <p14:sldId id="2147481947"/>
            <p14:sldId id="2147481924"/>
            <p14:sldId id="2147481935"/>
            <p14:sldId id="2147481928"/>
            <p14:sldId id="2147481889"/>
            <p14:sldId id="297"/>
            <p14:sldId id="2147481980"/>
            <p14:sldId id="2147481993"/>
            <p14:sldId id="2147481987"/>
            <p14:sldId id="2147481994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618" userDrawn="1">
          <p15:clr>
            <a:srgbClr val="A4A3A4"/>
          </p15:clr>
        </p15:guide>
        <p15:guide id="2" pos="194" userDrawn="1">
          <p15:clr>
            <a:srgbClr val="A4A3A4"/>
          </p15:clr>
        </p15:guide>
        <p15:guide id="3" orient="horz" pos="157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377" userDrawn="1">
          <p15:clr>
            <a:srgbClr val="A4A3A4"/>
          </p15:clr>
        </p15:guide>
        <p15:guide id="2" pos="2106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 " initials="" lastIdx="1" clrIdx="0">
    <p:extLst>
      <p:ext uri="{19B8F6BF-5375-455C-9EA6-DF929625EA0E}">
        <p15:presenceInfo xmlns:p15="http://schemas.microsoft.com/office/powerpoint/2012/main" userId=" " providerId="None"/>
      </p:ext>
    </p:extLst>
  </p:cmAuthor>
  <p:cmAuthor id="2" name="김설희 " initials="김" lastIdx="0" clrIdx="1">
    <p:extLst>
      <p:ext uri="{19B8F6BF-5375-455C-9EA6-DF929625EA0E}">
        <p15:presenceInfo xmlns:p15="http://schemas.microsoft.com/office/powerpoint/2012/main" userId="김설희 " providerId="None"/>
      </p:ext>
    </p:extLst>
  </p:cmAuthor>
  <p:cmAuthor id="3" name="최성민 " initials="최" lastIdx="1" clrIdx="2">
    <p:extLst>
      <p:ext uri="{19B8F6BF-5375-455C-9EA6-DF929625EA0E}">
        <p15:presenceInfo xmlns:p15="http://schemas.microsoft.com/office/powerpoint/2012/main" userId="최성민 " providerId="None"/>
      </p:ext>
    </p:extLst>
  </p:cmAuthor>
  <p:cmAuthor id="4" name="박동욱 " initials="박" lastIdx="3" clrIdx="3">
    <p:extLst>
      <p:ext uri="{19B8F6BF-5375-455C-9EA6-DF929625EA0E}">
        <p15:presenceInfo xmlns:p15="http://schemas.microsoft.com/office/powerpoint/2012/main" userId="박동욱 " providerId="None"/>
      </p:ext>
    </p:extLst>
  </p:cmAuthor>
  <p:cmAuthor id="5" name="임성묵(SungMook Lim)[muksung0084]/사원/제조지능화.제조PI.지능화기반.기반구축1팀" initials="임L" lastIdx="1" clrIdx="4">
    <p:extLst>
      <p:ext uri="{19B8F6BF-5375-455C-9EA6-DF929625EA0E}">
        <p15:presenceInfo xmlns:p15="http://schemas.microsoft.com/office/powerpoint/2012/main" userId="S-1-5-21-886851358-1450416589-2733106619-104108" providerId="AD"/>
      </p:ext>
    </p:extLst>
  </p:cmAuthor>
  <p:cmAuthor id="6" name="최성민(Seongmin Choi)[choi.sm]/책임/제조지능화.데이터솔루션.조립셀추적기술팀" initials="최C" lastIdx="1" clrIdx="5">
    <p:extLst>
      <p:ext uri="{19B8F6BF-5375-455C-9EA6-DF929625EA0E}">
        <p15:presenceInfo xmlns:p15="http://schemas.microsoft.com/office/powerpoint/2012/main" userId="S-1-5-21-886851358-1450416589-2733106619-80070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006600"/>
    <a:srgbClr val="008000"/>
    <a:srgbClr val="FFFF00"/>
    <a:srgbClr val="1414FE"/>
    <a:srgbClr val="7F7F7F"/>
    <a:srgbClr val="339933"/>
    <a:srgbClr val="92D050"/>
    <a:srgbClr val="E3B7B6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F39C65D-BFE4-AC82-6979-4E2946140A30}" v="46" dt="2025-12-16T09:13:24.407"/>
    <p1510:client id="{76142FC4-B0DF-4D86-83E5-5487210914CE}" v="10" dt="2025-12-16T09:23:30.258"/>
    <p1510:client id="{8E012BE3-FE9A-F23C-52F5-7B0CD3270AB1}" v="136" dt="2025-12-16T08:59:43.770"/>
    <p1510:client id="{B392BE98-4B12-B9C1-9121-425BCC4A3964}" v="34" dt="2025-12-16T09:19:26.085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D7AC3CCA-C797-4891-BE02-D94E43425B78}" styleName="보통 스타일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8EC20E35-A176-4012-BC5E-935CFFF8708E}" styleName="보통 스타일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E8034E78-7F5D-4C2E-B375-FC64B27BC917}" styleName="어두운 스타일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BDBED569-4797-4DF1-A0F4-6AAB3CD982D8}" styleName="밝은 스타일 3 - 강조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93D81CF-94F2-401A-BA57-92F5A7B2D0C5}" styleName="보통 스타일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21E4AEA4-8DFA-4A89-87EB-49C32662AFE0}" styleName="보통 스타일 2 - 강조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보통 스타일 2 - 강조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보통 스타일 2 - 강조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775DCB02-9BB8-47FD-8907-85C794F793BA}" styleName="테마 스타일 1 - 강조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8715" autoAdjust="0"/>
    <p:restoredTop sz="94660"/>
  </p:normalViewPr>
  <p:slideViewPr>
    <p:cSldViewPr snapToGrid="0">
      <p:cViewPr varScale="1">
        <p:scale>
          <a:sx n="95" d="100"/>
          <a:sy n="95" d="100"/>
        </p:scale>
        <p:origin x="1734" y="84"/>
      </p:cViewPr>
      <p:guideLst>
        <p:guide orient="horz" pos="618"/>
        <p:guide pos="194"/>
        <p:guide orient="horz" pos="157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3377"/>
        <p:guide pos="2106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2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63" Type="http://schemas.openxmlformats.org/officeDocument/2006/relationships/slide" Target="slides/slide58.xml"/><Relationship Id="rId84" Type="http://schemas.openxmlformats.org/officeDocument/2006/relationships/slide" Target="slides/slide79.xml"/><Relationship Id="rId138" Type="http://schemas.microsoft.com/office/2016/11/relationships/changesInfo" Target="changesInfos/changesInfo1.xml"/><Relationship Id="rId16" Type="http://schemas.openxmlformats.org/officeDocument/2006/relationships/slide" Target="slides/slide11.xml"/><Relationship Id="rId107" Type="http://schemas.openxmlformats.org/officeDocument/2006/relationships/slide" Target="slides/slide102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74" Type="http://schemas.openxmlformats.org/officeDocument/2006/relationships/slide" Target="slides/slide69.xml"/><Relationship Id="rId79" Type="http://schemas.openxmlformats.org/officeDocument/2006/relationships/slide" Target="slides/slide74.xml"/><Relationship Id="rId102" Type="http://schemas.openxmlformats.org/officeDocument/2006/relationships/slide" Target="slides/slide97.xml"/><Relationship Id="rId123" Type="http://schemas.openxmlformats.org/officeDocument/2006/relationships/slide" Target="slides/slide118.xml"/><Relationship Id="rId128" Type="http://schemas.openxmlformats.org/officeDocument/2006/relationships/slide" Target="slides/slide123.xml"/><Relationship Id="rId5" Type="http://schemas.openxmlformats.org/officeDocument/2006/relationships/slideMaster" Target="slideMasters/slideMaster2.xml"/><Relationship Id="rId90" Type="http://schemas.openxmlformats.org/officeDocument/2006/relationships/slide" Target="slides/slide85.xml"/><Relationship Id="rId95" Type="http://schemas.openxmlformats.org/officeDocument/2006/relationships/slide" Target="slides/slide90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113" Type="http://schemas.openxmlformats.org/officeDocument/2006/relationships/slide" Target="slides/slide108.xml"/><Relationship Id="rId118" Type="http://schemas.openxmlformats.org/officeDocument/2006/relationships/slide" Target="slides/slide113.xml"/><Relationship Id="rId134" Type="http://schemas.openxmlformats.org/officeDocument/2006/relationships/presProps" Target="presProps.xml"/><Relationship Id="rId139" Type="http://schemas.microsoft.com/office/2015/10/relationships/revisionInfo" Target="revisionInfo.xml"/><Relationship Id="rId80" Type="http://schemas.openxmlformats.org/officeDocument/2006/relationships/slide" Target="slides/slide75.xml"/><Relationship Id="rId85" Type="http://schemas.openxmlformats.org/officeDocument/2006/relationships/slide" Target="slides/slide80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59" Type="http://schemas.openxmlformats.org/officeDocument/2006/relationships/slide" Target="slides/slide54.xml"/><Relationship Id="rId103" Type="http://schemas.openxmlformats.org/officeDocument/2006/relationships/slide" Target="slides/slide98.xml"/><Relationship Id="rId108" Type="http://schemas.openxmlformats.org/officeDocument/2006/relationships/slide" Target="slides/slide103.xml"/><Relationship Id="rId124" Type="http://schemas.openxmlformats.org/officeDocument/2006/relationships/slide" Target="slides/slide119.xml"/><Relationship Id="rId129" Type="http://schemas.openxmlformats.org/officeDocument/2006/relationships/slide" Target="slides/slide124.xml"/><Relationship Id="rId54" Type="http://schemas.openxmlformats.org/officeDocument/2006/relationships/slide" Target="slides/slide49.xml"/><Relationship Id="rId70" Type="http://schemas.openxmlformats.org/officeDocument/2006/relationships/slide" Target="slides/slide65.xml"/><Relationship Id="rId75" Type="http://schemas.openxmlformats.org/officeDocument/2006/relationships/slide" Target="slides/slide70.xml"/><Relationship Id="rId91" Type="http://schemas.openxmlformats.org/officeDocument/2006/relationships/slide" Target="slides/slide86.xml"/><Relationship Id="rId96" Type="http://schemas.openxmlformats.org/officeDocument/2006/relationships/slide" Target="slides/slide9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49" Type="http://schemas.openxmlformats.org/officeDocument/2006/relationships/slide" Target="slides/slide44.xml"/><Relationship Id="rId114" Type="http://schemas.openxmlformats.org/officeDocument/2006/relationships/slide" Target="slides/slide109.xml"/><Relationship Id="rId119" Type="http://schemas.openxmlformats.org/officeDocument/2006/relationships/slide" Target="slides/slide114.xml"/><Relationship Id="rId44" Type="http://schemas.openxmlformats.org/officeDocument/2006/relationships/slide" Target="slides/slide39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81" Type="http://schemas.openxmlformats.org/officeDocument/2006/relationships/slide" Target="slides/slide76.xml"/><Relationship Id="rId86" Type="http://schemas.openxmlformats.org/officeDocument/2006/relationships/slide" Target="slides/slide81.xml"/><Relationship Id="rId130" Type="http://schemas.openxmlformats.org/officeDocument/2006/relationships/slide" Target="slides/slide125.xml"/><Relationship Id="rId135" Type="http://schemas.openxmlformats.org/officeDocument/2006/relationships/viewProps" Target="viewProps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109" Type="http://schemas.openxmlformats.org/officeDocument/2006/relationships/slide" Target="slides/slide10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97" Type="http://schemas.openxmlformats.org/officeDocument/2006/relationships/slide" Target="slides/slide92.xml"/><Relationship Id="rId104" Type="http://schemas.openxmlformats.org/officeDocument/2006/relationships/slide" Target="slides/slide99.xml"/><Relationship Id="rId120" Type="http://schemas.openxmlformats.org/officeDocument/2006/relationships/slide" Target="slides/slide115.xml"/><Relationship Id="rId125" Type="http://schemas.openxmlformats.org/officeDocument/2006/relationships/slide" Target="slides/slide120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slide" Target="slides/slide87.xml"/><Relationship Id="rId2" Type="http://schemas.openxmlformats.org/officeDocument/2006/relationships/customXml" Target="../customXml/item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slide" Target="slides/slide82.xml"/><Relationship Id="rId110" Type="http://schemas.openxmlformats.org/officeDocument/2006/relationships/slide" Target="slides/slide105.xml"/><Relationship Id="rId115" Type="http://schemas.openxmlformats.org/officeDocument/2006/relationships/slide" Target="slides/slide110.xml"/><Relationship Id="rId131" Type="http://schemas.openxmlformats.org/officeDocument/2006/relationships/notesMaster" Target="notesMasters/notesMaster1.xml"/><Relationship Id="rId136" Type="http://schemas.openxmlformats.org/officeDocument/2006/relationships/theme" Target="theme/theme1.xml"/><Relationship Id="rId61" Type="http://schemas.openxmlformats.org/officeDocument/2006/relationships/slide" Target="slides/slide56.xml"/><Relationship Id="rId82" Type="http://schemas.openxmlformats.org/officeDocument/2006/relationships/slide" Target="slides/slide77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slide" Target="slides/slide72.xml"/><Relationship Id="rId100" Type="http://schemas.openxmlformats.org/officeDocument/2006/relationships/slide" Target="slides/slide95.xml"/><Relationship Id="rId105" Type="http://schemas.openxmlformats.org/officeDocument/2006/relationships/slide" Target="slides/slide100.xml"/><Relationship Id="rId126" Type="http://schemas.openxmlformats.org/officeDocument/2006/relationships/slide" Target="slides/slide121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93" Type="http://schemas.openxmlformats.org/officeDocument/2006/relationships/slide" Target="slides/slide88.xml"/><Relationship Id="rId98" Type="http://schemas.openxmlformats.org/officeDocument/2006/relationships/slide" Target="slides/slide93.xml"/><Relationship Id="rId121" Type="http://schemas.openxmlformats.org/officeDocument/2006/relationships/slide" Target="slides/slide116.xml"/><Relationship Id="rId3" Type="http://schemas.openxmlformats.org/officeDocument/2006/relationships/customXml" Target="../customXml/item3.xml"/><Relationship Id="rId25" Type="http://schemas.openxmlformats.org/officeDocument/2006/relationships/slide" Target="slides/slide20.xml"/><Relationship Id="rId46" Type="http://schemas.openxmlformats.org/officeDocument/2006/relationships/slide" Target="slides/slide41.xml"/><Relationship Id="rId67" Type="http://schemas.openxmlformats.org/officeDocument/2006/relationships/slide" Target="slides/slide62.xml"/><Relationship Id="rId116" Type="http://schemas.openxmlformats.org/officeDocument/2006/relationships/slide" Target="slides/slide111.xml"/><Relationship Id="rId137" Type="http://schemas.openxmlformats.org/officeDocument/2006/relationships/tableStyles" Target="tableStyles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62" Type="http://schemas.openxmlformats.org/officeDocument/2006/relationships/slide" Target="slides/slide57.xml"/><Relationship Id="rId83" Type="http://schemas.openxmlformats.org/officeDocument/2006/relationships/slide" Target="slides/slide78.xml"/><Relationship Id="rId88" Type="http://schemas.openxmlformats.org/officeDocument/2006/relationships/slide" Target="slides/slide83.xml"/><Relationship Id="rId111" Type="http://schemas.openxmlformats.org/officeDocument/2006/relationships/slide" Target="slides/slide106.xml"/><Relationship Id="rId132" Type="http://schemas.openxmlformats.org/officeDocument/2006/relationships/handoutMaster" Target="handoutMasters/handoutMaster1.xml"/><Relationship Id="rId15" Type="http://schemas.openxmlformats.org/officeDocument/2006/relationships/slide" Target="slides/slide10.xml"/><Relationship Id="rId36" Type="http://schemas.openxmlformats.org/officeDocument/2006/relationships/slide" Target="slides/slide31.xml"/><Relationship Id="rId57" Type="http://schemas.openxmlformats.org/officeDocument/2006/relationships/slide" Target="slides/slide52.xml"/><Relationship Id="rId106" Type="http://schemas.openxmlformats.org/officeDocument/2006/relationships/slide" Target="slides/slide101.xml"/><Relationship Id="rId127" Type="http://schemas.openxmlformats.org/officeDocument/2006/relationships/slide" Target="slides/slide12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52" Type="http://schemas.openxmlformats.org/officeDocument/2006/relationships/slide" Target="slides/slide47.xml"/><Relationship Id="rId73" Type="http://schemas.openxmlformats.org/officeDocument/2006/relationships/slide" Target="slides/slide68.xml"/><Relationship Id="rId78" Type="http://schemas.openxmlformats.org/officeDocument/2006/relationships/slide" Target="slides/slide73.xml"/><Relationship Id="rId94" Type="http://schemas.openxmlformats.org/officeDocument/2006/relationships/slide" Target="slides/slide89.xml"/><Relationship Id="rId99" Type="http://schemas.openxmlformats.org/officeDocument/2006/relationships/slide" Target="slides/slide94.xml"/><Relationship Id="rId101" Type="http://schemas.openxmlformats.org/officeDocument/2006/relationships/slide" Target="slides/slide96.xml"/><Relationship Id="rId122" Type="http://schemas.openxmlformats.org/officeDocument/2006/relationships/slide" Target="slides/slide11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47" Type="http://schemas.openxmlformats.org/officeDocument/2006/relationships/slide" Target="slides/slide42.xml"/><Relationship Id="rId68" Type="http://schemas.openxmlformats.org/officeDocument/2006/relationships/slide" Target="slides/slide63.xml"/><Relationship Id="rId89" Type="http://schemas.openxmlformats.org/officeDocument/2006/relationships/slide" Target="slides/slide84.xml"/><Relationship Id="rId112" Type="http://schemas.openxmlformats.org/officeDocument/2006/relationships/slide" Target="slides/slide107.xml"/><Relationship Id="rId133" Type="http://schemas.openxmlformats.org/officeDocument/2006/relationships/commentAuthors" Target="commentAuthor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연두희(DOO HEE YEON)[doohee.yeon]/책임/제조DX.품질DX.품질DX팀" userId="73e89ba0-8653-4a79-be3e-63e4747a306c" providerId="ADAL" clId="{A4C2F4C4-3611-446A-8A85-61EF4C1BAB16}"/>
    <pc:docChg chg="addSld delSld modSld modSection">
      <pc:chgData name="연두희(DOO HEE YEON)[doohee.yeon]/책임/제조DX.품질DX.품질DX팀" userId="73e89ba0-8653-4a79-be3e-63e4747a306c" providerId="ADAL" clId="{A4C2F4C4-3611-446A-8A85-61EF4C1BAB16}" dt="2025-12-16T09:02:58.160" v="3" actId="729"/>
      <pc:docMkLst>
        <pc:docMk/>
      </pc:docMkLst>
      <pc:sldChg chg="add del">
        <pc:chgData name="연두희(DOO HEE YEON)[doohee.yeon]/책임/제조DX.품질DX.품질DX팀" userId="73e89ba0-8653-4a79-be3e-63e4747a306c" providerId="ADAL" clId="{A4C2F4C4-3611-446A-8A85-61EF4C1BAB16}" dt="2025-12-16T09:00:50.124" v="1" actId="47"/>
        <pc:sldMkLst>
          <pc:docMk/>
          <pc:sldMk cId="2451267197" sldId="266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4240670445" sldId="266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207561205" sldId="267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434742471" sldId="268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107121357" sldId="2147481930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795187899" sldId="2147481962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3330901661" sldId="2147482017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951646700" sldId="2147482036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3668150256" sldId="2147482040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021563507" sldId="2147482058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57572273" sldId="2147482070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3675455878" sldId="2147482076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631653520" sldId="2147482078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4080837860" sldId="2147482079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911656493" sldId="2147482080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3755497490" sldId="2147482084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752155312" sldId="2147482085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3572636580" sldId="2147482088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233574851" sldId="2147482089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827751394" sldId="2147482090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913072594" sldId="2147482091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104308101" sldId="2147482095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3340952688" sldId="2147482096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1990786081" sldId="2147482097"/>
        </pc:sldMkLst>
      </pc:sldChg>
      <pc:sldChg chg="add">
        <pc:chgData name="연두희(DOO HEE YEON)[doohee.yeon]/책임/제조DX.품질DX.품질DX팀" userId="73e89ba0-8653-4a79-be3e-63e4747a306c" providerId="ADAL" clId="{A4C2F4C4-3611-446A-8A85-61EF4C1BAB16}" dt="2025-12-16T09:02:40.160" v="2"/>
        <pc:sldMkLst>
          <pc:docMk/>
          <pc:sldMk cId="3615369409" sldId="2147482098"/>
        </pc:sldMkLst>
      </pc:sldChg>
      <pc:sldChg chg="add mod modShow">
        <pc:chgData name="연두희(DOO HEE YEON)[doohee.yeon]/책임/제조DX.품질DX.품질DX팀" userId="73e89ba0-8653-4a79-be3e-63e4747a306c" providerId="ADAL" clId="{A4C2F4C4-3611-446A-8A85-61EF4C1BAB16}" dt="2025-12-16T09:02:58.160" v="3" actId="729"/>
        <pc:sldMkLst>
          <pc:docMk/>
          <pc:sldMk cId="1548564195" sldId="2147482099"/>
        </pc:sldMkLst>
      </pc:sldChg>
    </pc:docChg>
  </pc:docChgLst>
  <pc:docChgLst>
    <pc:chgData name="최상준(SANGJUN CHOI)[sangjun.choi]/책임/제조DX.품질DX.품질DX팀" userId="f27f6263-8294-47ad-af8d-7a32cdf167a1" providerId="ADAL" clId="{1B16D93F-4400-415F-AE63-8BAEFCADCABD}"/>
    <pc:docChg chg="undo custSel modSld">
      <pc:chgData name="최상준(SANGJUN CHOI)[sangjun.choi]/책임/제조DX.품질DX.품질DX팀" userId="f27f6263-8294-47ad-af8d-7a32cdf167a1" providerId="ADAL" clId="{1B16D93F-4400-415F-AE63-8BAEFCADCABD}" dt="2025-12-16T10:15:19.681" v="6" actId="20577"/>
      <pc:docMkLst>
        <pc:docMk/>
      </pc:docMkLst>
      <pc:sldChg chg="modSp mod">
        <pc:chgData name="최상준(SANGJUN CHOI)[sangjun.choi]/책임/제조DX.품질DX.품질DX팀" userId="f27f6263-8294-47ad-af8d-7a32cdf167a1" providerId="ADAL" clId="{1B16D93F-4400-415F-AE63-8BAEFCADCABD}" dt="2025-12-16T10:15:19.681" v="6" actId="20577"/>
        <pc:sldMkLst>
          <pc:docMk/>
          <pc:sldMk cId="1548564195" sldId="2147482099"/>
        </pc:sldMkLst>
        <pc:spChg chg="mod">
          <ac:chgData name="최상준(SANGJUN CHOI)[sangjun.choi]/책임/제조DX.품질DX.품질DX팀" userId="f27f6263-8294-47ad-af8d-7a32cdf167a1" providerId="ADAL" clId="{1B16D93F-4400-415F-AE63-8BAEFCADCABD}" dt="2025-12-16T10:15:19.681" v="6" actId="20577"/>
          <ac:spMkLst>
            <pc:docMk/>
            <pc:sldMk cId="1548564195" sldId="2147482099"/>
            <ac:spMk id="2" creationId="{0D2AD04E-54DA-4934-AAB7-5D16C97D7B73}"/>
          </ac:spMkLst>
        </pc:spChg>
      </pc:sldChg>
    </pc:docChg>
  </pc:docChgLst>
  <pc:docChgLst>
    <pc:chgData name="황유승(YOOSEUNG HWANG)[yooseung.h]/팀장/제조DX.품질DX.설비DX팀" userId="e0689872-7918-445c-ad07-150431448e68" providerId="ADAL" clId="{D4D02D72-6E91-4D12-9103-FC2F39EEF87A}"/>
    <pc:docChg chg="addSld delSld modSld">
      <pc:chgData name="황유승(YOOSEUNG HWANG)[yooseung.h]/팀장/제조DX.품질DX.설비DX팀" userId="e0689872-7918-445c-ad07-150431448e68" providerId="ADAL" clId="{D4D02D72-6E91-4D12-9103-FC2F39EEF87A}" dt="2025-11-27T02:05:18.134" v="817" actId="20577"/>
      <pc:docMkLst>
        <pc:docMk/>
      </pc:docMkLst>
    </pc:docChg>
  </pc:docChgLst>
  <pc:docChgLst>
    <pc:chgData name="이정원(JUNGWON LEE)[jwlee0401]/팀장/제조DX.품질DX.DAVINCI팀" userId="1c2f8ad7-3b6e-475e-9593-07812a6d44f9" providerId="ADAL" clId="{9F2493BE-A92E-4A49-B0D5-F710AF093B76}"/>
    <pc:docChg chg="addSld modSld">
      <pc:chgData name="이정원(JUNGWON LEE)[jwlee0401]/팀장/제조DX.품질DX.DAVINCI팀" userId="1c2f8ad7-3b6e-475e-9593-07812a6d44f9" providerId="ADAL" clId="{9F2493BE-A92E-4A49-B0D5-F710AF093B76}" dt="2025-12-03T07:27:32.818" v="0"/>
      <pc:docMkLst>
        <pc:docMk/>
      </pc:docMkLst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1005210716" sldId="2147481884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3492710736" sldId="2147481895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1571412418" sldId="2147481897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3997813306" sldId="2147481906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196000052" sldId="2147481907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627161179" sldId="2147481908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647982237" sldId="2147481911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964062836" sldId="2147481917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4078073599" sldId="2147481925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1509240995" sldId="2147481933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4150420941" sldId="2147481940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3447192954" sldId="2147481948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951901203" sldId="2147481951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3073314691" sldId="2147481956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21712203" sldId="2147481957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273295863" sldId="2147481961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661737888" sldId="2147481963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014403379" sldId="2147481964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959969249" sldId="2147481966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746230027" sldId="2147481967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675238219" sldId="2147481971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575552330" sldId="2147481972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1658345375" sldId="2147481976"/>
        </pc:sldMkLst>
      </pc:sldChg>
      <pc:sldChg chg="add">
        <pc:chgData name="이정원(JUNGWON LEE)[jwlee0401]/팀장/제조DX.품질DX.DAVINCI팀" userId="1c2f8ad7-3b6e-475e-9593-07812a6d44f9" providerId="ADAL" clId="{9F2493BE-A92E-4A49-B0D5-F710AF093B76}" dt="2025-12-03T07:27:32.818" v="0"/>
        <pc:sldMkLst>
          <pc:docMk/>
          <pc:sldMk cId="2954950928" sldId="2147481978"/>
        </pc:sldMkLst>
      </pc:sldChg>
    </pc:docChg>
  </pc:docChgLst>
  <pc:docChgLst>
    <pc:chgData name="지용진(YONG JIN JI)[yongjin.ji]/전문위원/제조DX.품질DX.품질DX팀" userId="668a9e28-eb85-4c24-bdb6-23321b586e51" providerId="ADAL" clId="{2DC3F0E3-6EE9-4424-AA40-F1BC2084716C}"/>
    <pc:docChg chg="custSel modSld modMainMaster">
      <pc:chgData name="지용진(YONG JIN JI)[yongjin.ji]/전문위원/제조DX.품질DX.품질DX팀" userId="668a9e28-eb85-4c24-bdb6-23321b586e51" providerId="ADAL" clId="{2DC3F0E3-6EE9-4424-AA40-F1BC2084716C}" dt="2025-11-30T08:16:15.806" v="3507" actId="20577"/>
      <pc:docMkLst>
        <pc:docMk/>
      </pc:docMkLst>
      <pc:sldMasterChg chg="modSp mod">
        <pc:chgData name="지용진(YONG JIN JI)[yongjin.ji]/전문위원/제조DX.품질DX.품질DX팀" userId="668a9e28-eb85-4c24-bdb6-23321b586e51" providerId="ADAL" clId="{2DC3F0E3-6EE9-4424-AA40-F1BC2084716C}" dt="2025-11-26T13:00:17.318" v="1" actId="20577"/>
        <pc:sldMasterMkLst>
          <pc:docMk/>
          <pc:sldMasterMk cId="2856474258" sldId="2147483926"/>
        </pc:sldMasterMkLst>
        <pc:spChg chg="mod">
          <ac:chgData name="지용진(YONG JIN JI)[yongjin.ji]/전문위원/제조DX.품질DX.품질DX팀" userId="668a9e28-eb85-4c24-bdb6-23321b586e51" providerId="ADAL" clId="{2DC3F0E3-6EE9-4424-AA40-F1BC2084716C}" dt="2025-11-26T13:00:17.318" v="1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이강국(KANG KUK LEE)[kklee81]/팀장/제조DX.품질DX.공정검사DX팀" userId="d2ce5178-2266-4480-858d-6442786b6081" providerId="ADAL" clId="{BCFEAAD0-5899-48D5-8F9B-D33821268F1F}"/>
    <pc:docChg chg="custSel addSld delSld modSld delMainMaster modSection">
      <pc:chgData name="이강국(KANG KUK LEE)[kklee81]/팀장/제조DX.품질DX.공정검사DX팀" userId="d2ce5178-2266-4480-858d-6442786b6081" providerId="ADAL" clId="{BCFEAAD0-5899-48D5-8F9B-D33821268F1F}" dt="2025-11-27T00:18:08.265" v="1352" actId="6549"/>
      <pc:docMkLst>
        <pc:docMk/>
      </pc:docMkLst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4020968309" sldId="279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862261060" sldId="280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103445315" sldId="281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1599715968" sldId="285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3067526177" sldId="286"/>
        </pc:sldMkLst>
      </pc:sldChg>
      <pc:sldChg chg="modSp mod">
        <pc:chgData name="이강국(KANG KUK LEE)[kklee81]/팀장/제조DX.품질DX.공정검사DX팀" userId="d2ce5178-2266-4480-858d-6442786b6081" providerId="ADAL" clId="{BCFEAAD0-5899-48D5-8F9B-D33821268F1F}" dt="2025-11-26T00:13:03.283" v="2" actId="20577"/>
        <pc:sldMkLst>
          <pc:docMk/>
          <pc:sldMk cId="2751367990" sldId="746"/>
        </pc:sldMkLst>
        <pc:spChg chg="mod">
          <ac:chgData name="이강국(KANG KUK LEE)[kklee81]/팀장/제조DX.품질DX.공정검사DX팀" userId="d2ce5178-2266-4480-858d-6442786b6081" providerId="ADAL" clId="{BCFEAAD0-5899-48D5-8F9B-D33821268F1F}" dt="2025-11-26T00:13:03.283" v="2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005210716" sldId="2147481884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2741915051" sldId="2147481886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3492710736" sldId="2147481895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2600334921" sldId="2147481896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571412418" sldId="2147481897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3997813306" sldId="2147481906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96000052" sldId="2147481907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627161179" sldId="2147481908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647982237" sldId="2147481911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964062836" sldId="2147481917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4078073599" sldId="2147481925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107121357" sldId="2147481930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509240995" sldId="2147481933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917138514" sldId="2147481941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3447192954" sldId="2147481948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951901203" sldId="2147481951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3073314691" sldId="2147481956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21712203" sldId="2147481957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273295863" sldId="2147481961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795187899" sldId="2147481962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661737888" sldId="2147481963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014403379" sldId="2147481964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959969249" sldId="2147481966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2746230027" sldId="2147481967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658345375" sldId="2147481976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430976968" sldId="2147481986"/>
        </pc:sldMkLst>
      </pc:sldChg>
      <pc:sldChg chg="add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17863841" sldId="2147481989"/>
        </pc:sldMkLst>
      </pc:sldChg>
      <pc:sldChg chg="add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1818863937" sldId="2147481995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1744086403" sldId="2147482009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1173333594" sldId="2147482011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3969089951" sldId="2147482012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3330901661" sldId="2147482017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951646700" sldId="2147482036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3668150256" sldId="2147482040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1021563507" sldId="2147482058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57572273" sldId="2147482070"/>
        </pc:sldMkLst>
      </pc:sldChg>
      <pc:sldChg chg="del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kLst>
          <pc:docMk/>
          <pc:sldMk cId="3675455878" sldId="2147482076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1746222469" sldId="2147483600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2830032125" sldId="2147483602"/>
        </pc:sldMkLst>
      </pc:sldChg>
      <pc:sldChg chg="add del">
        <pc:chgData name="이강국(KANG KUK LEE)[kklee81]/팀장/제조DX.품질DX.공정검사DX팀" userId="d2ce5178-2266-4480-858d-6442786b6081" providerId="ADAL" clId="{BCFEAAD0-5899-48D5-8F9B-D33821268F1F}" dt="2025-11-26T06:04:48.758" v="3"/>
        <pc:sldMkLst>
          <pc:docMk/>
          <pc:sldMk cId="2414057943" sldId="2147483642"/>
        </pc:sldMkLst>
      </pc:sldChg>
      <pc:sldMasterChg chg="delSldLayout">
        <pc:chgData name="이강국(KANG KUK LEE)[kklee81]/팀장/제조DX.품질DX.공정검사DX팀" userId="d2ce5178-2266-4480-858d-6442786b6081" providerId="ADAL" clId="{BCFEAAD0-5899-48D5-8F9B-D33821268F1F}" dt="2025-11-26T00:12:57.741" v="0" actId="47"/>
        <pc:sldMasterMkLst>
          <pc:docMk/>
          <pc:sldMasterMk cId="2856474258" sldId="2147483926"/>
        </pc:sldMasterMkLst>
      </pc:sldMasterChg>
    </pc:docChg>
  </pc:docChgLst>
  <pc:docChgLst>
    <pc:chgData name="이강국(KANG KUK LEE)[kklee81]/팀장/제조DX.품질DX.공정검사DX팀" userId="S::kklee81@lgensol.com::d2ce5178-2266-4480-858d-6442786b6081" providerId="AD" clId="Web-{F7E61DAA-A454-42CA-B7A6-E9FBA11EA6BA}"/>
    <pc:docChg chg="modSld">
      <pc:chgData name="이강국(KANG KUK LEE)[kklee81]/팀장/제조DX.품질DX.공정검사DX팀" userId="S::kklee81@lgensol.com::d2ce5178-2266-4480-858d-6442786b6081" providerId="AD" clId="Web-{F7E61DAA-A454-42CA-B7A6-E9FBA11EA6BA}" dt="2025-11-27T00:21:13.558" v="16" actId="20577"/>
      <pc:docMkLst>
        <pc:docMk/>
      </pc:docMkLst>
    </pc:docChg>
  </pc:docChgLst>
  <pc:docChgLst>
    <pc:chgData name="이강국(KANG KUK LEE)[kklee81]/팀장/제조DX.품질DX.공정검사DX팀" userId="d2ce5178-2266-4480-858d-6442786b6081" providerId="ADAL" clId="{840BBF81-9506-4F8C-9EC5-C7AAA6D8A748}"/>
    <pc:docChg chg="addSld delSld modSld delMainMaster modSection">
      <pc:chgData name="이강국(KANG KUK LEE)[kklee81]/팀장/제조DX.품질DX.공정검사DX팀" userId="d2ce5178-2266-4480-858d-6442786b6081" providerId="ADAL" clId="{840BBF81-9506-4F8C-9EC5-C7AAA6D8A748}" dt="2025-11-19T05:27:55.488" v="6"/>
      <pc:docMkLst>
        <pc:docMk/>
      </pc:docMkLst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4020968309" sldId="279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862261060" sldId="280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103445315" sldId="281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1599715968" sldId="285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3067526177" sldId="286"/>
        </pc:sldMkLst>
      </pc:sldChg>
      <pc:sldChg chg="modSp mod">
        <pc:chgData name="이강국(KANG KUK LEE)[kklee81]/팀장/제조DX.품질DX.공정검사DX팀" userId="d2ce5178-2266-4480-858d-6442786b6081" providerId="ADAL" clId="{840BBF81-9506-4F8C-9EC5-C7AAA6D8A748}" dt="2025-11-19T04:39:55.759" v="5" actId="20577"/>
        <pc:sldMkLst>
          <pc:docMk/>
          <pc:sldMk cId="2751367990" sldId="746"/>
        </pc:sldMkLst>
        <pc:spChg chg="mod">
          <ac:chgData name="이강국(KANG KUK LEE)[kklee81]/팀장/제조DX.품질DX.공정검사DX팀" userId="d2ce5178-2266-4480-858d-6442786b6081" providerId="ADAL" clId="{840BBF81-9506-4F8C-9EC5-C7AAA6D8A748}" dt="2025-11-19T04:39:55.759" v="5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005210716" sldId="2147481884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2741915051" sldId="2147481886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3492710736" sldId="2147481895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2600334921" sldId="2147481896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571412418" sldId="2147481897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3997813306" sldId="2147481906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96000052" sldId="2147481907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2627161179" sldId="2147481908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647982237" sldId="2147481911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4078073599" sldId="2147481925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107121357" sldId="2147481930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509240995" sldId="2147481933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917138514" sldId="2147481941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3447192954" sldId="2147481948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3073314691" sldId="2147481956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221712203" sldId="2147481957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2273295863" sldId="2147481961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795187899" sldId="2147481962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2014403379" sldId="2147481964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2746230027" sldId="2147481967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658345375" sldId="2147481976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430976968" sldId="2147481986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17863841" sldId="2147481989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1744086403" sldId="2147482009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1173333594" sldId="2147482011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3969089951" sldId="2147482012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9.129" v="1" actId="47"/>
        <pc:sldMkLst>
          <pc:docMk/>
          <pc:sldMk cId="3330901661" sldId="2147482017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951646700" sldId="2147482036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3668150256" sldId="2147482040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1021563507" sldId="2147482058"/>
        </pc:sldMkLst>
      </pc:sldChg>
      <pc:sldChg chg="del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kLst>
          <pc:docMk/>
          <pc:sldMk cId="57572273" sldId="2147482070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1746222469" sldId="2147483600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2830032125" sldId="2147483602"/>
        </pc:sldMkLst>
      </pc:sldChg>
      <pc:sldChg chg="add del">
        <pc:chgData name="이강국(KANG KUK LEE)[kklee81]/팀장/제조DX.품질DX.공정검사DX팀" userId="d2ce5178-2266-4480-858d-6442786b6081" providerId="ADAL" clId="{840BBF81-9506-4F8C-9EC5-C7AAA6D8A748}" dt="2025-11-19T05:27:55.488" v="6"/>
        <pc:sldMkLst>
          <pc:docMk/>
          <pc:sldMk cId="2414057943" sldId="2147483642"/>
        </pc:sldMkLst>
      </pc:sldChg>
      <pc:sldMasterChg chg="delSldLayout">
        <pc:chgData name="이강국(KANG KUK LEE)[kklee81]/팀장/제조DX.품질DX.공정검사DX팀" userId="d2ce5178-2266-4480-858d-6442786b6081" providerId="ADAL" clId="{840BBF81-9506-4F8C-9EC5-C7AAA6D8A748}" dt="2025-11-19T04:39:42.208" v="0" actId="47"/>
        <pc:sldMasterMkLst>
          <pc:docMk/>
          <pc:sldMasterMk cId="2856474258" sldId="2147483926"/>
        </pc:sldMasterMkLst>
      </pc:sldMasterChg>
    </pc:docChg>
  </pc:docChgLst>
  <pc:docChgLst>
    <pc:chgData name="지용진(YONG JIN JI)[yongjin.ji]/전문위원/제조DX.품질DX.품질DX팀" userId="668a9e28-eb85-4c24-bdb6-23321b586e51" providerId="ADAL" clId="{BA9649D3-CB1D-4EB7-A1CC-5940C681E28F}"/>
    <pc:docChg chg="custSel modSld modMainMaster">
      <pc:chgData name="지용진(YONG JIN JI)[yongjin.ji]/전문위원/제조DX.품질DX.품질DX팀" userId="668a9e28-eb85-4c24-bdb6-23321b586e51" providerId="ADAL" clId="{BA9649D3-CB1D-4EB7-A1CC-5940C681E28F}" dt="2025-12-14T10:01:40.979" v="308"/>
      <pc:docMkLst>
        <pc:docMk/>
      </pc:docMkLst>
      <pc:sldMasterChg chg="modSp mod">
        <pc:chgData name="지용진(YONG JIN JI)[yongjin.ji]/전문위원/제조DX.품질DX.품질DX팀" userId="668a9e28-eb85-4c24-bdb6-23321b586e51" providerId="ADAL" clId="{BA9649D3-CB1D-4EB7-A1CC-5940C681E28F}" dt="2025-12-10T10:42:00.939" v="9" actId="20577"/>
        <pc:sldMasterMkLst>
          <pc:docMk/>
          <pc:sldMasterMk cId="2856474258" sldId="2147483926"/>
        </pc:sldMasterMkLst>
        <pc:spChg chg="mod">
          <ac:chgData name="지용진(YONG JIN JI)[yongjin.ji]/전문위원/제조DX.품질DX.품질DX팀" userId="668a9e28-eb85-4c24-bdb6-23321b586e51" providerId="ADAL" clId="{BA9649D3-CB1D-4EB7-A1CC-5940C681E28F}" dt="2025-12-10T10:42:00.939" v="9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이대원(DAEWON LEE)[daewongroup]/팀장/제조DX.품질DX.공정제어DX팀" userId="54287408-d703-46b4-952c-a0fd4688ad75" providerId="ADAL" clId="{27E58905-45A2-4BC4-AAA0-060F6F06EEA6}"/>
    <pc:docChg chg="custSel addSld modSld">
      <pc:chgData name="이대원(DAEWON LEE)[daewongroup]/팀장/제조DX.품질DX.공정제어DX팀" userId="54287408-d703-46b4-952c-a0fd4688ad75" providerId="ADAL" clId="{27E58905-45A2-4BC4-AAA0-060F6F06EEA6}" dt="2025-12-03T08:44:57.031" v="4"/>
      <pc:docMkLst>
        <pc:docMk/>
      </pc:docMkLst>
    </pc:docChg>
  </pc:docChgLst>
  <pc:docChgLst>
    <pc:chgData name="김재용(JAEYONG KIM)[jaeyongkim]/선임/제조DX.품질DX.품질DX팀" userId="74252383-2363-481c-af72-db3501ec3a73" providerId="ADAL" clId="{BE86DAB3-2B1F-46DB-B293-73114FFBDC8B}"/>
    <pc:docChg chg="custSel modSld">
      <pc:chgData name="김재용(JAEYONG KIM)[jaeyongkim]/선임/제조DX.품질DX.품질DX팀" userId="74252383-2363-481c-af72-db3501ec3a73" providerId="ADAL" clId="{BE86DAB3-2B1F-46DB-B293-73114FFBDC8B}" dt="2025-12-04T06:07:48.245" v="20" actId="20577"/>
      <pc:docMkLst>
        <pc:docMk/>
      </pc:docMkLst>
    </pc:docChg>
  </pc:docChgLst>
  <pc:docChgLst>
    <pc:chgData name="연두희(DOO HEE YEON)[doohee.yeon]/책임/제조DX.품질DX.품질DX팀" userId="S::doohee.yeon@lgensol.com::73e89ba0-8653-4a79-be3e-63e4747a306c" providerId="AD" clId="Web-{5F39C65D-BFE4-AC82-6979-4E2946140A30}"/>
    <pc:docChg chg="modSld">
      <pc:chgData name="연두희(DOO HEE YEON)[doohee.yeon]/책임/제조DX.품질DX.품질DX팀" userId="S::doohee.yeon@lgensol.com::73e89ba0-8653-4a79-be3e-63e4747a306c" providerId="AD" clId="Web-{5F39C65D-BFE4-AC82-6979-4E2946140A30}" dt="2025-12-16T09:12:36.922" v="23" actId="14100"/>
      <pc:docMkLst>
        <pc:docMk/>
      </pc:docMkLst>
      <pc:sldChg chg="modSp">
        <pc:chgData name="연두희(DOO HEE YEON)[doohee.yeon]/책임/제조DX.품질DX.품질DX팀" userId="S::doohee.yeon@lgensol.com::73e89ba0-8653-4a79-be3e-63e4747a306c" providerId="AD" clId="Web-{5F39C65D-BFE4-AC82-6979-4E2946140A30}" dt="2025-12-16T09:12:36.922" v="23" actId="14100"/>
        <pc:sldMkLst>
          <pc:docMk/>
          <pc:sldMk cId="1548564195" sldId="2147482099"/>
        </pc:sldMkLst>
        <pc:spChg chg="mod">
          <ac:chgData name="연두희(DOO HEE YEON)[doohee.yeon]/책임/제조DX.품질DX.품질DX팀" userId="S::doohee.yeon@lgensol.com::73e89ba0-8653-4a79-be3e-63e4747a306c" providerId="AD" clId="Web-{5F39C65D-BFE4-AC82-6979-4E2946140A30}" dt="2025-12-16T09:12:36.922" v="23" actId="14100"/>
          <ac:spMkLst>
            <pc:docMk/>
            <pc:sldMk cId="1548564195" sldId="2147482099"/>
            <ac:spMk id="2" creationId="{0D2AD04E-54DA-4934-AAB7-5D16C97D7B73}"/>
          </ac:spMkLst>
        </pc:spChg>
      </pc:sldChg>
    </pc:docChg>
  </pc:docChgLst>
  <pc:docChgLst>
    <pc:chgData name="이대원(DAEWON LEE)[daewongroup]/팀장/제조DX.품질DX.공정제어DX팀" userId="54287408-d703-46b4-952c-a0fd4688ad75" providerId="ADAL" clId="{7DD76FFC-BACA-4DA5-8C4C-0438CE26216F}"/>
    <pc:docChg chg="addSld modSld">
      <pc:chgData name="이대원(DAEWON LEE)[daewongroup]/팀장/제조DX.품질DX.공정제어DX팀" userId="54287408-d703-46b4-952c-a0fd4688ad75" providerId="ADAL" clId="{7DD76FFC-BACA-4DA5-8C4C-0438CE26216F}" dt="2025-11-26T00:39:00.741" v="0"/>
      <pc:docMkLst>
        <pc:docMk/>
      </pc:docMkLst>
    </pc:docChg>
  </pc:docChgLst>
  <pc:docChgLst>
    <pc:chgData name="이강국(KANG KUK LEE)[kklee81]/팀장/제조DX.품질DX.공정검사DX팀" userId="d2ce5178-2266-4480-858d-6442786b6081" providerId="ADAL" clId="{A96BFAD7-5334-40FA-B694-8124C8197B11}"/>
    <pc:docChg chg="addSld delSld modSld delMainMaster modSection">
      <pc:chgData name="이강국(KANG KUK LEE)[kklee81]/팀장/제조DX.품질DX.공정검사DX팀" userId="d2ce5178-2266-4480-858d-6442786b6081" providerId="ADAL" clId="{A96BFAD7-5334-40FA-B694-8124C8197B11}" dt="2025-12-10T07:27:24.223" v="47" actId="20577"/>
      <pc:docMkLst>
        <pc:docMk/>
      </pc:docMkLst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170075415" sldId="256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647951232" sldId="259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895038594" sldId="260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071513182" sldId="261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759145249" sldId="265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782641193" sldId="275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507588565" sldId="276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4020968309" sldId="279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862261060" sldId="280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103445315" sldId="281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1599715968" sldId="285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3067526177" sldId="286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1161295054" sldId="287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3765110832" sldId="289"/>
        </pc:sldMkLst>
      </pc:sldChg>
      <pc:sldChg chg="modSp mod">
        <pc:chgData name="이강국(KANG KUK LEE)[kklee81]/팀장/제조DX.품질DX.공정검사DX팀" userId="d2ce5178-2266-4480-858d-6442786b6081" providerId="ADAL" clId="{A96BFAD7-5334-40FA-B694-8124C8197B11}" dt="2025-12-10T02:13:55.738" v="3" actId="20577"/>
        <pc:sldMkLst>
          <pc:docMk/>
          <pc:sldMk cId="2751367990" sldId="746"/>
        </pc:sldMkLst>
        <pc:spChg chg="mod">
          <ac:chgData name="이강국(KANG KUK LEE)[kklee81]/팀장/제조DX.품질DX.공정검사DX팀" userId="d2ce5178-2266-4480-858d-6442786b6081" providerId="ADAL" clId="{A96BFAD7-5334-40FA-B694-8124C8197B11}" dt="2025-12-10T02:13:55.738" v="3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005210716" sldId="2147481884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2741915051" sldId="2147481886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492710736" sldId="2147481895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2600334921" sldId="2147481896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571412418" sldId="2147481897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997813306" sldId="2147481906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96000052" sldId="2147481907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627161179" sldId="2147481908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647982237" sldId="2147481911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964062836" sldId="2147481917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4078073599" sldId="2147481925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107121357" sldId="2147481930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509240995" sldId="2147481933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4150420941" sldId="2147481940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917138514" sldId="2147481941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447192954" sldId="2147481948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951901203" sldId="2147481951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073314691" sldId="2147481956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21712203" sldId="2147481957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273295863" sldId="2147481961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795187899" sldId="2147481962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661737888" sldId="2147481963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014403379" sldId="2147481964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959969249" sldId="2147481966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746230027" sldId="2147481967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675238219" sldId="2147481971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575552330" sldId="2147481972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658345375" sldId="2147481976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954950928" sldId="2147481978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430976968" sldId="2147481986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17863841" sldId="2147481989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1818863937" sldId="2147481995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1744086403" sldId="2147482009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1173333594" sldId="2147482011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3969089951" sldId="2147482012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330901661" sldId="2147482017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951646700" sldId="2147482036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668150256" sldId="2147482040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1021563507" sldId="2147482058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57572273" sldId="2147482070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3675455878" sldId="2147482076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1746222469" sldId="2147483600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2830032125" sldId="2147483602"/>
        </pc:sldMkLst>
      </pc:sldChg>
      <pc:sldChg chg="add del">
        <pc:chgData name="이강국(KANG KUK LEE)[kklee81]/팀장/제조DX.품질DX.공정검사DX팀" userId="d2ce5178-2266-4480-858d-6442786b6081" providerId="ADAL" clId="{A96BFAD7-5334-40FA-B694-8124C8197B11}" dt="2025-12-10T07:22:44.618" v="5"/>
        <pc:sldMkLst>
          <pc:docMk/>
          <pc:sldMk cId="2414057943" sldId="2147483642"/>
        </pc:sldMkLst>
      </pc:sldChg>
      <pc:sldChg chg="del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kLst>
          <pc:docMk/>
          <pc:sldMk cId="2869279700" sldId="2147483647"/>
        </pc:sldMkLst>
      </pc:sldChg>
      <pc:sldMasterChg chg="delSldLayout">
        <pc:chgData name="이강국(KANG KUK LEE)[kklee81]/팀장/제조DX.품질DX.공정검사DX팀" userId="d2ce5178-2266-4480-858d-6442786b6081" providerId="ADAL" clId="{A96BFAD7-5334-40FA-B694-8124C8197B11}" dt="2025-12-10T02:14:09.858" v="4" actId="47"/>
        <pc:sldMasterMkLst>
          <pc:docMk/>
          <pc:sldMasterMk cId="2856474258" sldId="2147483926"/>
        </pc:sldMasterMkLst>
      </pc:sldMasterChg>
    </pc:docChg>
  </pc:docChgLst>
  <pc:docChgLst>
    <pc:chgData name="황유승(YOOSEUNG HWANG)[yooseung.h]/팀장/제조DX.품질DX.설비DX팀" userId="e0689872-7918-445c-ad07-150431448e68" providerId="ADAL" clId="{66C19929-84E6-415F-B5A4-170DEC02B264}"/>
    <pc:docChg chg="addSld delSld modSld">
      <pc:chgData name="황유승(YOOSEUNG HWANG)[yooseung.h]/팀장/제조DX.품질DX.설비DX팀" userId="e0689872-7918-445c-ad07-150431448e68" providerId="ADAL" clId="{66C19929-84E6-415F-B5A4-170DEC02B264}" dt="2025-12-11T02:14:17.867" v="959"/>
      <pc:docMkLst>
        <pc:docMk/>
      </pc:docMkLst>
    </pc:docChg>
  </pc:docChgLst>
  <pc:docChgLst>
    <pc:chgData name="황유승(YOOSEUNG HWANG)[yooseung.h]/팀장/제조DX.품질DX.설비DX팀" userId="e0689872-7918-445c-ad07-150431448e68" providerId="ADAL" clId="{43A39678-5C95-43E2-84F7-9E5DF2C692F9}"/>
    <pc:docChg chg="addSld delSld modSld modMainMaster">
      <pc:chgData name="황유승(YOOSEUNG HWANG)[yooseung.h]/팀장/제조DX.품질DX.설비DX팀" userId="e0689872-7918-445c-ad07-150431448e68" providerId="ADAL" clId="{43A39678-5C95-43E2-84F7-9E5DF2C692F9}" dt="2025-12-16T09:25:16.940" v="10" actId="14100"/>
      <pc:docMkLst>
        <pc:docMk/>
      </pc:docMkLst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2928328311" sldId="295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3930898495" sldId="296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2199311084" sldId="297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218665898" sldId="2147481889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3079048843" sldId="2147481920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3415847396" sldId="2147481924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4241631553" sldId="2147481928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51232159" sldId="2147481931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3866366394" sldId="2147481935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1515167221" sldId="2147481938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2668225561" sldId="2147481945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619540429" sldId="2147481947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2116465006" sldId="2147481958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3760005048" sldId="2147481980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2590326771" sldId="2147481987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62575981" sldId="2147481991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2923619185" sldId="2147481993"/>
        </pc:sldMkLst>
      </pc:sldChg>
      <pc:sldChg chg="add del">
        <pc:chgData name="황유승(YOOSEUNG HWANG)[yooseung.h]/팀장/제조DX.품질DX.설비DX팀" userId="e0689872-7918-445c-ad07-150431448e68" providerId="ADAL" clId="{43A39678-5C95-43E2-84F7-9E5DF2C692F9}" dt="2025-12-16T09:23:54.893" v="2"/>
        <pc:sldMkLst>
          <pc:docMk/>
          <pc:sldMk cId="1817441682" sldId="2147481994"/>
        </pc:sldMkLst>
      </pc:sldChg>
      <pc:sldMasterChg chg="modSp mod">
        <pc:chgData name="황유승(YOOSEUNG HWANG)[yooseung.h]/팀장/제조DX.품질DX.설비DX팀" userId="e0689872-7918-445c-ad07-150431448e68" providerId="ADAL" clId="{43A39678-5C95-43E2-84F7-9E5DF2C692F9}" dt="2025-12-16T09:25:03.859" v="4" actId="20577"/>
        <pc:sldMasterMkLst>
          <pc:docMk/>
          <pc:sldMasterMk cId="2856474258" sldId="2147483926"/>
        </pc:sldMasterMkLst>
        <pc:spChg chg="mod">
          <ac:chgData name="황유승(YOOSEUNG HWANG)[yooseung.h]/팀장/제조DX.품질DX.설비DX팀" userId="e0689872-7918-445c-ad07-150431448e68" providerId="ADAL" clId="{43A39678-5C95-43E2-84F7-9E5DF2C692F9}" dt="2025-12-16T09:25:03.859" v="4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  <pc:sldMasterChg chg="modSp mod">
        <pc:chgData name="황유승(YOOSEUNG HWANG)[yooseung.h]/팀장/제조DX.품질DX.설비DX팀" userId="e0689872-7918-445c-ad07-150431448e68" providerId="ADAL" clId="{43A39678-5C95-43E2-84F7-9E5DF2C692F9}" dt="2025-12-16T09:25:16.940" v="10" actId="14100"/>
        <pc:sldMasterMkLst>
          <pc:docMk/>
          <pc:sldMasterMk cId="1872424649" sldId="2147483930"/>
        </pc:sldMasterMkLst>
        <pc:spChg chg="mod">
          <ac:chgData name="황유승(YOOSEUNG HWANG)[yooseung.h]/팀장/제조DX.품질DX.설비DX팀" userId="e0689872-7918-445c-ad07-150431448e68" providerId="ADAL" clId="{43A39678-5C95-43E2-84F7-9E5DF2C692F9}" dt="2025-12-16T09:25:16.940" v="10" actId="14100"/>
          <ac:spMkLst>
            <pc:docMk/>
            <pc:sldMasterMk cId="1872424649" sldId="2147483930"/>
            <ac:spMk id="4" creationId="{77254B62-8E4B-48C0-B223-74652FB093EA}"/>
          </ac:spMkLst>
        </pc:spChg>
      </pc:sldMasterChg>
    </pc:docChg>
  </pc:docChgLst>
  <pc:docChgLst>
    <pc:chgData name="송영민(YOUNGMIN SONG)[symsong]/부문담당/제조DX.품질DX담당" userId="a10739ce-2f41-4d8f-b643-21cb771c5638" providerId="ADAL" clId="{2BCB6B0A-202E-4B5A-AF27-AC895766E9F1}"/>
    <pc:docChg chg="modSld">
      <pc:chgData name="송영민(YOUNGMIN SONG)[symsong]/부문담당/제조DX.품질DX담당" userId="a10739ce-2f41-4d8f-b643-21cb771c5638" providerId="ADAL" clId="{2BCB6B0A-202E-4B5A-AF27-AC895766E9F1}" dt="2025-11-16T10:32:42.266" v="92" actId="20577"/>
      <pc:docMkLst>
        <pc:docMk/>
      </pc:docMkLst>
    </pc:docChg>
  </pc:docChgLst>
  <pc:docChgLst>
    <pc:chgData name="원유정(YUJEONG WON)[yujeong.won]/사원/제조DX.품질DX.품질DX팀" userId="4601a0a7-a776-4974-bdfc-6653961419d4" providerId="ADAL" clId="{95312F2B-1270-4161-89E2-09CFAC1B64A1}"/>
    <pc:docChg chg="addSld delSld modSld modSection">
      <pc:chgData name="원유정(YUJEONG WON)[yujeong.won]/사원/제조DX.품질DX.품질DX팀" userId="4601a0a7-a776-4974-bdfc-6653961419d4" providerId="ADAL" clId="{95312F2B-1270-4161-89E2-09CFAC1B64A1}" dt="2025-11-19T08:57:37.900" v="1" actId="47"/>
      <pc:docMkLst>
        <pc:docMk/>
      </pc:docMkLst>
    </pc:docChg>
  </pc:docChgLst>
  <pc:docChgLst>
    <pc:chgData name="이정원(JUNGWON LEE)[jwlee0401]/팀장/제조DX.품질DX.DAVINCI팀" userId="1c2f8ad7-3b6e-475e-9593-07812a6d44f9" providerId="ADAL" clId="{DE876518-A287-477B-BD6D-F765658477CC}"/>
    <pc:docChg chg="custSel addSld modSld">
      <pc:chgData name="이정원(JUNGWON LEE)[jwlee0401]/팀장/제조DX.품질DX.DAVINCI팀" userId="1c2f8ad7-3b6e-475e-9593-07812a6d44f9" providerId="ADAL" clId="{DE876518-A287-477B-BD6D-F765658477CC}" dt="2025-12-14T08:30:53.119" v="80" actId="20577"/>
      <pc:docMkLst>
        <pc:docMk/>
      </pc:docMkLst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1005210716" sldId="2147481884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3492710736" sldId="2147481895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1571412418" sldId="2147481897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3997813306" sldId="2147481906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196000052" sldId="2147481907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627161179" sldId="2147481908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647982237" sldId="2147481911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964062836" sldId="2147481917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4078073599" sldId="2147481925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1509240995" sldId="2147481933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3447192954" sldId="2147481948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951901203" sldId="2147481951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3073314691" sldId="2147481956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21712203" sldId="2147481957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273295863" sldId="2147481961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661737888" sldId="2147481963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014403379" sldId="2147481964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959969249" sldId="2147481966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746230027" sldId="2147481967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1658345375" sldId="2147481976"/>
        </pc:sldMkLst>
      </pc:sldChg>
      <pc:sldChg chg="add">
        <pc:chgData name="이정원(JUNGWON LEE)[jwlee0401]/팀장/제조DX.품질DX.DAVINCI팀" userId="1c2f8ad7-3b6e-475e-9593-07812a6d44f9" providerId="ADAL" clId="{DE876518-A287-477B-BD6D-F765658477CC}" dt="2025-12-10T08:35:49.451" v="0"/>
        <pc:sldMkLst>
          <pc:docMk/>
          <pc:sldMk cId="2954950928" sldId="2147481978"/>
        </pc:sldMkLst>
      </pc:sldChg>
    </pc:docChg>
  </pc:docChgLst>
  <pc:docChgLst>
    <pc:chgData name="원유정(YUJEONG WON)[yujeong.won]/사원/제조DX.품질DX.품질DX팀" userId="S::yujeong.won@lgensol.com::4601a0a7-a776-4974-bdfc-6653961419d4" providerId="AD" clId="Web-{65930D8C-4FC2-CF52-CA8F-47772F667642}"/>
    <pc:docChg chg="modSld">
      <pc:chgData name="원유정(YUJEONG WON)[yujeong.won]/사원/제조DX.품질DX.품질DX팀" userId="S::yujeong.won@lgensol.com::4601a0a7-a776-4974-bdfc-6653961419d4" providerId="AD" clId="Web-{65930D8C-4FC2-CF52-CA8F-47772F667642}" dt="2025-11-19T08:55:35.526" v="2"/>
      <pc:docMkLst>
        <pc:docMk/>
      </pc:docMkLst>
    </pc:docChg>
  </pc:docChgLst>
  <pc:docChgLst>
    <pc:chgData name="이정원(JUNGWON LEE)[jwlee0401]/팀장/제조DX.품질DX.DAVINCI팀" userId="1c2f8ad7-3b6e-475e-9593-07812a6d44f9" providerId="ADAL" clId="{F1248652-DA3A-46C1-9DF2-535F7BC29CF7}"/>
    <pc:docChg chg="addSld modSld">
      <pc:chgData name="이정원(JUNGWON LEE)[jwlee0401]/팀장/제조DX.품질DX.DAVINCI팀" userId="1c2f8ad7-3b6e-475e-9593-07812a6d44f9" providerId="ADAL" clId="{F1248652-DA3A-46C1-9DF2-535F7BC29CF7}" dt="2025-11-19T07:37:34.736" v="0"/>
      <pc:docMkLst>
        <pc:docMk/>
      </pc:docMkLst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1005210716" sldId="2147481884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3492710736" sldId="2147481895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1571412418" sldId="2147481897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3997813306" sldId="2147481906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196000052" sldId="2147481907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627161179" sldId="2147481908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647982237" sldId="2147481911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964062836" sldId="2147481917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4078073599" sldId="2147481925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1509240995" sldId="2147481933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3447192954" sldId="2147481948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951901203" sldId="2147481951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3073314691" sldId="2147481956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21712203" sldId="2147481957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273295863" sldId="2147481961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661737888" sldId="2147481963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014403379" sldId="2147481964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959969249" sldId="2147481966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2746230027" sldId="2147481967"/>
        </pc:sldMkLst>
      </pc:sldChg>
      <pc:sldChg chg="add">
        <pc:chgData name="이정원(JUNGWON LEE)[jwlee0401]/팀장/제조DX.품질DX.DAVINCI팀" userId="1c2f8ad7-3b6e-475e-9593-07812a6d44f9" providerId="ADAL" clId="{F1248652-DA3A-46C1-9DF2-535F7BC29CF7}" dt="2025-11-19T07:37:34.736" v="0"/>
        <pc:sldMkLst>
          <pc:docMk/>
          <pc:sldMk cId="1658345375" sldId="2147481976"/>
        </pc:sldMkLst>
      </pc:sldChg>
    </pc:docChg>
  </pc:docChgLst>
  <pc:docChgLst>
    <pc:chgData name="이강국(KANG KUK LEE)[kklee81]/팀장/제조DX.품질DX.공정검사DX팀" userId="d2ce5178-2266-4480-858d-6442786b6081" providerId="ADAL" clId="{A76489E4-AC89-438E-A73E-BA99EB86CBD1}"/>
    <pc:docChg chg="addSld delSld modSld delMainMaster modSection">
      <pc:chgData name="이강국(KANG KUK LEE)[kklee81]/팀장/제조DX.품질DX.공정검사DX팀" userId="d2ce5178-2266-4480-858d-6442786b6081" providerId="ADAL" clId="{A76489E4-AC89-438E-A73E-BA99EB86CBD1}" dt="2025-12-16T14:29:45.945" v="64"/>
      <pc:docMkLst>
        <pc:docMk/>
      </pc:docMkLst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471999760" sldId="256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3170075415" sldId="256"/>
        </pc:sldMkLst>
      </pc:sldChg>
      <pc:sldChg chg="modSp add mod">
        <pc:chgData name="이강국(KANG KUK LEE)[kklee81]/팀장/제조DX.품질DX.공정검사DX팀" userId="d2ce5178-2266-4480-858d-6442786b6081" providerId="ADAL" clId="{A76489E4-AC89-438E-A73E-BA99EB86CBD1}" dt="2025-12-16T05:50:37.645" v="12"/>
        <pc:sldMkLst>
          <pc:docMk/>
          <pc:sldMk cId="527220934" sldId="257"/>
        </pc:sldMkLst>
        <pc:spChg chg="mod">
          <ac:chgData name="이강국(KANG KUK LEE)[kklee81]/팀장/제조DX.품질DX.공정검사DX팀" userId="d2ce5178-2266-4480-858d-6442786b6081" providerId="ADAL" clId="{A76489E4-AC89-438E-A73E-BA99EB86CBD1}" dt="2025-12-16T05:50:37.645" v="12"/>
          <ac:spMkLst>
            <pc:docMk/>
            <pc:sldMk cId="527220934" sldId="257"/>
            <ac:spMk id="7" creationId="{A6160D62-C27B-48F2-9F42-68B14758DA93}"/>
          </ac:spMkLst>
        </pc:spChg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827281977" sldId="257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714355536" sldId="25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675511435" sldId="258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647951232" sldId="259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554601293" sldId="259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895038594" sldId="26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835274703" sldId="26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978999134" sldId="261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3071513182" sldId="26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576960477" sldId="262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3462668576" sldId="26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392778614" sldId="263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2376686487" sldId="263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897336525" sldId="264"/>
        </pc:sldMkLst>
      </pc:sldChg>
      <pc:sldChg chg="modSp add mod">
        <pc:chgData name="이강국(KANG KUK LEE)[kklee81]/팀장/제조DX.품질DX.공정검사DX팀" userId="d2ce5178-2266-4480-858d-6442786b6081" providerId="ADAL" clId="{A76489E4-AC89-438E-A73E-BA99EB86CBD1}" dt="2025-12-16T05:50:48.539" v="29"/>
        <pc:sldMkLst>
          <pc:docMk/>
          <pc:sldMk cId="1735113099" sldId="264"/>
        </pc:sldMkLst>
        <pc:spChg chg="mod">
          <ac:chgData name="이강국(KANG KUK LEE)[kklee81]/팀장/제조DX.품질DX.공정검사DX팀" userId="d2ce5178-2266-4480-858d-6442786b6081" providerId="ADAL" clId="{A76489E4-AC89-438E-A73E-BA99EB86CBD1}" dt="2025-12-16T05:50:48.539" v="29"/>
          <ac:spMkLst>
            <pc:docMk/>
            <pc:sldMk cId="1735113099" sldId="264"/>
            <ac:spMk id="7" creationId="{A6160D62-C27B-48F2-9F42-68B14758DA93}"/>
          </ac:spMkLst>
        </pc:spChg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717544336" sldId="265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2759145249" sldId="265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667935216" sldId="26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782641193" sldId="26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516717261" sldId="26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98168576" sldId="269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507588565" sldId="27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961365544" sldId="27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462668576" sldId="27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431778874" sldId="273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170075415" sldId="274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08795818" sldId="275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782641193" sldId="275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3507588565" sldId="27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827258113" sldId="27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895038594" sldId="27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759145249" sldId="278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4020968309" sldId="279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862261060" sldId="280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03445315" sldId="28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869279700" sldId="28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647951232" sldId="283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071513182" sldId="284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599715968" sldId="285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3067526177" sldId="286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161295054" sldId="28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376686487" sldId="288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3765110832" sldId="289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21265645" sldId="29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575552330" sldId="29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4150420941" sldId="29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675238219" sldId="293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4240670445" sldId="294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207561205" sldId="295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434742471" sldId="296"/>
        </pc:sldMkLst>
      </pc:sldChg>
      <pc:sldChg chg="modSp mod">
        <pc:chgData name="이강국(KANG KUK LEE)[kklee81]/팀장/제조DX.품질DX.공정검사DX팀" userId="d2ce5178-2266-4480-858d-6442786b6081" providerId="ADAL" clId="{A76489E4-AC89-438E-A73E-BA99EB86CBD1}" dt="2025-12-15T23:41:29.433" v="1" actId="20577"/>
        <pc:sldMkLst>
          <pc:docMk/>
          <pc:sldMk cId="2751367990" sldId="746"/>
        </pc:sldMkLst>
        <pc:spChg chg="mod">
          <ac:chgData name="이강국(KANG KUK LEE)[kklee81]/팀장/제조DX.품질DX.공정검사DX팀" userId="d2ce5178-2266-4480-858d-6442786b6081" providerId="ADAL" clId="{A76489E4-AC89-438E-A73E-BA99EB86CBD1}" dt="2025-12-15T23:41:29.433" v="1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005210716" sldId="2147481884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2741915051" sldId="214748188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18665898" sldId="2147481889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492710736" sldId="2147481895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2600334921" sldId="214748189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571412418" sldId="214748189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997813306" sldId="214748190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96000052" sldId="214748190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627161179" sldId="214748190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497758292" sldId="214748191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647982237" sldId="214748191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964062836" sldId="214748191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4093160832" sldId="214748191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079048843" sldId="214748192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415847396" sldId="2147481924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4078073599" sldId="2147481925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4241631553" sldId="214748192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107121357" sldId="214748193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51232159" sldId="214748193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509240995" sldId="2147481933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866366394" sldId="2147481935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515167221" sldId="214748193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199311084" sldId="2147481940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917138514" sldId="214748194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668225561" sldId="2147481945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619540429" sldId="214748194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447192954" sldId="214748194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285243072" sldId="214748195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951901203" sldId="214748195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073314691" sldId="214748195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21712203" sldId="214748195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116465006" sldId="214748195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273295863" sldId="214748196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795187899" sldId="214748196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661737888" sldId="2147481963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014403379" sldId="2147481964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959969249" sldId="214748196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746230027" sldId="214748196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928328311" sldId="214748197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930898495" sldId="214748197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658345375" sldId="214748197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954950928" sldId="214748197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486377636" sldId="2147481979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760005048" sldId="214748198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714355536" sldId="2147481981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430976968" sldId="214748198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590326771" sldId="2147481987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7863841" sldId="2147481989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62575981" sldId="214748199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923619185" sldId="2147481993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817441682" sldId="2147481994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818863937" sldId="2147481995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744086403" sldId="2147482009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173333594" sldId="2147482011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3969089951" sldId="214748201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330901661" sldId="2147482017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382227137" sldId="214748203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951646700" sldId="214748203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668150256" sldId="214748204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021563507" sldId="214748205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57572273" sldId="214748207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675455878" sldId="214748207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631653520" sldId="214748207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4080837860" sldId="2147482079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911656493" sldId="214748208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755497490" sldId="2147482084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752155312" sldId="2147482085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572636580" sldId="214748208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233574851" sldId="2147482089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827751394" sldId="214748209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913072594" sldId="2147482091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658883678" sldId="214748209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1100738112" sldId="2147482093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587359825" sldId="2147482094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386743393" sldId="2147482138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574489721" sldId="2147482150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910665893" sldId="2147482165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1746222469" sldId="2147483600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2830032125" sldId="2147483602"/>
        </pc:sldMkLst>
      </pc:sldChg>
      <pc:sldChg chg="modSp del mod">
        <pc:chgData name="이강국(KANG KUK LEE)[kklee81]/팀장/제조DX.품질DX.공정검사DX팀" userId="d2ce5178-2266-4480-858d-6442786b6081" providerId="ADAL" clId="{A76489E4-AC89-438E-A73E-BA99EB86CBD1}" dt="2025-12-16T14:29:45.945" v="64"/>
        <pc:sldMkLst>
          <pc:docMk/>
          <pc:sldMk cId="2838188448" sldId="2147483622"/>
        </pc:sldMkLst>
        <pc:spChg chg="mod">
          <ac:chgData name="이강국(KANG KUK LEE)[kklee81]/팀장/제조DX.품질DX.공정검사DX팀" userId="d2ce5178-2266-4480-858d-6442786b6081" providerId="ADAL" clId="{A76489E4-AC89-438E-A73E-BA99EB86CBD1}" dt="2025-12-16T14:29:45.945" v="64"/>
          <ac:spMkLst>
            <pc:docMk/>
            <pc:sldMk cId="2838188448" sldId="2147483622"/>
            <ac:spMk id="8" creationId="{D5185E2A-6650-D73A-CFF9-DCCDF0587D19}"/>
          </ac:spMkLst>
        </pc:spChg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304148908" sldId="2147483624"/>
        </pc:sldMkLst>
      </pc:sldChg>
      <pc:sldChg chg="add del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2414057943" sldId="2147483642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3682275399" sldId="2147483644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2506695685" sldId="2147483646"/>
        </pc:sldMkLst>
      </pc:sldChg>
      <pc:sldChg chg="del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kLst>
          <pc:docMk/>
          <pc:sldMk cId="714626431" sldId="2147483647"/>
        </pc:sldMkLst>
      </pc:sldChg>
      <pc:sldChg chg="add">
        <pc:chgData name="이강국(KANG KUK LEE)[kklee81]/팀장/제조DX.품질DX.공정검사DX팀" userId="d2ce5178-2266-4480-858d-6442786b6081" providerId="ADAL" clId="{A76489E4-AC89-438E-A73E-BA99EB86CBD1}" dt="2025-12-16T05:50:19.896" v="3"/>
        <pc:sldMkLst>
          <pc:docMk/>
          <pc:sldMk cId="2869279700" sldId="2147483647"/>
        </pc:sldMkLst>
      </pc:sldChg>
      <pc:sldMasterChg chg="delSldLayout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asterMkLst>
          <pc:docMk/>
          <pc:sldMasterMk cId="2856474258" sldId="2147483926"/>
        </pc:sldMasterMkLst>
        <pc:sldLayoutChg chg="del">
          <pc:chgData name="이강국(KANG KUK LEE)[kklee81]/팀장/제조DX.품질DX.공정검사DX팀" userId="d2ce5178-2266-4480-858d-6442786b6081" providerId="ADAL" clId="{A76489E4-AC89-438E-A73E-BA99EB86CBD1}" dt="2025-12-15T23:41:43.076" v="2" actId="47"/>
          <pc:sldLayoutMkLst>
            <pc:docMk/>
            <pc:sldMasterMk cId="2856474258" sldId="2147483926"/>
            <pc:sldLayoutMk cId="427044978" sldId="2147483942"/>
          </pc:sldLayoutMkLst>
        </pc:sldLayoutChg>
        <pc:sldLayoutChg chg="del">
          <pc:chgData name="이강국(KANG KUK LEE)[kklee81]/팀장/제조DX.품질DX.공정검사DX팀" userId="d2ce5178-2266-4480-858d-6442786b6081" providerId="ADAL" clId="{A76489E4-AC89-438E-A73E-BA99EB86CBD1}" dt="2025-12-15T23:41:43.076" v="2" actId="47"/>
          <pc:sldLayoutMkLst>
            <pc:docMk/>
            <pc:sldMasterMk cId="2856474258" sldId="2147483926"/>
            <pc:sldLayoutMk cId="3794667902" sldId="2147483945"/>
          </pc:sldLayoutMkLst>
        </pc:sldLayoutChg>
      </pc:sldMasterChg>
      <pc:sldMasterChg chg="del delSldLayout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asterMkLst>
          <pc:docMk/>
          <pc:sldMasterMk cId="373264517" sldId="2147483943"/>
        </pc:sldMasterMkLst>
        <pc:sldLayoutChg chg="del">
          <pc:chgData name="이강국(KANG KUK LEE)[kklee81]/팀장/제조DX.품질DX.공정검사DX팀" userId="d2ce5178-2266-4480-858d-6442786b6081" providerId="ADAL" clId="{A76489E4-AC89-438E-A73E-BA99EB86CBD1}" dt="2025-12-15T23:41:43.076" v="2" actId="47"/>
          <pc:sldLayoutMkLst>
            <pc:docMk/>
            <pc:sldMasterMk cId="373264517" sldId="2147483943"/>
            <pc:sldLayoutMk cId="237572897" sldId="2147483944"/>
          </pc:sldLayoutMkLst>
        </pc:sldLayoutChg>
      </pc:sldMasterChg>
      <pc:sldMasterChg chg="del delSldLayout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asterMkLst>
          <pc:docMk/>
          <pc:sldMasterMk cId="2168432238" sldId="2147483946"/>
        </pc:sldMasterMkLst>
        <pc:sldLayoutChg chg="del">
          <pc:chgData name="이강국(KANG KUK LEE)[kklee81]/팀장/제조DX.품질DX.공정검사DX팀" userId="d2ce5178-2266-4480-858d-6442786b6081" providerId="ADAL" clId="{A76489E4-AC89-438E-A73E-BA99EB86CBD1}" dt="2025-12-15T23:41:43.076" v="2" actId="47"/>
          <pc:sldLayoutMkLst>
            <pc:docMk/>
            <pc:sldMasterMk cId="2168432238" sldId="2147483946"/>
            <pc:sldLayoutMk cId="371054749" sldId="2147483947"/>
          </pc:sldLayoutMkLst>
        </pc:sldLayoutChg>
        <pc:sldLayoutChg chg="del">
          <pc:chgData name="이강국(KANG KUK LEE)[kklee81]/팀장/제조DX.품질DX.공정검사DX팀" userId="d2ce5178-2266-4480-858d-6442786b6081" providerId="ADAL" clId="{A76489E4-AC89-438E-A73E-BA99EB86CBD1}" dt="2025-12-15T23:41:43.076" v="2" actId="47"/>
          <pc:sldLayoutMkLst>
            <pc:docMk/>
            <pc:sldMasterMk cId="2168432238" sldId="2147483946"/>
            <pc:sldLayoutMk cId="1666375550" sldId="2147483948"/>
          </pc:sldLayoutMkLst>
        </pc:sldLayoutChg>
        <pc:sldLayoutChg chg="del">
          <pc:chgData name="이강국(KANG KUK LEE)[kklee81]/팀장/제조DX.품질DX.공정검사DX팀" userId="d2ce5178-2266-4480-858d-6442786b6081" providerId="ADAL" clId="{A76489E4-AC89-438E-A73E-BA99EB86CBD1}" dt="2025-12-15T23:41:43.076" v="2" actId="47"/>
          <pc:sldLayoutMkLst>
            <pc:docMk/>
            <pc:sldMasterMk cId="2168432238" sldId="2147483946"/>
            <pc:sldLayoutMk cId="3609626832" sldId="2147483949"/>
          </pc:sldLayoutMkLst>
        </pc:sldLayoutChg>
        <pc:sldLayoutChg chg="del">
          <pc:chgData name="이강국(KANG KUK LEE)[kklee81]/팀장/제조DX.품질DX.공정검사DX팀" userId="d2ce5178-2266-4480-858d-6442786b6081" providerId="ADAL" clId="{A76489E4-AC89-438E-A73E-BA99EB86CBD1}" dt="2025-12-15T23:41:43.076" v="2" actId="47"/>
          <pc:sldLayoutMkLst>
            <pc:docMk/>
            <pc:sldMasterMk cId="2168432238" sldId="2147483946"/>
            <pc:sldLayoutMk cId="3509070535" sldId="2147483950"/>
          </pc:sldLayoutMkLst>
        </pc:sldLayoutChg>
      </pc:sldMasterChg>
      <pc:sldMasterChg chg="del delSldLayout">
        <pc:chgData name="이강국(KANG KUK LEE)[kklee81]/팀장/제조DX.품질DX.공정검사DX팀" userId="d2ce5178-2266-4480-858d-6442786b6081" providerId="ADAL" clId="{A76489E4-AC89-438E-A73E-BA99EB86CBD1}" dt="2025-12-15T23:41:43.076" v="2" actId="47"/>
        <pc:sldMasterMkLst>
          <pc:docMk/>
          <pc:sldMasterMk cId="3776654034" sldId="2147483951"/>
        </pc:sldMasterMkLst>
        <pc:sldLayoutChg chg="del">
          <pc:chgData name="이강국(KANG KUK LEE)[kklee81]/팀장/제조DX.품질DX.공정검사DX팀" userId="d2ce5178-2266-4480-858d-6442786b6081" providerId="ADAL" clId="{A76489E4-AC89-438E-A73E-BA99EB86CBD1}" dt="2025-12-15T23:41:43.076" v="2" actId="47"/>
          <pc:sldLayoutMkLst>
            <pc:docMk/>
            <pc:sldMasterMk cId="3776654034" sldId="2147483951"/>
            <pc:sldLayoutMk cId="3772057283" sldId="2147483952"/>
          </pc:sldLayoutMkLst>
        </pc:sldLayoutChg>
      </pc:sldMasterChg>
    </pc:docChg>
  </pc:docChgLst>
  <pc:docChgLst>
    <pc:chgData name="지용진(YONG JIN JI)[yongjin.ji]/전문위원/제조DX.품질DX.품질DX팀" userId="S::yongjin.ji@lgensol.com::668a9e28-eb85-4c24-bdb6-23321b586e51" providerId="AD" clId="Web-{E169AF71-589E-4A44-9F7C-81A085B8591C}"/>
    <pc:docChg chg="modSld">
      <pc:chgData name="지용진(YONG JIN JI)[yongjin.ji]/전문위원/제조DX.품질DX.품질DX팀" userId="S::yongjin.ji@lgensol.com::668a9e28-eb85-4c24-bdb6-23321b586e51" providerId="AD" clId="Web-{E169AF71-589E-4A44-9F7C-81A085B8591C}" dt="2025-11-27T11:26:37.341" v="4" actId="20577"/>
      <pc:docMkLst>
        <pc:docMk/>
      </pc:docMkLst>
    </pc:docChg>
  </pc:docChgLst>
  <pc:docChgLst>
    <pc:chgData name="송영민(YOUNGMIN SONG)[symsong]/부문담당/제조DX.품질DX담당" userId="a10739ce-2f41-4d8f-b643-21cb771c5638" providerId="ADAL" clId="{ED61CADE-0BB9-4B47-AA64-C3E58E4E4C24}"/>
    <pc:docChg chg="undo custSel modSld">
      <pc:chgData name="송영민(YOUNGMIN SONG)[symsong]/부문담당/제조DX.품질DX담당" userId="a10739ce-2f41-4d8f-b643-21cb771c5638" providerId="ADAL" clId="{ED61CADE-0BB9-4B47-AA64-C3E58E4E4C24}" dt="2025-11-30T08:31:27.313" v="962" actId="20577"/>
      <pc:docMkLst>
        <pc:docMk/>
      </pc:docMkLst>
    </pc:docChg>
  </pc:docChgLst>
  <pc:docChgLst>
    <pc:chgData name="이정원(JUNGWON LEE)[jwlee0401]/팀장/제조DX.품질DX.DAVINCI팀" userId="1c2f8ad7-3b6e-475e-9593-07812a6d44f9" providerId="ADAL" clId="{26DB4622-80F6-4450-8107-9A77572DFCC4}"/>
    <pc:docChg chg="addSld modSld">
      <pc:chgData name="이정원(JUNGWON LEE)[jwlee0401]/팀장/제조DX.품질DX.DAVINCI팀" userId="1c2f8ad7-3b6e-475e-9593-07812a6d44f9" providerId="ADAL" clId="{26DB4622-80F6-4450-8107-9A77572DFCC4}" dt="2025-12-16T04:36:19.136" v="0"/>
      <pc:docMkLst>
        <pc:docMk/>
      </pc:docMkLst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1005210716" sldId="2147481884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3492710736" sldId="2147481895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1571412418" sldId="2147481897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3997813306" sldId="2147481906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196000052" sldId="2147481907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627161179" sldId="2147481908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647982237" sldId="2147481911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964062836" sldId="2147481917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4078073599" sldId="2147481925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1509240995" sldId="2147481933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4150420941" sldId="2147481940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3447192954" sldId="2147481948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951901203" sldId="2147481951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3073314691" sldId="2147481956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21712203" sldId="2147481957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273295863" sldId="2147481961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661737888" sldId="2147481963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014403379" sldId="2147481964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959969249" sldId="2147481966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746230027" sldId="2147481967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675238219" sldId="2147481971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575552330" sldId="2147481972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1658345375" sldId="2147481976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2954950928" sldId="2147481978"/>
        </pc:sldMkLst>
      </pc:sldChg>
      <pc:sldChg chg="add">
        <pc:chgData name="이정원(JUNGWON LEE)[jwlee0401]/팀장/제조DX.품질DX.DAVINCI팀" userId="1c2f8ad7-3b6e-475e-9593-07812a6d44f9" providerId="ADAL" clId="{26DB4622-80F6-4450-8107-9A77572DFCC4}" dt="2025-12-16T04:36:19.136" v="0"/>
        <pc:sldMkLst>
          <pc:docMk/>
          <pc:sldMk cId="121265645" sldId="2147481981"/>
        </pc:sldMkLst>
      </pc:sldChg>
    </pc:docChg>
  </pc:docChgLst>
  <pc:docChgLst>
    <pc:chgData name="이가은(GAEUN LEE)[gaeunlee]/사원/제조DX.품질DX.품질DX팀" userId="S::gaeunlee@lgensol.com::b4233e8e-6bee-4797-9390-cc3fc28cac15" providerId="AD" clId="Web-{B392BE98-4B12-B9C1-9121-425BCC4A3964}"/>
    <pc:docChg chg="modSld">
      <pc:chgData name="이가은(GAEUN LEE)[gaeunlee]/사원/제조DX.품질DX.품질DX팀" userId="S::gaeunlee@lgensol.com::b4233e8e-6bee-4797-9390-cc3fc28cac15" providerId="AD" clId="Web-{B392BE98-4B12-B9C1-9121-425BCC4A3964}" dt="2025-12-16T09:19:26.038" v="17" actId="20577"/>
      <pc:docMkLst>
        <pc:docMk/>
      </pc:docMkLst>
      <pc:sldChg chg="modSp">
        <pc:chgData name="이가은(GAEUN LEE)[gaeunlee]/사원/제조DX.품질DX.품질DX팀" userId="S::gaeunlee@lgensol.com::b4233e8e-6bee-4797-9390-cc3fc28cac15" providerId="AD" clId="Web-{B392BE98-4B12-B9C1-9121-425BCC4A3964}" dt="2025-12-16T09:19:26.038" v="17" actId="20577"/>
        <pc:sldMkLst>
          <pc:docMk/>
          <pc:sldMk cId="1548564195" sldId="2147482099"/>
        </pc:sldMkLst>
        <pc:spChg chg="mod">
          <ac:chgData name="이가은(GAEUN LEE)[gaeunlee]/사원/제조DX.품질DX.품질DX팀" userId="S::gaeunlee@lgensol.com::b4233e8e-6bee-4797-9390-cc3fc28cac15" providerId="AD" clId="Web-{B392BE98-4B12-B9C1-9121-425BCC4A3964}" dt="2025-12-16T09:19:26.038" v="17" actId="20577"/>
          <ac:spMkLst>
            <pc:docMk/>
            <pc:sldMk cId="1548564195" sldId="2147482099"/>
            <ac:spMk id="2" creationId="{0D2AD04E-54DA-4934-AAB7-5D16C97D7B73}"/>
          </ac:spMkLst>
        </pc:spChg>
      </pc:sldChg>
    </pc:docChg>
  </pc:docChgLst>
  <pc:docChgLst>
    <pc:chgData name="이대원(DAEWON LEE)[daewongroup]/팀장/제조DX.품질DX.공정제어DX팀" userId="54287408-d703-46b4-952c-a0fd4688ad75" providerId="ADAL" clId="{CCEE6C14-BA6B-4E95-A948-3B5E0631C8C6}"/>
    <pc:docChg chg="addSld modSld modMainMaster">
      <pc:chgData name="이대원(DAEWON LEE)[daewongroup]/팀장/제조DX.품질DX.공정제어DX팀" userId="54287408-d703-46b4-952c-a0fd4688ad75" providerId="ADAL" clId="{CCEE6C14-BA6B-4E95-A948-3B5E0631C8C6}" dt="2025-11-20T02:06:18.752" v="12" actId="20577"/>
      <pc:docMkLst>
        <pc:docMk/>
      </pc:docMkLst>
      <pc:sldMasterChg chg="modSp mod">
        <pc:chgData name="이대원(DAEWON LEE)[daewongroup]/팀장/제조DX.품질DX.공정제어DX팀" userId="54287408-d703-46b4-952c-a0fd4688ad75" providerId="ADAL" clId="{CCEE6C14-BA6B-4E95-A948-3B5E0631C8C6}" dt="2025-11-20T02:05:55.288" v="1" actId="20577"/>
        <pc:sldMasterMkLst>
          <pc:docMk/>
          <pc:sldMasterMk cId="2856474258" sldId="2147483926"/>
        </pc:sldMasterMkLst>
        <pc:spChg chg="mod">
          <ac:chgData name="이대원(DAEWON LEE)[daewongroup]/팀장/제조DX.품질DX.공정제어DX팀" userId="54287408-d703-46b4-952c-a0fd4688ad75" providerId="ADAL" clId="{CCEE6C14-BA6B-4E95-A948-3B5E0631C8C6}" dt="2025-11-20T02:05:55.288" v="1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이강국(KANG KUK LEE)[kklee81]/팀장/제조DX.품질DX.공정검사DX팀" userId="S::kklee81@lgensol.com::d2ce5178-2266-4480-858d-6442786b6081" providerId="AD" clId="Web-{72718644-CEA6-402A-A4FF-FB3FD7E26B81}"/>
    <pc:docChg chg="delSld modSld modSection">
      <pc:chgData name="이강국(KANG KUK LEE)[kklee81]/팀장/제조DX.품질DX.공정검사DX팀" userId="S::kklee81@lgensol.com::d2ce5178-2266-4480-858d-6442786b6081" providerId="AD" clId="Web-{72718644-CEA6-402A-A4FF-FB3FD7E26B81}" dt="2025-12-03T05:02:22.120" v="140" actId="20577"/>
      <pc:docMkLst>
        <pc:docMk/>
      </pc:docMkLst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307" v="76"/>
        <pc:sldMkLst>
          <pc:docMk/>
          <pc:sldMk cId="4020968309" sldId="279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291" v="75"/>
        <pc:sldMkLst>
          <pc:docMk/>
          <pc:sldMk cId="862261060" sldId="280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260" v="74"/>
        <pc:sldMkLst>
          <pc:docMk/>
          <pc:sldMk cId="103445315" sldId="281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041" v="61"/>
        <pc:sldMkLst>
          <pc:docMk/>
          <pc:sldMk cId="1599715968" sldId="285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6.994" v="58"/>
        <pc:sldMkLst>
          <pc:docMk/>
          <pc:sldMk cId="3067526177" sldId="286"/>
        </pc:sldMkLst>
      </pc:sldChg>
      <pc:sldChg chg="modSp">
        <pc:chgData name="이강국(KANG KUK LEE)[kklee81]/팀장/제조DX.품질DX.공정검사DX팀" userId="S::kklee81@lgensol.com::d2ce5178-2266-4480-858d-6442786b6081" providerId="AD" clId="Web-{72718644-CEA6-402A-A4FF-FB3FD7E26B81}" dt="2025-12-03T05:02:22.120" v="140" actId="20577"/>
        <pc:sldMkLst>
          <pc:docMk/>
          <pc:sldMk cId="2751367990" sldId="746"/>
        </pc:sldMkLst>
        <pc:spChg chg="mod">
          <ac:chgData name="이강국(KANG KUK LEE)[kklee81]/팀장/제조DX.품질DX.공정검사DX팀" userId="S::kklee81@lgensol.com::d2ce5178-2266-4480-858d-6442786b6081" providerId="AD" clId="Web-{72718644-CEA6-402A-A4FF-FB3FD7E26B81}" dt="2025-12-03T05:02:22.120" v="140" actId="20577"/>
          <ac:spMkLst>
            <pc:docMk/>
            <pc:sldMk cId="2751367990" sldId="746"/>
            <ac:spMk id="19" creationId="{00000000-0000-0000-0000-000000000000}"/>
          </ac:spMkLst>
        </pc:spChg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588" v="108"/>
        <pc:sldMkLst>
          <pc:docMk/>
          <pc:sldMk cId="1005210716" sldId="2147481884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6.963" v="55"/>
        <pc:sldMkLst>
          <pc:docMk/>
          <pc:sldMk cId="2741915051" sldId="214748188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79" v="97"/>
        <pc:sldMkLst>
          <pc:docMk/>
          <pc:sldMk cId="3492710736" sldId="2147481895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026" v="60"/>
        <pc:sldMkLst>
          <pc:docMk/>
          <pc:sldMk cId="2600334921" sldId="214748189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48" v="93"/>
        <pc:sldMkLst>
          <pc:docMk/>
          <pc:sldMk cId="1571412418" sldId="2147481897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79" v="98"/>
        <pc:sldMkLst>
          <pc:docMk/>
          <pc:sldMk cId="3997813306" sldId="214748190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32" v="92"/>
        <pc:sldMkLst>
          <pc:docMk/>
          <pc:sldMk cId="196000052" sldId="2147481907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510" v="101"/>
        <pc:sldMkLst>
          <pc:docMk/>
          <pc:sldMk cId="2627161179" sldId="2147481908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94" v="100"/>
        <pc:sldMkLst>
          <pc:docMk/>
          <pc:sldMk cId="647982237" sldId="2147481911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48" v="95"/>
        <pc:sldMkLst>
          <pc:docMk/>
          <pc:sldMk cId="2964062836" sldId="2147481917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32" v="91"/>
        <pc:sldMkLst>
          <pc:docMk/>
          <pc:sldMk cId="4078073599" sldId="2147481925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729" v="123"/>
        <pc:sldMkLst>
          <pc:docMk/>
          <pc:sldMk cId="1107121357" sldId="2147481930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541" v="104"/>
        <pc:sldMkLst>
          <pc:docMk/>
          <pc:sldMk cId="1509240995" sldId="2147481933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6.948" v="54"/>
        <pc:sldMkLst>
          <pc:docMk/>
          <pc:sldMk cId="917138514" sldId="2147481941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16" v="89"/>
        <pc:sldMkLst>
          <pc:docMk/>
          <pc:sldMk cId="3447192954" sldId="2147481948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557" v="105"/>
        <pc:sldMkLst>
          <pc:docMk/>
          <pc:sldMk cId="2951901203" sldId="2147481951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32" v="90"/>
        <pc:sldMkLst>
          <pc:docMk/>
          <pc:sldMk cId="3073314691" sldId="214748195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94" v="99"/>
        <pc:sldMkLst>
          <pc:docMk/>
          <pc:sldMk cId="221712203" sldId="2147481957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573" v="107"/>
        <pc:sldMkLst>
          <pc:docMk/>
          <pc:sldMk cId="2273295863" sldId="2147481961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604" v="112"/>
        <pc:sldMkLst>
          <pc:docMk/>
          <pc:sldMk cId="1795187899" sldId="2147481962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48" v="94"/>
        <pc:sldMkLst>
          <pc:docMk/>
          <pc:sldMk cId="2661737888" sldId="2147481963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16" v="88"/>
        <pc:sldMkLst>
          <pc:docMk/>
          <pc:sldMk cId="2014403379" sldId="2147481964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01" v="87"/>
        <pc:sldMkLst>
          <pc:docMk/>
          <pc:sldMk cId="2959969249" sldId="214748196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401" v="86"/>
        <pc:sldMkLst>
          <pc:docMk/>
          <pc:sldMk cId="2746230027" sldId="2147481967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385" v="83"/>
        <pc:sldMkLst>
          <pc:docMk/>
          <pc:sldMk cId="1658345375" sldId="214748197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385" v="82"/>
        <pc:sldMkLst>
          <pc:docMk/>
          <pc:sldMk cId="2954950928" sldId="2147481978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213" v="73"/>
        <pc:sldMkLst>
          <pc:docMk/>
          <pc:sldMk cId="430976968" sldId="214748198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166" v="71"/>
        <pc:sldMkLst>
          <pc:docMk/>
          <pc:sldMk cId="17863841" sldId="2147481989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338" v="78"/>
        <pc:sldMkLst>
          <pc:docMk/>
          <pc:sldMk cId="1818863937" sldId="2147481995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198" v="72"/>
        <pc:sldMkLst>
          <pc:docMk/>
          <pc:sldMk cId="1744086403" sldId="2147482009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057" v="63"/>
        <pc:sldMkLst>
          <pc:docMk/>
          <pc:sldMk cId="1173333594" sldId="2147482011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057" v="62"/>
        <pc:sldMkLst>
          <pc:docMk/>
          <pc:sldMk cId="3969089951" sldId="2147482012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854" v="136"/>
        <pc:sldMkLst>
          <pc:docMk/>
          <pc:sldMk cId="3330901661" sldId="2147482017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604" v="110"/>
        <pc:sldMkLst>
          <pc:docMk/>
          <pc:sldMk cId="1951646700" sldId="214748203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682" v="119"/>
        <pc:sldMkLst>
          <pc:docMk/>
          <pc:sldMk cId="3668150256" sldId="2147482040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713" v="121"/>
        <pc:sldMkLst>
          <pc:docMk/>
          <pc:sldMk cId="1021563507" sldId="2147482058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713" v="122"/>
        <pc:sldMkLst>
          <pc:docMk/>
          <pc:sldMk cId="57572273" sldId="2147482070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854" v="135"/>
        <pc:sldMkLst>
          <pc:docMk/>
          <pc:sldMk cId="3675455878" sldId="2147482076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088" v="65"/>
        <pc:sldMkLst>
          <pc:docMk/>
          <pc:sldMk cId="1746222469" sldId="2147483600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073" v="64"/>
        <pc:sldMkLst>
          <pc:docMk/>
          <pc:sldMk cId="2830032125" sldId="2147483602"/>
        </pc:sldMkLst>
      </pc:sldChg>
      <pc:sldChg chg="del">
        <pc:chgData name="이강국(KANG KUK LEE)[kklee81]/팀장/제조DX.품질DX.공정검사DX팀" userId="S::kklee81@lgensol.com::d2ce5178-2266-4480-858d-6442786b6081" providerId="AD" clId="Web-{72718644-CEA6-402A-A4FF-FB3FD7E26B81}" dt="2025-12-03T05:02:17.010" v="59"/>
        <pc:sldMkLst>
          <pc:docMk/>
          <pc:sldMk cId="2414057943" sldId="2147483642"/>
        </pc:sldMkLst>
      </pc:sldChg>
    </pc:docChg>
  </pc:docChgLst>
  <pc:docChgLst>
    <pc:chgData name="이정원(JUNGWON LEE)[jwlee0401]/팀장/제조DX.품질DX.DAVINCI팀" userId="1c2f8ad7-3b6e-475e-9593-07812a6d44f9" providerId="ADAL" clId="{A7615BA2-9509-4ECD-AC33-7A2C4570F0F1}"/>
    <pc:docChg chg="custSel addSld modSld modMainMaster">
      <pc:chgData name="이정원(JUNGWON LEE)[jwlee0401]/팀장/제조DX.품질DX.DAVINCI팀" userId="1c2f8ad7-3b6e-475e-9593-07812a6d44f9" providerId="ADAL" clId="{A7615BA2-9509-4ECD-AC33-7A2C4570F0F1}" dt="2025-11-16T08:44:44.214" v="575" actId="20577"/>
      <pc:docMkLst>
        <pc:docMk/>
      </pc:docMkLst>
    </pc:docChg>
  </pc:docChgLst>
  <pc:docChgLst>
    <pc:chgData name="연두희(DOO HEE YEON)[doohee.yeon]/책임/제조DX.품질DX.품질DX팀" userId="S::doohee.yeon@lgensol.com::73e89ba0-8653-4a79-be3e-63e4747a306c" providerId="AD" clId="Web-{8E012BE3-FE9A-F23C-52F5-7B0CD3270AB1}"/>
    <pc:docChg chg="addSld delSld modSection">
      <pc:chgData name="연두희(DOO HEE YEON)[doohee.yeon]/책임/제조DX.품질DX.품질DX팀" userId="S::doohee.yeon@lgensol.com::73e89ba0-8653-4a79-be3e-63e4747a306c" providerId="AD" clId="Web-{8E012BE3-FE9A-F23C-52F5-7B0CD3270AB1}" dt="2025-12-16T08:59:43.770" v="135"/>
      <pc:docMkLst>
        <pc:docMk/>
      </pc:docMkLst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754" v="134"/>
        <pc:sldMkLst>
          <pc:docMk/>
          <pc:sldMk cId="4051298402" sldId="266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723" v="133"/>
        <pc:sldMkLst>
          <pc:docMk/>
          <pc:sldMk cId="3923004601" sldId="267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676" v="127"/>
        <pc:sldMkLst>
          <pc:docMk/>
          <pc:sldMk cId="4240670445" sldId="268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614" v="123"/>
        <pc:sldMkLst>
          <pc:docMk/>
          <pc:sldMk cId="1038935080" sldId="269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04" v="114"/>
        <pc:sldMkLst>
          <pc:docMk/>
          <pc:sldMk cId="1207561205" sldId="270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10" v="104"/>
        <pc:sldMkLst>
          <pc:docMk/>
          <pc:sldMk cId="1434742471" sldId="271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98" v="121"/>
        <pc:sldMkLst>
          <pc:docMk/>
          <pc:sldMk cId="355620520" sldId="294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73" v="112"/>
        <pc:sldMkLst>
          <pc:docMk/>
          <pc:sldMk cId="4093160832" sldId="2147481918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57" v="111"/>
        <pc:sldMkLst>
          <pc:docMk/>
          <pc:sldMk cId="3676436603" sldId="2147481919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51" v="117"/>
        <pc:sldMkLst>
          <pc:docMk/>
          <pc:sldMk cId="1107121357" sldId="2147481930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42" v="109"/>
        <pc:sldMkLst>
          <pc:docMk/>
          <pc:sldMk cId="619523131" sldId="2147481934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10" v="105"/>
        <pc:sldMkLst>
          <pc:docMk/>
          <pc:sldMk cId="1795187899" sldId="2147481962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10" v="106"/>
        <pc:sldMkLst>
          <pc:docMk/>
          <pc:sldMk cId="3119843644" sldId="2147481973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42" v="108"/>
        <pc:sldMkLst>
          <pc:docMk/>
          <pc:sldMk cId="4024383603" sldId="2147481994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614" v="124"/>
        <pc:sldMkLst>
          <pc:docMk/>
          <pc:sldMk cId="2481526286" sldId="2147482002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82" v="120"/>
        <pc:sldMkLst>
          <pc:docMk/>
          <pc:sldMk cId="1435870221" sldId="2147482006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692" v="129"/>
        <pc:sldMkLst>
          <pc:docMk/>
          <pc:sldMk cId="3330901661" sldId="2147482017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395" v="102"/>
        <pc:sldMkLst>
          <pc:docMk/>
          <pc:sldMk cId="782209932" sldId="2147482020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26" v="107"/>
        <pc:sldMkLst>
          <pc:docMk/>
          <pc:sldMk cId="2457260732" sldId="2147482026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57" v="110"/>
        <pc:sldMkLst>
          <pc:docMk/>
          <pc:sldMk cId="1382227137" sldId="2147482030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723" v="132"/>
        <pc:sldMkLst>
          <pc:docMk/>
          <pc:sldMk cId="2234178178" sldId="2147482031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67" v="119"/>
        <pc:sldMkLst>
          <pc:docMk/>
          <pc:sldMk cId="3248885128" sldId="2147482034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395" v="103"/>
        <pc:sldMkLst>
          <pc:docMk/>
          <pc:sldMk cId="1951646700" sldId="2147482036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489" v="113"/>
        <pc:sldMkLst>
          <pc:docMk/>
          <pc:sldMk cId="3668150256" sldId="2147482040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707" v="131"/>
        <pc:sldMkLst>
          <pc:docMk/>
          <pc:sldMk cId="660137305" sldId="2147482045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692" v="130"/>
        <pc:sldMkLst>
          <pc:docMk/>
          <pc:sldMk cId="3346071043" sldId="2147482053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98" v="122"/>
        <pc:sldMkLst>
          <pc:docMk/>
          <pc:sldMk cId="908029820" sldId="2147482054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20" v="115"/>
        <pc:sldMkLst>
          <pc:docMk/>
          <pc:sldMk cId="1021563507" sldId="2147482058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51" v="118"/>
        <pc:sldMkLst>
          <pc:docMk/>
          <pc:sldMk cId="3546873237" sldId="2147482061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535" v="116"/>
        <pc:sldMkLst>
          <pc:docMk/>
          <pc:sldMk cId="57572273" sldId="2147482070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645" v="126"/>
        <pc:sldMkLst>
          <pc:docMk/>
          <pc:sldMk cId="2799331477" sldId="2147482074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629" v="125"/>
        <pc:sldMkLst>
          <pc:docMk/>
          <pc:sldMk cId="676105701" sldId="2147482075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676" v="128"/>
        <pc:sldMkLst>
          <pc:docMk/>
          <pc:sldMk cId="3675455878" sldId="2147482076"/>
        </pc:sldMkLst>
      </pc:sldChg>
      <pc:sldChg chg="add del">
        <pc:chgData name="연두희(DOO HEE YEON)[doohee.yeon]/책임/제조DX.품질DX.품질DX팀" userId="S::doohee.yeon@lgensol.com::73e89ba0-8653-4a79-be3e-63e4747a306c" providerId="AD" clId="Web-{8E012BE3-FE9A-F23C-52F5-7B0CD3270AB1}" dt="2025-12-16T08:59:43.770" v="135"/>
        <pc:sldMkLst>
          <pc:docMk/>
          <pc:sldMk cId="2377957855" sldId="2147482077"/>
        </pc:sldMkLst>
      </pc:sldChg>
    </pc:docChg>
  </pc:docChgLst>
  <pc:docChgLst>
    <pc:chgData name="이정원(JUNGWON LEE)[jwlee0401]/팀장/제조DX.품질DX.DAVINCI팀" userId="1c2f8ad7-3b6e-475e-9593-07812a6d44f9" providerId="ADAL" clId="{38AB4C1E-B73C-4EA4-B81D-2916562664EB}"/>
    <pc:docChg chg="custSel addSld delSld modSld modSection">
      <pc:chgData name="이정원(JUNGWON LEE)[jwlee0401]/팀장/제조DX.품질DX.DAVINCI팀" userId="1c2f8ad7-3b6e-475e-9593-07812a6d44f9" providerId="ADAL" clId="{38AB4C1E-B73C-4EA4-B81D-2916562664EB}" dt="2025-11-30T06:06:38.369" v="197" actId="478"/>
      <pc:docMkLst>
        <pc:docMk/>
      </pc:docMkLst>
      <pc:sldChg chg="add">
        <pc:chgData name="이정원(JUNGWON LEE)[jwlee0401]/팀장/제조DX.품질DX.DAVINCI팀" userId="1c2f8ad7-3b6e-475e-9593-07812a6d44f9" providerId="ADAL" clId="{38AB4C1E-B73C-4EA4-B81D-2916562664EB}" dt="2025-11-26T07:17:32.290" v="0"/>
        <pc:sldMkLst>
          <pc:docMk/>
          <pc:sldMk cId="2964062836" sldId="2147481917"/>
        </pc:sldMkLst>
      </pc:sldChg>
      <pc:sldChg chg="add">
        <pc:chgData name="이정원(JUNGWON LEE)[jwlee0401]/팀장/제조DX.품질DX.DAVINCI팀" userId="1c2f8ad7-3b6e-475e-9593-07812a6d44f9" providerId="ADAL" clId="{38AB4C1E-B73C-4EA4-B81D-2916562664EB}" dt="2025-11-26T07:17:32.290" v="0"/>
        <pc:sldMkLst>
          <pc:docMk/>
          <pc:sldMk cId="2951901203" sldId="2147481951"/>
        </pc:sldMkLst>
      </pc:sldChg>
      <pc:sldChg chg="add">
        <pc:chgData name="이정원(JUNGWON LEE)[jwlee0401]/팀장/제조DX.품질DX.DAVINCI팀" userId="1c2f8ad7-3b6e-475e-9593-07812a6d44f9" providerId="ADAL" clId="{38AB4C1E-B73C-4EA4-B81D-2916562664EB}" dt="2025-11-26T07:17:32.290" v="0"/>
        <pc:sldMkLst>
          <pc:docMk/>
          <pc:sldMk cId="2661737888" sldId="2147481963"/>
        </pc:sldMkLst>
      </pc:sldChg>
      <pc:sldChg chg="add">
        <pc:chgData name="이정원(JUNGWON LEE)[jwlee0401]/팀장/제조DX.품질DX.DAVINCI팀" userId="1c2f8ad7-3b6e-475e-9593-07812a6d44f9" providerId="ADAL" clId="{38AB4C1E-B73C-4EA4-B81D-2916562664EB}" dt="2025-11-26T07:17:32.290" v="0"/>
        <pc:sldMkLst>
          <pc:docMk/>
          <pc:sldMk cId="2959969249" sldId="2147481966"/>
        </pc:sldMkLst>
      </pc:sldChg>
      <pc:sldChg chg="add">
        <pc:chgData name="이정원(JUNGWON LEE)[jwlee0401]/팀장/제조DX.품질DX.DAVINCI팀" userId="1c2f8ad7-3b6e-475e-9593-07812a6d44f9" providerId="ADAL" clId="{38AB4C1E-B73C-4EA4-B81D-2916562664EB}" dt="2025-11-26T07:17:32.290" v="0"/>
        <pc:sldMkLst>
          <pc:docMk/>
          <pc:sldMk cId="2954950928" sldId="2147481978"/>
        </pc:sldMkLst>
      </pc:sldChg>
    </pc:docChg>
  </pc:docChgLst>
  <pc:docChgLst>
    <pc:chgData name="지용진(YONG JIN JI)[yongjin.ji]/전문위원/제조DX.품질DX.품질DX팀" userId="668a9e28-eb85-4c24-bdb6-23321b586e51" providerId="ADAL" clId="{D4F07554-97CB-49DB-8CCB-4B7464FDD763}"/>
    <pc:docChg chg="modSld modMainMaster">
      <pc:chgData name="지용진(YONG JIN JI)[yongjin.ji]/전문위원/제조DX.품질DX.품질DX팀" userId="668a9e28-eb85-4c24-bdb6-23321b586e51" providerId="ADAL" clId="{D4F07554-97CB-49DB-8CCB-4B7464FDD763}" dt="2025-12-03T15:27:46.016" v="31" actId="20577"/>
      <pc:docMkLst>
        <pc:docMk/>
      </pc:docMkLst>
      <pc:sldMasterChg chg="modSp mod">
        <pc:chgData name="지용진(YONG JIN JI)[yongjin.ji]/전문위원/제조DX.품질DX.품질DX팀" userId="668a9e28-eb85-4c24-bdb6-23321b586e51" providerId="ADAL" clId="{D4F07554-97CB-49DB-8CCB-4B7464FDD763}" dt="2025-12-03T15:27:02.633" v="11" actId="20577"/>
        <pc:sldMasterMkLst>
          <pc:docMk/>
          <pc:sldMasterMk cId="2856474258" sldId="2147483926"/>
        </pc:sldMasterMkLst>
        <pc:spChg chg="mod">
          <ac:chgData name="지용진(YONG JIN JI)[yongjin.ji]/전문위원/제조DX.품질DX.품질DX팀" userId="668a9e28-eb85-4c24-bdb6-23321b586e51" providerId="ADAL" clId="{D4F07554-97CB-49DB-8CCB-4B7464FDD763}" dt="2025-12-03T15:27:02.633" v="11" actId="20577"/>
          <ac:spMkLst>
            <pc:docMk/>
            <pc:sldMasterMk cId="2856474258" sldId="2147483926"/>
            <ac:spMk id="3" creationId="{00000000-0000-0000-0000-000000000000}"/>
          </ac:spMkLst>
        </pc:spChg>
      </pc:sldMasterChg>
    </pc:docChg>
  </pc:docChgLst>
  <pc:docChgLst>
    <pc:chgData name="이성우(Sungwoo Lee)[sungwoo.lee]/책임/제조DX.품질DX.공정제어DX팀" userId="cf65ff2f-52b0-4160-9a37-95f7b52a9fb2" providerId="ADAL" clId="{A3F13DD2-3449-4733-98DE-F13F041B312D}"/>
    <pc:docChg chg="undo custSel addSld modSld">
      <pc:chgData name="이성우(Sungwoo Lee)[sungwoo.lee]/책임/제조DX.품질DX.공정제어DX팀" userId="cf65ff2f-52b0-4160-9a37-95f7b52a9fb2" providerId="ADAL" clId="{A3F13DD2-3449-4733-98DE-F13F041B312D}" dt="2025-12-10T06:01:09.322" v="229" actId="6549"/>
      <pc:docMkLst>
        <pc:docMk/>
      </pc:docMkLst>
    </pc:docChg>
  </pc:docChgLst>
  <pc:docChgLst>
    <pc:chgData name="황유승(YOOSEUNG HWANG)[yooseung.h]/팀장/제조DX.품질DX.설비DX팀" userId="e0689872-7918-445c-ad07-150431448e68" providerId="ADAL" clId="{9360D8F3-EFE4-4072-A205-774855EE2D8D}"/>
    <pc:docChg chg="addSld delSld modSld">
      <pc:chgData name="황유승(YOOSEUNG HWANG)[yooseung.h]/팀장/제조DX.품질DX.설비DX팀" userId="e0689872-7918-445c-ad07-150431448e68" providerId="ADAL" clId="{9360D8F3-EFE4-4072-A205-774855EE2D8D}" dt="2025-11-19T05:17:23.041" v="2"/>
      <pc:docMkLst>
        <pc:docMk/>
      </pc:docMkLst>
    </pc:docChg>
  </pc:docChgLst>
  <pc:docChgLst>
    <pc:chgData name="이강국(KANG KUK LEE)[kklee81]/팀장/제조DX.품질DX.공정검사DX팀" userId="d2ce5178-2266-4480-858d-6442786b6081" providerId="ADAL" clId="{79C25636-B69B-4C91-851C-1E174F4AFC2A}"/>
    <pc:docChg chg="undo custSel addSld modSld">
      <pc:chgData name="이강국(KANG KUK LEE)[kklee81]/팀장/제조DX.품질DX.공정검사DX팀" userId="d2ce5178-2266-4480-858d-6442786b6081" providerId="ADAL" clId="{79C25636-B69B-4C91-851C-1E174F4AFC2A}" dt="2025-12-03T06:49:10.928" v="5" actId="6549"/>
      <pc:docMkLst>
        <pc:docMk/>
      </pc:docMkLst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3170075415" sldId="256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647951232" sldId="259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895038594" sldId="260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3071513182" sldId="261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2759145249" sldId="265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782641193" sldId="275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3507588565" sldId="276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4020968309" sldId="279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862261060" sldId="280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03445315" sldId="281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599715968" sldId="285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3067526177" sldId="286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161295054" sldId="287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3765110832" sldId="289"/>
        </pc:sldMkLst>
      </pc:sldChg>
      <pc:sldChg chg="addSp delSp mod">
        <pc:chgData name="이강국(KANG KUK LEE)[kklee81]/팀장/제조DX.품질DX.공정검사DX팀" userId="d2ce5178-2266-4480-858d-6442786b6081" providerId="ADAL" clId="{79C25636-B69B-4C91-851C-1E174F4AFC2A}" dt="2025-12-03T06:47:29.508" v="1" actId="22"/>
        <pc:sldMkLst>
          <pc:docMk/>
          <pc:sldMk cId="2751367990" sldId="746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2741915051" sldId="2147481886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2600334921" sldId="2147481896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917138514" sldId="2147481941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430976968" sldId="2147481986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7863841" sldId="2147481989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818863937" sldId="2147481995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744086403" sldId="2147482009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173333594" sldId="2147482011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3969089951" sldId="2147482012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1746222469" sldId="2147483600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2830032125" sldId="2147483602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2414057943" sldId="2147483642"/>
        </pc:sldMkLst>
      </pc:sldChg>
      <pc:sldChg chg="add">
        <pc:chgData name="이강국(KANG KUK LEE)[kklee81]/팀장/제조DX.품질DX.공정검사DX팀" userId="d2ce5178-2266-4480-858d-6442786b6081" providerId="ADAL" clId="{79C25636-B69B-4C91-851C-1E174F4AFC2A}" dt="2025-12-03T06:48:59.699" v="2"/>
        <pc:sldMkLst>
          <pc:docMk/>
          <pc:sldMk cId="2869279700" sldId="2147483647"/>
        </pc:sldMkLst>
      </pc:sldChg>
    </pc:docChg>
  </pc:docChgLst>
  <pc:docChgLst>
    <pc:chgData name="심현철(HYUNCHUL SIM)[hcsim]/책임/제조DX.품질DX.공정제어DX팀" userId="d465b3e2-f85f-466e-86aa-e7ab0df255ce" providerId="ADAL" clId="{2A8FA713-8B89-449A-BC43-0C97A9C51294}"/>
    <pc:docChg chg="addSld modSld">
      <pc:chgData name="심현철(HYUNCHUL SIM)[hcsim]/책임/제조DX.품질DX.공정제어DX팀" userId="d465b3e2-f85f-466e-86aa-e7ab0df255ce" providerId="ADAL" clId="{2A8FA713-8B89-449A-BC43-0C97A9C51294}" dt="2025-12-16T09:20:55.546" v="0"/>
      <pc:docMkLst>
        <pc:docMk/>
      </pc:docMkLst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667935216" sldId="269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516717261" sldId="270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675511435" sldId="271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1392778614" sldId="272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198168576" sldId="273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717544336" sldId="274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961365544" sldId="277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848607109" sldId="278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3019013199" sldId="282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516265595" sldId="283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3827258113" sldId="284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615774718" sldId="288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1128391729" sldId="290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471999760" sldId="291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700504393" sldId="292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714626431" sldId="293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827281977" sldId="294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3386743393" sldId="2147482138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574489721" sldId="2147482150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910665893" sldId="2147482165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838188448" sldId="2147483622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304148908" sldId="2147483624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3682275399" sldId="2147483644"/>
        </pc:sldMkLst>
      </pc:sldChg>
      <pc:sldChg chg="add">
        <pc:chgData name="심현철(HYUNCHUL SIM)[hcsim]/책임/제조DX.품질DX.공정제어DX팀" userId="d465b3e2-f85f-466e-86aa-e7ab0df255ce" providerId="ADAL" clId="{2A8FA713-8B89-449A-BC43-0C97A9C51294}" dt="2025-12-16T09:20:55.546" v="0"/>
        <pc:sldMkLst>
          <pc:docMk/>
          <pc:sldMk cId="2506695685" sldId="2147483646"/>
        </pc:sldMkLst>
      </pc:sldChg>
    </pc:docChg>
  </pc:docChgLst>
  <pc:docChgLst>
    <pc:chgData name="황유승(YOOSEUNG HWANG)[yooseung.h]/팀장/제조DX.품질DX.설비DX팀" userId="e0689872-7918-445c-ad07-150431448e68" providerId="ADAL" clId="{94418001-4795-4ACF-B2FF-8B565872D0B1}"/>
    <pc:docChg chg="addSld delSld modSld">
      <pc:chgData name="황유승(YOOSEUNG HWANG)[yooseung.h]/팀장/제조DX.품질DX.설비DX팀" userId="e0689872-7918-445c-ad07-150431448e68" providerId="ADAL" clId="{94418001-4795-4ACF-B2FF-8B565872D0B1}" dt="2025-12-03T07:37:20.215" v="2"/>
      <pc:docMkLst>
        <pc:docMk/>
      </pc:docMkLst>
    </pc:docChg>
  </pc:docChgLst>
  <pc:docChgLst>
    <pc:chgData name="서경민(KYOUNGMIN SEO)[vicom2]/책임/제조DX.품질DX.품질DX팀" userId="S::vicom2@lgensol.com::86652bbb-2e85-4915-9dae-2f9c95e66a98" providerId="AD" clId="Web-{76142FC4-B0DF-4D86-83E5-5487210914CE}"/>
    <pc:docChg chg="modSld">
      <pc:chgData name="서경민(KYOUNGMIN SEO)[vicom2]/책임/제조DX.품질DX.품질DX팀" userId="S::vicom2@lgensol.com::86652bbb-2e85-4915-9dae-2f9c95e66a98" providerId="AD" clId="Web-{76142FC4-B0DF-4D86-83E5-5487210914CE}" dt="2025-12-16T09:23:30.164" v="5" actId="20577"/>
      <pc:docMkLst>
        <pc:docMk/>
      </pc:docMkLst>
      <pc:sldChg chg="modSp">
        <pc:chgData name="서경민(KYOUNGMIN SEO)[vicom2]/책임/제조DX.품질DX.품질DX팀" userId="S::vicom2@lgensol.com::86652bbb-2e85-4915-9dae-2f9c95e66a98" providerId="AD" clId="Web-{76142FC4-B0DF-4D86-83E5-5487210914CE}" dt="2025-12-16T09:23:30.164" v="5" actId="20577"/>
        <pc:sldMkLst>
          <pc:docMk/>
          <pc:sldMk cId="1548564195" sldId="2147482099"/>
        </pc:sldMkLst>
        <pc:spChg chg="mod">
          <ac:chgData name="서경민(KYOUNGMIN SEO)[vicom2]/책임/제조DX.품질DX.품질DX팀" userId="S::vicom2@lgensol.com::86652bbb-2e85-4915-9dae-2f9c95e66a98" providerId="AD" clId="Web-{76142FC4-B0DF-4D86-83E5-5487210914CE}" dt="2025-12-16T09:23:30.164" v="5" actId="20577"/>
          <ac:spMkLst>
            <pc:docMk/>
            <pc:sldMk cId="1548564195" sldId="2147482099"/>
            <ac:spMk id="2" creationId="{0D2AD04E-54DA-4934-AAB7-5D16C97D7B73}"/>
          </ac:spMkLst>
        </pc:spChg>
      </pc:sldChg>
    </pc:docChg>
  </pc:docChgLst>
  <pc:docChgLst>
    <pc:chgData name="송영민(YOUNGMIN SONG)[symsong]/부문담당/제조DX.품질DX담당" userId="a10739ce-2f41-4d8f-b643-21cb771c5638" providerId="ADAL" clId="{65ED9F00-963F-4B5D-AE27-57D7EEE4FBE2}"/>
    <pc:docChg chg="undo custSel modSld">
      <pc:chgData name="송영민(YOUNGMIN SONG)[symsong]/부문담당/제조DX.품질DX담당" userId="a10739ce-2f41-4d8f-b643-21cb771c5638" providerId="ADAL" clId="{65ED9F00-963F-4B5D-AE27-57D7EEE4FBE2}" dt="2025-12-10T23:57:14.030" v="3260" actId="20577"/>
      <pc:docMkLst>
        <pc:docMk/>
      </pc:docMkLst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787112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2BCA65B-4A64-4C09-B6AF-22726F39C5D6}" type="datetimeFigureOut">
              <a:rPr lang="ko-KR" altLang="en-US" smtClean="0"/>
              <a:t>2025-12-16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787112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5DBB3B-02F1-4B6B-B52B-D48CB606F0BE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5559831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787112" y="1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7702084-E320-4FCE-8E72-C66EF9DD46EA}" type="datetimeFigureOut">
              <a:rPr lang="ko-KR" altLang="en-US" smtClean="0"/>
              <a:t>2025-12-16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439738" y="804863"/>
            <a:ext cx="5807075" cy="40211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68587" y="5094127"/>
            <a:ext cx="5348695" cy="482601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787112" y="10186393"/>
            <a:ext cx="2897210" cy="53622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FC5283-F698-4B70-A5AB-FFCC0F08C4AB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87184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939564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1732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475019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10536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0609385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DBA814-5544-CB3B-C705-1640A19E9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E62D871-CDF2-C7AD-B0D1-596725699F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0D82431-4F9F-D521-AAD3-46A2524FE1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E9C8255-9195-153F-FCF1-95212535F7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855697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DBA814-5544-CB3B-C705-1640A19E9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E62D871-CDF2-C7AD-B0D1-596725699F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0D82431-4F9F-D521-AAD3-46A2524FE1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E9C8255-9195-153F-FCF1-95212535F7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679585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650915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176808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054139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880648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CBD330-BBBD-81CF-8B4F-2EB7BF85FE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4A036CA-C14A-371E-F63A-FB825B62071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DE3CE3A-2AF4-DA2C-B55D-B9E1D6A8F0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87F2459-65D5-80A1-88CE-6E64B5F5CC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139303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2A9C60-F672-BD2F-A5C5-008BFD42D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168410-52C3-C1B4-E4E6-AE38B041265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1C7389-41B6-9955-9756-5EE7F6D996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1D4F70B-87E8-D2B1-7EB4-288ED2EA8E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81308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2A9C60-F672-BD2F-A5C5-008BFD42D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168410-52C3-C1B4-E4E6-AE38B041265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1C7389-41B6-9955-9756-5EE7F6D996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1D4F70B-87E8-D2B1-7EB4-288ED2EA8E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7551074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2A9C60-F672-BD2F-A5C5-008BFD42D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168410-52C3-C1B4-E4E6-AE38B041265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1C7389-41B6-9955-9756-5EE7F6D996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1D4F70B-87E8-D2B1-7EB4-288ED2EA8E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736525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976FD3-CC21-0569-0C9D-8CCEB96778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714FB71-157E-D317-F4FE-CD8996FB1B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D66AC06-B591-1358-79F7-F37CC1F89E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2D43D49-2AAD-59E5-6330-428704F49C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206090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976FD3-CC21-0569-0C9D-8CCEB96778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714FB71-157E-D317-F4FE-CD8996FB1B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D66AC06-B591-1358-79F7-F37CC1F89E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2D43D49-2AAD-59E5-6330-428704F49C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0133553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954F71-64B9-7375-E705-E875A6C706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B26B27-EF13-4E90-C148-6F04D16988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9622B70-21EF-EA8B-DB75-9D8E050C980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4AD394-8967-FB0A-2093-56E6509542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668709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A96A84-617F-388D-FCD5-1DA27A6111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488706-5C3C-169B-91F7-160FD2706F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46A34F5-8239-4A78-8A16-7033998348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4819C3-66C1-2666-38D0-6ADF968D18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14405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393506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61011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5971221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D0E7B2-1802-5087-A51D-2DB5242FC1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6ACC178-052E-801B-D840-D4099774F7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0719AF3-2A6A-E319-10C6-A125D1EF72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F49EB5B-2B75-4433-36FC-4FDC7FA0EBC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184386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958477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536211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502261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897003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2496520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ADEC1-AE4A-1E7D-6536-5FC1B617B7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894ABA-19D4-0324-C647-0C32203186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57BC55-12A0-7132-1332-F045B78EB4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E5483F-5E51-AD83-CFC2-CA62119599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093660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ADEC1-AE4A-1E7D-6536-5FC1B617B7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894ABA-19D4-0324-C647-0C32203186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57BC55-12A0-7132-1332-F045B78EB4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E5483F-5E51-AD83-CFC2-CA62119599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270215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324779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893748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4093679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5312869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4701683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5484A-869E-2133-7074-10105088A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9218D53-50D1-29C6-24F5-A061320BE1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B78997-9EB5-55D8-8E76-92CBB61603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4A5801-FCA4-1C52-506D-7545D283B5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9209987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79644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5275980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9986888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8348764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250304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4809914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29B8CB-700A-4FCD-D670-D78C471203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A73696-C86F-51E1-2C8F-C886621032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A142F46-8D2D-E7BD-F89F-B2F049ED61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58516D-AA28-664D-CFB2-5D97FA7601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187831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5484A-869E-2133-7074-10105088A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9218D53-50D1-29C6-24F5-A061320BE1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B78997-9EB5-55D8-8E76-92CBB61603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4A5801-FCA4-1C52-506D-7545D283B5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684965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642653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802185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ADEC1-AE4A-1E7D-6536-5FC1B617B7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894ABA-19D4-0324-C647-0C32203186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57BC55-12A0-7132-1332-F045B78EB4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E5483F-5E51-AD83-CFC2-CA62119599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557450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983677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ADEC1-AE4A-1E7D-6536-5FC1B617B7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894ABA-19D4-0324-C647-0C32203186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57BC55-12A0-7132-1332-F045B78EB4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E5483F-5E51-AD83-CFC2-CA62119599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9013760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ADEC1-AE4A-1E7D-6536-5FC1B617B7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894ABA-19D4-0324-C647-0C32203186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57BC55-12A0-7132-1332-F045B78EB4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E5483F-5E51-AD83-CFC2-CA62119599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437373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ADEC1-AE4A-1E7D-6536-5FC1B617B7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894ABA-19D4-0324-C647-0C32203186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57BC55-12A0-7132-1332-F045B78EB4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E5483F-5E51-AD83-CFC2-CA62119599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770890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4532669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560213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367444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714610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717633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694418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353649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122182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626395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0187C4-CFCF-424A-AAED-5153735F32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42A047-1FFF-94B9-A032-A5DE6250AB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0FF48C-851E-2F6D-199A-556CFEF407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67577A-CCC2-A337-D39A-43711204AA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772615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278986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1173722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352508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5944362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969117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6865849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5112212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4084194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7659316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95483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5685944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21983293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3699138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02377010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042496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0510615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64195480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327161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117372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954832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975548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879083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93AC39-03AC-0C59-EE5C-EA0E7B46BD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23AEA35-DDAC-6250-71CF-F8C5E60EBC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AEA972A-FFC0-BB6C-3C7E-57FF25DE24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5945058-9328-67FA-7B80-932079DDDBF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5223668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680064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8171923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748814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710140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0C29F4-FFDC-B9E8-6CAA-2F240304D8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2DEE260-6EE5-AB3A-6057-E17DB8246E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AD21503-46DE-A086-40E5-8CB88BA0AF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B14FC95-6495-97EB-EB7E-B855C9FC0EF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52393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22337609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8776575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048EE4-DBD2-BA5C-4DCE-C5B3263073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2E68D73-3248-F5F5-2BAF-99D191BEEE0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8B7EEFC-8E93-06CE-DF70-BEA4A7AF973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EDA065-4496-8331-DA63-73BE9FC204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8137435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048EE4-DBD2-BA5C-4DCE-C5B3263073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2E68D73-3248-F5F5-2BAF-99D191BEEE0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8B7EEFC-8E93-06CE-DF70-BEA4A7AF973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EDA065-4496-8331-DA63-73BE9FC204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83499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3005F-2C17-1985-5789-258E3F61B7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0812B2F-1862-602E-8117-A674D0FE7E8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66D70A-FC6D-89F2-2D27-740E1DB5E1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8200B57-AC80-89BE-DE77-3AE153BC005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604659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0076434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823286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75130239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5431578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9025256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174942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9021768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98184037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C7CC7E-B06C-AE20-2117-74B5672EA1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437C97-8021-3F10-F67E-1280396EA1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BD502A7-CCDC-882A-DD2F-BB82A813A3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763E75-77A2-460F-98DD-1B28DCC39C6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541207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397455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51645280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C5283-F698-4B70-A5AB-FFCC0F08C4AB}" type="slidenum">
              <a:rPr lang="ko-KR" altLang="en-US" smtClean="0"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6473013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8887899B-BED9-4191-B8DE-8F0C38A1E8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942908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8EE11C81-2A9C-4DE4-8A5E-F72255725E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9967102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E9A66B-0DDC-CC6E-3421-0FD71BD997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BA25CC-1546-312E-D590-62A83B4BED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78EF23F-1E0A-836B-4209-C433A359BE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F5686712-D81F-21EE-79FA-2C4CACBC91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1158841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33D5FBD5-738A-4D51-BA4C-A0568F3CD2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2740970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33D5FBD5-738A-4D51-BA4C-A0568F3CD2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990351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33D5FBD5-738A-4D51-BA4C-A0568F3CD2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2089197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0C3412-45BE-6512-CE16-ADEEB0C9BD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D5DD4F3-E418-7CE5-15A9-8C507770AC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D179A6F-365B-CC6E-62EE-213D71B4D5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1B1EF4A5-872C-4A47-BEBE-AC883B7FF73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622118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4F60D055-EDBE-4C11-A832-9A222D1355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3562046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4F60D055-EDBE-4C11-A832-9A222D1355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6877215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D1AB43E7-8945-4736-9B86-C8572F0716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8918620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D1AB43E7-8945-4736-9B86-C8572F0716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4965270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5806C5BC-C183-45AD-9B30-876CDBFB7C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4077310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AF785750-1C54-4D14-AA5E-97AB0B0FE4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44324936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AF785750-1C54-4D14-AA5E-97AB0B0FE4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3523611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CC749779-597D-49C2-AA6D-39B7437282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571246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CC749779-597D-49C2-AA6D-39B7437282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9926633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CC749779-597D-49C2-AA6D-39B7437282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9926633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4EA2D38F-0E27-46E2-9462-B245DD0E73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FC5283-F698-4B70-A5AB-FFCC0F08C4AB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49612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397394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99280870"/>
      </p:ext>
    </p:extLst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6727705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9305526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77254B62-8E4B-48C0-B223-74652FB093EA}"/>
              </a:ext>
            </a:extLst>
          </p:cNvPr>
          <p:cNvSpPr txBox="1"/>
          <p:nvPr userDrawn="1"/>
        </p:nvSpPr>
        <p:spPr>
          <a:xfrm>
            <a:off x="4530524" y="6652895"/>
            <a:ext cx="98292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fld id="{2E505FF7-D2A0-4561-BEEE-46F12B72086B}" type="slidenum">
              <a:rPr lang="ko-KR" altLang="en-US" sz="1000" smtClean="0">
                <a:latin typeface="+mn-ea"/>
                <a:ea typeface="+mn-ea"/>
              </a:rPr>
              <a:t>‹#›</a:t>
            </a:fld>
            <a:r>
              <a:rPr lang="ko-KR" altLang="en-US" sz="1000" dirty="0">
                <a:latin typeface="+mn-ea"/>
                <a:ea typeface="+mn-ea"/>
              </a:rPr>
              <a:t> </a:t>
            </a:r>
            <a:r>
              <a:rPr lang="en-US" altLang="ko-KR" sz="1000" dirty="0">
                <a:latin typeface="+mn-ea"/>
                <a:ea typeface="+mn-ea"/>
              </a:rPr>
              <a:t>/ 124</a:t>
            </a:r>
            <a:endParaRPr lang="ko-KR" altLang="en-US" sz="10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724246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1" r:id="rId1"/>
  </p:sldLayoutIdLst>
  <p:hf hdr="0" dt="0"/>
  <p:txStyles>
    <p:titleStyle>
      <a:lvl1pPr algn="l" defTabSz="914400" rtl="0" eaLnBrk="1" latinLnBrk="1" hangingPunct="1">
        <a:spcBef>
          <a:spcPct val="0"/>
        </a:spcBef>
        <a:buNone/>
        <a:defRPr sz="1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4722671" y="6650863"/>
            <a:ext cx="460631" cy="153888"/>
          </a:xfrm>
          <a:prstGeom prst="rect">
            <a:avLst/>
          </a:prstGeom>
          <a:noFill/>
        </p:spPr>
        <p:txBody>
          <a:bodyPr wrap="none" lIns="36000" tIns="0" rIns="36000" bIns="0" rtlCol="0">
            <a:spAutoFit/>
          </a:bodyPr>
          <a:lstStyle/>
          <a:p>
            <a:pPr algn="ctr"/>
            <a:fld id="{A54A9921-F004-4FEA-AF7B-4D114F7E353D}" type="slidenum">
              <a:rPr lang="ko-KR" altLang="en-US" sz="1000" b="1" smtClean="0">
                <a:solidFill>
                  <a:srgbClr val="000000"/>
                </a:solidFill>
                <a:cs typeface="Arial" pitchFamily="34" charset="0"/>
              </a:rPr>
              <a:pPr algn="ctr"/>
              <a:t>‹#›</a:t>
            </a:fld>
            <a:r>
              <a:rPr lang="ko-KR" altLang="en-US" sz="1000" dirty="0">
                <a:solidFill>
                  <a:srgbClr val="000000"/>
                </a:solidFill>
                <a:cs typeface="Arial" pitchFamily="34" charset="0"/>
              </a:rPr>
              <a:t> </a:t>
            </a:r>
            <a:r>
              <a:rPr lang="en-US" altLang="ko-KR" sz="1000" dirty="0">
                <a:solidFill>
                  <a:srgbClr val="000000"/>
                </a:solidFill>
                <a:cs typeface="Arial" pitchFamily="34" charset="0"/>
              </a:rPr>
              <a:t>/ 124</a:t>
            </a:r>
          </a:p>
        </p:txBody>
      </p:sp>
    </p:spTree>
    <p:extLst>
      <p:ext uri="{BB962C8B-B14F-4D97-AF65-F5344CB8AC3E}">
        <p14:creationId xmlns:p14="http://schemas.microsoft.com/office/powerpoint/2010/main" val="28564742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7" r:id="rId1"/>
    <p:sldLayoutId id="2147483928" r:id="rId2"/>
    <p:sldLayoutId id="2147483929" r:id="rId3"/>
  </p:sldLayoutIdLst>
  <p:hf hdr="0" ftr="0" dt="0"/>
  <p:txStyles>
    <p:titleStyle>
      <a:lvl1pPr algn="l" defTabSz="914400" rtl="0" eaLnBrk="1" latinLnBrk="1" hangingPunct="1">
        <a:spcBef>
          <a:spcPct val="0"/>
        </a:spcBef>
        <a:buNone/>
        <a:defRPr sz="1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12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hyperlink" Target="https://davinci.lgensol.com:18443/portal/imgdefanal/list" TargetMode="Externa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PowerPoint_Presentation.pptx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2.wmf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emf"/><Relationship Id="rId3" Type="http://schemas.openxmlformats.org/officeDocument/2006/relationships/oleObject" Target="../embeddings/oleObject1.bin"/><Relationship Id="rId7" Type="http://schemas.openxmlformats.org/officeDocument/2006/relationships/oleObject" Target="../embeddings/oleObject3.bin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emf"/><Relationship Id="rId5" Type="http://schemas.openxmlformats.org/officeDocument/2006/relationships/oleObject" Target="../embeddings/oleObject2.bin"/><Relationship Id="rId10" Type="http://schemas.openxmlformats.org/officeDocument/2006/relationships/image" Target="../media/image18.emf"/><Relationship Id="rId4" Type="http://schemas.openxmlformats.org/officeDocument/2006/relationships/image" Target="../media/image15.emf"/><Relationship Id="rId9" Type="http://schemas.openxmlformats.org/officeDocument/2006/relationships/oleObject" Target="../embeddings/oleObject4.bin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9.wmf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9.emf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0.wmf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PowerPoint_Presentation1.pptx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wmf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PowerPoint_Presentation2.pptx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2.emf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7.wmf"/><Relationship Id="rId5" Type="http://schemas.openxmlformats.org/officeDocument/2006/relationships/oleObject" Target="../embeddings/oleObject9.bin"/><Relationship Id="rId4" Type="http://schemas.openxmlformats.org/officeDocument/2006/relationships/image" Target="../media/image36.wmf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0.png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4.pn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6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Oval 232"/>
          <p:cNvSpPr>
            <a:spLocks noChangeArrowheads="1"/>
          </p:cNvSpPr>
          <p:nvPr/>
        </p:nvSpPr>
        <p:spPr bwMode="auto">
          <a:xfrm>
            <a:off x="1093036" y="95250"/>
            <a:ext cx="900000" cy="546100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ko-KR" altLang="en-US"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LG스마트체 Regular"/>
            </a:endParaRPr>
          </a:p>
        </p:txBody>
      </p:sp>
      <p:graphicFrame>
        <p:nvGraphicFramePr>
          <p:cNvPr id="76" name="표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1616228"/>
              </p:ext>
            </p:extLst>
          </p:nvPr>
        </p:nvGraphicFramePr>
        <p:xfrm>
          <a:off x="207966" y="176213"/>
          <a:ext cx="2667000" cy="361950"/>
        </p:xfrm>
        <a:graphic>
          <a:graphicData uri="http://schemas.openxmlformats.org/drawingml/2006/table">
            <a:tbl>
              <a:tblPr/>
              <a:tblGrid>
                <a:gridCol w="88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9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19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일반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General)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대외비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Confidential)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비밀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</a:b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(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latin typeface="LG스마트체 Regular" pitchFamily="50" charset="-127"/>
                          <a:ea typeface="LG스마트체 Regular" pitchFamily="50" charset="-127"/>
                        </a:rPr>
                        <a:t>Secret)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14" name="Picture 32" descr="솔루션파트너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7194" y="176213"/>
            <a:ext cx="1800225" cy="354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그룹 3"/>
          <p:cNvGrpSpPr/>
          <p:nvPr/>
        </p:nvGrpSpPr>
        <p:grpSpPr>
          <a:xfrm>
            <a:off x="2670355" y="1147803"/>
            <a:ext cx="3935312" cy="3202142"/>
            <a:chOff x="2658228" y="1147803"/>
            <a:chExt cx="3935312" cy="3202142"/>
          </a:xfrm>
        </p:grpSpPr>
        <p:sp>
          <p:nvSpPr>
            <p:cNvPr id="99" name="Text Box 37"/>
            <p:cNvSpPr txBox="1">
              <a:spLocks noChangeArrowheads="1"/>
            </p:cNvSpPr>
            <p:nvPr/>
          </p:nvSpPr>
          <p:spPr bwMode="auto">
            <a:xfrm>
              <a:off x="3357748" y="2568047"/>
              <a:ext cx="2903359" cy="17818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품질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DX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다빈치팀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공정검사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DX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공정제어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DX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  <a:p>
              <a:pPr marL="92075" indent="-92075">
                <a:lnSpc>
                  <a:spcPct val="140000"/>
                </a:lnSpc>
                <a:buFontTx/>
                <a:buAutoNum type="arabicPeriod"/>
              </a:pP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 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과제 진행 현황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_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설비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DX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팀</a:t>
              </a:r>
              <a:endParaRPr lang="en-US" altLang="ko-KR" sz="1600" b="1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LG스마트체 Regular"/>
                <a:cs typeface="Arial" charset="0"/>
              </a:endParaRPr>
            </a:p>
          </p:txBody>
        </p:sp>
        <p:sp>
          <p:nvSpPr>
            <p:cNvPr id="33" name="제목 1"/>
            <p:cNvSpPr txBox="1">
              <a:spLocks/>
            </p:cNvSpPr>
            <p:nvPr/>
          </p:nvSpPr>
          <p:spPr bwMode="auto">
            <a:xfrm>
              <a:off x="2658228" y="1147803"/>
              <a:ext cx="3935312" cy="584775"/>
            </a:xfrm>
            <a:prstGeom prst="rect">
              <a:avLst/>
            </a:prstGeom>
            <a:solidFill>
              <a:schemeClr val="bg1"/>
            </a:solidFill>
            <a:ln w="12700">
              <a:gradFill>
                <a:gsLst>
                  <a:gs pos="0">
                    <a:schemeClr val="bg1">
                      <a:alpha val="0"/>
                      <a:lumMod val="0"/>
                      <a:lumOff val="100000"/>
                    </a:schemeClr>
                  </a:gs>
                  <a:gs pos="98000">
                    <a:schemeClr val="bg1">
                      <a:alpha val="0"/>
                      <a:lumMod val="0"/>
                      <a:lumOff val="100000"/>
                    </a:schemeClr>
                  </a:gs>
                  <a:gs pos="99000">
                    <a:schemeClr val="tx1"/>
                  </a:gs>
                </a:gsLst>
                <a:lin ang="5400000" scaled="0"/>
              </a:gradFill>
              <a:miter lim="800000"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>
                  <a:solidFill>
                    <a:schemeClr val="tx2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j-cs"/>
                </a:defRPr>
              </a:lvl1pPr>
              <a:lvl2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2pPr>
              <a:lvl3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3pPr>
              <a:lvl4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4pPr>
              <a:lvl5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5pPr>
              <a:lvl6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6pPr>
              <a:lvl7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7pPr>
              <a:lvl8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8pPr>
              <a:lvl9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>
                <a:defRPr/>
              </a:pP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품질</a:t>
              </a:r>
              <a:r>
                <a:rPr lang="en-US" altLang="ko-KR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DX</a:t>
              </a: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담당</a:t>
              </a:r>
              <a:r>
                <a:rPr lang="en-US" altLang="ko-KR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 </a:t>
              </a:r>
              <a:r>
                <a:rPr lang="ko-KR" altLang="en-US" sz="32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추진 현황</a:t>
              </a:r>
            </a:p>
          </p:txBody>
        </p:sp>
        <p:sp>
          <p:nvSpPr>
            <p:cNvPr id="34" name="제목 1"/>
            <p:cNvSpPr txBox="1">
              <a:spLocks/>
            </p:cNvSpPr>
            <p:nvPr/>
          </p:nvSpPr>
          <p:spPr bwMode="auto">
            <a:xfrm>
              <a:off x="4327248" y="2173480"/>
              <a:ext cx="588623" cy="369332"/>
            </a:xfrm>
            <a:prstGeom prst="rect">
              <a:avLst/>
            </a:prstGeom>
            <a:solidFill>
              <a:schemeClr val="bg1"/>
            </a:solidFill>
            <a:ln w="12700">
              <a:gradFill>
                <a:gsLst>
                  <a:gs pos="0">
                    <a:schemeClr val="bg1">
                      <a:alpha val="0"/>
                      <a:lumMod val="0"/>
                      <a:lumOff val="100000"/>
                    </a:schemeClr>
                  </a:gs>
                  <a:gs pos="98000">
                    <a:schemeClr val="bg1">
                      <a:alpha val="0"/>
                      <a:lumMod val="0"/>
                      <a:lumOff val="100000"/>
                    </a:schemeClr>
                  </a:gs>
                  <a:gs pos="99000">
                    <a:schemeClr val="tx1"/>
                  </a:gs>
                </a:gsLst>
                <a:lin ang="5400000" scaled="0"/>
              </a:gradFill>
              <a:miter lim="800000"/>
              <a:headEnd/>
              <a:tailEnd/>
            </a:ln>
          </p:spPr>
          <p:txBody>
            <a:bodyPr vert="horz" wrap="non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>
                  <a:solidFill>
                    <a:schemeClr val="tx2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+mj-cs"/>
                </a:defRPr>
              </a:lvl1pPr>
              <a:lvl2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2pPr>
              <a:lvl3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3pPr>
              <a:lvl4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4pPr>
              <a:lvl5pPr algn="ctr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5pPr>
              <a:lvl6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6pPr>
              <a:lvl7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7pPr>
              <a:lvl8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8pPr>
              <a:lvl9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sz="4400">
                  <a:solidFill>
                    <a:schemeClr val="tx2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defRPr/>
              </a:pPr>
              <a:r>
                <a:rPr lang="ko-KR" altLang="en-US" sz="1800" ker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ea typeface="LG스마트체 Regular"/>
                </a:rPr>
                <a:t>목차</a:t>
              </a:r>
            </a:p>
          </p:txBody>
        </p:sp>
      </p:grpSp>
      <p:sp>
        <p:nvSpPr>
          <p:cNvPr id="3" name="직사각형 2"/>
          <p:cNvSpPr/>
          <p:nvPr/>
        </p:nvSpPr>
        <p:spPr>
          <a:xfrm>
            <a:off x="4646519" y="6494868"/>
            <a:ext cx="622484" cy="3377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2788365" y="5250686"/>
            <a:ext cx="3918902" cy="1288993"/>
            <a:chOff x="2990669" y="5250686"/>
            <a:chExt cx="3918902" cy="1288993"/>
          </a:xfrm>
        </p:grpSpPr>
        <p:sp>
          <p:nvSpPr>
            <p:cNvPr id="18" name="Rectangle 32"/>
            <p:cNvSpPr>
              <a:spLocks noChangeArrowheads="1"/>
            </p:cNvSpPr>
            <p:nvPr/>
          </p:nvSpPr>
          <p:spPr bwMode="auto">
            <a:xfrm>
              <a:off x="4570051" y="5574722"/>
              <a:ext cx="1170513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품질</a:t>
              </a:r>
              <a:r>
                <a:rPr lang="en-US" altLang="ko-KR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DX</a:t>
              </a:r>
              <a:r>
                <a:rPr lang="ko-KR" altLang="en-US" sz="1600" b="1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 charset="0"/>
                </a:rPr>
                <a:t>담당</a:t>
              </a:r>
            </a:p>
          </p:txBody>
        </p:sp>
        <p:sp>
          <p:nvSpPr>
            <p:cNvPr id="19" name="Text Box 34"/>
            <p:cNvSpPr txBox="1">
              <a:spLocks noChangeArrowheads="1"/>
            </p:cNvSpPr>
            <p:nvPr/>
          </p:nvSpPr>
          <p:spPr bwMode="auto">
            <a:xfrm>
              <a:off x="4074217" y="5250686"/>
              <a:ext cx="2162175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1440" tIns="45720" rIns="91440" bIns="45720" anchor="t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600" b="1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LG스마트체 Regular"/>
                  <a:cs typeface="Arial"/>
                </a:rPr>
                <a:t>2025. 12. 17</a:t>
              </a: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2990669" y="6111503"/>
              <a:ext cx="3918902" cy="428176"/>
              <a:chOff x="2990669" y="6111503"/>
              <a:chExt cx="3918902" cy="428176"/>
            </a:xfrm>
          </p:grpSpPr>
          <p:pic>
            <p:nvPicPr>
              <p:cNvPr id="2" name="그림 1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990669" y="6111503"/>
                <a:ext cx="2180745" cy="428176"/>
              </a:xfrm>
              <a:prstGeom prst="rect">
                <a:avLst/>
              </a:prstGeom>
            </p:spPr>
          </p:pic>
          <p:sp>
            <p:nvSpPr>
              <p:cNvPr id="17" name="Text Box 6"/>
              <p:cNvSpPr txBox="1">
                <a:spLocks noChangeArrowheads="1"/>
              </p:cNvSpPr>
              <p:nvPr/>
            </p:nvSpPr>
            <p:spPr bwMode="auto">
              <a:xfrm>
                <a:off x="5099460" y="6156314"/>
                <a:ext cx="1810111" cy="3385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/ </a:t>
                </a:r>
                <a:r>
                  <a:rPr lang="en-US" altLang="ko-KR" sz="1600" b="1" err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CDO</a:t>
                </a: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.</a:t>
                </a:r>
                <a:r>
                  <a:rPr lang="ko-KR" altLang="en-US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제조</a:t>
                </a:r>
                <a:r>
                  <a:rPr lang="en-US" altLang="ko-KR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DX</a:t>
                </a:r>
                <a:r>
                  <a:rPr lang="ko-KR" altLang="en-US" sz="1600" b="1">
                    <a:solidFill>
                      <a:srgbClr val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LG스마트체 Regular"/>
                    <a:cs typeface="Arial" charset="0"/>
                  </a:rPr>
                  <a:t>그룹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5136799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42406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 금주 주요 내용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667EBAA-7F76-477E-8C69-D4C89D803E7A}"/>
              </a:ext>
            </a:extLst>
          </p:cNvPr>
          <p:cNvSpPr txBox="1"/>
          <p:nvPr/>
        </p:nvSpPr>
        <p:spPr>
          <a:xfrm>
            <a:off x="8216507" y="332076"/>
            <a:ext cx="1564532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7F2C6F14-DFC0-4D5B-8297-2869765C1097}"/>
              </a:ext>
            </a:extLst>
          </p:cNvPr>
          <p:cNvSpPr txBox="1">
            <a:spLocks/>
          </p:cNvSpPr>
          <p:nvPr/>
        </p:nvSpPr>
        <p:spPr>
          <a:xfrm>
            <a:off x="8698982" y="143498"/>
            <a:ext cx="1077218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지용진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TL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" name="TextBox 5">
            <a:extLst>
              <a:ext uri="{FF2B5EF4-FFF2-40B4-BE49-F238E27FC236}">
                <a16:creationId xmlns:a16="http://schemas.microsoft.com/office/drawing/2014/main" id="{0D2AD04E-54DA-4934-AAB7-5D16C97D7B73}"/>
              </a:ext>
            </a:extLst>
          </p:cNvPr>
          <p:cNvSpPr txBox="1"/>
          <p:nvPr/>
        </p:nvSpPr>
        <p:spPr>
          <a:xfrm>
            <a:off x="45758" y="584477"/>
            <a:ext cx="9958352" cy="624786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1.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아웃소싱업체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자사 품질 관리 시스템 구축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인팩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)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-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외주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패커사인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인팩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사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업체에 자사와 동등 수준의 품질 관리 체계가 확보 될 수 있도록 자사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QMS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시스템에서 아웃소싱 업체에 필요한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12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개 핵심 프로세스에 해당 하는 시스템 기능을 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’25-12/01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오픈 목표 구축하는 과제 입니다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(PD Gate : 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12/12</a:t>
            </a: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→ 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12/10</a:t>
            </a: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+mn-lt"/>
                <a:cs typeface="Arial"/>
                <a:sym typeface="Wingdings" panose="05000000000000000000" pitchFamily="2" charset="2"/>
              </a:rPr>
              <a:t>→ </a:t>
            </a:r>
            <a:r>
              <a:rPr lang="en-US" sz="1000" strike="sngStrike" kern="0" dirty="0">
                <a:solidFill>
                  <a:srgbClr val="0000FF"/>
                </a:solidFill>
                <a:latin typeface="LG Smart_H Regular" panose="020B0600000101010101" pitchFamily="50" charset="-127"/>
                <a:ea typeface="+mn-lt"/>
                <a:cs typeface="Arial"/>
                <a:sym typeface="Wingdings" panose="05000000000000000000" pitchFamily="2" charset="2"/>
              </a:rPr>
              <a:t>12/10</a:t>
            </a:r>
            <a:r>
              <a:rPr lang="ko-KR" altLang="en-US" sz="1000" strike="sngStrike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→ 12/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15일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조건부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)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, SOP : 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12/19</a:t>
            </a: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 → 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12/15</a:t>
            </a: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 → </a:t>
            </a:r>
            <a:r>
              <a:rPr kumimoji="0" lang="en-US" altLang="ko-KR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12/19</a:t>
            </a:r>
            <a:r>
              <a:rPr kumimoji="0" lang="ko-KR" altLang="en-US" sz="1000" b="0" i="0" u="none" strike="sng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 →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TBD(BPU Crack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이슈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)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)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  - </a:t>
            </a:r>
            <a:r>
              <a:rPr lang="en-US" altLang="ko-KR" sz="1000" kern="0" dirty="0" err="1">
                <a:solidFill>
                  <a:srgbClr val="0000FF"/>
                </a:solidFill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시스템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en-US" altLang="ko-KR" sz="1000" kern="0" dirty="0" err="1">
                <a:solidFill>
                  <a:srgbClr val="0000FF"/>
                </a:solidFill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오픈후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샘플 생산에 대한 실제 시스템 발생 실적 기준으로 운영 상태에 대한 점검을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수행하고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있으며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현재까지 운영 모니터링 결과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스케줄러 점검 완료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(26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건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),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화면별 정상 확인 및 </a:t>
            </a:r>
            <a:br>
              <a:rPr lang="ko-KR" altLang="en-US" sz="1000" dirty="0">
                <a:latin typeface="LG Smart_H Regular"/>
                <a:ea typeface="LG Smart_H Regular"/>
                <a:cs typeface="Malgun Gothic Semilight"/>
              </a:rPr>
            </a:b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  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성능점검 완료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(51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건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)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하였고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,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인터페이스 및 실적 점검 진행중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(18/32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건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, 56%)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</a:t>
            </a:r>
            <a:r>
              <a:rPr lang="en-US" altLang="ko-KR" sz="1000" dirty="0" err="1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입니다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. </a:t>
            </a:r>
            <a:r>
              <a:rPr lang="ko-KR" altLang="en-US" sz="1000" dirty="0" err="1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미완료건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LSP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관련 </a:t>
            </a:r>
            <a:r>
              <a:rPr lang="ko-KR" altLang="en-US" sz="1000" b="0" kern="1200" baseline="0" dirty="0" err="1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점검건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입니다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.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점검 미완료 사유는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LSP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운영 오픈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(12/10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)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을 하였으나 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PV Run </a:t>
            </a:r>
            <a:br>
              <a:rPr lang="en-US" altLang="ko-KR" sz="1000" dirty="0">
                <a:latin typeface="LG Smart_H Regular"/>
                <a:ea typeface="LG Smart_H Regular"/>
                <a:cs typeface="Malgun Gothic Semilight"/>
              </a:rPr>
            </a:b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    일정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연기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(</a:t>
            </a:r>
            <a:r>
              <a:rPr lang="ko-KR" altLang="en-US" sz="100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신공장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점검 미달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)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로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실제 출하 여부를 확인할 수 없었으며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, 12/23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일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예정된 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PV Run</a:t>
            </a:r>
            <a:r>
              <a:rPr lang="ko-KR" altLang="en-US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</a:t>
            </a:r>
            <a:r>
              <a:rPr lang="ko-KR" altLang="en-US" sz="1000" dirty="0" err="1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진행시</a:t>
            </a:r>
            <a:r>
              <a:rPr lang="en-US" altLang="ko-KR" sz="100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점검 예정입니다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/>
                <a:ea typeface="LG Smart_H Regular"/>
                <a:cs typeface="Malgun Gothic Semilight"/>
              </a:rPr>
              <a:t>.</a:t>
            </a:r>
            <a:endParaRPr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LG Smart_H Regular"/>
              <a:ea typeface="LG Smart_H Regular" panose="020B0600000101010101" pitchFamily="50" charset="-127"/>
              <a:cs typeface="Arial"/>
            </a:endParaRPr>
          </a:p>
          <a:p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-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자사에서 생산한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Cell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부터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Risk Range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가 설정이 되고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해당셀이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인팩에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출하된 경우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자사 시스템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→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인팩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시스템과의 연계가 되지 않아 홀드가 불가능 한 상황이며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자사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MES, </a:t>
            </a:r>
            <a:br>
              <a:rPr lang="en-US" altLang="ko-KR" sz="1000" kern="0" dirty="0">
                <a:latin typeface="LG Smart_H Regular" panose="020B0600000101010101" pitchFamily="50" charset="-127"/>
                <a:ea typeface="LG Smart_H Regular"/>
                <a:cs typeface="Arial"/>
              </a:rPr>
            </a:b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자사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QMS, 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인팩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MES,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인팩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QMS, LSP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개발 요건을 확정하였고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개발 완료 일정을 확정하였습니다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.(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개발 완료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: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’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26/01/16, Test : 1/23,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시스템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Open : 1/30) </a:t>
            </a:r>
            <a:br>
              <a:rPr lang="en-US" altLang="ko-KR" sz="1000" kern="0" dirty="0">
                <a:latin typeface="LG Smart_H Regular" panose="020B0600000101010101" pitchFamily="50" charset="-127"/>
                <a:ea typeface="LG Smart_H Regular" panose="020B0600000101010101" pitchFamily="50" charset="-127"/>
                <a:cs typeface="Arial"/>
              </a:rPr>
            </a:b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개발전까지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Risk Range Hold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상황이 발생하게 되면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수작업으로 자사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QA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및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인팩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QA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에서 대응하기로 하였습니다.</a:t>
            </a:r>
            <a:endParaRPr lang="en-US" altLang="ko-KR" sz="1000" kern="0" dirty="0">
              <a:solidFill>
                <a:srgbClr val="0000FF"/>
              </a:solidFill>
              <a:latin typeface="LG Smart_H Regular" panose="020B0600000101010101" pitchFamily="50" charset="-127"/>
              <a:ea typeface="LG Smart_H Regular"/>
              <a:cs typeface="Arial"/>
            </a:endParaRPr>
          </a:p>
          <a:p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- 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오픈 전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/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후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</a:t>
            </a:r>
            <a:r>
              <a:rPr lang="ko-KR" altLang="en-US" sz="1000" i="0" u="none" strike="noStrike" cap="none" spc="0" normalizeH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인팩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담당자 대상으로 교육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(12/1, 12/5, 12/9)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을 진행하였고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, </a:t>
            </a:r>
            <a:r>
              <a:rPr lang="ko-KR" altLang="en-US" sz="1000" b="0" kern="1200" baseline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인팩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QA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사용자의 원활한 시스템 사용 지원을 위해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현장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상시 교육을 지속 지원하였습니다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.</a:t>
            </a:r>
            <a:b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 panose="020B0600000101010101" pitchFamily="50" charset="-127"/>
                <a:cs typeface="Malgun Gothic Semilight"/>
              </a:rPr>
            </a:br>
            <a:r>
              <a:rPr lang="en-US" altLang="ko-KR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    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또한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,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현지 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PI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에게 시스템 운영에 대한 인수인계를 진행하여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SOP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진행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및 양산진행간 자체  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모니터링 진행될 수 있도록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(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본사에서도 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SOP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일정에 맞춰 원격 지원 예정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)</a:t>
            </a:r>
            <a:endParaRPr lang="en-US" altLang="ko-KR" sz="1000" kern="0" dirty="0">
              <a:solidFill>
                <a:srgbClr val="0000FF"/>
              </a:solidFill>
              <a:latin typeface="LG Smart_H Regular" panose="020B0600000101010101" pitchFamily="50" charset="-127"/>
              <a:ea typeface="LG Smart_H Regular"/>
              <a:cs typeface="Arial"/>
              <a:sym typeface="Wingdings" panose="05000000000000000000" pitchFamily="2" charset="2"/>
            </a:endParaRP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-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계측기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검교정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관리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시스템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(MIMS)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12/2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일 오픈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및 사용자 교육을 완료 하였고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오픈후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모니터링 진행 결과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인팩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사용자가 계측기 등록 대상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51ea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에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대해서 정상적으로 등록하여 실제 </a:t>
            </a:r>
            <a:br>
              <a:rPr lang="en-US" altLang="ko-KR" sz="1000" kern="0" dirty="0">
                <a:latin typeface="LG Smart_H Regular" panose="020B0600000101010101" pitchFamily="50" charset="-127"/>
                <a:ea typeface="LG Smart_H Regular" panose="020B0600000101010101" pitchFamily="50" charset="-127"/>
                <a:cs typeface="Arial"/>
              </a:rPr>
            </a:b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데이터 정상 등록 및 활용 여부 확인하였습니다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.(12/11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)</a:t>
            </a:r>
            <a:endParaRPr lang="en-US" altLang="ko-KR" sz="1000" kern="0" dirty="0">
              <a:solidFill>
                <a:srgbClr val="0000FF"/>
              </a:solidFill>
              <a:latin typeface="LG Smart_H Regular" panose="020B0600000101010101" pitchFamily="50" charset="-127"/>
              <a:ea typeface="LG Smart_H Regular"/>
              <a:cs typeface="Arial"/>
            </a:endParaRP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lang="en-US" altLang="ko-KR" sz="1000" i="0" u="none" strike="noStrike" cap="none" spc="0" normalizeH="0" noProof="0" dirty="0">
              <a:ln>
                <a:noFill/>
              </a:ln>
              <a:effectLst/>
              <a:uLnTx/>
              <a:uFillTx/>
              <a:latin typeface="LG Smart_H Regular" panose="020B0600000101010101" pitchFamily="50" charset="-127"/>
              <a:ea typeface="LG Smart_H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ko-KR" altLang="en-US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</a:t>
            </a:r>
            <a:r>
              <a:rPr lang="en-US" altLang="ko-KR" sz="1000" dirty="0">
                <a:latin typeface="LG Smart_H Regular" panose="020B0600000101010101" pitchFamily="50" charset="-127"/>
                <a:ea typeface="LG Smart_H Regular"/>
                <a:cs typeface="Malgun Gothic Semilight"/>
              </a:rPr>
              <a:t>2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. </a:t>
            </a:r>
            <a:r>
              <a:rPr lang="ko-KR" altLang="en-US" sz="1000" i="0" u="none" strike="noStrike" cap="none" spc="0" normalizeH="0" noProof="0" dirty="0" err="1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아웃소싱업체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품질관리 동일성 체계 구축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(</a:t>
            </a:r>
            <a:r>
              <a:rPr lang="ko-KR" altLang="en-US" sz="1000" i="0" u="none" strike="noStrike" cap="none" spc="0" normalizeH="0" noProof="0" dirty="0" err="1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피플웍스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)​</a:t>
            </a: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  - </a:t>
            </a:r>
            <a:r>
              <a:rPr lang="ko-KR" altLang="en-US" sz="1000" i="0" u="none" strike="noStrike" cap="none" spc="0" normalizeH="0" noProof="0" dirty="0" err="1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피플웍스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ESS Packer(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社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)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의 품질관리 수준을 자사와 동등 수준으로 관리되기 위해 </a:t>
            </a:r>
            <a:r>
              <a:rPr lang="ko-KR" altLang="en-US" sz="1000" i="0" u="none" strike="noStrike" cap="none" spc="0" normalizeH="0" noProof="0" dirty="0" err="1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피플웍스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시카고 공장을 대상으로 품질 관리 측면의 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IT 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시스템 구축 과제 입니다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.​</a:t>
            </a: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  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-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피플웍스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ESS Pack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출하제품의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고객 유출 방지 강화 목적으로 </a:t>
            </a:r>
            <a:r>
              <a:rPr lang="en-US" altLang="ko-KR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Packer</a:t>
            </a:r>
            <a:r>
              <a:rPr lang="ko-KR" altLang="en-US" sz="1000" i="0" u="none" strike="noStrike" cap="none" spc="0" normalizeH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Malgun Gothic Semilight"/>
              </a:rPr>
              <a:t>사에서 생산한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고객 출하품에 대해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①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LGES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출하 승인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인터락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kumimoji="1" lang="ko-KR" altLang="en-US" sz="1000" dirty="0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/>
                <a:cs typeface="Arial"/>
                <a:sym typeface="Wingdings" panose="05000000000000000000" pitchFamily="2" charset="2"/>
              </a:rPr>
              <a:t>②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LGES Risk Range HOLD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기능이 적용하기로 </a:t>
            </a:r>
            <a:br>
              <a:rPr lang="en-US" altLang="ko-KR" sz="1000" kern="0" dirty="0">
                <a:latin typeface="LG Smart_H Regular" panose="020B0600000101010101" pitchFamily="50" charset="-127"/>
                <a:ea typeface="LG Smart_H Regular"/>
                <a:cs typeface="Arial"/>
              </a:rPr>
            </a:b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협의 하였고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기능 개발 완료 되었습니다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.(12/10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)  </a:t>
            </a:r>
            <a:endParaRPr lang="en-US" altLang="ko-KR" sz="1000" kern="0" dirty="0">
              <a:solidFill>
                <a:srgbClr val="0000FF"/>
              </a:solidFill>
              <a:latin typeface="LG Smart_H Regular" panose="020B0600000101010101" pitchFamily="50" charset="-127"/>
              <a:ea typeface="LG Smart_H Regular"/>
              <a:cs typeface="Arial"/>
            </a:endParaRPr>
          </a:p>
          <a:p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①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LGES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출하 승인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인터락은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피플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웍스에서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생산한 제품이 고객출하시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LGES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담당자에게 출하 요청을 하고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LGES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담당자가 출하 승인을 해야 출하되며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승인이 없으면 출하 금지되도록 </a:t>
            </a:r>
            <a:br>
              <a:rPr lang="en-US" altLang="ko-KR" sz="1000" kern="0" dirty="0">
                <a:latin typeface="LG Smart_H Regular" panose="020B0600000101010101" pitchFamily="50" charset="-127"/>
                <a:ea typeface="LG Smart_H Regular"/>
                <a:cs typeface="Arial"/>
              </a:rPr>
            </a:b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    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시스템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인터락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적용 하였습니다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오픈 이후 실적 모니터링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진행시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출하승인 요청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22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건에 대해서 정상적으로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인터락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적용이 되고 있음을 확인하였습니다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.(12/15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)</a:t>
            </a:r>
            <a:endParaRPr lang="en-US" altLang="ko-KR" sz="1000" kern="0" dirty="0">
              <a:solidFill>
                <a:srgbClr val="0000FF"/>
              </a:solidFill>
              <a:latin typeface="LG Smart_H Regular" panose="020B0600000101010101" pitchFamily="50" charset="-127"/>
              <a:ea typeface="LG Smart_H Regular"/>
              <a:cs typeface="Arial"/>
            </a:endParaRP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② LGES Risk Range HOLD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는 자사에서 생산한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Cell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부터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Risk Range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가 설정되고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해당셀이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피플웍스에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출하된 경우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자사 시스템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→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피플웍스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시스템과의 연계하여 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LGES Risk Range </a:t>
            </a:r>
            <a:endParaRPr lang="en-US" altLang="ko-KR" sz="1000" kern="0" dirty="0">
              <a:solidFill>
                <a:srgbClr val="0000FF"/>
              </a:solidFill>
              <a:latin typeface="LG Smart_H Regular" panose="020B0600000101010101" pitchFamily="50" charset="-127"/>
              <a:ea typeface="LG Smart_H Regular"/>
              <a:cs typeface="Arial"/>
            </a:endParaRP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     HOLD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품이 고객으로 출하되지 않도록 시스템 기능 구축 하였습니다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 </a:t>
            </a:r>
            <a:r>
              <a:rPr lang="ko-KR" altLang="en-US" sz="1000" kern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오픈후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사용자 실적이 발생하지 않아 자체 테스트를 진행하였고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자체테스트 결과 자사에서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HOLD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요청한 대상이 </a:t>
            </a:r>
            <a:br>
              <a:rPr lang="en-US" altLang="ko-KR" sz="1000" kern="0" dirty="0">
                <a:latin typeface="LG Smart_H Regular" panose="020B0600000101010101" pitchFamily="50" charset="-127"/>
                <a:ea typeface="LG Smart_H Regular"/>
                <a:cs typeface="Arial"/>
              </a:rPr>
            </a:b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    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정상적으로 출하 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HOLD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제어된 결과를 확인하였습니다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 </a:t>
            </a:r>
            <a:endParaRPr lang="en-US" altLang="ko-KR" sz="1000" kern="0" dirty="0">
              <a:solidFill>
                <a:srgbClr val="0000FF"/>
              </a:solidFill>
              <a:latin typeface="LG Smart_H Regular" panose="020B0600000101010101" pitchFamily="50" charset="-127"/>
              <a:ea typeface="LG Smart_H Regular"/>
              <a:cs typeface="Arial"/>
            </a:endParaRP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-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실제 운영데이터 실적 모니터링을 지속 진행하고</a:t>
            </a:r>
            <a:r>
              <a:rPr lang="en-US" altLang="ko-KR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사용자 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VOE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확인 하도록 하겠습니다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. </a:t>
            </a: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lang="en-US" altLang="ko-KR" sz="1000" kern="0" dirty="0">
              <a:solidFill>
                <a:srgbClr val="0000FF"/>
              </a:solidFill>
              <a:latin typeface="LG Smart_H Regular" panose="020B0600000101010101" pitchFamily="50" charset="-127"/>
              <a:ea typeface="LG Smart_H Regular" panose="020B0600000101010101" pitchFamily="50" charset="-127"/>
              <a:cs typeface="Arial"/>
              <a:sym typeface="Wingdings" panose="05000000000000000000" pitchFamily="2" charset="2"/>
            </a:endParaRPr>
          </a:p>
          <a:p>
            <a:pPr marL="0" marR="0" lv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</a:rPr>
              <a:t>3.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</a:rPr>
              <a:t>제품 초기 안정화 관리 체계 구축</a:t>
            </a:r>
            <a:endParaRPr lang="en-US" altLang="ko-KR" sz="1000" kern="0" dirty="0">
              <a:solidFill>
                <a:prstClr val="black"/>
              </a:solidFill>
              <a:latin typeface="LG Smart_H Regular" panose="020B0600000101010101" pitchFamily="50" charset="-127"/>
              <a:ea typeface="LG Smart_H Regular"/>
              <a:cs typeface="Arial"/>
            </a:endParaRPr>
          </a:p>
          <a:p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-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오프라인으로 관리 되고 있는 신규 개발 제품의 초기 안정화 계획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수립 및 운영을 시스템 기반으로 관리 되도록 하여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계획대비 실적에 대한 진척 관리로 업무 실행의 누락을 방지하고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, </a:t>
            </a:r>
            <a:br>
              <a:rPr lang="en-US" altLang="ko-KR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LG Smart_H Regular" panose="020B0600000101010101" pitchFamily="50" charset="-127"/>
                <a:ea typeface="LG Smart_H Regular" panose="020B0600000101010101" pitchFamily="50" charset="-127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시스템 간 연계를 통해 관리 대상 항목의 실적을  자동으로 수집 및 시스템 자동 입력 되도록 하는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업무 효율화를 위한 개선 과제 입니다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.</a:t>
            </a:r>
            <a:r>
              <a:rPr lang="en-US" altLang="ko-KR" sz="1000" kern="0" dirty="0">
                <a:solidFill>
                  <a:prstClr val="black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</a:t>
            </a:r>
            <a:br>
              <a:rPr lang="en-US" altLang="ko-KR" sz="1000" kern="0" dirty="0">
                <a:latin typeface="LG Smart_H Regular" panose="020B0600000101010101" pitchFamily="50" charset="-127"/>
                <a:ea typeface="LG Smart_H Regular"/>
                <a:cs typeface="Arial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  -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제품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 초기 안정화 관리 시스템을 전 법인 대상으로 오픈 하였고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(12/10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일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), </a:t>
            </a:r>
            <a:r>
              <a:rPr lang="ko-KR" altLang="en-US" sz="1000" kern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Arial"/>
                <a:sym typeface="Wingdings" panose="05000000000000000000" pitchFamily="2" charset="2"/>
              </a:rPr>
              <a:t>운영 상태에 대한 점검을 수행을 시스템 운영 데이터 기반으로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스케줄러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및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화면 정상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여부 확인 필요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24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건에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</a:t>
            </a:r>
            <a:br>
              <a:rPr lang="en-US" altLang="ko-KR" sz="1000" dirty="0">
                <a:latin typeface="LG Smart_H Regular" panose="020B0600000101010101" pitchFamily="50" charset="-127"/>
                <a:ea typeface="LG Smart_H Regular"/>
                <a:cs typeface="Malgun Gothic Semilight"/>
              </a:rPr>
            </a:b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   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대해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점검 완료 하였습니다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.(</a:t>
            </a:r>
            <a:r>
              <a:rPr 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+mn-lt"/>
                <a:cs typeface="Malgun Gothic Semilight"/>
              </a:rPr>
              <a:t>12/11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일)</a:t>
            </a:r>
            <a:r>
              <a:rPr 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 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PLM</a:t>
            </a:r>
            <a:r>
              <a:rPr lang="ko-KR" altLang="en-US" sz="100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으로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</a:t>
            </a:r>
            <a:r>
              <a:rPr lang="ko-KR" altLang="en-US" sz="100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부터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프로젝트 정보 수신 받아 초기안정화 관리대장에 실제 운영데이터 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2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건 생성되었으며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,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메일로 알람 전송 여부까지 확인결과 정상적으로 </a:t>
            </a:r>
            <a:br>
              <a:rPr lang="ko-KR" altLang="en-US" sz="1000" dirty="0">
                <a:latin typeface="LG Smart_H Regular" panose="020B0600000101010101" pitchFamily="50" charset="-127"/>
                <a:ea typeface="LG Smart_H Regular"/>
                <a:cs typeface="Malgun Gothic Semilight"/>
              </a:rPr>
            </a:b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    작동 중이며 이후 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Activity(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계획등록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) </a:t>
            </a:r>
            <a:r>
              <a:rPr lang="ko-KR" altLang="en-US" sz="100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부터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완료 처리 될 때까지의 관리 현황을 지속 모니터링하고 사용자 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VOE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확인하도록 하겠습니다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. </a:t>
            </a:r>
            <a:endParaRPr lang="en-US" altLang="ko-KR" sz="1000" dirty="0">
              <a:solidFill>
                <a:srgbClr val="0000FF"/>
              </a:solidFill>
              <a:ea typeface="LG Smart_H Regular"/>
              <a:cs typeface="Malgun Gothic Semilight"/>
            </a:endParaRPr>
          </a:p>
          <a:p>
            <a:pPr>
              <a:defRPr/>
            </a:pP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  -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추가 진행해야 할 사항으로는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SPC+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의 </a:t>
            </a:r>
            <a:r>
              <a:rPr lang="en-US" altLang="ko-KR" sz="1000" b="0" kern="1200" baseline="0" dirty="0" err="1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Cpk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값 자동 연계가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OC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법인만 설정되어 있는 것을 확인하여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,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오픈 이후 우선순위 고려하여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WA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법인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대상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배포 완료하였습니다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.(12/15) ​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     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자동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/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수동연계는 선택사항으로 시스템 활용은 정상적으로 가능하나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,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사용자의 편의성 개선을 위해 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나머지 법인도 신속히 처리하도록 하겠습니다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. 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(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12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월 </a:t>
            </a:r>
            <a:r>
              <a:rPr lang="en-US" altLang="ko-KR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26</a:t>
            </a:r>
            <a:r>
              <a:rPr lang="ko-KR" altLang="en-US" sz="1000" b="0" kern="1200" baseline="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일 완료 </a:t>
            </a:r>
            <a:r>
              <a:rPr lang="ko-KR" altLang="en-US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목표</a:t>
            </a:r>
            <a:r>
              <a:rPr lang="en-US" altLang="ko-KR" sz="1000" dirty="0">
                <a:solidFill>
                  <a:srgbClr val="0000FF"/>
                </a:solidFill>
                <a:latin typeface="LG Smart_H Regular" panose="020B0600000101010101" pitchFamily="50" charset="-127"/>
                <a:ea typeface="LG Smart_H Regular"/>
                <a:cs typeface="Malgun Gothic Semilight"/>
              </a:rPr>
              <a:t>)</a:t>
            </a:r>
            <a:endParaRPr lang="en-US" altLang="ko-KR" sz="1000" dirty="0">
              <a:solidFill>
                <a:srgbClr val="0000FF"/>
              </a:solidFill>
              <a:latin typeface="LG Smart_H Regular" panose="020B0600000101010101" pitchFamily="50" charset="-127"/>
              <a:ea typeface="LG Smart_H Regular" panose="020B0600000101010101" pitchFamily="50" charset="-127"/>
              <a:cs typeface="Malgun Gothic Semilight"/>
            </a:endParaRPr>
          </a:p>
          <a:p>
            <a:pPr marL="0" marR="0" lvl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/>
            </a:pPr>
            <a:endParaRPr lang="ko-KR" altLang="en-US" sz="1000" dirty="0">
              <a:solidFill>
                <a:srgbClr val="000000"/>
              </a:solidFill>
              <a:latin typeface="Arial Narrow"/>
              <a:ea typeface="LG Smart_H Regular"/>
            </a:endParaRPr>
          </a:p>
          <a:p>
            <a:pPr>
              <a:defRPr/>
            </a:pP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4. 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소형 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NFF/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원통형 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PDS 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신규 구축</a:t>
            </a:r>
            <a:b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</a:b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ko-KR" alt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  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-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 자동차 파우치형에 구축되어 있는 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PDS 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시스템을 소형 원통형에 신규 적용하기 위한 과제입니다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.(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오픈 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Target : OC9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동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_’26.6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월 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/ ESAZ_’26.7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월</a:t>
            </a:r>
            <a:r>
              <a:rPr 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)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 </a:t>
            </a:r>
            <a:b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</a:b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ko-KR" altLang="en-US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  </a:t>
            </a:r>
            <a:r>
              <a:rPr lang="en-US" alt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-</a:t>
            </a:r>
            <a:r>
              <a:rPr lang="ko-KR" sz="1000" dirty="0">
                <a:solidFill>
                  <a:prstClr val="black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 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26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년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6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월 </a:t>
            </a:r>
            <a:r>
              <a:rPr lang="en-US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OC9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동 </a:t>
            </a:r>
            <a:r>
              <a:rPr lang="en-US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NFF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대상 </a:t>
            </a:r>
            <a:r>
              <a:rPr lang="en-US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PDS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구축을 위하여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1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월부터 인력 투입을 위하여 </a:t>
            </a:r>
            <a:r>
              <a:rPr lang="ko-KR" sz="1000" dirty="0" err="1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선투입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품의를 준비하고 있으며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,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프로젝트 발의를 위한 그룹장님 투자심의를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(12/23)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준비 중이고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,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CDO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님 투자심의를</a:t>
            </a:r>
            <a:b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</a:b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  </a:t>
            </a:r>
            <a:r>
              <a:rPr lang="ko-KR" altLang="en-US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 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1/5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~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1/9</a:t>
            </a:r>
            <a:r>
              <a:rPr 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 진행하여 프로젝트 진행에 이상이 없도록 하겠습니다</a:t>
            </a:r>
            <a:r>
              <a:rPr lang="en-US" altLang="ko-KR" sz="1000" dirty="0">
                <a:solidFill>
                  <a:srgbClr val="0000FF"/>
                </a:solidFill>
                <a:latin typeface="Arial Narrow"/>
                <a:ea typeface="LG스마트체 Regular"/>
                <a:cs typeface="Arial"/>
              </a:rPr>
              <a:t>.</a:t>
            </a:r>
            <a:endParaRPr lang="ko-KR" altLang="en-US" dirty="0"/>
          </a:p>
          <a:p>
            <a:pPr>
              <a:defRPr/>
            </a:pPr>
            <a:endParaRPr lang="en-US" altLang="ko-KR" sz="1000" dirty="0">
              <a:solidFill>
                <a:srgbClr val="0000FF"/>
              </a:solidFill>
              <a:latin typeface="Arial Narrow"/>
              <a:ea typeface="LG스마트체 Regular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485641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금주 진행사항 (W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51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,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12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</a:rPr>
                        <a:t>/14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~)</a:t>
                      </a:r>
                      <a:endParaRPr lang="ko-KR" altLang="ko-KR" sz="900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‘26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년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소형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NFF/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원통형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PDS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확산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ESOC9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ESAZ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~ ’26.06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ESOC9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~ ’26.07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ESAZ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김효석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박기욱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장대국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이기랑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S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5777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‘26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년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소형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NFF/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원통형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PDS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확산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048796" y="572550"/>
            <a:ext cx="163827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LG스마트체 Regular"/>
                <a:ea typeface="LG스마트체 Regular"/>
                <a:cs typeface="Malgun Gothic Semilight"/>
              </a:rPr>
              <a:t>: 12/15 14</a:t>
            </a: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188960" y="403273"/>
            <a:ext cx="97943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이기랑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1EC3007C-1F3B-4839-BA78-F6881887571D}"/>
              </a:ext>
            </a:extLst>
          </p:cNvPr>
          <p:cNvGraphicFramePr>
            <a:graphicFrameLocks noGrp="1"/>
          </p:cNvGraphicFramePr>
          <p:nvPr/>
        </p:nvGraphicFramePr>
        <p:xfrm>
          <a:off x="1651189" y="1084046"/>
          <a:ext cx="6972241" cy="523756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224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196148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W),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’26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년도 소형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NFF PDS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확산과 고도화 개선을 위해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월말 그룹장님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‘26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월초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CDO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님 투자심의 준비중입니다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1961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1924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 적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소형사업부 요청에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따라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NFF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및 원통형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Biz.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 필요한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신규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기능 구축 및 법인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(OC9, AZ)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확산을 하고자 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정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3.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사항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소형사업부 확산 및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고도화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PJT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 필요한 요건을 검토 완료 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(11/19)</a:t>
                      </a:r>
                    </a:p>
                    <a:p>
                      <a:pPr algn="l" fontAlgn="ctr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①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소형사업부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NFF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사업부 확장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-.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작업의뢰서 신규 화면 기능 개발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자동차 파우치 재활용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-.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작업지시서 신규 화면 기능 개발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-.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작업의뢰 및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CP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일괄 완료 기능 개발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②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PDS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작업성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기능성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고도화 개선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③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사업부 확장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-.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다중 법인에서 생산하는 동일 제품의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연계 기능 개발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(JF2)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2)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사업부 간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Biz.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의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Fit Gap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분석을 진행하고 상세 요구사항을 분석하고 있습니다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(~12/30)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① 일부 항목은 상세 요건 정의가 필요하여 현업 담당자와 지속 협의하고 있습니다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② 작업지시 업무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기능은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도입됨에 따라 필수로 시스템화 해야 하는지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PO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부서와 확인하고 있습니다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-.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작업지시 관련 업무 협의를 진행했습니다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(11/18_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참석자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생산팀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NFF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최진용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책임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주찬우 책임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품질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팀 김효석 외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→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작업지시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기존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PLM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에서 작성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 대한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반영 방식 논의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설비별이 아닌 대표 작업지시를 일괄 또는 개별 적용 할 수 있는 방안 등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lvl="0" algn="l"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→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작업지시서의 경우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믹싱 총 투입량이 상황에 따라 변경 될 수 있게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비율은 동일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사용량 대비 공차 변경 등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기능 개발 필요 </a:t>
                      </a: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buNone/>
                      </a:pP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→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추가 요구 사항들 상세 요구사항들은 별도 생산팀에서 취합하여 전달 예정이며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이후 시점에 별도 업무 협의 진행 예정 </a:t>
                      </a:r>
                      <a:r>
                        <a:rPr kumimoji="0"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(~11/25)</a:t>
                      </a: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7DB1891B-D8E5-41E1-AA2C-61C88F1B66C9}"/>
              </a:ext>
            </a:extLst>
          </p:cNvPr>
          <p:cNvGraphicFramePr>
            <a:graphicFrameLocks noGrp="1"/>
          </p:cNvGraphicFramePr>
          <p:nvPr/>
        </p:nvGraphicFramePr>
        <p:xfrm>
          <a:off x="1775018" y="1980843"/>
          <a:ext cx="6848420" cy="1540570"/>
        </p:xfrm>
        <a:graphic>
          <a:graphicData uri="http://schemas.openxmlformats.org/drawingml/2006/table">
            <a:tbl>
              <a:tblPr firstRow="1" bandRow="1"/>
              <a:tblGrid>
                <a:gridCol w="684842">
                  <a:extLst>
                    <a:ext uri="{9D8B030D-6E8A-4147-A177-3AD203B41FA5}">
                      <a16:colId xmlns:a16="http://schemas.microsoft.com/office/drawing/2014/main" val="3402395152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1455220654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3464623940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2627347537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2282022191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2604731860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1956769158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3294666342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2818136572"/>
                    </a:ext>
                  </a:extLst>
                </a:gridCol>
                <a:gridCol w="684842">
                  <a:extLst>
                    <a:ext uri="{9D8B030D-6E8A-4147-A177-3AD203B41FA5}">
                      <a16:colId xmlns:a16="http://schemas.microsoft.com/office/drawing/2014/main" val="651491218"/>
                    </a:ext>
                  </a:extLst>
                </a:gridCol>
              </a:tblGrid>
              <a:tr h="2451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25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년 </a:t>
                      </a:r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10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11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12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‘26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년 </a:t>
                      </a:r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2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3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4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5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6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7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5756702"/>
                  </a:ext>
                </a:extLst>
              </a:tr>
              <a:tr h="1295457"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6451098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90670BE2-C0EC-4710-8F1F-7E265F3A05CE}"/>
              </a:ext>
            </a:extLst>
          </p:cNvPr>
          <p:cNvGrpSpPr/>
          <p:nvPr/>
        </p:nvGrpSpPr>
        <p:grpSpPr>
          <a:xfrm>
            <a:off x="6440853" y="1796022"/>
            <a:ext cx="1958826" cy="115939"/>
            <a:chOff x="6655666" y="2452379"/>
            <a:chExt cx="1958826" cy="115939"/>
          </a:xfrm>
        </p:grpSpPr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A18D3DEE-5207-4FFE-8A94-4C980A990A14}"/>
                </a:ext>
              </a:extLst>
            </p:cNvPr>
            <p:cNvGrpSpPr/>
            <p:nvPr/>
          </p:nvGrpSpPr>
          <p:grpSpPr>
            <a:xfrm>
              <a:off x="6655666" y="2452379"/>
              <a:ext cx="440586" cy="115939"/>
              <a:chOff x="3052295" y="5567399"/>
              <a:chExt cx="440586" cy="115939"/>
            </a:xfrm>
          </p:grpSpPr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C8501FDA-C7A3-4701-87F4-9811B51817B2}"/>
                  </a:ext>
                </a:extLst>
              </p:cNvPr>
              <p:cNvSpPr/>
              <p:nvPr/>
            </p:nvSpPr>
            <p:spPr>
              <a:xfrm>
                <a:off x="3052295" y="5567399"/>
                <a:ext cx="106532" cy="101729"/>
              </a:xfrm>
              <a:prstGeom prst="rect">
                <a:avLst/>
              </a:prstGeom>
              <a:solidFill>
                <a:srgbClr val="00206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2" name="Text Box 198">
                <a:extLst>
                  <a:ext uri="{FF2B5EF4-FFF2-40B4-BE49-F238E27FC236}">
                    <a16:creationId xmlns:a16="http://schemas.microsoft.com/office/drawing/2014/main" id="{AE16BBD4-4EDE-49C2-A986-64C44B8CCA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4024" y="5571118"/>
                <a:ext cx="278857" cy="112220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 anchorCtr="0">
                <a:no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1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Pct val="85000"/>
                  <a:buFontTx/>
                  <a:buNone/>
                  <a:tabLst>
                    <a:tab pos="723900" algn="l"/>
                  </a:tabLst>
                  <a:defRPr/>
                </a:pP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rPr>
                  <a:t>완료</a:t>
                </a:r>
              </a:p>
            </p:txBody>
          </p:sp>
        </p:grp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ED3B451B-90DE-4FC8-90CF-28379A8D49E3}"/>
                </a:ext>
              </a:extLst>
            </p:cNvPr>
            <p:cNvGrpSpPr/>
            <p:nvPr/>
          </p:nvGrpSpPr>
          <p:grpSpPr>
            <a:xfrm>
              <a:off x="7153813" y="2452379"/>
              <a:ext cx="908594" cy="115939"/>
              <a:chOff x="3052295" y="5567399"/>
              <a:chExt cx="908594" cy="115939"/>
            </a:xfrm>
          </p:grpSpPr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B46A0311-033B-4CB7-B04B-FBF3B32EB8D8}"/>
                  </a:ext>
                </a:extLst>
              </p:cNvPr>
              <p:cNvSpPr/>
              <p:nvPr/>
            </p:nvSpPr>
            <p:spPr>
              <a:xfrm>
                <a:off x="3052295" y="5567399"/>
                <a:ext cx="106532" cy="101729"/>
              </a:xfrm>
              <a:prstGeom prst="rect">
                <a:avLst/>
              </a:prstGeom>
              <a:solidFill>
                <a:srgbClr val="92D05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0" name="Text Box 198">
                <a:extLst>
                  <a:ext uri="{FF2B5EF4-FFF2-40B4-BE49-F238E27FC236}">
                    <a16:creationId xmlns:a16="http://schemas.microsoft.com/office/drawing/2014/main" id="{0D5455CE-336D-4053-871E-6AAC0C455E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4024" y="5571118"/>
                <a:ext cx="278857" cy="112220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 anchorCtr="0">
                <a:no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1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Pct val="85000"/>
                  <a:buFontTx/>
                  <a:buNone/>
                  <a:tabLst>
                    <a:tab pos="723900" algn="l"/>
                  </a:tabLst>
                  <a:defRPr/>
                </a:pP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rPr>
                  <a:t>진행</a:t>
                </a:r>
              </a:p>
            </p:txBody>
          </p:sp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7CF4ECC8-54C5-24F2-E02D-E90502289295}"/>
                  </a:ext>
                </a:extLst>
              </p:cNvPr>
              <p:cNvSpPr/>
              <p:nvPr/>
            </p:nvSpPr>
            <p:spPr>
              <a:xfrm>
                <a:off x="3520303" y="5567399"/>
                <a:ext cx="106532" cy="101729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8" name="Text Box 198">
                <a:extLst>
                  <a:ext uri="{FF2B5EF4-FFF2-40B4-BE49-F238E27FC236}">
                    <a16:creationId xmlns:a16="http://schemas.microsoft.com/office/drawing/2014/main" id="{61E7ED9E-8E46-C14B-E1C3-3ED715009B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2032" y="5571118"/>
                <a:ext cx="278857" cy="112220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 anchorCtr="0">
                <a:no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1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Pct val="85000"/>
                  <a:buFontTx/>
                  <a:buNone/>
                  <a:tabLst>
                    <a:tab pos="723900" algn="l"/>
                  </a:tabLst>
                  <a:defRPr/>
                </a:pPr>
                <a:r>
                  <a:rPr kumimoji="0" lang="ko-KR" altLang="en-US" sz="8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rPr>
                  <a:t>미진행</a:t>
                </a:r>
                <a:endPara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B3DB3754-57D5-449D-8D7E-C4F3ECBF1E39}"/>
                </a:ext>
              </a:extLst>
            </p:cNvPr>
            <p:cNvGrpSpPr/>
            <p:nvPr/>
          </p:nvGrpSpPr>
          <p:grpSpPr>
            <a:xfrm>
              <a:off x="8173906" y="2452379"/>
              <a:ext cx="440586" cy="115939"/>
              <a:chOff x="3103667" y="5567399"/>
              <a:chExt cx="440586" cy="115939"/>
            </a:xfrm>
          </p:grpSpPr>
          <p:sp>
            <p:nvSpPr>
              <p:cNvPr id="45" name="직사각형 44">
                <a:extLst>
                  <a:ext uri="{FF2B5EF4-FFF2-40B4-BE49-F238E27FC236}">
                    <a16:creationId xmlns:a16="http://schemas.microsoft.com/office/drawing/2014/main" id="{6929FCBF-E91C-43DA-8D99-2CE12B89BFAB}"/>
                  </a:ext>
                </a:extLst>
              </p:cNvPr>
              <p:cNvSpPr/>
              <p:nvPr/>
            </p:nvSpPr>
            <p:spPr>
              <a:xfrm>
                <a:off x="3103667" y="5567399"/>
                <a:ext cx="106532" cy="10172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6" name="Text Box 198">
                <a:extLst>
                  <a:ext uri="{FF2B5EF4-FFF2-40B4-BE49-F238E27FC236}">
                    <a16:creationId xmlns:a16="http://schemas.microsoft.com/office/drawing/2014/main" id="{ABEEDD7F-CB18-4771-B54B-965048BAFC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5396" y="5571118"/>
                <a:ext cx="278857" cy="112220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 anchorCtr="0">
                <a:no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1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Pct val="85000"/>
                  <a:buFontTx/>
                  <a:buNone/>
                  <a:tabLst>
                    <a:tab pos="723900" algn="l"/>
                  </a:tabLst>
                  <a:defRPr/>
                </a:pP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rPr>
                  <a:t>지연</a:t>
                </a:r>
              </a:p>
            </p:txBody>
          </p:sp>
        </p:grpSp>
      </p:grpSp>
      <p:sp>
        <p:nvSpPr>
          <p:cNvPr id="10" name="오각형 214">
            <a:extLst>
              <a:ext uri="{FF2B5EF4-FFF2-40B4-BE49-F238E27FC236}">
                <a16:creationId xmlns:a16="http://schemas.microsoft.com/office/drawing/2014/main" id="{43A7BC50-3CB7-F651-1BD1-C46FA8CF783E}"/>
              </a:ext>
            </a:extLst>
          </p:cNvPr>
          <p:cNvSpPr/>
          <p:nvPr/>
        </p:nvSpPr>
        <p:spPr bwMode="auto">
          <a:xfrm>
            <a:off x="3165992" y="2254477"/>
            <a:ext cx="571180" cy="157183"/>
          </a:xfrm>
          <a:prstGeom prst="homePlate">
            <a:avLst>
              <a:gd name="adj" fmla="val 31784"/>
            </a:avLst>
          </a:prstGeom>
          <a:solidFill>
            <a:srgbClr val="92D050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+mn-ea"/>
              </a:rPr>
              <a:t>IT </a:t>
            </a:r>
            <a:r>
              <a:rPr lang="ko-KR" altLang="en-US" sz="800">
                <a:solidFill>
                  <a:prstClr val="black"/>
                </a:solidFill>
                <a:latin typeface="+mn-ea"/>
              </a:rPr>
              <a:t>투자 심의</a:t>
            </a:r>
          </a:p>
        </p:txBody>
      </p:sp>
      <p:sp>
        <p:nvSpPr>
          <p:cNvPr id="13" name="오각형 214">
            <a:extLst>
              <a:ext uri="{FF2B5EF4-FFF2-40B4-BE49-F238E27FC236}">
                <a16:creationId xmlns:a16="http://schemas.microsoft.com/office/drawing/2014/main" id="{49E0688F-EA0F-1FD7-A3A8-890F46F7A207}"/>
              </a:ext>
            </a:extLst>
          </p:cNvPr>
          <p:cNvSpPr/>
          <p:nvPr/>
        </p:nvSpPr>
        <p:spPr bwMode="auto">
          <a:xfrm>
            <a:off x="1841175" y="2256158"/>
            <a:ext cx="1277660" cy="157183"/>
          </a:xfrm>
          <a:prstGeom prst="homePlate">
            <a:avLst>
              <a:gd name="adj" fmla="val 31784"/>
            </a:avLst>
          </a:prstGeom>
          <a:solidFill>
            <a:srgbClr val="92D050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+mn-ea"/>
              </a:rPr>
              <a:t>Fit Gap </a:t>
            </a:r>
            <a:r>
              <a:rPr lang="ko-KR" altLang="en-US" sz="800">
                <a:solidFill>
                  <a:prstClr val="black"/>
                </a:solidFill>
                <a:latin typeface="+mn-ea"/>
              </a:rPr>
              <a:t>분석</a:t>
            </a:r>
            <a:r>
              <a:rPr lang="en-US" altLang="ko-KR" sz="80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800">
                <a:solidFill>
                  <a:prstClr val="black"/>
                </a:solidFill>
                <a:latin typeface="+mn-ea"/>
              </a:rPr>
              <a:t>요구사항 정의</a:t>
            </a:r>
          </a:p>
        </p:txBody>
      </p:sp>
      <p:sp>
        <p:nvSpPr>
          <p:cNvPr id="20" name="오각형 214">
            <a:extLst>
              <a:ext uri="{FF2B5EF4-FFF2-40B4-BE49-F238E27FC236}">
                <a16:creationId xmlns:a16="http://schemas.microsoft.com/office/drawing/2014/main" id="{203A99C3-B0B4-FA68-83DA-E5CC0FC292C1}"/>
              </a:ext>
            </a:extLst>
          </p:cNvPr>
          <p:cNvSpPr/>
          <p:nvPr/>
        </p:nvSpPr>
        <p:spPr bwMode="auto">
          <a:xfrm>
            <a:off x="7297927" y="2888868"/>
            <a:ext cx="571180" cy="278458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+mn-ea"/>
              </a:rPr>
              <a:t>OC9 NFF</a:t>
            </a: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+mn-ea"/>
              </a:rPr>
              <a:t>PDS </a:t>
            </a:r>
            <a:r>
              <a:rPr lang="ko-KR" altLang="en-US" sz="800">
                <a:solidFill>
                  <a:prstClr val="black"/>
                </a:solidFill>
                <a:latin typeface="+mn-ea"/>
              </a:rPr>
              <a:t>확산</a:t>
            </a:r>
          </a:p>
        </p:txBody>
      </p:sp>
      <p:sp>
        <p:nvSpPr>
          <p:cNvPr id="21" name="오각형 214">
            <a:extLst>
              <a:ext uri="{FF2B5EF4-FFF2-40B4-BE49-F238E27FC236}">
                <a16:creationId xmlns:a16="http://schemas.microsoft.com/office/drawing/2014/main" id="{15D34A8C-F85C-503E-E1C9-757FE50642C8}"/>
              </a:ext>
            </a:extLst>
          </p:cNvPr>
          <p:cNvSpPr/>
          <p:nvPr/>
        </p:nvSpPr>
        <p:spPr bwMode="auto">
          <a:xfrm>
            <a:off x="7914555" y="2962372"/>
            <a:ext cx="322416" cy="142894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+mn-ea"/>
              </a:rPr>
              <a:t>안정화</a:t>
            </a:r>
          </a:p>
        </p:txBody>
      </p:sp>
      <p:sp>
        <p:nvSpPr>
          <p:cNvPr id="22" name="오각형 214">
            <a:extLst>
              <a:ext uri="{FF2B5EF4-FFF2-40B4-BE49-F238E27FC236}">
                <a16:creationId xmlns:a16="http://schemas.microsoft.com/office/drawing/2014/main" id="{72ECDA7D-F5C5-EC1E-3FBF-090F1A42417B}"/>
              </a:ext>
            </a:extLst>
          </p:cNvPr>
          <p:cNvSpPr/>
          <p:nvPr/>
        </p:nvSpPr>
        <p:spPr bwMode="auto">
          <a:xfrm>
            <a:off x="6207693" y="2784679"/>
            <a:ext cx="1011881" cy="142894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+mn-ea"/>
              </a:rPr>
              <a:t>통합</a:t>
            </a:r>
            <a:r>
              <a:rPr lang="en-US" altLang="ko-KR" sz="800">
                <a:solidFill>
                  <a:prstClr val="black"/>
                </a:solidFill>
                <a:latin typeface="+mn-ea"/>
              </a:rPr>
              <a:t>&amp;</a:t>
            </a:r>
            <a:r>
              <a:rPr lang="ko-KR" altLang="en-US" sz="800">
                <a:solidFill>
                  <a:prstClr val="black"/>
                </a:solidFill>
                <a:latin typeface="+mn-ea"/>
              </a:rPr>
              <a:t>사용자 테스트</a:t>
            </a:r>
          </a:p>
        </p:txBody>
      </p:sp>
      <p:sp>
        <p:nvSpPr>
          <p:cNvPr id="42" name="오각형 214">
            <a:extLst>
              <a:ext uri="{FF2B5EF4-FFF2-40B4-BE49-F238E27FC236}">
                <a16:creationId xmlns:a16="http://schemas.microsoft.com/office/drawing/2014/main" id="{AC048942-6010-C2D6-4CAC-448950DB4997}"/>
              </a:ext>
            </a:extLst>
          </p:cNvPr>
          <p:cNvSpPr/>
          <p:nvPr/>
        </p:nvSpPr>
        <p:spPr bwMode="auto">
          <a:xfrm>
            <a:off x="4145524" y="2612708"/>
            <a:ext cx="2385964" cy="142894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+mn-ea"/>
              </a:rPr>
              <a:t>시스템 개발 </a:t>
            </a:r>
            <a:r>
              <a:rPr lang="en-US" altLang="ko-KR" sz="800">
                <a:solidFill>
                  <a:prstClr val="black"/>
                </a:solidFill>
                <a:latin typeface="+mn-ea"/>
              </a:rPr>
              <a:t>&amp; </a:t>
            </a:r>
            <a:r>
              <a:rPr lang="ko-KR" altLang="en-US" sz="800">
                <a:solidFill>
                  <a:prstClr val="black"/>
                </a:solidFill>
                <a:latin typeface="+mn-ea"/>
              </a:rPr>
              <a:t>고도화</a:t>
            </a:r>
          </a:p>
        </p:txBody>
      </p:sp>
      <p:sp>
        <p:nvSpPr>
          <p:cNvPr id="43" name="오각형 214">
            <a:extLst>
              <a:ext uri="{FF2B5EF4-FFF2-40B4-BE49-F238E27FC236}">
                <a16:creationId xmlns:a16="http://schemas.microsoft.com/office/drawing/2014/main" id="{B7929F82-84F5-3FF3-7C2C-5176EBF6B6ED}"/>
              </a:ext>
            </a:extLst>
          </p:cNvPr>
          <p:cNvSpPr/>
          <p:nvPr/>
        </p:nvSpPr>
        <p:spPr bwMode="auto">
          <a:xfrm>
            <a:off x="3652317" y="2440737"/>
            <a:ext cx="836265" cy="142894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+mn-ea"/>
              </a:rPr>
              <a:t>설계</a:t>
            </a:r>
          </a:p>
        </p:txBody>
      </p:sp>
      <p:sp>
        <p:nvSpPr>
          <p:cNvPr id="53" name="오각형 214">
            <a:extLst>
              <a:ext uri="{FF2B5EF4-FFF2-40B4-BE49-F238E27FC236}">
                <a16:creationId xmlns:a16="http://schemas.microsoft.com/office/drawing/2014/main" id="{08EC21AD-8FA5-9178-0A48-9BE6F8D9E658}"/>
              </a:ext>
            </a:extLst>
          </p:cNvPr>
          <p:cNvSpPr/>
          <p:nvPr/>
        </p:nvSpPr>
        <p:spPr bwMode="auto">
          <a:xfrm>
            <a:off x="5592914" y="2784679"/>
            <a:ext cx="571180" cy="142894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>
                <a:solidFill>
                  <a:prstClr val="black"/>
                </a:solidFill>
                <a:latin typeface="+mn-ea"/>
              </a:rPr>
              <a:t>단위 테스트</a:t>
            </a:r>
          </a:p>
        </p:txBody>
      </p:sp>
      <p:sp>
        <p:nvSpPr>
          <p:cNvPr id="54" name="오각형 214">
            <a:extLst>
              <a:ext uri="{FF2B5EF4-FFF2-40B4-BE49-F238E27FC236}">
                <a16:creationId xmlns:a16="http://schemas.microsoft.com/office/drawing/2014/main" id="{444C0661-5029-82D9-D413-38824EFEAAEC}"/>
              </a:ext>
            </a:extLst>
          </p:cNvPr>
          <p:cNvSpPr/>
          <p:nvPr/>
        </p:nvSpPr>
        <p:spPr bwMode="auto">
          <a:xfrm>
            <a:off x="7971328" y="3215212"/>
            <a:ext cx="628298" cy="278458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+mn-ea"/>
              </a:rPr>
              <a:t>ESAZ NFF</a:t>
            </a: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>
                <a:solidFill>
                  <a:prstClr val="black"/>
                </a:solidFill>
                <a:latin typeface="+mn-ea"/>
              </a:rPr>
              <a:t>PDS </a:t>
            </a:r>
            <a:r>
              <a:rPr lang="ko-KR" altLang="en-US" sz="800">
                <a:solidFill>
                  <a:prstClr val="black"/>
                </a:solidFill>
                <a:latin typeface="+mn-ea"/>
              </a:rPr>
              <a:t>확산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29A792-5CEF-9D58-633D-AAA50B068BAB}"/>
              </a:ext>
            </a:extLst>
          </p:cNvPr>
          <p:cNvSpPr/>
          <p:nvPr/>
        </p:nvSpPr>
        <p:spPr>
          <a:xfrm>
            <a:off x="8125320" y="6339311"/>
            <a:ext cx="514885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계속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</a:t>
            </a: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083786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금주 진행사항 (W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51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,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12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</a:rPr>
                        <a:t>/14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~)</a:t>
                      </a:r>
                      <a:endParaRPr lang="ko-KR" altLang="ko-KR" sz="900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‘26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년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소형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NFF/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원통형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PDS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맑은 고딕"/>
                        </a:rPr>
                        <a:t>확산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ESOC9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ESAZ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~ ’26.06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ESOC9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~ ’26.07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ESAZ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김효석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박기욱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장대국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이기랑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S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57779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‘26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년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소형 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NFF/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원통형</a:t>
            </a:r>
            <a:r>
              <a:rPr lang="en-US" altLang="ko-KR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 PDS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확산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048796" y="572550"/>
            <a:ext cx="163827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LG스마트체 Regular"/>
                <a:ea typeface="LG스마트체 Regular"/>
                <a:cs typeface="Malgun Gothic Semilight"/>
              </a:rPr>
              <a:t>: 12/15 14</a:t>
            </a: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188960" y="403273"/>
            <a:ext cx="97943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이기랑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1EC3007C-1F3B-4839-BA78-F6881887571D}"/>
              </a:ext>
            </a:extLst>
          </p:cNvPr>
          <p:cNvGraphicFramePr>
            <a:graphicFrameLocks noGrp="1"/>
          </p:cNvGraphicFramePr>
          <p:nvPr/>
        </p:nvGraphicFramePr>
        <p:xfrm>
          <a:off x="1651189" y="1084046"/>
          <a:ext cx="6972241" cy="55210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224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210964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W),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’26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년도 소형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NFF PDS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확산과 고도화 개선을 위해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월말 그룹장님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‘26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월초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CDO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님 투자심의 준비중입니다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096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509909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3.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사항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계속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③ 소형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NFF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및 원통형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PO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담당자의 업무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R&amp;R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확정을 위해 원통형기술그룹장님에게 보고 완료했습니다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(11/27)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-. ’26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ESOC9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동과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ESAZ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 대상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담당자를 지정했습니다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(12/1)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→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NFF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와인더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이재은 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신정연 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→ 원통형 와인더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김용빈 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신재원 님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-.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원통형기술그룹장님께서 업무 관점에서의 사용자 변화관리 및 업무 프로세스 현행화는 위 담당자가 주관이 되어 진행하라고 지시하셨습니다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④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NFF/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원통형 담당자에게 현재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설명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시연회를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(12/3, 14~16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-.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목적은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NFF/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원통형 담당자가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현행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Process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를 확인하고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NFF/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원통형과의 차이점이 무엇인지 점검하기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위함 입니다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3) IT </a:t>
                      </a: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투자 심의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NFF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확산 적용을 위하여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‘26.01</a:t>
                      </a: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월부터 실제 본작업에 착수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하고자 합</a:t>
                      </a: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② 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제안서를 준비하여 차주(12/22)에 팀장/담당님께 투자심의를 검토받고 그룹장님께 12/23(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화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)에 투자심의를 진행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하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겠습니다.</a:t>
                      </a:r>
                      <a:endParaRPr lang="en-US" altLang="ko-KR" sz="900" kern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③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CDO님의 투자심의는 26년 (1/5~1/9)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주에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진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행 가능하다고 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PI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업무혁신팀에게 전달받아 가능한 일자에 투자 심의 진행하겠습니다</a:t>
                      </a: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.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             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다만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, 6월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소형 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NFF PDS 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오픈을 위한 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개발인력 투입(1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월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)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을 위해 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선투입 품의</a:t>
                      </a:r>
                      <a:r>
                        <a:rPr lang="ko-KR" altLang="en-US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를 </a:t>
                      </a:r>
                      <a:r>
                        <a:rPr lang="en-US" altLang="ko-KR" sz="900" kern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Arial"/>
                        </a:rPr>
                        <a:t>준비하겠습니다.</a:t>
                      </a:r>
                      <a:b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en-US" altLang="ko-KR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        </a:t>
                      </a:r>
                      <a:r>
                        <a:rPr lang="ko-KR" altLang="en-US" sz="900" ker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549749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금주 진행사항 (W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51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,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12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</a:rPr>
                        <a:t>/14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~)</a:t>
                      </a:r>
                      <a:endParaRPr lang="ko-KR" altLang="ko-KR" sz="900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’26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년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자동차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/ESS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PDS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확산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ESMI1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ESMI-L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ESHG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’26.03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ESMI1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ESMI-L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ESST</a:t>
                      </a:r>
                    </a:p>
                    <a:p>
                      <a:pPr lvl="0" algn="ctr">
                        <a:buNone/>
                      </a:pP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’26.06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ESHD</a:t>
                      </a:r>
                    </a:p>
                    <a:p>
                      <a:pPr lvl="0" algn="ctr">
                        <a:buNone/>
                      </a:pP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’26.10</a:t>
                      </a:r>
                    </a:p>
                    <a:p>
                      <a:pPr lvl="0" algn="ctr">
                        <a:buNone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ESHG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김효석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박기욱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장대국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이기랑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S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26504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‘26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년 자동차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/ESS PDS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확산</a:t>
            </a: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048796" y="572550"/>
            <a:ext cx="163827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LG스마트체 Regular"/>
                <a:ea typeface="LG스마트체 Regular"/>
                <a:cs typeface="Malgun Gothic Semilight"/>
              </a:rPr>
              <a:t>: 12/15 14</a:t>
            </a: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188960" y="403273"/>
            <a:ext cx="97943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이기랑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 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1EC3007C-1F3B-4839-BA78-F6881887571D}"/>
              </a:ext>
            </a:extLst>
          </p:cNvPr>
          <p:cNvGraphicFramePr>
            <a:graphicFrameLocks noGrp="1"/>
          </p:cNvGraphicFramePr>
          <p:nvPr/>
        </p:nvGraphicFramePr>
        <p:xfrm>
          <a:off x="1651189" y="1084046"/>
          <a:ext cx="6972241" cy="55210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224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210964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W),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법인 별 자동차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/ESS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조립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Cell 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양산 일정에 맞춰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‘26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년 확산 계획을 수립하였습니다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096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509909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 적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자동차와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사업부의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JV(ST, HD, HG)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및 북미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(MI1, MI-L)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법인에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확산을 하고자 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정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(‘26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1) ‘26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월에는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ESST, ESMI-L, ESMI1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법인에 확산을 계획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ESST, ESMI-L 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Cell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ESST(’25.11)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ESMI-L(’26.03)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양산 시작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②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ESMI1 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멀티 플랜트 기능 적용을 위해 자동차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ESMI1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 확산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(’25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하반기 적용 계획이었으나 현지 상황을 고려하여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년으로 연기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2) ’26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월에는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ESHD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그리고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월에는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ESHG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법인에 확산을 계획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ESHD 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Cell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’26.06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 양산 시작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②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ESHG : Biz.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고려하여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NFF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운영 적용 및 안정화 이후 후 순위 대응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Cell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자동차는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‘26.04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월에 양산 시작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사항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1) IT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투자 심의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확산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PJT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의 투자 심의 비용은 확산 대상 법인에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요청하여 비용을 확보 하겠습니다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(~12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7DB1891B-D8E5-41E1-AA2C-61C88F1B66C9}"/>
              </a:ext>
            </a:extLst>
          </p:cNvPr>
          <p:cNvGraphicFramePr>
            <a:graphicFrameLocks noGrp="1"/>
          </p:cNvGraphicFramePr>
          <p:nvPr/>
        </p:nvGraphicFramePr>
        <p:xfrm>
          <a:off x="1746250" y="1995340"/>
          <a:ext cx="6813547" cy="2057095"/>
        </p:xfrm>
        <a:graphic>
          <a:graphicData uri="http://schemas.openxmlformats.org/drawingml/2006/table">
            <a:tbl>
              <a:tblPr firstRow="1" bandRow="1"/>
              <a:tblGrid>
                <a:gridCol w="524119">
                  <a:extLst>
                    <a:ext uri="{9D8B030D-6E8A-4147-A177-3AD203B41FA5}">
                      <a16:colId xmlns:a16="http://schemas.microsoft.com/office/drawing/2014/main" val="2419450027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2627347537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2282022191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2604731860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1956769158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3294666342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2818136572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651491218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487330722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3456239654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3179335426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2573088622"/>
                    </a:ext>
                  </a:extLst>
                </a:gridCol>
                <a:gridCol w="524119">
                  <a:extLst>
                    <a:ext uri="{9D8B030D-6E8A-4147-A177-3AD203B41FA5}">
                      <a16:colId xmlns:a16="http://schemas.microsoft.com/office/drawing/2014/main" val="2738068448"/>
                    </a:ext>
                  </a:extLst>
                </a:gridCol>
              </a:tblGrid>
              <a:tr h="18308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법인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2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3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4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5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6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7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8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9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10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11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12</a:t>
                      </a:r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월</a:t>
                      </a: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5756702"/>
                  </a:ext>
                </a:extLst>
              </a:tr>
              <a:tr h="369587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ESST</a:t>
                      </a:r>
                      <a:endParaRPr kumimoji="0" lang="ko-KR" altLang="en-US" sz="900" b="1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6451098"/>
                  </a:ext>
                </a:extLst>
              </a:tr>
              <a:tr h="369587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ESMI-L</a:t>
                      </a:r>
                    </a:p>
                  </a:txBody>
                  <a:tcPr marL="18001" marR="18001" marT="18000" marB="18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5536228"/>
                  </a:ext>
                </a:extLst>
              </a:tr>
              <a:tr h="369587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ESMI1</a:t>
                      </a:r>
                    </a:p>
                  </a:txBody>
                  <a:tcPr marL="18001" marR="18001" marT="18000" marB="18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394416"/>
                  </a:ext>
                </a:extLst>
              </a:tr>
              <a:tr h="369587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ESHD</a:t>
                      </a:r>
                      <a:endParaRPr kumimoji="0" lang="ko-KR" altLang="en-US" sz="900" b="1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5660899"/>
                  </a:ext>
                </a:extLst>
              </a:tr>
              <a:tr h="369587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1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ESHG</a:t>
                      </a:r>
                    </a:p>
                  </a:txBody>
                  <a:tcPr marL="18001" marR="18001" marT="18000" marB="18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2994765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90670BE2-C0EC-4710-8F1F-7E265F3A05CE}"/>
              </a:ext>
            </a:extLst>
          </p:cNvPr>
          <p:cNvGrpSpPr/>
          <p:nvPr/>
        </p:nvGrpSpPr>
        <p:grpSpPr>
          <a:xfrm>
            <a:off x="6555926" y="1803214"/>
            <a:ext cx="1958826" cy="115939"/>
            <a:chOff x="6655666" y="2452379"/>
            <a:chExt cx="1958826" cy="115939"/>
          </a:xfrm>
        </p:grpSpPr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A18D3DEE-5207-4FFE-8A94-4C980A990A14}"/>
                </a:ext>
              </a:extLst>
            </p:cNvPr>
            <p:cNvGrpSpPr/>
            <p:nvPr/>
          </p:nvGrpSpPr>
          <p:grpSpPr>
            <a:xfrm>
              <a:off x="6655666" y="2452379"/>
              <a:ext cx="440586" cy="115939"/>
              <a:chOff x="3052295" y="5567399"/>
              <a:chExt cx="440586" cy="115939"/>
            </a:xfrm>
          </p:grpSpPr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C8501FDA-C7A3-4701-87F4-9811B51817B2}"/>
                  </a:ext>
                </a:extLst>
              </p:cNvPr>
              <p:cNvSpPr/>
              <p:nvPr/>
            </p:nvSpPr>
            <p:spPr>
              <a:xfrm>
                <a:off x="3052295" y="5567399"/>
                <a:ext cx="106532" cy="101729"/>
              </a:xfrm>
              <a:prstGeom prst="rect">
                <a:avLst/>
              </a:prstGeom>
              <a:solidFill>
                <a:srgbClr val="00206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2" name="Text Box 198">
                <a:extLst>
                  <a:ext uri="{FF2B5EF4-FFF2-40B4-BE49-F238E27FC236}">
                    <a16:creationId xmlns:a16="http://schemas.microsoft.com/office/drawing/2014/main" id="{AE16BBD4-4EDE-49C2-A986-64C44B8CCA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4024" y="5571118"/>
                <a:ext cx="278857" cy="112220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 anchorCtr="0">
                <a:no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1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Pct val="85000"/>
                  <a:buFontTx/>
                  <a:buNone/>
                  <a:tabLst>
                    <a:tab pos="723900" algn="l"/>
                  </a:tabLst>
                  <a:defRPr/>
                </a:pP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rPr>
                  <a:t>완료</a:t>
                </a:r>
              </a:p>
            </p:txBody>
          </p:sp>
        </p:grp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ED3B451B-90DE-4FC8-90CF-28379A8D49E3}"/>
                </a:ext>
              </a:extLst>
            </p:cNvPr>
            <p:cNvGrpSpPr/>
            <p:nvPr/>
          </p:nvGrpSpPr>
          <p:grpSpPr>
            <a:xfrm>
              <a:off x="7153813" y="2452379"/>
              <a:ext cx="908594" cy="115939"/>
              <a:chOff x="3052295" y="5567399"/>
              <a:chExt cx="908594" cy="115939"/>
            </a:xfrm>
          </p:grpSpPr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B46A0311-033B-4CB7-B04B-FBF3B32EB8D8}"/>
                  </a:ext>
                </a:extLst>
              </p:cNvPr>
              <p:cNvSpPr/>
              <p:nvPr/>
            </p:nvSpPr>
            <p:spPr>
              <a:xfrm>
                <a:off x="3052295" y="5567399"/>
                <a:ext cx="106532" cy="101729"/>
              </a:xfrm>
              <a:prstGeom prst="rect">
                <a:avLst/>
              </a:prstGeom>
              <a:solidFill>
                <a:srgbClr val="92D05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50" name="Text Box 198">
                <a:extLst>
                  <a:ext uri="{FF2B5EF4-FFF2-40B4-BE49-F238E27FC236}">
                    <a16:creationId xmlns:a16="http://schemas.microsoft.com/office/drawing/2014/main" id="{0D5455CE-336D-4053-871E-6AAC0C455E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4024" y="5571118"/>
                <a:ext cx="278857" cy="112220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 anchorCtr="0">
                <a:no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1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Pct val="85000"/>
                  <a:buFontTx/>
                  <a:buNone/>
                  <a:tabLst>
                    <a:tab pos="723900" algn="l"/>
                  </a:tabLst>
                  <a:defRPr/>
                </a:pP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rPr>
                  <a:t>진행</a:t>
                </a:r>
              </a:p>
            </p:txBody>
          </p:sp>
          <p:sp>
            <p:nvSpPr>
              <p:cNvPr id="17" name="직사각형 16">
                <a:extLst>
                  <a:ext uri="{FF2B5EF4-FFF2-40B4-BE49-F238E27FC236}">
                    <a16:creationId xmlns:a16="http://schemas.microsoft.com/office/drawing/2014/main" id="{7CF4ECC8-54C5-24F2-E02D-E90502289295}"/>
                  </a:ext>
                </a:extLst>
              </p:cNvPr>
              <p:cNvSpPr/>
              <p:nvPr/>
            </p:nvSpPr>
            <p:spPr>
              <a:xfrm>
                <a:off x="3520303" y="5567399"/>
                <a:ext cx="106532" cy="101729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18" name="Text Box 198">
                <a:extLst>
                  <a:ext uri="{FF2B5EF4-FFF2-40B4-BE49-F238E27FC236}">
                    <a16:creationId xmlns:a16="http://schemas.microsoft.com/office/drawing/2014/main" id="{61E7ED9E-8E46-C14B-E1C3-3ED715009B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2032" y="5571118"/>
                <a:ext cx="278857" cy="112220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 anchorCtr="0">
                <a:no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1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Pct val="85000"/>
                  <a:buFontTx/>
                  <a:buNone/>
                  <a:tabLst>
                    <a:tab pos="723900" algn="l"/>
                  </a:tabLst>
                  <a:defRPr/>
                </a:pPr>
                <a:r>
                  <a:rPr kumimoji="0" lang="ko-KR" altLang="en-US" sz="8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rPr>
                  <a:t>미진행</a:t>
                </a:r>
                <a:endParaRPr kumimoji="0" lang="ko-KR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arrow" panose="020B0606020202030204" pitchFamily="34" charset="0"/>
                  <a:ea typeface="LG스마트체 Regular" panose="020B0600000101010101" pitchFamily="50" charset="-127"/>
                  <a:cs typeface="Arial" charset="0"/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B3DB3754-57D5-449D-8D7E-C4F3ECBF1E39}"/>
                </a:ext>
              </a:extLst>
            </p:cNvPr>
            <p:cNvGrpSpPr/>
            <p:nvPr/>
          </p:nvGrpSpPr>
          <p:grpSpPr>
            <a:xfrm>
              <a:off x="8173906" y="2452379"/>
              <a:ext cx="440586" cy="115939"/>
              <a:chOff x="3103667" y="5567399"/>
              <a:chExt cx="440586" cy="115939"/>
            </a:xfrm>
          </p:grpSpPr>
          <p:sp>
            <p:nvSpPr>
              <p:cNvPr id="45" name="직사각형 44">
                <a:extLst>
                  <a:ext uri="{FF2B5EF4-FFF2-40B4-BE49-F238E27FC236}">
                    <a16:creationId xmlns:a16="http://schemas.microsoft.com/office/drawing/2014/main" id="{6929FCBF-E91C-43DA-8D99-2CE12B89BFAB}"/>
                  </a:ext>
                </a:extLst>
              </p:cNvPr>
              <p:cNvSpPr/>
              <p:nvPr/>
            </p:nvSpPr>
            <p:spPr>
              <a:xfrm>
                <a:off x="3103667" y="5567399"/>
                <a:ext cx="106532" cy="101729"/>
              </a:xfrm>
              <a:prstGeom prst="rect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6" name="Text Box 198">
                <a:extLst>
                  <a:ext uri="{FF2B5EF4-FFF2-40B4-BE49-F238E27FC236}">
                    <a16:creationId xmlns:a16="http://schemas.microsoft.com/office/drawing/2014/main" id="{ABEEDD7F-CB18-4771-B54B-965048BAFC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5396" y="5571118"/>
                <a:ext cx="278857" cy="112220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 anchorCtr="0">
                <a:noAutofit/>
              </a:bodyPr>
              <a:lstStyle/>
              <a:p>
                <a:pPr marL="0" marR="0" lvl="0" indent="0" algn="l" defTabSz="914400" rtl="0" eaLnBrk="1" fontAlgn="base" latinLnBrk="1" hangingPunct="1">
                  <a:lnSpc>
                    <a:spcPct val="11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Pct val="85000"/>
                  <a:buFontTx/>
                  <a:buNone/>
                  <a:tabLst>
                    <a:tab pos="723900" algn="l"/>
                  </a:tabLst>
                  <a:defRPr/>
                </a:pPr>
                <a:r>
                  <a:rPr kumimoji="0" lang="ko-KR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 Narrow" panose="020B0606020202030204" pitchFamily="34" charset="0"/>
                    <a:ea typeface="LG스마트체 Regular" panose="020B0600000101010101" pitchFamily="50" charset="-127"/>
                    <a:cs typeface="Arial" charset="0"/>
                  </a:rPr>
                  <a:t>지연</a:t>
                </a:r>
              </a:p>
            </p:txBody>
          </p:sp>
        </p:grp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8F49A165-F19A-4D71-C942-8116A4EB1E85}"/>
              </a:ext>
            </a:extLst>
          </p:cNvPr>
          <p:cNvSpPr txBox="1"/>
          <p:nvPr/>
        </p:nvSpPr>
        <p:spPr>
          <a:xfrm>
            <a:off x="2757590" y="2179548"/>
            <a:ext cx="601039" cy="200055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ctr"/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자동차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7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70060CC-7C29-75D1-2DA3-2F6F54D7DBBB}"/>
              </a:ext>
            </a:extLst>
          </p:cNvPr>
          <p:cNvSpPr txBox="1"/>
          <p:nvPr/>
        </p:nvSpPr>
        <p:spPr>
          <a:xfrm>
            <a:off x="3298921" y="2527757"/>
            <a:ext cx="601039" cy="200055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ctr"/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(ESS)</a:t>
            </a:r>
            <a:endParaRPr lang="ko-KR" altLang="en-US" sz="7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1CD3A2CC-8472-1DA9-36A6-73996EA36335}"/>
              </a:ext>
            </a:extLst>
          </p:cNvPr>
          <p:cNvSpPr txBox="1"/>
          <p:nvPr/>
        </p:nvSpPr>
        <p:spPr>
          <a:xfrm>
            <a:off x="4323008" y="2527757"/>
            <a:ext cx="601039" cy="200055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ctr"/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자동차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7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C31C55A0-7FB9-C396-00F7-0FA0827590E2}"/>
              </a:ext>
            </a:extLst>
          </p:cNvPr>
          <p:cNvSpPr txBox="1"/>
          <p:nvPr/>
        </p:nvSpPr>
        <p:spPr>
          <a:xfrm>
            <a:off x="2748902" y="3270868"/>
            <a:ext cx="601039" cy="200055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ctr"/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자동차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7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3879F1AE-73CF-D6CB-4A6D-30F3B1017651}"/>
              </a:ext>
            </a:extLst>
          </p:cNvPr>
          <p:cNvSpPr txBox="1"/>
          <p:nvPr/>
        </p:nvSpPr>
        <p:spPr>
          <a:xfrm>
            <a:off x="4850918" y="3270868"/>
            <a:ext cx="601039" cy="200055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ctr"/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(ESS)</a:t>
            </a:r>
            <a:endParaRPr lang="ko-KR" altLang="en-US" sz="7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EDEBCDB6-F7EB-FF01-588F-FA48F6DE327A}"/>
              </a:ext>
            </a:extLst>
          </p:cNvPr>
          <p:cNvSpPr txBox="1"/>
          <p:nvPr/>
        </p:nvSpPr>
        <p:spPr>
          <a:xfrm>
            <a:off x="3806339" y="3644814"/>
            <a:ext cx="601039" cy="200055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ctr"/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양산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자동차</a:t>
            </a:r>
            <a:r>
              <a:rPr lang="en-US" altLang="ko-KR" sz="7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700" b="1">
              <a:solidFill>
                <a:srgbClr val="0066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" name="오각형 214">
            <a:extLst>
              <a:ext uri="{FF2B5EF4-FFF2-40B4-BE49-F238E27FC236}">
                <a16:creationId xmlns:a16="http://schemas.microsoft.com/office/drawing/2014/main" id="{1CC595C2-41CC-AE03-5808-BF7DF21658ED}"/>
              </a:ext>
            </a:extLst>
          </p:cNvPr>
          <p:cNvSpPr/>
          <p:nvPr/>
        </p:nvSpPr>
        <p:spPr bwMode="auto">
          <a:xfrm>
            <a:off x="6496578" y="3028168"/>
            <a:ext cx="513076" cy="225750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통합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&amp;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사용자</a:t>
            </a:r>
            <a:endParaRPr lang="en-US" altLang="ko-KR" sz="700">
              <a:solidFill>
                <a:prstClr val="black"/>
              </a:solidFill>
              <a:latin typeface="+mn-ea"/>
            </a:endParaRP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테스트</a:t>
            </a:r>
          </a:p>
        </p:txBody>
      </p:sp>
      <p:sp>
        <p:nvSpPr>
          <p:cNvPr id="4" name="오각형 214">
            <a:extLst>
              <a:ext uri="{FF2B5EF4-FFF2-40B4-BE49-F238E27FC236}">
                <a16:creationId xmlns:a16="http://schemas.microsoft.com/office/drawing/2014/main" id="{A5471DE0-BB6D-7BC3-C140-162F1A3F7E2B}"/>
              </a:ext>
            </a:extLst>
          </p:cNvPr>
          <p:cNvSpPr/>
          <p:nvPr/>
        </p:nvSpPr>
        <p:spPr bwMode="auto">
          <a:xfrm>
            <a:off x="7018674" y="3028168"/>
            <a:ext cx="513076" cy="225750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+mn-ea"/>
              </a:rPr>
              <a:t>확산</a:t>
            </a:r>
          </a:p>
        </p:txBody>
      </p:sp>
      <p:sp>
        <p:nvSpPr>
          <p:cNvPr id="6" name="오각형 214">
            <a:extLst>
              <a:ext uri="{FF2B5EF4-FFF2-40B4-BE49-F238E27FC236}">
                <a16:creationId xmlns:a16="http://schemas.microsoft.com/office/drawing/2014/main" id="{D1B22C28-EBB0-E959-563B-1C8B9C025649}"/>
              </a:ext>
            </a:extLst>
          </p:cNvPr>
          <p:cNvSpPr/>
          <p:nvPr/>
        </p:nvSpPr>
        <p:spPr bwMode="auto">
          <a:xfrm>
            <a:off x="7547944" y="3028977"/>
            <a:ext cx="329318" cy="225436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안정화</a:t>
            </a:r>
          </a:p>
        </p:txBody>
      </p:sp>
      <p:sp>
        <p:nvSpPr>
          <p:cNvPr id="7" name="오각형 214">
            <a:extLst>
              <a:ext uri="{FF2B5EF4-FFF2-40B4-BE49-F238E27FC236}">
                <a16:creationId xmlns:a16="http://schemas.microsoft.com/office/drawing/2014/main" id="{022ECF93-0468-4BF7-8128-8939F4C923E0}"/>
              </a:ext>
            </a:extLst>
          </p:cNvPr>
          <p:cNvSpPr/>
          <p:nvPr/>
        </p:nvSpPr>
        <p:spPr bwMode="auto">
          <a:xfrm>
            <a:off x="6496578" y="3768937"/>
            <a:ext cx="513076" cy="225750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통합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&amp;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사용자</a:t>
            </a:r>
            <a:endParaRPr lang="en-US" altLang="ko-KR" sz="700">
              <a:solidFill>
                <a:prstClr val="black"/>
              </a:solidFill>
              <a:latin typeface="+mn-ea"/>
            </a:endParaRP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테스트</a:t>
            </a:r>
          </a:p>
        </p:txBody>
      </p:sp>
      <p:sp>
        <p:nvSpPr>
          <p:cNvPr id="8" name="오각형 214">
            <a:extLst>
              <a:ext uri="{FF2B5EF4-FFF2-40B4-BE49-F238E27FC236}">
                <a16:creationId xmlns:a16="http://schemas.microsoft.com/office/drawing/2014/main" id="{78E76B2D-3050-C629-4A51-79FFC187F0C9}"/>
              </a:ext>
            </a:extLst>
          </p:cNvPr>
          <p:cNvSpPr/>
          <p:nvPr/>
        </p:nvSpPr>
        <p:spPr bwMode="auto">
          <a:xfrm>
            <a:off x="7018674" y="3768937"/>
            <a:ext cx="513076" cy="225750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+mn-ea"/>
              </a:rPr>
              <a:t>확산</a:t>
            </a:r>
          </a:p>
        </p:txBody>
      </p:sp>
      <p:sp>
        <p:nvSpPr>
          <p:cNvPr id="10" name="오각형 214">
            <a:extLst>
              <a:ext uri="{FF2B5EF4-FFF2-40B4-BE49-F238E27FC236}">
                <a16:creationId xmlns:a16="http://schemas.microsoft.com/office/drawing/2014/main" id="{E2649D17-57DD-F021-3849-A42D34A31B7D}"/>
              </a:ext>
            </a:extLst>
          </p:cNvPr>
          <p:cNvSpPr/>
          <p:nvPr/>
        </p:nvSpPr>
        <p:spPr bwMode="auto">
          <a:xfrm>
            <a:off x="7547944" y="3769746"/>
            <a:ext cx="329318" cy="225436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안정화</a:t>
            </a:r>
          </a:p>
        </p:txBody>
      </p:sp>
      <p:sp>
        <p:nvSpPr>
          <p:cNvPr id="12" name="오각형 214">
            <a:extLst>
              <a:ext uri="{FF2B5EF4-FFF2-40B4-BE49-F238E27FC236}">
                <a16:creationId xmlns:a16="http://schemas.microsoft.com/office/drawing/2014/main" id="{F3269556-0701-B316-070E-68C756A56759}"/>
              </a:ext>
            </a:extLst>
          </p:cNvPr>
          <p:cNvSpPr/>
          <p:nvPr/>
        </p:nvSpPr>
        <p:spPr bwMode="auto">
          <a:xfrm>
            <a:off x="2827845" y="2336629"/>
            <a:ext cx="513076" cy="574519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통합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&amp;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사용자</a:t>
            </a:r>
            <a:endParaRPr lang="en-US" altLang="ko-KR" sz="700">
              <a:solidFill>
                <a:prstClr val="black"/>
              </a:solidFill>
              <a:latin typeface="+mn-ea"/>
            </a:endParaRP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테스트</a:t>
            </a:r>
          </a:p>
        </p:txBody>
      </p:sp>
      <p:sp>
        <p:nvSpPr>
          <p:cNvPr id="13" name="오각형 214">
            <a:extLst>
              <a:ext uri="{FF2B5EF4-FFF2-40B4-BE49-F238E27FC236}">
                <a16:creationId xmlns:a16="http://schemas.microsoft.com/office/drawing/2014/main" id="{6013BBCC-E716-88BD-705B-C2E25887CCFE}"/>
              </a:ext>
            </a:extLst>
          </p:cNvPr>
          <p:cNvSpPr/>
          <p:nvPr/>
        </p:nvSpPr>
        <p:spPr bwMode="auto">
          <a:xfrm>
            <a:off x="3349941" y="2705921"/>
            <a:ext cx="513076" cy="205227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+mn-ea"/>
              </a:rPr>
              <a:t>확산</a:t>
            </a:r>
          </a:p>
        </p:txBody>
      </p:sp>
      <p:sp>
        <p:nvSpPr>
          <p:cNvPr id="14" name="오각형 214">
            <a:extLst>
              <a:ext uri="{FF2B5EF4-FFF2-40B4-BE49-F238E27FC236}">
                <a16:creationId xmlns:a16="http://schemas.microsoft.com/office/drawing/2014/main" id="{24163224-D7D9-0403-CBE3-C8E06EA1DA05}"/>
              </a:ext>
            </a:extLst>
          </p:cNvPr>
          <p:cNvSpPr/>
          <p:nvPr/>
        </p:nvSpPr>
        <p:spPr bwMode="auto">
          <a:xfrm>
            <a:off x="3879211" y="2706715"/>
            <a:ext cx="329318" cy="204942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안정화</a:t>
            </a:r>
          </a:p>
        </p:txBody>
      </p:sp>
      <p:sp>
        <p:nvSpPr>
          <p:cNvPr id="15" name="오각형 214">
            <a:extLst>
              <a:ext uri="{FF2B5EF4-FFF2-40B4-BE49-F238E27FC236}">
                <a16:creationId xmlns:a16="http://schemas.microsoft.com/office/drawing/2014/main" id="{EE995FB8-F3C7-0823-784A-62B0CE289B84}"/>
              </a:ext>
            </a:extLst>
          </p:cNvPr>
          <p:cNvSpPr/>
          <p:nvPr/>
        </p:nvSpPr>
        <p:spPr bwMode="auto">
          <a:xfrm>
            <a:off x="3867168" y="2336629"/>
            <a:ext cx="513076" cy="205227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+mn-ea"/>
              </a:rPr>
              <a:t>확산</a:t>
            </a:r>
          </a:p>
        </p:txBody>
      </p:sp>
      <p:sp>
        <p:nvSpPr>
          <p:cNvPr id="16" name="오각형 214">
            <a:extLst>
              <a:ext uri="{FF2B5EF4-FFF2-40B4-BE49-F238E27FC236}">
                <a16:creationId xmlns:a16="http://schemas.microsoft.com/office/drawing/2014/main" id="{10150998-D933-08DF-663A-A67AB9732B14}"/>
              </a:ext>
            </a:extLst>
          </p:cNvPr>
          <p:cNvSpPr/>
          <p:nvPr/>
        </p:nvSpPr>
        <p:spPr bwMode="auto">
          <a:xfrm>
            <a:off x="4396438" y="2337423"/>
            <a:ext cx="329318" cy="204942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안정화</a:t>
            </a:r>
          </a:p>
        </p:txBody>
      </p:sp>
      <p:sp>
        <p:nvSpPr>
          <p:cNvPr id="19" name="오각형 214">
            <a:extLst>
              <a:ext uri="{FF2B5EF4-FFF2-40B4-BE49-F238E27FC236}">
                <a16:creationId xmlns:a16="http://schemas.microsoft.com/office/drawing/2014/main" id="{30364501-1CAB-CD34-9589-96CA69C25793}"/>
              </a:ext>
            </a:extLst>
          </p:cNvPr>
          <p:cNvSpPr/>
          <p:nvPr/>
        </p:nvSpPr>
        <p:spPr bwMode="auto">
          <a:xfrm>
            <a:off x="4917168" y="3425047"/>
            <a:ext cx="513076" cy="225750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통합</a:t>
            </a:r>
            <a:r>
              <a:rPr lang="en-US" altLang="ko-KR" sz="700">
                <a:solidFill>
                  <a:prstClr val="black"/>
                </a:solidFill>
                <a:latin typeface="+mn-ea"/>
              </a:rPr>
              <a:t>&amp;</a:t>
            </a:r>
            <a:r>
              <a:rPr lang="ko-KR" altLang="en-US" sz="700">
                <a:solidFill>
                  <a:prstClr val="black"/>
                </a:solidFill>
                <a:latin typeface="+mn-ea"/>
              </a:rPr>
              <a:t>사용자</a:t>
            </a:r>
            <a:endParaRPr lang="en-US" altLang="ko-KR" sz="700">
              <a:solidFill>
                <a:prstClr val="black"/>
              </a:solidFill>
              <a:latin typeface="+mn-ea"/>
            </a:endParaRP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테스트</a:t>
            </a:r>
          </a:p>
        </p:txBody>
      </p:sp>
      <p:sp>
        <p:nvSpPr>
          <p:cNvPr id="20" name="오각형 214">
            <a:extLst>
              <a:ext uri="{FF2B5EF4-FFF2-40B4-BE49-F238E27FC236}">
                <a16:creationId xmlns:a16="http://schemas.microsoft.com/office/drawing/2014/main" id="{0BFB0F43-5FE7-915F-7260-3DEEC0025604}"/>
              </a:ext>
            </a:extLst>
          </p:cNvPr>
          <p:cNvSpPr/>
          <p:nvPr/>
        </p:nvSpPr>
        <p:spPr bwMode="auto">
          <a:xfrm>
            <a:off x="5439264" y="3425047"/>
            <a:ext cx="513076" cy="225750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+mn-ea"/>
              </a:rPr>
              <a:t>확산</a:t>
            </a:r>
          </a:p>
        </p:txBody>
      </p:sp>
      <p:sp>
        <p:nvSpPr>
          <p:cNvPr id="21" name="오각형 214">
            <a:extLst>
              <a:ext uri="{FF2B5EF4-FFF2-40B4-BE49-F238E27FC236}">
                <a16:creationId xmlns:a16="http://schemas.microsoft.com/office/drawing/2014/main" id="{E623D4F6-5C9D-ED88-21C5-A16B1B22567E}"/>
              </a:ext>
            </a:extLst>
          </p:cNvPr>
          <p:cNvSpPr/>
          <p:nvPr/>
        </p:nvSpPr>
        <p:spPr bwMode="auto">
          <a:xfrm>
            <a:off x="5968534" y="3425856"/>
            <a:ext cx="329318" cy="225436"/>
          </a:xfrm>
          <a:prstGeom prst="homePlate">
            <a:avLst>
              <a:gd name="adj" fmla="val 31784"/>
            </a:avLst>
          </a:prstGeom>
          <a:solidFill>
            <a:srgbClr val="A6A6A6"/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700">
                <a:solidFill>
                  <a:prstClr val="black"/>
                </a:solidFill>
                <a:latin typeface="+mn-ea"/>
              </a:rPr>
              <a:t>안정화</a:t>
            </a: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0093B1ED-54D9-F4BF-833B-4B018EC4D6B1}"/>
              </a:ext>
            </a:extLst>
          </p:cNvPr>
          <p:cNvGraphicFramePr>
            <a:graphicFrameLocks noGrp="1"/>
          </p:cNvGraphicFramePr>
          <p:nvPr/>
        </p:nvGraphicFramePr>
        <p:xfrm>
          <a:off x="7215802" y="5202555"/>
          <a:ext cx="1343802" cy="788670"/>
        </p:xfrm>
        <a:graphic>
          <a:graphicData uri="http://schemas.openxmlformats.org/drawingml/2006/table">
            <a:tbl>
              <a:tblPr/>
              <a:tblGrid>
                <a:gridCol w="404198">
                  <a:extLst>
                    <a:ext uri="{9D8B030D-6E8A-4147-A177-3AD203B41FA5}">
                      <a16:colId xmlns:a16="http://schemas.microsoft.com/office/drawing/2014/main" val="403217046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274220336"/>
                    </a:ext>
                  </a:extLst>
                </a:gridCol>
                <a:gridCol w="501454">
                  <a:extLst>
                    <a:ext uri="{9D8B030D-6E8A-4147-A177-3AD203B41FA5}">
                      <a16:colId xmlns:a16="http://schemas.microsoft.com/office/drawing/2014/main" val="269766863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확보여부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34997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 ESHD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이상백 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76470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이기창 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1598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ESHG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확인중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송수균 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28274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 LS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확인중</a:t>
                      </a:r>
                      <a:endParaRPr lang="ko-KR" altLang="en-US" sz="800" b="0" i="0" u="none" strike="noStrike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김현성 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11964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확인중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김현성 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65422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16535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3EB00-2161-5BBB-26ED-03BC7B88E0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6A3C677D-815D-935C-871F-C5C43258766E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금주 진행사항 (W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51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,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12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</a:rPr>
                        <a:t>/14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~)</a:t>
                      </a:r>
                      <a:endParaRPr lang="ko-KR" altLang="ko-KR" sz="900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시생산관리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시스템화 검토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HQ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이기랑S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11107AAB-BF0E-2D6D-E76E-4531ED8A7DB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97732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소형/자동차/ESS 사업부 내 시생산관리 시스템화 방향성 검토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F4496143-60E7-096C-DD95-FE48A5596D3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012C7A2-6F83-0A60-A63A-D2C34D877452}"/>
              </a:ext>
            </a:extLst>
          </p:cNvPr>
          <p:cNvSpPr txBox="1">
            <a:spLocks/>
          </p:cNvSpPr>
          <p:nvPr/>
        </p:nvSpPr>
        <p:spPr>
          <a:xfrm>
            <a:off x="8188960" y="403273"/>
            <a:ext cx="97943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이기랑 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C9F73B6D-A66C-7EE1-E24B-37CCEA97709B}"/>
              </a:ext>
            </a:extLst>
          </p:cNvPr>
          <p:cNvGraphicFramePr>
            <a:graphicFrameLocks noGrp="1"/>
          </p:cNvGraphicFramePr>
          <p:nvPr/>
        </p:nvGraphicFramePr>
        <p:xfrm>
          <a:off x="1651189" y="1085225"/>
          <a:ext cx="6972241" cy="55210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224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210964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W),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’26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PDS PJT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 개선건으로 추가하여 프로세스 검토 중</a:t>
                      </a:r>
                      <a:endParaRPr kumimoji="0" lang="en-US" altLang="ko-KR" sz="900" b="0" baseline="0">
                        <a:solidFill>
                          <a:srgbClr val="1414FE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</a:txBody>
                  <a:tcPr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09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5099091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1.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목적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소형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전지사업부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내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수요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공급계획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수요검증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등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관리가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대부분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Off-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line으로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운영되고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있어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이를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전사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표준화로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시스템화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할 수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있도록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프로세스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 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방향성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검토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2. </a:t>
                      </a:r>
                      <a:r>
                        <a:rPr lang="en-US" altLang="ko-KR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현황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1)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정기 회의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각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시스템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별로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관리하는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범위가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달라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하나의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시스템을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통해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운영되기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위한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논의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1차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(8/14)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- PLM 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개발단계의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단순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이력용으로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관리</a:t>
                      </a:r>
                      <a:endParaRPr lang="en-US" sz="9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- PDS 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양산단계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이후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Test, 4M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모델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버전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체계로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관리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②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관리 시스템화 방향성 검토 의견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차 논의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(8/21)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시생산관리 시스템화 검토 의견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PI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내부 최종 의사 결정 필요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-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수요 관리 기능 개발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수요 관리 시스템화를 위한 코드 정보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채번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가능 시점 및 필수 정보 종류 확인 요청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2)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현업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사용자를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대상으로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인터뷰를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진행하여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As-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Is에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대한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요건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후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소형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S&amp;OP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시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공유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(10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월초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     3)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소형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사업부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(OC9동, ESAZ) PDS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확산은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'26년 4Q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오픈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예정이나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소형생산센터장님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요청으로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'26년 3Q에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오픈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을 목표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(9/9)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소개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도입 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Pain point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와 도입 후 좋아지는 점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② 확산 일정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자동차 법인 기존 확산 일정과 단축 요청한 소형 확산 일정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③ 지원 및 필요사항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소형 원통형 업무 담당자 지원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LGCNS Fit-Gap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요건 정의 등 투자 비용 지원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4)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북미 출장 연기로 인해 소형 원통형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Fit-Gap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분석을 위해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LGCNS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컨설팅 인원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명 투입 예정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(10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월말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~)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①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원통형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PO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담당자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PDS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설명회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(10/1)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    ② OC2 및 ESAZ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법인에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PDS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확산을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위해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업무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R&amp;R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논의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및 PO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부서의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지원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요청사항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협의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 (10/24)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        -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10/20(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) 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차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PO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업무 분장 관련 논의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└ 참여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품질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DX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이기랑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선임 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), NFF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조립공정기술팀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신정연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선임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46MC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공정기술팀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임현구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선임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생산공정운영팀 김인준 책임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└ 논의 :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→ 원통형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PO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조직 업무 범위 확정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진행중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현업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(PO)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의 업무 부하로 인하여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기존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PO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업무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(Process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현행화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시스템 요구사항 정리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    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교육 진행 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지원 어렵다는 입장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원통형기술그룹장 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으로 별도 업무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R&amp;R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과 대응 방안 추가 논의 필요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→ 원통형 전극공정 대상 차주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시스템 설명회 진행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에정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-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10/27(월) PDS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시스템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사용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방법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가이드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교육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   └ 참여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품질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DX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이기랑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선임 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), 46MC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공정기술팀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임현구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선임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46RS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공정기술팀 지승현 선임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   └ 논의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          → 전극 공정의 작업의뢰 항목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UI/UX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를 현재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PDS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가 적용된 자동차 법인과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Fit-gap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분석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0C5776E-7D8A-D3C0-E969-5D90EEFA5736}"/>
              </a:ext>
            </a:extLst>
          </p:cNvPr>
          <p:cNvSpPr txBox="1"/>
          <p:nvPr/>
        </p:nvSpPr>
        <p:spPr>
          <a:xfrm>
            <a:off x="8048796" y="572550"/>
            <a:ext cx="163827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LG스마트체 Regular"/>
                <a:ea typeface="LG스마트체 Regular"/>
                <a:cs typeface="Malgun Gothic Semilight"/>
              </a:rPr>
              <a:t>: 12/15 14</a:t>
            </a: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CFD381E-D776-D427-D6CE-D76C258690BE}"/>
              </a:ext>
            </a:extLst>
          </p:cNvPr>
          <p:cNvSpPr/>
          <p:nvPr/>
        </p:nvSpPr>
        <p:spPr>
          <a:xfrm>
            <a:off x="8125320" y="6339311"/>
            <a:ext cx="514885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계속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</a:t>
            </a: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090166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3EB00-2161-5BBB-26ED-03BC7B88E0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6A3C677D-815D-935C-871F-C5C43258766E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금주 진행사항 (W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51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,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12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</a:rPr>
                        <a:t>/14</a:t>
                      </a:r>
                      <a:r>
                        <a:rPr lang="ko-KR" alt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Malgun Gothic"/>
                          <a:ea typeface="Malgun Gothic"/>
                        </a:rPr>
                        <a:t>~)</a:t>
                      </a:r>
                      <a:endParaRPr lang="ko-KR" altLang="ko-KR" sz="900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시생산관리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시스템화 검토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HQ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이기랑S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11107AAB-BF0E-2D6D-E76E-4531ED8A7DB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97732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소형/자동차/ESS 사업부 내 시생산관리 시스템화 방향성 검토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F4496143-60E7-096C-DD95-FE48A5596D3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012C7A2-6F83-0A60-A63A-D2C34D877452}"/>
              </a:ext>
            </a:extLst>
          </p:cNvPr>
          <p:cNvSpPr txBox="1">
            <a:spLocks/>
          </p:cNvSpPr>
          <p:nvPr/>
        </p:nvSpPr>
        <p:spPr>
          <a:xfrm>
            <a:off x="8188960" y="403273"/>
            <a:ext cx="97943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이기랑 S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C9F73B6D-A66C-7EE1-E24B-37CCEA97709B}"/>
              </a:ext>
            </a:extLst>
          </p:cNvPr>
          <p:cNvGraphicFramePr>
            <a:graphicFrameLocks noGrp="1"/>
          </p:cNvGraphicFramePr>
          <p:nvPr/>
        </p:nvGraphicFramePr>
        <p:xfrm>
          <a:off x="1651189" y="1085225"/>
          <a:ext cx="6972241" cy="55210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224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210964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W),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’26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PDS PJT</a:t>
                      </a:r>
                      <a:r>
                        <a:rPr lang="ko-KR" altLang="en-US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 개선건으로 추가하여 프로세스 검토 중</a:t>
                      </a:r>
                      <a:endParaRPr kumimoji="0" lang="en-US" altLang="ko-KR" sz="900" b="0" baseline="0">
                        <a:solidFill>
                          <a:srgbClr val="1414FE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</a:txBody>
                  <a:tcPr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109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5099091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3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진행 사항: 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1)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현 시생산 관리 체계 분석 및 요건 정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를 위해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시스템 별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담당자를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지정 (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8/19)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-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품질DX팀 이기랑(PDS), R&amp;D PI팀 조성현(PLM), 구매/자재 PI팀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한재상, 김재형(PRM),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SCM PI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정욱기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송다혜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임화영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  <a:t> (SCM),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MES PI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팀 정혜진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도레미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(MES)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각 시스템 담당자 별로 현 시생산 현황 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(As-Is)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CDO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님 검토하에 시스템 개발 방향성 확정 필요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- ‘18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년도에 시생산 수요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공급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품질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출하 관련 분석한 자료를 기반으로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현재 현황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Pain point Fit-Gap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분석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..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수요 검토 및 자재 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시스템 구축 비용 대비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ROI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가 미비하여 수요 검토 완료 단계까지는 현 업무 프로세스 유지가 합리적임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..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기술 검토 및 실행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PDS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에서 일원화 된 시생산 품의를 관리하는 것으로 기능 개발 항목 검토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    ..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출하 품질 관리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 완료 후 폐기 및 출하 관리를 위해 시스템 연동 방안 검토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3) ‘26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고도화 항목으로 개발모델 대상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미적용 법인에 대해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시생산 품의를 작성할 수 있도록 기능 검토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- 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고도화 항목인 개발단계 운영 고도화 건을 통해 개발모델도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CP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관리를 진행할 예정임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    - 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미 적용 법인에도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내 시생산 품의를 작성할 수 있도록 유관부서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+mn-ea"/>
                          <a:cs typeface="+mn-cs"/>
                        </a:rPr>
                        <a:t>(FP, PLM)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와 개발 검토중임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   4) ’26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년 소형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NFF/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원통형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PDS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확산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PJT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제안 항목에 포함하였으며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12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월내 투자심의 준비중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(~12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월말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</a:t>
                      </a: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0C5776E-7D8A-D3C0-E969-5D90EEFA5736}"/>
              </a:ext>
            </a:extLst>
          </p:cNvPr>
          <p:cNvSpPr txBox="1"/>
          <p:nvPr/>
        </p:nvSpPr>
        <p:spPr>
          <a:xfrm>
            <a:off x="8048796" y="572550"/>
            <a:ext cx="163827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LG스마트체 Regular"/>
                <a:ea typeface="LG스마트체 Regular"/>
                <a:cs typeface="Malgun Gothic Semilight"/>
              </a:rPr>
              <a:t>: 12/15 14</a:t>
            </a:r>
            <a:r>
              <a:rPr lang="ko-KR" altLang="en-US"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367545587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rgbClr val="FFFFFF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협력사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자공정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 완결형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품질 관리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시스템 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세아메카닉스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</a:br>
                      <a:r>
                        <a:rPr lang="ko-KR" altLang="en-US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파워로직스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</a:br>
                      <a:r>
                        <a:rPr lang="ko-KR" altLang="en-US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피플웍스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LSEV(P)</a:t>
                      </a:r>
                      <a:b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</a:b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유라</a:t>
                      </a: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’25.10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서경민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이유정A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702937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협력사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자공정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완결형 품질 관리 시스템 구축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/>
        </p:nvGraphicFramePr>
        <p:xfrm>
          <a:off x="1642369" y="1096583"/>
          <a:ext cx="6987621" cy="5414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87621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5414334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PJT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는 종료되어 완료보고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(12/10)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진행하였으며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WF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는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SQA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다빈치 팀 지원받아 작성 중에 있습니다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목적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협력사 공정 부품 품질과 자사의 배터리 품질을 안정적이고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일관성 있는 품질 확보 구축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(QMS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연계 통합시스템 구축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</a:t>
                      </a:r>
                      <a:endParaRPr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공정 반제품에 영향을 줄 수 있는 협력사 주요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CTQ/CTP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항목을 최적화하여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SPC, </a:t>
                      </a:r>
                      <a:r>
                        <a:rPr lang="en-US" altLang="ko-KR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Cpk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관리를 통한 조기 알람 시스템 구현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2.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일정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3.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사항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Arial Narrow"/>
                        <a:ea typeface="Malgun Gothic"/>
                      </a:endParaRP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840407" y="498660"/>
            <a:ext cx="1846659" cy="33855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12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/11 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)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</a:t>
            </a:r>
            <a:b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</a:b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(</a:t>
            </a:r>
            <a:r>
              <a:rPr lang="ko-KR" altLang="en-US">
                <a:solidFill>
                  <a:srgbClr val="008000"/>
                </a:solidFill>
                <a:latin typeface="Arial Narrow"/>
                <a:ea typeface="맑은 고딕"/>
                <a:cs typeface="Malgun Gothic Semilight"/>
              </a:rPr>
              <a:t>휴가</a:t>
            </a:r>
            <a:r>
              <a:rPr lang="en-US" altLang="ko-KR">
                <a:solidFill>
                  <a:srgbClr val="008000"/>
                </a:solidFill>
                <a:latin typeface="Arial Narrow"/>
                <a:ea typeface="맑은 고딕"/>
                <a:cs typeface="Malgun Gothic Semilight"/>
              </a:rPr>
              <a:t>)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7977343" y="329383"/>
            <a:ext cx="105157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이유정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7DB1891B-D8E5-41E1-AA2C-61C88F1B66C9}"/>
              </a:ext>
            </a:extLst>
          </p:cNvPr>
          <p:cNvGraphicFramePr>
            <a:graphicFrameLocks noGrp="1"/>
          </p:cNvGraphicFramePr>
          <p:nvPr/>
        </p:nvGraphicFramePr>
        <p:xfrm>
          <a:off x="1757078" y="1698282"/>
          <a:ext cx="6813558" cy="1213736"/>
        </p:xfrm>
        <a:graphic>
          <a:graphicData uri="http://schemas.openxmlformats.org/drawingml/2006/table">
            <a:tbl>
              <a:tblPr firstRow="1" bandRow="1"/>
              <a:tblGrid>
                <a:gridCol w="580868">
                  <a:extLst>
                    <a:ext uri="{9D8B030D-6E8A-4147-A177-3AD203B41FA5}">
                      <a16:colId xmlns:a16="http://schemas.microsoft.com/office/drawing/2014/main" val="1418309913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1455220654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3464623940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2627347537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2282022191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2604731860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1956769158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3294666342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2818136572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651491218"/>
                    </a:ext>
                  </a:extLst>
                </a:gridCol>
                <a:gridCol w="623269">
                  <a:extLst>
                    <a:ext uri="{9D8B030D-6E8A-4147-A177-3AD203B41FA5}">
                      <a16:colId xmlns:a16="http://schemas.microsoft.com/office/drawing/2014/main" val="3390839975"/>
                    </a:ext>
                  </a:extLst>
                </a:gridCol>
              </a:tblGrid>
              <a:tr h="21456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2월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3월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4월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5월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6월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7월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8월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9월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10월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ysClr val="windowText" lastClr="000000"/>
                          </a:solidFill>
                          <a:latin typeface="+mn-ea"/>
                          <a:ea typeface="+mn-ea"/>
                          <a:cs typeface="Arial"/>
                        </a:rPr>
                        <a:t>11월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5756702"/>
                  </a:ext>
                </a:extLst>
              </a:tr>
              <a:tr h="7404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1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협력사 </a:t>
                      </a:r>
                      <a:r>
                        <a:rPr kumimoji="1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MES</a:t>
                      </a:r>
                      <a:br>
                        <a:rPr kumimoji="1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1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↑↓</a:t>
                      </a:r>
                      <a:br>
                        <a:rPr kumimoji="1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1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자사 </a:t>
                      </a:r>
                      <a:r>
                        <a:rPr kumimoji="1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QMS</a:t>
                      </a:r>
                    </a:p>
                    <a:p>
                      <a:pPr algn="ctr" latinLnBrk="1"/>
                      <a:r>
                        <a:rPr kumimoji="1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Data </a:t>
                      </a:r>
                      <a:r>
                        <a:rPr kumimoji="1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연계</a:t>
                      </a:r>
                      <a:endParaRPr lang="ko-KR" altLang="en-US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l" latinLnBrk="1"/>
                      <a:endParaRPr lang="ko-KR" altLang="en-US" sz="900" b="1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l" latinLnBrk="1"/>
                      <a:endParaRPr lang="ko-KR" altLang="en-US" sz="900" b="1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l" latinLnBrk="1"/>
                      <a:endParaRPr lang="ko-KR" altLang="en-US" sz="900" b="1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l" latinLnBrk="1"/>
                      <a:endParaRPr lang="ko-KR" altLang="en-US" sz="900" b="1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496541"/>
                  </a:ext>
                </a:extLst>
              </a:tr>
              <a:tr h="2587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현황</a:t>
                      </a:r>
                    </a:p>
                  </a:txBody>
                  <a:tcPr marL="18001" marR="18001" marT="18000" marB="18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1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1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1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1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001" marR="18001" marT="18000" marB="1800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81001876"/>
                  </a:ext>
                </a:extLst>
              </a:tr>
            </a:tbl>
          </a:graphicData>
        </a:graphic>
      </p:graphicFrame>
      <p:sp>
        <p:nvSpPr>
          <p:cNvPr id="35" name="오각형 214">
            <a:extLst>
              <a:ext uri="{FF2B5EF4-FFF2-40B4-BE49-F238E27FC236}">
                <a16:creationId xmlns:a16="http://schemas.microsoft.com/office/drawing/2014/main" id="{B3C767BB-4110-4DB9-8C36-BD5C4B2D79B4}"/>
              </a:ext>
            </a:extLst>
          </p:cNvPr>
          <p:cNvSpPr/>
          <p:nvPr/>
        </p:nvSpPr>
        <p:spPr bwMode="auto">
          <a:xfrm>
            <a:off x="2358794" y="1940281"/>
            <a:ext cx="594237" cy="232466"/>
          </a:xfrm>
          <a:prstGeom prst="homePlate">
            <a:avLst>
              <a:gd name="adj" fmla="val 31784"/>
            </a:avLst>
          </a:prstGeom>
          <a:solidFill>
            <a:schemeClr val="bg1">
              <a:lumMod val="75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/>
                <a:ea typeface="LG스마트체 Regular"/>
                <a:cs typeface="맑은 고딕" pitchFamily="50" charset="-127"/>
              </a:rPr>
              <a:t>대상 협력사</a:t>
            </a:r>
          </a:p>
          <a:p>
            <a:pPr marL="0" marR="0" lvl="0" indent="0" algn="ctr" defTabSz="957263" rtl="0" eaLnBrk="1" fontAlgn="auto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/>
                <a:ea typeface="LG스마트체 Regular"/>
                <a:cs typeface="맑은 고딕" pitchFamily="50" charset="-127"/>
              </a:rPr>
              <a:t>선정</a:t>
            </a:r>
            <a:endParaRPr kumimoji="0" lang="ko-KR" altLang="en-US" sz="9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/>
              <a:ea typeface="LG스마트체 Regular"/>
              <a:cs typeface="맑은 고딕" pitchFamily="50" charset="-127"/>
            </a:endParaRPr>
          </a:p>
        </p:txBody>
      </p:sp>
      <p:sp>
        <p:nvSpPr>
          <p:cNvPr id="36" name="오각형 214">
            <a:extLst>
              <a:ext uri="{FF2B5EF4-FFF2-40B4-BE49-F238E27FC236}">
                <a16:creationId xmlns:a16="http://schemas.microsoft.com/office/drawing/2014/main" id="{5FB02225-D4D3-4DE2-998B-3E0167D6A8AC}"/>
              </a:ext>
            </a:extLst>
          </p:cNvPr>
          <p:cNvSpPr/>
          <p:nvPr/>
        </p:nvSpPr>
        <p:spPr bwMode="auto">
          <a:xfrm>
            <a:off x="2946571" y="2253370"/>
            <a:ext cx="1104256" cy="293387"/>
          </a:xfrm>
          <a:prstGeom prst="homePlate">
            <a:avLst>
              <a:gd name="adj" fmla="val 31784"/>
            </a:avLst>
          </a:prstGeom>
          <a:solidFill>
            <a:schemeClr val="bg1">
              <a:lumMod val="75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/>
                <a:ea typeface="LG스마트체 Regular"/>
                <a:cs typeface="맑은 고딕" pitchFamily="50" charset="-127"/>
              </a:rPr>
              <a:t>CTQ 정합화/MSA</a:t>
            </a:r>
          </a:p>
          <a:p>
            <a:pPr marL="0" marR="0" lvl="0" indent="0" algn="ctr" defTabSz="957263" rtl="0" eaLnBrk="1" fontAlgn="auto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/>
                <a:ea typeface="LG스마트체 Regular"/>
                <a:cs typeface="맑은 고딕" pitchFamily="50" charset="-127"/>
              </a:rPr>
              <a:t>Data 연계 항목 정의</a:t>
            </a:r>
            <a:endParaRPr kumimoji="0" lang="ko-KR" altLang="en-US" sz="9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맑은 고딕" pitchFamily="50" charset="-127"/>
            </a:endParaRPr>
          </a:p>
        </p:txBody>
      </p:sp>
      <p:sp>
        <p:nvSpPr>
          <p:cNvPr id="37" name="오각형 214">
            <a:extLst>
              <a:ext uri="{FF2B5EF4-FFF2-40B4-BE49-F238E27FC236}">
                <a16:creationId xmlns:a16="http://schemas.microsoft.com/office/drawing/2014/main" id="{5036B49C-8CDC-4B3B-8F9D-F8618BCA93B1}"/>
              </a:ext>
            </a:extLst>
          </p:cNvPr>
          <p:cNvSpPr/>
          <p:nvPr/>
        </p:nvSpPr>
        <p:spPr bwMode="auto">
          <a:xfrm>
            <a:off x="4042120" y="2250055"/>
            <a:ext cx="441960" cy="293387"/>
          </a:xfrm>
          <a:prstGeom prst="homePlate">
            <a:avLst>
              <a:gd name="adj" fmla="val 31784"/>
            </a:avLst>
          </a:prstGeom>
          <a:solidFill>
            <a:schemeClr val="bg1">
              <a:lumMod val="75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UI</a:t>
            </a: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화면 </a:t>
            </a:r>
            <a:br>
              <a:rPr kumimoji="1" lang="en-US" altLang="ko-KR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</a:b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정의</a:t>
            </a:r>
          </a:p>
        </p:txBody>
      </p:sp>
      <p:sp>
        <p:nvSpPr>
          <p:cNvPr id="38" name="오각형 214">
            <a:extLst>
              <a:ext uri="{FF2B5EF4-FFF2-40B4-BE49-F238E27FC236}">
                <a16:creationId xmlns:a16="http://schemas.microsoft.com/office/drawing/2014/main" id="{4D1013C0-954A-41B4-8AEB-D4BDCA103881}"/>
              </a:ext>
            </a:extLst>
          </p:cNvPr>
          <p:cNvSpPr/>
          <p:nvPr/>
        </p:nvSpPr>
        <p:spPr bwMode="auto">
          <a:xfrm>
            <a:off x="4484214" y="2253754"/>
            <a:ext cx="420627" cy="293387"/>
          </a:xfrm>
          <a:prstGeom prst="homePlate">
            <a:avLst>
              <a:gd name="adj" fmla="val 31784"/>
            </a:avLst>
          </a:prstGeom>
          <a:solidFill>
            <a:schemeClr val="bg1">
              <a:lumMod val="75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IT </a:t>
            </a: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투자</a:t>
            </a:r>
            <a:endParaRPr kumimoji="1" lang="en-US" altLang="ko-KR" sz="9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심의</a:t>
            </a:r>
          </a:p>
        </p:txBody>
      </p:sp>
      <p:sp>
        <p:nvSpPr>
          <p:cNvPr id="39" name="오각형 214">
            <a:extLst>
              <a:ext uri="{FF2B5EF4-FFF2-40B4-BE49-F238E27FC236}">
                <a16:creationId xmlns:a16="http://schemas.microsoft.com/office/drawing/2014/main" id="{CC0893A2-2F8A-460C-9C88-50A44A7860F5}"/>
              </a:ext>
            </a:extLst>
          </p:cNvPr>
          <p:cNvSpPr/>
          <p:nvPr/>
        </p:nvSpPr>
        <p:spPr bwMode="auto">
          <a:xfrm>
            <a:off x="4904841" y="2262458"/>
            <a:ext cx="2055823" cy="293387"/>
          </a:xfrm>
          <a:prstGeom prst="homePlate">
            <a:avLst>
              <a:gd name="adj" fmla="val 31784"/>
            </a:avLst>
          </a:prstGeom>
          <a:solidFill>
            <a:schemeClr val="accent6">
              <a:lumMod val="60000"/>
              <a:lumOff val="4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시스템 개발</a:t>
            </a:r>
          </a:p>
        </p:txBody>
      </p:sp>
      <p:sp>
        <p:nvSpPr>
          <p:cNvPr id="40" name="오각형 214">
            <a:extLst>
              <a:ext uri="{FF2B5EF4-FFF2-40B4-BE49-F238E27FC236}">
                <a16:creationId xmlns:a16="http://schemas.microsoft.com/office/drawing/2014/main" id="{FD2283E1-E479-44FC-ABEB-43C549704A8E}"/>
              </a:ext>
            </a:extLst>
          </p:cNvPr>
          <p:cNvSpPr/>
          <p:nvPr/>
        </p:nvSpPr>
        <p:spPr bwMode="auto">
          <a:xfrm>
            <a:off x="6996291" y="2262462"/>
            <a:ext cx="361950" cy="293387"/>
          </a:xfrm>
          <a:prstGeom prst="homePlate">
            <a:avLst>
              <a:gd name="adj" fmla="val 31784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통합</a:t>
            </a:r>
            <a:endParaRPr kumimoji="1" lang="en-US" altLang="ko-KR" sz="9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맑은 고딕" pitchFamily="50" charset="-127"/>
            </a:endParaRP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검증</a:t>
            </a:r>
          </a:p>
        </p:txBody>
      </p:sp>
      <p:sp>
        <p:nvSpPr>
          <p:cNvPr id="41" name="오각형 214">
            <a:extLst>
              <a:ext uri="{FF2B5EF4-FFF2-40B4-BE49-F238E27FC236}">
                <a16:creationId xmlns:a16="http://schemas.microsoft.com/office/drawing/2014/main" id="{5FCC89C0-84C6-4147-8793-E7E3B91ACB81}"/>
              </a:ext>
            </a:extLst>
          </p:cNvPr>
          <p:cNvSpPr/>
          <p:nvPr/>
        </p:nvSpPr>
        <p:spPr bwMode="auto">
          <a:xfrm>
            <a:off x="7384465" y="2262462"/>
            <a:ext cx="441781" cy="293387"/>
          </a:xfrm>
          <a:prstGeom prst="homePlate">
            <a:avLst>
              <a:gd name="adj" fmla="val 31784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/>
                <a:ea typeface="LG스마트체 Regular"/>
                <a:cs typeface="맑은 고딕" pitchFamily="50" charset="-127"/>
              </a:rPr>
              <a:t>사용자 </a:t>
            </a:r>
            <a:endParaRPr kumimoji="1" lang="en-US" altLang="ko-KR" sz="9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/>
              <a:ea typeface="LG스마트체 Regular"/>
              <a:cs typeface="맑은 고딕" pitchFamily="50" charset="-127"/>
            </a:endParaRP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/>
                <a:ea typeface="LG스마트체 Regular"/>
                <a:cs typeface="맑은 고딕" pitchFamily="50" charset="-127"/>
              </a:rPr>
              <a:t>검증</a:t>
            </a:r>
            <a:endParaRPr kumimoji="0" lang="en-US" altLang="ko-KR" sz="9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/>
              <a:ea typeface="LG스마트체 Regular"/>
              <a:cs typeface="맑은 고딕" pitchFamily="50" charset="-127"/>
            </a:endParaRPr>
          </a:p>
        </p:txBody>
      </p:sp>
      <p:sp>
        <p:nvSpPr>
          <p:cNvPr id="42" name="오각형 214">
            <a:extLst>
              <a:ext uri="{FF2B5EF4-FFF2-40B4-BE49-F238E27FC236}">
                <a16:creationId xmlns:a16="http://schemas.microsoft.com/office/drawing/2014/main" id="{D4D69473-EBF7-4111-8D96-9E9EAD2AE303}"/>
              </a:ext>
            </a:extLst>
          </p:cNvPr>
          <p:cNvSpPr/>
          <p:nvPr/>
        </p:nvSpPr>
        <p:spPr bwMode="auto">
          <a:xfrm>
            <a:off x="7849779" y="2270081"/>
            <a:ext cx="328942" cy="293387"/>
          </a:xfrm>
          <a:prstGeom prst="homePlate">
            <a:avLst>
              <a:gd name="adj" fmla="val 31784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Open</a:t>
            </a:r>
            <a:endParaRPr kumimoji="1" lang="ko-KR" altLang="en-US" sz="9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3" name="오각형 214">
            <a:extLst>
              <a:ext uri="{FF2B5EF4-FFF2-40B4-BE49-F238E27FC236}">
                <a16:creationId xmlns:a16="http://schemas.microsoft.com/office/drawing/2014/main" id="{3E5A2ACE-62DE-48BE-9596-77EACB458CDF}"/>
              </a:ext>
            </a:extLst>
          </p:cNvPr>
          <p:cNvSpPr/>
          <p:nvPr/>
        </p:nvSpPr>
        <p:spPr bwMode="auto">
          <a:xfrm>
            <a:off x="8199657" y="2277701"/>
            <a:ext cx="408264" cy="293387"/>
          </a:xfrm>
          <a:prstGeom prst="homePlate">
            <a:avLst>
              <a:gd name="adj" fmla="val 31784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안정화</a:t>
            </a:r>
          </a:p>
        </p:txBody>
      </p:sp>
      <p:sp>
        <p:nvSpPr>
          <p:cNvPr id="46" name="오각형 214">
            <a:extLst>
              <a:ext uri="{FF2B5EF4-FFF2-40B4-BE49-F238E27FC236}">
                <a16:creationId xmlns:a16="http://schemas.microsoft.com/office/drawing/2014/main" id="{88CC7DB3-82C6-4546-B34C-F127E4C43304}"/>
              </a:ext>
            </a:extLst>
          </p:cNvPr>
          <p:cNvSpPr/>
          <p:nvPr/>
        </p:nvSpPr>
        <p:spPr bwMode="auto">
          <a:xfrm>
            <a:off x="7914150" y="1930638"/>
            <a:ext cx="708085" cy="293387"/>
          </a:xfrm>
          <a:prstGeom prst="homePlate">
            <a:avLst>
              <a:gd name="adj" fmla="val 31784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다빈치 연계</a:t>
            </a:r>
            <a:endParaRPr kumimoji="1" lang="en-US" altLang="ko-KR" sz="9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개발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F8362F9-ED6E-29CA-39E4-263C11336FCF}"/>
              </a:ext>
            </a:extLst>
          </p:cNvPr>
          <p:cNvSpPr txBox="1"/>
          <p:nvPr/>
        </p:nvSpPr>
        <p:spPr>
          <a:xfrm>
            <a:off x="5550634" y="625428"/>
            <a:ext cx="2523654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품질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-#4, 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진행 상태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A017F9D3-2F80-43CD-AD64-AF672DA289C6}"/>
              </a:ext>
            </a:extLst>
          </p:cNvPr>
          <p:cNvGraphicFramePr>
            <a:graphicFrameLocks noGrp="1"/>
          </p:cNvGraphicFramePr>
          <p:nvPr/>
        </p:nvGraphicFramePr>
        <p:xfrm>
          <a:off x="1765633" y="3228414"/>
          <a:ext cx="6804998" cy="401513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1317">
                  <a:extLst>
                    <a:ext uri="{9D8B030D-6E8A-4147-A177-3AD203B41FA5}">
                      <a16:colId xmlns:a16="http://schemas.microsoft.com/office/drawing/2014/main" val="2485807203"/>
                    </a:ext>
                  </a:extLst>
                </a:gridCol>
                <a:gridCol w="5267325">
                  <a:extLst>
                    <a:ext uri="{9D8B030D-6E8A-4147-A177-3AD203B41FA5}">
                      <a16:colId xmlns:a16="http://schemas.microsoft.com/office/drawing/2014/main" val="3533433929"/>
                    </a:ext>
                  </a:extLst>
                </a:gridCol>
                <a:gridCol w="541738">
                  <a:extLst>
                    <a:ext uri="{9D8B030D-6E8A-4147-A177-3AD203B41FA5}">
                      <a16:colId xmlns:a16="http://schemas.microsoft.com/office/drawing/2014/main" val="274240820"/>
                    </a:ext>
                  </a:extLst>
                </a:gridCol>
                <a:gridCol w="494618">
                  <a:extLst>
                    <a:ext uri="{9D8B030D-6E8A-4147-A177-3AD203B41FA5}">
                      <a16:colId xmlns:a16="http://schemas.microsoft.com/office/drawing/2014/main" val="770053629"/>
                    </a:ext>
                  </a:extLst>
                </a:gridCol>
              </a:tblGrid>
              <a:tr h="168978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단계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항목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일정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상태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1438417"/>
                  </a:ext>
                </a:extLst>
              </a:tr>
              <a:tr h="2791753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시스템 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개발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QMS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UI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및 기능 개선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사용자 설명회 진행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(10/20,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오프라인 참석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+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화상회의 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시스템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Open (10/22)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85725" marR="0" lvl="0" indent="-85725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I/F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협력사 개발 범위 변경으로 인한 요구사항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프로그램 목록 정비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 목록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197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-&gt; 163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85725" marR="0" lvl="0" indent="-85725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다빈치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W/F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작성 현황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~’25.10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7449840"/>
                  </a:ext>
                </a:extLst>
              </a:tr>
            </a:tbl>
          </a:graphicData>
        </a:graphic>
      </p:graphicFrame>
      <p:sp>
        <p:nvSpPr>
          <p:cNvPr id="21" name="TextBox 354">
            <a:extLst>
              <a:ext uri="{FF2B5EF4-FFF2-40B4-BE49-F238E27FC236}">
                <a16:creationId xmlns:a16="http://schemas.microsoft.com/office/drawing/2014/main" id="{A2E367F7-22DA-4FFC-AC5C-EA6E9C8C350A}"/>
              </a:ext>
            </a:extLst>
          </p:cNvPr>
          <p:cNvSpPr txBox="1"/>
          <p:nvPr/>
        </p:nvSpPr>
        <p:spPr>
          <a:xfrm rot="10800000" flipV="1">
            <a:off x="8073722" y="2516632"/>
            <a:ext cx="115053" cy="98361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▼</a:t>
            </a: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오각형 214">
            <a:extLst>
              <a:ext uri="{FF2B5EF4-FFF2-40B4-BE49-F238E27FC236}">
                <a16:creationId xmlns:a16="http://schemas.microsoft.com/office/drawing/2014/main" id="{771D6971-FF71-4896-9134-E582A7364FB3}"/>
              </a:ext>
            </a:extLst>
          </p:cNvPr>
          <p:cNvSpPr/>
          <p:nvPr/>
        </p:nvSpPr>
        <p:spPr bwMode="auto">
          <a:xfrm>
            <a:off x="4904841" y="2680794"/>
            <a:ext cx="645793" cy="192624"/>
          </a:xfrm>
          <a:prstGeom prst="homePlate">
            <a:avLst>
              <a:gd name="adj" fmla="val 31784"/>
            </a:avLst>
          </a:prstGeom>
          <a:solidFill>
            <a:schemeClr val="accent3">
              <a:lumMod val="60000"/>
              <a:lumOff val="4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kern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방화벽 오픈 및 </a:t>
            </a:r>
            <a:br>
              <a:rPr kumimoji="1" lang="en-US" altLang="ko-KR" sz="700" b="1" kern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</a:br>
            <a:r>
              <a:rPr kumimoji="1" lang="ko-KR" altLang="en-US" sz="700" b="1" kern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개발 구축 환경 세팅</a:t>
            </a:r>
            <a:endParaRPr kumimoji="1" lang="ko-KR" altLang="en-US" sz="7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맑은 고딕" pitchFamily="50" charset="-127"/>
            </a:endParaRPr>
          </a:p>
        </p:txBody>
      </p:sp>
      <p:sp>
        <p:nvSpPr>
          <p:cNvPr id="24" name="오각형 214">
            <a:extLst>
              <a:ext uri="{FF2B5EF4-FFF2-40B4-BE49-F238E27FC236}">
                <a16:creationId xmlns:a16="http://schemas.microsoft.com/office/drawing/2014/main" id="{B9B1838B-27A3-4567-AA2B-61CAB29F6A3D}"/>
              </a:ext>
            </a:extLst>
          </p:cNvPr>
          <p:cNvSpPr/>
          <p:nvPr/>
        </p:nvSpPr>
        <p:spPr bwMode="auto">
          <a:xfrm>
            <a:off x="5553253" y="2680794"/>
            <a:ext cx="645793" cy="192624"/>
          </a:xfrm>
          <a:prstGeom prst="homePlate">
            <a:avLst>
              <a:gd name="adj" fmla="val 31784"/>
            </a:avLst>
          </a:prstGeom>
          <a:solidFill>
            <a:schemeClr val="accent3">
              <a:lumMod val="60000"/>
              <a:lumOff val="4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업체별 개발</a:t>
            </a:r>
            <a:br>
              <a:rPr kumimoji="1" lang="en-US" altLang="ko-KR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</a:br>
            <a:r>
              <a:rPr kumimoji="1" lang="en-US" altLang="ko-KR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(8</a:t>
            </a:r>
            <a:r>
              <a:rPr kumimoji="1" lang="ko-KR" altLang="en-US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월 초까지 완료</a:t>
            </a:r>
            <a:r>
              <a:rPr kumimoji="1" lang="en-US" altLang="ko-KR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)</a:t>
            </a:r>
            <a:endParaRPr kumimoji="1" lang="ko-KR" altLang="en-US" sz="7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맑은 고딕" pitchFamily="50" charset="-127"/>
            </a:endParaRPr>
          </a:p>
        </p:txBody>
      </p:sp>
      <p:sp>
        <p:nvSpPr>
          <p:cNvPr id="25" name="오각형 214">
            <a:extLst>
              <a:ext uri="{FF2B5EF4-FFF2-40B4-BE49-F238E27FC236}">
                <a16:creationId xmlns:a16="http://schemas.microsoft.com/office/drawing/2014/main" id="{F3E492D2-740B-4E40-BD1B-38D66B99BB3F}"/>
              </a:ext>
            </a:extLst>
          </p:cNvPr>
          <p:cNvSpPr/>
          <p:nvPr/>
        </p:nvSpPr>
        <p:spPr bwMode="auto">
          <a:xfrm>
            <a:off x="6206795" y="2680794"/>
            <a:ext cx="1151446" cy="192624"/>
          </a:xfrm>
          <a:prstGeom prst="homePlate">
            <a:avLst>
              <a:gd name="adj" fmla="val 31784"/>
            </a:avLst>
          </a:prstGeom>
          <a:solidFill>
            <a:schemeClr val="accent3">
              <a:lumMod val="60000"/>
              <a:lumOff val="40000"/>
            </a:schemeClr>
          </a:solidFill>
          <a:ln w="6350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 type="none"/>
          </a:ln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5726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업체별 테스트 진행</a:t>
            </a:r>
            <a:br>
              <a:rPr kumimoji="1" lang="en-US" altLang="ko-KR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</a:br>
            <a:r>
              <a:rPr kumimoji="1" lang="en-US" altLang="ko-KR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(8</a:t>
            </a:r>
            <a:r>
              <a:rPr kumimoji="1" lang="ko-KR" altLang="en-US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월 초부터 순차적 진행</a:t>
            </a:r>
            <a:r>
              <a:rPr kumimoji="1" lang="en-US" altLang="ko-KR" sz="700" b="1" i="0" u="none" strike="noStrike" kern="0" cap="none" spc="0" normalizeH="0" baseline="0" noProof="0">
                <a:ln w="3175">
                  <a:solidFill>
                    <a:sysClr val="windowText" lastClr="000000">
                      <a:alpha val="5000"/>
                    </a:sysClr>
                  </a:solidFill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맑은 고딕" pitchFamily="50" charset="-127"/>
              </a:rPr>
              <a:t>)</a:t>
            </a:r>
            <a:endParaRPr kumimoji="1" lang="ko-KR" altLang="en-US" sz="700" b="1" i="0" u="none" strike="noStrike" kern="0" cap="none" spc="0" normalizeH="0" baseline="0" noProof="0">
              <a:ln w="3175">
                <a:solidFill>
                  <a:sysClr val="windowText" lastClr="000000">
                    <a:alpha val="5000"/>
                  </a:sysClr>
                </a:solidFill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맑은 고딕" pitchFamily="50" charset="-127"/>
            </a:endParaRPr>
          </a:p>
        </p:txBody>
      </p:sp>
      <p:cxnSp>
        <p:nvCxnSpPr>
          <p:cNvPr id="4" name="직선 화살표 연결선 3">
            <a:extLst>
              <a:ext uri="{FF2B5EF4-FFF2-40B4-BE49-F238E27FC236}">
                <a16:creationId xmlns:a16="http://schemas.microsoft.com/office/drawing/2014/main" id="{94E5F349-DA1F-490E-B139-9416B5770CCE}"/>
              </a:ext>
            </a:extLst>
          </p:cNvPr>
          <p:cNvCxnSpPr>
            <a:cxnSpLocks/>
            <a:stCxn id="21" idx="2"/>
          </p:cNvCxnSpPr>
          <p:nvPr/>
        </p:nvCxnSpPr>
        <p:spPr>
          <a:xfrm>
            <a:off x="8131248" y="2614993"/>
            <a:ext cx="0" cy="383662"/>
          </a:xfrm>
          <a:prstGeom prst="straightConnector1">
            <a:avLst/>
          </a:prstGeom>
          <a:ln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354">
            <a:extLst>
              <a:ext uri="{FF2B5EF4-FFF2-40B4-BE49-F238E27FC236}">
                <a16:creationId xmlns:a16="http://schemas.microsoft.com/office/drawing/2014/main" id="{73F17B2D-D406-4A37-9402-8C3A4A81B374}"/>
              </a:ext>
            </a:extLst>
          </p:cNvPr>
          <p:cNvSpPr txBox="1"/>
          <p:nvPr/>
        </p:nvSpPr>
        <p:spPr>
          <a:xfrm rot="10800000" flipV="1">
            <a:off x="8117893" y="2517879"/>
            <a:ext cx="115053" cy="98361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▼</a:t>
            </a: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036EBE79-64AF-4BF5-96F4-94D57272FE06}"/>
              </a:ext>
            </a:extLst>
          </p:cNvPr>
          <p:cNvCxnSpPr>
            <a:cxnSpLocks/>
            <a:stCxn id="27" idx="2"/>
          </p:cNvCxnSpPr>
          <p:nvPr/>
        </p:nvCxnSpPr>
        <p:spPr>
          <a:xfrm>
            <a:off x="8175419" y="2616240"/>
            <a:ext cx="0" cy="383662"/>
          </a:xfrm>
          <a:prstGeom prst="straightConnector1">
            <a:avLst/>
          </a:prstGeom>
          <a:ln>
            <a:solidFill>
              <a:srgbClr val="0000FF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54">
            <a:extLst>
              <a:ext uri="{FF2B5EF4-FFF2-40B4-BE49-F238E27FC236}">
                <a16:creationId xmlns:a16="http://schemas.microsoft.com/office/drawing/2014/main" id="{5959F008-F9BD-458E-91BC-C6C61440F595}"/>
              </a:ext>
            </a:extLst>
          </p:cNvPr>
          <p:cNvSpPr txBox="1"/>
          <p:nvPr/>
        </p:nvSpPr>
        <p:spPr>
          <a:xfrm rot="10800000" flipV="1">
            <a:off x="7977343" y="2950619"/>
            <a:ext cx="115053" cy="98361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▼</a:t>
            </a: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TextBox 354">
            <a:extLst>
              <a:ext uri="{FF2B5EF4-FFF2-40B4-BE49-F238E27FC236}">
                <a16:creationId xmlns:a16="http://schemas.microsoft.com/office/drawing/2014/main" id="{C47B253D-31A1-4B53-A978-9DF320A11BA1}"/>
              </a:ext>
            </a:extLst>
          </p:cNvPr>
          <p:cNvSpPr txBox="1"/>
          <p:nvPr/>
        </p:nvSpPr>
        <p:spPr>
          <a:xfrm rot="10800000" flipV="1">
            <a:off x="7508638" y="2954949"/>
            <a:ext cx="115053" cy="98361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▼</a:t>
            </a: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DFC7623-E3F6-4E10-A1D2-C1B9C9103E2E}"/>
              </a:ext>
            </a:extLst>
          </p:cNvPr>
          <p:cNvSpPr txBox="1"/>
          <p:nvPr/>
        </p:nvSpPr>
        <p:spPr>
          <a:xfrm>
            <a:off x="8074287" y="2912018"/>
            <a:ext cx="49634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Target</a:t>
            </a:r>
            <a:endParaRPr lang="ko-KR" altLang="en-US" sz="800">
              <a:latin typeface="LG스마트체2.0 Regular" panose="020B0600000101010101" pitchFamily="50" charset="-127"/>
              <a:ea typeface="LG스마트체2.0 Regular" panose="020B0600000101010101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7E506A8-C0D1-4CAD-A429-DFD955514DDE}"/>
              </a:ext>
            </a:extLst>
          </p:cNvPr>
          <p:cNvSpPr txBox="1"/>
          <p:nvPr/>
        </p:nvSpPr>
        <p:spPr>
          <a:xfrm>
            <a:off x="7605582" y="2919200"/>
            <a:ext cx="49634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현재</a:t>
            </a:r>
          </a:p>
        </p:txBody>
      </p:sp>
      <p:graphicFrame>
        <p:nvGraphicFramePr>
          <p:cNvPr id="47" name="Table 5">
            <a:extLst>
              <a:ext uri="{FF2B5EF4-FFF2-40B4-BE49-F238E27FC236}">
                <a16:creationId xmlns:a16="http://schemas.microsoft.com/office/drawing/2014/main" id="{B1F90DEF-C73D-459A-A38D-8267D0DBDBB8}"/>
              </a:ext>
            </a:extLst>
          </p:cNvPr>
          <p:cNvGraphicFramePr>
            <a:graphicFrameLocks noGrp="1"/>
          </p:cNvGraphicFramePr>
          <p:nvPr/>
        </p:nvGraphicFramePr>
        <p:xfrm>
          <a:off x="2320694" y="4252852"/>
          <a:ext cx="5149844" cy="192214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56971">
                  <a:extLst>
                    <a:ext uri="{9D8B030D-6E8A-4147-A177-3AD203B41FA5}">
                      <a16:colId xmlns:a16="http://schemas.microsoft.com/office/drawing/2014/main" val="2801143162"/>
                    </a:ext>
                  </a:extLst>
                </a:gridCol>
                <a:gridCol w="665723">
                  <a:extLst>
                    <a:ext uri="{9D8B030D-6E8A-4147-A177-3AD203B41FA5}">
                      <a16:colId xmlns:a16="http://schemas.microsoft.com/office/drawing/2014/main" val="4161557924"/>
                    </a:ext>
                  </a:extLst>
                </a:gridCol>
                <a:gridCol w="579275">
                  <a:extLst>
                    <a:ext uri="{9D8B030D-6E8A-4147-A177-3AD203B41FA5}">
                      <a16:colId xmlns:a16="http://schemas.microsoft.com/office/drawing/2014/main" val="528076908"/>
                    </a:ext>
                  </a:extLst>
                </a:gridCol>
                <a:gridCol w="2882937">
                  <a:extLst>
                    <a:ext uri="{9D8B030D-6E8A-4147-A177-3AD203B41FA5}">
                      <a16:colId xmlns:a16="http://schemas.microsoft.com/office/drawing/2014/main" val="196026410"/>
                    </a:ext>
                  </a:extLst>
                </a:gridCol>
                <a:gridCol w="764938">
                  <a:extLst>
                    <a:ext uri="{9D8B030D-6E8A-4147-A177-3AD203B41FA5}">
                      <a16:colId xmlns:a16="http://schemas.microsoft.com/office/drawing/2014/main" val="39930638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부품</a:t>
                      </a:r>
                      <a:endParaRPr lang="en-US" altLang="ko-KR" b="0"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협력사명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수준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개발 현황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86963"/>
                  </a:ext>
                </a:extLst>
              </a:tr>
              <a:tr h="1398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기구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세아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메카닉스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Light Ver.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통합테스트 진행 완료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(9/10), 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- 72/72 (</a:t>
                      </a:r>
                      <a:r>
                        <a:rPr lang="ko-KR" altLang="ko-KR" sz="9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세아</a:t>
                      </a:r>
                      <a:r>
                        <a:rPr lang="ko-KR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특화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6/6, </a:t>
                      </a:r>
                      <a:r>
                        <a:rPr lang="ko-KR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공통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66/66) </a:t>
                      </a:r>
                      <a:r>
                        <a:rPr lang="ko-KR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결함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0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endParaRPr lang="en-US" altLang="ko-KR" sz="9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실적 확인 완료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(12/5)</a:t>
                      </a:r>
                      <a:endParaRPr kumimoji="0" lang="ko-KR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058715"/>
                  </a:ext>
                </a:extLst>
              </a:tr>
              <a:tr h="1398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회로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파워로직스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Light Ver.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통합테스트 진행 완료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(9/17)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- 71/71 (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파워로직스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특화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5/5,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공통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66/66)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결함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0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endParaRPr kumimoji="0" lang="ko-KR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실적 확인 완료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(10/23)</a:t>
                      </a:r>
                      <a:endParaRPr kumimoji="0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804217"/>
                  </a:ext>
                </a:extLst>
              </a:tr>
              <a:tr h="1398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회로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피플웍스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Light Ver.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통합테스트 진행 완료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(9/24)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- 71/71 (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피플웍스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특화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5/5,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공통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66/66)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결함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0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endParaRPr kumimoji="0" lang="ko-KR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81601"/>
                  </a:ext>
                </a:extLst>
              </a:tr>
              <a:tr h="2750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LSEVP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Light Ver.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통합테스트 진행 완료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(9/11 -&gt; 9/19)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- LSEVP IP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설정 문제로 접속 불가하여 지연 발생하였으나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, 9/19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일 조치되어 통합 테스트 진행 완료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- 78/78 (LSEVP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특화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10/10,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공통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68/68)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결함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0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endParaRPr kumimoji="0" lang="ko-KR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072691"/>
                  </a:ext>
                </a:extLst>
              </a:tr>
              <a:tr h="1398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전장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유라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Full Ver.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통합테스트 진행 완료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(9/25)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- 86/86 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유라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특화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14/14,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공통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72/72)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결함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0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건</a:t>
                      </a:r>
                      <a:endParaRPr kumimoji="0" lang="ko-KR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432675"/>
                  </a:ext>
                </a:extLst>
              </a:tr>
            </a:tbl>
          </a:graphicData>
        </a:graphic>
      </p:graphicFrame>
      <p:sp>
        <p:nvSpPr>
          <p:cNvPr id="48" name="TextBox 47">
            <a:extLst>
              <a:ext uri="{FF2B5EF4-FFF2-40B4-BE49-F238E27FC236}">
                <a16:creationId xmlns:a16="http://schemas.microsoft.com/office/drawing/2014/main" id="{EC257612-FC7E-4725-9A14-AF36BF13D0D3}"/>
              </a:ext>
            </a:extLst>
          </p:cNvPr>
          <p:cNvSpPr txBox="1"/>
          <p:nvPr/>
        </p:nvSpPr>
        <p:spPr>
          <a:xfrm>
            <a:off x="7585646" y="4428340"/>
            <a:ext cx="3098166" cy="78483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&lt;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협력사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시스템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구축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Grade&gt;</a:t>
            </a:r>
          </a:p>
          <a:p>
            <a:pPr marL="228600" marR="0" lvl="0" indent="-22860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Full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ver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.:CTQ Data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연계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및 Interlock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양방향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인터페이스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228600" marR="0" lvl="0" indent="-22860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Light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ver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.:CTQ Data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연계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228600" marR="0" lvl="0" indent="-22860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보급형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: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협력사Data를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QMS </a:t>
            </a:r>
            <a:r>
              <a:rPr kumimoji="0" lang="en-US" altLang="ko-KR" sz="900" b="0" i="0" u="none" strike="noStrike" kern="1200" cap="none" spc="0" normalizeH="0" baseline="0" noProof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수기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upload</a:t>
            </a:r>
          </a:p>
        </p:txBody>
      </p:sp>
      <p:graphicFrame>
        <p:nvGraphicFramePr>
          <p:cNvPr id="2" name="Table 5">
            <a:extLst>
              <a:ext uri="{FF2B5EF4-FFF2-40B4-BE49-F238E27FC236}">
                <a16:creationId xmlns:a16="http://schemas.microsoft.com/office/drawing/2014/main" id="{8AEBAE24-1063-ACFB-4022-B647A6618A4A}"/>
              </a:ext>
            </a:extLst>
          </p:cNvPr>
          <p:cNvGraphicFramePr>
            <a:graphicFrameLocks noGrp="1"/>
          </p:cNvGraphicFramePr>
          <p:nvPr/>
        </p:nvGraphicFramePr>
        <p:xfrm>
          <a:off x="2320694" y="6445852"/>
          <a:ext cx="5149844" cy="71437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7738">
                  <a:extLst>
                    <a:ext uri="{9D8B030D-6E8A-4147-A177-3AD203B41FA5}">
                      <a16:colId xmlns:a16="http://schemas.microsoft.com/office/drawing/2014/main" val="2801143162"/>
                    </a:ext>
                  </a:extLst>
                </a:gridCol>
                <a:gridCol w="1103468">
                  <a:extLst>
                    <a:ext uri="{9D8B030D-6E8A-4147-A177-3AD203B41FA5}">
                      <a16:colId xmlns:a16="http://schemas.microsoft.com/office/drawing/2014/main" val="4161557924"/>
                    </a:ext>
                  </a:extLst>
                </a:gridCol>
                <a:gridCol w="819150">
                  <a:extLst>
                    <a:ext uri="{9D8B030D-6E8A-4147-A177-3AD203B41FA5}">
                      <a16:colId xmlns:a16="http://schemas.microsoft.com/office/drawing/2014/main" val="196026410"/>
                    </a:ext>
                  </a:extLst>
                </a:gridCol>
                <a:gridCol w="2879488">
                  <a:extLst>
                    <a:ext uri="{9D8B030D-6E8A-4147-A177-3AD203B41FA5}">
                      <a16:colId xmlns:a16="http://schemas.microsoft.com/office/drawing/2014/main" val="2923175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구분</a:t>
                      </a:r>
                      <a:endParaRPr lang="en-US" altLang="ko-KR" b="0">
                        <a:solidFill>
                          <a:schemeClr val="tx1"/>
                        </a:solidFill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W/F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수집 여부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진행 현황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869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1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협력사별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이상발생현황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수집 완료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(11/10)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Data Loader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내 쿼리 작성 완료 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(11/12)</a:t>
                      </a:r>
                      <a:b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900" b="0" i="0" u="none" strike="noStrike" kern="1200">
                          <a:solidFill>
                            <a:srgbClr val="050702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SQA</a:t>
                      </a:r>
                      <a:r>
                        <a:rPr lang="ko-KR" altLang="en-US" sz="900" b="0" i="0" u="none" strike="noStrike" kern="1200">
                          <a:solidFill>
                            <a:srgbClr val="050702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에서 </a:t>
                      </a:r>
                      <a:r>
                        <a:rPr lang="en-US" altLang="ko-KR" sz="900" b="0" i="0" u="none" strike="noStrike" kern="1200">
                          <a:solidFill>
                            <a:srgbClr val="050702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900" b="0" i="0" u="none" strike="noStrike" kern="1200">
                          <a:solidFill>
                            <a:srgbClr val="050702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작성 완료 </a:t>
                      </a:r>
                      <a:r>
                        <a:rPr lang="en-US" altLang="ko-KR" sz="900" b="0" i="0" u="none" strike="noStrike" kern="1200">
                          <a:solidFill>
                            <a:srgbClr val="050702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(12/1)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05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2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협력사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LQC – </a:t>
                      </a:r>
                      <a:b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자사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IQC/LQC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연계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>
                          <a:solidFill>
                            <a:srgbClr val="0000FF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SQA</a:t>
                      </a:r>
                      <a:r>
                        <a:rPr lang="ko-KR" altLang="en-US" sz="900" b="0" i="0" u="none" strike="noStrike" kern="1200">
                          <a:solidFill>
                            <a:srgbClr val="0000FF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 에서 </a:t>
                      </a:r>
                      <a:r>
                        <a:rPr lang="en-US" altLang="ko-KR" sz="900" b="0" i="0" u="none" strike="noStrike" kern="1200">
                          <a:solidFill>
                            <a:srgbClr val="0000FF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W/F </a:t>
                      </a:r>
                      <a:r>
                        <a:rPr lang="ko-KR" altLang="en-US" sz="900" b="0" i="0" u="none" strike="noStrike" kern="1200">
                          <a:solidFill>
                            <a:srgbClr val="0000FF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작성 중 </a:t>
                      </a:r>
                      <a:r>
                        <a:rPr lang="en-US" altLang="ko-KR" sz="900" b="0" i="0" u="none" strike="noStrike" kern="1200">
                          <a:solidFill>
                            <a:srgbClr val="0000FF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(~12/19)</a:t>
                      </a:r>
                      <a:endParaRPr kumimoji="0" lang="ko-KR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38042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67044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4245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rgbClr val="FFFFFF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아웃소싱업체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품질관리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동일성 확보를 위한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품질 시스템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 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ESS Pack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아웃소싱 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업체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피플웍스社</a:t>
                      </a:r>
                      <a:endParaRPr lang="ko-KR" altLang="en-US"/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시카고)</a:t>
                      </a:r>
                    </a:p>
                    <a:p>
                      <a:pPr lvl="0" algn="ctr">
                        <a:buNone/>
                      </a:pP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인팩社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en-US" altLang="ko-KR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폴란드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ko-KR" alt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‘25.12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서경민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안희용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20655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아웃소싱업체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 품질관리 동일성 확보를 위한 품질 시스템 구축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_1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/>
        </p:nvGraphicFramePr>
        <p:xfrm>
          <a:off x="1640793" y="1069521"/>
          <a:ext cx="7574769" cy="5558400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7574769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5521020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 Open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(12/3)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이후 실적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모니터링 및 사용자 교육을 진행 중입니다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(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정기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교욱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3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회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현장 상시 교육 진행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SOP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일정은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BPU Crack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Issue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로 인해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12/15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내년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(TBD)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으로 연기 되었으며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 PV Stress Run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일정이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품질 운영 준비 미흡</a:t>
                      </a: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(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계측 운영 및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SOP,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검사진행 등으로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신공장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점검 미달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으로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12/16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에서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개선 여부 확인 후 진행 일정 수립 예정입니다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PV Run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대상에 대해 운영 시스템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MES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출하 처리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LSP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입고 처리가 가능하여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PV Run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잔여 모니터링 점검 진행 예정입니다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LGES vs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Infac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Cell Risk Range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관련 개발 필요 사항에 대한 정의 완료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(12/8)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하였으며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각 시스템 담당자별 공수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일정 검토 하여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착수 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(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일정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완료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’26/01/16, Test 1/23,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Open : 1/30)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MIMS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는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12/2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 시스템 오픈 하여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12/3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사용자 교육 완료 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계측기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51ea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등록 완료 하였으며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Open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이후 모니터링 중입니다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목적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아웃소싱업체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(Packer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협력사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_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피플웍스社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의 품질관리 프로세스 및 시스템을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동등 수준으로 확보하여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협력사 근본 품질 경쟁력 강화를 통해 선행 예방 품질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역량 향상 및 품질 보증 체계 구축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이를 통해 불량 유출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Zero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화를 달성하고자 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2.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일정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3.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현황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1) 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폴란드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품질 시스템 구축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자사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 도입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품질 필수 프로세스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 기준 시스템 구성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-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외주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Packer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社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QMS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서버 구축 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① 개발 서버 사전 구축 완료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(8/12,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방화벽 오픈 및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8/22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개발환경 구축 완료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②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</a:t>
                      </a:r>
                      <a:r>
                        <a:rPr lang="en-US" altLang="ko-KR" sz="900" b="0" i="0" u="none" strike="noStrike" baseline="0" noProof="0" err="1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운영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서버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구축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: WEB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서버를 통해 운영 서버 및 개발 서버 </a:t>
                      </a:r>
                      <a:r>
                        <a:rPr lang="ko-KR" altLang="en-US" sz="900" b="0" i="0" u="none" strike="noStrike" baseline="0" noProof="0" err="1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인팩에서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접속 가능하도록 구성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242424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(~9/25)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         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→ 운영 서버 생성 완료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(9/19)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방화벽 해제 완료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</a:t>
                      </a: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904527" y="572550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12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/15(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월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026816" y="403273"/>
            <a:ext cx="101951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서경민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07B95C9-CB72-FBB8-229D-0432F68AE1D4}"/>
              </a:ext>
            </a:extLst>
          </p:cNvPr>
          <p:cNvSpPr txBox="1"/>
          <p:nvPr/>
        </p:nvSpPr>
        <p:spPr>
          <a:xfrm>
            <a:off x="5550634" y="625428"/>
            <a:ext cx="2523654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100">
                <a:latin typeface="+mn-ea"/>
              </a:rPr>
              <a:t>[ </a:t>
            </a:r>
            <a:r>
              <a:rPr lang="ko-KR" altLang="en-US" sz="1100">
                <a:latin typeface="+mn-ea"/>
              </a:rPr>
              <a:t>과제번호 </a:t>
            </a:r>
            <a:r>
              <a:rPr lang="en-US" altLang="ko-KR" sz="1100">
                <a:latin typeface="+mn-ea"/>
              </a:rPr>
              <a:t>: </a:t>
            </a:r>
            <a:r>
              <a:rPr lang="ko-KR" altLang="en-US" sz="1100">
                <a:latin typeface="+mn-ea"/>
              </a:rPr>
              <a:t>품질</a:t>
            </a:r>
            <a:r>
              <a:rPr lang="en-US" altLang="ko-KR" sz="1100">
                <a:latin typeface="+mn-ea"/>
              </a:rPr>
              <a:t>-#5,  </a:t>
            </a:r>
            <a:r>
              <a:rPr lang="ko-KR" altLang="en-US" sz="1100">
                <a:latin typeface="+mn-ea"/>
              </a:rPr>
              <a:t>진행 상태</a:t>
            </a:r>
            <a:r>
              <a:rPr lang="en-US" altLang="ko-KR" sz="1100">
                <a:latin typeface="+mn-ea"/>
              </a:rPr>
              <a:t> : </a:t>
            </a:r>
            <a:r>
              <a:rPr lang="ko-KR" altLang="en-US" sz="1100">
                <a:solidFill>
                  <a:srgbClr val="00B050"/>
                </a:solidFill>
                <a:latin typeface="+mn-ea"/>
              </a:rPr>
              <a:t>●</a:t>
            </a:r>
            <a:r>
              <a:rPr lang="ko-KR" altLang="en-US" sz="1100">
                <a:latin typeface="+mn-ea"/>
              </a:rPr>
              <a:t> </a:t>
            </a:r>
            <a:r>
              <a:rPr lang="en-US" altLang="ko-KR" sz="1100">
                <a:latin typeface="+mn-ea"/>
              </a:rPr>
              <a:t>] </a:t>
            </a:r>
            <a:endParaRPr lang="ko-KR" altLang="en-US" sz="1100">
              <a:latin typeface="+mn-ea"/>
            </a:endParaRP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6065829E-094E-4161-BD19-D086AB0AFDEA}"/>
              </a:ext>
            </a:extLst>
          </p:cNvPr>
          <p:cNvGraphicFramePr>
            <a:graphicFrameLocks noGrp="1"/>
          </p:cNvGraphicFramePr>
          <p:nvPr/>
        </p:nvGraphicFramePr>
        <p:xfrm>
          <a:off x="1703530" y="2913379"/>
          <a:ext cx="6886897" cy="1320523"/>
        </p:xfrm>
        <a:graphic>
          <a:graphicData uri="http://schemas.openxmlformats.org/drawingml/2006/table">
            <a:tbl>
              <a:tblPr/>
              <a:tblGrid>
                <a:gridCol w="766513">
                  <a:extLst>
                    <a:ext uri="{9D8B030D-6E8A-4147-A177-3AD203B41FA5}">
                      <a16:colId xmlns:a16="http://schemas.microsoft.com/office/drawing/2014/main" val="3589693217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1593047186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3938159994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1516868622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4065213077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2107571130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2402745180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692966739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3396065469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1676020287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514978262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495362091"/>
                    </a:ext>
                  </a:extLst>
                </a:gridCol>
                <a:gridCol w="510032">
                  <a:extLst>
                    <a:ext uri="{9D8B030D-6E8A-4147-A177-3AD203B41FA5}">
                      <a16:colId xmlns:a16="http://schemas.microsoft.com/office/drawing/2014/main" val="2031371578"/>
                    </a:ext>
                  </a:extLst>
                </a:gridCol>
              </a:tblGrid>
              <a:tr h="95324">
                <a:tc rowSpan="2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4970" marR="4970" marT="497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2025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214648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894655"/>
                  </a:ext>
                </a:extLst>
              </a:tr>
              <a:tr h="57375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인팩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폴란드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품질 시스템 구축</a:t>
                      </a:r>
                    </a:p>
                  </a:txBody>
                  <a:tcPr marL="33231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4340155"/>
                  </a:ext>
                </a:extLst>
              </a:tr>
              <a:tr h="462509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품질 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 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연계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</a:t>
                      </a:r>
                      <a:r>
                        <a:rPr lang="ko-KR" altLang="en-US" sz="800" b="1" i="0" u="none" strike="noStrike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인터락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구현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(Packer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↔ 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QMS)</a:t>
                      </a:r>
                    </a:p>
                  </a:txBody>
                  <a:tcPr marL="33231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6248774"/>
                  </a:ext>
                </a:extLst>
              </a:tr>
            </a:tbl>
          </a:graphicData>
        </a:graphic>
      </p:graphicFrame>
      <p:sp>
        <p:nvSpPr>
          <p:cNvPr id="89" name="오각형 61">
            <a:extLst>
              <a:ext uri="{FF2B5EF4-FFF2-40B4-BE49-F238E27FC236}">
                <a16:creationId xmlns:a16="http://schemas.microsoft.com/office/drawing/2014/main" id="{1ECD6BD6-8D94-4B8C-8E64-C84D60FBA704}"/>
              </a:ext>
            </a:extLst>
          </p:cNvPr>
          <p:cNvSpPr/>
          <p:nvPr/>
        </p:nvSpPr>
        <p:spPr bwMode="auto">
          <a:xfrm>
            <a:off x="5722958" y="3990603"/>
            <a:ext cx="1823195" cy="144000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설계 및 기능 개발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90" name="오각형 61">
            <a:extLst>
              <a:ext uri="{FF2B5EF4-FFF2-40B4-BE49-F238E27FC236}">
                <a16:creationId xmlns:a16="http://schemas.microsoft.com/office/drawing/2014/main" id="{88AD788D-43FF-4521-8AD6-F287F5962EC6}"/>
              </a:ext>
            </a:extLst>
          </p:cNvPr>
          <p:cNvSpPr/>
          <p:nvPr/>
        </p:nvSpPr>
        <p:spPr bwMode="auto">
          <a:xfrm>
            <a:off x="7599600" y="3990603"/>
            <a:ext cx="434373" cy="144000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통합</a:t>
            </a:r>
            <a:r>
              <a: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사용자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테스트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91" name="오각형 61">
            <a:extLst>
              <a:ext uri="{FF2B5EF4-FFF2-40B4-BE49-F238E27FC236}">
                <a16:creationId xmlns:a16="http://schemas.microsoft.com/office/drawing/2014/main" id="{ADC61448-96DD-4EC9-A373-88F9618A37B5}"/>
              </a:ext>
            </a:extLst>
          </p:cNvPr>
          <p:cNvSpPr/>
          <p:nvPr/>
        </p:nvSpPr>
        <p:spPr bwMode="auto">
          <a:xfrm>
            <a:off x="4067442" y="3990603"/>
            <a:ext cx="867231" cy="144000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프로세스 분석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요구사항 정의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92" name="오각형 61">
            <a:extLst>
              <a:ext uri="{FF2B5EF4-FFF2-40B4-BE49-F238E27FC236}">
                <a16:creationId xmlns:a16="http://schemas.microsoft.com/office/drawing/2014/main" id="{4E090C78-3193-4C06-B965-C44796520F73}"/>
              </a:ext>
            </a:extLst>
          </p:cNvPr>
          <p:cNvSpPr/>
          <p:nvPr/>
        </p:nvSpPr>
        <p:spPr bwMode="auto">
          <a:xfrm>
            <a:off x="4957744" y="3990603"/>
            <a:ext cx="751672" cy="144000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화면 정의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94" name="오각형 61">
            <a:extLst>
              <a:ext uri="{FF2B5EF4-FFF2-40B4-BE49-F238E27FC236}">
                <a16:creationId xmlns:a16="http://schemas.microsoft.com/office/drawing/2014/main" id="{4CF14DDB-F4DB-4E80-97EB-8B575A19763C}"/>
              </a:ext>
            </a:extLst>
          </p:cNvPr>
          <p:cNvSpPr/>
          <p:nvPr/>
        </p:nvSpPr>
        <p:spPr bwMode="auto">
          <a:xfrm>
            <a:off x="7603502" y="3321703"/>
            <a:ext cx="478383" cy="370398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통합</a:t>
            </a:r>
            <a:r>
              <a: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사용자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테스트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95" name="오각형 61">
            <a:extLst>
              <a:ext uri="{FF2B5EF4-FFF2-40B4-BE49-F238E27FC236}">
                <a16:creationId xmlns:a16="http://schemas.microsoft.com/office/drawing/2014/main" id="{CDD96253-CB2C-4C33-A633-59C5A80A1427}"/>
              </a:ext>
            </a:extLst>
          </p:cNvPr>
          <p:cNvSpPr/>
          <p:nvPr/>
        </p:nvSpPr>
        <p:spPr bwMode="auto">
          <a:xfrm>
            <a:off x="4315283" y="3321703"/>
            <a:ext cx="1161808" cy="370398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lIns="91440" tIns="45720" rIns="91440" bIns="45720" anchor="ctr" anchorCtr="0"/>
          <a:lstStyle/>
          <a:p>
            <a:pPr indent="-90170" algn="ctr" eaLnBrk="0" latinLnBrk="0" hangingPunct="0"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Arial"/>
              </a:rPr>
              <a:t>자사 시스템 도입</a:t>
            </a:r>
            <a:endParaRPr lang="en-US" altLang="ko-KR" sz="700" kern="0">
              <a:solidFill>
                <a:srgbClr val="231F20"/>
              </a:solidFill>
              <a:latin typeface="LG스마트체 Regular" panose="020B0600000101010101" pitchFamily="50" charset="-127"/>
              <a:ea typeface="LG스마트체 Regular"/>
              <a:cs typeface="Arial"/>
            </a:endParaRPr>
          </a:p>
          <a:p>
            <a:pPr indent="-90170" algn="ctr">
              <a:defRPr/>
            </a:pPr>
            <a:r>
              <a:rPr lang="ko-KR" altLang="en-US" sz="700" kern="0">
                <a:solidFill>
                  <a:srgbClr val="231F20"/>
                </a:solidFill>
                <a:latin typeface="LG스마트체 Regular" panose="020B0600000101010101" pitchFamily="50" charset="-127"/>
                <a:ea typeface="LG스마트체 Regular"/>
                <a:cs typeface="Arial"/>
              </a:rPr>
              <a:t> </a:t>
            </a: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/>
                <a:cs typeface="Arial"/>
              </a:rPr>
              <a:t>가능 여부 검토</a:t>
            </a:r>
            <a:endParaRPr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/>
              <a:cs typeface="Arial"/>
            </a:endParaRPr>
          </a:p>
        </p:txBody>
      </p:sp>
      <p:sp>
        <p:nvSpPr>
          <p:cNvPr id="97" name="오각형 61">
            <a:extLst>
              <a:ext uri="{FF2B5EF4-FFF2-40B4-BE49-F238E27FC236}">
                <a16:creationId xmlns:a16="http://schemas.microsoft.com/office/drawing/2014/main" id="{1E93EC18-ED4A-4EAB-ABB7-425FCC74054D}"/>
              </a:ext>
            </a:extLst>
          </p:cNvPr>
          <p:cNvSpPr/>
          <p:nvPr/>
        </p:nvSpPr>
        <p:spPr bwMode="auto">
          <a:xfrm>
            <a:off x="8105498" y="3321703"/>
            <a:ext cx="484929" cy="370398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안정화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98" name="오각형 61">
            <a:extLst>
              <a:ext uri="{FF2B5EF4-FFF2-40B4-BE49-F238E27FC236}">
                <a16:creationId xmlns:a16="http://schemas.microsoft.com/office/drawing/2014/main" id="{7B02FBE1-4A4A-45FC-92C6-18C3D11E388D}"/>
              </a:ext>
            </a:extLst>
          </p:cNvPr>
          <p:cNvSpPr/>
          <p:nvPr/>
        </p:nvSpPr>
        <p:spPr bwMode="auto">
          <a:xfrm>
            <a:off x="8087420" y="3990603"/>
            <a:ext cx="516053" cy="144000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안정화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B15BBB1E-9E26-4421-A972-034F22848BF5}"/>
              </a:ext>
            </a:extLst>
          </p:cNvPr>
          <p:cNvSpPr txBox="1"/>
          <p:nvPr/>
        </p:nvSpPr>
        <p:spPr>
          <a:xfrm>
            <a:off x="8112921" y="3168815"/>
            <a:ext cx="1278557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Open (</a:t>
            </a:r>
            <a:r>
              <a:rPr kumimoji="0" lang="en-US" altLang="ko-KR" sz="700" b="0" i="0" u="none" strike="sng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11/30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→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12/3)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1" name="이등변 삼각형 100">
            <a:extLst>
              <a:ext uri="{FF2B5EF4-FFF2-40B4-BE49-F238E27FC236}">
                <a16:creationId xmlns:a16="http://schemas.microsoft.com/office/drawing/2014/main" id="{DC699F31-35A8-4BAB-B702-C08EC5C881F0}"/>
              </a:ext>
            </a:extLst>
          </p:cNvPr>
          <p:cNvSpPr/>
          <p:nvPr/>
        </p:nvSpPr>
        <p:spPr>
          <a:xfrm rot="10800000">
            <a:off x="8037568" y="3226644"/>
            <a:ext cx="142386" cy="75582"/>
          </a:xfrm>
          <a:prstGeom prst="triangle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C6849F59-C901-4786-8DCA-24662DF9245C}"/>
              </a:ext>
            </a:extLst>
          </p:cNvPr>
          <p:cNvSpPr txBox="1"/>
          <p:nvPr/>
        </p:nvSpPr>
        <p:spPr>
          <a:xfrm>
            <a:off x="5744299" y="3806105"/>
            <a:ext cx="129931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투자 심의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en-US" altLang="ko-KR" sz="700" b="0" i="0" u="none" strike="sng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7/9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→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7/22)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03" name="이등변 삼각형 102">
            <a:extLst>
              <a:ext uri="{FF2B5EF4-FFF2-40B4-BE49-F238E27FC236}">
                <a16:creationId xmlns:a16="http://schemas.microsoft.com/office/drawing/2014/main" id="{5284E493-4E05-4AE1-B8B6-0BE50FF29D3D}"/>
              </a:ext>
            </a:extLst>
          </p:cNvPr>
          <p:cNvSpPr/>
          <p:nvPr/>
        </p:nvSpPr>
        <p:spPr>
          <a:xfrm rot="10800000">
            <a:off x="5623081" y="3872894"/>
            <a:ext cx="142386" cy="75582"/>
          </a:xfrm>
          <a:prstGeom prst="triangle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0601A861-3CBF-4F06-A331-DE5BD56EDD59}"/>
              </a:ext>
            </a:extLst>
          </p:cNvPr>
          <p:cNvSpPr txBox="1"/>
          <p:nvPr/>
        </p:nvSpPr>
        <p:spPr>
          <a:xfrm>
            <a:off x="3253238" y="3402128"/>
            <a:ext cx="1071417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자사 시스템 도입 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DF85E15-7E90-4B91-A755-68FD5C6F084B}"/>
              </a:ext>
            </a:extLst>
          </p:cNvPr>
          <p:cNvSpPr txBox="1"/>
          <p:nvPr/>
        </p:nvSpPr>
        <p:spPr>
          <a:xfrm>
            <a:off x="5424498" y="3172729"/>
            <a:ext cx="1059107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적용 시스템 의사결정</a:t>
            </a:r>
          </a:p>
        </p:txBody>
      </p:sp>
      <p:sp>
        <p:nvSpPr>
          <p:cNvPr id="115" name="이등변 삼각형 114">
            <a:extLst>
              <a:ext uri="{FF2B5EF4-FFF2-40B4-BE49-F238E27FC236}">
                <a16:creationId xmlns:a16="http://schemas.microsoft.com/office/drawing/2014/main" id="{83B4FB61-2327-4512-BE86-6F03B25A434E}"/>
              </a:ext>
            </a:extLst>
          </p:cNvPr>
          <p:cNvSpPr/>
          <p:nvPr/>
        </p:nvSpPr>
        <p:spPr>
          <a:xfrm rot="10800000">
            <a:off x="5410937" y="3243086"/>
            <a:ext cx="142386" cy="75582"/>
          </a:xfrm>
          <a:prstGeom prst="triangle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/>
          </a:p>
        </p:txBody>
      </p:sp>
      <p:sp>
        <p:nvSpPr>
          <p:cNvPr id="116" name="오각형 61">
            <a:extLst>
              <a:ext uri="{FF2B5EF4-FFF2-40B4-BE49-F238E27FC236}">
                <a16:creationId xmlns:a16="http://schemas.microsoft.com/office/drawing/2014/main" id="{F70463E5-6888-470D-9CB9-D5918A735100}"/>
              </a:ext>
            </a:extLst>
          </p:cNvPr>
          <p:cNvSpPr/>
          <p:nvPr/>
        </p:nvSpPr>
        <p:spPr bwMode="auto">
          <a:xfrm>
            <a:off x="5551669" y="3564536"/>
            <a:ext cx="830658" cy="144000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구축 범위 </a:t>
            </a:r>
            <a:r>
              <a: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요건 구체화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4ADB18ED-995F-4834-A82E-DC53161E5119}"/>
              </a:ext>
            </a:extLst>
          </p:cNvPr>
          <p:cNvSpPr txBox="1"/>
          <p:nvPr/>
        </p:nvSpPr>
        <p:spPr>
          <a:xfrm>
            <a:off x="3129674" y="3919041"/>
            <a:ext cx="10714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품질 </a:t>
            </a: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Interlock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구현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>
                <a:solidFill>
                  <a:srgbClr val="00800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(phase 1)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424795B-7336-4C78-9CA7-BC172AD2D70B}"/>
              </a:ext>
            </a:extLst>
          </p:cNvPr>
          <p:cNvSpPr/>
          <p:nvPr/>
        </p:nvSpPr>
        <p:spPr>
          <a:xfrm>
            <a:off x="7980850" y="6339320"/>
            <a:ext cx="575799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defRPr/>
            </a:pPr>
            <a:r>
              <a:rPr lang="en-US" altLang="ko-KR" sz="900">
                <a:solidFill>
                  <a:srgbClr val="0000FF"/>
                </a:solidFill>
                <a:latin typeface="+mn-ea"/>
                <a:cs typeface="Malgun Gothic Semilight"/>
              </a:rPr>
              <a:t>(</a:t>
            </a:r>
            <a:r>
              <a:rPr lang="ko-KR" altLang="en-US" sz="900">
                <a:solidFill>
                  <a:srgbClr val="0000FF"/>
                </a:solidFill>
                <a:latin typeface="+mn-ea"/>
                <a:cs typeface="Malgun Gothic Semilight"/>
              </a:rPr>
              <a:t>이어서</a:t>
            </a:r>
            <a:r>
              <a:rPr lang="en-US" altLang="ko-KR" sz="900">
                <a:solidFill>
                  <a:srgbClr val="0000FF"/>
                </a:solidFill>
                <a:latin typeface="+mn-ea"/>
                <a:cs typeface="Malgun Gothic Semilight"/>
              </a:rPr>
              <a:t>)</a:t>
            </a:r>
            <a:endParaRPr lang="en-US" altLang="ko-KR" sz="900">
              <a:latin typeface="+mn-ea"/>
            </a:endParaRPr>
          </a:p>
        </p:txBody>
      </p:sp>
      <p:sp>
        <p:nvSpPr>
          <p:cNvPr id="34" name="TextBox 354">
            <a:extLst>
              <a:ext uri="{FF2B5EF4-FFF2-40B4-BE49-F238E27FC236}">
                <a16:creationId xmlns:a16="http://schemas.microsoft.com/office/drawing/2014/main" id="{62E9B835-9ECC-4417-994E-990096CCC62F}"/>
              </a:ext>
            </a:extLst>
          </p:cNvPr>
          <p:cNvSpPr txBox="1"/>
          <p:nvPr/>
        </p:nvSpPr>
        <p:spPr>
          <a:xfrm rot="10800000" flipH="1" flipV="1">
            <a:off x="7033048" y="3124710"/>
            <a:ext cx="36000" cy="36000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square" lIns="36000" tIns="36000" rIns="36000" bIns="36000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이등변 삼각형 12">
            <a:extLst>
              <a:ext uri="{FF2B5EF4-FFF2-40B4-BE49-F238E27FC236}">
                <a16:creationId xmlns:a16="http://schemas.microsoft.com/office/drawing/2014/main" id="{0344F5DC-D61D-4A0C-9875-0DCC671B401B}"/>
              </a:ext>
            </a:extLst>
          </p:cNvPr>
          <p:cNvSpPr/>
          <p:nvPr/>
        </p:nvSpPr>
        <p:spPr>
          <a:xfrm rot="10800000">
            <a:off x="8280490" y="3061001"/>
            <a:ext cx="108000" cy="720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50A9719-377A-4E90-B6E7-A9AA5272A667}"/>
              </a:ext>
            </a:extLst>
          </p:cNvPr>
          <p:cNvSpPr/>
          <p:nvPr/>
        </p:nvSpPr>
        <p:spPr>
          <a:xfrm>
            <a:off x="1640793" y="4260564"/>
            <a:ext cx="230360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▶ </a:t>
            </a:r>
            <a:r>
              <a:rPr lang="ko-KR" altLang="en-US" sz="900" err="1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인팩</a:t>
            </a:r>
            <a:r>
              <a:rPr lang="ko-KR" altLang="en-US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en-US" altLang="ko-KR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lang="ko-KR" altLang="en-US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폴란드</a:t>
            </a:r>
            <a:r>
              <a:rPr lang="en-US" altLang="ko-KR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</a:t>
            </a:r>
            <a:r>
              <a:rPr lang="ko-KR" altLang="en-US" sz="9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품질시스템 구축 상세 일정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5FFFAE53-08AB-4D99-9DF4-1B3E64645414}"/>
              </a:ext>
            </a:extLst>
          </p:cNvPr>
          <p:cNvGraphicFramePr>
            <a:graphicFrameLocks noGrp="1"/>
          </p:cNvGraphicFramePr>
          <p:nvPr/>
        </p:nvGraphicFramePr>
        <p:xfrm>
          <a:off x="1725434" y="4524453"/>
          <a:ext cx="6839448" cy="853098"/>
        </p:xfrm>
        <a:graphic>
          <a:graphicData uri="http://schemas.openxmlformats.org/drawingml/2006/table">
            <a:tbl>
              <a:tblPr/>
              <a:tblGrid>
                <a:gridCol w="613104">
                  <a:extLst>
                    <a:ext uri="{9D8B030D-6E8A-4147-A177-3AD203B41FA5}">
                      <a16:colId xmlns:a16="http://schemas.microsoft.com/office/drawing/2014/main" val="2416248323"/>
                    </a:ext>
                  </a:extLst>
                </a:gridCol>
                <a:gridCol w="1556586">
                  <a:extLst>
                    <a:ext uri="{9D8B030D-6E8A-4147-A177-3AD203B41FA5}">
                      <a16:colId xmlns:a16="http://schemas.microsoft.com/office/drawing/2014/main" val="1618943714"/>
                    </a:ext>
                  </a:extLst>
                </a:gridCol>
                <a:gridCol w="1556586">
                  <a:extLst>
                    <a:ext uri="{9D8B030D-6E8A-4147-A177-3AD203B41FA5}">
                      <a16:colId xmlns:a16="http://schemas.microsoft.com/office/drawing/2014/main" val="2830304682"/>
                    </a:ext>
                  </a:extLst>
                </a:gridCol>
                <a:gridCol w="1556586">
                  <a:extLst>
                    <a:ext uri="{9D8B030D-6E8A-4147-A177-3AD203B41FA5}">
                      <a16:colId xmlns:a16="http://schemas.microsoft.com/office/drawing/2014/main" val="402918974"/>
                    </a:ext>
                  </a:extLst>
                </a:gridCol>
                <a:gridCol w="1556586">
                  <a:extLst>
                    <a:ext uri="{9D8B030D-6E8A-4147-A177-3AD203B41FA5}">
                      <a16:colId xmlns:a16="http://schemas.microsoft.com/office/drawing/2014/main" val="4132909029"/>
                    </a:ext>
                  </a:extLst>
                </a:gridCol>
              </a:tblGrid>
              <a:tr h="91694">
                <a:tc rowSpan="2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4970" marR="4970" marT="497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2025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2026</a:t>
                      </a:r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년</a:t>
                      </a:r>
                      <a:endParaRPr lang="en-US" altLang="ko-KR" sz="900" b="1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67379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ct val="100000"/>
                        </a:lnSpc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1~3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2651926"/>
                  </a:ext>
                </a:extLst>
              </a:tr>
              <a:tr h="568838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인팩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QMS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오픈 전 상세 일정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3231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970" marR="4970" marT="497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430539"/>
                  </a:ext>
                </a:extLst>
              </a:tr>
            </a:tbl>
          </a:graphicData>
        </a:graphic>
      </p:graphicFrame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357027C1-BF12-4C23-85DD-2F34BFEC8AD5}"/>
              </a:ext>
            </a:extLst>
          </p:cNvPr>
          <p:cNvCxnSpPr>
            <a:cxnSpLocks/>
          </p:cNvCxnSpPr>
          <p:nvPr/>
        </p:nvCxnSpPr>
        <p:spPr>
          <a:xfrm>
            <a:off x="2539511" y="5220522"/>
            <a:ext cx="5997060" cy="0"/>
          </a:xfrm>
          <a:prstGeom prst="line">
            <a:avLst/>
          </a:prstGeom>
          <a:noFill/>
          <a:ln w="12700" cap="flat" cmpd="sng" algn="ctr">
            <a:solidFill>
              <a:srgbClr val="A6A6A6"/>
            </a:solidFill>
            <a:prstDash val="dash"/>
          </a:ln>
          <a:effectLst/>
        </p:spPr>
      </p:cxnSp>
      <p:sp>
        <p:nvSpPr>
          <p:cNvPr id="88" name="오각형 61">
            <a:extLst>
              <a:ext uri="{FF2B5EF4-FFF2-40B4-BE49-F238E27FC236}">
                <a16:creationId xmlns:a16="http://schemas.microsoft.com/office/drawing/2014/main" id="{03B655AD-79F6-4C2F-B022-1A968663A3C0}"/>
              </a:ext>
            </a:extLst>
          </p:cNvPr>
          <p:cNvSpPr/>
          <p:nvPr/>
        </p:nvSpPr>
        <p:spPr bwMode="auto">
          <a:xfrm>
            <a:off x="5554375" y="3321525"/>
            <a:ext cx="1984696" cy="188703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분석설계 및 기능 개발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96" name="오각형 61">
            <a:extLst>
              <a:ext uri="{FF2B5EF4-FFF2-40B4-BE49-F238E27FC236}">
                <a16:creationId xmlns:a16="http://schemas.microsoft.com/office/drawing/2014/main" id="{27CAC2FC-2028-4540-A013-17F2341EB448}"/>
              </a:ext>
            </a:extLst>
          </p:cNvPr>
          <p:cNvSpPr/>
          <p:nvPr/>
        </p:nvSpPr>
        <p:spPr bwMode="auto">
          <a:xfrm>
            <a:off x="3904583" y="4879370"/>
            <a:ext cx="1545371" cy="180000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통합</a:t>
            </a:r>
            <a:r>
              <a: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사용자  테스트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99" name="오각형 61">
            <a:extLst>
              <a:ext uri="{FF2B5EF4-FFF2-40B4-BE49-F238E27FC236}">
                <a16:creationId xmlns:a16="http://schemas.microsoft.com/office/drawing/2014/main" id="{C9134DA9-5382-48B7-9301-184CA89E0F8E}"/>
              </a:ext>
            </a:extLst>
          </p:cNvPr>
          <p:cNvSpPr/>
          <p:nvPr/>
        </p:nvSpPr>
        <p:spPr bwMode="auto">
          <a:xfrm>
            <a:off x="5449954" y="4879370"/>
            <a:ext cx="3085567" cy="180000"/>
          </a:xfrm>
          <a:prstGeom prst="homePlate">
            <a:avLst>
              <a:gd name="adj" fmla="val 21067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Open / </a:t>
            </a: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안정화</a:t>
            </a:r>
            <a:endParaRPr kumimoji="0" lang="en-US" altLang="ko-KR" sz="7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104" name="Oval 6">
            <a:extLst>
              <a:ext uri="{FF2B5EF4-FFF2-40B4-BE49-F238E27FC236}">
                <a16:creationId xmlns:a16="http://schemas.microsoft.com/office/drawing/2014/main" id="{BA544582-EE26-4D54-9AEF-EC3FFDC0E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2067" y="5171243"/>
            <a:ext cx="90000" cy="90000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/>
        </p:spPr>
        <p:txBody>
          <a:bodyPr wrap="none" lIns="0" tIns="0" rIns="0" bIns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+mj-ea"/>
              <a:ea typeface="+mj-ea"/>
              <a:cs typeface="Arial Unicode MS" panose="020B0604020202020204" pitchFamily="50" charset="-127"/>
            </a:endParaRPr>
          </a:p>
        </p:txBody>
      </p:sp>
      <p:sp>
        <p:nvSpPr>
          <p:cNvPr id="105" name="설명선: 굽은 선 104">
            <a:extLst>
              <a:ext uri="{FF2B5EF4-FFF2-40B4-BE49-F238E27FC236}">
                <a16:creationId xmlns:a16="http://schemas.microsoft.com/office/drawing/2014/main" id="{90B332EF-3EAC-4A77-A151-66A3528B9691}"/>
              </a:ext>
            </a:extLst>
          </p:cNvPr>
          <p:cNvSpPr/>
          <p:nvPr/>
        </p:nvSpPr>
        <p:spPr>
          <a:xfrm>
            <a:off x="5277952" y="5515329"/>
            <a:ext cx="1274682" cy="205122"/>
          </a:xfrm>
          <a:prstGeom prst="borderCallout2">
            <a:avLst>
              <a:gd name="adj1" fmla="val -2416"/>
              <a:gd name="adj2" fmla="val 27674"/>
              <a:gd name="adj3" fmla="val -54804"/>
              <a:gd name="adj4" fmla="val 29140"/>
              <a:gd name="adj5" fmla="val -125766"/>
              <a:gd name="adj6" fmla="val 27940"/>
            </a:avLst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시스템 오픈</a:t>
            </a:r>
            <a:r>
              <a:rPr lang="en-US" altLang="ko-KR" sz="800">
                <a:solidFill>
                  <a:schemeClr val="tx1"/>
                </a:solidFill>
              </a:rPr>
              <a:t>(12/3)</a:t>
            </a:r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106" name="Oval 6">
            <a:extLst>
              <a:ext uri="{FF2B5EF4-FFF2-40B4-BE49-F238E27FC236}">
                <a16:creationId xmlns:a16="http://schemas.microsoft.com/office/drawing/2014/main" id="{614E71A3-C580-4411-8DFA-DC3063951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641" y="5180359"/>
            <a:ext cx="90000" cy="90000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/>
        </p:spPr>
        <p:txBody>
          <a:bodyPr wrap="none" lIns="0" tIns="0" rIns="0" bIns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+mj-ea"/>
              <a:ea typeface="+mj-ea"/>
              <a:cs typeface="Arial Unicode MS" panose="020B0604020202020204" pitchFamily="50" charset="-127"/>
            </a:endParaRPr>
          </a:p>
        </p:txBody>
      </p:sp>
      <p:sp>
        <p:nvSpPr>
          <p:cNvPr id="110" name="Oval 6">
            <a:extLst>
              <a:ext uri="{FF2B5EF4-FFF2-40B4-BE49-F238E27FC236}">
                <a16:creationId xmlns:a16="http://schemas.microsoft.com/office/drawing/2014/main" id="{0B009B68-9FB4-47F6-B066-6869796AB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6364" y="5183015"/>
            <a:ext cx="90000" cy="90000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/>
        </p:spPr>
        <p:txBody>
          <a:bodyPr wrap="none" lIns="0" tIns="0" rIns="0" bIns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+mj-ea"/>
              <a:ea typeface="+mj-ea"/>
              <a:cs typeface="Arial Unicode MS" panose="020B0604020202020204" pitchFamily="50" charset="-127"/>
            </a:endParaRPr>
          </a:p>
        </p:txBody>
      </p:sp>
      <p:sp>
        <p:nvSpPr>
          <p:cNvPr id="111" name="Oval 6">
            <a:extLst>
              <a:ext uri="{FF2B5EF4-FFF2-40B4-BE49-F238E27FC236}">
                <a16:creationId xmlns:a16="http://schemas.microsoft.com/office/drawing/2014/main" id="{1E0B0EA8-9147-4932-B150-F2C442358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1640" y="5183015"/>
            <a:ext cx="90000" cy="90000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/>
        </p:spPr>
        <p:txBody>
          <a:bodyPr wrap="none" lIns="0" tIns="0" rIns="0" bIns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+mj-ea"/>
              <a:ea typeface="+mj-ea"/>
              <a:cs typeface="Arial Unicode MS" panose="020B0604020202020204" pitchFamily="50" charset="-127"/>
            </a:endParaRPr>
          </a:p>
        </p:txBody>
      </p:sp>
      <p:sp>
        <p:nvSpPr>
          <p:cNvPr id="113" name="Oval 6">
            <a:extLst>
              <a:ext uri="{FF2B5EF4-FFF2-40B4-BE49-F238E27FC236}">
                <a16:creationId xmlns:a16="http://schemas.microsoft.com/office/drawing/2014/main" id="{5D9AC819-D1A8-4205-8FBE-119C32300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6091" y="5180359"/>
            <a:ext cx="90000" cy="90000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/>
        </p:spPr>
        <p:txBody>
          <a:bodyPr wrap="none" lIns="0" tIns="0" rIns="0" bIns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+mj-ea"/>
              <a:ea typeface="+mj-ea"/>
              <a:cs typeface="Arial Unicode MS" panose="020B0604020202020204" pitchFamily="50" charset="-127"/>
            </a:endParaRPr>
          </a:p>
        </p:txBody>
      </p:sp>
      <p:sp>
        <p:nvSpPr>
          <p:cNvPr id="117" name="설명선: 굽은 선 116">
            <a:extLst>
              <a:ext uri="{FF2B5EF4-FFF2-40B4-BE49-F238E27FC236}">
                <a16:creationId xmlns:a16="http://schemas.microsoft.com/office/drawing/2014/main" id="{65D4C5ED-ACD3-43AE-B013-16694B84AEE2}"/>
              </a:ext>
            </a:extLst>
          </p:cNvPr>
          <p:cNvSpPr/>
          <p:nvPr/>
        </p:nvSpPr>
        <p:spPr>
          <a:xfrm>
            <a:off x="6196364" y="5313178"/>
            <a:ext cx="1154834" cy="188017"/>
          </a:xfrm>
          <a:prstGeom prst="borderCallout2">
            <a:avLst>
              <a:gd name="adj1" fmla="val -2416"/>
              <a:gd name="adj2" fmla="val 24500"/>
              <a:gd name="adj3" fmla="val -20938"/>
              <a:gd name="adj4" fmla="val 12964"/>
              <a:gd name="adj5" fmla="val -45881"/>
              <a:gd name="adj6" fmla="val -2146"/>
            </a:avLst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JF1 PD</a:t>
            </a:r>
            <a:r>
              <a:rPr lang="en-US" altLang="ko-KR" sz="800">
                <a:solidFill>
                  <a:schemeClr val="tx1"/>
                </a:solidFill>
              </a:rPr>
              <a:t>(1</a:t>
            </a:r>
            <a:r>
              <a:rPr lang="en-US" altLang="ko-KR" sz="800" strike="sngStrike">
                <a:solidFill>
                  <a:schemeClr val="tx1"/>
                </a:solidFill>
              </a:rPr>
              <a:t>2/12</a:t>
            </a:r>
            <a:r>
              <a:rPr lang="ko-KR" altLang="en-US" sz="800">
                <a:solidFill>
                  <a:schemeClr val="tx1"/>
                </a:solidFill>
              </a:rPr>
              <a:t>→</a:t>
            </a:r>
            <a:r>
              <a:rPr lang="en-US" altLang="ko-KR" sz="800">
                <a:solidFill>
                  <a:schemeClr val="tx1"/>
                </a:solidFill>
              </a:rPr>
              <a:t>12/10)</a:t>
            </a:r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118" name="설명선: 굽은 선 117">
            <a:extLst>
              <a:ext uri="{FF2B5EF4-FFF2-40B4-BE49-F238E27FC236}">
                <a16:creationId xmlns:a16="http://schemas.microsoft.com/office/drawing/2014/main" id="{7E4EAFDC-D5E6-475B-9A32-5896964CEAC6}"/>
              </a:ext>
            </a:extLst>
          </p:cNvPr>
          <p:cNvSpPr/>
          <p:nvPr/>
        </p:nvSpPr>
        <p:spPr>
          <a:xfrm flipH="1">
            <a:off x="6829959" y="5561692"/>
            <a:ext cx="720000" cy="180000"/>
          </a:xfrm>
          <a:prstGeom prst="borderCallout2">
            <a:avLst>
              <a:gd name="adj1" fmla="val 18751"/>
              <a:gd name="adj2" fmla="val 1042"/>
              <a:gd name="adj3" fmla="val 18750"/>
              <a:gd name="adj4" fmla="val -16667"/>
              <a:gd name="adj5" fmla="val -162297"/>
              <a:gd name="adj6" fmla="val -32262"/>
            </a:avLst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JF2 PD</a:t>
            </a:r>
            <a:r>
              <a:rPr lang="en-US" altLang="ko-KR" sz="800">
                <a:solidFill>
                  <a:schemeClr val="tx1"/>
                </a:solidFill>
              </a:rPr>
              <a:t>(2/17)</a:t>
            </a:r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119" name="설명선: 굽은 선 118">
            <a:extLst>
              <a:ext uri="{FF2B5EF4-FFF2-40B4-BE49-F238E27FC236}">
                <a16:creationId xmlns:a16="http://schemas.microsoft.com/office/drawing/2014/main" id="{A7F73E38-0DD3-4A76-94D8-A2872A69CF06}"/>
              </a:ext>
            </a:extLst>
          </p:cNvPr>
          <p:cNvSpPr/>
          <p:nvPr/>
        </p:nvSpPr>
        <p:spPr>
          <a:xfrm flipH="1">
            <a:off x="7827284" y="5437609"/>
            <a:ext cx="684000" cy="180000"/>
          </a:xfrm>
          <a:prstGeom prst="borderCallout2">
            <a:avLst>
              <a:gd name="adj1" fmla="val -2416"/>
              <a:gd name="adj2" fmla="val 37944"/>
              <a:gd name="adj3" fmla="val -57979"/>
              <a:gd name="adj4" fmla="val 37642"/>
              <a:gd name="adj5" fmla="val -98797"/>
              <a:gd name="adj6" fmla="val 50211"/>
            </a:avLst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Link PD</a:t>
            </a:r>
            <a:r>
              <a:rPr lang="en-US" altLang="ko-KR" sz="800">
                <a:solidFill>
                  <a:schemeClr val="tx1"/>
                </a:solidFill>
              </a:rPr>
              <a:t>(3/9)</a:t>
            </a:r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120" name="설명선: 굽은 선 119">
            <a:extLst>
              <a:ext uri="{FF2B5EF4-FFF2-40B4-BE49-F238E27FC236}">
                <a16:creationId xmlns:a16="http://schemas.microsoft.com/office/drawing/2014/main" id="{717A6E0E-14CE-400E-858E-70734465C0E3}"/>
              </a:ext>
            </a:extLst>
          </p:cNvPr>
          <p:cNvSpPr/>
          <p:nvPr/>
        </p:nvSpPr>
        <p:spPr>
          <a:xfrm flipH="1">
            <a:off x="3589826" y="5306324"/>
            <a:ext cx="900000" cy="180000"/>
          </a:xfrm>
          <a:prstGeom prst="borderCallout2">
            <a:avLst>
              <a:gd name="adj1" fmla="val 18751"/>
              <a:gd name="adj2" fmla="val 1042"/>
              <a:gd name="adj3" fmla="val 18750"/>
              <a:gd name="adj4" fmla="val -11587"/>
              <a:gd name="adj5" fmla="val -21541"/>
              <a:gd name="adj6" fmla="val -15885"/>
            </a:avLst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통합 테스트</a:t>
            </a:r>
            <a:r>
              <a:rPr lang="en-US" altLang="ko-KR" sz="800">
                <a:solidFill>
                  <a:schemeClr val="tx1"/>
                </a:solidFill>
              </a:rPr>
              <a:t>(11/17)</a:t>
            </a:r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121" name="설명선: 굽은 선 120">
            <a:extLst>
              <a:ext uri="{FF2B5EF4-FFF2-40B4-BE49-F238E27FC236}">
                <a16:creationId xmlns:a16="http://schemas.microsoft.com/office/drawing/2014/main" id="{675DDEB7-5631-4DAB-9D0F-7AF7FD133B53}"/>
              </a:ext>
            </a:extLst>
          </p:cNvPr>
          <p:cNvSpPr/>
          <p:nvPr/>
        </p:nvSpPr>
        <p:spPr>
          <a:xfrm flipH="1">
            <a:off x="4248901" y="5502499"/>
            <a:ext cx="900000" cy="180000"/>
          </a:xfrm>
          <a:prstGeom prst="borderCallout2">
            <a:avLst>
              <a:gd name="adj1" fmla="val 18751"/>
              <a:gd name="adj2" fmla="val 1042"/>
              <a:gd name="adj3" fmla="val 18750"/>
              <a:gd name="adj4" fmla="val -6613"/>
              <a:gd name="adj5" fmla="val -125256"/>
              <a:gd name="adj6" fmla="val -11756"/>
            </a:avLst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사용자 교육</a:t>
            </a:r>
            <a:r>
              <a:rPr lang="en-US" altLang="ko-KR" sz="800">
                <a:solidFill>
                  <a:schemeClr val="tx1"/>
                </a:solidFill>
              </a:rPr>
              <a:t>(11/27)</a:t>
            </a:r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123" name="설명선: 굽은 선 122">
            <a:extLst>
              <a:ext uri="{FF2B5EF4-FFF2-40B4-BE49-F238E27FC236}">
                <a16:creationId xmlns:a16="http://schemas.microsoft.com/office/drawing/2014/main" id="{635E4426-6FB9-4968-93A0-4F994E82EC78}"/>
              </a:ext>
            </a:extLst>
          </p:cNvPr>
          <p:cNvSpPr/>
          <p:nvPr/>
        </p:nvSpPr>
        <p:spPr>
          <a:xfrm flipH="1">
            <a:off x="2014704" y="5334645"/>
            <a:ext cx="900000" cy="180000"/>
          </a:xfrm>
          <a:prstGeom prst="borderCallout2">
            <a:avLst>
              <a:gd name="adj1" fmla="val 18751"/>
              <a:gd name="adj2" fmla="val 1042"/>
              <a:gd name="adj3" fmla="val 18750"/>
              <a:gd name="adj4" fmla="val -11587"/>
              <a:gd name="adj5" fmla="val -42706"/>
              <a:gd name="adj6" fmla="val -18001"/>
            </a:avLst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r>
              <a:rPr lang="ko-KR" altLang="en-US" sz="80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자 테스트</a:t>
            </a:r>
            <a:r>
              <a:rPr lang="en-US" altLang="ko-KR" sz="800">
                <a:solidFill>
                  <a:schemeClr val="tx1"/>
                </a:solidFill>
              </a:rPr>
              <a:t>(10/17)</a:t>
            </a:r>
            <a:endParaRPr lang="ko-KR" altLang="en-US" sz="800">
              <a:solidFill>
                <a:schemeClr val="tx1"/>
              </a:solidFill>
            </a:endParaRPr>
          </a:p>
        </p:txBody>
      </p:sp>
      <p:sp>
        <p:nvSpPr>
          <p:cNvPr id="124" name="Oval 6">
            <a:extLst>
              <a:ext uri="{FF2B5EF4-FFF2-40B4-BE49-F238E27FC236}">
                <a16:creationId xmlns:a16="http://schemas.microsoft.com/office/drawing/2014/main" id="{B7D3BFE2-F2A3-4CC1-9D40-CB3731255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9967" y="5168068"/>
            <a:ext cx="90000" cy="90000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/>
        </p:spPr>
        <p:txBody>
          <a:bodyPr wrap="none" lIns="0" tIns="0" rIns="0" bIns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+mj-ea"/>
              <a:ea typeface="+mj-ea"/>
              <a:cs typeface="Arial Unicode MS" panose="020B0604020202020204" pitchFamily="50" charset="-127"/>
            </a:endParaRPr>
          </a:p>
        </p:txBody>
      </p:sp>
      <p:sp>
        <p:nvSpPr>
          <p:cNvPr id="125" name="Oval 6">
            <a:extLst>
              <a:ext uri="{FF2B5EF4-FFF2-40B4-BE49-F238E27FC236}">
                <a16:creationId xmlns:a16="http://schemas.microsoft.com/office/drawing/2014/main" id="{9257A129-129A-45F9-AC5A-25CEE40D5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8475" y="5185463"/>
            <a:ext cx="90000" cy="90000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/>
        </p:spPr>
        <p:txBody>
          <a:bodyPr wrap="none" lIns="0" tIns="0" rIns="0" bIns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+mj-ea"/>
              <a:ea typeface="+mj-ea"/>
              <a:cs typeface="Arial Unicode MS" panose="020B0604020202020204" pitchFamily="50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65B18FE9-40A0-7123-7D07-BF423B1DBC19}"/>
              </a:ext>
            </a:extLst>
          </p:cNvPr>
          <p:cNvCxnSpPr>
            <a:cxnSpLocks/>
          </p:cNvCxnSpPr>
          <p:nvPr/>
        </p:nvCxnSpPr>
        <p:spPr>
          <a:xfrm>
            <a:off x="8326109" y="3174512"/>
            <a:ext cx="0" cy="1308772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5FCF8FF3-B3E5-6497-6441-AFE7A9BFF18E}"/>
              </a:ext>
            </a:extLst>
          </p:cNvPr>
          <p:cNvCxnSpPr>
            <a:cxnSpLocks/>
          </p:cNvCxnSpPr>
          <p:nvPr/>
        </p:nvCxnSpPr>
        <p:spPr>
          <a:xfrm>
            <a:off x="6259427" y="4727360"/>
            <a:ext cx="0" cy="710249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이등변 삼각형 11">
            <a:extLst>
              <a:ext uri="{FF2B5EF4-FFF2-40B4-BE49-F238E27FC236}">
                <a16:creationId xmlns:a16="http://schemas.microsoft.com/office/drawing/2014/main" id="{E7E16DF7-9197-7235-F0E5-B8A644351163}"/>
              </a:ext>
            </a:extLst>
          </p:cNvPr>
          <p:cNvSpPr/>
          <p:nvPr/>
        </p:nvSpPr>
        <p:spPr>
          <a:xfrm rot="10800000">
            <a:off x="6209178" y="4598853"/>
            <a:ext cx="108000" cy="72000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0430810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4245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rgbClr val="FFFFFF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아웃소싱업체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품질관리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동일성 확보를 위한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품질 시스템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 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ESS Pack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아웃소싱 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업체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피플웍스社</a:t>
                      </a:r>
                      <a:endParaRPr lang="ko-KR" altLang="en-US"/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시카고)</a:t>
                      </a:r>
                    </a:p>
                    <a:p>
                      <a:pPr lvl="0" algn="ctr">
                        <a:buNone/>
                      </a:pP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인팩社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en-US" altLang="ko-KR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폴란드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ko-KR" alt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‘25.12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서경민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안희용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20655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아웃소싱업체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 품질관리 동일성 확보를 위한 품질 시스템 구축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_1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/>
        </p:nvGraphicFramePr>
        <p:xfrm>
          <a:off x="1640793" y="1092845"/>
          <a:ext cx="7305232" cy="5969880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7305232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5645967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- QMS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진척 현황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계획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1)  I/F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테스트 진행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MQ/LSP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개통 테스트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(11/13)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2) QMS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자체 통합 테스트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(11/6~7) :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테스트 시나리오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207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중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193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테스트 진행 완료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15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Fail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발생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시나리오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15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중 결함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16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발생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                            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결함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16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중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16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조치 완료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(11/28)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3) WMS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연계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Test (11/11~24)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WMS Test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시 시나리오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37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중 완료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7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Fail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발생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결함 조치 완료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(11/28)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4) MES/LSP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연계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Test(11/12~22)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진행 시 시나리오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43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중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35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진행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,Fail 1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품질 </a:t>
                      </a:r>
                      <a:r>
                        <a:rPr lang="ko-KR" altLang="en-US" sz="900" b="0" baseline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인터락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기준 정보 전송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MMD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LSP)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LSP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연계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Test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는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MES-LSP I/F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개발 되지 않아 판정 결과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I/F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및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Table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적재는 확인 하였지만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시스템상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여부는 검증 못함</a:t>
                      </a:r>
                      <a:endParaRPr lang="en-US" altLang="ko-KR" sz="900" b="0" baseline="0">
                        <a:solidFill>
                          <a:srgbClr val="050702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E2E </a:t>
                      </a:r>
                      <a:r>
                        <a:rPr lang="ko-KR" altLang="en-US" sz="900" b="0" baseline="0">
                          <a:solidFill>
                            <a:srgbClr val="050702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연계 테스트 시 확인 예정</a:t>
                      </a:r>
                      <a:endParaRPr lang="en-US" altLang="ko-KR" sz="900" b="0" baseline="0">
                        <a:solidFill>
                          <a:srgbClr val="050702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5) WMS End to End Test (11/26~12/1) 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시나리오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40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진행 완료 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내수 자재 성적서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미입력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시 납품서 발행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Validation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확인 완료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무검사 판정 전송 확인 완료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분할 입고 자동 판정 확인 완료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6) MES End to End Test (11/29) : Cell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투입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~ CMA ~ BMA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까지 공정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제품검사 및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Risk Range Hold/Release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확인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- LSP – MES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간 출고 불가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(12/7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조치 예정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12/10 LSP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운영 오픈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LSP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검증은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12/8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→일 진행 예정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7)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사용자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User Acceptance Test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(12/1)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QA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홍호준님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관리자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Marta, IQC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검사자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Dorothy, Katarzyna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대상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UAT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8) Cell Risk Range Hold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방안 협의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차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: 12/1, 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차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12/8) : LGES Cell Risk Range Hold,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출하 대상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설정 기능 개발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각 시스템별 개발 필요사항 확정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진행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일정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완료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’26/01/16, Test 1/23,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Open : 1/30)</a:t>
                      </a:r>
                      <a:endParaRPr lang="ko-KR" altLang="en-US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1. LGES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활성화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MES (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이윤중님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:  QMS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홀드 요청 시 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출하 대상에 대한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정보 전송</a:t>
                      </a:r>
                      <a:b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2.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QMS (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황인성님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: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Risk Range 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대상 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출하 정보 수신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활성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MES)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후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MES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로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정보 전송 및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여부 수신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                                                     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LSP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출고 대상인 경우 출고 정보 수신 후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LSP 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                  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3. 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MES (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박정완님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: LGES QMS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로 부터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정보 수신 후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 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정보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QMS / 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전송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                                                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LSP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대상이면 출하 정보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 QMS / 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전송</a:t>
                      </a:r>
                      <a:b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4. 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 (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고재영님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: LGES QMS 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대상에 대한 정보 수신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표시 화면 구성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(Lot 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이력에 구분 표시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SAR,NCR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번호 불필요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endParaRPr lang="ko-KR" altLang="en-US" sz="900" b="0" kern="120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5. LSP (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김홍석님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: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자사 동일할 경우 별도 개발 불필요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 QMS 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정보를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QMS / 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 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전송 검토</a:t>
                      </a:r>
                      <a:endParaRPr lang="en-US" altLang="ko-KR" sz="900" b="0" kern="120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9)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Open(12/3)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운영 모니터링 및 품질 </a:t>
                      </a:r>
                      <a:r>
                        <a:rPr lang="ko-KR" altLang="en-US" sz="900" b="0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인터락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점검</a:t>
                      </a:r>
                      <a:endParaRPr lang="en-US" altLang="ko-KR" sz="900" b="0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-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운영 모니터링 결과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스케줄러 점검 완료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화면별 정상 확인 및 성능점검 완료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         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인터페이스 및 실적 점검 항목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32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중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18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건 확인 완료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(56%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- </a:t>
                      </a:r>
                      <a:r>
                        <a:rPr lang="ko-KR" altLang="en-US" sz="900" b="0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인터락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점검 완료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1) MES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검사 판정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미검사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Block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및 불합격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Block)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및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Risk Range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검증 완료</a:t>
                      </a:r>
                      <a:endParaRPr lang="en-US" altLang="ko-KR" sz="900" b="0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       2) LSP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개발 완료 후 실전에서 사전 테스트 진행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(12/9), LSP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운영 오픈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12/10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예정</a:t>
                      </a:r>
                      <a:endParaRPr lang="en-US" altLang="ko-KR" sz="900" b="0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          -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실전 서버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미검사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Block,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불합격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Block, Risk Range Hold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검증 완료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(12/9)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10)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사용자 교육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:12/1, 12/5, 12/9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정기 교육 진행 및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현장 상시 교육 진행 중</a:t>
                      </a:r>
                      <a:endParaRPr lang="en-US" altLang="ko-KR" sz="900" b="0" kern="120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-12/1 : </a:t>
                      </a:r>
                      <a:r>
                        <a:rPr lang="ko-KR" altLang="en-US" sz="900" b="0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QA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담당자 및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현지 관리자 검사자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4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명 교육 완료</a:t>
                      </a:r>
                      <a:endParaRPr lang="en-US" altLang="ko-KR" sz="900" b="0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- 12/5 : </a:t>
                      </a:r>
                      <a:r>
                        <a:rPr lang="ko-KR" altLang="en-US" sz="900" b="0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QA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담당자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IT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담당자 및 검사자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10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명 교육 완료</a:t>
                      </a:r>
                      <a:endParaRPr lang="en-US" altLang="ko-KR" sz="900" b="0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- 12/9 : </a:t>
                      </a:r>
                      <a:r>
                        <a:rPr lang="ko-KR" altLang="en-US" sz="900" b="0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QA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담당자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IT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담당자 및 검사자 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9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명 교육 완료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11)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양산 운영 계획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BPU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Crack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이슈로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SOP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일정 지연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(12/15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TBD)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 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품질 운영 준비 미흡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계측기 운영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SOP,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검사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진행등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신공장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점검 미달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으로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PV Run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일정 연기 </a:t>
                      </a:r>
                      <a:endParaRPr lang="en-US" altLang="ko-KR" sz="900" b="0" kern="120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 (12/16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TBD , 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개선 일정 이후 확정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   →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PV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대상 으로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LSP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가능하며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PV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Run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LSP 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인터락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점검 예정</a:t>
                      </a:r>
                      <a:endParaRPr lang="en-US" altLang="ko-KR" sz="900" b="0" kern="120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- MIMS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진형 현황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계획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 12/2(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화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 오픈 완료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12/3(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수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사용자 교육 완료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계측기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51ea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등록 완료 </a:t>
                      </a:r>
                      <a:endParaRPr lang="en-US" altLang="ko-KR" sz="900" b="0" kern="120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Open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후 모니터링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1)  WA MOB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망에서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MIMS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접속이 안되는 이슈 발생 → 예외처리 진행하여 개선 완료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(12/5)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     2) 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인팩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일부 담당자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MIMS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접속 </a:t>
                      </a:r>
                      <a:r>
                        <a:rPr lang="ko-KR" altLang="en-US" sz="900" b="0" kern="120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로그인창이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나타나지 않음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Encloud MIMS </a:t>
                      </a:r>
                      <a:r>
                        <a:rPr lang="ko-KR" altLang="en-US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접속 정상 확인 </a:t>
                      </a: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(12/10)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</a:t>
                      </a:r>
                    </a:p>
                    <a:p>
                      <a:pPr marL="0" marR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904527" y="572550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12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/15(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월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17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026816" y="403273"/>
            <a:ext cx="101951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서경민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07B95C9-CB72-FBB8-229D-0432F68AE1D4}"/>
              </a:ext>
            </a:extLst>
          </p:cNvPr>
          <p:cNvSpPr txBox="1"/>
          <p:nvPr/>
        </p:nvSpPr>
        <p:spPr>
          <a:xfrm>
            <a:off x="5550634" y="625428"/>
            <a:ext cx="2523654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100">
                <a:latin typeface="+mn-ea"/>
              </a:rPr>
              <a:t>[ </a:t>
            </a:r>
            <a:r>
              <a:rPr lang="ko-KR" altLang="en-US" sz="1100">
                <a:latin typeface="+mn-ea"/>
              </a:rPr>
              <a:t>과제번호 </a:t>
            </a:r>
            <a:r>
              <a:rPr lang="en-US" altLang="ko-KR" sz="1100">
                <a:latin typeface="+mn-ea"/>
              </a:rPr>
              <a:t>: </a:t>
            </a:r>
            <a:r>
              <a:rPr lang="ko-KR" altLang="en-US" sz="1100">
                <a:latin typeface="+mn-ea"/>
              </a:rPr>
              <a:t>품질</a:t>
            </a:r>
            <a:r>
              <a:rPr lang="en-US" altLang="ko-KR" sz="1100">
                <a:latin typeface="+mn-ea"/>
              </a:rPr>
              <a:t>-#5,  </a:t>
            </a:r>
            <a:r>
              <a:rPr lang="ko-KR" altLang="en-US" sz="1100">
                <a:latin typeface="+mn-ea"/>
              </a:rPr>
              <a:t>진행 상태</a:t>
            </a:r>
            <a:r>
              <a:rPr lang="en-US" altLang="ko-KR" sz="1100">
                <a:latin typeface="+mn-ea"/>
              </a:rPr>
              <a:t> : </a:t>
            </a:r>
            <a:r>
              <a:rPr lang="ko-KR" altLang="en-US" sz="1100">
                <a:solidFill>
                  <a:srgbClr val="00B050"/>
                </a:solidFill>
                <a:latin typeface="+mn-ea"/>
              </a:rPr>
              <a:t>●</a:t>
            </a:r>
            <a:r>
              <a:rPr lang="ko-KR" altLang="en-US" sz="1100">
                <a:latin typeface="+mn-ea"/>
              </a:rPr>
              <a:t> </a:t>
            </a:r>
            <a:r>
              <a:rPr lang="en-US" altLang="ko-KR" sz="1100">
                <a:latin typeface="+mn-ea"/>
              </a:rPr>
              <a:t>] </a:t>
            </a:r>
            <a:endParaRPr lang="ko-KR" altLang="en-US" sz="1100"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FF1C30C-DE83-26C7-A53E-AC10C4C8CBD7}"/>
              </a:ext>
            </a:extLst>
          </p:cNvPr>
          <p:cNvSpPr/>
          <p:nvPr/>
        </p:nvSpPr>
        <p:spPr>
          <a:xfrm>
            <a:off x="8074288" y="6492046"/>
            <a:ext cx="575799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defRPr/>
            </a:pPr>
            <a:r>
              <a:rPr lang="en-US" altLang="ko-KR" sz="900">
                <a:solidFill>
                  <a:srgbClr val="0000FF"/>
                </a:solidFill>
                <a:latin typeface="+mn-ea"/>
                <a:cs typeface="Malgun Gothic Semilight"/>
              </a:rPr>
              <a:t>(</a:t>
            </a:r>
            <a:r>
              <a:rPr lang="ko-KR" altLang="en-US" sz="900">
                <a:solidFill>
                  <a:srgbClr val="0000FF"/>
                </a:solidFill>
                <a:latin typeface="+mn-ea"/>
                <a:cs typeface="Malgun Gothic Semilight"/>
              </a:rPr>
              <a:t>이어서</a:t>
            </a:r>
            <a:r>
              <a:rPr lang="en-US" altLang="ko-KR" sz="900">
                <a:solidFill>
                  <a:srgbClr val="0000FF"/>
                </a:solidFill>
                <a:latin typeface="+mn-ea"/>
                <a:cs typeface="Malgun Gothic Semilight"/>
              </a:rPr>
              <a:t>)</a:t>
            </a:r>
            <a:endParaRPr lang="en-US" altLang="ko-KR" sz="90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409526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42457" y="866775"/>
          <a:ext cx="9644176" cy="586614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620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rgbClr val="FFFFFF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1685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아웃소싱업체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품질관리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동일성 확보를 위한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품질 시스템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 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ESS Pack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아웃소싱 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업체</a:t>
                      </a: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피플웍스社</a:t>
                      </a:r>
                      <a:endParaRPr lang="ko-KR" altLang="en-US"/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시카고)</a:t>
                      </a:r>
                    </a:p>
                    <a:p>
                      <a:pPr lvl="0" algn="ctr">
                        <a:buNone/>
                      </a:pP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인팩社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</a:t>
                      </a:r>
                      <a:r>
                        <a:rPr lang="en-US" altLang="ko-KR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폴란드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ko-KR" alt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2)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품질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Data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연계 및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Interlock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구현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(Packer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社 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QMS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연계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_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대상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피플웍스 시카고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(Phase 1)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품질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Interlock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구현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Cell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Risk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Range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대상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Interlock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및  출하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Interlock  /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공수 산정 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2.05MM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약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0.45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억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인터페이스 명세서 확정 공유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(10/4) 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대상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Type (Cell, Lot, PLT)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컬럼 추가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ⅰ) Cell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Risk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Range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Packer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출하 대상이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Cell Risk Range Hold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 정보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I/F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하여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Packer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자동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기능 개발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- Hold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단위 현업 논의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(9/29, w/ ESS Cell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QA, Pack QA) 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현재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Cell Lot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단위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로 진행 중이나 개별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Cell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단위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진행 요청</a:t>
                      </a: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ⅱ)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Interlock 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의뢰 및 승인 정보를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I/F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하여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승인 이전 출하 불가하도록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Interlock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기능 구축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출하의뢰 부터 출하 완료 까지 업무에 대한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Process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재정의 완료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요청 사항 반영 하여 개발 진행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(PRI)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PWS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의뢰 시 첨부파일 파일 용량 문제로 협력사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SFTP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서버를 통해 파일 별도 송신 기능 개발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(11/5)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- PWS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 I/F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테스트 진행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_11/6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_11/13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_11/14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4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_11/19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ⅰ)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Risk Range (Cell/Lot/Pallet)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추가 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PWS MES Hold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확인 完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(11/13),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추가 요청 사항  확인 完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(TBD)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동일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Lot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반복 홀드 신호 전송 시 구별을 위한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SAR_ID Key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값 추가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- Hold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요청 대상 출하 시 정보 확인 방안 검토 필요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(PWS)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ⅱ)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출하 인터락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(LGES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출하 승인 없이 출하 금지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_ 11/18 Test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고객사 승인요청 시 출하예정일 정보는 의뢰일 보다 앞서면 안됨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(PWS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검토필요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요청 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QMS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누락 정보 송신 시 처리 방안 논의 필요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모델코드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의뢰자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요청자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고객사 승인요청 반려 후 업무절차 논의 필요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- 11/26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품질 인터락 기능 테스트 완료 및 배포 일정 논의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 LGES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는 한국시간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12/2(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화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16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 배포 완료 예정이고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PWS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는 이후 정기배포 일정 확인하여 배포 예정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배포 전 준비사항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- LGES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기준정보 등록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(~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배포 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LGES QA)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- PWS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의뢰자 정보 전달요청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(~11/27,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최연식 차장님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                            - LGES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요청자 정보 등록 요청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(~11/27,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최연식 차장님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배포 후 개선사항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-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배포 후 언제까지 반영할 지 예상 일정 확인 예정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(PWS, PRI)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- 12/02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변경사항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배포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완료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- 12/05 PWS MES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배포완료 여부 확인 및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인터락 정상 동작여부 운영서버 확인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PWS MES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출하검사 고객승인 요청 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QMS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요청 반려 확인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현재 출하성적서 미비로 승인은 하지 않음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- 12/1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0(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예정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Cell Risk Range Hold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정상 동작여부 운영서버 확인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(Hold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대상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Cell ID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정보 확인 완료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QMS에서 가상 SAR 발행후,  PWS로 출하된 Cell ID의 정보 수신 여부 확인 및 실제  HOLD 여부 확인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-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점검결과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1. LGES Risk Range(Cell/Lot/Pallet)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추가 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PWS MES Hold</a:t>
                      </a:r>
                      <a:b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LGES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Cell ID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정보를 기반으로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요청 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PWS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의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MES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후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WMS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출하 불가한 사항을 확인</a:t>
                      </a:r>
                      <a:endParaRPr lang="en-US" altLang="ko-KR" sz="10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마찬가지로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Release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요청 이후에만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PWS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Release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가능함도 확</a:t>
                      </a:r>
                      <a:endParaRPr lang="en-US" altLang="ko-KR" sz="10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개선예정사항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1: LGES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IF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를 복수로 송신 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MES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화면 내 표현방식 변경 검토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(MES)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개선예정사항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2: LGES Hold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 담당자에게 메일링 기능 추가요청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(MES)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개선예정사항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3: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이미 출하된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LOT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의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신호 수신 시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 정보를 확인하도록 수정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(MES)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 .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개선예정사항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4: LGES Pallet ID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Hold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요청 로직 수정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(QMS)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-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점검결과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2.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출하검사 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승인 인터락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12/5(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WS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출하검사 고객승인 의뢰 후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LGES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요청 반려 완료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향후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PWS MES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에서 직접 고객승인요청 하여 진행예정</a:t>
                      </a:r>
                      <a:endParaRPr lang="en-US" altLang="ko-KR" sz="1000" b="0" baseline="0">
                        <a:solidFill>
                          <a:srgbClr val="0000FF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 .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개선예정사항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출하성적서 파일 자동 생성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(MES)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②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(Phase 2)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검사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Data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및 부적합 연계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협력사 자공정 연계 프로젝트 구축 이후 진행 가능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(26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년 진행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</a:p>
                  </a:txBody>
                  <a:tcPr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‘25.12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서경민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안희용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20655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아웃소싱업체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 품질관리 동일성 확보를 위한 품질 시스템 구축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_1</a:t>
            </a:r>
            <a:r>
              <a:rPr lang="ko-KR" altLang="en-US" sz="1400" b="1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904527" y="572550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12/16(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09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026816" y="403273"/>
            <a:ext cx="101951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</a:t>
            </a:r>
            <a:r>
              <a:rPr lang="en-US" altLang="ko-KR" sz="1100">
                <a:solidFill>
                  <a:prstClr val="black"/>
                </a:solidFill>
                <a:latin typeface="Arial Narrow"/>
                <a:ea typeface="맑은 고딕"/>
                <a:cs typeface="Malgun Gothic Semilight"/>
              </a:rPr>
              <a:t>안희용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07B95C9-CB72-FBB8-229D-0432F68AE1D4}"/>
              </a:ext>
            </a:extLst>
          </p:cNvPr>
          <p:cNvSpPr txBox="1"/>
          <p:nvPr/>
        </p:nvSpPr>
        <p:spPr>
          <a:xfrm>
            <a:off x="5550634" y="625428"/>
            <a:ext cx="2523654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algn="ctr"/>
            <a:r>
              <a:rPr lang="en-US" altLang="ko-KR" sz="1100">
                <a:latin typeface="+mn-ea"/>
              </a:rPr>
              <a:t>[ </a:t>
            </a:r>
            <a:r>
              <a:rPr lang="ko-KR" altLang="en-US" sz="1100">
                <a:latin typeface="+mn-ea"/>
              </a:rPr>
              <a:t>과제번호 </a:t>
            </a:r>
            <a:r>
              <a:rPr lang="en-US" altLang="ko-KR" sz="1100">
                <a:latin typeface="+mn-ea"/>
              </a:rPr>
              <a:t>: </a:t>
            </a:r>
            <a:r>
              <a:rPr lang="ko-KR" altLang="en-US" sz="1100">
                <a:latin typeface="+mn-ea"/>
              </a:rPr>
              <a:t>품질</a:t>
            </a:r>
            <a:r>
              <a:rPr lang="en-US" altLang="ko-KR" sz="1100">
                <a:latin typeface="+mn-ea"/>
              </a:rPr>
              <a:t>-#5,  </a:t>
            </a:r>
            <a:r>
              <a:rPr lang="ko-KR" altLang="en-US" sz="1100">
                <a:latin typeface="+mn-ea"/>
              </a:rPr>
              <a:t>진행 상태</a:t>
            </a:r>
            <a:r>
              <a:rPr lang="en-US" altLang="ko-KR" sz="1100">
                <a:latin typeface="+mn-ea"/>
              </a:rPr>
              <a:t> : </a:t>
            </a:r>
            <a:r>
              <a:rPr lang="ko-KR" altLang="en-US" sz="1100">
                <a:solidFill>
                  <a:srgbClr val="00B050"/>
                </a:solidFill>
                <a:latin typeface="+mn-ea"/>
              </a:rPr>
              <a:t>●</a:t>
            </a:r>
            <a:r>
              <a:rPr lang="ko-KR" altLang="en-US" sz="1100">
                <a:latin typeface="+mn-ea"/>
              </a:rPr>
              <a:t> </a:t>
            </a:r>
            <a:r>
              <a:rPr lang="en-US" altLang="ko-KR" sz="1100">
                <a:latin typeface="+mn-ea"/>
              </a:rPr>
              <a:t>] </a:t>
            </a:r>
            <a:endParaRPr lang="ko-KR" altLang="en-US" sz="110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165649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A12AB8-8832-EEC1-6284-7023774C7B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57FC640E-8F7E-3374-4A60-9DDED21C40FA}"/>
              </a:ext>
            </a:extLst>
          </p:cNvPr>
          <p:cNvGraphicFramePr>
            <a:graphicFrameLocks noGrp="1"/>
          </p:cNvGraphicFramePr>
          <p:nvPr/>
        </p:nvGraphicFramePr>
        <p:xfrm>
          <a:off x="126306" y="803107"/>
          <a:ext cx="9644174" cy="6063888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8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399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1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)</a:t>
                      </a:r>
                      <a:endParaRPr 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0968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장기재고검사 관리 표준화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(시스템)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전법인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소형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자동차 CELL/PACK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(51W)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장기재고 표준 관리체계 구축 완료한 상태로 모니터링 진행중이며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5D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종료를 통한 장기재고품 처리 로직 추가 개선 건에 대해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PACK MES1.0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도 적용 완료하였으며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MES2.0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은 금주 적용할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1.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목적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장기재고품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에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대한 관리 프로세스를 법인별 실제 운영 현황에 맞게 기준 및 운영 프로세스를 표준화하고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정의된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프로세스로 업무가 시스템 기반수행 될 수 있도록 하기 위함</a:t>
                      </a:r>
                      <a:endParaRPr lang="ko-KR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2. 일정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1)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프로젝트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Kick-Off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진행하여 프로젝트 설명 및 개발 상세 일정과 오픈일정 협의 완료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(w. QMS/MES/LSP/OWMS/EWM/MMD PI/CNS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담당자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(7/7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/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- I/F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송수신 설계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(~7/25),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통합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사용자 테스트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(9/15~10/1), 1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차 오픈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(10/15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-&gt;10/22), 2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차 오픈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(11/19)</a:t>
                      </a:r>
                      <a:endParaRPr lang="en-US"/>
                    </a:p>
                    <a:p>
                      <a:pPr marL="171450" lvl="0" indent="-1714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/>
                        <a:buChar char="•"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추석 연휴, N-ERP 전환 후 안정화 등을 고려하여 1차 오픈일자를 10/22로 확정하였습니다. </a:t>
                      </a:r>
                      <a:endParaRPr lang="en-US"/>
                    </a:p>
                    <a:p>
                      <a:pPr marL="171450" lvl="0" indent="-1714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/>
                        <a:buChar char="•"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2차 오픈일정은 MES2.0 개발가능일정 확인하여 재확정 필요합니다.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오픈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일정은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MES2.0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개발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및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일정을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고려하여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11/25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일로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확정하였습니다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2)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시스템 설계 진행현황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AS-IS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장기재고 검사 프로세스 분석 완료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– QMS/MES (7/30)</a:t>
                      </a:r>
                      <a:endParaRPr lang="en-US"/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-.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시스템 송수신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I/F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설계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①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QMS – MES I/F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명세 정의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(4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 완료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endParaRPr lang="en-US"/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②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LSP – MES I/F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명세 정의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(2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 완료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/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③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QMS – EWM IF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명세 정의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(4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 완료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/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검사기준서 생성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검사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판정 창고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PLANT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기준으로 처리 가능한지 확인 필요</a:t>
                      </a: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    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→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 MMD /EWM 담당자와 AS 창고로 보관시 MDM에서 PLANT확장 진행해야하므로 QMS에서 보관지 기준 검사기준서 등록 가능함 확인(7/24)</a:t>
                      </a:r>
                      <a:endParaRPr lang="ko-KR"/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CELL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은 생산지 기준 관리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, PACK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은 보관지 기준 관리하는것으로 확정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(7/31,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w.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품질시스템팀, QA)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EWM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에서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생산지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정보를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관리하고있지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않아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생산지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기준으로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검사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의뢰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불가한것으로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전달받아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처리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방법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논의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w.QA, EWM PI)</a:t>
                      </a:r>
                      <a:endParaRPr lang="en-US"/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    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EWM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에서 생산지정보를 신규로 관리하는것으로 확정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데이터는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LSP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로부터 추가 수신받는것으로 협의 완료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(8/7)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- LOT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별 장기재고 유효일자를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LSP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로부터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I/F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수신받아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EWM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기준일 계산방식 추가 확인 필요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MES로부터 수신받는 데이터 중 생산일자(CELL : LOT 발번일, PACK : Packing 일자) 기준으로 계산하는 것으로 확인 (7/28)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자’25.10</a:t>
                      </a:r>
                      <a:b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유관부서와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논의를 통해 완료 일정에 대한 확정 필요함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원유정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정인규P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79391E88-97D1-DD60-9D59-4929EF82A88D}"/>
              </a:ext>
            </a:extLst>
          </p:cNvPr>
          <p:cNvSpPr txBox="1">
            <a:spLocks/>
          </p:cNvSpPr>
          <p:nvPr/>
        </p:nvSpPr>
        <p:spPr>
          <a:xfrm>
            <a:off x="108656" y="551770"/>
            <a:ext cx="232114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장기재고 검사 관리 표준화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693A502E-93A5-1CA9-AF49-980E78F94526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6CB6726A-E8F6-7A0C-C62D-5305723B703F}"/>
              </a:ext>
            </a:extLst>
          </p:cNvPr>
          <p:cNvSpPr txBox="1">
            <a:spLocks/>
          </p:cNvSpPr>
          <p:nvPr/>
        </p:nvSpPr>
        <p:spPr>
          <a:xfrm>
            <a:off x="8276859" y="394960"/>
            <a:ext cx="101951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원유정A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4ED3A45-EA4D-43F7-BB13-3FFE07B2D3E3}"/>
              </a:ext>
            </a:extLst>
          </p:cNvPr>
          <p:cNvGraphicFramePr>
            <a:graphicFrameLocks noGrp="1"/>
          </p:cNvGraphicFramePr>
          <p:nvPr/>
        </p:nvGraphicFramePr>
        <p:xfrm>
          <a:off x="1714324" y="1812559"/>
          <a:ext cx="6838109" cy="24875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7061">
                  <a:extLst>
                    <a:ext uri="{9D8B030D-6E8A-4147-A177-3AD203B41FA5}">
                      <a16:colId xmlns:a16="http://schemas.microsoft.com/office/drawing/2014/main" val="1855166459"/>
                    </a:ext>
                  </a:extLst>
                </a:gridCol>
                <a:gridCol w="1005175">
                  <a:extLst>
                    <a:ext uri="{9D8B030D-6E8A-4147-A177-3AD203B41FA5}">
                      <a16:colId xmlns:a16="http://schemas.microsoft.com/office/drawing/2014/main" val="1939957220"/>
                    </a:ext>
                  </a:extLst>
                </a:gridCol>
                <a:gridCol w="1005174">
                  <a:extLst>
                    <a:ext uri="{9D8B030D-6E8A-4147-A177-3AD203B41FA5}">
                      <a16:colId xmlns:a16="http://schemas.microsoft.com/office/drawing/2014/main" val="3661782434"/>
                    </a:ext>
                  </a:extLst>
                </a:gridCol>
                <a:gridCol w="1005175">
                  <a:extLst>
                    <a:ext uri="{9D8B030D-6E8A-4147-A177-3AD203B41FA5}">
                      <a16:colId xmlns:a16="http://schemas.microsoft.com/office/drawing/2014/main" val="1214897528"/>
                    </a:ext>
                  </a:extLst>
                </a:gridCol>
                <a:gridCol w="1005175">
                  <a:extLst>
                    <a:ext uri="{9D8B030D-6E8A-4147-A177-3AD203B41FA5}">
                      <a16:colId xmlns:a16="http://schemas.microsoft.com/office/drawing/2014/main" val="3582260874"/>
                    </a:ext>
                  </a:extLst>
                </a:gridCol>
                <a:gridCol w="1005174">
                  <a:extLst>
                    <a:ext uri="{9D8B030D-6E8A-4147-A177-3AD203B41FA5}">
                      <a16:colId xmlns:a16="http://schemas.microsoft.com/office/drawing/2014/main" val="4061249897"/>
                    </a:ext>
                  </a:extLst>
                </a:gridCol>
                <a:gridCol w="1005175">
                  <a:extLst>
                    <a:ext uri="{9D8B030D-6E8A-4147-A177-3AD203B41FA5}">
                      <a16:colId xmlns:a16="http://schemas.microsoft.com/office/drawing/2014/main" val="1618086215"/>
                    </a:ext>
                  </a:extLst>
                </a:gridCol>
              </a:tblGrid>
              <a:tr h="139226"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sz="100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2025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15188409"/>
                  </a:ext>
                </a:extLst>
              </a:tr>
              <a:tr h="13922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6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7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8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9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10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11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499308"/>
                  </a:ext>
                </a:extLst>
              </a:tr>
              <a:tr h="3619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주요 </a:t>
                      </a:r>
                      <a:r>
                        <a:rPr kumimoji="1" lang="en-US" sz="1000"/>
                        <a:t>Milestone</a:t>
                      </a:r>
                      <a:endParaRPr kumimoji="1" lang="ko-KR" sz="1000"/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2286791"/>
                  </a:ext>
                </a:extLst>
              </a:tr>
              <a:tr h="66828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QMS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29069451"/>
                  </a:ext>
                </a:extLst>
              </a:tr>
              <a:tr h="5427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/>
                        <a:t>MES / MMD</a:t>
                      </a:r>
                      <a:endParaRPr lang="ko-KR" sz="1000"/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86602414"/>
                  </a:ext>
                </a:extLst>
              </a:tr>
              <a:tr h="27845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/>
                        <a:t>LSP / oWMS</a:t>
                      </a:r>
                      <a:endParaRPr lang="ko-KR" sz="1000"/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58285500"/>
                  </a:ext>
                </a:extLst>
              </a:tr>
              <a:tr h="2970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/>
                        <a:t>eWM</a:t>
                      </a:r>
                      <a:endParaRPr lang="ko-KR" sz="1000"/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78828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4309662"/>
                  </a:ext>
                </a:extLst>
              </a:tr>
            </a:tbl>
          </a:graphicData>
        </a:graphic>
      </p:graphicFrame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9E83B0B2-8463-47DC-9C52-2CCED0F2E302}"/>
              </a:ext>
            </a:extLst>
          </p:cNvPr>
          <p:cNvCxnSpPr>
            <a:cxnSpLocks/>
          </p:cNvCxnSpPr>
          <p:nvPr/>
        </p:nvCxnSpPr>
        <p:spPr>
          <a:xfrm>
            <a:off x="3669988" y="2219876"/>
            <a:ext cx="4865036" cy="1495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BBD8A9C-73E5-467F-BAF2-421C52BFC047}"/>
              </a:ext>
            </a:extLst>
          </p:cNvPr>
          <p:cNvSpPr/>
          <p:nvPr/>
        </p:nvSpPr>
        <p:spPr>
          <a:xfrm>
            <a:off x="6694429" y="2290834"/>
            <a:ext cx="691721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Open(MES1.0)</a:t>
            </a:r>
            <a:endParaRPr kumimoji="1" lang="ko-KR" altLang="en-US" sz="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ADB3362-39A2-4231-B6CC-DDD59844A2A2}"/>
              </a:ext>
            </a:extLst>
          </p:cNvPr>
          <p:cNvSpPr/>
          <p:nvPr/>
        </p:nvSpPr>
        <p:spPr>
          <a:xfrm>
            <a:off x="3349945" y="2274726"/>
            <a:ext cx="596842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Kick</a:t>
            </a:r>
            <a:r>
              <a:rPr kumimoji="1" lang="ko-KR" altLang="en-US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1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off</a:t>
            </a:r>
            <a:endParaRPr kumimoji="1" lang="ko-KR" altLang="en-US" sz="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BA83479-505D-4D28-B3A4-F05D892AA9C3}"/>
              </a:ext>
            </a:extLst>
          </p:cNvPr>
          <p:cNvSpPr/>
          <p:nvPr/>
        </p:nvSpPr>
        <p:spPr>
          <a:xfrm>
            <a:off x="7991339" y="2184040"/>
            <a:ext cx="81630" cy="100194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CA8455D9-FE35-47AB-B06A-454638A41E67}"/>
              </a:ext>
            </a:extLst>
          </p:cNvPr>
          <p:cNvSpPr/>
          <p:nvPr/>
        </p:nvSpPr>
        <p:spPr>
          <a:xfrm>
            <a:off x="3588358" y="2169779"/>
            <a:ext cx="81630" cy="100194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34BED5-B6A8-4784-A138-5D2DF0D3321C}"/>
              </a:ext>
            </a:extLst>
          </p:cNvPr>
          <p:cNvSpPr/>
          <p:nvPr/>
        </p:nvSpPr>
        <p:spPr>
          <a:xfrm>
            <a:off x="2603436" y="2154052"/>
            <a:ext cx="81630" cy="100194"/>
          </a:xfrm>
          <a:prstGeom prst="ellipse">
            <a:avLst/>
          </a:prstGeom>
          <a:solidFill>
            <a:srgbClr val="BFBFB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96A4A3E9-E004-4934-AA28-86CE20BFE60A}"/>
              </a:ext>
            </a:extLst>
          </p:cNvPr>
          <p:cNvCxnSpPr>
            <a:cxnSpLocks/>
          </p:cNvCxnSpPr>
          <p:nvPr/>
        </p:nvCxnSpPr>
        <p:spPr>
          <a:xfrm>
            <a:off x="2635340" y="2219620"/>
            <a:ext cx="920642" cy="0"/>
          </a:xfrm>
          <a:prstGeom prst="line">
            <a:avLst/>
          </a:prstGeom>
          <a:ln w="285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타원 24">
            <a:extLst>
              <a:ext uri="{FF2B5EF4-FFF2-40B4-BE49-F238E27FC236}">
                <a16:creationId xmlns:a16="http://schemas.microsoft.com/office/drawing/2014/main" id="{6D10328B-1076-403E-92A1-975C051477F7}"/>
              </a:ext>
            </a:extLst>
          </p:cNvPr>
          <p:cNvSpPr/>
          <p:nvPr/>
        </p:nvSpPr>
        <p:spPr>
          <a:xfrm>
            <a:off x="5051750" y="2180997"/>
            <a:ext cx="81630" cy="100194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2BCFBA9E-F1BA-4C24-A383-31B60D8C1EA4}"/>
              </a:ext>
            </a:extLst>
          </p:cNvPr>
          <p:cNvSpPr/>
          <p:nvPr/>
        </p:nvSpPr>
        <p:spPr>
          <a:xfrm>
            <a:off x="4769381" y="2292204"/>
            <a:ext cx="727995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중간 검수</a:t>
            </a:r>
            <a:r>
              <a:rPr kumimoji="1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1" lang="ko-KR" altLang="en-US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보고</a:t>
            </a:r>
            <a:endParaRPr kumimoji="1" lang="ko-KR" altLang="en-US" sz="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C520592-DAF6-4CFF-89FA-32E1D1F96A10}"/>
              </a:ext>
            </a:extLst>
          </p:cNvPr>
          <p:cNvSpPr/>
          <p:nvPr/>
        </p:nvSpPr>
        <p:spPr>
          <a:xfrm>
            <a:off x="2946384" y="2253793"/>
            <a:ext cx="545453" cy="163546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투자심의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A6C65B8B-420C-4611-94B5-4CCC11055045}"/>
              </a:ext>
            </a:extLst>
          </p:cNvPr>
          <p:cNvSpPr/>
          <p:nvPr/>
        </p:nvSpPr>
        <p:spPr>
          <a:xfrm>
            <a:off x="8453394" y="2171274"/>
            <a:ext cx="81630" cy="100194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67276B93-F0BF-4543-BF73-FA5E95303841}"/>
              </a:ext>
            </a:extLst>
          </p:cNvPr>
          <p:cNvSpPr/>
          <p:nvPr/>
        </p:nvSpPr>
        <p:spPr>
          <a:xfrm>
            <a:off x="8326773" y="2281126"/>
            <a:ext cx="346760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종료</a:t>
            </a:r>
            <a:endParaRPr kumimoji="1" lang="ko-KR" altLang="en-US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0" name="오각형 61">
            <a:extLst>
              <a:ext uri="{FF2B5EF4-FFF2-40B4-BE49-F238E27FC236}">
                <a16:creationId xmlns:a16="http://schemas.microsoft.com/office/drawing/2014/main" id="{C6FFAF77-C3D5-4290-8700-12A6FC60C478}"/>
              </a:ext>
            </a:extLst>
          </p:cNvPr>
          <p:cNvSpPr/>
          <p:nvPr/>
        </p:nvSpPr>
        <p:spPr bwMode="auto">
          <a:xfrm>
            <a:off x="3949402" y="2529983"/>
            <a:ext cx="636143" cy="184666"/>
          </a:xfrm>
          <a:prstGeom prst="homePlate">
            <a:avLst>
              <a:gd name="adj" fmla="val 21067"/>
            </a:avLst>
          </a:prstGeom>
          <a:solidFill>
            <a:schemeClr val="bg1"/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시스템 설계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1" name="오각형 61">
            <a:extLst>
              <a:ext uri="{FF2B5EF4-FFF2-40B4-BE49-F238E27FC236}">
                <a16:creationId xmlns:a16="http://schemas.microsoft.com/office/drawing/2014/main" id="{AD05DC32-31EB-447E-8F4E-29306D7B77B7}"/>
              </a:ext>
            </a:extLst>
          </p:cNvPr>
          <p:cNvSpPr/>
          <p:nvPr/>
        </p:nvSpPr>
        <p:spPr bwMode="auto">
          <a:xfrm>
            <a:off x="6140416" y="2528118"/>
            <a:ext cx="668326" cy="1694682"/>
          </a:xfrm>
          <a:prstGeom prst="homePlate">
            <a:avLst>
              <a:gd name="adj" fmla="val 9451"/>
            </a:avLst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통합</a:t>
            </a: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/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사용자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테스트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1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2" name="오각형 61">
            <a:extLst>
              <a:ext uri="{FF2B5EF4-FFF2-40B4-BE49-F238E27FC236}">
                <a16:creationId xmlns:a16="http://schemas.microsoft.com/office/drawing/2014/main" id="{BD6D1FAD-D1C3-4D2A-AB1F-C6E382FFE651}"/>
              </a:ext>
            </a:extLst>
          </p:cNvPr>
          <p:cNvSpPr/>
          <p:nvPr/>
        </p:nvSpPr>
        <p:spPr bwMode="auto">
          <a:xfrm>
            <a:off x="8034691" y="2527905"/>
            <a:ext cx="500333" cy="1694683"/>
          </a:xfrm>
          <a:prstGeom prst="homePlate">
            <a:avLst>
              <a:gd name="adj" fmla="val 13286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Open 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후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안정화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3" name="오각형 61">
            <a:extLst>
              <a:ext uri="{FF2B5EF4-FFF2-40B4-BE49-F238E27FC236}">
                <a16:creationId xmlns:a16="http://schemas.microsoft.com/office/drawing/2014/main" id="{44E90079-59B0-4867-8933-2603F8E42EA4}"/>
              </a:ext>
            </a:extLst>
          </p:cNvPr>
          <p:cNvSpPr/>
          <p:nvPr/>
        </p:nvSpPr>
        <p:spPr bwMode="auto">
          <a:xfrm>
            <a:off x="4581287" y="2529983"/>
            <a:ext cx="1549359" cy="184666"/>
          </a:xfrm>
          <a:prstGeom prst="homePlate">
            <a:avLst>
              <a:gd name="adj" fmla="val 21067"/>
            </a:avLst>
          </a:prstGeom>
          <a:solidFill>
            <a:schemeClr val="bg1"/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장기재고 관리 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기능 개발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4" name="오각형 61">
            <a:extLst>
              <a:ext uri="{FF2B5EF4-FFF2-40B4-BE49-F238E27FC236}">
                <a16:creationId xmlns:a16="http://schemas.microsoft.com/office/drawing/2014/main" id="{889331C6-54EA-43F8-9C79-AAFDBC59D252}"/>
              </a:ext>
            </a:extLst>
          </p:cNvPr>
          <p:cNvSpPr/>
          <p:nvPr/>
        </p:nvSpPr>
        <p:spPr bwMode="auto">
          <a:xfrm>
            <a:off x="4738139" y="2729936"/>
            <a:ext cx="1401915" cy="199625"/>
          </a:xfrm>
          <a:prstGeom prst="homePlate">
            <a:avLst>
              <a:gd name="adj" fmla="val 21067"/>
            </a:avLst>
          </a:prstGeom>
          <a:solidFill>
            <a:schemeClr val="bg1"/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AS </a:t>
            </a: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장기재고 관리 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기능 개발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5" name="오각형 61">
            <a:extLst>
              <a:ext uri="{FF2B5EF4-FFF2-40B4-BE49-F238E27FC236}">
                <a16:creationId xmlns:a16="http://schemas.microsoft.com/office/drawing/2014/main" id="{837A3D55-6B37-4C70-8424-1EFBD01247C2}"/>
              </a:ext>
            </a:extLst>
          </p:cNvPr>
          <p:cNvSpPr/>
          <p:nvPr/>
        </p:nvSpPr>
        <p:spPr bwMode="auto">
          <a:xfrm>
            <a:off x="4747547" y="2953610"/>
            <a:ext cx="1401915" cy="199625"/>
          </a:xfrm>
          <a:prstGeom prst="homePlate">
            <a:avLst>
              <a:gd name="adj" fmla="val 21067"/>
            </a:avLst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송수신 </a:t>
            </a:r>
            <a:r>
              <a:rPr lang="en-US" altLang="ko-KR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I/F </a:t>
            </a: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개발 및 테스트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18C1AB4-B6ED-4C79-8716-562E0EFDF42E}"/>
              </a:ext>
            </a:extLst>
          </p:cNvPr>
          <p:cNvSpPr/>
          <p:nvPr/>
        </p:nvSpPr>
        <p:spPr>
          <a:xfrm>
            <a:off x="6001134" y="2243642"/>
            <a:ext cx="85563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Open</a:t>
            </a: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+mn-cs"/>
              </a:rPr>
              <a:t> Readiness</a:t>
            </a:r>
            <a:endParaRPr kumimoji="1" lang="ko-KR" altLang="en-US" sz="7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37" name="오각형 61">
            <a:extLst>
              <a:ext uri="{FF2B5EF4-FFF2-40B4-BE49-F238E27FC236}">
                <a16:creationId xmlns:a16="http://schemas.microsoft.com/office/drawing/2014/main" id="{4E3548C9-D342-4322-B88A-6E75FD2A3296}"/>
              </a:ext>
            </a:extLst>
          </p:cNvPr>
          <p:cNvSpPr/>
          <p:nvPr/>
        </p:nvSpPr>
        <p:spPr bwMode="auto">
          <a:xfrm>
            <a:off x="4738138" y="3744988"/>
            <a:ext cx="1401915" cy="199625"/>
          </a:xfrm>
          <a:prstGeom prst="homePlate">
            <a:avLst>
              <a:gd name="adj" fmla="val 21067"/>
            </a:avLst>
          </a:prstGeom>
          <a:solidFill>
            <a:schemeClr val="bg1"/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장기재고 관리 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기능 개발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8" name="오각형 61">
            <a:extLst>
              <a:ext uri="{FF2B5EF4-FFF2-40B4-BE49-F238E27FC236}">
                <a16:creationId xmlns:a16="http://schemas.microsoft.com/office/drawing/2014/main" id="{BB50DE18-4317-4F38-A87F-756325274A0D}"/>
              </a:ext>
            </a:extLst>
          </p:cNvPr>
          <p:cNvSpPr/>
          <p:nvPr/>
        </p:nvSpPr>
        <p:spPr bwMode="auto">
          <a:xfrm>
            <a:off x="4738137" y="4032222"/>
            <a:ext cx="1401915" cy="199625"/>
          </a:xfrm>
          <a:prstGeom prst="homePlate">
            <a:avLst>
              <a:gd name="adj" fmla="val 21067"/>
            </a:avLst>
          </a:prstGeom>
          <a:solidFill>
            <a:schemeClr val="bg1"/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AS</a:t>
            </a: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장기재고 관리 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기능 개발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39" name="오각형 61">
            <a:extLst>
              <a:ext uri="{FF2B5EF4-FFF2-40B4-BE49-F238E27FC236}">
                <a16:creationId xmlns:a16="http://schemas.microsoft.com/office/drawing/2014/main" id="{9B355C50-110F-4746-AA05-9688B03DC72E}"/>
              </a:ext>
            </a:extLst>
          </p:cNvPr>
          <p:cNvSpPr/>
          <p:nvPr/>
        </p:nvSpPr>
        <p:spPr bwMode="auto">
          <a:xfrm>
            <a:off x="4700591" y="3211266"/>
            <a:ext cx="1430055" cy="250618"/>
          </a:xfrm>
          <a:prstGeom prst="homePlate">
            <a:avLst>
              <a:gd name="adj" fmla="val 21067"/>
            </a:avLst>
          </a:prstGeom>
          <a:solidFill>
            <a:schemeClr val="bg1"/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장기재고 관리 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기능 개발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(</a:t>
            </a:r>
            <a:r>
              <a:rPr lang="en-US" altLang="ko-KR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MES</a:t>
            </a: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lang="en-US" altLang="ko-KR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1.0,</a:t>
            </a: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lang="en-US" altLang="ko-KR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MMD)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4BE9B2F-D9AA-4684-8BB3-2D4E306AA8E8}"/>
              </a:ext>
            </a:extLst>
          </p:cNvPr>
          <p:cNvSpPr/>
          <p:nvPr/>
        </p:nvSpPr>
        <p:spPr>
          <a:xfrm>
            <a:off x="6999475" y="2180115"/>
            <a:ext cx="81630" cy="100194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900" b="1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8857FFD-0D5C-4126-BEEA-817275CC77A6}"/>
              </a:ext>
            </a:extLst>
          </p:cNvPr>
          <p:cNvSpPr/>
          <p:nvPr/>
        </p:nvSpPr>
        <p:spPr>
          <a:xfrm>
            <a:off x="7649092" y="2298396"/>
            <a:ext cx="691721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Open(MES2.0)</a:t>
            </a:r>
            <a:endParaRPr kumimoji="1" lang="ko-KR" altLang="en-US" sz="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42" name="오각형 61">
            <a:extLst>
              <a:ext uri="{FF2B5EF4-FFF2-40B4-BE49-F238E27FC236}">
                <a16:creationId xmlns:a16="http://schemas.microsoft.com/office/drawing/2014/main" id="{310D282E-A039-492D-A279-7453CF0E325B}"/>
              </a:ext>
            </a:extLst>
          </p:cNvPr>
          <p:cNvSpPr/>
          <p:nvPr/>
        </p:nvSpPr>
        <p:spPr bwMode="auto">
          <a:xfrm>
            <a:off x="6813731" y="3505671"/>
            <a:ext cx="1177608" cy="181678"/>
          </a:xfrm>
          <a:prstGeom prst="homePlate">
            <a:avLst>
              <a:gd name="adj" fmla="val 21067"/>
            </a:avLst>
          </a:prstGeom>
          <a:solidFill>
            <a:schemeClr val="bg1"/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MES2.0</a:t>
            </a:r>
            <a:r>
              <a:rPr kumimoji="0" lang="ko-KR" altLang="en-US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 </a:t>
            </a: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개발 및 테스트</a:t>
            </a: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sp>
        <p:nvSpPr>
          <p:cNvPr id="43" name="오각형 61">
            <a:extLst>
              <a:ext uri="{FF2B5EF4-FFF2-40B4-BE49-F238E27FC236}">
                <a16:creationId xmlns:a16="http://schemas.microsoft.com/office/drawing/2014/main" id="{B98272CB-863E-4F18-A223-6DA073CE374B}"/>
              </a:ext>
            </a:extLst>
          </p:cNvPr>
          <p:cNvSpPr/>
          <p:nvPr/>
        </p:nvSpPr>
        <p:spPr bwMode="auto">
          <a:xfrm>
            <a:off x="4143923" y="2732498"/>
            <a:ext cx="435569" cy="1490302"/>
          </a:xfrm>
          <a:prstGeom prst="homePlate">
            <a:avLst>
              <a:gd name="adj" fmla="val 10586"/>
            </a:avLst>
          </a:prstGeom>
          <a:solidFill>
            <a:schemeClr val="accent1">
              <a:lumMod val="20000"/>
              <a:lumOff val="80000"/>
            </a:schemeClr>
          </a:solidFill>
          <a:ln w="3175" cap="flat" cmpd="sng" algn="ctr">
            <a:solidFill>
              <a:srgbClr val="231F2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 anchorCtr="0"/>
          <a:lstStyle/>
          <a:p>
            <a:pPr marL="0" marR="0" lvl="0" indent="-90488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송수신 </a:t>
            </a:r>
            <a:r>
              <a:rPr lang="en-US" altLang="ko-KR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I/F</a:t>
            </a:r>
          </a:p>
          <a:p>
            <a:pPr indent="-90488" algn="ctr" eaLnBrk="0" latinLnBrk="0" hangingPunct="0">
              <a:defRPr/>
            </a:pPr>
            <a:r>
              <a:rPr lang="ko-KR" altLang="en-US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  <a:t>설계</a:t>
            </a:r>
            <a:br>
              <a:rPr lang="en-US" altLang="ko-KR" sz="800" kern="0"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rPr>
            </a:br>
            <a:endParaRPr kumimoji="0" lang="en-US" altLang="ko-KR" sz="8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Arial" pitchFamily="34" charset="0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4182E5FC-6CF7-4378-9252-5086F85F7F5D}"/>
              </a:ext>
            </a:extLst>
          </p:cNvPr>
          <p:cNvGrpSpPr/>
          <p:nvPr/>
        </p:nvGrpSpPr>
        <p:grpSpPr>
          <a:xfrm>
            <a:off x="7343956" y="2115118"/>
            <a:ext cx="135802" cy="2184949"/>
            <a:chOff x="4534301" y="1913766"/>
            <a:chExt cx="135802" cy="3527964"/>
          </a:xfrm>
        </p:grpSpPr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FBD07644-71E6-4694-9B65-7D1431B518B1}"/>
                </a:ext>
              </a:extLst>
            </p:cNvPr>
            <p:cNvCxnSpPr>
              <a:cxnSpLocks/>
            </p:cNvCxnSpPr>
            <p:nvPr/>
          </p:nvCxnSpPr>
          <p:spPr>
            <a:xfrm>
              <a:off x="4602202" y="2074497"/>
              <a:ext cx="0" cy="3367233"/>
            </a:xfrm>
            <a:prstGeom prst="line">
              <a:avLst/>
            </a:prstGeom>
            <a:noFill/>
            <a:ln w="12700" cap="flat" cmpd="sng" algn="ctr">
              <a:solidFill>
                <a:srgbClr val="FF0000"/>
              </a:solidFill>
              <a:prstDash val="dash"/>
              <a:miter lim="800000"/>
            </a:ln>
            <a:effectLst/>
          </p:spPr>
        </p:cxnSp>
        <p:sp>
          <p:nvSpPr>
            <p:cNvPr id="46" name="이등변 삼각형 45">
              <a:extLst>
                <a:ext uri="{FF2B5EF4-FFF2-40B4-BE49-F238E27FC236}">
                  <a16:creationId xmlns:a16="http://schemas.microsoft.com/office/drawing/2014/main" id="{2FB1FAEA-D775-4863-91E5-AFD3139A3F37}"/>
                </a:ext>
              </a:extLst>
            </p:cNvPr>
            <p:cNvSpPr/>
            <p:nvPr/>
          </p:nvSpPr>
          <p:spPr bwMode="auto">
            <a:xfrm rot="10800000">
              <a:off x="4534301" y="1913766"/>
              <a:ext cx="135802" cy="160731"/>
            </a:xfrm>
            <a:prstGeom prst="triangle">
              <a:avLst/>
            </a:prstGeom>
            <a:solidFill>
              <a:schemeClr val="accent2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1" fontAlgn="base" latinLnBrk="1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2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돋움" pitchFamily="50" charset="-127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00961CF0-4101-67AE-8C2B-CBAEBC7BD1F0}"/>
              </a:ext>
            </a:extLst>
          </p:cNvPr>
          <p:cNvSpPr txBox="1"/>
          <p:nvPr/>
        </p:nvSpPr>
        <p:spPr>
          <a:xfrm>
            <a:off x="8007890" y="563527"/>
            <a:ext cx="1763012" cy="1692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 12/15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 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23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  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57263658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17C992-376D-01B7-08A2-7F415D5C7E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E1EB7A3B-F791-AEA0-6E2B-3597A1162B0D}"/>
              </a:ext>
            </a:extLst>
          </p:cNvPr>
          <p:cNvGraphicFramePr>
            <a:graphicFrameLocks noGrp="1"/>
          </p:cNvGraphicFramePr>
          <p:nvPr/>
        </p:nvGraphicFramePr>
        <p:xfrm>
          <a:off x="126306" y="803107"/>
          <a:ext cx="9644174" cy="6040852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8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399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1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)</a:t>
                      </a:r>
                      <a:endParaRPr 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0968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장기재고검사 관리 표준화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(시스템)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전법인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소형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자동차 CELL/PACK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(51W)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장기재고 표준 관리체계 구축 완료한 상태로 모니터링 진행중이며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5D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종료를 통한 장기재고품 처리 로직 추가 개선 건에 대해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PACK MES1.0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도 적용 완료하였으며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MES2.0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은 금주 적용할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샘플 실물재고 창고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→ QA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이동 후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EWM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재고 처리 방식 확인 필요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  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실제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검사에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필요한 제품(Cell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샘플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Cell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단위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이동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, Module,Pack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단위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)만 전달하는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것으로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협의 완료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(7/30, w. global서비스영업, QA)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취출 Cell 정보를 EWM에서 입력하여 QMS로 I/F 하는것으로 업무 협의 완료 (7/30, w.global서비스영업, QA, EWM PI)  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  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④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MMD –MES/EWM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명세 정의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진행 예정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일정 확인 필요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  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샘플 데이터 및 신규 설계 내용 전달 완료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(7/29),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상세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I/F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개발 정의는 추후 진행 예정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장기재고검사 화면 정의 진행 완료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– QMS/MES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(~7/31)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① 화면 정의 과정에서 현업 추가 확인이 필요한 건들에 대해 검토 진행중이며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QMS/MES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는 차주 담당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PI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화면리뷰 진행할 예정입니다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. 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- QMS :  QMS 1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차 화면리뷰 완료(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7/21)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했으며 추가 보완 필요 항목 전달 완료 (7/30)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- MES :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장기재고 검사 화면설계서 PI 리뷰 및 확정 (7/21)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-. AS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장기재고검사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화면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정의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진행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중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-QMS/EWM (~8/15)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- QMS : QMS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화면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정의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(7/30)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- EWM 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요건 분석 및 화면 정의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(8/7)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900" b="0" i="0" u="none" strike="noStrike" kern="1200" baseline="0">
                        <a:solidFill>
                          <a:srgbClr val="0000FF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3)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시스템 개발 현황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시스템 개발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(~9/15)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①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QMS </a:t>
                      </a:r>
                      <a:endParaRPr lang="ko-KR" altLang="en-US" sz="900" b="0" i="0" u="none" strike="noStrike" kern="1200" baseline="0" noProof="0">
                        <a:solidFill>
                          <a:srgbClr val="0000FF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- 장기재고 관련 내용 개발 완료 (8/29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  - </a:t>
                      </a:r>
                      <a:r>
                        <a:rPr lang="ko-KR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기재고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송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수신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처리 로직 개발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완료(8/6)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  - 장기재고 화면 개발 완료   (17개/17개) (8/13) →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기능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예정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(~9/5)</a:t>
                      </a:r>
                      <a:br>
                        <a:rPr lang="en-US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  - 장기재고 메일 수신 담당자 지정 기능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추가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및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메일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전송 로직 반영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(8/19)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    - AS 장기재고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관련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내용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개발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(9/19)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  -  AS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장기재고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WEB SERVICE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완료(8/19)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       -  AS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장기재고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수신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처리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로직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완료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(8/19)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 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→ PI 1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화면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테스트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진행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완료(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9/12), 1차 테스트 중 나온 결함,개선항목(29건)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2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차 테스트 진행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 완료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9/19)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→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장기재고 단위 테스트 및 결함 조치 진행 완료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(9/19)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②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MES </a:t>
                      </a:r>
                      <a:endParaRPr 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-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MES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프로그램 개발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(44/44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, 100%) (~9/12)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-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기능 단위 테스트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(44/44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, 100%)(~9/12)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- MES-LSP I/F WebService 프로그램 개발 완료 (8/13) -&gt; MES-oWMS MQ I/F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송수신테스트 예정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(~8/22)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③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LSP </a:t>
                      </a:r>
                      <a:endParaRPr lang="ko-KR" alt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- 장기재고 전송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MQ I/F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테이블 생성 완료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개발서버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MQ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연결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- 장기재고 대상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PALLET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정보 취득 처리 개발 완료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- 장기재고 대상 정보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(LOT SUMMARY / PALLET / PALLET DETAIL) MQ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테이블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INSERT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처리 개발 완료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   OWMS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- Interface (2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) : LSP-MES 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송신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설계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개발 100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%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진척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 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- WM (2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) 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장기 재고 도래 대상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Item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전송 기능 개발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전송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, Pallet Lot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전송) 설계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개발 완료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④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MMD :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MMD 2.0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대응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작업으로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장기재고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미착수 -&gt; MMD 개발 완료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   -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MMD 2.0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오픈일정이 연기되어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(9/8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일 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11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월말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기존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MMD1.0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에 장기재고검사 관리 표준화에 대한 개발을 진행하기로 최종 협의 완료</a:t>
                      </a:r>
                      <a:b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  <a:ea typeface="+mn-ea"/>
                          <a:cs typeface="+mn-cs"/>
                        </a:rPr>
                        <a:t>  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- MMD2.0 오픈일정이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변경되어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(11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월말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→ 11/10)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기존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MMD(1.0), MMD2.0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에 모두개발하여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적용하는 것으로 재협의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자’25.10</a:t>
                      </a:r>
                      <a:b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유관부서와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논의를 통해 완료 일정에 대한 확정 필요함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원유정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정인규P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BEDBBFE-1B5F-7C7A-55AF-53C0ED37D68D}"/>
              </a:ext>
            </a:extLst>
          </p:cNvPr>
          <p:cNvSpPr txBox="1">
            <a:spLocks/>
          </p:cNvSpPr>
          <p:nvPr/>
        </p:nvSpPr>
        <p:spPr>
          <a:xfrm>
            <a:off x="108656" y="551770"/>
            <a:ext cx="232114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장기재고 검사 관리 표준화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B779B443-39AA-622F-7435-EE3E1A3E138D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48EF79A3-7000-2C1E-33BB-7EC888003006}"/>
              </a:ext>
            </a:extLst>
          </p:cNvPr>
          <p:cNvSpPr txBox="1">
            <a:spLocks/>
          </p:cNvSpPr>
          <p:nvPr/>
        </p:nvSpPr>
        <p:spPr>
          <a:xfrm>
            <a:off x="8276859" y="394960"/>
            <a:ext cx="101951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원유정A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BBE3EBA-3247-F413-51D1-A2EE6893584A}"/>
              </a:ext>
            </a:extLst>
          </p:cNvPr>
          <p:cNvSpPr txBox="1"/>
          <p:nvPr/>
        </p:nvSpPr>
        <p:spPr>
          <a:xfrm>
            <a:off x="8007890" y="563527"/>
            <a:ext cx="1763012" cy="1692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 12/15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 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23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  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23357485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17C992-376D-01B7-08A2-7F415D5C7E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E1EB7A3B-F791-AEA0-6E2B-3597A1162B0D}"/>
              </a:ext>
            </a:extLst>
          </p:cNvPr>
          <p:cNvGraphicFramePr>
            <a:graphicFrameLocks noGrp="1"/>
          </p:cNvGraphicFramePr>
          <p:nvPr/>
        </p:nvGraphicFramePr>
        <p:xfrm>
          <a:off x="126306" y="803107"/>
          <a:ext cx="9644173" cy="6063888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8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399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1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)</a:t>
                      </a:r>
                      <a:endParaRPr 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0968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장기재고검사 관리 표준화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(시스템)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전법인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소형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자동차 CELL/PACK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(51W)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장기재고 표준 관리체계 구축 완료한 상태로 모니터링 진행중이며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5D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종료를 통한 장기재고품 처리 로직 추가 개선 건에 대해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PACK MES1.0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도 적용 완료하였으며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MES2.0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은 금주 적용할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⑤ 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EWM </a:t>
                      </a:r>
                      <a:endParaRPr lang="ko-KR" altLang="en-US" sz="900" b="0" i="0" u="none" strike="noStrike" kern="1200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- 장기재고 관리 메인 프로그램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실행 프로그램 개발 진행 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(50%)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- QMS &lt;&gt; EWM IF 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P/O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개발 진행 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 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 진행 중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- MMD &lt;&gt; EWM IF 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IF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매핑정의서 필드 협의 중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→ AS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기준정보 관리 방식에 대해 협의 진행중이나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MMD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장기재고 관련 기준정보를 최초 논의한것과 같이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MMD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화면에 추가하는것이 아닌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EWM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따로 관리하는것을 제안하여 추가 협의가 필요한 상태입니다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n-US" altLang="ko-KR" sz="900" b="0" i="0" u="none" strike="noStrike" kern="1200" baseline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기존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논의한대로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AS 장기재고 기준정보도 MMD에서 관리하는 것으로 협의하였습니다.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→MMD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에서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제품유형별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구분이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어려워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유형별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표준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기준일수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적용이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불가한것으로 확인되어, MES의 제품 유형별 기본일수 적용방식 확인 및 공유하였으며 MMD에서도 동일하게 처리할 수 있을지 추가 협의가 필요합니다. 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→MMD에서도 자체 처리 로직으로 제품유형 별 표준일수 적용하는것으로 협의 완료하였습니다. (9/24)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테스트 현황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4-1)1차 오픈 테스트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시스템 연계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통합테스트를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9/15~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10/30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기간동안 진행예정 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연계테스트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9/15~19 (완료)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통합테스트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9/22~31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(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10/1~2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진행)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연계 시스템 별로 시나리오 및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QMS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테스트 케이스를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차 공유한 상태로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각 시스템별로 테스트케이스 작성 및 취합 진행중입니다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.(~9/12)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QMS/MES/LSP/oWMS/eWM 테스트 시나리오 취합/검토 완료되었습니다. (9/16)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9/22~23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일반장기재고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진척률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70%(301/434)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LSP – MES– QMS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소형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CELL,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자동차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CELL, PACK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케이스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완료하였고,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테스트 과정에서 나온 MES 수정 검토 건 (9건), QMS 수정 검토 건 (9건) 개선 진행중이며, 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개선항목 및 oWMS-MES -QMS간 테스트케이스를 9/29에 추가 진행할 예정입니다.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9/29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일반장기재고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진척률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98%(426/434)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로, MMD I/F 잔건 금일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(10/1)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진행할 예정입니다.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 과정에서 나온 NG 11건, MES 수정 검토 건 8건, QMS 수정 검토건 9건 개선 완료하였습니다.  (MES 개선 건 1건은 시스템간 로직 적용방식 추가 협의 필요)  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→10/1 MMD I/F 테스트 완료하여 일반장기재고 테스트 진척률 100%(426/434)로 테스트 완료하였습니다.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9/24 AS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장기재고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통합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진행하였고 테스트 진척율 90%(66/74)로,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 과정에서 나온 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NG 3 건,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EWM 수정 검토 건 5건 포함하여 잔 건 금일(10/1) 추가 진행할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.(EWM/QMS)</a:t>
                      </a:r>
                      <a:endParaRPr lang="ko-KR" alt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(NG : QMS 반려건 EWM 적용 필요(2건), 검사불합격 시 LOT 기준 HOLD 적용 필요(1건))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10/1~2 MMD I/F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및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NG,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수정검토 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모두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완료하여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 진척률 100%(74/74)로 테스트 완료하였습니다.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-. 사용자 테스트를 10/1 ~ 10/14 기간동안 진행하였습니다. (w. 품질시스템팀, QA)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-. 오픈 대상 법인 프로세스 및 시스템 활용 교육 방법과 교육 일정 수립을 요청한 상태입니다. (w. 품질시스템팀, QA)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장기재고,AS 장기재고 사용자 교육자료 1차 작성하였고 내용 추가 검토 중입니다.(10/15)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장기재고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프로젝트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핵심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인원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(QA,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생산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에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개선점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설명회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진행하였고(10/15),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오픈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법인(OC1,OC2,WA,NJ,NA,NB,GM1,GM2,HM)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교육일정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수립 하여 교육 진행할예정입니다.(10/20~31)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품질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영업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대상으로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OC1,OC2,WA AS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장기재고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일반장기재고 관리 및 검증을 위한 시스템 교육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완료하였고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(10/21) ,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NA,NA,NB (10/22)/GM1,GM2(10/23)/HM(10/27)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교육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진행 완료하였습니다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.(10/27)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오픈일정이 확정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(11/25)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됨에 따라, 2차 오픈 대상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법인에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대한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교육일정을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수립할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예정입니다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→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차 오픈 대상 법인 중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ST,HD,HG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법인 교육 진행 완료하였습니다. (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11/13)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MI, MI_LS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랜섬웨어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이슈로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담당자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접속이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어려워 추후 교육 진행하는것으로 협의하였습니다.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자’25.10</a:t>
                      </a:r>
                      <a:b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유관부서와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논의를 통해 완료 일정에 대한 확정 필요함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원유정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정인규P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BEDBBFE-1B5F-7C7A-55AF-53C0ED37D68D}"/>
              </a:ext>
            </a:extLst>
          </p:cNvPr>
          <p:cNvSpPr txBox="1">
            <a:spLocks/>
          </p:cNvSpPr>
          <p:nvPr/>
        </p:nvSpPr>
        <p:spPr>
          <a:xfrm>
            <a:off x="108656" y="551770"/>
            <a:ext cx="232114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장기재고 검사 관리 표준화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B779B443-39AA-622F-7435-EE3E1A3E138D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48EF79A3-7000-2C1E-33BB-7EC888003006}"/>
              </a:ext>
            </a:extLst>
          </p:cNvPr>
          <p:cNvSpPr txBox="1">
            <a:spLocks/>
          </p:cNvSpPr>
          <p:nvPr/>
        </p:nvSpPr>
        <p:spPr>
          <a:xfrm>
            <a:off x="8276859" y="394960"/>
            <a:ext cx="101951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원유정A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7564D4F-AE10-EFCE-5F4B-A216566D14F8}"/>
              </a:ext>
            </a:extLst>
          </p:cNvPr>
          <p:cNvSpPr txBox="1"/>
          <p:nvPr/>
        </p:nvSpPr>
        <p:spPr>
          <a:xfrm>
            <a:off x="8007890" y="563527"/>
            <a:ext cx="1763012" cy="1692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 12/15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 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23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  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8277513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17C992-376D-01B7-08A2-7F415D5C7E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E1EB7A3B-F791-AEA0-6E2B-3597A1162B0D}"/>
              </a:ext>
            </a:extLst>
          </p:cNvPr>
          <p:cNvGraphicFramePr>
            <a:graphicFrameLocks noGrp="1"/>
          </p:cNvGraphicFramePr>
          <p:nvPr/>
        </p:nvGraphicFramePr>
        <p:xfrm>
          <a:off x="126306" y="803107"/>
          <a:ext cx="9644173" cy="6040852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8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399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1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)</a:t>
                      </a:r>
                      <a:endParaRPr lang="en-US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0968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장기재고검사 관리 표준화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(시스템)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전법인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소형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자동차 CELL/PACK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(51W) 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장기재고 표준 관리체계 구축 완료한 상태로 모니터링 진행중이며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5D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종료를 통한 장기재고품 처리 로직 추가 개선 건에 대해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PACK MES1.0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도 적용 완료하였으며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, MES2.0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은 금주 적용할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4-2)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오픈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시스템 연계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통합테스트를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11/12~20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기간동안 진행예정 입니다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통합테스트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11/12~20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각 시스템 별 통합 테스트 케이스 검토 진행중입니다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.(~10/31)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테스트 대상 시스템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 1.0,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활성화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 2.0,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팩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 2.0, QMS, LSP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개발 진척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자동차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소형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CELL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MES 2.0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개발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완료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단위테스트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진행 중, 내부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통합테스트 및 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 data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준비 중 (~11/14)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</a:rPr>
                        <a:t>   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PACK MES 2.0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개발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단위테스트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내부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통합테스트 및 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data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준비 완료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(11/11)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- 테스트 진척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   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PACK MES2.0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진행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: 1차 테스트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(11/12)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진척률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100% (74/74).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NG(1),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개선건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(5)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수정하여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수정건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 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. (11/28)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 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조립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MES1.0(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오창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자동차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: 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(11/13)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진척률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100%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(74/74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). NG(1),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개선건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(2)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수정하여 수정건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 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진행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. (11/26) 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  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소형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자동차 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MES2.0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:1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 테스트 진척률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(11/17~21)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100% (148/148). NG((6),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개선건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(2)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수정하여 재테스트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100%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(74/74)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진행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11/26)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시스템 오픈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    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오픈 대상 시스템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 1.0,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활성화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 2.0,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팩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 2.0, MQ)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오픈 완료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12/2) </a:t>
                      </a: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5) 특이사항</a:t>
                      </a:r>
                    </a:p>
                    <a:p>
                      <a:pPr marL="171450" marR="0" lvl="0" indent="-1714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Char char="-"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오창 자동차의 경우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FCS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사용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법인으로, MES에서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검사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Cell 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비용처리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연계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불가로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1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차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오픈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대상에서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제외가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필요한 것으로 전달받았으며, 추후 기능 오픈 방식에 대해 확인이 필요합니다.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→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오창</a:t>
                      </a:r>
                      <a:r>
                        <a:rPr 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자동차(FCS)의 경우 조립 MES에 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샘플 관리를 위한 기능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조립MES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&lt;-&gt;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FCS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I/F 및 </a:t>
                      </a:r>
                      <a:r>
                        <a:rPr 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처리로직)을 추가하여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 기존 논의한 대로 조립 MES에 적용하는 것으로 협의하였고, 2차 오픈시 MES2.0법인과 같이 오픈하는 것으로 확정하였습니다.</a:t>
                      </a:r>
                    </a:p>
                    <a:p>
                      <a:pPr marL="171450" marR="0" lvl="0" indent="-1714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Char char="-"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2차 오픈 테스트 중 5D 종료 시 유효기간 연장되는 기능이 MES 개발항목에서 누락되어있는 것으로 확인하여 추가 개발 및 적용 필요하며, 현재 MES 쪽에서 기능 개발 방향 검토 중 입니다.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→  5D RELEASE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유효기간 연장 기능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차 오픈시 반영하는것으로 협의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→ 5D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RELEASE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기능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CELL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소형 조립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MES1.0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자동차 활성화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MES1.0,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자동차 조립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MES1.0,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소형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자동차 활성화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MES2.0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적용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(12/2)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→ PACK MES1.0, 2.0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은 로직 분석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개발 단계로 추가 개발 일정 확인필요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</a:rPr>
                        <a:t>(~12/5)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→ PACK MES1.0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로직 적용 완료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(~12/10), MES2.0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적용 예정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lt"/>
                        </a:rPr>
                        <a:t>(~12/19)</a:t>
                      </a:r>
                      <a:endParaRPr lang="ko-KR" altLang="en-US" sz="900" b="0" i="0" u="none" strike="noStrike" kern="1200" baseline="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  <a:p>
                      <a:pPr marL="171450" marR="0" lvl="0" indent="-1714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Char char="-"/>
                      </a:pPr>
                      <a:endParaRPr lang="ko-KR" altLang="en-US" sz="9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171450" marR="0" lvl="0" indent="-1714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Char char="-"/>
                      </a:pPr>
                      <a:endParaRPr lang="ko-KR" altLang="en-US" sz="900" b="0" i="0" u="none" strike="noStrike" kern="1200" baseline="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자’25.10</a:t>
                      </a:r>
                      <a:br>
                        <a:rPr lang="en-US" altLang="ko-KR" sz="900" b="0" i="0" u="none" strike="noStrike" kern="120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유관부서와</a:t>
                      </a:r>
                      <a:r>
                        <a:rPr lang="ko-KR" altLang="en-US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논의를 통해 완료 일정에 대한 확정 필요함</a:t>
                      </a:r>
                      <a:r>
                        <a:rPr lang="en-US" altLang="ko-KR" sz="900" b="0" i="0" u="none" strike="noStrike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원유정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정인규P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BEDBBFE-1B5F-7C7A-55AF-53C0ED37D68D}"/>
              </a:ext>
            </a:extLst>
          </p:cNvPr>
          <p:cNvSpPr txBox="1">
            <a:spLocks/>
          </p:cNvSpPr>
          <p:nvPr/>
        </p:nvSpPr>
        <p:spPr>
          <a:xfrm>
            <a:off x="108656" y="551770"/>
            <a:ext cx="232114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장기재고 검사 관리 표준화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B779B443-39AA-622F-7435-EE3E1A3E138D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50" name="내용 개체 틀 20">
            <a:extLst>
              <a:ext uri="{FF2B5EF4-FFF2-40B4-BE49-F238E27FC236}">
                <a16:creationId xmlns:a16="http://schemas.microsoft.com/office/drawing/2014/main" id="{48EF79A3-7000-2C1E-33BB-7EC888003006}"/>
              </a:ext>
            </a:extLst>
          </p:cNvPr>
          <p:cNvSpPr txBox="1">
            <a:spLocks/>
          </p:cNvSpPr>
          <p:nvPr/>
        </p:nvSpPr>
        <p:spPr>
          <a:xfrm>
            <a:off x="8276859" y="394960"/>
            <a:ext cx="101951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원유정A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7B60F21-7187-B02D-7841-69D5DD70246A}"/>
              </a:ext>
            </a:extLst>
          </p:cNvPr>
          <p:cNvSpPr txBox="1"/>
          <p:nvPr/>
        </p:nvSpPr>
        <p:spPr>
          <a:xfrm>
            <a:off x="8007890" y="563527"/>
            <a:ext cx="1763012" cy="1692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 12/15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 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23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  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Arial Narrow"/>
              <a:ea typeface="맑은 고딕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91307259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9D7C3D-EA6E-AF08-0854-F28D570F32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E7DD3FB1-1296-9B13-DD49-41ADFEC57E87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3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2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제품 초기 안정화 관리 시스템 구축</a:t>
                      </a:r>
                      <a:endParaRPr lang="en-US">
                        <a:latin typeface="+mj-ea"/>
                        <a:ea typeface="+mj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 </a:t>
                      </a: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ea"/>
                        <a:ea typeface="+mj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’25.12</a:t>
                      </a:r>
                      <a:endParaRPr lang="en-US">
                        <a:latin typeface="+mj-ea"/>
                        <a:ea typeface="+mj-ea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이가은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94E79EDF-AD4C-D1E8-38B8-136FEEB93194}"/>
              </a:ext>
            </a:extLst>
          </p:cNvPr>
          <p:cNvSpPr txBox="1">
            <a:spLocks/>
          </p:cNvSpPr>
          <p:nvPr/>
        </p:nvSpPr>
        <p:spPr>
          <a:xfrm>
            <a:off x="108658" y="612725"/>
            <a:ext cx="3543537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제품 초기 안정화 관리 시스템 구축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DCD63BD-B21E-EB64-67C2-493D07D92BAC}"/>
              </a:ext>
            </a:extLst>
          </p:cNvPr>
          <p:cNvSpPr txBox="1">
            <a:spLocks/>
          </p:cNvSpPr>
          <p:nvPr/>
        </p:nvSpPr>
        <p:spPr>
          <a:xfrm>
            <a:off x="8060017" y="403273"/>
            <a:ext cx="1037143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이가은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 panose="020B0600000101010101" pitchFamily="50" charset="-127"/>
              <a:ea typeface="LG스마트체2.0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E3A9741-ED17-C067-DD11-F8E0AB12C30E}"/>
              </a:ext>
            </a:extLst>
          </p:cNvPr>
          <p:cNvSpPr txBox="1"/>
          <p:nvPr/>
        </p:nvSpPr>
        <p:spPr>
          <a:xfrm>
            <a:off x="7997500" y="572550"/>
            <a:ext cx="1689566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시</a:t>
            </a: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0EB5190D-9D23-56DF-5C00-75D76A629568}"/>
              </a:ext>
            </a:extLst>
          </p:cNvPr>
          <p:cNvSpPr txBox="1">
            <a:spLocks/>
          </p:cNvSpPr>
          <p:nvPr/>
        </p:nvSpPr>
        <p:spPr>
          <a:xfrm>
            <a:off x="127031" y="117971"/>
            <a:ext cx="342971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팀</a:t>
            </a:r>
          </a:p>
        </p:txBody>
      </p:sp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7261ECDD-0012-31E4-1E61-98799C006F58}"/>
              </a:ext>
            </a:extLst>
          </p:cNvPr>
          <p:cNvGraphicFramePr>
            <a:graphicFrameLocks noGrp="1"/>
          </p:cNvGraphicFramePr>
          <p:nvPr/>
        </p:nvGraphicFramePr>
        <p:xfrm>
          <a:off x="1368094" y="1096115"/>
          <a:ext cx="7308818" cy="56771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088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60402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금주(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51W</a:t>
                      </a: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오픈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(12/10)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이후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PLM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으로 부터 프로젝트 정보 수신 받아 초기 안정화 대상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건 생성되었으며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QA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담당부서에 정상적으로 알림 메일 전송된 것을 확인하였습니다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계획 등록을 위해 해당 모델의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QA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담당자와 소통 중이며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관리 현황 지속 모니터링하고 사용자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VOE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확인하도록 하겠습니다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오픈 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SPC+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Cpk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값 연계가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OC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법인만 되어있어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오픈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이후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우선순위로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MQ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배포 완료하였습니다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.(12/15) </a:t>
                      </a:r>
                    </a:p>
                    <a:p>
                      <a:pPr lvl="0"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나머지 법인은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주차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(22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~26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에 순차적으로 배포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900" b="0" i="0" u="none" strike="noStrike" kern="1200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35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710161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목적 </a:t>
                      </a:r>
                      <a:r>
                        <a:rPr 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신규 개발 제품의 안정화 계획 수립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운영을 시스템 기반으로 관리하여 양산 초기 제품 품질과 공정 안정성 확보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개선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As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Is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-3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제품 초기 안정화 관리 업무가 수작업 기반으로 운영이 되고 있어</a:t>
                      </a:r>
                      <a:r>
                        <a:rPr kumimoji="0" lang="en-US" altLang="ko-KR" sz="900" b="0" i="0" u="none" strike="noStrike" kern="1200" cap="none" spc="-3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-3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필수 데이터 누락 가능성이 존재하며 진행한 과거 이력을 확인하기 어려움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To – Be :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개발품을 PLM 시스템을 통해 연계하고 제품 초기 안정화 관리 업무를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QMS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 기반으로 관리할 수 있도록 기능 구축</a:t>
                      </a:r>
                      <a:br>
                        <a:rPr 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</a:t>
                      </a: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sz="900" b="1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단계 및 현황</a:t>
                      </a:r>
                      <a:endParaRPr lang="en-US" altLang="ko-KR" sz="900" b="1" i="0" u="none" strike="noStrike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-.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PLM과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인터페이스 항목 및 시점 협의 진행 중입니다. (9/23~)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→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PLM의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MP 전환일이 자동차는 필수 입력이지만 소형/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ESS의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선택 입력으로, MP 전환일을 알 수 없는 제품이 있어 초기안정화 관리 </a:t>
                      </a:r>
                      <a:endParaRPr lang="ko-KR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기준일 관련하여 PO 부서 및 품질시스템팀과 추가 논의 진행할 예정입니다.</a:t>
                      </a:r>
                      <a:endParaRPr lang="ko-KR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-. 요건/화면 정의 기반으로 QMS 시스템 설계 진행 중입니다. </a:t>
                      </a:r>
                      <a:b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해당 시스템 설계 내용 기반으로 PM 및 개발자와 요건 보완 필요한 부분 논의하였으며 (9/30) 요건 중 미흡한 영역의 확정을 위해 PO/각 사업부</a:t>
                      </a:r>
                      <a:endParaRPr lang="ko-KR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QA/품질시스템팀과 함께 논의하여 확정할 예정입니다. 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(10/1)</a:t>
                      </a:r>
                      <a:endParaRPr lang="ko-KR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→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10/1 PO 및 각 사업부 별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QA와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논의한 요건 내용 바탕으로 PM/개발자와 리뷰 회의 진행할 예정입니다. (10/17)</a:t>
                      </a:r>
                      <a:endParaRPr lang="ko-KR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-.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SRPT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와 인터페이스 협의 진행하였으며(10/13) 각 리포트 별로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QMS에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반영 필요한 필터 및 항목에 대해 품질시스템팀과 최종 확인 진행 중입니다.(~10/23)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→ </a:t>
                      </a:r>
                      <a:r>
                        <a:rPr lang="ko-KR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수율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/불량률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직행률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집계를 위해 필요한 항목에 대해 </a:t>
                      </a:r>
                      <a:r>
                        <a:rPr lang="ko-KR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SRPT와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I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F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정의 확정하였습니다. (10/28)</a:t>
                      </a:r>
                      <a:endParaRPr lang="ko-KR">
                        <a:solidFill>
                          <a:srgbClr val="050702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-. 공정능력(</a:t>
                      </a:r>
                      <a:r>
                        <a:rPr lang="ko-KR" altLang="en-US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Cpk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) 집계를 위해 </a:t>
                      </a:r>
                      <a:r>
                        <a:rPr lang="ko-KR" altLang="en-US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SPC+와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인터페이스 항목 협의 진행하였으며(10/21, </a:t>
                      </a:r>
                      <a:r>
                        <a:rPr lang="ko-KR" altLang="en-US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W.공정검사DX팀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), 초기안정화 관리에 필요한 관리항목 기준정보(CTQ 여부, Data </a:t>
                      </a:r>
                      <a:r>
                        <a:rPr lang="ko-KR" altLang="en-US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Source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등) 항목 QA 부서 취합하여 전달 예정입니다. (~10/24)</a:t>
                      </a:r>
                      <a:endParaRPr lang="ko-KR">
                        <a:solidFill>
                          <a:srgbClr val="050702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→ 공정능력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(Cpk)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집계를 위해 필요한 관리항목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기준정보*에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대해 QA 확정 완료하여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SPC+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와 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I/F</a:t>
                      </a:r>
                      <a:r>
                        <a:rPr 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정의 확정하였습니다.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(10/28)</a:t>
                      </a:r>
                      <a:endParaRPr lang="ko-KR" sz="900" b="0" i="0" u="none" strike="noStrike" baseline="0" noProof="0">
                        <a:solidFill>
                          <a:srgbClr val="050702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         * CTQ, LOT </a:t>
                      </a:r>
                      <a:r>
                        <a:rPr lang="en-US" altLang="ko-KR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baseline="0" noProof="0" err="1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양산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), Data Source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-.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PLM과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항목 확정 후 개발 진행 중입니다.</a:t>
                      </a:r>
                      <a:r>
                        <a:rPr 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11/5)</a:t>
                      </a:r>
                      <a:endParaRPr lang="en-US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-.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없이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중이며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11/19에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및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보완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필요한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사항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후 11월 5주차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부터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통합테스트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예정입니다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60D09FFA-9568-566D-3E28-E97E791BEF28}"/>
              </a:ext>
            </a:extLst>
          </p:cNvPr>
          <p:cNvSpPr txBox="1"/>
          <p:nvPr/>
        </p:nvSpPr>
        <p:spPr>
          <a:xfrm>
            <a:off x="5550634" y="625428"/>
            <a:ext cx="2523654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품질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-#N, 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진행 상태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32C1CCE9-6844-48B3-AF29-C86E6162A864}"/>
              </a:ext>
            </a:extLst>
          </p:cNvPr>
          <p:cNvGraphicFramePr>
            <a:graphicFrameLocks noGrp="1"/>
          </p:cNvGraphicFramePr>
          <p:nvPr/>
        </p:nvGraphicFramePr>
        <p:xfrm>
          <a:off x="1496661" y="2845470"/>
          <a:ext cx="7050477" cy="13504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7463">
                  <a:extLst>
                    <a:ext uri="{9D8B030D-6E8A-4147-A177-3AD203B41FA5}">
                      <a16:colId xmlns:a16="http://schemas.microsoft.com/office/drawing/2014/main" val="1855166459"/>
                    </a:ext>
                  </a:extLst>
                </a:gridCol>
                <a:gridCol w="1091956">
                  <a:extLst>
                    <a:ext uri="{9D8B030D-6E8A-4147-A177-3AD203B41FA5}">
                      <a16:colId xmlns:a16="http://schemas.microsoft.com/office/drawing/2014/main" val="1939957220"/>
                    </a:ext>
                  </a:extLst>
                </a:gridCol>
                <a:gridCol w="777294">
                  <a:extLst>
                    <a:ext uri="{9D8B030D-6E8A-4147-A177-3AD203B41FA5}">
                      <a16:colId xmlns:a16="http://schemas.microsoft.com/office/drawing/2014/main" val="2634236809"/>
                    </a:ext>
                  </a:extLst>
                </a:gridCol>
                <a:gridCol w="777294">
                  <a:extLst>
                    <a:ext uri="{9D8B030D-6E8A-4147-A177-3AD203B41FA5}">
                      <a16:colId xmlns:a16="http://schemas.microsoft.com/office/drawing/2014/main" val="791804596"/>
                    </a:ext>
                  </a:extLst>
                </a:gridCol>
                <a:gridCol w="777294">
                  <a:extLst>
                    <a:ext uri="{9D8B030D-6E8A-4147-A177-3AD203B41FA5}">
                      <a16:colId xmlns:a16="http://schemas.microsoft.com/office/drawing/2014/main" val="2558544303"/>
                    </a:ext>
                  </a:extLst>
                </a:gridCol>
                <a:gridCol w="777294">
                  <a:extLst>
                    <a:ext uri="{9D8B030D-6E8A-4147-A177-3AD203B41FA5}">
                      <a16:colId xmlns:a16="http://schemas.microsoft.com/office/drawing/2014/main" val="3582260874"/>
                    </a:ext>
                  </a:extLst>
                </a:gridCol>
                <a:gridCol w="777294">
                  <a:extLst>
                    <a:ext uri="{9D8B030D-6E8A-4147-A177-3AD203B41FA5}">
                      <a16:colId xmlns:a16="http://schemas.microsoft.com/office/drawing/2014/main" val="1254799473"/>
                    </a:ext>
                  </a:extLst>
                </a:gridCol>
                <a:gridCol w="777294">
                  <a:extLst>
                    <a:ext uri="{9D8B030D-6E8A-4147-A177-3AD203B41FA5}">
                      <a16:colId xmlns:a16="http://schemas.microsoft.com/office/drawing/2014/main" val="682016956"/>
                    </a:ext>
                  </a:extLst>
                </a:gridCol>
                <a:gridCol w="777294">
                  <a:extLst>
                    <a:ext uri="{9D8B030D-6E8A-4147-A177-3AD203B41FA5}">
                      <a16:colId xmlns:a16="http://schemas.microsoft.com/office/drawing/2014/main" val="1637293345"/>
                    </a:ext>
                  </a:extLst>
                </a:gridCol>
              </a:tblGrid>
              <a:tr h="141419"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구분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2025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5188409"/>
                  </a:ext>
                </a:extLst>
              </a:tr>
              <a:tr h="14141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499308"/>
                  </a:ext>
                </a:extLst>
              </a:tr>
              <a:tr h="63500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QMS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9069451"/>
                  </a:ext>
                </a:extLst>
              </a:tr>
              <a:tr h="4326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PLM SRPT SPC+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6602414"/>
                  </a:ext>
                </a:extLst>
              </a:tr>
            </a:tbl>
          </a:graphicData>
        </a:graphic>
      </p:graphicFrame>
      <p:grpSp>
        <p:nvGrpSpPr>
          <p:cNvPr id="59" name="그룹 58">
            <a:extLst>
              <a:ext uri="{FF2B5EF4-FFF2-40B4-BE49-F238E27FC236}">
                <a16:creationId xmlns:a16="http://schemas.microsoft.com/office/drawing/2014/main" id="{4B36E0FA-D20E-43F4-A115-E5DD070FCD1D}"/>
              </a:ext>
            </a:extLst>
          </p:cNvPr>
          <p:cNvGrpSpPr/>
          <p:nvPr/>
        </p:nvGrpSpPr>
        <p:grpSpPr>
          <a:xfrm>
            <a:off x="2088559" y="3254826"/>
            <a:ext cx="6348478" cy="877747"/>
            <a:chOff x="1496616" y="2787866"/>
            <a:chExt cx="8222468" cy="1020841"/>
          </a:xfrm>
        </p:grpSpPr>
        <p:sp>
          <p:nvSpPr>
            <p:cNvPr id="60" name="오각형 61">
              <a:extLst>
                <a:ext uri="{FF2B5EF4-FFF2-40B4-BE49-F238E27FC236}">
                  <a16:creationId xmlns:a16="http://schemas.microsoft.com/office/drawing/2014/main" id="{7DEA84DB-1A57-4987-9EE6-D079753DA08A}"/>
                </a:ext>
              </a:extLst>
            </p:cNvPr>
            <p:cNvSpPr/>
            <p:nvPr/>
          </p:nvSpPr>
          <p:spPr bwMode="auto">
            <a:xfrm>
              <a:off x="1496616" y="2789694"/>
              <a:ext cx="629825" cy="1019013"/>
            </a:xfrm>
            <a:prstGeom prst="homePlate">
              <a:avLst>
                <a:gd name="adj" fmla="val 21067"/>
              </a:avLst>
            </a:prstGeom>
            <a:solidFill>
              <a:srgbClr val="FFFFFF">
                <a:lumMod val="95000"/>
              </a:srgbClr>
            </a:solidFill>
            <a:ln w="3175" cap="flat" cmpd="sng" algn="ctr">
              <a:solidFill>
                <a:srgbClr val="231F2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 anchorCtr="0"/>
            <a:lstStyle/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요구사항 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정의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1" name="오각형 61">
              <a:extLst>
                <a:ext uri="{FF2B5EF4-FFF2-40B4-BE49-F238E27FC236}">
                  <a16:creationId xmlns:a16="http://schemas.microsoft.com/office/drawing/2014/main" id="{713273C6-93E8-49AA-B7B9-C029340331BE}"/>
                </a:ext>
              </a:extLst>
            </p:cNvPr>
            <p:cNvSpPr/>
            <p:nvPr/>
          </p:nvSpPr>
          <p:spPr bwMode="auto">
            <a:xfrm>
              <a:off x="2149379" y="2788828"/>
              <a:ext cx="629825" cy="1019013"/>
            </a:xfrm>
            <a:prstGeom prst="homePlate">
              <a:avLst>
                <a:gd name="adj" fmla="val 21067"/>
              </a:avLst>
            </a:prstGeom>
            <a:solidFill>
              <a:srgbClr val="FFFFFF">
                <a:lumMod val="95000"/>
              </a:srgbClr>
            </a:solidFill>
            <a:ln w="3175" cap="flat" cmpd="sng" algn="ctr">
              <a:solidFill>
                <a:srgbClr val="231F2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 anchorCtr="0"/>
            <a:lstStyle/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kern="0">
                  <a:solidFill>
                    <a:srgbClr val="231F2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프로세스</a:t>
              </a:r>
              <a:r>
                <a:rPr lang="en-US" altLang="ko-KR" sz="800" kern="0">
                  <a:solidFill>
                    <a:srgbClr val="231F20"/>
                  </a:solidFill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/</a:t>
              </a:r>
            </a:p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시스템 분석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2" name="오각형 61">
              <a:extLst>
                <a:ext uri="{FF2B5EF4-FFF2-40B4-BE49-F238E27FC236}">
                  <a16:creationId xmlns:a16="http://schemas.microsoft.com/office/drawing/2014/main" id="{7793AABD-F410-4E65-ADEC-99AC63B642CC}"/>
                </a:ext>
              </a:extLst>
            </p:cNvPr>
            <p:cNvSpPr/>
            <p:nvPr/>
          </p:nvSpPr>
          <p:spPr bwMode="auto">
            <a:xfrm>
              <a:off x="2720752" y="2787866"/>
              <a:ext cx="773842" cy="111377"/>
            </a:xfrm>
            <a:prstGeom prst="homePlate">
              <a:avLst>
                <a:gd name="adj" fmla="val 21067"/>
              </a:avLst>
            </a:prstGeom>
            <a:solidFill>
              <a:schemeClr val="accent5">
                <a:lumMod val="20000"/>
                <a:lumOff val="80000"/>
              </a:schemeClr>
            </a:solidFill>
            <a:ln w="3175" cap="flat" cmpd="sng" algn="ctr">
              <a:solidFill>
                <a:srgbClr val="231F2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 anchorCtr="0"/>
            <a:lstStyle/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시스템 설계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3" name="오각형 61">
              <a:extLst>
                <a:ext uri="{FF2B5EF4-FFF2-40B4-BE49-F238E27FC236}">
                  <a16:creationId xmlns:a16="http://schemas.microsoft.com/office/drawing/2014/main" id="{AC86ABCC-F2D7-4769-9F48-EEB2B298E19D}"/>
                </a:ext>
              </a:extLst>
            </p:cNvPr>
            <p:cNvSpPr/>
            <p:nvPr/>
          </p:nvSpPr>
          <p:spPr bwMode="auto">
            <a:xfrm>
              <a:off x="7126798" y="2805961"/>
              <a:ext cx="1086714" cy="987689"/>
            </a:xfrm>
            <a:prstGeom prst="homePlate">
              <a:avLst>
                <a:gd name="adj" fmla="val 15175"/>
              </a:avLst>
            </a:prstGeom>
            <a:solidFill>
              <a:srgbClr val="FFFFFF">
                <a:lumMod val="95000"/>
              </a:srgbClr>
            </a:solidFill>
            <a:ln w="3175" cap="flat" cmpd="sng" algn="ctr">
              <a:solidFill>
                <a:srgbClr val="231F2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 anchorCtr="0"/>
            <a:lstStyle/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통합</a:t>
              </a: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/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사용자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 테스트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4" name="오각형 61">
              <a:extLst>
                <a:ext uri="{FF2B5EF4-FFF2-40B4-BE49-F238E27FC236}">
                  <a16:creationId xmlns:a16="http://schemas.microsoft.com/office/drawing/2014/main" id="{F6FBCCC3-7A6C-4203-8601-B1D28845DB8C}"/>
                </a:ext>
              </a:extLst>
            </p:cNvPr>
            <p:cNvSpPr/>
            <p:nvPr/>
          </p:nvSpPr>
          <p:spPr bwMode="auto">
            <a:xfrm>
              <a:off x="8265369" y="2799126"/>
              <a:ext cx="1453715" cy="987689"/>
            </a:xfrm>
            <a:prstGeom prst="homePlate">
              <a:avLst>
                <a:gd name="adj" fmla="val 13286"/>
              </a:avLst>
            </a:prstGeom>
            <a:solidFill>
              <a:srgbClr val="FFFFFF">
                <a:lumMod val="95000"/>
              </a:srgbClr>
            </a:solidFill>
            <a:ln w="3175" cap="flat" cmpd="sng" algn="ctr">
              <a:solidFill>
                <a:srgbClr val="231F2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 anchorCtr="0"/>
            <a:lstStyle/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Open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후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231F20"/>
                  </a:solidFill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안정화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5" name="오각형 61">
              <a:extLst>
                <a:ext uri="{FF2B5EF4-FFF2-40B4-BE49-F238E27FC236}">
                  <a16:creationId xmlns:a16="http://schemas.microsoft.com/office/drawing/2014/main" id="{0F471EF3-0746-4096-AF1D-25394E59880C}"/>
                </a:ext>
              </a:extLst>
            </p:cNvPr>
            <p:cNvSpPr/>
            <p:nvPr/>
          </p:nvSpPr>
          <p:spPr bwMode="auto">
            <a:xfrm>
              <a:off x="3080792" y="2940277"/>
              <a:ext cx="3994150" cy="315068"/>
            </a:xfrm>
            <a:prstGeom prst="homePlate">
              <a:avLst>
                <a:gd name="adj" fmla="val 21067"/>
              </a:avLst>
            </a:prstGeom>
            <a:solidFill>
              <a:schemeClr val="accent5">
                <a:lumMod val="20000"/>
                <a:lumOff val="80000"/>
              </a:schemeClr>
            </a:solidFill>
            <a:ln w="3175" cap="flat" cmpd="sng" algn="ctr">
              <a:solidFill>
                <a:srgbClr val="231F2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 anchorCtr="0"/>
            <a:lstStyle/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kern="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제품 초기 안정화 관리 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기능 개발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6" name="오각형 61">
              <a:extLst>
                <a:ext uri="{FF2B5EF4-FFF2-40B4-BE49-F238E27FC236}">
                  <a16:creationId xmlns:a16="http://schemas.microsoft.com/office/drawing/2014/main" id="{5D69BC53-B8E2-4C86-9EB8-6910F4CCAE8A}"/>
                </a:ext>
              </a:extLst>
            </p:cNvPr>
            <p:cNvSpPr/>
            <p:nvPr/>
          </p:nvSpPr>
          <p:spPr bwMode="auto">
            <a:xfrm>
              <a:off x="3400585" y="3295717"/>
              <a:ext cx="2672153" cy="490008"/>
            </a:xfrm>
            <a:prstGeom prst="homePlate">
              <a:avLst>
                <a:gd name="adj" fmla="val 2106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rgbClr val="231F2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 anchorCtr="0"/>
            <a:lstStyle/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kern="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송수신 </a:t>
              </a:r>
              <a:r>
                <a:rPr lang="en-US" altLang="ko-KR" sz="800" kern="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I/F </a:t>
              </a:r>
              <a:r>
                <a:rPr lang="ko-KR" altLang="en-US" sz="800" kern="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개발 및 테스트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  <p:sp>
          <p:nvSpPr>
            <p:cNvPr id="67" name="오각형 61">
              <a:extLst>
                <a:ext uri="{FF2B5EF4-FFF2-40B4-BE49-F238E27FC236}">
                  <a16:creationId xmlns:a16="http://schemas.microsoft.com/office/drawing/2014/main" id="{755FDD10-7526-4487-976E-2D0E77121769}"/>
                </a:ext>
              </a:extLst>
            </p:cNvPr>
            <p:cNvSpPr/>
            <p:nvPr/>
          </p:nvSpPr>
          <p:spPr bwMode="auto">
            <a:xfrm>
              <a:off x="6124595" y="3326630"/>
              <a:ext cx="950348" cy="467020"/>
            </a:xfrm>
            <a:prstGeom prst="homePlate">
              <a:avLst>
                <a:gd name="adj" fmla="val 2106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rgbClr val="231F20">
                  <a:lumMod val="50000"/>
                  <a:lumOff val="50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 anchorCtr="0"/>
            <a:lstStyle/>
            <a:p>
              <a:pPr marL="0" marR="0" lvl="0" indent="-90488" algn="ctr" defTabSz="9144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kern="0">
                  <a:latin typeface="LG스마트체 Regular" panose="020B0600000101010101" pitchFamily="50" charset="-127"/>
                  <a:ea typeface="LG스마트체 Regular" panose="020B0600000101010101" pitchFamily="50" charset="-127"/>
                  <a:cs typeface="Arial" pitchFamily="34" charset="0"/>
                </a:rPr>
                <a:t>연계 테스트</a:t>
              </a:r>
              <a:endParaRPr kumimoji="0" lang="en-US" altLang="ko-KR" sz="8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Arial" pitchFamily="34" charset="0"/>
              </a:endParaRPr>
            </a:p>
          </p:txBody>
        </p:sp>
      </p:grp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9F842059-219D-4BAF-AF47-3BD6D112381B}"/>
              </a:ext>
            </a:extLst>
          </p:cNvPr>
          <p:cNvCxnSpPr>
            <a:cxnSpLocks/>
          </p:cNvCxnSpPr>
          <p:nvPr/>
        </p:nvCxnSpPr>
        <p:spPr>
          <a:xfrm>
            <a:off x="7763731" y="3137848"/>
            <a:ext cx="0" cy="1160443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이등변 삼각형 68">
            <a:extLst>
              <a:ext uri="{FF2B5EF4-FFF2-40B4-BE49-F238E27FC236}">
                <a16:creationId xmlns:a16="http://schemas.microsoft.com/office/drawing/2014/main" id="{C35F1E65-4975-47A9-A78D-253A1AB79D5A}"/>
              </a:ext>
            </a:extLst>
          </p:cNvPr>
          <p:cNvSpPr/>
          <p:nvPr/>
        </p:nvSpPr>
        <p:spPr>
          <a:xfrm>
            <a:off x="7692538" y="4271606"/>
            <a:ext cx="142386" cy="75582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/>
          </a:p>
        </p:txBody>
      </p:sp>
    </p:spTree>
    <p:extLst>
      <p:ext uri="{BB962C8B-B14F-4D97-AF65-F5344CB8AC3E}">
        <p14:creationId xmlns:p14="http://schemas.microsoft.com/office/powerpoint/2010/main" val="11071213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9D7C3D-EA6E-AF08-0854-F28D570F32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E7DD3FB1-1296-9B13-DD49-41ADFEC57E87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3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2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제품 초기 안정화 관리 시스템 구축</a:t>
                      </a:r>
                      <a:endParaRPr lang="en-US">
                        <a:latin typeface="+mj-ea"/>
                        <a:ea typeface="+mj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 </a:t>
                      </a: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ea"/>
                        <a:ea typeface="+mj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’25.12</a:t>
                      </a:r>
                      <a:endParaRPr lang="en-US">
                        <a:latin typeface="+mj-ea"/>
                        <a:ea typeface="+mj-ea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이가은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94E79EDF-AD4C-D1E8-38B8-136FEEB93194}"/>
              </a:ext>
            </a:extLst>
          </p:cNvPr>
          <p:cNvSpPr txBox="1">
            <a:spLocks/>
          </p:cNvSpPr>
          <p:nvPr/>
        </p:nvSpPr>
        <p:spPr>
          <a:xfrm>
            <a:off x="108658" y="612725"/>
            <a:ext cx="3543537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■ 제품 초기 안정화 관리 시스템 구축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DCD63BD-B21E-EB64-67C2-493D07D92BAC}"/>
              </a:ext>
            </a:extLst>
          </p:cNvPr>
          <p:cNvSpPr txBox="1">
            <a:spLocks/>
          </p:cNvSpPr>
          <p:nvPr/>
        </p:nvSpPr>
        <p:spPr>
          <a:xfrm>
            <a:off x="8060017" y="403273"/>
            <a:ext cx="1037143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이가은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 panose="020B0600000101010101" pitchFamily="50" charset="-127"/>
              <a:ea typeface="LG스마트체2.0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E3A9741-ED17-C067-DD11-F8E0AB12C30E}"/>
              </a:ext>
            </a:extLst>
          </p:cNvPr>
          <p:cNvSpPr txBox="1"/>
          <p:nvPr/>
        </p:nvSpPr>
        <p:spPr>
          <a:xfrm>
            <a:off x="7997500" y="572550"/>
            <a:ext cx="1689566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12/16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시</a:t>
            </a: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0EB5190D-9D23-56DF-5C00-75D76A629568}"/>
              </a:ext>
            </a:extLst>
          </p:cNvPr>
          <p:cNvSpPr txBox="1">
            <a:spLocks/>
          </p:cNvSpPr>
          <p:nvPr/>
        </p:nvSpPr>
        <p:spPr>
          <a:xfrm>
            <a:off x="127031" y="117971"/>
            <a:ext cx="342971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팀</a:t>
            </a:r>
          </a:p>
        </p:txBody>
      </p:sp>
      <p:graphicFrame>
        <p:nvGraphicFramePr>
          <p:cNvPr id="9" name="표 13">
            <a:extLst>
              <a:ext uri="{FF2B5EF4-FFF2-40B4-BE49-F238E27FC236}">
                <a16:creationId xmlns:a16="http://schemas.microsoft.com/office/drawing/2014/main" id="{7261ECDD-0012-31E4-1E61-98799C006F58}"/>
              </a:ext>
            </a:extLst>
          </p:cNvPr>
          <p:cNvGraphicFramePr>
            <a:graphicFrameLocks noGrp="1"/>
          </p:cNvGraphicFramePr>
          <p:nvPr/>
        </p:nvGraphicFramePr>
        <p:xfrm>
          <a:off x="1368094" y="1096115"/>
          <a:ext cx="7308818" cy="566348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08818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</a:tblGrid>
              <a:tr h="61422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금주(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51W</a:t>
                      </a:r>
                      <a:r>
                        <a:rPr lang="ko-KR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오픈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(12/10)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이후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PLM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으로 부터 프로젝트 정보 수신 받아 초기 안정화 대상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건 생성되었으며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QA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담당부서에 정상적으로 알림 메일 전송된 것을 확인하였습니다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계획 등록을 위해 해당 모델의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QA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담당자와 소통 중이며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관리 현황 지속 모니터링하고 사용자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VOE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확인하도록 하겠습니다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오픈 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SPC+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Cpk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값 연계가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OC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법인만 되어있어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오픈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이후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우선순위로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MQ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배포 완료하였습니다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.(12/15) </a:t>
                      </a:r>
                    </a:p>
                    <a:p>
                      <a:pPr lvl="0"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나머지 법인은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주차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(22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~26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에 순차적으로 배포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900" b="0" i="0" u="none" strike="noStrike" kern="1200" baseline="0" noProof="0">
                        <a:solidFill>
                          <a:srgbClr val="0000FF"/>
                        </a:solidFill>
                        <a:latin typeface="+mn-lt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699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696521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테스트 및 오픈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준비 현황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11/19(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PI 테스트 후 확인된 오류 8건 및 개선사항 10 건 발생하였으며 해당 내용 수정하여 11/27(목)에 재검증 예정입니다.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→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오류(8건)의 경우 팝업 창 내 컬럼에 명칭이 표기되지 않음 / 결재 요청 시 결재번호가 Update 되지 않음 / 재선택 시 기존 항목 Clear 되지 않음 등의 Minor 한 건으로, 기능 사용 상의 크리티컬한 오류는 발생하지 않아 예정된 일정(12/10)으로 Open 가능합니다.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→ 개선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(10</a:t>
                      </a:r>
                      <a:r>
                        <a:rPr lang="ko-KR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경우 사용 기능에 대한 변경 건 5건, 사용자 편의성 개선을 위한 5건으로 개선 완료하였으며 이후 진행될 통합테스트/사용자 테스트 및 교육 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발생하는 추가 개선건에 대해서도 </a:t>
                      </a:r>
                      <a:r>
                        <a:rPr lang="ko-KR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 전 개선 가능한 건과 불가한 건 분류하여 지속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F/Up 하도록 하겠습니다.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2)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사용자 교육을 위한 대상 인원 및 일정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Arrange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위해 품질시스템팀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/QA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와 확인 중 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lvl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전 법인 QA 대상으로 교육 인원 선정하였으며 신모델이 많지 않은 해외 JV 법인의 경우에는 실제 참석이 필요한 인원만 지정 요청드렸습니다.  </a:t>
                      </a: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12/4 ~ 12/9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에 각 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QA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대상으로 사용자 교육 진행할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b="0" i="0" u="none" strike="noStrike" kern="1200" baseline="0" noProof="0">
                        <a:solidFill>
                          <a:srgbClr val="050702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3) 11/27(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목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통합테스트 진행하였습니다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→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테스트케이스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개 기반으로 테스트 진행하였으며 기능 관련 결함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건 발생하였습니다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       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결함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: 1. OK/NG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선택 시 콤보박스 나오지 않음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결재 반려 시 수동항목 체크박스 수정 안됨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직행률 소분류 등록 시 사용자가 선택하지 않은 소분류 추가됨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900" b="0" i="0" u="none" strike="noStrike" kern="1200" baseline="0" noProof="0">
                        <a:solidFill>
                          <a:srgbClr val="050702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위 결함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건 수정 완료 되어 개발서버에서 직접 테스트하여 정상적으로 동작하는 것을 검증 완료하였습니다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. (12/02)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4)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초기안정화 관리할 기준정보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대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소분류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QA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와 최종 확인하였으며 오픈에 맞춰 기준정보 셋팅할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5)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기능 오픈을 위해 각 시스템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(MQ, SPC+, PLM,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SRPT)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담당자와 배포 일정 확인하였으며 특이사항 없이 예정일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(12/10)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에 배포 가능한 것으로 확인하였습니다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50702"/>
                        </a:solidFill>
                        <a:latin typeface="+mn-ea"/>
                        <a:ea typeface="+mn-ea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 6.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50702"/>
                          </a:solidFill>
                          <a:latin typeface="+mn-ea"/>
                          <a:ea typeface="+mn-ea"/>
                        </a:rPr>
                        <a:t>오픈 현황</a:t>
                      </a:r>
                      <a:endParaRPr lang="en-US" altLang="ko-KR" sz="900" b="0" i="0" u="none" strike="noStrike" kern="1200" baseline="0" noProof="0">
                        <a:solidFill>
                          <a:srgbClr val="050702"/>
                        </a:solidFill>
                        <a:latin typeface="+mn-ea"/>
                        <a:ea typeface="+mn-ea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 12/10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기능 오픈 완료하였으며 전 법인 대상으로 사용자 교육 완료하였습니다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(OC: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12/4, NA/NB/NJ: 12/8,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북미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12/8, WA: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12/9)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2)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특이사항으로는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SPC+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Cpk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 연계가 현재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OC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법인만 가능하도록 되어있어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 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Cpk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 연계 기능 사용 가능하도록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’25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내 확산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b="0" i="0" u="none" strike="noStrike" kern="1200" baseline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Arial Narrow"/>
                        </a:rPr>
                        <a:t>   </a:t>
                      </a:r>
                      <a:r>
                        <a:rPr lang="ko-KR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→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우선순위로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WA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법인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MQ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배포 완료하였습니다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.(12/15)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나머지 법인은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주차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(22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~26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에 순차적으로 배포 예정입니다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900" b="0" i="0" u="none" strike="noStrike" kern="1200" baseline="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  <a:p>
                      <a:pPr lvl="0"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3)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오픈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(12/10)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이후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PLM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으로 부터 프로젝트 정보 수신 받아 초기안정화 관리대장 내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건 생성되었으며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QA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담당부서에 정상적으로 알림 메일 전송된 것을 확인하였습니다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계획 등록을 위해 해당 모델의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QA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담당자와 소통 중이며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관리 현황 지속 모니터링하고 사용자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VOE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확인하도록 하겠습니다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lvl="0">
                        <a:buNone/>
                      </a:pPr>
                      <a:endParaRPr lang="ko-KR" altLang="en-US" sz="900" b="0" i="0" u="none" strike="noStrike" kern="1200" baseline="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  <a:p>
                      <a:pPr lvl="0">
                        <a:buNone/>
                      </a:pPr>
                      <a:endParaRPr lang="ko-KR" altLang="en-US" sz="900" b="0" i="0" u="none" strike="noStrike" kern="1200" baseline="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  <a:p>
                      <a:pPr lvl="0">
                        <a:buNone/>
                      </a:pPr>
                      <a:endParaRPr lang="en-US" altLang="ko-KR" sz="900" b="0" i="0" u="none" strike="noStrike" kern="1200" baseline="0" noProof="0">
                        <a:solidFill>
                          <a:srgbClr val="0000FF"/>
                        </a:solidFill>
                      </a:endParaRP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60D09FFA-9568-566D-3E28-E97E791BEF28}"/>
              </a:ext>
            </a:extLst>
          </p:cNvPr>
          <p:cNvSpPr txBox="1"/>
          <p:nvPr/>
        </p:nvSpPr>
        <p:spPr>
          <a:xfrm>
            <a:off x="5550634" y="625428"/>
            <a:ext cx="2523654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품질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-#N, 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진행 상태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57227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554D08-459E-22EC-406B-ECC315258B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FA1B7A90-0273-8631-A917-ED0D656F13EB}"/>
              </a:ext>
            </a:extLst>
          </p:cNvPr>
          <p:cNvGraphicFramePr>
            <a:graphicFrameLocks noGrp="1"/>
          </p:cNvGraphicFramePr>
          <p:nvPr/>
        </p:nvGraphicFramePr>
        <p:xfrm>
          <a:off x="154588" y="886482"/>
          <a:ext cx="9663838" cy="5747089"/>
        </p:xfrm>
        <a:graphic>
          <a:graphicData uri="http://schemas.openxmlformats.org/drawingml/2006/table">
            <a:tbl>
              <a:tblPr/>
              <a:tblGrid>
                <a:gridCol w="8577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13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720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42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85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N-ERP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전환</a:t>
                      </a:r>
                      <a:endParaRPr lang="ko-KR" altLang="en-US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QMS대응</a:t>
                      </a:r>
                      <a:endParaRPr lang="ko-KR" altLang="en-US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NERP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전환을 위한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QMS CUT-OVER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일정 확정 및 공지사항 엔포탈 및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QMS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내 게시 완료 하였습니다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.</a:t>
                      </a:r>
                      <a:b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CUT-OVER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관련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사전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/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작업중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/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사후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ACTIVITY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검토 및 업데이트 계속 진행중입니다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.</a:t>
                      </a:r>
                      <a:b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endParaRPr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 Smart_H2.0 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목 적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ESGM1/GM2/HM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법인의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G-ERP → N-ERP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및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LSP(Logistics Single Platform)/EWM(Extended warehouse management)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시스템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신규반영과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관련하여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QMS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송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Interface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및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변경되는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기준정보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코드에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Mapping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작업을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N-ERP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전환 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관계없이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정상적인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업무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수행이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가능하도록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위함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2.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변경내용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1) GERP → NERP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전환에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따른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일부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공통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기준정보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코드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변경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: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변경이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아닌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일부법인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우선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변경되어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QMS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내부적으로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송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수신시신코드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→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구코드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맵핑을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통해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기존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로직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변경없이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처리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2) 자재/물류창고 시스템 전환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1)IWMS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sym typeface="Wingdings" panose="05000000000000000000" pitchFamily="2" charset="2"/>
                        </a:rPr>
                        <a:t>EWM 2)OWMSLSP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3.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일 정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1) 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차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통합테스트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: 10/20~11/14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 (CNS 테스트)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2) 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차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통합테스트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: 11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 17일~ (PI/CNS 테스트)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3) QMS Cut over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작업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: 1/2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05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~08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시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4. 기타 검토사항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1) 구/신 PO Disable 기준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확인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- 1,2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차 전환시 수입품에 대해서만 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PO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사용 하였으나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차 전환의 경우 내수거래의 경우에도 납품서 이관 대상인 경우 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PO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를 그대로 사용하였음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차 전환시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1,2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차 전환과 동일하게 수입거래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입고이력 존재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PO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에 대해서만 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PO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로 사용하고 나머지 항목은 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PO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로 사용하는 것으로 협의 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(10/23,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주현우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P)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  2) ESAZ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법인 전환관련 검토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- ESAZ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법인도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차 전환 대상이나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QMS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의 경우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’26.03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월 오픈 예정으로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NERP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전환 시점에 오픈 되어있지 않아 테스트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CUT-OVER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작업 대상에서 제외하는 것으로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하며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ESAZ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법인 오픈시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NERP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전환과 관련된 작업을 함께 하는 것으로 함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  (QMS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셋업을 위해서는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MES/MMD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관련 정보가 있어야 하나 현재 등록되지 않은 부분이 있고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NERP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전환 시점까지 오픈되지 않아 데이터 미발생 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3) Data migration 전략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- 창고위치, 법인코드 등의 정보는 각 차수별 전환 시점에 구 코드 → 신 코드로 Conversion 작업 진행하여 신규 법인의 경우는 신코드, 미전환 법인의 경우는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  구 코드를 사용 하고 있습니다.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- 하지만, 고객사/협력사 코드의 경우 과거 데이터 양과 사용 테이블의 수가 방대하여 Conversion 작업시 긴 부동시간이 필요하며, 데이터 검증에 어려움이 있어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  Mapping 테이블을 통한 처리로 1차 전환 시점부터 작업 진행중입니다.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    .. Mapping 테이블 사용 :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NERP로부터 공유받은 신-구 코드 맵핑정보를 QMS에 넣어놓고 1) 신 코드로 수신시 구 코드로 전환하여 내부 처리 및 신코드로 재 전환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         후 전송, 2) 구 코드로 수신시(맵핑테이블에 없는 경우) 그 코드를 그대로 이용 및 재전송 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      .. Mapping 테이블을 사용하기 때문에 4차 오픈시점부터 QMS 화면 상 구/신 코드를 모두 보여주도록 컬럼 추가하여 사용자가 모두 확인 할 수 있도록 함(11/25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정인규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AF36576A-AADF-6D45-677D-6CD37EB56BA6}"/>
              </a:ext>
            </a:extLst>
          </p:cNvPr>
          <p:cNvSpPr txBox="1">
            <a:spLocks/>
          </p:cNvSpPr>
          <p:nvPr/>
        </p:nvSpPr>
        <p:spPr>
          <a:xfrm>
            <a:off x="158717" y="576636"/>
            <a:ext cx="4982017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N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-ERP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전환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관련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QMS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대응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LG스마트체2.0 Regular"/>
                <a:ea typeface="LG스마트체2.0 Regular"/>
                <a:cs typeface="Malgun Gothic Semilight"/>
              </a:rPr>
              <a:t>4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차</a:t>
            </a:r>
            <a:r>
              <a:rPr lang="en-US" altLang="ko-KR" sz="1400" b="1">
                <a:solidFill>
                  <a:prstClr val="black"/>
                </a:solidFill>
                <a:latin typeface="LG스마트체2.0 Regular"/>
                <a:ea typeface="LG스마트체2.0 Regular"/>
                <a:cs typeface="Malgun Gothic Semilight"/>
              </a:rPr>
              <a:t>(GM1/GM2/HM)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DCE2467A-FBEC-B6B7-A34A-2B7458D52276}"/>
              </a:ext>
            </a:extLst>
          </p:cNvPr>
          <p:cNvSpPr txBox="1">
            <a:spLocks/>
          </p:cNvSpPr>
          <p:nvPr/>
        </p:nvSpPr>
        <p:spPr>
          <a:xfrm>
            <a:off x="152026" y="122998"/>
            <a:ext cx="296532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10CDB03-7933-DB2D-67DA-012A4B0A77CD}"/>
              </a:ext>
            </a:extLst>
          </p:cNvPr>
          <p:cNvSpPr txBox="1"/>
          <p:nvPr/>
        </p:nvSpPr>
        <p:spPr>
          <a:xfrm>
            <a:off x="7952617" y="572550"/>
            <a:ext cx="173444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12/15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시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2.0 Regular"/>
              <a:ea typeface="LG스마트체2.0 Regular"/>
              <a:cs typeface="Malgun Gothic Semiligh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50CB03D4-868B-E1FC-8B89-F167C411218F}"/>
              </a:ext>
            </a:extLst>
          </p:cNvPr>
          <p:cNvSpPr txBox="1">
            <a:spLocks/>
          </p:cNvSpPr>
          <p:nvPr/>
        </p:nvSpPr>
        <p:spPr>
          <a:xfrm>
            <a:off x="8077649" y="403273"/>
            <a:ext cx="101951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정인규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 panose="020B0600000101010101" pitchFamily="50" charset="-127"/>
              <a:ea typeface="LG스마트체2.0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198DA06-7BA8-0F51-3D90-E3A6A6370134}"/>
              </a:ext>
            </a:extLst>
          </p:cNvPr>
          <p:cNvSpPr txBox="1"/>
          <p:nvPr/>
        </p:nvSpPr>
        <p:spPr>
          <a:xfrm>
            <a:off x="5498613" y="457546"/>
            <a:ext cx="2523654" cy="430887"/>
          </a:xfrm>
          <a:prstGeom prst="rect">
            <a:avLst/>
          </a:prstGeom>
          <a:noFill/>
          <a:ln>
            <a:solidFill>
              <a:srgbClr val="1414FE"/>
            </a:solidFill>
          </a:ln>
        </p:spPr>
        <p:txBody>
          <a:bodyPr wrap="square" lIns="91440" tIns="45720" rIns="91440" bIns="45720" rtlCol="0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품질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-#N, 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진행 상태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: </a:t>
            </a:r>
            <a:r>
              <a:rPr kumimoji="0" 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 Smart_H Regular"/>
                <a:ea typeface="LG Smart_H Regular"/>
                <a:cs typeface="+mn-lt"/>
              </a:rPr>
              <a:t>●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156350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9A582-1C69-EFA6-95B9-968C87A32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74518E15-20AC-BAB2-A907-321752E62F0B}"/>
              </a:ext>
            </a:extLst>
          </p:cNvPr>
          <p:cNvGraphicFramePr>
            <a:graphicFrameLocks noGrp="1"/>
          </p:cNvGraphicFramePr>
          <p:nvPr/>
        </p:nvGraphicFramePr>
        <p:xfrm>
          <a:off x="154588" y="886482"/>
          <a:ext cx="9663838" cy="5747089"/>
        </p:xfrm>
        <a:graphic>
          <a:graphicData uri="http://schemas.openxmlformats.org/drawingml/2006/table">
            <a:tbl>
              <a:tblPr/>
              <a:tblGrid>
                <a:gridCol w="8577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13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720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42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85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N-ERP </a:t>
                      </a: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전환</a:t>
                      </a:r>
                      <a:endParaRPr lang="ko-KR" altLang="en-US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QMS대응</a:t>
                      </a:r>
                      <a:endParaRPr lang="ko-KR" altLang="en-US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5. CUT OVER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1) ESHM(1/2일 08시) ESGM1/2(1/2일 18시) 각각 다른 시점에 NERP OPEN 하는 것으로 확인.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2) QMS CUT-OVER 시점 검토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- 법인별 생산/출하계획 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.. ESHM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연말 연초 출하 및 생산계획 없음 확인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생산재개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: ‘26.01.09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출하재개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: ‘26.01.20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.. ESGM1/2 : 연말 연초 출하 및 생산계획 없음 확인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생산재개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: 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월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출하재개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계획없음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생산 재개 후 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3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두 법인 모두 생산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출하계획없어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QMS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작업은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HM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 Smart_H2.0 R"/>
                        </a:rPr>
                        <a:t>법인 기준으로 진행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- 1/2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일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05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~08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시 진행 예정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(QMS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부동은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05~06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1hr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- HM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법인의 경우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QMS CUT OVER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일정과 동일하여 오픈 후 모니터링 진행 예정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- GM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법인의 경우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NERP 18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Open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예정이나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QA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팀 미근무로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QMS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사용계획이 없어 오픈 직후 문제가 있는지 모니터링 예정이며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 Smart_H2.0 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  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현업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(QA)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출근이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1/5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부터 계획되어 있어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1/5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일부터 주요 로직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검사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홀드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부분관련 운영데이터 테스트 진행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 Smart_H2.0 R"/>
                        </a:rPr>
                        <a:t>.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 Smart_H2.0 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정인규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P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302711F9-C12F-C964-6AC5-DCF1F6FF5EA6}"/>
              </a:ext>
            </a:extLst>
          </p:cNvPr>
          <p:cNvSpPr txBox="1">
            <a:spLocks/>
          </p:cNvSpPr>
          <p:nvPr/>
        </p:nvSpPr>
        <p:spPr>
          <a:xfrm>
            <a:off x="158717" y="576636"/>
            <a:ext cx="4982017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■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N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-ERP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전환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관련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QMS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대응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LG스마트체2.0 Regular"/>
                <a:ea typeface="LG스마트체2.0 Regular"/>
                <a:cs typeface="Malgun Gothic Semilight"/>
              </a:rPr>
              <a:t>4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차</a:t>
            </a:r>
            <a:r>
              <a:rPr lang="en-US" altLang="ko-KR" sz="1400" b="1">
                <a:solidFill>
                  <a:prstClr val="black"/>
                </a:solidFill>
                <a:latin typeface="LG스마트체2.0 Regular"/>
                <a:ea typeface="LG스마트체2.0 Regular"/>
                <a:cs typeface="Malgun Gothic Semilight"/>
              </a:rPr>
              <a:t>(GM1/GM2/HM)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C944A00B-1025-A2CB-135B-E32378CD24EE}"/>
              </a:ext>
            </a:extLst>
          </p:cNvPr>
          <p:cNvSpPr txBox="1">
            <a:spLocks/>
          </p:cNvSpPr>
          <p:nvPr/>
        </p:nvSpPr>
        <p:spPr>
          <a:xfrm>
            <a:off x="152026" y="122998"/>
            <a:ext cx="296532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156CAAB-5898-3E28-C374-4BD7C3F3D8D1}"/>
              </a:ext>
            </a:extLst>
          </p:cNvPr>
          <p:cNvSpPr txBox="1"/>
          <p:nvPr/>
        </p:nvSpPr>
        <p:spPr>
          <a:xfrm>
            <a:off x="7997500" y="572550"/>
            <a:ext cx="1689566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12/15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15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시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2.0 Regular"/>
              <a:ea typeface="LG스마트체2.0 Regular"/>
              <a:cs typeface="Malgun Gothic Semiligh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7C0FB221-9ECD-AD1E-BE5C-FBEDB6470570}"/>
              </a:ext>
            </a:extLst>
          </p:cNvPr>
          <p:cNvSpPr txBox="1">
            <a:spLocks/>
          </p:cNvSpPr>
          <p:nvPr/>
        </p:nvSpPr>
        <p:spPr>
          <a:xfrm>
            <a:off x="8077649" y="403273"/>
            <a:ext cx="101951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정인규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 panose="020B0600000101010101" pitchFamily="50" charset="-127"/>
              <a:ea typeface="LG스마트체2.0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A49F583-564D-CC70-E19A-C6F6F1870B24}"/>
              </a:ext>
            </a:extLst>
          </p:cNvPr>
          <p:cNvSpPr txBox="1"/>
          <p:nvPr/>
        </p:nvSpPr>
        <p:spPr>
          <a:xfrm>
            <a:off x="5498613" y="457546"/>
            <a:ext cx="2523654" cy="430887"/>
          </a:xfrm>
          <a:prstGeom prst="rect">
            <a:avLst/>
          </a:prstGeom>
          <a:noFill/>
          <a:ln>
            <a:solidFill>
              <a:srgbClr val="1414FE"/>
            </a:solidFill>
          </a:ln>
        </p:spPr>
        <p:txBody>
          <a:bodyPr wrap="square" lIns="91440" tIns="45720" rIns="91440" bIns="45720" rtlCol="0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품질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-#N, 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진행 상태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: </a:t>
            </a:r>
            <a:r>
              <a:rPr kumimoji="0" lang="ko-KR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 Smart_H Regular"/>
                <a:ea typeface="LG Smart_H Regular"/>
                <a:cs typeface="+mn-lt"/>
              </a:rPr>
              <a:t>●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215531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75478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3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2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2.0 Regular"/>
                          <a:ea typeface="LG스마트체2.0 Regular"/>
                          <a:cs typeface="Malgun Gothic Semilight"/>
                        </a:rPr>
                        <a:t>ESHD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2.0 Regular"/>
                          <a:ea typeface="LG스마트체2.0 Regular"/>
                          <a:cs typeface="Malgun Gothic Semilight"/>
                        </a:rPr>
                        <a:t>법인</a:t>
                      </a:r>
                      <a:br>
                        <a:rPr lang="en-US" altLang="ko-KR" sz="900" b="1">
                          <a:solidFill>
                            <a:srgbClr val="000000"/>
                          </a:solidFill>
                          <a:latin typeface="LG스마트체2.0 Regular"/>
                          <a:ea typeface="LG스마트체2.0 Regular"/>
                          <a:cs typeface="Malgun Gothic Semilight"/>
                        </a:rPr>
                      </a:b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2.0 Regular"/>
                          <a:ea typeface="LG스마트체2.0 Regular"/>
                          <a:cs typeface="Malgun Gothic Semilight"/>
                        </a:rPr>
                        <a:t>ICA </a:t>
                      </a: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LG스마트체2.0 Regular"/>
                          <a:ea typeface="LG스마트체2.0 Regular"/>
                          <a:cs typeface="Malgun Gothic Semilight"/>
                        </a:rPr>
                        <a:t>확산 </a:t>
                      </a: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LG스마트체2.0 Regular"/>
                          <a:ea typeface="LG스마트체2.0 Regular"/>
                          <a:cs typeface="Malgun Gothic Semilight"/>
                        </a:rPr>
                        <a:t>PJT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ESHD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금주(W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SQA,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조립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전극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모듈 팀장에게 각 검사실별 레이아웃 최신화 자료 요청하였습니다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레이아웃 자료를 토대로 하기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가지 조사 예정이고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가지 조사가 완료되면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각 계측기별 사용하는 검사항목코드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파일업로드 계측기의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Export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파일 조사하여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Parsing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수정개발 진행 예정입니다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①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각 계측기 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MIMS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관리번호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②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각 계측기의 측정값을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QMS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에 입력하는지 여부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일정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검사방법확정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(~12/12)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→ 검사방법재조사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(~26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01/09)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Parsing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수정개발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(~26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월 초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ICA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셋업 출장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(~26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3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월 초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(Parsing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수정개발일정과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ICA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셋업 출장 일정은 검사방법재조사 및 수정개발 요건 도출 후 일정 구체화하도록 하겠습니다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.)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 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1.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목 적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</a:rPr>
                        <a:t>: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모듈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/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전극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/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조립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/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활성화 공정 계측기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44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대에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ICA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확산을 진행하여 계측 데이터 수집 자동화 시스템을 구축하고자 합니다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.</a:t>
                      </a:r>
                      <a:br>
                        <a:rPr lang="en-US" altLang="ko-KR" sz="900" b="1" baseline="0">
                          <a:solidFill>
                            <a:srgbClr val="000000"/>
                          </a:solidFill>
                          <a:latin typeface="LG스마트체 Regular"/>
                          <a:ea typeface="LG스마트체 Regular"/>
                        </a:rPr>
                      </a:b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             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계측값이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ICA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를 통해 그대로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QMS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에 입력되고 데이터 조작 및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key-in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실수를 방지하여 데이터 정합성 및 신뢰성을 확보하고자 합니다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.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</a:rPr>
                        <a:t>2.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일 정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</a:br>
                      <a:b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</a:b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</a:rPr>
                        <a:t>3.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진행 현황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’26.03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유종훈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26699" y="576635"/>
            <a:ext cx="3066664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ESHD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법인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ICA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확산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PJT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/>
              <a:ea typeface="LG스마트체2.0 Regular"/>
              <a:cs typeface="Malgun Gothic Semilight" panose="020B0502040204020203" pitchFamily="50" charset="-127"/>
            </a:endParaRP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057A193-E671-4FE8-8A15-1F6922EAE568}"/>
              </a:ext>
            </a:extLst>
          </p:cNvPr>
          <p:cNvSpPr txBox="1">
            <a:spLocks/>
          </p:cNvSpPr>
          <p:nvPr/>
        </p:nvSpPr>
        <p:spPr>
          <a:xfrm>
            <a:off x="7992110" y="403273"/>
            <a:ext cx="10307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유종훈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B83EFA3-9871-4FC1-899D-E58DEB5BE6F1}"/>
              </a:ext>
            </a:extLst>
          </p:cNvPr>
          <p:cNvSpPr txBox="1"/>
          <p:nvPr/>
        </p:nvSpPr>
        <p:spPr>
          <a:xfrm>
            <a:off x="7928571" y="598660"/>
            <a:ext cx="173124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12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/16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/>
              <a:ea typeface="LG스마트체2.0 Regular"/>
              <a:cs typeface="Malgun Gothic Semilight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1346967B-BA17-4417-968E-F5D96D71270C}"/>
              </a:ext>
            </a:extLst>
          </p:cNvPr>
          <p:cNvSpPr txBox="1">
            <a:spLocks/>
          </p:cNvSpPr>
          <p:nvPr/>
        </p:nvSpPr>
        <p:spPr>
          <a:xfrm>
            <a:off x="124961" y="122998"/>
            <a:ext cx="355174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팀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472C3C8-76C3-45A9-8914-08FF2F9204E0}"/>
              </a:ext>
            </a:extLst>
          </p:cNvPr>
          <p:cNvSpPr txBox="1"/>
          <p:nvPr/>
        </p:nvSpPr>
        <p:spPr>
          <a:xfrm>
            <a:off x="6281875" y="6614663"/>
            <a:ext cx="321113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2.0 Regular"/>
                <a:ea typeface="LG스마트체2.0 Regular"/>
                <a:cs typeface="+mn-cs"/>
              </a:rPr>
              <a:t>*ICA(Inspection measuring data Collection Agent) : </a:t>
            </a:r>
            <a:r>
              <a:rPr kumimoji="0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2.0 Regular"/>
                <a:ea typeface="LG스마트체2.0 Regular"/>
                <a:cs typeface="+mn-cs"/>
              </a:rPr>
              <a:t>계측데이터 수집 에이전트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LG스마트체2.0 Regular"/>
              <a:ea typeface="LG스마트체2.0 Regular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69831EA-CAC4-4A47-89DC-FD6BF9CB6736}"/>
              </a:ext>
            </a:extLst>
          </p:cNvPr>
          <p:cNvGraphicFramePr>
            <a:graphicFrameLocks noGrp="1"/>
          </p:cNvGraphicFramePr>
          <p:nvPr/>
        </p:nvGraphicFramePr>
        <p:xfrm>
          <a:off x="1496128" y="2244115"/>
          <a:ext cx="7010095" cy="1528920"/>
        </p:xfrm>
        <a:graphic>
          <a:graphicData uri="http://schemas.openxmlformats.org/drawingml/2006/table">
            <a:tbl>
              <a:tblPr/>
              <a:tblGrid>
                <a:gridCol w="403572">
                  <a:extLst>
                    <a:ext uri="{9D8B030D-6E8A-4147-A177-3AD203B41FA5}">
                      <a16:colId xmlns:a16="http://schemas.microsoft.com/office/drawing/2014/main" val="2671543521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2999877440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1382663159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3798516212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2086377297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3300728226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2730381534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4264478063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774887763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1713108948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3639126294"/>
                    </a:ext>
                  </a:extLst>
                </a:gridCol>
                <a:gridCol w="600593">
                  <a:extLst>
                    <a:ext uri="{9D8B030D-6E8A-4147-A177-3AD203B41FA5}">
                      <a16:colId xmlns:a16="http://schemas.microsoft.com/office/drawing/2014/main" val="1002109610"/>
                    </a:ext>
                  </a:extLst>
                </a:gridCol>
              </a:tblGrid>
              <a:tr h="24669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구분</a:t>
                      </a:r>
                      <a:endParaRPr lang="ko-KR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gridSpan="8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’25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년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900" b="1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’26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년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86380"/>
                  </a:ext>
                </a:extLst>
              </a:tr>
              <a:tr h="186262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1400" b="1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  <a:ea typeface="굴림" panose="020B0600000101010101" pitchFamily="50" charset="-127"/>
                        </a:defRPr>
                      </a:lvl1pPr>
                      <a:lvl2pPr marL="473075" latinLnBrk="1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949325" latinLnBrk="1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sz="900" b="1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1400" b="1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  <a:ea typeface="굴림" panose="020B0600000101010101" pitchFamily="50" charset="-127"/>
                        </a:defRPr>
                      </a:lvl1pPr>
                      <a:lvl2pPr marL="473075" latinLnBrk="1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949325" latinLnBrk="1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  <a:cs typeface="+mn-cs"/>
                        </a:rPr>
                        <a:t>4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5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6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7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8~12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1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3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74660"/>
                  </a:ext>
                </a:extLst>
              </a:tr>
              <a:tr h="109596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1400" b="1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  <a:ea typeface="굴림" panose="020B0600000101010101" pitchFamily="50" charset="-127"/>
                        </a:defRPr>
                      </a:lvl1pPr>
                      <a:lvl2pPr marL="473075" latinLnBrk="1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949325" latinLnBrk="1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ICA 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확산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1400" b="1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  <a:ea typeface="굴림" panose="020B0600000101010101" pitchFamily="50" charset="-127"/>
                        </a:defRPr>
                      </a:lvl1pPr>
                      <a:lvl2pPr marL="473075" latinLnBrk="1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949325" latinLnBrk="1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9322871"/>
                  </a:ext>
                </a:extLst>
              </a:tr>
            </a:tbl>
          </a:graphicData>
        </a:graphic>
      </p:graphicFrame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C624F94F-CD87-48FA-B759-66F8FADF82EF}"/>
              </a:ext>
            </a:extLst>
          </p:cNvPr>
          <p:cNvSpPr/>
          <p:nvPr/>
        </p:nvSpPr>
        <p:spPr>
          <a:xfrm>
            <a:off x="1929365" y="2707921"/>
            <a:ext cx="706031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계측기 확정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D448DAFA-EB5A-4DE6-8BD2-98F0D7A25898}"/>
              </a:ext>
            </a:extLst>
          </p:cNvPr>
          <p:cNvSpPr/>
          <p:nvPr/>
        </p:nvSpPr>
        <p:spPr>
          <a:xfrm>
            <a:off x="2489357" y="2850154"/>
            <a:ext cx="2232014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검사방법 조사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2ECA53D9-2C35-4B2B-903E-A0218E721263}"/>
              </a:ext>
            </a:extLst>
          </p:cNvPr>
          <p:cNvSpPr/>
          <p:nvPr/>
        </p:nvSpPr>
        <p:spPr>
          <a:xfrm>
            <a:off x="2489356" y="3009793"/>
            <a:ext cx="1767305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계측기 별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Parsing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개발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1B8DD958-360B-455F-BEA2-FD9C55295445}"/>
              </a:ext>
            </a:extLst>
          </p:cNvPr>
          <p:cNvSpPr/>
          <p:nvPr/>
        </p:nvSpPr>
        <p:spPr>
          <a:xfrm>
            <a:off x="7428644" y="3320150"/>
            <a:ext cx="700296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ICA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셋업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99890B8-CE93-48AC-848A-15A29064E1E1}"/>
              </a:ext>
            </a:extLst>
          </p:cNvPr>
          <p:cNvSpPr/>
          <p:nvPr/>
        </p:nvSpPr>
        <p:spPr>
          <a:xfrm>
            <a:off x="7428644" y="3468154"/>
            <a:ext cx="700295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통합 테스트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642FE00-2C34-45EC-879B-6AC8C77D633C}"/>
              </a:ext>
            </a:extLst>
          </p:cNvPr>
          <p:cNvGraphicFramePr>
            <a:graphicFrameLocks noGrp="1"/>
          </p:cNvGraphicFramePr>
          <p:nvPr/>
        </p:nvGraphicFramePr>
        <p:xfrm>
          <a:off x="1561675" y="3926961"/>
          <a:ext cx="6866895" cy="26560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4607">
                  <a:extLst>
                    <a:ext uri="{9D8B030D-6E8A-4147-A177-3AD203B41FA5}">
                      <a16:colId xmlns:a16="http://schemas.microsoft.com/office/drawing/2014/main" val="2485807203"/>
                    </a:ext>
                  </a:extLst>
                </a:gridCol>
                <a:gridCol w="4448070">
                  <a:extLst>
                    <a:ext uri="{9D8B030D-6E8A-4147-A177-3AD203B41FA5}">
                      <a16:colId xmlns:a16="http://schemas.microsoft.com/office/drawing/2014/main" val="3533433929"/>
                    </a:ext>
                  </a:extLst>
                </a:gridCol>
                <a:gridCol w="520637">
                  <a:extLst>
                    <a:ext uri="{9D8B030D-6E8A-4147-A177-3AD203B41FA5}">
                      <a16:colId xmlns:a16="http://schemas.microsoft.com/office/drawing/2014/main" val="3602493506"/>
                    </a:ext>
                  </a:extLst>
                </a:gridCol>
                <a:gridCol w="727499">
                  <a:extLst>
                    <a:ext uri="{9D8B030D-6E8A-4147-A177-3AD203B41FA5}">
                      <a16:colId xmlns:a16="http://schemas.microsoft.com/office/drawing/2014/main" val="274240820"/>
                    </a:ext>
                  </a:extLst>
                </a:gridCol>
                <a:gridCol w="486082">
                  <a:extLst>
                    <a:ext uri="{9D8B030D-6E8A-4147-A177-3AD203B41FA5}">
                      <a16:colId xmlns:a16="http://schemas.microsoft.com/office/drawing/2014/main" val="770053629"/>
                    </a:ext>
                  </a:extLst>
                </a:gridCol>
              </a:tblGrid>
              <a:tr h="145616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단계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항목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담당자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일정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상태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1438417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사양 검토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ICA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적용대상 확정 및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Type(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실시간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파일업로드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PO</a:t>
                      </a: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부서</a:t>
                      </a:r>
                      <a:endParaRPr lang="en-US" altLang="ko-KR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유종훈</a:t>
                      </a:r>
                      <a:endParaRPr lang="ko-KR" altLang="en-US" sz="900" b="0" i="0" u="none" strike="noStrike" kern="1200" noProof="0" err="1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~1/31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7449840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구매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필요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HW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구매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(PC 25ea,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케이블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42ea,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어댑터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120ea)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법인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PI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~4/4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8901748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검사방법 조사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계측기 별 검사항목 코드 조사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계측기 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export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파일 수집 및 검사 방법 분석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유종훈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~5/30</a:t>
                      </a:r>
                      <a:endParaRPr lang="ko-KR" altLang="en-US" sz="9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9625781"/>
                  </a:ext>
                </a:extLst>
              </a:tr>
              <a:tr h="25795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검사방법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확정기간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단계에서 검사방법이 변경될 수 있기 때문에 해당 기간동안 검사방법 변경여부 모니터링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PO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  <a:b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유종훈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~25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진행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672719"/>
                  </a:ext>
                </a:extLst>
              </a:tr>
              <a:tr h="131578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시스템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개발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단말기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PC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에 고정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IP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할당 및 방화벽 해제 신청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계측기 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Parsing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유종훈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CNS</a:t>
                      </a:r>
                      <a:endParaRPr lang="ko-KR" altLang="en-US" sz="90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</a:t>
                      </a:r>
                      <a:endParaRPr lang="ko-KR" altLang="en-US" sz="90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예정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8407453"/>
                  </a:ext>
                </a:extLst>
              </a:tr>
              <a:tr h="131578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기준정보 등록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대상 계측기 기준정보 셋업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검사항목 매핑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계측기 위치정보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유종훈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CNS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예정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886378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ICA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셋업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테스트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PC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Agent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셋업 및 통합테스트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I/F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여부확인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계측기 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ICA agent ↔ QMS)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CNS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법인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PI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예정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1590405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사용자 교육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QA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엔지니어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검사원 대상 시스템 사용자 교육 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유종훈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법인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PI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~26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예정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510516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오픈 및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안정화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시스템 운영 이관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운영 모니터링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사용자 문의 대응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유종훈</a:t>
                      </a:r>
                      <a:br>
                        <a:rPr lang="en-US" altLang="ko-KR" sz="900">
                          <a:solidFill>
                            <a:srgbClr val="000000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CNS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계속</a:t>
                      </a:r>
                      <a:endParaRPr lang="en-US" altLang="ko-KR" sz="90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예정</a:t>
                      </a:r>
                    </a:p>
                  </a:txBody>
                  <a:tcPr marL="5681" marR="5681" marT="568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528173"/>
                  </a:ext>
                </a:extLst>
              </a:tr>
            </a:tbl>
          </a:graphicData>
        </a:graphic>
      </p:graphicFrame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15EACD6-644D-4EC2-8471-5594DC36FB9A}"/>
              </a:ext>
            </a:extLst>
          </p:cNvPr>
          <p:cNvSpPr/>
          <p:nvPr/>
        </p:nvSpPr>
        <p:spPr>
          <a:xfrm>
            <a:off x="7428645" y="3624664"/>
            <a:ext cx="700295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사용자 교육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F269F31-D58F-47DE-B1FB-AEEEF03D0A11}"/>
              </a:ext>
            </a:extLst>
          </p:cNvPr>
          <p:cNvSpPr txBox="1"/>
          <p:nvPr/>
        </p:nvSpPr>
        <p:spPr>
          <a:xfrm>
            <a:off x="5450812" y="546934"/>
            <a:ext cx="2523654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품질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-#18, 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진행 상태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22" name="순서도: 병합 21">
            <a:extLst>
              <a:ext uri="{FF2B5EF4-FFF2-40B4-BE49-F238E27FC236}">
                <a16:creationId xmlns:a16="http://schemas.microsoft.com/office/drawing/2014/main" id="{88182960-4132-4E80-BD0E-17B226866D45}"/>
              </a:ext>
            </a:extLst>
          </p:cNvPr>
          <p:cNvSpPr/>
          <p:nvPr/>
        </p:nvSpPr>
        <p:spPr>
          <a:xfrm>
            <a:off x="6492288" y="2361204"/>
            <a:ext cx="118988" cy="126645"/>
          </a:xfrm>
          <a:prstGeom prst="flowChartMerge">
            <a:avLst/>
          </a:prstGeom>
          <a:solidFill>
            <a:srgbClr val="1414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0044889A-BF64-4435-9B9B-A4ACB865717E}"/>
              </a:ext>
            </a:extLst>
          </p:cNvPr>
          <p:cNvSpPr/>
          <p:nvPr/>
        </p:nvSpPr>
        <p:spPr>
          <a:xfrm>
            <a:off x="4882735" y="3009793"/>
            <a:ext cx="957262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잔여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Parsing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개발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BDFA6001-1F66-4985-8426-C12BECDCC8FF}"/>
              </a:ext>
            </a:extLst>
          </p:cNvPr>
          <p:cNvSpPr/>
          <p:nvPr/>
        </p:nvSpPr>
        <p:spPr>
          <a:xfrm>
            <a:off x="5454235" y="3160729"/>
            <a:ext cx="2405827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검사방법 확정 및 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Parsing 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수정 </a:t>
            </a:r>
            <a:r>
              <a:rPr lang="ko-KR" altLang="en-US" sz="800" b="1">
                <a:solidFill>
                  <a:prstClr val="white"/>
                </a:solidFill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개발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2.0 Regular" panose="020B0600000101010101" pitchFamily="50" charset="-127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00DCB5A-F56D-4830-B5C4-7F5A61FCA467}"/>
              </a:ext>
            </a:extLst>
          </p:cNvPr>
          <p:cNvSpPr txBox="1"/>
          <p:nvPr/>
        </p:nvSpPr>
        <p:spPr>
          <a:xfrm>
            <a:off x="2233111" y="5018148"/>
            <a:ext cx="208582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en-US" altLang="ko-KR" sz="700">
                <a:solidFill>
                  <a:srgbClr val="00B050"/>
                </a:solidFill>
                <a:latin typeface="LG스마트체2.0 Regular"/>
                <a:ea typeface="LG스마트체2.0 Regular"/>
              </a:rPr>
              <a:t>*PD(Process Development) : </a:t>
            </a:r>
            <a:r>
              <a:rPr lang="ko-KR" altLang="en-US" sz="700">
                <a:solidFill>
                  <a:srgbClr val="00B050"/>
                </a:solidFill>
                <a:latin typeface="LG스마트체2.0 Regular"/>
                <a:ea typeface="LG스마트체2.0 Regular"/>
              </a:rPr>
              <a:t>공정 개발 검증</a:t>
            </a:r>
            <a:r>
              <a:rPr lang="en-US" altLang="ko-KR" sz="700">
                <a:solidFill>
                  <a:srgbClr val="00B050"/>
                </a:solidFill>
                <a:latin typeface="LG스마트체2.0 Regular"/>
                <a:ea typeface="LG스마트체2.0 Regular"/>
              </a:rPr>
              <a:t> </a:t>
            </a:r>
            <a:r>
              <a:rPr lang="ko-KR" altLang="en-US" sz="700">
                <a:solidFill>
                  <a:srgbClr val="00B050"/>
                </a:solidFill>
                <a:latin typeface="LG스마트체2.0 Regular"/>
                <a:ea typeface="LG스마트체2.0 Regular"/>
              </a:rPr>
              <a:t>단계</a:t>
            </a:r>
            <a:endParaRPr kumimoji="0" lang="en-US" altLang="ko-KR" sz="700" b="0" i="0" u="none" strike="noStrike" kern="1200" cap="none" spc="0" normalizeH="0" baseline="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LG스마트체2.0 Regular"/>
              <a:ea typeface="LG스마트체2.0 Regular"/>
              <a:cs typeface="+mn-cs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5685B674-534D-4F8A-A537-30D99FEB323B}"/>
              </a:ext>
            </a:extLst>
          </p:cNvPr>
          <p:cNvCxnSpPr>
            <a:cxnSpLocks/>
          </p:cNvCxnSpPr>
          <p:nvPr/>
        </p:nvCxnSpPr>
        <p:spPr>
          <a:xfrm>
            <a:off x="7408821" y="2244115"/>
            <a:ext cx="0" cy="1498071"/>
          </a:xfrm>
          <a:prstGeom prst="line">
            <a:avLst/>
          </a:prstGeom>
          <a:ln w="1270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05FB5110-8AF8-43AF-B46D-F009EB618907}"/>
              </a:ext>
            </a:extLst>
          </p:cNvPr>
          <p:cNvCxnSpPr>
            <a:cxnSpLocks/>
          </p:cNvCxnSpPr>
          <p:nvPr/>
        </p:nvCxnSpPr>
        <p:spPr>
          <a:xfrm>
            <a:off x="7683141" y="2244115"/>
            <a:ext cx="0" cy="1498071"/>
          </a:xfrm>
          <a:prstGeom prst="line">
            <a:avLst/>
          </a:prstGeom>
          <a:ln w="1270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8B134587-ECCF-4DAE-8914-9E8072FB1C23}"/>
              </a:ext>
            </a:extLst>
          </p:cNvPr>
          <p:cNvCxnSpPr>
            <a:cxnSpLocks/>
          </p:cNvCxnSpPr>
          <p:nvPr/>
        </p:nvCxnSpPr>
        <p:spPr>
          <a:xfrm>
            <a:off x="8126173" y="2244115"/>
            <a:ext cx="0" cy="1498071"/>
          </a:xfrm>
          <a:prstGeom prst="line">
            <a:avLst/>
          </a:prstGeom>
          <a:ln w="1270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3FE5A07F-3DF0-4DF6-ABA4-1E24D8539501}"/>
              </a:ext>
            </a:extLst>
          </p:cNvPr>
          <p:cNvSpPr txBox="1"/>
          <p:nvPr/>
        </p:nvSpPr>
        <p:spPr>
          <a:xfrm>
            <a:off x="7002950" y="1894555"/>
            <a:ext cx="7357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FF0000"/>
                </a:solidFill>
                <a:latin typeface="LG스마트체 Regular"/>
              </a:rPr>
              <a:t>SOP</a:t>
            </a:r>
            <a:r>
              <a:rPr lang="ko-KR" altLang="en-US" sz="800">
                <a:solidFill>
                  <a:srgbClr val="FF0000"/>
                </a:solidFill>
                <a:latin typeface="LG스마트체 Regular"/>
              </a:rPr>
              <a:t>전극</a:t>
            </a:r>
            <a:br>
              <a:rPr lang="en-US" altLang="ko-KR" sz="800">
                <a:solidFill>
                  <a:srgbClr val="FF0000"/>
                </a:solidFill>
                <a:latin typeface="LG스마트체 Regular"/>
              </a:rPr>
            </a:br>
            <a:r>
              <a:rPr lang="en-US" altLang="ko-KR" sz="800">
                <a:solidFill>
                  <a:srgbClr val="FF0000"/>
                </a:solidFill>
                <a:latin typeface="LG스마트체 Regular"/>
              </a:rPr>
              <a:t>(02/06)</a:t>
            </a:r>
            <a:endParaRPr lang="ko-KR" altLang="en-US" sz="800">
              <a:solidFill>
                <a:srgbClr val="FF0000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AC316D6-336F-46E5-AB3C-B18E00874EA5}"/>
              </a:ext>
            </a:extLst>
          </p:cNvPr>
          <p:cNvSpPr txBox="1"/>
          <p:nvPr/>
        </p:nvSpPr>
        <p:spPr>
          <a:xfrm>
            <a:off x="7456788" y="1894555"/>
            <a:ext cx="7357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FF0000"/>
                </a:solidFill>
                <a:latin typeface="LG스마트체 Regular"/>
              </a:rPr>
              <a:t>SOP</a:t>
            </a:r>
            <a:r>
              <a:rPr lang="ko-KR" altLang="en-US" sz="800">
                <a:solidFill>
                  <a:srgbClr val="FF0000"/>
                </a:solidFill>
                <a:latin typeface="LG스마트체 Regular"/>
              </a:rPr>
              <a:t>셀</a:t>
            </a:r>
            <a:br>
              <a:rPr lang="en-US" altLang="ko-KR" sz="800">
                <a:solidFill>
                  <a:srgbClr val="FF0000"/>
                </a:solidFill>
                <a:latin typeface="LG스마트체 Regular"/>
              </a:rPr>
            </a:br>
            <a:r>
              <a:rPr lang="en-US" altLang="ko-KR" sz="800">
                <a:solidFill>
                  <a:srgbClr val="FF0000"/>
                </a:solidFill>
                <a:latin typeface="LG스마트체 Regular"/>
              </a:rPr>
              <a:t>(02/15)</a:t>
            </a:r>
            <a:endParaRPr lang="ko-KR" altLang="en-US" sz="800">
              <a:solidFill>
                <a:srgbClr val="FF0000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9516998-C194-412B-9817-18AEF2634B10}"/>
              </a:ext>
            </a:extLst>
          </p:cNvPr>
          <p:cNvSpPr txBox="1"/>
          <p:nvPr/>
        </p:nvSpPr>
        <p:spPr>
          <a:xfrm>
            <a:off x="7891207" y="1894555"/>
            <a:ext cx="7357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FF0000"/>
                </a:solidFill>
                <a:latin typeface="LG스마트체 Regular"/>
              </a:rPr>
              <a:t>SOP</a:t>
            </a:r>
            <a:r>
              <a:rPr lang="ko-KR" altLang="en-US" sz="800">
                <a:solidFill>
                  <a:srgbClr val="FF0000"/>
                </a:solidFill>
                <a:latin typeface="LG스마트체 Regular"/>
              </a:rPr>
              <a:t>모듈</a:t>
            </a:r>
            <a:br>
              <a:rPr lang="en-US" altLang="ko-KR" sz="800">
                <a:solidFill>
                  <a:srgbClr val="FF0000"/>
                </a:solidFill>
                <a:latin typeface="LG스마트체 Regular"/>
              </a:rPr>
            </a:br>
            <a:r>
              <a:rPr lang="en-US" altLang="ko-KR" sz="800">
                <a:solidFill>
                  <a:srgbClr val="FF0000"/>
                </a:solidFill>
                <a:latin typeface="LG스마트체 Regular"/>
              </a:rPr>
              <a:t>(03/15)</a:t>
            </a:r>
            <a:endParaRPr lang="ko-KR" altLang="en-US" sz="80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756120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75478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3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2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>
                          <a:solidFill>
                            <a:prstClr val="black"/>
                          </a:solidFill>
                          <a:effectLst/>
                          <a:latin typeface="LG스마트체2.0 Regular"/>
                          <a:ea typeface="LG스마트체2.0 Regular"/>
                          <a:cs typeface="Malgun Gothic Semilight"/>
                        </a:rPr>
                        <a:t>MIMS</a:t>
                      </a:r>
                      <a:r>
                        <a:rPr lang="ko-KR" altLang="en-US" sz="900" b="1" i="0" u="none" strike="noStrike" baseline="0">
                          <a:solidFill>
                            <a:prstClr val="black"/>
                          </a:solidFill>
                          <a:effectLst/>
                          <a:latin typeface="LG스마트체2.0 Regular"/>
                          <a:ea typeface="LG스마트체2.0 Regular"/>
                          <a:cs typeface="Malgun Gothic Semilight"/>
                        </a:rPr>
                        <a:t> </a:t>
                      </a:r>
                      <a:b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2.0 Regular"/>
                          <a:ea typeface="LG스마트체2.0 Regular"/>
                          <a:cs typeface="Malgun Gothic Semilight"/>
                        </a:rPr>
                      </a:br>
                      <a:r>
                        <a:rPr lang="ko-KR" altLang="en-US" sz="900" b="1" i="0" u="none" strike="noStrike" baseline="0">
                          <a:solidFill>
                            <a:prstClr val="black"/>
                          </a:solidFill>
                          <a:effectLst/>
                          <a:latin typeface="LG스마트체2.0 Regular"/>
                          <a:ea typeface="LG스마트체2.0 Regular"/>
                          <a:cs typeface="Malgun Gothic Semilight"/>
                        </a:rPr>
                        <a:t>서버 리뉴얼 </a:t>
                      </a:r>
                      <a:r>
                        <a:rPr lang="en-US" altLang="ko-KR" sz="900" b="1" i="0" u="none" strike="noStrike" baseline="0">
                          <a:solidFill>
                            <a:prstClr val="black"/>
                          </a:solidFill>
                          <a:effectLst/>
                          <a:latin typeface="LG스마트체2.0 Regular"/>
                          <a:ea typeface="LG스마트체2.0 Regular"/>
                          <a:cs typeface="Malgun Gothic Semilight"/>
                        </a:rPr>
                        <a:t>PJT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Malgun Gothic Semilight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금주(W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51)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서버 리뉴얼 오픈 후 방화벽 이슈가 있었습니다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1) MI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법인 방화벽 오픈 작업 미비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지난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11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월 각 법인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Encloud IP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대역에 방화벽 오픈 결재 요청했고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타 법인은 모두 오픈 작업 완료되었으나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(WA, NJ, NB, NA, OC, HM, UC1, UC2)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그룹에서 작업이 진행되지 않아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 Encloud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MIMS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접속이 불가능한 이슈가 있었습니다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이에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 MI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그룹에 따로 요청하여 방화벽 오픈작업 완료하였고 현재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클라우드에서 정상적으로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MIMS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접속 가능합니다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2) MIL Encloud IP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대역 방화벽 오픈 누락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(HD, HG, ST, MIL)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Encloud IP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대역 조사 시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MIL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클라우드가 누락되어 총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4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개 법인에서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MIMS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접속이 불가능한 이슈가 있었습니다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 (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최근 발급된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(25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9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월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Cloud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대역이라 조사과정에서 누락된 것으로 파악됨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이에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IT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인프라팀으로부터 최신 클라우드 대역 전달받아 방화벽 오픈 작업 완료했고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(12/11),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현재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4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개법인 모두 정상적으로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MIMS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접속 가능합니다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추가적으로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Local PC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에서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MIMS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 접속을 원하는 사용자가 있어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IT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인프라팀으로부터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OA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망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IP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대역 전달받아 전체 대역에 대해 방화벽 오픈 작업 진행중이며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작업완료 이후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Local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에서도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MIMS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정상접속 가능할 것으로 예상됩니다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  <a:t>. 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LG스마트체 Regular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1.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목 적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</a:rPr>
                        <a:t>: </a:t>
                      </a:r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MIMS</a:t>
                      </a:r>
                      <a:r>
                        <a:rPr lang="ko-KR" altLang="en-US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AP/DB </a:t>
                      </a:r>
                      <a:r>
                        <a:rPr lang="ko-KR" altLang="en-US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 서버 구축을 통해 </a:t>
                      </a:r>
                      <a:r>
                        <a:rPr lang="ko-KR" altLang="en-US" sz="900" b="1" u="none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서버 노후화로 인한 </a:t>
                      </a:r>
                      <a:r>
                        <a:rPr lang="en-US" altLang="ko-KR" sz="900" b="1" u="none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Risk </a:t>
                      </a:r>
                      <a:r>
                        <a:rPr lang="ko-KR" altLang="en-US" sz="900" b="1" u="none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제거 및 충분한 디스크 공간을 확보하고</a:t>
                      </a:r>
                      <a:r>
                        <a:rPr lang="en-US" altLang="ko-KR" sz="900" b="1" u="none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br>
                        <a:rPr lang="en-US" altLang="ko-KR" sz="900" b="1" u="none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900" b="1" u="none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          </a:t>
                      </a:r>
                      <a:r>
                        <a:rPr lang="ko-KR" altLang="en-US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트랜잭션 기능</a:t>
                      </a:r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Data </a:t>
                      </a:r>
                      <a:r>
                        <a:rPr lang="ko-KR" altLang="en-US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롤백 기능을 보완하여 안정적인 </a:t>
                      </a:r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MIMS </a:t>
                      </a:r>
                      <a:r>
                        <a:rPr lang="ko-KR" altLang="en-US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시스템</a:t>
                      </a:r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운영을 위한 리뉴얼을 진행하고자 합니다</a:t>
                      </a:r>
                      <a:r>
                        <a:rPr lang="en-US" altLang="ko-KR" sz="9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.</a:t>
                      </a:r>
                      <a:endParaRPr lang="ko-KR" altLang="en-US" sz="9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228600" marR="0" lvl="0" indent="-22860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</a:rPr>
                        <a:t>2.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일 정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</a:rPr>
                        <a:t>3.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</a:rPr>
                        <a:t>진행 현황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LG스마트체 Regular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유종훈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26699" y="576635"/>
            <a:ext cx="3066664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MIMS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서버 리뉴얼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PJT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/>
              <a:ea typeface="LG스마트체2.0 Regular"/>
              <a:cs typeface="Malgun Gothic Semilight" panose="020B0502040204020203" pitchFamily="50" charset="-127"/>
            </a:endParaRP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057A193-E671-4FE8-8A15-1F6922EAE568}"/>
              </a:ext>
            </a:extLst>
          </p:cNvPr>
          <p:cNvSpPr txBox="1">
            <a:spLocks/>
          </p:cNvSpPr>
          <p:nvPr/>
        </p:nvSpPr>
        <p:spPr>
          <a:xfrm>
            <a:off x="7928571" y="403273"/>
            <a:ext cx="1030731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유종훈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B83EFA3-9871-4FC1-899D-E58DEB5BE6F1}"/>
              </a:ext>
            </a:extLst>
          </p:cNvPr>
          <p:cNvSpPr txBox="1"/>
          <p:nvPr/>
        </p:nvSpPr>
        <p:spPr>
          <a:xfrm>
            <a:off x="7928571" y="598660"/>
            <a:ext cx="173124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12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/16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/>
              <a:ea typeface="LG스마트체2.0 Regular"/>
              <a:cs typeface="Malgun Gothic Semilight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1346967B-BA17-4417-968E-F5D96D71270C}"/>
              </a:ext>
            </a:extLst>
          </p:cNvPr>
          <p:cNvSpPr txBox="1">
            <a:spLocks/>
          </p:cNvSpPr>
          <p:nvPr/>
        </p:nvSpPr>
        <p:spPr>
          <a:xfrm>
            <a:off x="124961" y="122998"/>
            <a:ext cx="3551740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/>
              </a:rPr>
              <a:t>팀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69831EA-CAC4-4A47-89DC-FD6BF9CB6736}"/>
              </a:ext>
            </a:extLst>
          </p:cNvPr>
          <p:cNvGraphicFramePr>
            <a:graphicFrameLocks noGrp="1"/>
          </p:cNvGraphicFramePr>
          <p:nvPr/>
        </p:nvGraphicFramePr>
        <p:xfrm>
          <a:off x="1496128" y="2811008"/>
          <a:ext cx="6932442" cy="1237704"/>
        </p:xfrm>
        <a:graphic>
          <a:graphicData uri="http://schemas.openxmlformats.org/drawingml/2006/table">
            <a:tbl>
              <a:tblPr/>
              <a:tblGrid>
                <a:gridCol w="421449">
                  <a:extLst>
                    <a:ext uri="{9D8B030D-6E8A-4147-A177-3AD203B41FA5}">
                      <a16:colId xmlns:a16="http://schemas.microsoft.com/office/drawing/2014/main" val="2671543521"/>
                    </a:ext>
                  </a:extLst>
                </a:gridCol>
                <a:gridCol w="2170331">
                  <a:extLst>
                    <a:ext uri="{9D8B030D-6E8A-4147-A177-3AD203B41FA5}">
                      <a16:colId xmlns:a16="http://schemas.microsoft.com/office/drawing/2014/main" val="3639126294"/>
                    </a:ext>
                  </a:extLst>
                </a:gridCol>
                <a:gridCol w="2170331">
                  <a:extLst>
                    <a:ext uri="{9D8B030D-6E8A-4147-A177-3AD203B41FA5}">
                      <a16:colId xmlns:a16="http://schemas.microsoft.com/office/drawing/2014/main" val="1002109610"/>
                    </a:ext>
                  </a:extLst>
                </a:gridCol>
                <a:gridCol w="2170331">
                  <a:extLst>
                    <a:ext uri="{9D8B030D-6E8A-4147-A177-3AD203B41FA5}">
                      <a16:colId xmlns:a16="http://schemas.microsoft.com/office/drawing/2014/main" val="897485575"/>
                    </a:ext>
                  </a:extLst>
                </a:gridCol>
              </a:tblGrid>
              <a:tr h="17733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구분</a:t>
                      </a:r>
                      <a:endParaRPr lang="ko-KR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’25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년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86380"/>
                  </a:ext>
                </a:extLst>
              </a:tr>
              <a:tr h="150555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1400" b="1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  <a:ea typeface="굴림" panose="020B0600000101010101" pitchFamily="50" charset="-127"/>
                        </a:defRPr>
                      </a:lvl1pPr>
                      <a:lvl2pPr marL="473075" latinLnBrk="1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949325" latinLnBrk="1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sz="900" b="1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54000" marR="54000" marT="35999" marB="35999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10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11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12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18000" marB="18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574660"/>
                  </a:ext>
                </a:extLst>
              </a:tr>
              <a:tr h="8858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1400" b="1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  <a:ea typeface="굴림" panose="020B0600000101010101" pitchFamily="50" charset="-127"/>
                        </a:defRPr>
                      </a:lvl1pPr>
                      <a:lvl2pPr marL="473075" latinLnBrk="1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949325" latinLnBrk="1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latinLnBrk="1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MIMS </a:t>
                      </a:r>
                      <a:r>
                        <a:rPr lang="ko-KR" altLang="en-US" sz="800" b="0" kern="1200" baseline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+mn-cs"/>
                        </a:rPr>
                        <a:t>리뉴얼</a:t>
                      </a: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altLang="ko-KR" sz="800" b="0" kern="1200" baseline="0">
                        <a:solidFill>
                          <a:schemeClr val="tx1"/>
                        </a:solidFill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9322871"/>
                  </a:ext>
                </a:extLst>
              </a:tr>
            </a:tbl>
          </a:graphicData>
        </a:graphic>
      </p:graphicFrame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C624F94F-CD87-48FA-B759-66F8FADF82EF}"/>
              </a:ext>
            </a:extLst>
          </p:cNvPr>
          <p:cNvSpPr/>
          <p:nvPr/>
        </p:nvSpPr>
        <p:spPr>
          <a:xfrm>
            <a:off x="1915120" y="3223813"/>
            <a:ext cx="756644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VM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서버 생성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99890B8-CE93-48AC-848A-15A29064E1E1}"/>
              </a:ext>
            </a:extLst>
          </p:cNvPr>
          <p:cNvSpPr/>
          <p:nvPr/>
        </p:nvSpPr>
        <p:spPr>
          <a:xfrm>
            <a:off x="2933704" y="3382319"/>
            <a:ext cx="1152518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>
                <a:solidFill>
                  <a:prstClr val="white"/>
                </a:solidFill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마이그레이션 테스트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2.0 Regular" panose="020B0600000101010101" pitchFamily="50" charset="-127"/>
              <a:ea typeface="LG스마트체2.0 Regular" panose="020B0600000101010101" pitchFamily="50" charset="-127"/>
              <a:cs typeface="+mn-cs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642FE00-2C34-45EC-879B-6AC8C77D633C}"/>
              </a:ext>
            </a:extLst>
          </p:cNvPr>
          <p:cNvGraphicFramePr>
            <a:graphicFrameLocks noGrp="1"/>
          </p:cNvGraphicFramePr>
          <p:nvPr/>
        </p:nvGraphicFramePr>
        <p:xfrm>
          <a:off x="1561675" y="4260129"/>
          <a:ext cx="6866895" cy="240733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4607">
                  <a:extLst>
                    <a:ext uri="{9D8B030D-6E8A-4147-A177-3AD203B41FA5}">
                      <a16:colId xmlns:a16="http://schemas.microsoft.com/office/drawing/2014/main" val="2485807203"/>
                    </a:ext>
                  </a:extLst>
                </a:gridCol>
                <a:gridCol w="4448070">
                  <a:extLst>
                    <a:ext uri="{9D8B030D-6E8A-4147-A177-3AD203B41FA5}">
                      <a16:colId xmlns:a16="http://schemas.microsoft.com/office/drawing/2014/main" val="3533433929"/>
                    </a:ext>
                  </a:extLst>
                </a:gridCol>
                <a:gridCol w="520637">
                  <a:extLst>
                    <a:ext uri="{9D8B030D-6E8A-4147-A177-3AD203B41FA5}">
                      <a16:colId xmlns:a16="http://schemas.microsoft.com/office/drawing/2014/main" val="3602493506"/>
                    </a:ext>
                  </a:extLst>
                </a:gridCol>
                <a:gridCol w="727499">
                  <a:extLst>
                    <a:ext uri="{9D8B030D-6E8A-4147-A177-3AD203B41FA5}">
                      <a16:colId xmlns:a16="http://schemas.microsoft.com/office/drawing/2014/main" val="274240820"/>
                    </a:ext>
                  </a:extLst>
                </a:gridCol>
                <a:gridCol w="486082">
                  <a:extLst>
                    <a:ext uri="{9D8B030D-6E8A-4147-A177-3AD203B41FA5}">
                      <a16:colId xmlns:a16="http://schemas.microsoft.com/office/drawing/2014/main" val="770053629"/>
                    </a:ext>
                  </a:extLst>
                </a:gridCol>
              </a:tblGrid>
              <a:tr h="145616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단계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항목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담당자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일정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상태</a:t>
                      </a:r>
                      <a:endParaRPr lang="en-US" altLang="ko-KR" sz="1000" b="1" kern="120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1438417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VM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서버 생성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상암 가상화 서버 환경에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DB, AP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서버 생성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통합</a:t>
                      </a: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TA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~10/15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7449840"/>
                  </a:ext>
                </a:extLst>
              </a:tr>
              <a:tr h="25795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마이그레이션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테스트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신규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서버로 마이그레이션된 데이터 이상 여부 확인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CNS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~10/31</a:t>
                      </a:r>
                      <a:endParaRPr lang="ko-KR" altLang="en-US" sz="9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672719"/>
                  </a:ext>
                </a:extLst>
              </a:tr>
              <a:tr h="131578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시스템 배치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테스트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배치 실행 시 프로시저 정상 작동 여부 확인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유종훈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CNS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~11/18</a:t>
                      </a:r>
                      <a:endParaRPr lang="ko-KR" altLang="en-US" sz="9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886378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인터페이스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테스트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Enportal, TIAM, SSO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정상적으로 연계되는지 여부 확인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유종훈</a:t>
                      </a:r>
                      <a:b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CNS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~11/28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조기완료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1590405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개선과제 개발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트랜잭션 기능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Data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롤백기능 개선 포함 총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8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개 요건 개발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CNS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~11/21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조기완료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9775089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통합 테스트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총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21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개 테스트케이스에 대해 정상 반영 여부 확인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유종훈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~11/26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완료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7678325"/>
                  </a:ext>
                </a:extLst>
              </a:tr>
              <a:tr h="25792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개선과제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사용자테스트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사용자 요구사항 정상 반영 여부 확인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유종훈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~12/8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510516"/>
                  </a:ext>
                </a:extLst>
              </a:tr>
              <a:tr h="35548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오픈 및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안정화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시스템 운영 이관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85725" marR="0" lvl="0" indent="-85725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운영 모니터링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오류 대응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rgbClr val="0000FF"/>
                          </a:solidFill>
                          <a:latin typeface="+mj-ea"/>
                          <a:ea typeface="+mj-ea"/>
                        </a:rPr>
                        <a:t>유종훈</a:t>
                      </a:r>
                      <a:br>
                        <a:rPr lang="en-US" altLang="ko-KR" sz="900">
                          <a:solidFill>
                            <a:srgbClr val="0000FF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900">
                          <a:solidFill>
                            <a:srgbClr val="0000FF"/>
                          </a:solidFill>
                          <a:latin typeface="+mj-ea"/>
                          <a:ea typeface="+mj-ea"/>
                        </a:rPr>
                        <a:t>CNS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</a:rPr>
                        <a:t>계속</a:t>
                      </a:r>
                      <a:endParaRPr lang="en-US" altLang="ko-KR" sz="900" kern="1200">
                        <a:solidFill>
                          <a:srgbClr val="0000FF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진행</a:t>
                      </a:r>
                    </a:p>
                  </a:txBody>
                  <a:tcPr marL="5681" marR="5681" marT="5681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528173"/>
                  </a:ext>
                </a:extLst>
              </a:tr>
            </a:tbl>
          </a:graphicData>
        </a:graphic>
      </p:graphicFrame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15EACD6-644D-4EC2-8471-5594DC36FB9A}"/>
              </a:ext>
            </a:extLst>
          </p:cNvPr>
          <p:cNvSpPr/>
          <p:nvPr/>
        </p:nvSpPr>
        <p:spPr>
          <a:xfrm>
            <a:off x="6134105" y="3702467"/>
            <a:ext cx="939794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사용자 테스트</a:t>
            </a:r>
          </a:p>
        </p:txBody>
      </p:sp>
      <p:sp>
        <p:nvSpPr>
          <p:cNvPr id="22" name="순서도: 병합 21">
            <a:extLst>
              <a:ext uri="{FF2B5EF4-FFF2-40B4-BE49-F238E27FC236}">
                <a16:creationId xmlns:a16="http://schemas.microsoft.com/office/drawing/2014/main" id="{88182960-4132-4E80-BD0E-17B226866D45}"/>
              </a:ext>
            </a:extLst>
          </p:cNvPr>
          <p:cNvSpPr/>
          <p:nvPr/>
        </p:nvSpPr>
        <p:spPr>
          <a:xfrm>
            <a:off x="7290382" y="3001621"/>
            <a:ext cx="118988" cy="126645"/>
          </a:xfrm>
          <a:prstGeom prst="flowChartMerge">
            <a:avLst/>
          </a:prstGeom>
          <a:solidFill>
            <a:srgbClr val="1414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10C7F4DB-B2F8-4A27-B872-655DDC178ED2}"/>
              </a:ext>
            </a:extLst>
          </p:cNvPr>
          <p:cNvSpPr/>
          <p:nvPr/>
        </p:nvSpPr>
        <p:spPr>
          <a:xfrm>
            <a:off x="2994026" y="3543463"/>
            <a:ext cx="2623343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>
                <a:solidFill>
                  <a:prstClr val="white"/>
                </a:solidFill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시스템 개선과제 개발</a:t>
            </a: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2.0 Regular" panose="020B0600000101010101" pitchFamily="50" charset="-127"/>
              <a:ea typeface="LG스마트체2.0 Regular" panose="020B0600000101010101" pitchFamily="50" charset="-127"/>
              <a:cs typeface="+mn-cs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DE8B502B-DAA9-4086-9544-1EB35C6BCC60}"/>
              </a:ext>
            </a:extLst>
          </p:cNvPr>
          <p:cNvCxnSpPr>
            <a:cxnSpLocks/>
          </p:cNvCxnSpPr>
          <p:nvPr/>
        </p:nvCxnSpPr>
        <p:spPr>
          <a:xfrm>
            <a:off x="7137037" y="3015115"/>
            <a:ext cx="0" cy="1033597"/>
          </a:xfrm>
          <a:prstGeom prst="line">
            <a:avLst/>
          </a:prstGeom>
          <a:ln w="1270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9531A919-D3CB-48A1-A093-1B0F241A136D}"/>
              </a:ext>
            </a:extLst>
          </p:cNvPr>
          <p:cNvSpPr txBox="1"/>
          <p:nvPr/>
        </p:nvSpPr>
        <p:spPr>
          <a:xfrm>
            <a:off x="6922526" y="2790887"/>
            <a:ext cx="73571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FF0000"/>
                </a:solidFill>
                <a:latin typeface="LG스마트체 Regular"/>
              </a:rPr>
              <a:t>Open</a:t>
            </a:r>
            <a:endParaRPr lang="ko-KR" altLang="en-US" sz="800">
              <a:solidFill>
                <a:srgbClr val="FF0000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1B8DD958-360B-455F-BEA2-FD9C55295445}"/>
              </a:ext>
            </a:extLst>
          </p:cNvPr>
          <p:cNvSpPr/>
          <p:nvPr/>
        </p:nvSpPr>
        <p:spPr>
          <a:xfrm>
            <a:off x="7158302" y="3857015"/>
            <a:ext cx="1017209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모니터링 및 안정화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60BA53EE-0520-4F90-AC11-48181267D908}"/>
              </a:ext>
            </a:extLst>
          </p:cNvPr>
          <p:cNvSpPr/>
          <p:nvPr/>
        </p:nvSpPr>
        <p:spPr>
          <a:xfrm>
            <a:off x="4110120" y="3386141"/>
            <a:ext cx="1424723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시스템 배치 테스트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74AB6A8-CDB5-4911-B429-9BB3FD84FE87}"/>
              </a:ext>
            </a:extLst>
          </p:cNvPr>
          <p:cNvSpPr/>
          <p:nvPr/>
        </p:nvSpPr>
        <p:spPr>
          <a:xfrm>
            <a:off x="4525174" y="3701633"/>
            <a:ext cx="1092195" cy="135075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>
                <a:solidFill>
                  <a:prstClr val="white"/>
                </a:solidFill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인터페이스</a:t>
            </a: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 테스트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2EF93B5-3363-01BA-94AE-6E8D20FCE9E0}"/>
              </a:ext>
            </a:extLst>
          </p:cNvPr>
          <p:cNvSpPr/>
          <p:nvPr/>
        </p:nvSpPr>
        <p:spPr>
          <a:xfrm>
            <a:off x="5632705" y="3456597"/>
            <a:ext cx="594039" cy="24762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통합</a:t>
            </a:r>
            <a:b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</a:b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테스트</a:t>
            </a:r>
          </a:p>
        </p:txBody>
      </p:sp>
    </p:spTree>
    <p:extLst>
      <p:ext uri="{BB962C8B-B14F-4D97-AF65-F5344CB8AC3E}">
        <p14:creationId xmlns:p14="http://schemas.microsoft.com/office/powerpoint/2010/main" val="366815025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76175" cy="576756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728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1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65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Malgun Gothic Semilight"/>
                        </a:rPr>
                        <a:t>분석 보고서 자동화 기능 구축 및 분석 모듈 고도화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 법인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1,2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차 통합 개발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진척률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100%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이며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안정화 기간에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개 잔여 요건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17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 배포 예정입니다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 (~12/17)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    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프로젝트 완료 보고하였습니다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 (12/11)</a:t>
                      </a:r>
                      <a:endParaRPr lang="en-US" altLang="ko-KR" sz="900" b="0" baseline="0">
                        <a:solidFill>
                          <a:srgbClr val="1414FE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>
                          <a:solidFill>
                            <a:schemeClr val="tx1"/>
                          </a:solidFill>
                          <a:latin typeface="LG스마트체 Regular"/>
                          <a:ea typeface="+mn-ea"/>
                        </a:rPr>
                        <a:t>1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 내 보고서 연계 및 자동화 작성 기능을 구축하여 보고서 데이터 오기입을 방지하고 업무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Work Load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개선하고자 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시료전달 업무를 온라인化화여 분석 업무 중 시료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누락 방지 및 시료 관리 체계를 강화하고자 합니다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일정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1)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투자심의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(5/9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), Kick off (5/21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개발 착수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(5/9~), 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 오픈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(8/28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), 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 오픈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(11/12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예정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현황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개발 요건 정의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(3/28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lang="ko-KR" altLang="en-US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다빈치 연계 및 마이그레이션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 사용성 개선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요건으로 정의를 완료하였습니다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총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여개의 기타 사용성 개선 요구사항을 전면 재검토하여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45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요구사항으로 정의하고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우선순위를 조정 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화면 정의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(3/28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기준정보 체계 확보 요건 / 다빈치 연계 및 마이그레이션 / 기타 사용성 개선 3개 요건에 대해서 화면 정의 완료하였습니다.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 외 기타 개선 요청 사항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45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대해서 우선순위를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1~3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순위로 나누어 요건에 반영하였고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 정의 완료하였습니다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투자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견적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10.17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억에서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ERRC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후 최종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9.81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억으로 투자비 산출하였습니다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(4/4)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CQO IT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개선과제 목록에서 우선순위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순위로 산정되었고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CQO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부문의 예산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9.81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억원을 품질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DX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팀으로 이관 완료하였습니다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(4/23)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그룹장님 투자 심의 후 최종 요건에서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분석 보고서 자동화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부분을 제외하고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7.66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억원으로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CDO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투자 심의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(5/9)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ERRC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7.00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억원으로 투자금액 확정하였습니다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en-US" altLang="ko-KR" sz="900" b="0" baseline="0">
                        <a:solidFill>
                          <a:srgbClr val="1414FE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4)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- 5/21(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Kick-off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후 개발 착수하였습니다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Migration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템플릿 배포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(6/5) 7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중순까지 데이터 취합 후 검증 및 운영 적재할 예정입니다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DAVINCI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진행한 보고서 자동화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PoC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결과 설명회를 진행 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생성형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활용하여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4step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개발 진행하기로 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(6/18)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분석 보고서 생성 관련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QMS-DAVINCI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간 요건 정의 완료하였고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9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말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Open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타겟으로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일부터 개발 착수하였습니다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분석 모듈 고도화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- 8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오픈 완료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오픈 대상 요건을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논의 하였고 총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35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개로 확정하여 개발 진행 중입니다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- 25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~8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분석 의뢰된 데이터 마이그레이션 완료하여 분석 데이터는 마이그레이션 최종 완료되었습니다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 법인 대상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Teams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운영하고 있으며 오픈 이후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 결함 발생하여 모두 조치 완료하였습니다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- DAVINCI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연계 후 결함 또는 개선 필요 사항에 대해서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항목으로 도출을 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DAVINCI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QMS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논의하여 문제정의 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개선 완료하였습니다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(10/28)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- 1,2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차 통합 개발 </a:t>
                      </a:r>
                      <a:r>
                        <a:rPr lang="ko-KR" altLang="en-US" sz="900" b="0" baseline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진척률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100%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이며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차 개발 기존 요건과 추가 요건 총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50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개 중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43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개 요건 개발 완료하여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26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 배포하였으며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안정화 기간에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개 잔여 요건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17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일 배포 예정입니다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 (~12/17)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6) AI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분석 보고서 생성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- 8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시연 완료하였고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QMS-Gen AI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개발 진행 중으로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9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오픈 예정입니다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사용자테스트 진행하여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개선 사항 도출하였으며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조치 완료하여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HQ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사용자만 대상으로 파일럿 오픈 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오픈 후 운영에서 테스트를 추가적으로 진행하였고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 추가 개선사항에 대해서 조치 완료하였습니다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7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 테스트 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일에 전 사용자 대상으로 오픈 하였으며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 법인 사용자에게 매뉴얼 배포하고 공지하였습니다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(10/1)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행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열의 수가 많은 경우 표가 슬라이드 사이즈를 넘어가는 부분 개선을 개발 완료하였고 테스트를 통해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배포하였습니다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사용자가 선택하는 과정을 최소화하기 위해서 중분류별로 정해진 템플릿을 디폴트로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셋팅하는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기능을 개발 완료하였습니다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(11/26)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7) </a:t>
                      </a:r>
                      <a:r>
                        <a:rPr lang="ko-KR" altLang="en-US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프로젝트 완료 보고하였습니다</a:t>
                      </a: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. (12/11)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‘25.10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차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‘25.08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차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’25.11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김재용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유종훈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24960" y="588303"/>
            <a:ext cx="672566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■ 분석 보고서 자동화 기능 구축 및 분석 모듈 고도화</a:t>
            </a: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7751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팀</a:t>
            </a:r>
          </a:p>
        </p:txBody>
      </p:sp>
      <p:sp>
        <p:nvSpPr>
          <p:cNvPr id="10" name="내용 개체 틀 20">
            <a:extLst>
              <a:ext uri="{FF2B5EF4-FFF2-40B4-BE49-F238E27FC236}">
                <a16:creationId xmlns:a16="http://schemas.microsoft.com/office/drawing/2014/main" id="{53E4F6C5-E168-4403-BEE1-8F81BD260A7B}"/>
              </a:ext>
            </a:extLst>
          </p:cNvPr>
          <p:cNvSpPr txBox="1">
            <a:spLocks/>
          </p:cNvSpPr>
          <p:nvPr/>
        </p:nvSpPr>
        <p:spPr>
          <a:xfrm>
            <a:off x="8101695" y="403273"/>
            <a:ext cx="99546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김재용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S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A02F07-0CA6-4FBE-A709-0B313313D813}"/>
              </a:ext>
            </a:extLst>
          </p:cNvPr>
          <p:cNvSpPr txBox="1"/>
          <p:nvPr/>
        </p:nvSpPr>
        <p:spPr>
          <a:xfrm>
            <a:off x="8101695" y="598660"/>
            <a:ext cx="173124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12/1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13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/>
              <a:ea typeface="LG스마트체2.0 Regular"/>
              <a:cs typeface="Malgun Gothic Semiligh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AB2AEA1-B84F-4080-ACE1-847E5E00DA98}"/>
              </a:ext>
            </a:extLst>
          </p:cNvPr>
          <p:cNvSpPr txBox="1"/>
          <p:nvPr/>
        </p:nvSpPr>
        <p:spPr>
          <a:xfrm>
            <a:off x="5450812" y="546934"/>
            <a:ext cx="2523654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[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과제번호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품질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-#17, 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진행 상태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●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]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078608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9391B7-D981-E7B2-7C94-12C025EC81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>
            <a:extLst>
              <a:ext uri="{FF2B5EF4-FFF2-40B4-BE49-F238E27FC236}">
                <a16:creationId xmlns:a16="http://schemas.microsoft.com/office/drawing/2014/main" id="{661F400E-4943-934F-EB0A-55EF885B01D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7511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Malgun Gothic Semilight"/>
              </a:rPr>
              <a:t>팀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F311B27B-256C-46B3-8BEA-C60AE7343F12}"/>
              </a:ext>
            </a:extLst>
          </p:cNvPr>
          <p:cNvSpPr txBox="1">
            <a:spLocks/>
          </p:cNvSpPr>
          <p:nvPr/>
        </p:nvSpPr>
        <p:spPr>
          <a:xfrm>
            <a:off x="124960" y="588303"/>
            <a:ext cx="672566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Line Patrol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2.0 Regular" panose="020B0600000101010101" pitchFamily="50" charset="-127"/>
                <a:cs typeface="Malgun Gothic Semilight" panose="020B0502040204020203" pitchFamily="50" charset="-127"/>
              </a:rPr>
              <a:t>업무 효율화</a:t>
            </a:r>
          </a:p>
        </p:txBody>
      </p:sp>
      <p:graphicFrame>
        <p:nvGraphicFramePr>
          <p:cNvPr id="10" name="표 1">
            <a:extLst>
              <a:ext uri="{FF2B5EF4-FFF2-40B4-BE49-F238E27FC236}">
                <a16:creationId xmlns:a16="http://schemas.microsoft.com/office/drawing/2014/main" id="{7F1AD091-314A-4227-9908-40FF91FE8CA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76175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728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1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65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51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맑은 고딕"/>
                          <a:cs typeface="Malgun Gothic Semilight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맑은 고딕"/>
                        <a:ea typeface="맑은 고딕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Line Patrol </a:t>
                      </a:r>
                      <a:b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업무 효율화</a:t>
                      </a:r>
                      <a:endParaRPr lang="ko-KR" altLang="en-US" sz="900" b="0" i="0" u="none" strike="noStrike" baseline="0" err="1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공통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ko-KR" sz="900" b="0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0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51W</a:t>
                      </a:r>
                      <a:r>
                        <a:rPr lang="ko-KR" altLang="ko-KR" sz="900" b="0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 대시보드 구축 결과를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Cell QA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팀에 공유하였고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미수집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 항목에 대해서는 추가 검토하기로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.(12/4)</a:t>
                      </a:r>
                      <a:br>
                        <a:rPr lang="en-US" altLang="ko-KR" sz="900" b="0" kern="1200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endParaRPr lang="en-US" altLang="ko-KR" sz="900" b="0" i="0" u="none" strike="noStrike" kern="1200" baseline="0" noProof="0">
                        <a:solidFill>
                          <a:srgbClr val="1414FE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1. </a:t>
                      </a:r>
                      <a:r>
                        <a:rPr lang="ko-KR" altLang="en-US" sz="900" b="1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목적 </a:t>
                      </a:r>
                      <a:r>
                        <a:rPr lang="en-US" altLang="ko-KR" sz="900" b="1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Line Patrol </a:t>
                      </a:r>
                      <a:r>
                        <a:rPr lang="ko-KR" altLang="en-US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프로세스를 점검하고 불필요한 요소를 제거하여 업무 효율을 높이기 위함</a:t>
                      </a:r>
                      <a:r>
                        <a:rPr lang="en-US" altLang="ko-KR" sz="900" b="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kern="1200" baseline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현황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Line Patrol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 기반 데이터 추출 및 분석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(8/22)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분석 결과 연 평균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21,830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Line Patrol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진행되었으나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시스템에 등록하고 있지 않는 경우가 있어서 실제 건수는 더 많음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 항목 전체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3,511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 중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Parameter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2,936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건으로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84%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차지하고 있음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Parameter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항목을 모두 확인 결과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RMS/FDC/SPC 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이상의 시스템에서 모두 관리 되고 있음을 확인함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Cell QA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담당과 논의 진행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(9/1)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Audit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파트에서 실제 점검 중이지만 등록하지 않고 있는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Off-line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시트를 확인하고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OC Pilot, Mother Line,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각형에서 체크 시트에 있는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 항목이 시스템에서 수집되는지 확인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: 10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Cell QA,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공정제어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DX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공정검사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DX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팀과 논의를 통해 점검항목과 시스템 수집항목 비교 방법을 논의하였습니다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Cell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QA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Master CP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기반으로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Line Patrol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 항목을 업데이트 하고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RMS,SPC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항목과 맵핑을 진행하였습니다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190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개중 시스템 파라미터와 맵핑이 된 항목은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64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건으로 나머지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건은 추가적으로 확인을 진행하고 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점검항목과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SPC/RMS/IoT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등에 수집되는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파라미터명칭과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맵핑고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DAVINCI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시스템에서 실제 데이터를 조회하여</a:t>
                      </a:r>
                      <a:b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워크플로우를 만들었고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대응되지 않는 항목들을 맵핑 작업을 진행하고 있습니다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900" b="0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3) Pack QA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담당과 논의 진행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(9/5)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- Cell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과 마찬가지로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Line Patrol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을 하고 있으나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등록하지 않고 있는 건들이 다수 있으며 오프라인 관리 건수가 얼마나 되는지 확인 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4) </a:t>
                      </a:r>
                      <a:r>
                        <a:rPr lang="en-US" altLang="ko-KR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IATF16949 </a:t>
                      </a:r>
                      <a:r>
                        <a:rPr lang="ko-KR" altLang="en-US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규정에는 </a:t>
                      </a:r>
                      <a:r>
                        <a:rPr lang="en-US" altLang="ko-KR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Line Patrol</a:t>
                      </a:r>
                      <a:r>
                        <a:rPr lang="ko-KR" altLang="en-US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을 통해 점검 활동을 수행하라고 명시되어 있으며</a:t>
                      </a:r>
                      <a:r>
                        <a:rPr lang="en-US" altLang="ko-KR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점검 방법에 대해서는 명시되어 있지 않아</a:t>
                      </a:r>
                      <a:r>
                        <a:rPr lang="en-US" altLang="ko-KR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,</a:t>
                      </a:r>
                      <a:br>
                        <a:rPr lang="en-US" altLang="ko-KR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     </a:t>
                      </a:r>
                      <a:r>
                        <a:rPr lang="ko-KR" altLang="en-US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시스템을 통해 점검할 수 있는 항목들은 현장이 아닌 시스템으로 대체하여도 규정에 문제가 </a:t>
                      </a:r>
                      <a:r>
                        <a:rPr lang="ko-KR" altLang="en-US" sz="900" b="0" kern="1200" baseline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없을을</a:t>
                      </a:r>
                      <a:r>
                        <a:rPr lang="ko-KR" altLang="en-US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확인하였습니다</a:t>
                      </a:r>
                      <a:r>
                        <a:rPr lang="en-US" altLang="ko-KR" sz="900" b="0" kern="1200" baseline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5) DAVINCI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대시보드 구축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     - Pilot 4,5,6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 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Mother Line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기준으로하여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 점검 항목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– RMS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데이터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(CTP,PP),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SPC+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데이터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(CTQ)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를 조회하여 대시보드를 구축했습니다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 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구축 결과를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Cell QA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팀에 공유하였고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미수집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 항목에 대해서는 추가 검토하기로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Malgun Gothic Semilight"/>
                        </a:rPr>
                        <a:t>.(12/4)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‘25. 12</a:t>
                      </a:r>
                      <a:endParaRPr lang="ko-KR" altLang="en-US" baseline="0"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김재용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DD0F9F4D-78CB-4A53-B166-0872D1F929F6}"/>
              </a:ext>
            </a:extLst>
          </p:cNvPr>
          <p:cNvSpPr txBox="1">
            <a:spLocks/>
          </p:cNvSpPr>
          <p:nvPr/>
        </p:nvSpPr>
        <p:spPr>
          <a:xfrm>
            <a:off x="8101695" y="403273"/>
            <a:ext cx="99546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김재용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797B08C-3660-4539-AAD0-B610F525063E}"/>
              </a:ext>
            </a:extLst>
          </p:cNvPr>
          <p:cNvSpPr txBox="1"/>
          <p:nvPr/>
        </p:nvSpPr>
        <p:spPr>
          <a:xfrm>
            <a:off x="8101695" y="598660"/>
            <a:ext cx="173124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: 12/1</a:t>
            </a:r>
            <a:r>
              <a:rPr lang="en-US" altLang="ko-KR">
                <a:latin typeface="LG스마트체2.0 Regular"/>
                <a:ea typeface="LG스마트체2.0 Regular"/>
                <a:cs typeface="Malgun Gothic Semilight"/>
              </a:rPr>
              <a:t>6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13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2.0 Regular"/>
                <a:ea typeface="LG스마트체2.0 Regular"/>
                <a:cs typeface="Malgun Gothic Semilight"/>
              </a:rPr>
              <a:t> 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2.0 Regular"/>
              <a:ea typeface="LG스마트체2.0 Regular"/>
              <a:cs typeface="Malgun Gothic Semilight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8275AA4F-8CA9-10B8-4171-B30EDD07A073}"/>
              </a:ext>
            </a:extLst>
          </p:cNvPr>
          <p:cNvGraphicFramePr>
            <a:graphicFrameLocks noGrp="1"/>
          </p:cNvGraphicFramePr>
          <p:nvPr/>
        </p:nvGraphicFramePr>
        <p:xfrm>
          <a:off x="1989839" y="3478695"/>
          <a:ext cx="3976254" cy="1023992"/>
        </p:xfrm>
        <a:graphic>
          <a:graphicData uri="http://schemas.openxmlformats.org/drawingml/2006/table">
            <a:tbl>
              <a:tblPr/>
              <a:tblGrid>
                <a:gridCol w="662709">
                  <a:extLst>
                    <a:ext uri="{9D8B030D-6E8A-4147-A177-3AD203B41FA5}">
                      <a16:colId xmlns:a16="http://schemas.microsoft.com/office/drawing/2014/main" val="643525088"/>
                    </a:ext>
                  </a:extLst>
                </a:gridCol>
                <a:gridCol w="662709">
                  <a:extLst>
                    <a:ext uri="{9D8B030D-6E8A-4147-A177-3AD203B41FA5}">
                      <a16:colId xmlns:a16="http://schemas.microsoft.com/office/drawing/2014/main" val="2988370643"/>
                    </a:ext>
                  </a:extLst>
                </a:gridCol>
                <a:gridCol w="662709">
                  <a:extLst>
                    <a:ext uri="{9D8B030D-6E8A-4147-A177-3AD203B41FA5}">
                      <a16:colId xmlns:a16="http://schemas.microsoft.com/office/drawing/2014/main" val="1397931013"/>
                    </a:ext>
                  </a:extLst>
                </a:gridCol>
                <a:gridCol w="662709">
                  <a:extLst>
                    <a:ext uri="{9D8B030D-6E8A-4147-A177-3AD203B41FA5}">
                      <a16:colId xmlns:a16="http://schemas.microsoft.com/office/drawing/2014/main" val="861813856"/>
                    </a:ext>
                  </a:extLst>
                </a:gridCol>
                <a:gridCol w="662709">
                  <a:extLst>
                    <a:ext uri="{9D8B030D-6E8A-4147-A177-3AD203B41FA5}">
                      <a16:colId xmlns:a16="http://schemas.microsoft.com/office/drawing/2014/main" val="4156856565"/>
                    </a:ext>
                  </a:extLst>
                </a:gridCol>
                <a:gridCol w="662709">
                  <a:extLst>
                    <a:ext uri="{9D8B030D-6E8A-4147-A177-3AD203B41FA5}">
                      <a16:colId xmlns:a16="http://schemas.microsoft.com/office/drawing/2014/main" val="1120306944"/>
                    </a:ext>
                  </a:extLst>
                </a:gridCol>
              </a:tblGrid>
              <a:tr h="8897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CTQ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CTP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비표준PP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0398407"/>
                  </a:ext>
                </a:extLst>
              </a:tr>
              <a:tr h="24484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Audit </a:t>
                      </a:r>
                      <a:r>
                        <a:rPr lang="en-US" sz="8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점검</a:t>
                      </a:r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sz="8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vs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Parameter 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맵핑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29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35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64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0349785"/>
                  </a:ext>
                </a:extLst>
              </a:tr>
              <a:tr h="24484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NG(</a:t>
                      </a:r>
                      <a:r>
                        <a:rPr lang="en-US" sz="8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추가검토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sz="8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필요</a:t>
                      </a:r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29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120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3704888"/>
                  </a:ext>
                </a:extLst>
              </a:tr>
              <a:tr h="8897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RMS </a:t>
                      </a:r>
                      <a:r>
                        <a:rPr lang="en-US" sz="800" b="0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9858368"/>
                  </a:ext>
                </a:extLst>
              </a:tr>
              <a:tr h="889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전수검사기없음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0552011"/>
                  </a:ext>
                </a:extLst>
              </a:tr>
              <a:tr h="8897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Total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54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107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29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190</a:t>
                      </a:r>
                      <a:endParaRPr lang="ko-KR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03203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536940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3976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27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  <a:cs typeface="Malgun Gothic Semilight"/>
                        </a:rPr>
                        <a:t>금주 진행사항 (W4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  <a:cs typeface="Malgun Gothic Semilight"/>
                        </a:rPr>
                        <a:t>7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  <a:cs typeface="Malgun Gothic Semilight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j-ea"/>
                        <a:ea typeface="+mj-ea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704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+mj-ea"/>
                          <a:ea typeface="+mj-ea"/>
                          <a:cs typeface="Malgun Gothic Semilight" panose="020B0502040204020203" pitchFamily="50" charset="-127"/>
                        </a:rPr>
                        <a:t>F-Cost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+mj-ea"/>
                          <a:ea typeface="+mj-ea"/>
                          <a:cs typeface="Malgun Gothic Semilight" panose="020B0502040204020203" pitchFamily="50" charset="-127"/>
                        </a:rPr>
                        <a:t>집계 자동화</a:t>
                      </a:r>
                      <a:endParaRPr lang="en-US" altLang="ko-KR" sz="900" b="1">
                        <a:solidFill>
                          <a:prstClr val="black"/>
                        </a:solidFill>
                        <a:latin typeface="+mj-ea"/>
                        <a:ea typeface="+mj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+mj-ea"/>
                          <a:ea typeface="+mj-ea"/>
                          <a:cs typeface="Malgun Gothic Semilight" panose="020B0502040204020203" pitchFamily="50" charset="-127"/>
                        </a:rPr>
                        <a:t>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자동차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소형 전 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최상준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</a:t>
                      </a:r>
                      <a:endParaRPr lang="ko-KR">
                        <a:latin typeface="+mj-ea"/>
                        <a:ea typeface="+mj-ea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55358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■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F-Cost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집계 자동화 고도화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1414FE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(1/2)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1414FE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/>
        </p:nvGraphicFramePr>
        <p:xfrm>
          <a:off x="1650029" y="1134164"/>
          <a:ext cx="6988280" cy="53885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88280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9551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50W</a:t>
                      </a:r>
                      <a:r>
                        <a:rPr lang="ko-KR" altLang="en-US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). </a:t>
                      </a:r>
                      <a:r>
                        <a:rPr lang="en-US" altLang="ko-KR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EF-Cost </a:t>
                      </a:r>
                      <a:r>
                        <a:rPr lang="ko-KR" altLang="en-US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관리대장 고도화 운영 서버 </a:t>
                      </a:r>
                      <a:r>
                        <a:rPr lang="en-US" altLang="ko-KR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Open (12/9),</a:t>
                      </a:r>
                      <a:r>
                        <a:rPr lang="ko-KR" altLang="en-US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 완료 보고서 작성 및 보고 예정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7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29845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목적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 ESS EF-Cost(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 실패비용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시스템 자동 집계를 통해 데이터 정합성 확보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비용집계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L/T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단축 및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자동차.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EF-Cost 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 보상 비용 적절성 검토 로직을 통한 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EF-Cost</a:t>
                      </a: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개선하고자 합니다</a:t>
                      </a:r>
                      <a:r>
                        <a:rPr lang="en-US" altLang="ko-KR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8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진행 현황</a:t>
                      </a:r>
                      <a:endParaRPr lang="en-US" altLang="ko-KR" sz="900" b="1" i="0" u="none" strike="noStrike" baseline="0" noProof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- AI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솔루션 팀 비용 분석 연동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다빈치 최종 포팅 여부 및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QMS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실시간 데이터 연동 등 운영 방향 의사결정 지연에 따라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월 적용 예상</a:t>
                      </a:r>
                      <a:endParaRPr lang="en-US" altLang="ko-KR" sz="900" b="1" i="0" u="none" strike="noStrike" baseline="0" noProof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                                 (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QMS EF-Cost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관리대장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View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table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제공하여 실시간 데이터 제공 중이며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                                   AI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솔루션팀에서 레퍼런스 테이블 완료 시 수집 및 제공예정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BFEB6B75-6429-40BC-8EEA-DB69A038BE6A}"/>
              </a:ext>
            </a:extLst>
          </p:cNvPr>
          <p:cNvSpPr txBox="1">
            <a:spLocks/>
          </p:cNvSpPr>
          <p:nvPr/>
        </p:nvSpPr>
        <p:spPr>
          <a:xfrm>
            <a:off x="8669353" y="359758"/>
            <a:ext cx="101951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최상준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1D361E1-F460-41BE-9D3B-5634CA96312C}"/>
              </a:ext>
            </a:extLst>
          </p:cNvPr>
          <p:cNvSpPr txBox="1"/>
          <p:nvPr/>
        </p:nvSpPr>
        <p:spPr>
          <a:xfrm>
            <a:off x="7872467" y="572550"/>
            <a:ext cx="18145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lvl="0">
              <a:defRPr/>
            </a:pPr>
            <a:r>
              <a:rPr lang="ko-KR" altLang="en-US"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: 12/09 (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) 09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pic>
        <p:nvPicPr>
          <p:cNvPr id="6" name="그림 5" descr="텍스트, 스크린샷, 디스플레이, 도표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0EC4385-2322-4AD5-BE4D-AC1D25011F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37176" y="2848609"/>
            <a:ext cx="6035291" cy="33402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18789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C28092D-0EA2-48B5-8474-85865A7EBE76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3976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27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  <a:cs typeface="Malgun Gothic Semilight"/>
                        </a:rPr>
                        <a:t>금주 진행사항 (W39, 2/23~)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j-ea"/>
                        <a:ea typeface="+mj-ea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704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>
                          <a:solidFill>
                            <a:prstClr val="black"/>
                          </a:solidFill>
                          <a:latin typeface="+mj-ea"/>
                          <a:ea typeface="+mj-ea"/>
                          <a:cs typeface="Malgun Gothic Semilight"/>
                        </a:rPr>
                        <a:t>F-Cost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+mj-ea"/>
                          <a:ea typeface="+mj-ea"/>
                          <a:cs typeface="Malgun Gothic Semilight"/>
                        </a:rPr>
                        <a:t>집계 자동화</a:t>
                      </a:r>
                      <a:endParaRPr lang="en-US" altLang="ko-KR" sz="900" b="1">
                        <a:solidFill>
                          <a:prstClr val="black"/>
                        </a:solidFill>
                        <a:latin typeface="+mj-ea"/>
                        <a:ea typeface="+mj-ea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1">
                          <a:solidFill>
                            <a:prstClr val="black"/>
                          </a:solidFill>
                          <a:latin typeface="+mj-ea"/>
                          <a:ea typeface="+mj-ea"/>
                          <a:cs typeface="Malgun Gothic Semilight"/>
                        </a:rPr>
                        <a:t>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Malgun Gothic Semilight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자동차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소형 전 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최상준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</a:t>
                      </a:r>
                      <a:endParaRPr lang="ko-KR">
                        <a:latin typeface="+mj-ea"/>
                        <a:ea typeface="+mj-ea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8B0EE6AA-BFAD-4AA9-AA00-8EA687EBEB7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55358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■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F-Cost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집계 자동화 고도화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srgbClr val="1414FE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(2/2)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1414FE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" name="제목 1">
            <a:extLst>
              <a:ext uri="{FF2B5EF4-FFF2-40B4-BE49-F238E27FC236}">
                <a16:creationId xmlns:a16="http://schemas.microsoft.com/office/drawing/2014/main" id="{35320BB8-9D66-4CAC-B56B-08DC36221D1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BC720F3-0E8A-41D9-982C-F94400003C72}"/>
              </a:ext>
            </a:extLst>
          </p:cNvPr>
          <p:cNvSpPr txBox="1"/>
          <p:nvPr/>
        </p:nvSpPr>
        <p:spPr>
          <a:xfrm>
            <a:off x="7968646" y="572550"/>
            <a:ext cx="171842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9/30(화)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18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36B1A850-2A2B-4EF1-81C4-B31BD37698C0}"/>
              </a:ext>
            </a:extLst>
          </p:cNvPr>
          <p:cNvSpPr txBox="1">
            <a:spLocks/>
          </p:cNvSpPr>
          <p:nvPr/>
        </p:nvSpPr>
        <p:spPr>
          <a:xfrm>
            <a:off x="8669353" y="359758"/>
            <a:ext cx="101951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최상준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pic>
        <p:nvPicPr>
          <p:cNvPr id="5" name="그림 4" descr="텍스트, 스크린샷, 디스플레이, 소프트웨어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67D2C0F-7BA5-65D8-1754-8229B9187C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67774" y="1321787"/>
            <a:ext cx="7217435" cy="48182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474247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39765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27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  <a:cs typeface="Malgun Gothic Semilight"/>
                        </a:rPr>
                        <a:t>금주 진행사항 (</a:t>
                      </a:r>
                      <a:r>
                        <a:rPr lang="ko-KR" altLang="en-US" sz="900" b="1" i="0" u="none" strike="noStrike" baseline="0" err="1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  <a:cs typeface="Malgun Gothic Semilight"/>
                        </a:rPr>
                        <a:t>W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  <a:cs typeface="Malgun Gothic Semilight"/>
                        </a:rPr>
                        <a:t>50</a:t>
                      </a: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j-ea"/>
                          <a:ea typeface="+mj-ea"/>
                          <a:cs typeface="Malgun Gothic Semilight"/>
                        </a:rPr>
                        <a:t>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j-ea"/>
                        <a:ea typeface="+mj-ea"/>
                        <a:cs typeface="Malgun Gothic Semilight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704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>
                          <a:latin typeface="Arial" panose="020B0604020202020204" pitchFamily="34" charset="0"/>
                          <a:ea typeface="LG스마트체 Regular" panose="020B0600000101010101" pitchFamily="50" charset="-127"/>
                          <a:cs typeface="Arial" panose="020B0604020202020204" pitchFamily="34" charset="0"/>
                        </a:rPr>
                        <a:t>ESS </a:t>
                      </a:r>
                      <a:r>
                        <a:rPr lang="ko-KR" altLang="en-US" sz="900">
                          <a:latin typeface="Arial" panose="020B0604020202020204" pitchFamily="34" charset="0"/>
                          <a:ea typeface="LG스마트체 Regular" panose="020B0600000101010101" pitchFamily="50" charset="-127"/>
                          <a:cs typeface="Arial" panose="020B0604020202020204" pitchFamily="34" charset="0"/>
                        </a:rPr>
                        <a:t>데이터 분석 체계 재정립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Malgun Gothic Semilight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ESS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최상준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</a:t>
                      </a:r>
                      <a:endParaRPr lang="ko-KR">
                        <a:latin typeface="+mj-ea"/>
                        <a:ea typeface="+mj-ea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9168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■</a:t>
            </a:r>
            <a:r>
              <a:rPr lang="en-US" altLang="ko-KR" sz="1400">
                <a:latin typeface="Arial" panose="020B060402020202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 ESS </a:t>
            </a:r>
            <a:r>
              <a:rPr lang="ko-KR" altLang="en-US" sz="1400">
                <a:latin typeface="Arial" panose="020B060402020202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데이터 분석 체계 재정립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1414FE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482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품질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팀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BF916D-8A9E-4800-92E6-357BE08183D6}"/>
              </a:ext>
            </a:extLst>
          </p:cNvPr>
          <p:cNvGraphicFramePr>
            <a:graphicFrameLocks noGrp="1"/>
          </p:cNvGraphicFramePr>
          <p:nvPr/>
        </p:nvGraphicFramePr>
        <p:xfrm>
          <a:off x="1650029" y="1134164"/>
          <a:ext cx="6988280" cy="54313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88280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349551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금주(</a:t>
                      </a:r>
                      <a:r>
                        <a:rPr lang="en-US" altLang="ko-KR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W50</a:t>
                      </a:r>
                      <a:r>
                        <a:rPr lang="ko-KR" altLang="en-US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). </a:t>
                      </a:r>
                      <a:r>
                        <a:rPr lang="en-US" altLang="ko-KR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CDO KPI </a:t>
                      </a:r>
                      <a:r>
                        <a:rPr lang="ko-KR" altLang="en-US" sz="900" b="1" baseline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Malgun Gothic Semilight"/>
                        </a:rPr>
                        <a:t>반영을 위한 상세 목표 설정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586510"/>
                  </a:ext>
                </a:extLst>
              </a:tr>
              <a:tr h="207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900" b="1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4829845"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세부 실행과제 도출 및 과제별 리더</a:t>
                      </a:r>
                      <a:endParaRPr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①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ESS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설치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구성정보 현행화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②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ESS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고객정보 통합 관리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(ESS.CS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장성하 님</a:t>
                      </a:r>
                      <a:r>
                        <a:rPr lang="ko-KR" altLang="en-US" sz="900" b="1" i="0" u="none" strike="noStrike" baseline="3000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30000" noProof="0" err="1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미확정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③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ESS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운영 데이터 표준화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현황화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품질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DX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최상준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님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④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ESS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빅데이터 분석 플랫폼 연계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다빈치 김영선 님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  <a:t>진행 현황</a:t>
                      </a:r>
                      <a:endParaRPr lang="en-US" altLang="ko-KR" sz="900" b="1" i="0" u="none" strike="noStrike" baseline="0" noProof="0">
                        <a:solidFill>
                          <a:srgbClr val="00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CDO KPI : ESS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생산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운영 데이터 통합 분석 체계 구축</a:t>
                      </a:r>
                      <a:endParaRPr lang="en-US" altLang="ko-KR" sz="900" b="1" i="0" u="none" strike="noStrike" baseline="0" noProof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목표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: ESS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생산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운영 통합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분석 </a:t>
                      </a:r>
                      <a:r>
                        <a:rPr lang="ko-KR" altLang="en-US" sz="900" b="1" i="0" u="none" strike="noStrike" baseline="0" noProof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적용율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달성 </a:t>
                      </a:r>
                      <a:r>
                        <a:rPr lang="ko-KR" altLang="en-US" sz="900" b="1" i="0" u="none" strike="noStrike" baseline="3000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현수준 </a:t>
                      </a:r>
                      <a:r>
                        <a:rPr lang="en-US" altLang="ko-KR" sz="900" b="1" i="0" u="none" strike="noStrike" baseline="3000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0% → </a:t>
                      </a:r>
                      <a:r>
                        <a:rPr lang="ko-KR" altLang="en-US" sz="900" b="1" i="0" u="none" strike="noStrike" baseline="3000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달성 </a:t>
                      </a:r>
                      <a:r>
                        <a:rPr lang="en-US" altLang="ko-KR" sz="900" b="1" i="0" u="none" strike="noStrike" baseline="3000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80%(505</a:t>
                      </a:r>
                      <a:r>
                        <a:rPr lang="ko-KR" altLang="en-US" sz="900" b="1" i="0" u="none" strike="noStrike" baseline="3000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개 </a:t>
                      </a:r>
                      <a:r>
                        <a:rPr lang="en-US" altLang="ko-KR" sz="900" b="1" i="0" u="none" strike="noStrike" baseline="3000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Stie </a:t>
                      </a:r>
                      <a:r>
                        <a:rPr lang="ko-KR" altLang="en-US" sz="900" b="1" i="0" u="none" strike="noStrike" baseline="3000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적용</a:t>
                      </a:r>
                      <a:r>
                        <a:rPr lang="en-US" altLang="ko-KR" sz="900" b="1" i="0" u="none" strike="noStrike" baseline="3000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실행계획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: ESS Pack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추적성 확보</a:t>
                      </a:r>
                      <a:b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          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- PSCM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내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Pack, Rack, LINK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결합 이력 등록 관리 및 과거 설치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결합 이력 확보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          운영 로그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표준화</a:t>
                      </a:r>
                      <a:b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          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각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별 운영 로그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Data 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표준안 및  적용 방안 수립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           DAVINCI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내 표준 운영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수집 및 분석</a:t>
                      </a:r>
                      <a:b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                          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현 수집 운영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표준 템플릿 전환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API </a:t>
                      </a:r>
                      <a:r>
                        <a:rPr lang="ko-KR" altLang="en-US" sz="900" b="1" i="0" u="none" strike="noStrike" baseline="0" noProof="0">
                          <a:solidFill>
                            <a:srgbClr val="0000FF"/>
                          </a:solidFill>
                          <a:latin typeface="+mn-ea"/>
                          <a:ea typeface="+mn-ea"/>
                        </a:rPr>
                        <a:t>개발 및 다빈치 연계 분석 환경 구축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11/25 (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화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ESS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설치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구성정보 현행화 진행 리뷰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(w/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장성하 님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7938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국내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수 현행화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철거되었거나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비가동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중인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제외 후 현재 운영중인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는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589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 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보고 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832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와 차이 확인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현재 운영중인 모든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의 구성정보 확보 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ECS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에 업로드할 포맷으로 정리 중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모든 국내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ESS Site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구성정보 현행화 및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ECS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업데이트 예정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(~ 12/12)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. CNS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와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ECS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일괄등록 프로그램 개발 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약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793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북미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Site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수 현행화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. Global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배터리 공급 사이트는 현재 구성정보 확보가 어려움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  └ 각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CS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담당자 선에서 과거 자료 취합하여 구성정보 확인 및 공통 포맷으로 정리 예정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구체적 완료 일정 논의 중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  └ 구성정보 확인 가능한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수와 현지 직접 확인이 필요한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현지 확인 시에도 제약조건 있음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  └ 고객이 직접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ECS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에 접속하여 구성정보 입력하는 방안 논의 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(’26 ~)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[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재발방지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현재 신규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 SAT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승인 후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CS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이관 시 구성정보 입력하지 않은 경우 이관 불가 방침 운영 중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baseline="0" noProof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11/26 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ESS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설치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구성정보 현행화 진행 리뷰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(w/ 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이성근님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김병남 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7938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ESS </a:t>
                      </a:r>
                      <a:r>
                        <a:rPr lang="ko-KR" altLang="en-US" sz="900" b="1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운영 데이터 표준화</a:t>
                      </a:r>
                      <a:endParaRPr lang="ko-KR" altLang="en-US" sz="900" b="0" i="0" u="none" strike="noStrike" baseline="0" noProof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로그 표준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Rule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배포 및 개발 적용 중 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지원하는 전장부품의 유무에 따라 수집 데이터 차이는 발생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         . </a:t>
                      </a:r>
                      <a:r>
                        <a:rPr kumimoji="0"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현재 규정된 주기는 없으나</a:t>
                      </a:r>
                      <a:r>
                        <a:rPr kumimoji="0"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, 2</a:t>
                      </a:r>
                      <a:r>
                        <a:rPr kumimoji="0"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년 정도 주기로 진행 중</a:t>
                      </a:r>
                      <a:r>
                        <a:rPr kumimoji="0"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(2</a:t>
                      </a:r>
                      <a:r>
                        <a:rPr kumimoji="0" lang="ko-KR" altLang="en-US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회 진행</a:t>
                      </a:r>
                      <a:r>
                        <a:rPr kumimoji="0" lang="en-US" altLang="ko-KR" sz="900" b="0" i="0" u="none" strike="noStrike" baseline="0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793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ESS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운영 데이터 현행화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  <a:p>
                      <a:pPr marL="17145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   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표준화 기준으로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Legacy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로그에 대한 대응을 위한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API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개발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(Python, C#)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을 차년도에 수행 예정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  <a:p>
                      <a:pPr marL="17145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   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운영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Data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중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Pack S/N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Pack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기동 시 마다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회 추출하고 있으나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, 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일 로그 압축파일에는 포함 되어 있지 않음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  <a:p>
                      <a:pPr marL="17145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BSM SW update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를 통해 압출파일에 해당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Log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를 추가하는 방법 등 향후 방향성 등에서는 대면회의를 통해 논의하기로 함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</a:txBody>
                  <a:tcPr marT="36000" marB="360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</a:tbl>
          </a:graphicData>
        </a:graphic>
      </p:graphicFrame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BFEB6B75-6429-40BC-8EEA-DB69A038BE6A}"/>
              </a:ext>
            </a:extLst>
          </p:cNvPr>
          <p:cNvSpPr txBox="1">
            <a:spLocks/>
          </p:cNvSpPr>
          <p:nvPr/>
        </p:nvSpPr>
        <p:spPr>
          <a:xfrm>
            <a:off x="8669353" y="359758"/>
            <a:ext cx="101951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최상준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1D361E1-F460-41BE-9D3B-5634CA96312C}"/>
              </a:ext>
            </a:extLst>
          </p:cNvPr>
          <p:cNvSpPr txBox="1"/>
          <p:nvPr/>
        </p:nvSpPr>
        <p:spPr>
          <a:xfrm>
            <a:off x="7872467" y="572550"/>
            <a:ext cx="18145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: 12/09 (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맑은 고딕"/>
                <a:cs typeface="Malgun Gothic Semilight"/>
              </a:rPr>
              <a:t>) 09</a:t>
            </a:r>
            <a:r>
              <a:rPr lang="ko-KR" altLang="en-US"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195164670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2419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 금주 주요 내용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(1/1)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58A5318-3A14-4BE4-8B2F-A25C754B69E2}"/>
              </a:ext>
            </a:extLst>
          </p:cNvPr>
          <p:cNvSpPr txBox="1"/>
          <p:nvPr/>
        </p:nvSpPr>
        <p:spPr>
          <a:xfrm>
            <a:off x="122721" y="639875"/>
            <a:ext cx="9783279" cy="608610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>
              <a:lnSpc>
                <a:spcPct val="120000"/>
              </a:lnSpc>
              <a:spcBef>
                <a:spcPts val="600"/>
              </a:spcBef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</a:t>
            </a:r>
            <a:r>
              <a:rPr kumimoji="1" lang="en-US" altLang="ko-KR" sz="1100" b="1" kern="0" dirty="0">
                <a:latin typeface="Arial Narrow"/>
                <a:ea typeface="LG스마트체 Regular"/>
                <a:cs typeface="Malgun Gothic Semilight"/>
              </a:rPr>
              <a:t>. DAVINCI </a:t>
            </a:r>
            <a:r>
              <a:rPr kumimoji="1" lang="ko-KR" altLang="en-US" sz="1100" b="1" kern="0" dirty="0">
                <a:latin typeface="Arial Narrow"/>
                <a:ea typeface="LG스마트체 Regular"/>
                <a:cs typeface="Malgun Gothic Semilight"/>
              </a:rPr>
              <a:t>카탈로그 및 리니지 고도화</a:t>
            </a:r>
            <a:r>
              <a:rPr kumimoji="1" lang="en-US" altLang="ko-KR" sz="1100" b="1" kern="0" dirty="0">
                <a:latin typeface="Arial Narrow"/>
                <a:ea typeface="LG스마트체 Regular"/>
                <a:cs typeface="Malgun Gothic Semilight"/>
              </a:rPr>
              <a:t>(~25</a:t>
            </a:r>
            <a:r>
              <a:rPr kumimoji="1" lang="ko-KR" altLang="en-US" sz="1100" b="1" kern="0" dirty="0">
                <a:latin typeface="Arial Narrow"/>
                <a:ea typeface="LG스마트체 Regular"/>
                <a:cs typeface="Malgun Gothic Semilight"/>
              </a:rPr>
              <a:t>년 </a:t>
            </a:r>
            <a:r>
              <a:rPr kumimoji="1" lang="en-US" altLang="ko-KR" sz="1100" b="1" kern="0" dirty="0">
                <a:latin typeface="Arial Narrow"/>
                <a:ea typeface="LG스마트체 Regular"/>
                <a:cs typeface="Malgun Gothic Semilight"/>
              </a:rPr>
              <a:t>12</a:t>
            </a:r>
            <a:r>
              <a:rPr kumimoji="1" lang="ko-KR" altLang="en-US" sz="1100" b="1" kern="0" dirty="0">
                <a:latin typeface="Arial Narrow"/>
                <a:ea typeface="LG스마트체 Regular"/>
                <a:cs typeface="Malgun Gothic Semilight"/>
              </a:rPr>
              <a:t>월</a:t>
            </a:r>
            <a:r>
              <a:rPr kumimoji="1" lang="en-US" altLang="ko-KR" sz="1100" b="1" kern="0" dirty="0">
                <a:latin typeface="Arial Narrow"/>
                <a:ea typeface="LG스마트체 Regular"/>
                <a:cs typeface="Malgun Gothic Semilight"/>
              </a:rPr>
              <a:t>) </a:t>
            </a:r>
            <a:br>
              <a:rPr lang="en-US" altLang="ko-KR" sz="1100" b="1" kern="0" dirty="0"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   </a:t>
            </a:r>
            <a:r>
              <a:rPr kumimoji="1" lang="en-US" altLang="ko-KR" sz="11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-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DAVINCI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의 데이터는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S0, S1, S2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로 구분하여 내부 관리하고 있습니다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.( S0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는 원천에서 수집된 원형 데이터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, S1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는 마트로 </a:t>
            </a:r>
            <a:r>
              <a:rPr kumimoji="1" lang="ko-KR" altLang="en-US" sz="1100" kern="0" dirty="0" err="1">
                <a:latin typeface="Arial Narrow"/>
                <a:ea typeface="LG스마트체 Regular"/>
                <a:cs typeface="Malgun Gothic Semilight"/>
              </a:rPr>
              <a:t>올리기전의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 중간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/</a:t>
            </a:r>
            <a:r>
              <a:rPr kumimoji="1" lang="ko-KR" altLang="en-US" sz="1100" kern="0" dirty="0" err="1">
                <a:latin typeface="Arial Narrow"/>
                <a:ea typeface="LG스마트체 Regular"/>
                <a:cs typeface="Malgun Gothic Semilight"/>
              </a:rPr>
              <a:t>전처리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 데이터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, S2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는 마트 데이터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)</a:t>
            </a:r>
            <a:br>
              <a:rPr lang="en-US" altLang="ko-KR" sz="1100" kern="0" dirty="0"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      S0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 영역의 데이터 카탈로그 구성을 위해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LLM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을 도입하여 진행하고 있으며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, 1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차 개발 완료 후 테스트 결과를 토대로 관련 로직 및 프롬프트를 개선하고 있습니다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.</a:t>
            </a:r>
            <a:b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kern="0" dirty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    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카탈로그 생성된 수준이 적정한지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1" lang="ko-KR" altLang="en-US" sz="1100" kern="0" dirty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할루시네이션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여부가 있는지 등을 </a:t>
            </a:r>
            <a:r>
              <a:rPr kumimoji="1" lang="ko-KR" altLang="en-US" sz="1100" kern="0" dirty="0" err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점검중입니다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</a:t>
            </a:r>
            <a:br>
              <a:rPr lang="en-US" altLang="ko-KR" sz="1100" kern="0" dirty="0"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    - 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다빈치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Q&amp;A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의 효율적 대응을 </a:t>
            </a:r>
            <a:r>
              <a:rPr kumimoji="1" lang="ko-KR" altLang="en-US" sz="1100" kern="0" dirty="0" err="1">
                <a:latin typeface="Arial Narrow"/>
                <a:ea typeface="LG스마트체 Regular"/>
                <a:cs typeface="Malgun Gothic Semilight"/>
              </a:rPr>
              <a:t>위핸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LLM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을 적용하여 </a:t>
            </a:r>
            <a:r>
              <a:rPr kumimoji="1" lang="ko-KR" altLang="en-US" sz="1100" kern="0" dirty="0" err="1">
                <a:latin typeface="Arial Narrow"/>
                <a:ea typeface="LG스마트체 Regular"/>
                <a:cs typeface="Malgun Gothic Semilight"/>
              </a:rPr>
              <a:t>챗봇을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 구현하고 있습니다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. 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현재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24~25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년 데이터를 대상으로 자료 학습을 위한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OCR 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및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DB 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작업을 진행하였습니다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.</a:t>
            </a:r>
            <a:b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      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자료 학습을 위한 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RAG 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구성이 완료되었고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1" lang="ko-KR" altLang="en-US" sz="1100" kern="0" dirty="0" err="1">
                <a:latin typeface="Arial Narrow"/>
                <a:ea typeface="LG스마트체 Regular"/>
                <a:cs typeface="Malgun Gothic Semilight"/>
              </a:rPr>
              <a:t>챗봇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 답변 형식 및 퀄리티 관련하여 테스트 및 </a:t>
            </a:r>
            <a:r>
              <a:rPr kumimoji="1" lang="ko-KR" altLang="en-US" sz="1100" kern="0" dirty="0" err="1">
                <a:latin typeface="Arial Narrow"/>
                <a:ea typeface="LG스마트체 Regular"/>
                <a:cs typeface="Malgun Gothic Semilight"/>
              </a:rPr>
              <a:t>프롬프토</a:t>
            </a:r>
            <a:r>
              <a:rPr kumimoji="1" lang="ko-KR" altLang="en-US" sz="1100" kern="0" dirty="0">
                <a:latin typeface="Arial Narrow"/>
                <a:ea typeface="LG스마트체 Regular"/>
                <a:cs typeface="Malgun Gothic Semilight"/>
              </a:rPr>
              <a:t> 개선하고 있습니다</a:t>
            </a:r>
            <a:r>
              <a:rPr kumimoji="1" lang="en-US" altLang="ko-KR" sz="1100" kern="0" dirty="0">
                <a:latin typeface="Arial Narrow"/>
                <a:ea typeface="LG스마트체 Regular"/>
                <a:cs typeface="Malgun Gothic Semilight"/>
              </a:rPr>
              <a:t>. </a:t>
            </a:r>
            <a:endParaRPr lang="en-US" altLang="ko-KR" sz="1100" dirty="0">
              <a:latin typeface="+mn-ea"/>
              <a:ea typeface="LG Smart_H Regular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100" b="1" dirty="0">
                <a:latin typeface="+mn-ea"/>
                <a:ea typeface="LG Smart_H Regular"/>
                <a:cs typeface="Malgun Gothic Semilight"/>
              </a:rPr>
              <a:t>2. ’26</a:t>
            </a:r>
            <a:r>
              <a:rPr lang="ko-KR" altLang="en-US" sz="1100" b="1" dirty="0">
                <a:latin typeface="+mn-ea"/>
                <a:ea typeface="LG Smart_H Regular"/>
                <a:cs typeface="Malgun Gothic Semilight"/>
              </a:rPr>
              <a:t>년 </a:t>
            </a:r>
            <a:r>
              <a:rPr lang="en-US" altLang="ko-KR" sz="1100" b="1" dirty="0">
                <a:latin typeface="+mn-ea"/>
                <a:ea typeface="LG Smart_H Regular"/>
                <a:cs typeface="Malgun Gothic Semilight"/>
              </a:rPr>
              <a:t>DAVINCI AX </a:t>
            </a:r>
            <a:r>
              <a:rPr lang="ko-KR" altLang="en-US" sz="1100" b="1" dirty="0">
                <a:latin typeface="+mn-ea"/>
                <a:ea typeface="LG Smart_H Regular"/>
                <a:cs typeface="Malgun Gothic Semilight"/>
              </a:rPr>
              <a:t>과제 </a:t>
            </a:r>
            <a:r>
              <a:rPr lang="en-US" altLang="ko-KR" sz="1100" b="1" dirty="0">
                <a:latin typeface="+mn-ea"/>
                <a:ea typeface="LG Smart_H Regular"/>
                <a:cs typeface="Malgun Gothic Semilight"/>
              </a:rPr>
              <a:t> </a:t>
            </a:r>
            <a:br>
              <a:rPr lang="en-US" altLang="ko-KR" sz="1100" b="1" dirty="0">
                <a:latin typeface="+mn-ea"/>
                <a:ea typeface="LG Smart_H Regular"/>
                <a:cs typeface="Malgun Gothic Semilight"/>
              </a:rPr>
            </a:b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  -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전주 그룹장님께 </a:t>
            </a:r>
            <a:r>
              <a:rPr lang="ko-KR" altLang="en-US" sz="1100" dirty="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팔란티어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강점을 참고한 다빈치 개선 방안에 대해 </a:t>
            </a:r>
            <a:r>
              <a:rPr lang="ko-KR" altLang="en-US" sz="1100" dirty="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보고드렸습니다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. 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다빈치 온톨로지 데이터 구현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, Spotfire Copilot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구현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,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워크플로우 자동 요약</a:t>
            </a:r>
            <a:b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</a:b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    </a:t>
            </a:r>
            <a:r>
              <a:rPr lang="ko-KR" altLang="en-US" sz="1100" dirty="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수율분석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효율화 과제 수행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, Automation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요약 과제 수행의 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5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개 주요 과제에 대해 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’26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년 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1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월부터 본격적으로 진행할 수 있도록 빠르게 대응하도록 하겠습니다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3.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다빈치 인프라 </a:t>
            </a:r>
            <a:r>
              <a:rPr lang="ko-KR" altLang="en-US" sz="1100" dirty="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랜섬웨어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후속작업 수행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</a:t>
            </a:r>
            <a:b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</a:b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  - MI/MIL </a:t>
            </a:r>
            <a:r>
              <a:rPr lang="ko-KR" altLang="en-US" sz="1100" dirty="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랜섬웨어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이후 기존 법인에 대해서도 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EDR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설치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, ID/PW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변경 등의 작업을 진행해야 합니다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. </a:t>
            </a:r>
            <a:r>
              <a:rPr lang="ko-KR" altLang="en-US" sz="1100" dirty="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가이드된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완료 기한은 아직 없지만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,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년말 법인 별 부동일정에 맞춰 </a:t>
            </a:r>
            <a:b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</a:b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   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몇 개 법인에 대해서도 최대한 진행하는 것으로 계획을 세우고 있습니다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4. </a:t>
            </a:r>
            <a:r>
              <a:rPr kumimoji="1" lang="ko-KR" altLang="en-US" sz="1100" b="1" kern="0" noProof="1">
                <a:latin typeface="Arial Narrow"/>
                <a:ea typeface="LG스마트체 Regular"/>
                <a:cs typeface="Malgun Gothic Semilight"/>
              </a:rPr>
              <a:t>통합스케줄러 기능 구축</a:t>
            </a:r>
            <a:br>
              <a:rPr lang="en-US" altLang="ko-KR" sz="1100" kern="0" noProof="1"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kern="0" noProof="1">
                <a:latin typeface="Arial Narrow"/>
                <a:ea typeface="LG스마트체 Regular"/>
                <a:cs typeface="Malgun Gothic Semilight"/>
              </a:rPr>
              <a:t>    - </a:t>
            </a:r>
            <a:r>
              <a:rPr kumimoji="1" lang="ko-KR" altLang="en-US" sz="1100" kern="0" noProof="1">
                <a:latin typeface="Arial Narrow"/>
                <a:ea typeface="LG스마트체 Regular"/>
                <a:cs typeface="Malgun Gothic Semilight"/>
              </a:rPr>
              <a:t>다빈치에서 제공하는 여러 분석 </a:t>
            </a:r>
            <a:r>
              <a:rPr kumimoji="1" lang="en-US" altLang="ko-KR" sz="1100" kern="0" noProof="1">
                <a:latin typeface="Arial Narrow"/>
                <a:ea typeface="LG스마트체 Regular"/>
                <a:cs typeface="Malgun Gothic Semilight"/>
              </a:rPr>
              <a:t>Tool(Spotfire/MLDL/Data Prep </a:t>
            </a:r>
            <a:r>
              <a:rPr kumimoji="1" lang="ko-KR" altLang="en-US" sz="1100" kern="0" noProof="1">
                <a:latin typeface="Arial Narrow"/>
                <a:ea typeface="LG스마트체 Regular"/>
                <a:cs typeface="Malgun Gothic Semilight"/>
              </a:rPr>
              <a:t>등</a:t>
            </a:r>
            <a:r>
              <a:rPr kumimoji="1" lang="en-US" altLang="ko-KR" sz="1100" kern="0" noProof="1"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1" lang="ko-KR" altLang="en-US" sz="1100" kern="0" noProof="1">
                <a:latin typeface="Arial Narrow"/>
                <a:ea typeface="LG스마트체 Regular"/>
                <a:cs typeface="Malgun Gothic Semilight"/>
              </a:rPr>
              <a:t>에 대해 연계하여 스케줄링 생성 및 자동화할 수 있는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통합스케줄러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기능을 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12/12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에 오픈하였습니다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 </a:t>
            </a:r>
            <a:b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kern="0" noProof="1">
                <a:latin typeface="Arial Narrow"/>
                <a:ea typeface="LG스마트체 Regular"/>
                <a:cs typeface="Malgun Gothic Semilight"/>
              </a:rPr>
              <a:t>      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OC, WA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주요 사용 인원 대상으로 교육 완료하였으며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데이터통합분석팀 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8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명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조립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FDC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팀 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9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명 등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,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교육받은 인원들이 잘 활용할 수 있도록 지속 지원하겠습니다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</a:t>
            </a:r>
            <a:b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   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교육중에 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VoE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받은 내용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(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스케쥴러에서 생성된 워크플로우 공유 기능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파라미터 연계 작업 등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과 자체 도출된 개선 과제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(Case Trigger, Agent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탑재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등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에 대해서 </a:t>
            </a:r>
            <a:b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</a:b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     ’26</a:t>
            </a:r>
            <a:r>
              <a:rPr kumimoji="1" lang="ko-KR" altLang="en-US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년 빠르게 진행될 수 있도록 검토 및 대응하겠습니다</a:t>
            </a:r>
            <a:r>
              <a:rPr kumimoji="1" lang="en-US" altLang="ko-KR" sz="1100" kern="0" noProof="1">
                <a:solidFill>
                  <a:srgbClr val="0000FF"/>
                </a:solidFill>
                <a:latin typeface="Arial Narrow"/>
                <a:ea typeface="LG스마트체 Regular"/>
                <a:cs typeface="Malgun Gothic Semilight"/>
              </a:rPr>
              <a:t>.  </a:t>
            </a:r>
            <a:endParaRPr lang="en-US" altLang="ko-KR" sz="1100" kern="0" noProof="1">
              <a:latin typeface="Arial Narrow"/>
              <a:ea typeface="LG스마트체 Regular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dirty="0">
                <a:latin typeface="LG스마트체 Regular"/>
                <a:ea typeface="LG스마트체 Regular"/>
              </a:rPr>
              <a:t>5. ESWA </a:t>
            </a:r>
            <a:r>
              <a:rPr kumimoji="1" lang="ko-KR" altLang="en-US" sz="1100" b="1" dirty="0">
                <a:latin typeface="LG스마트체 Regular"/>
                <a:ea typeface="LG스마트체 Regular"/>
              </a:rPr>
              <a:t>추적 데이터 구조 개선</a:t>
            </a:r>
            <a:r>
              <a:rPr kumimoji="1" lang="en-US" altLang="ko-KR" sz="1100" b="1" dirty="0">
                <a:latin typeface="LG스마트체 Regular"/>
                <a:ea typeface="LG스마트체 Regular"/>
              </a:rPr>
              <a:t>  </a:t>
            </a:r>
            <a:br>
              <a:rPr lang="en-US" altLang="ko-KR" sz="1100" b="1" dirty="0">
                <a:latin typeface="LG스마트체 Regular"/>
                <a:ea typeface="LG스마트체 Regular"/>
              </a:rPr>
            </a:br>
            <a:r>
              <a:rPr kumimoji="1" lang="en-US" altLang="ko-KR" sz="1100" dirty="0">
                <a:latin typeface="LG스마트체 Regular"/>
                <a:ea typeface="LG스마트체 Regular"/>
              </a:rPr>
              <a:t>   - </a:t>
            </a:r>
            <a:r>
              <a:rPr kumimoji="1" lang="ko-KR" altLang="en-US" sz="1100" dirty="0">
                <a:latin typeface="LG스마트체 Regular"/>
                <a:ea typeface="LG스마트체 Regular"/>
              </a:rPr>
              <a:t>추적데이터에 대해 다차원 모델 및 데이터 배치 프로그램 개선 작업을 </a:t>
            </a:r>
            <a:r>
              <a:rPr kumimoji="1" lang="en-US" altLang="ko-KR" sz="1100" dirty="0">
                <a:latin typeface="LG스마트체 Regular"/>
                <a:ea typeface="LG스마트체 Regular"/>
              </a:rPr>
              <a:t>12</a:t>
            </a:r>
            <a:r>
              <a:rPr kumimoji="1" lang="ko-KR" altLang="en-US" sz="1100" dirty="0">
                <a:latin typeface="LG스마트체 Regular"/>
                <a:ea typeface="LG스마트체 Regular"/>
              </a:rPr>
              <a:t>월 </a:t>
            </a:r>
            <a:r>
              <a:rPr kumimoji="1" lang="en-US" altLang="ko-KR" sz="1100" dirty="0">
                <a:latin typeface="LG스마트체 Regular"/>
                <a:ea typeface="LG스마트체 Regular"/>
              </a:rPr>
              <a:t>9</a:t>
            </a:r>
            <a:r>
              <a:rPr kumimoji="1" lang="ko-KR" altLang="en-US" sz="1100" dirty="0">
                <a:latin typeface="LG스마트체 Regular"/>
                <a:ea typeface="LG스마트체 Regular"/>
              </a:rPr>
              <a:t>일에 적용하였습니다</a:t>
            </a:r>
            <a: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. </a:t>
            </a:r>
            <a:r>
              <a:rPr kumimoji="1" lang="ko-KR" altLang="en-US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오픈 이후 특이 사항은 없으며</a:t>
            </a:r>
            <a: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, </a:t>
            </a:r>
            <a:r>
              <a:rPr kumimoji="1" lang="ko-KR" altLang="en-US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추적 데이터 조회 성능이 평균 </a:t>
            </a:r>
            <a: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60%</a:t>
            </a:r>
            <a:b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</a:br>
            <a: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     </a:t>
            </a:r>
            <a:r>
              <a:rPr kumimoji="1" lang="ko-KR" altLang="en-US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이상 개선되었습니다</a:t>
            </a:r>
            <a: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. 26</a:t>
            </a:r>
            <a:r>
              <a:rPr kumimoji="1" lang="ko-KR" altLang="en-US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년에 기존 법인에 확산할 계획을 </a:t>
            </a:r>
            <a:r>
              <a:rPr kumimoji="1" lang="ko-KR" altLang="en-US" sz="1100" dirty="0" err="1">
                <a:solidFill>
                  <a:srgbClr val="0000FF"/>
                </a:solidFill>
                <a:latin typeface="LG스마트체 Regular"/>
                <a:ea typeface="LG스마트체 Regular"/>
              </a:rPr>
              <a:t>수립중으로</a:t>
            </a:r>
            <a:r>
              <a:rPr kumimoji="1" lang="ko-KR" altLang="en-US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 </a:t>
            </a:r>
            <a: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’26</a:t>
            </a:r>
            <a:r>
              <a:rPr kumimoji="1" lang="ko-KR" altLang="en-US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년 </a:t>
            </a:r>
            <a: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1</a:t>
            </a:r>
            <a:r>
              <a:rPr kumimoji="1" lang="ko-KR" altLang="en-US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월부터 전개하도록 하겠습니다</a:t>
            </a:r>
            <a:r>
              <a:rPr kumimoji="1" lang="en-US" altLang="ko-KR" sz="1100" dirty="0">
                <a:solidFill>
                  <a:srgbClr val="0000FF"/>
                </a:solidFill>
                <a:latin typeface="LG스마트체 Regular"/>
                <a:ea typeface="LG스마트체 Regular"/>
              </a:rPr>
              <a:t>.  </a:t>
            </a: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1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6. </a:t>
            </a:r>
            <a:r>
              <a:rPr kumimoji="1" lang="ko-KR" altLang="en-US" sz="1100" b="1" kern="0" noProof="1">
                <a:latin typeface="LG스마트체 Regular"/>
                <a:ea typeface="LG스마트체 Regular"/>
                <a:cs typeface="Malgun Gothic Semilight"/>
              </a:rPr>
              <a:t>해외 </a:t>
            </a:r>
            <a:r>
              <a:rPr kumimoji="1" lang="en-US" altLang="ko-KR" sz="1100" b="1" kern="0" noProof="1">
                <a:latin typeface="LG스마트체 Regular"/>
                <a:ea typeface="LG스마트체 Regular"/>
                <a:cs typeface="Malgun Gothic Semilight"/>
              </a:rPr>
              <a:t>3</a:t>
            </a:r>
            <a:r>
              <a:rPr kumimoji="1" lang="ko-KR" altLang="en-US" sz="1100" b="1" kern="0" noProof="1">
                <a:latin typeface="LG스마트체 Regular"/>
                <a:ea typeface="LG스마트체 Regular"/>
                <a:cs typeface="Malgun Gothic Semilight"/>
              </a:rPr>
              <a:t>개 법인</a:t>
            </a:r>
            <a:r>
              <a:rPr kumimoji="1" lang="en-US" altLang="ko-KR" sz="1100" b="1" kern="0" noProof="1">
                <a:latin typeface="LG스마트체 Regular"/>
                <a:ea typeface="LG스마트체 Regular"/>
                <a:cs typeface="Malgun Gothic Semilight"/>
              </a:rPr>
              <a:t>(GM1, GM2, HM)</a:t>
            </a:r>
            <a:r>
              <a:rPr kumimoji="1" lang="ko-KR" altLang="en-US" sz="1100" b="1" kern="0" noProof="1">
                <a:latin typeface="LG스마트체 Regular"/>
                <a:ea typeface="LG스마트체 Regular"/>
                <a:cs typeface="Malgun Gothic Semilight"/>
              </a:rPr>
              <a:t> </a:t>
            </a:r>
            <a:r>
              <a:rPr kumimoji="1" lang="en-US" altLang="ko-KR" sz="1100" b="1" kern="0" noProof="1">
                <a:latin typeface="LG스마트체 Regular"/>
                <a:ea typeface="LG스마트체 Regular"/>
                <a:cs typeface="Malgun Gothic Semilight"/>
              </a:rPr>
              <a:t>NERP</a:t>
            </a:r>
            <a:r>
              <a:rPr kumimoji="1" lang="ko-KR" altLang="en-US" sz="1100" b="1" kern="0" noProof="1">
                <a:latin typeface="LG스마트체 Regular"/>
                <a:ea typeface="LG스마트체 Regular"/>
                <a:cs typeface="Malgun Gothic Semilight"/>
              </a:rPr>
              <a:t> 대응</a:t>
            </a:r>
            <a:br>
              <a:rPr lang="en-US" altLang="ko-KR" sz="1100" b="1" kern="0" noProof="1">
                <a:latin typeface="LG스마트체 Regular"/>
                <a:ea typeface="LG스마트체 Regular"/>
                <a:cs typeface="Malgun Gothic Semilight"/>
              </a:rPr>
            </a:b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   - FDC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데이터 마이그레이션은 스토리지 저장 공간 부족으로 운영 환경에서 바로 마이그레이션을 진행해야 합니다</a:t>
            </a: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.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마이그레이션 작업은 약 </a:t>
            </a: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2</a:t>
            </a:r>
            <a:r>
              <a:rPr kumimoji="1" lang="ko-KR" altLang="en-US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주가 소요되는 작업으로 </a:t>
            </a:r>
            <a:b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</a:b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     Cut-Over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기간전인 금주부터 운영환경에서 마이그레이션 작업을 착수할 예정입니다</a:t>
            </a: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.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운영 환경에 영향이 없도록 매핑 정보를 </a:t>
            </a: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Spotfire UI</a:t>
            </a:r>
            <a:r>
              <a:rPr kumimoji="1" lang="ko-KR" altLang="en-US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에 적용하여 데이터 </a:t>
            </a:r>
            <a:b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</a:b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     </a:t>
            </a:r>
            <a:r>
              <a:rPr kumimoji="1" lang="ko-KR" altLang="en-US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조회</a:t>
            </a: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/</a:t>
            </a:r>
            <a:r>
              <a:rPr kumimoji="1" lang="ko-KR" altLang="en-US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출력에는 문제가 없도록 대응 예정입니다</a:t>
            </a:r>
            <a:r>
              <a:rPr kumimoji="1" lang="en-US" altLang="ko-KR" sz="1100" kern="0" noProof="1">
                <a:solidFill>
                  <a:srgbClr val="0000FF"/>
                </a:solidFill>
                <a:latin typeface="LG스마트체 Regular"/>
                <a:ea typeface="LG스마트체 Regular"/>
                <a:cs typeface="Malgun Gothic Semilight"/>
              </a:rPr>
              <a:t>.  </a:t>
            </a:r>
            <a:endParaRPr kumimoji="1" lang="en-US" altLang="ko-KR" sz="1100" b="0" i="0" u="none" strike="noStrike" kern="0" cap="none" spc="0" normalizeH="0" baseline="0" noProof="1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5CCB571D-9CD9-47CB-B7A7-F2BE2BD10A8F}"/>
              </a:ext>
            </a:extLst>
          </p:cNvPr>
          <p:cNvSpPr txBox="1">
            <a:spLocks/>
          </p:cNvSpPr>
          <p:nvPr/>
        </p:nvSpPr>
        <p:spPr>
          <a:xfrm>
            <a:off x="9011598" y="378241"/>
            <a:ext cx="769441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이정원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ED7B753-5D56-4783-B264-D9D47AEA3B24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: 12/16(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화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</a:t>
            </a:r>
            <a:r>
              <a:rPr lang="en-US" altLang="ko-KR" sz="1000" dirty="0">
                <a:latin typeface="Arial Narrow"/>
                <a:ea typeface="LG스마트체 Regular"/>
                <a:cs typeface="Malgun Gothic Semilight"/>
              </a:rPr>
              <a:t>14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26564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표 1">
            <a:extLst>
              <a:ext uri="{FF2B5EF4-FFF2-40B4-BE49-F238E27FC236}">
                <a16:creationId xmlns:a16="http://schemas.microsoft.com/office/drawing/2014/main" id="{8A38A87F-4443-4478-82E8-3E765B92E1F5}"/>
              </a:ext>
            </a:extLst>
          </p:cNvPr>
          <p:cNvGraphicFramePr>
            <a:graphicFrameLocks noGrp="1"/>
          </p:cNvGraphicFramePr>
          <p:nvPr/>
        </p:nvGraphicFramePr>
        <p:xfrm>
          <a:off x="133049" y="828174"/>
          <a:ext cx="9519744" cy="5746282"/>
        </p:xfrm>
        <a:graphic>
          <a:graphicData uri="http://schemas.openxmlformats.org/drawingml/2006/table">
            <a:tbl>
              <a:tblPr/>
              <a:tblGrid>
                <a:gridCol w="561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5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54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08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64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신공장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DAVINCI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구축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PJT</a:t>
                      </a: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ESHD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/ESST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/ESMI2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/ESMIL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/ESHG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/ESAZ</a:t>
                      </a:r>
                    </a:p>
                  </a:txBody>
                  <a:tcPr marL="14400" marR="14400" marT="72000" marB="144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 신공장 다빈치 구축 특이사항 없습니다.</a:t>
                      </a:r>
                      <a:endParaRPr kumimoji="0" lang="en-US" altLang="ko-KR" sz="10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baseline="0" noProof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lvl="0" indent="0" algn="l" defTabSz="914400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kumimoji="0" lang="ko-KR" altLang="en-US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9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88900" indent="-88900">
                        <a:lnSpc>
                          <a:spcPct val="100000"/>
                        </a:lnSpc>
                      </a:pPr>
                      <a:r>
                        <a:rPr kumimoji="0" lang="en-US" altLang="ko-KR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1) ESHD, ESMI2, ESMIL</a:t>
                      </a:r>
                      <a:r>
                        <a:rPr kumimoji="0" lang="ko-KR" altLang="en-US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구축 현황</a:t>
                      </a:r>
                      <a:endParaRPr kumimoji="0" lang="en-US" altLang="ko-KR" sz="8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88900" indent="-88900">
                        <a:lnSpc>
                          <a:spcPct val="100000"/>
                        </a:lnSpc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- 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모든 서비스 오픈 완료하였습니다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 </a:t>
                      </a:r>
                    </a:p>
                    <a:p>
                      <a:pPr marL="88900" indent="-88900">
                        <a:lnSpc>
                          <a:spcPct val="100000"/>
                        </a:lnSpc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endParaRPr lang="en-US" altLang="ko-KR" sz="8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2) ESST </a:t>
                      </a:r>
                      <a:r>
                        <a:rPr kumimoji="0" lang="ko-KR" altLang="en-US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구축 </a:t>
                      </a:r>
                      <a:r>
                        <a:rPr lang="ko-KR" altLang="en-US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현황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  </a:t>
                      </a:r>
                      <a:r>
                        <a:rPr 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  -. Spotfire 라이센스 사용자수 200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명</a:t>
                      </a:r>
                      <a:r>
                        <a:rPr 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분석가</a:t>
                      </a:r>
                      <a:r>
                        <a:rPr 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150 +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뷰어</a:t>
                      </a:r>
                      <a:r>
                        <a:rPr 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50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명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으로</a:t>
                      </a:r>
                      <a:r>
                        <a:rPr 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ESST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법인에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제안하여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계약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함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(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연간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5.9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억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     -. ESST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현지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오픈은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9/30 Target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으로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기능개발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샘플지연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Issue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미발생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항목들은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10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추가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오픈하고자함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-. Spotfire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운영안 작성하여 법인 공유회 진행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(9/12)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-. 1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차 오픈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(9/30)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대상 서비스 테스트 완료 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(11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건 조치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), ORC (Open Redness Check)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 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(9/24)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  -.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오픈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(9/30)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완료 및 오픈 점검 테스트 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(15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건 중 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15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건 조치 완료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  -. 2차 오픈 완료 (10/29), 단위분석 및 BP Work Flow는 MI/MIL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선 대응 후 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개발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완료하여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12/3 오픈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입니다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  <a:endParaRPr kumimoji="0" lang="en-US" altLang="ko-KR" sz="8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8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en-US" altLang="ko-KR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3) ESHG </a:t>
                      </a:r>
                      <a:r>
                        <a:rPr lang="ko-KR" altLang="en-US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구축</a:t>
                      </a:r>
                      <a:r>
                        <a:rPr lang="en-US" altLang="ko-KR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현황</a:t>
                      </a:r>
                      <a:endParaRPr kumimoji="0" lang="en-US" altLang="ko-KR" sz="8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-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인프라 구축 완료(5/22) 하였으며, </a:t>
                      </a: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GSI 구성 원천 시스템  및 조립 공정 관련 테이블(891본) 및 전극/활성화(660본) 수집 완료하였습니다.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- 8/11(월) 조립 관련 서비스 39종 오픈 진행하였으며, 전극/활성화 및 추적/롤맵 서비스까지 총 46종 최총 8/25(월) 오픈으로 계획 일정대로 진행중입니다.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- ESHG 법인 다빈치 사용자 대상 8/25(월) 오픈하였습니다. 오픈 후 사용자 문의대응 및 로그 기반 에러 점검 진행중이며, BP 102종은 10월 중 오픈 예정입니다.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- 9/17~10/1 기간동안 원격으로 현지 근무시간에 맞춰 야간 교육 완료하였습니다.(총 136명(9차수), 시험: 76.97/100점, 설문: 4.45/5점)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- 샘플생산 재개(10/13~)에 따른 신규 데이터 발생 모니터링 및 법인 다빈치 사용 문의응대 진행하겠습니다.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800" b="0" i="0" u="none" strike="noStrike" kern="1200" cap="none" spc="0" normalizeH="0" baseline="0" noProof="1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4) ESAZ </a:t>
                      </a:r>
                      <a:r>
                        <a:rPr kumimoji="0" lang="ko-KR" altLang="en-US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구축</a:t>
                      </a:r>
                      <a:r>
                        <a:rPr kumimoji="0" lang="en-US" altLang="ko-KR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1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현황</a:t>
                      </a:r>
                      <a:endParaRPr kumimoji="0" lang="en-US" altLang="ko-KR" sz="8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품질</a:t>
                      </a:r>
                      <a:r>
                        <a:rPr kumimoji="0" lang="en-US" altLang="ko-KR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DX </a:t>
                      </a:r>
                      <a:r>
                        <a:rPr kumimoji="0"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응용 개발 비용 통합 투자심의 </a:t>
                      </a:r>
                      <a:r>
                        <a:rPr lang="ko-KR" altLang="en-US" sz="800" b="0" i="0" u="none" strike="noStrike" kern="1200" cap="none" spc="0" normalizeH="0" baseline="0" noProof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완료하였습니다. 내년 2월부터 인프라 셋업 예정입니다.</a:t>
                      </a:r>
                      <a:endParaRPr lang="en-US" altLang="ko-KR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25.10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황덕현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지원경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이재왕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곽병욱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S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제목 1">
            <a:extLst>
              <a:ext uri="{FF2B5EF4-FFF2-40B4-BE49-F238E27FC236}">
                <a16:creationId xmlns:a16="http://schemas.microsoft.com/office/drawing/2014/main" id="{DF3912C3-2160-4F52-8D31-7D94A26A4F1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BD4ECF6-3496-4CDC-BBC5-57E6B6F4654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09191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+mj-ea"/>
                <a:ea typeface="+mj-ea"/>
              </a:rPr>
              <a:t>■ 신공장 </a:t>
            </a:r>
            <a:r>
              <a:rPr lang="en-US" altLang="ko-KR" sz="1400" b="1">
                <a:latin typeface="+mj-ea"/>
                <a:ea typeface="+mj-ea"/>
              </a:rPr>
              <a:t>DAVINCI </a:t>
            </a:r>
            <a:r>
              <a:rPr lang="ko-KR" altLang="en-US" sz="1400" b="1">
                <a:latin typeface="+mj-ea"/>
                <a:ea typeface="+mj-ea"/>
              </a:rPr>
              <a:t>구축 </a:t>
            </a:r>
            <a:r>
              <a:rPr lang="en-US" altLang="ko-KR" sz="1400" b="1">
                <a:latin typeface="+mj-ea"/>
                <a:ea typeface="+mj-ea"/>
              </a:rPr>
              <a:t>PJT</a:t>
            </a:r>
            <a:endParaRPr lang="ko-KR" altLang="en-US" sz="1400" b="1">
              <a:latin typeface="+mj-ea"/>
              <a:ea typeface="+mj-ea"/>
            </a:endParaRP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BE4C27CD-44CC-44E7-9F73-43C133C6C464}"/>
              </a:ext>
            </a:extLst>
          </p:cNvPr>
          <p:cNvSpPr txBox="1">
            <a:spLocks/>
          </p:cNvSpPr>
          <p:nvPr/>
        </p:nvSpPr>
        <p:spPr>
          <a:xfrm>
            <a:off x="8799995" y="404687"/>
            <a:ext cx="852798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이재왕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S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0373BB9-D390-4047-A064-8F4A4B80B416}"/>
              </a:ext>
            </a:extLst>
          </p:cNvPr>
          <p:cNvSpPr txBox="1"/>
          <p:nvPr/>
        </p:nvSpPr>
        <p:spPr>
          <a:xfrm>
            <a:off x="7833018" y="558575"/>
            <a:ext cx="1912049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12/16 (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화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783536D-8A92-4427-A86C-9C7AFC4D8221}"/>
              </a:ext>
            </a:extLst>
          </p:cNvPr>
          <p:cNvSpPr txBox="1"/>
          <p:nvPr/>
        </p:nvSpPr>
        <p:spPr>
          <a:xfrm>
            <a:off x="6529389" y="1254344"/>
            <a:ext cx="1875463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lang="ko-KR" altLang="en-US" sz="800">
                <a:solidFill>
                  <a:prstClr val="black"/>
                </a:solidFill>
                <a:latin typeface="LG스마트체 Regular"/>
              </a:rPr>
              <a:t>●</a:t>
            </a:r>
            <a:r>
              <a:rPr lang="ko-KR" altLang="en-US" sz="800">
                <a:solidFill>
                  <a:prstClr val="black"/>
                </a:solidFill>
              </a:rPr>
              <a:t> </a:t>
            </a:r>
            <a:r>
              <a:rPr lang="en-US" altLang="ko-KR" sz="800">
                <a:solidFill>
                  <a:prstClr val="black"/>
                </a:solidFill>
              </a:rPr>
              <a:t>:</a:t>
            </a:r>
            <a:r>
              <a:rPr lang="ko-KR" altLang="en-US" sz="800">
                <a:solidFill>
                  <a:prstClr val="black"/>
                </a:solidFill>
              </a:rPr>
              <a:t> 완료</a:t>
            </a:r>
            <a:r>
              <a:rPr lang="en-US" altLang="ko-KR" sz="800">
                <a:solidFill>
                  <a:prstClr val="black"/>
                </a:solidFill>
              </a:rPr>
              <a:t>, </a:t>
            </a:r>
            <a:r>
              <a:rPr lang="ko-KR" altLang="en-US" sz="800">
                <a:solidFill>
                  <a:prstClr val="black"/>
                </a:solidFill>
              </a:rPr>
              <a:t>◑ </a:t>
            </a:r>
            <a:r>
              <a:rPr lang="en-US" altLang="ko-KR" sz="800">
                <a:solidFill>
                  <a:prstClr val="black"/>
                </a:solidFill>
              </a:rPr>
              <a:t>: </a:t>
            </a:r>
            <a:r>
              <a:rPr lang="ko-KR" altLang="en-US" sz="800">
                <a:solidFill>
                  <a:prstClr val="black"/>
                </a:solidFill>
              </a:rPr>
              <a:t>진행중</a:t>
            </a:r>
            <a:r>
              <a:rPr lang="en-US" altLang="ko-KR" sz="800">
                <a:solidFill>
                  <a:prstClr val="black"/>
                </a:solidFill>
              </a:rPr>
              <a:t>, </a:t>
            </a:r>
            <a:r>
              <a:rPr lang="ko-KR" sz="800">
                <a:solidFill>
                  <a:prstClr val="black"/>
                </a:solidFill>
                <a:latin typeface="LG스마트체 Regular"/>
              </a:rPr>
              <a:t>○</a:t>
            </a:r>
            <a:r>
              <a:rPr lang="ko-KR" altLang="en-US" sz="800">
                <a:solidFill>
                  <a:prstClr val="black"/>
                </a:solidFill>
              </a:rPr>
              <a:t> 진행예정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B456A2E-4087-4A4C-AC2B-DB8E3A2E85A6}"/>
              </a:ext>
            </a:extLst>
          </p:cNvPr>
          <p:cNvSpPr txBox="1"/>
          <p:nvPr/>
        </p:nvSpPr>
        <p:spPr>
          <a:xfrm>
            <a:off x="1331035" y="1218203"/>
            <a:ext cx="2228889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LG스마트체 Regular"/>
              </a:rPr>
              <a:t>□</a:t>
            </a:r>
            <a:r>
              <a:rPr kumimoji="0" lang="ko-KR" altLang="en-US" sz="9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 </a:t>
            </a:r>
            <a:r>
              <a:rPr kumimoji="0" lang="ko-KR" altLang="en-US" sz="90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신공장</a:t>
            </a:r>
            <a:r>
              <a:rPr kumimoji="0" lang="ko-KR" altLang="en-US" sz="9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 </a:t>
            </a:r>
            <a:r>
              <a:rPr kumimoji="0" lang="en-US" altLang="ko-KR" sz="9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Site</a:t>
            </a:r>
            <a:r>
              <a:rPr kumimoji="0" lang="ko-KR" altLang="en-US" sz="9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별 주요 구축 일정 및 현황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79B09EB-D2F4-4A63-9F00-F730F7B668CB}"/>
              </a:ext>
            </a:extLst>
          </p:cNvPr>
          <p:cNvSpPr txBox="1"/>
          <p:nvPr/>
        </p:nvSpPr>
        <p:spPr>
          <a:xfrm>
            <a:off x="5712519" y="558575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36C09AB-4AA8-4AB4-BFD8-8CA1EB9140F3}"/>
              </a:ext>
            </a:extLst>
          </p:cNvPr>
          <p:cNvGraphicFramePr>
            <a:graphicFrameLocks noGrp="1"/>
          </p:cNvGraphicFramePr>
          <p:nvPr/>
        </p:nvGraphicFramePr>
        <p:xfrm>
          <a:off x="1417708" y="1449035"/>
          <a:ext cx="6891396" cy="21043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4392">
                  <a:extLst>
                    <a:ext uri="{9D8B030D-6E8A-4147-A177-3AD203B41FA5}">
                      <a16:colId xmlns:a16="http://schemas.microsoft.com/office/drawing/2014/main" val="2207267172"/>
                    </a:ext>
                  </a:extLst>
                </a:gridCol>
                <a:gridCol w="399663">
                  <a:extLst>
                    <a:ext uri="{9D8B030D-6E8A-4147-A177-3AD203B41FA5}">
                      <a16:colId xmlns:a16="http://schemas.microsoft.com/office/drawing/2014/main" val="3047256802"/>
                    </a:ext>
                  </a:extLst>
                </a:gridCol>
                <a:gridCol w="625873">
                  <a:extLst>
                    <a:ext uri="{9D8B030D-6E8A-4147-A177-3AD203B41FA5}">
                      <a16:colId xmlns:a16="http://schemas.microsoft.com/office/drawing/2014/main" val="3878085559"/>
                    </a:ext>
                  </a:extLst>
                </a:gridCol>
                <a:gridCol w="953578">
                  <a:extLst>
                    <a:ext uri="{9D8B030D-6E8A-4147-A177-3AD203B41FA5}">
                      <a16:colId xmlns:a16="http://schemas.microsoft.com/office/drawing/2014/main" val="2980148352"/>
                    </a:ext>
                  </a:extLst>
                </a:gridCol>
                <a:gridCol w="953578">
                  <a:extLst>
                    <a:ext uri="{9D8B030D-6E8A-4147-A177-3AD203B41FA5}">
                      <a16:colId xmlns:a16="http://schemas.microsoft.com/office/drawing/2014/main" val="3876165532"/>
                    </a:ext>
                  </a:extLst>
                </a:gridCol>
                <a:gridCol w="953578">
                  <a:extLst>
                    <a:ext uri="{9D8B030D-6E8A-4147-A177-3AD203B41FA5}">
                      <a16:colId xmlns:a16="http://schemas.microsoft.com/office/drawing/2014/main" val="1707128841"/>
                    </a:ext>
                  </a:extLst>
                </a:gridCol>
                <a:gridCol w="953578">
                  <a:extLst>
                    <a:ext uri="{9D8B030D-6E8A-4147-A177-3AD203B41FA5}">
                      <a16:colId xmlns:a16="http://schemas.microsoft.com/office/drawing/2014/main" val="3448533262"/>
                    </a:ext>
                  </a:extLst>
                </a:gridCol>
                <a:gridCol w="953578">
                  <a:extLst>
                    <a:ext uri="{9D8B030D-6E8A-4147-A177-3AD203B41FA5}">
                      <a16:colId xmlns:a16="http://schemas.microsoft.com/office/drawing/2014/main" val="3362400843"/>
                    </a:ext>
                  </a:extLst>
                </a:gridCol>
                <a:gridCol w="953578">
                  <a:extLst>
                    <a:ext uri="{9D8B030D-6E8A-4147-A177-3AD203B41FA5}">
                      <a16:colId xmlns:a16="http://schemas.microsoft.com/office/drawing/2014/main" val="871099978"/>
                    </a:ext>
                  </a:extLst>
                </a:gridCol>
              </a:tblGrid>
              <a:tr h="149470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구분</a:t>
                      </a:r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ESHD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 2</a:t>
                      </a:r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동</a:t>
                      </a:r>
                      <a:endParaRPr 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ESMIL</a:t>
                      </a:r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ESST</a:t>
                      </a:r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ESHG</a:t>
                      </a:r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ESAZ</a:t>
                      </a:r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770686"/>
                  </a:ext>
                </a:extLst>
              </a:tr>
              <a:tr h="168154">
                <a:tc rowSpan="2"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투자 심의</a:t>
                      </a:r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rtl="0" fontAlgn="ctr"/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인프라</a:t>
                      </a:r>
                      <a:endParaRPr lang="en-US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(’24/06/17)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en-US" altLang="ko-KR" sz="7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’24/09/06)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(’24/06/11)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(’24/11/29)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700">
                          <a:solidFill>
                            <a:prstClr val="black"/>
                          </a:solidFill>
                          <a:latin typeface="LG스마트체 Regular"/>
                        </a:rPr>
                        <a:t>●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(’25.05)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2364870"/>
                  </a:ext>
                </a:extLst>
              </a:tr>
              <a:tr h="168154">
                <a:tc gridSpan="2"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응용</a:t>
                      </a:r>
                      <a:endParaRPr lang="en-US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(’24/06/17)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(’24/12/23)</a:t>
                      </a:r>
                      <a:endParaRPr lang="en-US" altLang="ko-KR" sz="700" b="0" i="0"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(’24/11/28)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(’24/06/11)</a:t>
                      </a:r>
                      <a:endParaRPr lang="en-US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(’24/12/23)</a:t>
                      </a:r>
                      <a:endParaRPr lang="en-US" sz="700" b="0" i="0"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 Smart_H Regular"/>
                        </a:rPr>
                        <a:t>●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(’25.10)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5996758"/>
                  </a:ext>
                </a:extLst>
              </a:tr>
              <a:tr h="168154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인프라 구축</a:t>
                      </a:r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l" rtl="0" fontAlgn="ctr"/>
                      <a:endParaRPr lang="en-US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('24.11.20)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(’25.01.08)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(’25.08.15)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(’25.05.31)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(’26.02 </a:t>
                      </a: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예정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390431"/>
                  </a:ext>
                </a:extLst>
              </a:tr>
              <a:tr h="168154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시스템 오픈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('24.12.17)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(’25.02</a:t>
                      </a: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.04)</a:t>
                      </a:r>
                      <a:endParaRPr lang="en-US" altLang="ko-KR" sz="70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(’25.04</a:t>
                      </a: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.17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70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가오픈</a:t>
                      </a: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’24.03 /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현지오픈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’25.09)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+mn-ea"/>
                        </a:rPr>
                        <a:t>◑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(’25.08.25)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(’26.05</a:t>
                      </a: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예정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7861927"/>
                  </a:ext>
                </a:extLst>
              </a:tr>
              <a:tr h="168154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응용 구축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서비스 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(~’25.04.30)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en-US" altLang="ko-KR" sz="70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불량분석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●(~25.8.)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서비스 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●(~’25.08)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en-US" altLang="ko-KR" sz="700" u="none" strike="noStrike" err="1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불량분석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●</a:t>
                      </a:r>
                      <a:r>
                        <a:rPr 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(~’25.07.20)</a:t>
                      </a:r>
                      <a:endParaRPr lang="en-US" altLang="ko-KR" sz="700" u="none" strike="noStrike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서비스 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●(~’25.08)</a:t>
                      </a:r>
                    </a:p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/</a:t>
                      </a:r>
                      <a:r>
                        <a:rPr lang="ko-KR" alt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불량분석</a:t>
                      </a:r>
                      <a:r>
                        <a:rPr 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(~25.08)</a:t>
                      </a:r>
                      <a:endParaRPr lang="en-US"/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차 </a:t>
                      </a:r>
                      <a:r>
                        <a:rPr lang="ko-KR" alt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● 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(~’25. 09.30)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차 </a:t>
                      </a:r>
                      <a:r>
                        <a:rPr lang="ko-KR" alt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●</a:t>
                      </a:r>
                      <a:r>
                        <a:rPr lang="ko-KR" altLang="en-US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  <a:cs typeface="+mn-cs"/>
                        </a:rPr>
                        <a:t>(~’25. 10.29)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◑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(~’25.09.30)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○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(~’26.06.30)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3188708"/>
                  </a:ext>
                </a:extLst>
              </a:tr>
              <a:tr h="168154">
                <a:tc rowSpan="4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lnSpc>
                          <a:spcPct val="100000"/>
                        </a:lnSpc>
                      </a:pPr>
                      <a:r>
                        <a:rPr lang="ko-KR" altLang="en-US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데이터 수집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데이터 수집</a:t>
                      </a:r>
                      <a:endParaRPr lang="en-US" altLang="ko-KR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100%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gradFill>
                      <a:gsLst>
                        <a:gs pos="0">
                          <a:schemeClr val="bg1"/>
                        </a:gs>
                        <a:gs pos="0">
                          <a:schemeClr val="accent1">
                            <a:lumMod val="20000"/>
                            <a:lumOff val="80000"/>
                          </a:schemeClr>
                        </a:gs>
                        <a:gs pos="100000">
                          <a:schemeClr val="accent1">
                            <a:lumMod val="20000"/>
                            <a:lumOff val="80000"/>
                          </a:schemeClr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4346639"/>
                  </a:ext>
                </a:extLst>
              </a:tr>
              <a:tr h="168154">
                <a:tc v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데이터 서비스</a:t>
                      </a:r>
                      <a:endParaRPr lang="ko-KR" altLang="en-US"/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데이터 서비스</a:t>
                      </a:r>
                      <a:endParaRPr lang="en-US" altLang="ko-KR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100%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gradFill flip="none" rotWithShape="1">
                      <a:gsLst>
                        <a:gs pos="100000">
                          <a:schemeClr val="bg1"/>
                        </a:gs>
                        <a:gs pos="0">
                          <a:schemeClr val="accent1">
                            <a:lumMod val="20000"/>
                            <a:lumOff val="80000"/>
                          </a:schemeClr>
                        </a:gs>
                        <a:gs pos="99000">
                          <a:schemeClr val="accent1">
                            <a:lumMod val="20000"/>
                            <a:lumOff val="80000"/>
                          </a:schemeClr>
                        </a:gs>
                      </a:gsLst>
                      <a:lin ang="0" scaled="1"/>
                      <a:tileRect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gradFill>
                      <a:gsLst>
                        <a:gs pos="0">
                          <a:schemeClr val="bg1"/>
                        </a:gs>
                        <a:gs pos="0">
                          <a:schemeClr val="accent1">
                            <a:lumMod val="20000"/>
                            <a:lumOff val="80000"/>
                          </a:schemeClr>
                        </a:gs>
                        <a:gs pos="0">
                          <a:schemeClr val="accent1">
                            <a:lumMod val="20000"/>
                            <a:lumOff val="80000"/>
                          </a:schemeClr>
                        </a:gs>
                        <a:gs pos="100000">
                          <a:srgbClr val="E7EEF6"/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8486545"/>
                  </a:ext>
                </a:extLst>
              </a:tr>
              <a:tr h="168154">
                <a:tc v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Traceability</a:t>
                      </a:r>
                      <a:endParaRPr lang="ko-KR" altLang="en-US"/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Traceability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100%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gradFill>
                      <a:gsLst>
                        <a:gs pos="0">
                          <a:srgbClr val="EEF3F9"/>
                        </a:gs>
                        <a:gs pos="0">
                          <a:srgbClr val="DCE6F2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950235"/>
                  </a:ext>
                </a:extLst>
              </a:tr>
              <a:tr h="168154">
                <a:tc v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불량분석</a:t>
                      </a:r>
                      <a:endParaRPr lang="ko-KR" altLang="en-US"/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불량분석</a:t>
                      </a:r>
                      <a:endParaRPr lang="en-US" altLang="ko-KR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</a:rPr>
                        <a:t>100%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100%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gradFill>
                      <a:gsLst>
                        <a:gs pos="0">
                          <a:schemeClr val="accent1">
                            <a:lumMod val="20000"/>
                            <a:lumOff val="80000"/>
                          </a:schemeClr>
                        </a:gs>
                        <a:gs pos="100000">
                          <a:schemeClr val="accent1">
                            <a:lumMod val="20000"/>
                            <a:lumOff val="80000"/>
                          </a:schemeClr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lvl="0" algn="r">
                        <a:buNone/>
                      </a:pPr>
                      <a:r>
                        <a:rPr lang="en-US" altLang="ko-KR" sz="7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ko-KR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gradFill>
                      <a:gsLst>
                        <a:gs pos="0">
                          <a:schemeClr val="bg1"/>
                        </a:gs>
                        <a:gs pos="0">
                          <a:schemeClr val="accent1">
                            <a:lumMod val="20000"/>
                            <a:lumOff val="80000"/>
                          </a:schemeClr>
                        </a:gs>
                        <a:gs pos="100000">
                          <a:schemeClr val="accent1">
                            <a:lumMod val="20000"/>
                            <a:lumOff val="80000"/>
                          </a:schemeClr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100%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맑은 고딕"/>
                          <a:cs typeface="+mn-cs"/>
                        </a:rPr>
                        <a:t>0%</a:t>
                      </a:r>
                      <a:endParaRPr lang="ko-KR" altLang="en-US" sz="700" b="0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6159534"/>
                  </a:ext>
                </a:extLst>
              </a:tr>
              <a:tr h="168154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현지 교육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(’25/03/18 ~25/04/12)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맑은 고딕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en-US" alt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●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(’25/06/28 ~25/07/18)</a:t>
                      </a:r>
                      <a:endParaRPr lang="en-US" alt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○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미정</a:t>
                      </a:r>
                      <a:r>
                        <a:rPr lang="en-US" altLang="ko-KR" sz="70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)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●</a:t>
                      </a:r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</a:t>
                      </a:r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25/9/17~'25/10/1</a:t>
                      </a: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)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○</a:t>
                      </a:r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</a:t>
                      </a:r>
                      <a:r>
                        <a:rPr lang="en-US" altLang="ko-KR" sz="7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26.5</a:t>
                      </a: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9457611"/>
                  </a:ext>
                </a:extLst>
              </a:tr>
              <a:tr h="168154">
                <a:tc gridSpan="3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비고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맑은 고딕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 kern="120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6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국내 작업완료 / 온라인교육완료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ct val="100000"/>
                        </a:lnSpc>
                      </a:pPr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온라인교육 완료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ct val="100000"/>
                        </a:lnSpc>
                      </a:pP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5210964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3DFAAD91-13C8-4D16-A68C-508AE87B0E1C}"/>
              </a:ext>
            </a:extLst>
          </p:cNvPr>
          <p:cNvSpPr txBox="1"/>
          <p:nvPr/>
        </p:nvSpPr>
        <p:spPr>
          <a:xfrm>
            <a:off x="3475068" y="3528374"/>
            <a:ext cx="4881910" cy="18466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r"/>
            <a:r>
              <a:rPr lang="en-US" altLang="ko-KR" sz="600">
                <a:solidFill>
                  <a:srgbClr val="217A21"/>
                </a:solidFill>
              </a:rPr>
              <a:t>※ ESST </a:t>
            </a:r>
            <a:r>
              <a:rPr lang="ko-KR" altLang="en-US" sz="600">
                <a:solidFill>
                  <a:srgbClr val="217A21"/>
                </a:solidFill>
              </a:rPr>
              <a:t>의 응용 구축 </a:t>
            </a:r>
            <a:r>
              <a:rPr lang="ko-KR" altLang="en-US" sz="600" err="1">
                <a:solidFill>
                  <a:srgbClr val="217A21"/>
                </a:solidFill>
              </a:rPr>
              <a:t>진척률은</a:t>
            </a:r>
            <a:r>
              <a:rPr lang="ko-KR" altLang="en-US" sz="600">
                <a:solidFill>
                  <a:srgbClr val="217A21"/>
                </a:solidFill>
              </a:rPr>
              <a:t> </a:t>
            </a:r>
            <a:r>
              <a:rPr lang="en-US" altLang="ko-KR" sz="600">
                <a:solidFill>
                  <a:srgbClr val="217A21"/>
                </a:solidFill>
              </a:rPr>
              <a:t>1/2</a:t>
            </a:r>
            <a:r>
              <a:rPr lang="ko-KR" altLang="en-US" sz="600">
                <a:solidFill>
                  <a:srgbClr val="217A21"/>
                </a:solidFill>
              </a:rPr>
              <a:t>차 통합 </a:t>
            </a:r>
            <a:r>
              <a:rPr lang="ko-KR" altLang="en-US" sz="600" err="1">
                <a:solidFill>
                  <a:srgbClr val="217A21"/>
                </a:solidFill>
              </a:rPr>
              <a:t>진척률임</a:t>
            </a:r>
            <a:endParaRPr lang="ko-KR" altLang="en-US" sz="600">
              <a:solidFill>
                <a:srgbClr val="217A2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6CB4FA8-A656-426B-8EBC-A9B8869D09A3}"/>
              </a:ext>
            </a:extLst>
          </p:cNvPr>
          <p:cNvSpPr txBox="1"/>
          <p:nvPr/>
        </p:nvSpPr>
        <p:spPr>
          <a:xfrm>
            <a:off x="3475068" y="3664393"/>
            <a:ext cx="4881910" cy="18466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r"/>
            <a:r>
              <a:rPr lang="en-US" altLang="ko-KR" sz="600">
                <a:solidFill>
                  <a:srgbClr val="217A21"/>
                </a:solidFill>
              </a:rPr>
              <a:t>※ </a:t>
            </a:r>
            <a:r>
              <a:rPr lang="ko-KR" altLang="en-US" sz="600">
                <a:solidFill>
                  <a:srgbClr val="217A21"/>
                </a:solidFill>
              </a:rPr>
              <a:t>불량분석은 </a:t>
            </a:r>
            <a:r>
              <a:rPr lang="en-US" altLang="ko-KR" sz="600">
                <a:solidFill>
                  <a:srgbClr val="217A21"/>
                </a:solidFill>
              </a:rPr>
              <a:t>NERP </a:t>
            </a:r>
            <a:r>
              <a:rPr lang="ko-KR" altLang="en-US" sz="600">
                <a:solidFill>
                  <a:srgbClr val="217A21"/>
                </a:solidFill>
              </a:rPr>
              <a:t>확산으로 순연 </a:t>
            </a:r>
            <a:r>
              <a:rPr lang="en-US" altLang="ko-KR" sz="600">
                <a:solidFill>
                  <a:srgbClr val="217A21"/>
                </a:solidFill>
              </a:rPr>
              <a:t>: HD, MIL (8</a:t>
            </a:r>
            <a:r>
              <a:rPr lang="ko-KR" altLang="en-US" sz="600">
                <a:solidFill>
                  <a:srgbClr val="217A21"/>
                </a:solidFill>
              </a:rPr>
              <a:t>월</a:t>
            </a:r>
            <a:r>
              <a:rPr lang="en-US" altLang="ko-KR" sz="600">
                <a:solidFill>
                  <a:srgbClr val="217A21"/>
                </a:solidFill>
              </a:rPr>
              <a:t>), ST(10</a:t>
            </a:r>
            <a:r>
              <a:rPr lang="ko-KR" altLang="en-US" sz="600">
                <a:solidFill>
                  <a:srgbClr val="217A21"/>
                </a:solidFill>
              </a:rPr>
              <a:t>월</a:t>
            </a:r>
            <a:r>
              <a:rPr lang="en-US" altLang="ko-KR" sz="600">
                <a:solidFill>
                  <a:srgbClr val="217A21"/>
                </a:solidFill>
              </a:rPr>
              <a:t>)</a:t>
            </a:r>
            <a:endParaRPr lang="ko-KR" altLang="en-US" sz="600">
              <a:solidFill>
                <a:srgbClr val="217A2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521071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9C2E0-E27B-9468-4077-1E5D84C81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77274AB-BF1E-2B59-0E37-A2D8A90173A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334D889E-A719-5A76-8530-78081E41C5C4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503202" cy="5746282"/>
        </p:xfrm>
        <a:graphic>
          <a:graphicData uri="http://schemas.openxmlformats.org/drawingml/2006/table">
            <a:tbl>
              <a:tblPr/>
              <a:tblGrid>
                <a:gridCol w="5607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2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5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550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 err="1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EIoT</a:t>
                      </a:r>
                      <a: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  FDC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전환 및 주기단축</a:t>
                      </a:r>
                    </a:p>
                  </a:txBody>
                  <a:tcPr marL="36000" marR="6273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26년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김영선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지원경P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21D7DB0-F5D5-30DC-33C0-7CD43CA7DF43}"/>
              </a:ext>
            </a:extLst>
          </p:cNvPr>
          <p:cNvSpPr txBox="1"/>
          <p:nvPr/>
        </p:nvSpPr>
        <p:spPr>
          <a:xfrm>
            <a:off x="7979867" y="572550"/>
            <a:ext cx="17071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 12/16(</a:t>
            </a:r>
            <a:r>
              <a:rPr lang="ko-KR" altLang="en-US" sz="1000">
                <a:latin typeface="맑은 고딕"/>
                <a:ea typeface="맑은 고딕"/>
                <a:cs typeface="Malgun Gothic Semilight"/>
              </a:rPr>
              <a:t>화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)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 11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6DEE5F-7FF9-85FE-FBF1-075831A7C253}"/>
              </a:ext>
            </a:extLst>
          </p:cNvPr>
          <p:cNvSpPr txBox="1"/>
          <p:nvPr/>
        </p:nvSpPr>
        <p:spPr>
          <a:xfrm>
            <a:off x="5447490" y="558575"/>
            <a:ext cx="2580050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-#2,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41,42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935F6F9-1F30-4EAB-3AE8-85D54956C9A2}"/>
              </a:ext>
            </a:extLst>
          </p:cNvPr>
          <p:cNvSpPr/>
          <p:nvPr/>
        </p:nvSpPr>
        <p:spPr>
          <a:xfrm>
            <a:off x="1302937" y="1081729"/>
            <a:ext cx="7148336" cy="5324535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1000" b="1">
                <a:latin typeface="+mn-ea"/>
                <a:cs typeface="Malgun Gothic Semilight"/>
              </a:rPr>
              <a:t>▣ 데이터 확장</a:t>
            </a:r>
            <a:r>
              <a:rPr lang="en-US" altLang="ko-KR" sz="1000" b="1">
                <a:latin typeface="+mn-ea"/>
                <a:cs typeface="Malgun Gothic Semilight"/>
              </a:rPr>
              <a:t>_</a:t>
            </a:r>
            <a:r>
              <a:rPr lang="ko-KR" altLang="en-US" sz="1000" b="1">
                <a:latin typeface="+mn-ea"/>
                <a:cs typeface="Malgun Gothic Semilight"/>
              </a:rPr>
              <a:t>데이터서비스</a:t>
            </a:r>
          </a:p>
          <a:p>
            <a:r>
              <a:rPr lang="ko-KR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금주(</a:t>
            </a:r>
            <a:r>
              <a:rPr lang="ko-KR" sz="100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W</a:t>
            </a:r>
            <a:r>
              <a:rPr lang="en-US" altLang="ko-KR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51</a:t>
            </a:r>
            <a:r>
              <a:rPr lang="ko-KR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)</a:t>
            </a:r>
            <a:r>
              <a:rPr lang="ko-KR" altLang="en-US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진행 중 특이사항 없습니다</a:t>
            </a:r>
            <a:r>
              <a:rPr lang="en-US" altLang="ko-KR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. </a:t>
            </a:r>
          </a:p>
          <a:p>
            <a:r>
              <a:rPr lang="en-US" altLang="ko-KR" sz="1000"/>
              <a:t>[</a:t>
            </a:r>
            <a:r>
              <a:rPr lang="ko-KR" altLang="en-US" sz="1000"/>
              <a:t>배경</a:t>
            </a:r>
            <a:r>
              <a:rPr lang="en-US" altLang="ko-KR" sz="1000"/>
              <a:t>] </a:t>
            </a:r>
            <a:endParaRPr lang="ko-KR" altLang="en-US" sz="1000"/>
          </a:p>
          <a:p>
            <a:r>
              <a:rPr lang="ko-KR" altLang="en-US" sz="1000"/>
              <a:t>신규 시스템과 기 연계중인 시스템의 데이터를 지속 확장하여 분석데이터 </a:t>
            </a:r>
            <a:r>
              <a:rPr lang="ko-KR" altLang="en-US" sz="1000" err="1"/>
              <a:t>커버리지를</a:t>
            </a:r>
            <a:r>
              <a:rPr lang="ko-KR" altLang="en-US" sz="1000"/>
              <a:t> 확장하며</a:t>
            </a:r>
            <a:r>
              <a:rPr lang="en-US" altLang="ko-KR" sz="1000"/>
              <a:t>, </a:t>
            </a:r>
            <a:r>
              <a:rPr lang="ko-KR" altLang="en-US" sz="1000"/>
              <a:t>원천시스템 고도화에 따른 지속적인 데이터 품질 향상 활동을 수행하여 분석데이터의 정합성 확보</a:t>
            </a:r>
            <a:endParaRPr lang="en-US" altLang="ko-KR" sz="1000" b="1">
              <a:latin typeface="+mn-ea"/>
              <a:cs typeface="Malgun Gothic Semilight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진행 사항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]</a:t>
            </a: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ko-KR" altLang="ko-KR" sz="1000">
                <a:solidFill>
                  <a:srgbClr val="000000"/>
                </a:solidFill>
                <a:latin typeface="lg스마트체 regular"/>
                <a:ea typeface="lg스마트체 regular"/>
              </a:rPr>
              <a:t>□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분기별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데이터서비스 확장 및 원천 변화대응 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PJT</a:t>
            </a:r>
            <a:br>
              <a:rPr lang="en-US" altLang="ko-KR" sz="1000">
                <a:latin typeface="+mn-ea"/>
              </a:rPr>
            </a:br>
            <a:r>
              <a:rPr lang="en-US" altLang="ko-KR" sz="1000">
                <a:latin typeface="+mn-ea"/>
                <a:sym typeface="Wingdings" panose="05000000000000000000" pitchFamily="2" charset="2"/>
              </a:rPr>
              <a:t>  - ‘DAVINCI ’25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년 데이터서비스 확장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’ PJT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의 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15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개 항목 중 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12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개 항목 완료하였습니다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. </a:t>
            </a:r>
            <a:endParaRPr lang="en-US" altLang="ko-KR" sz="1000">
              <a:latin typeface="+mn-ea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lg스마트체 regular"/>
                <a:ea typeface="lg스마트체 regular"/>
              </a:rPr>
              <a:t> </a:t>
            </a:r>
            <a:r>
              <a:rPr lang="ko-KR" altLang="ko-KR" sz="1000">
                <a:solidFill>
                  <a:srgbClr val="000000"/>
                </a:solidFill>
                <a:latin typeface="lg스마트체 regular"/>
                <a:ea typeface="lg스마트체 regular"/>
              </a:rPr>
              <a:t>□</a:t>
            </a:r>
            <a:r>
              <a:rPr lang="en-US" altLang="ko-KR" sz="1000">
                <a:solidFill>
                  <a:srgbClr val="000000"/>
                </a:solidFill>
                <a:latin typeface="lg스마트체 regular"/>
                <a:ea typeface="lg스마트체 regular"/>
              </a:rPr>
              <a:t> </a:t>
            </a:r>
            <a:r>
              <a:rPr lang="ko-KR" altLang="en-US" sz="1000">
                <a:solidFill>
                  <a:srgbClr val="000000"/>
                </a:solidFill>
                <a:latin typeface="lg스마트체 regular"/>
                <a:ea typeface="lg스마트체 regular"/>
              </a:rPr>
              <a:t>데이터 확장</a:t>
            </a:r>
            <a:r>
              <a:rPr lang="en-US" altLang="ko-KR" sz="1000">
                <a:solidFill>
                  <a:srgbClr val="000000"/>
                </a:solidFill>
                <a:latin typeface="lg스마트체 regular"/>
                <a:ea typeface="lg스마트체 regular"/>
              </a:rPr>
              <a:t>/</a:t>
            </a:r>
            <a:r>
              <a:rPr lang="ko-KR" altLang="en-US" sz="1000">
                <a:solidFill>
                  <a:srgbClr val="000000"/>
                </a:solidFill>
                <a:latin typeface="lg스마트체 regular"/>
                <a:ea typeface="lg스마트체 regular"/>
              </a:rPr>
              <a:t>정합성 검증</a:t>
            </a:r>
            <a:br>
              <a:rPr lang="en-US" altLang="ko-KR" sz="1000">
                <a:latin typeface="+mn-ea"/>
                <a:cs typeface="Malgun Gothic Semilight"/>
              </a:rPr>
            </a:br>
            <a:r>
              <a:rPr lang="en-US" altLang="ko-KR" sz="1000">
                <a:latin typeface="+mn-ea"/>
                <a:cs typeface="Malgun Gothic Semilight"/>
              </a:rPr>
              <a:t>  - WA ESS</a:t>
            </a:r>
            <a:r>
              <a:rPr lang="ko-KR" altLang="en-US" sz="1000">
                <a:latin typeface="+mn-ea"/>
                <a:cs typeface="Malgun Gothic Semilight"/>
              </a:rPr>
              <a:t> 생산에 대응하여 데이터서비스 </a:t>
            </a:r>
            <a:r>
              <a:rPr lang="en-US" altLang="ko-KR" sz="1000">
                <a:latin typeface="+mn-ea"/>
                <a:cs typeface="Malgun Gothic Semilight"/>
              </a:rPr>
              <a:t>43</a:t>
            </a:r>
            <a:r>
              <a:rPr lang="ko-KR" altLang="en-US" sz="1000">
                <a:latin typeface="+mn-ea"/>
                <a:cs typeface="Malgun Gothic Semilight"/>
              </a:rPr>
              <a:t>종의 메타정보를 수정하였으며</a:t>
            </a:r>
            <a:r>
              <a:rPr lang="en-US" altLang="ko-KR" sz="1000">
                <a:latin typeface="+mn-ea"/>
                <a:cs typeface="Malgun Gothic Semilight"/>
              </a:rPr>
              <a:t>, 8</a:t>
            </a:r>
            <a:r>
              <a:rPr lang="ko-KR" altLang="en-US" sz="1000">
                <a:latin typeface="+mn-ea"/>
                <a:cs typeface="Malgun Gothic Semilight"/>
              </a:rPr>
              <a:t>종은 </a:t>
            </a:r>
            <a:r>
              <a:rPr lang="en-US" altLang="ko-KR" sz="1000">
                <a:latin typeface="+mn-ea"/>
                <a:cs typeface="Malgun Gothic Semilight"/>
              </a:rPr>
              <a:t>ESS</a:t>
            </a:r>
            <a:r>
              <a:rPr lang="ko-KR" altLang="en-US" sz="1000">
                <a:latin typeface="+mn-ea"/>
                <a:cs typeface="Malgun Gothic Semilight"/>
              </a:rPr>
              <a:t>동 호환이 가능하게 로직 수정하였습니다</a:t>
            </a:r>
            <a:r>
              <a:rPr lang="en-US" altLang="ko-KR" sz="1000">
                <a:latin typeface="+mn-ea"/>
                <a:cs typeface="Malgun Gothic Semilight"/>
              </a:rPr>
              <a:t>.</a:t>
            </a:r>
          </a:p>
          <a:p>
            <a:r>
              <a:rPr lang="en-US" altLang="ko-KR" sz="1000">
                <a:latin typeface="+mn-ea"/>
                <a:cs typeface="Malgun Gothic Semilight"/>
              </a:rPr>
              <a:t>  - ‘</a:t>
            </a:r>
            <a:r>
              <a:rPr lang="ko-KR" altLang="en-US" sz="1000">
                <a:latin typeface="+mn-ea"/>
                <a:cs typeface="Malgun Gothic Semilight"/>
              </a:rPr>
              <a:t>전수검사 데이터</a:t>
            </a:r>
            <a:r>
              <a:rPr lang="en-US" altLang="ko-KR" sz="1000">
                <a:latin typeface="+mn-ea"/>
                <a:cs typeface="Malgun Gothic Semilight"/>
              </a:rPr>
              <a:t>(</a:t>
            </a:r>
            <a:r>
              <a:rPr lang="ko-KR" altLang="en-US" sz="1000">
                <a:latin typeface="+mn-ea"/>
                <a:cs typeface="Malgun Gothic Semilight"/>
              </a:rPr>
              <a:t>활성화 </a:t>
            </a:r>
            <a:r>
              <a:rPr lang="en-US" altLang="ko-KR" sz="1000">
                <a:latin typeface="+mn-ea"/>
                <a:cs typeface="Malgun Gothic Semilight"/>
              </a:rPr>
              <a:t>DEGAS/EOL, MES)’ </a:t>
            </a:r>
            <a:r>
              <a:rPr lang="ko-KR" altLang="en-US" sz="1000">
                <a:latin typeface="+mn-ea"/>
                <a:cs typeface="Malgun Gothic Semilight"/>
              </a:rPr>
              <a:t>메뉴의 </a:t>
            </a:r>
            <a:r>
              <a:rPr lang="en-US" altLang="ko-KR" sz="1000">
                <a:latin typeface="+mn-ea"/>
                <a:cs typeface="Malgun Gothic Semilight"/>
              </a:rPr>
              <a:t>Degas 3</a:t>
            </a:r>
            <a:r>
              <a:rPr lang="ko-KR" altLang="en-US" sz="1000">
                <a:latin typeface="+mn-ea"/>
                <a:cs typeface="Malgun Gothic Semilight"/>
              </a:rPr>
              <a:t>종</a:t>
            </a:r>
            <a:r>
              <a:rPr lang="en-US" altLang="ko-KR" sz="1000">
                <a:latin typeface="+mn-ea"/>
                <a:cs typeface="Malgun Gothic Semilight"/>
              </a:rPr>
              <a:t>(Atmospheric Press Value, Chamber Vacuum degree,    Absolute Press Value)</a:t>
            </a:r>
            <a:r>
              <a:rPr lang="ko-KR" altLang="en-US" sz="1000">
                <a:latin typeface="+mn-ea"/>
                <a:cs typeface="Malgun Gothic Semilight"/>
              </a:rPr>
              <a:t>과 </a:t>
            </a:r>
            <a:r>
              <a:rPr lang="en-US" altLang="ko-KR" sz="1000">
                <a:latin typeface="+mn-ea"/>
                <a:cs typeface="Malgun Gothic Semilight"/>
              </a:rPr>
              <a:t>EOL 3</a:t>
            </a:r>
            <a:r>
              <a:rPr lang="ko-KR" altLang="en-US" sz="1000">
                <a:latin typeface="+mn-ea"/>
                <a:cs typeface="Malgun Gothic Semilight"/>
              </a:rPr>
              <a:t>종</a:t>
            </a:r>
            <a:r>
              <a:rPr lang="en-US" altLang="ko-KR" sz="1000">
                <a:latin typeface="+mn-ea"/>
                <a:cs typeface="Malgun Gothic Semilight"/>
              </a:rPr>
              <a:t>(mV/Day Judge EOL Time, Tape Cassette No, Tape Unit) </a:t>
            </a:r>
            <a:r>
              <a:rPr lang="ko-KR" altLang="en-US" sz="1000">
                <a:latin typeface="+mn-ea"/>
                <a:cs typeface="Malgun Gothic Semilight"/>
              </a:rPr>
              <a:t>항목을 추가하여 활용도를 높였습니다</a:t>
            </a:r>
            <a:r>
              <a:rPr lang="en-US" altLang="ko-KR" sz="1000">
                <a:latin typeface="+mn-ea"/>
                <a:cs typeface="Malgun Gothic Semilight"/>
              </a:rPr>
              <a:t>.</a:t>
            </a:r>
          </a:p>
          <a:p>
            <a:r>
              <a:rPr lang="en-US" altLang="ko-KR" sz="1000">
                <a:latin typeface="+mn-ea"/>
                <a:cs typeface="Malgun Gothic Semilight"/>
              </a:rPr>
              <a:t>  - ‘</a:t>
            </a:r>
            <a:r>
              <a:rPr lang="ko-KR" altLang="en-US" sz="1000" err="1">
                <a:latin typeface="+mn-ea"/>
                <a:cs typeface="Malgun Gothic Semilight"/>
              </a:rPr>
              <a:t>설비파라미터</a:t>
            </a:r>
            <a:r>
              <a:rPr lang="en-US" altLang="ko-KR" sz="1000">
                <a:latin typeface="+mn-ea"/>
                <a:cs typeface="Malgun Gothic Semilight"/>
              </a:rPr>
              <a:t>(PV)</a:t>
            </a:r>
            <a:r>
              <a:rPr lang="ko-KR" altLang="en-US" sz="1000">
                <a:latin typeface="+mn-ea"/>
                <a:cs typeface="Malgun Gothic Semilight"/>
              </a:rPr>
              <a:t>데이터</a:t>
            </a:r>
            <a:r>
              <a:rPr lang="en-US" altLang="ko-KR" sz="1000">
                <a:latin typeface="+mn-ea"/>
                <a:cs typeface="Malgun Gothic Semilight"/>
              </a:rPr>
              <a:t>‘ </a:t>
            </a:r>
            <a:r>
              <a:rPr lang="ko-KR" altLang="en-US" sz="1000">
                <a:latin typeface="+mn-ea"/>
                <a:cs typeface="Malgun Gothic Semilight"/>
              </a:rPr>
              <a:t>메뉴의 </a:t>
            </a:r>
            <a:r>
              <a:rPr lang="en-US" altLang="ko-KR" sz="1000">
                <a:latin typeface="+mn-ea"/>
                <a:cs typeface="Malgun Gothic Semilight"/>
              </a:rPr>
              <a:t>ADE(Anomaly Detection Ensemble) </a:t>
            </a:r>
            <a:r>
              <a:rPr lang="ko-KR" altLang="en-US" sz="1000">
                <a:latin typeface="+mn-ea"/>
                <a:cs typeface="Malgun Gothic Semilight"/>
              </a:rPr>
              <a:t>데이터를 조회할 수 있도록 데이터서비스 화면과 마트를 추가하였습니다</a:t>
            </a:r>
            <a:r>
              <a:rPr lang="en-US" altLang="ko-KR" sz="1000">
                <a:latin typeface="+mn-ea"/>
                <a:cs typeface="Malgun Gothic Semilight"/>
              </a:rPr>
              <a:t>.</a:t>
            </a:r>
            <a:br>
              <a:rPr lang="en-US" altLang="ko-KR" sz="1000">
                <a:latin typeface="+mn-ea"/>
                <a:cs typeface="Malgun Gothic Semilight"/>
              </a:rPr>
            </a:br>
            <a:r>
              <a:rPr lang="en-US" altLang="ko-KR" sz="1000">
                <a:latin typeface="+mn-ea"/>
                <a:cs typeface="Malgun Gothic Semilight"/>
              </a:rPr>
              <a:t>  </a:t>
            </a:r>
            <a:endParaRPr lang="en-US" altLang="ko-KR" sz="1000">
              <a:latin typeface="Arial Narrow"/>
              <a:cs typeface="Malgun Gothic Semilight"/>
            </a:endParaRPr>
          </a:p>
          <a:p>
            <a:endParaRPr lang="en-US" altLang="ko-KR" sz="1000">
              <a:latin typeface="Arial Narrow"/>
              <a:cs typeface="Malgun Gothic Semilight"/>
            </a:endParaRPr>
          </a:p>
          <a:p>
            <a:endParaRPr lang="en-US" altLang="ko-KR" sz="1000">
              <a:latin typeface="Arial Narrow"/>
              <a:cs typeface="Malgun Gothic Semilight"/>
            </a:endParaRPr>
          </a:p>
          <a:p>
            <a:r>
              <a:rPr lang="ko-KR" altLang="en-US" sz="1000" b="1">
                <a:latin typeface="+mn-ea"/>
                <a:cs typeface="Malgun Gothic Semilight"/>
              </a:rPr>
              <a:t>▣ </a:t>
            </a:r>
            <a:r>
              <a:rPr lang="ko-KR" altLang="en-US" sz="1000" b="1" err="1">
                <a:latin typeface="+mn-ea"/>
                <a:cs typeface="Malgun Gothic Semilight"/>
              </a:rPr>
              <a:t>e</a:t>
            </a:r>
            <a:r>
              <a:rPr lang="en-US" altLang="ko-KR" sz="1000" b="1">
                <a:latin typeface="+mn-ea"/>
                <a:cs typeface="Malgun Gothic Semilight"/>
              </a:rPr>
              <a:t>IoT </a:t>
            </a:r>
            <a:r>
              <a:rPr lang="ko-KR" altLang="en-US" sz="1000" b="1">
                <a:latin typeface="+mn-ea"/>
                <a:cs typeface="Malgun Gothic Semilight"/>
              </a:rPr>
              <a:t>배치주기단축</a:t>
            </a:r>
          </a:p>
          <a:p>
            <a:r>
              <a:rPr lang="ko-KR" altLang="en-US" sz="1000">
                <a:solidFill>
                  <a:srgbClr val="1414FE"/>
                </a:solidFill>
                <a:latin typeface="+mn-ea"/>
                <a:cs typeface="Malgun Gothic Semilight"/>
              </a:rPr>
              <a:t> -.</a:t>
            </a:r>
            <a:r>
              <a:rPr lang="ko-KR" altLang="en-US" sz="1000" err="1">
                <a:latin typeface="+mn-ea"/>
                <a:cs typeface="Malgun Gothic Semilight"/>
              </a:rPr>
              <a:t>Pilot</a:t>
            </a:r>
            <a:r>
              <a:rPr lang="ko-KR" altLang="en-US" sz="1000">
                <a:latin typeface="+mn-ea"/>
                <a:cs typeface="Malgun Gothic Semilight"/>
              </a:rPr>
              <a:t> (WA</a:t>
            </a:r>
            <a:r>
              <a:rPr lang="ko-KR" sz="1000">
                <a:latin typeface="+mn-ea"/>
                <a:ea typeface="LG Smart_H Regular"/>
                <a:cs typeface="Malgun Gothic Semilight"/>
              </a:rPr>
              <a:t>) 8/6 적용결과 일부 데이터 누락 및 지연 발생하여 </a:t>
            </a:r>
            <a:r>
              <a:rPr lang="ko-KR" sz="1000" err="1">
                <a:latin typeface="+mn-ea"/>
                <a:ea typeface="LG Smart_H Regular"/>
                <a:cs typeface="Malgun Gothic Semilight"/>
              </a:rPr>
              <a:t>eIoT</a:t>
            </a:r>
            <a:r>
              <a:rPr lang="ko-KR" sz="1000">
                <a:latin typeface="+mn-ea"/>
                <a:ea typeface="LG Smart_H Regular"/>
                <a:cs typeface="Malgun Gothic Semilight"/>
              </a:rPr>
              <a:t> 원천 확인 및 개선 </a:t>
            </a:r>
            <a:r>
              <a:rPr lang="ko-KR" altLang="en-US" sz="1000">
                <a:latin typeface="+mn-ea"/>
                <a:ea typeface="LG Smart_H Regular"/>
                <a:cs typeface="Malgun Gothic Semilight"/>
              </a:rPr>
              <a:t>완료</a:t>
            </a:r>
            <a:r>
              <a:rPr lang="ko-KR" sz="1000">
                <a:latin typeface="+mn-ea"/>
                <a:ea typeface="LG Smart_H Regular"/>
                <a:cs typeface="Malgun Gothic Semilight"/>
              </a:rPr>
              <a:t>. </a:t>
            </a:r>
            <a:endParaRPr lang="en-US" altLang="ko-KR" sz="1000">
              <a:latin typeface="+mn-ea"/>
              <a:cs typeface="Malgun Gothic Semilight"/>
            </a:endParaRPr>
          </a:p>
          <a:p>
            <a:r>
              <a:rPr lang="ko-KR" sz="1000">
                <a:latin typeface="+mn-ea"/>
                <a:ea typeface="LG Smart_H Regular"/>
                <a:cs typeface="Malgun Gothic Semilight"/>
              </a:rPr>
              <a:t>                     개선 완료 및 데이터 정합성 검증 후 전법인 확대 예정 (</a:t>
            </a:r>
            <a:r>
              <a:rPr lang="en-US" altLang="ko-KR" sz="1000">
                <a:latin typeface="+mn-ea"/>
                <a:ea typeface="LG Smart_H Regular"/>
                <a:cs typeface="Malgun Gothic Semilight"/>
              </a:rPr>
              <a:t>26</a:t>
            </a:r>
            <a:r>
              <a:rPr lang="ko-KR" altLang="en-US" sz="1000">
                <a:latin typeface="+mn-ea"/>
                <a:ea typeface="LG Smart_H Regular"/>
                <a:cs typeface="Malgun Gothic Semilight"/>
              </a:rPr>
              <a:t>년</a:t>
            </a:r>
            <a:r>
              <a:rPr lang="ko-KR" sz="1000">
                <a:latin typeface="+mn-ea"/>
                <a:ea typeface="LG Smart_H Regular"/>
                <a:cs typeface="Malgun Gothic Semilight"/>
              </a:rPr>
              <a:t>)</a:t>
            </a:r>
            <a:endParaRPr lang="en-US" altLang="ko-KR" sz="1000">
              <a:latin typeface="+mn-ea"/>
              <a:ea typeface="LG Smart_H Regular"/>
              <a:cs typeface="Malgun Gothic Semilight"/>
            </a:endParaRPr>
          </a:p>
          <a:p>
            <a:r>
              <a:rPr lang="en-US" altLang="ko-KR" sz="1000">
                <a:latin typeface="+mn-ea"/>
                <a:ea typeface="LG Smart_H Regular"/>
                <a:cs typeface="Malgun Gothic Semilight"/>
              </a:rPr>
              <a:t>                     FDC</a:t>
            </a:r>
            <a:r>
              <a:rPr lang="ko-KR" altLang="en-US" sz="1000">
                <a:latin typeface="+mn-ea"/>
                <a:ea typeface="LG Smart_H Regular"/>
                <a:cs typeface="Malgun Gothic Semilight"/>
              </a:rPr>
              <a:t>전환 아이템과 병행 할지</a:t>
            </a:r>
            <a:r>
              <a:rPr lang="en-US" altLang="ko-KR" sz="1000">
                <a:latin typeface="+mn-ea"/>
                <a:ea typeface="LG Smart_H Regular"/>
                <a:cs typeface="Malgun Gothic Semilight"/>
              </a:rPr>
              <a:t>, </a:t>
            </a:r>
            <a:r>
              <a:rPr lang="ko-KR" altLang="en-US" sz="1000">
                <a:latin typeface="+mn-ea"/>
                <a:ea typeface="LG Smart_H Regular"/>
                <a:cs typeface="Malgun Gothic Semilight"/>
              </a:rPr>
              <a:t>별도로 할지 검토 필요</a:t>
            </a:r>
            <a:r>
              <a:rPr lang="en-US" altLang="ko-KR" sz="1000">
                <a:latin typeface="+mn-ea"/>
                <a:ea typeface="LG Smart_H Regular"/>
                <a:cs typeface="Malgun Gothic Semilight"/>
              </a:rPr>
              <a:t>. </a:t>
            </a:r>
            <a:endParaRPr lang="ko-KR"/>
          </a:p>
          <a:p>
            <a:endParaRPr lang="ko-KR" altLang="en-US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배경</a:t>
            </a:r>
            <a:r>
              <a:rPr lang="en-US" altLang="ko-KR" sz="1000">
                <a:latin typeface="+mn-ea"/>
              </a:rPr>
              <a:t>] </a:t>
            </a:r>
            <a:endParaRPr lang="ko-KR" altLang="en-US" sz="1000">
              <a:latin typeface="+mn-ea"/>
            </a:endParaRPr>
          </a:p>
          <a:p>
            <a:r>
              <a:rPr lang="en-US" altLang="ko-KR" sz="1000" err="1"/>
              <a:t>EIoT</a:t>
            </a:r>
            <a:r>
              <a:rPr lang="en-US" altLang="ko-KR" sz="1000"/>
              <a:t> </a:t>
            </a:r>
            <a:r>
              <a:rPr lang="en-US" altLang="ko-KR" sz="1000" err="1"/>
              <a:t>데이터</a:t>
            </a:r>
            <a:r>
              <a:rPr lang="en-US" altLang="ko-KR" sz="1000"/>
              <a:t> </a:t>
            </a:r>
            <a:r>
              <a:rPr lang="ko-KR" altLang="en-US" sz="1000"/>
              <a:t>주기를</a:t>
            </a:r>
            <a:r>
              <a:rPr lang="en-US" altLang="ko-KR" sz="1000"/>
              <a:t> </a:t>
            </a:r>
            <a:r>
              <a:rPr lang="ko-KR" altLang="en-US" sz="1000"/>
              <a:t>일배치에서 시간배치로 </a:t>
            </a:r>
            <a:r>
              <a:rPr lang="en-US" altLang="ko-KR" sz="1000" err="1"/>
              <a:t>배치주기</a:t>
            </a:r>
            <a:r>
              <a:rPr lang="en-US" altLang="ko-KR" sz="1000"/>
              <a:t> </a:t>
            </a:r>
            <a:r>
              <a:rPr lang="ko-KR" altLang="en-US" sz="1000"/>
              <a:t>개선</a:t>
            </a:r>
            <a:r>
              <a:rPr lang="en-US" altLang="ko-KR" sz="1000" err="1"/>
              <a:t>중임</a:t>
            </a:r>
            <a:r>
              <a:rPr lang="en-US" altLang="ko-KR" sz="1000"/>
              <a:t>.</a:t>
            </a: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진행 사항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]   </a:t>
            </a:r>
            <a:r>
              <a:rPr lang="en-US" altLang="ko-KR" sz="1000">
                <a:latin typeface="+mn-ea"/>
              </a:rPr>
              <a:t>: </a:t>
            </a:r>
            <a:r>
              <a:rPr lang="en-US" altLang="ko-KR" sz="1000" err="1">
                <a:latin typeface="+mn-ea"/>
              </a:rPr>
              <a:t>WA법인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대상으로</a:t>
            </a:r>
            <a:r>
              <a:rPr lang="en-US" altLang="ko-KR" sz="1000">
                <a:latin typeface="+mn-ea"/>
              </a:rPr>
              <a:t> Pilot </a:t>
            </a:r>
            <a:r>
              <a:rPr lang="en-US" altLang="ko-KR" sz="1000" err="1">
                <a:latin typeface="+mn-ea"/>
              </a:rPr>
              <a:t>적용</a:t>
            </a:r>
            <a:r>
              <a:rPr lang="en-US" altLang="ko-KR" sz="1000">
                <a:latin typeface="+mn-ea"/>
              </a:rPr>
              <a:t> 후 </a:t>
            </a:r>
            <a:r>
              <a:rPr lang="en-US" altLang="ko-KR" sz="1000" err="1">
                <a:latin typeface="+mn-ea"/>
              </a:rPr>
              <a:t>전법인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전개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예정</a:t>
            </a:r>
            <a:endParaRPr lang="en-US" altLang="ko-KR" sz="1000">
              <a:latin typeface="+mn-ea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                   :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eIoT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전송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파일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정보에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Tag Quality (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설비_Tag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파일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전송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Fail/Pass)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추가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요청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000" err="1">
                <a:solidFill>
                  <a:srgbClr val="000000"/>
                </a:solidFill>
                <a:latin typeface="+mn-ea"/>
              </a:rPr>
              <a:t>반영</a:t>
            </a:r>
            <a:endParaRPr lang="en-US" altLang="ko-KR" sz="1000">
              <a:solidFill>
                <a:srgbClr val="000000"/>
              </a:solidFill>
              <a:latin typeface="+mn-ea"/>
            </a:endParaRPr>
          </a:p>
          <a:p>
            <a:r>
              <a:rPr lang="en-US" altLang="ko-KR" sz="1000" b="1">
                <a:latin typeface="+mn-ea"/>
                <a:cs typeface="Malgun Gothic Semilight"/>
              </a:rPr>
              <a:t>                 </a:t>
            </a:r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975D021F-A86B-F7E1-2BE6-AF56108275A4}"/>
              </a:ext>
            </a:extLst>
          </p:cNvPr>
          <p:cNvSpPr txBox="1">
            <a:spLocks/>
          </p:cNvSpPr>
          <p:nvPr/>
        </p:nvSpPr>
        <p:spPr>
          <a:xfrm>
            <a:off x="8229601" y="403273"/>
            <a:ext cx="1457466" cy="3077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  <a:cs typeface="Malgun Gothic Semilight"/>
              </a:rPr>
              <a:t>김영선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P, </a:t>
            </a:r>
            <a:r>
              <a:rPr lang="ko-KR" altLang="en-US" sz="1000" err="1">
                <a:solidFill>
                  <a:prstClr val="black"/>
                </a:solidFill>
                <a:latin typeface="+mn-ea"/>
                <a:cs typeface="Malgun Gothic Semilight"/>
              </a:rPr>
              <a:t>지원경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BF581AF-6621-A7FA-3AED-DA837592F24E}"/>
              </a:ext>
            </a:extLst>
          </p:cNvPr>
          <p:cNvGraphicFramePr>
            <a:graphicFrameLocks noGrp="1"/>
          </p:cNvGraphicFramePr>
          <p:nvPr/>
        </p:nvGraphicFramePr>
        <p:xfrm>
          <a:off x="2237838" y="4693424"/>
          <a:ext cx="5271191" cy="495549"/>
        </p:xfrm>
        <a:graphic>
          <a:graphicData uri="http://schemas.openxmlformats.org/drawingml/2006/table">
            <a:tbl>
              <a:tblPr bandRow="1">
                <a:tableStyleId>{6E25E649-3F16-4E02-A733-19D2CDBF48F0}</a:tableStyleId>
              </a:tblPr>
              <a:tblGrid>
                <a:gridCol w="1241608">
                  <a:extLst>
                    <a:ext uri="{9D8B030D-6E8A-4147-A177-3AD203B41FA5}">
                      <a16:colId xmlns:a16="http://schemas.microsoft.com/office/drawing/2014/main" val="618328066"/>
                    </a:ext>
                  </a:extLst>
                </a:gridCol>
                <a:gridCol w="722390">
                  <a:extLst>
                    <a:ext uri="{9D8B030D-6E8A-4147-A177-3AD203B41FA5}">
                      <a16:colId xmlns:a16="http://schemas.microsoft.com/office/drawing/2014/main" val="3438363974"/>
                    </a:ext>
                  </a:extLst>
                </a:gridCol>
                <a:gridCol w="823976">
                  <a:extLst>
                    <a:ext uri="{9D8B030D-6E8A-4147-A177-3AD203B41FA5}">
                      <a16:colId xmlns:a16="http://schemas.microsoft.com/office/drawing/2014/main" val="4222057268"/>
                    </a:ext>
                  </a:extLst>
                </a:gridCol>
                <a:gridCol w="1196459">
                  <a:extLst>
                    <a:ext uri="{9D8B030D-6E8A-4147-A177-3AD203B41FA5}">
                      <a16:colId xmlns:a16="http://schemas.microsoft.com/office/drawing/2014/main" val="2088665610"/>
                    </a:ext>
                  </a:extLst>
                </a:gridCol>
                <a:gridCol w="1286758">
                  <a:extLst>
                    <a:ext uri="{9D8B030D-6E8A-4147-A177-3AD203B41FA5}">
                      <a16:colId xmlns:a16="http://schemas.microsoft.com/office/drawing/2014/main" val="3043288245"/>
                    </a:ext>
                  </a:extLst>
                </a:gridCol>
              </a:tblGrid>
              <a:tr h="16518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>
                        <a:effectLst/>
                        <a:latin typeface="LG Smart_H2.0 R"/>
                        <a:ea typeface="lg스마트체 regular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>
                          <a:latin typeface="LG Smart_H2.0 R"/>
                          <a:ea typeface="lg스마트체 regular"/>
                        </a:rPr>
                        <a:t>논의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>
                          <a:latin typeface="LG Smart_H2.0 R"/>
                          <a:ea typeface="lg스마트체 regular"/>
                        </a:rPr>
                        <a:t>개발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err="1">
                          <a:latin typeface="LG Smart_H2.0 R"/>
                          <a:ea typeface="lg스마트체 regular"/>
                        </a:rPr>
                        <a:t>Test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>
                          <a:latin typeface="LG Smart_H2.0 R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228317930"/>
                  </a:ext>
                </a:extLst>
              </a:tr>
              <a:tr h="165183">
                <a:tc>
                  <a:txBody>
                    <a:bodyPr/>
                    <a:lstStyle/>
                    <a:p>
                      <a:pPr algn="ctr"/>
                      <a:r>
                        <a:rPr lang="ko-KR" sz="900">
                          <a:latin typeface="LG Smart_H2.0 R"/>
                          <a:ea typeface="lg스마트체 regular"/>
                        </a:rPr>
                        <a:t>WA </a:t>
                      </a:r>
                      <a:r>
                        <a:rPr lang="ko-KR" sz="900" err="1">
                          <a:latin typeface="LG Smart_H2.0 R"/>
                          <a:ea typeface="lg스마트체 regular"/>
                        </a:rPr>
                        <a:t>Pilot</a:t>
                      </a:r>
                      <a:endParaRPr lang="ko-KR" sz="900">
                        <a:latin typeface="LG Smart_H2.0 R"/>
                        <a:ea typeface="lg스마트체 regular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>
                          <a:latin typeface="LG Smart_H2.0 R"/>
                          <a:ea typeface="lg스마트체 regular"/>
                        </a:rPr>
                        <a:t>25.4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>
                          <a:latin typeface="LG Smart_H2.0 R"/>
                          <a:ea typeface="lg스마트체 regular"/>
                        </a:rPr>
                        <a:t>25.5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f-ZA" sz="900">
                          <a:latin typeface="LG Smart_H2.0 R"/>
                        </a:rPr>
                        <a:t>25.6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f-ZA" sz="900">
                          <a:latin typeface="LG Smart_H2.0 R"/>
                        </a:rPr>
                        <a:t>25.8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6911810"/>
                  </a:ext>
                </a:extLst>
              </a:tr>
              <a:tr h="165183">
                <a:tc>
                  <a:txBody>
                    <a:bodyPr/>
                    <a:lstStyle/>
                    <a:p>
                      <a:pPr algn="ctr"/>
                      <a:r>
                        <a:rPr lang="ko-KR" sz="900">
                          <a:latin typeface="LG Smart_H2.0 R"/>
                          <a:ea typeface="lg스마트체 regular"/>
                        </a:rPr>
                        <a:t>확대 전개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900">
                        <a:effectLst/>
                        <a:latin typeface="LG Smart_H2.0 R"/>
                        <a:ea typeface="lg스마트체 regular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>
                          <a:latin typeface="LG Smart_H2.0 R"/>
                          <a:ea typeface="lg스마트체 regular"/>
                        </a:rPr>
                        <a:t>-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f-ZA" sz="900">
                          <a:latin typeface="LG Smart_H2.0 R"/>
                        </a:rPr>
                        <a:t>25.9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f-ZA" sz="900">
                          <a:latin typeface="LG Smart_H2.0 R"/>
                        </a:rPr>
                        <a:t>26</a:t>
                      </a:r>
                      <a:r>
                        <a:rPr lang="ko-KR" altLang="en-US" sz="900">
                          <a:latin typeface="LG Smart_H2.0 R"/>
                        </a:rPr>
                        <a:t>년</a:t>
                      </a:r>
                      <a:endParaRPr lang="af-ZA" sz="900">
                        <a:latin typeface="LG Smart_H2.0 R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0720273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06DFECD5-6FD2-677D-9AF3-E4AEC951150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6098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데이터 확장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제조 데이터 확장</a:t>
            </a:r>
          </a:p>
        </p:txBody>
      </p:sp>
    </p:spTree>
    <p:extLst>
      <p:ext uri="{BB962C8B-B14F-4D97-AF65-F5344CB8AC3E}">
        <p14:creationId xmlns:p14="http://schemas.microsoft.com/office/powerpoint/2010/main" val="227329586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9C2E0-E27B-9468-4077-1E5D84C81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77274AB-BF1E-2B59-0E37-A2D8A90173A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334D889E-A719-5A76-8530-78081E41C5C4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503202" cy="5746282"/>
        </p:xfrm>
        <a:graphic>
          <a:graphicData uri="http://schemas.openxmlformats.org/drawingml/2006/table">
            <a:tbl>
              <a:tblPr/>
              <a:tblGrid>
                <a:gridCol w="5607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2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5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550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baseline="0" noProof="0" err="1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EIoT</a:t>
                      </a:r>
                      <a:r>
                        <a:rPr 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  FDC 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전환 및 주기단축</a:t>
                      </a:r>
                    </a:p>
                  </a:txBody>
                  <a:tcPr marL="36000" marR="6273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26년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김영선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지원경P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21D7DB0-F5D5-30DC-33C0-7CD43CA7DF43}"/>
              </a:ext>
            </a:extLst>
          </p:cNvPr>
          <p:cNvSpPr txBox="1"/>
          <p:nvPr/>
        </p:nvSpPr>
        <p:spPr>
          <a:xfrm>
            <a:off x="7979867" y="572550"/>
            <a:ext cx="17071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 12/16(화)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 11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6DEE5F-7FF9-85FE-FBF1-075831A7C253}"/>
              </a:ext>
            </a:extLst>
          </p:cNvPr>
          <p:cNvSpPr txBox="1"/>
          <p:nvPr/>
        </p:nvSpPr>
        <p:spPr>
          <a:xfrm>
            <a:off x="5447490" y="558575"/>
            <a:ext cx="2580050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-#2,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41,42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935F6F9-1F30-4EAB-3AE8-85D54956C9A2}"/>
              </a:ext>
            </a:extLst>
          </p:cNvPr>
          <p:cNvSpPr/>
          <p:nvPr/>
        </p:nvSpPr>
        <p:spPr>
          <a:xfrm>
            <a:off x="1302937" y="1081729"/>
            <a:ext cx="7148336" cy="3785652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ko-KR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금주(</a:t>
            </a:r>
            <a:r>
              <a:rPr lang="ko-KR" altLang="ko-KR" sz="100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W</a:t>
            </a:r>
            <a:r>
              <a:rPr lang="en-US" altLang="ko-KR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51</a:t>
            </a:r>
            <a:r>
              <a:rPr lang="ko-KR" altLang="ko-KR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)</a:t>
            </a:r>
            <a:r>
              <a:rPr lang="ko-KR" altLang="en-US" sz="10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진행 상 특이사항 없습니다. </a:t>
            </a:r>
            <a:endParaRPr lang="en-US" altLang="ko-KR" sz="1000">
              <a:solidFill>
                <a:srgbClr val="0000FF"/>
              </a:solidFill>
              <a:latin typeface="+mn-ea"/>
              <a:ea typeface="LG Smart_H Regular"/>
              <a:cs typeface="Malgun Gothic Semilight"/>
            </a:endParaRPr>
          </a:p>
          <a:p>
            <a:endParaRPr lang="ko-KR" altLang="en-US" sz="1000">
              <a:solidFill>
                <a:srgbClr val="0000FF"/>
              </a:solidFill>
              <a:latin typeface="+mn-ea"/>
              <a:ea typeface="LG Smart_H Regular"/>
              <a:cs typeface="Malgun Gothic Semilight"/>
            </a:endParaRPr>
          </a:p>
          <a:p>
            <a:r>
              <a:rPr lang="ko-KR" altLang="en-US" sz="1000" b="1">
                <a:latin typeface="+mn-ea"/>
                <a:cs typeface="Malgun Gothic Semilight"/>
              </a:rPr>
              <a:t>▣ </a:t>
            </a:r>
            <a:r>
              <a:rPr lang="ko-KR" altLang="en-US" sz="1000" b="1" err="1">
                <a:latin typeface="+mn-ea"/>
                <a:cs typeface="Malgun Gothic Semilight"/>
              </a:rPr>
              <a:t>eIoT</a:t>
            </a:r>
            <a:r>
              <a:rPr lang="ko-KR" altLang="en-US" sz="1000" b="1">
                <a:latin typeface="+mn-ea"/>
                <a:cs typeface="Malgun Gothic Semilight"/>
              </a:rPr>
              <a:t> → FDC 전환에 따른 다빈치 서비스 대응</a:t>
            </a:r>
            <a:endParaRPr lang="ko-KR" altLang="en-US" sz="1000">
              <a:solidFill>
                <a:srgbClr val="0000FF"/>
              </a:solidFill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</a:endParaRPr>
          </a:p>
          <a:p>
            <a:r>
              <a:rPr lang="en-US" sz="1000">
                <a:latin typeface="+mn-ea"/>
                <a:ea typeface="LG Smart_H Regular"/>
              </a:rPr>
              <a:t>[</a:t>
            </a:r>
            <a:r>
              <a:rPr lang="ko-KR" altLang="en-US" sz="1000">
                <a:latin typeface="+mn-ea"/>
                <a:ea typeface="LG Smart_H Regular"/>
              </a:rPr>
              <a:t>배경</a:t>
            </a:r>
            <a:r>
              <a:rPr lang="en-US" sz="1000">
                <a:latin typeface="+mn-ea"/>
                <a:ea typeface="LG Smart_H Regular"/>
              </a:rPr>
              <a:t>] </a:t>
            </a:r>
            <a:endParaRPr lang="ko-KR">
              <a:ea typeface="LG Smart_H Regular"/>
            </a:endParaRPr>
          </a:p>
          <a:p>
            <a:r>
              <a:rPr lang="en-US" sz="1000" err="1">
                <a:ea typeface="LG Smart_H Regular"/>
              </a:rPr>
              <a:t>설비</a:t>
            </a:r>
            <a:r>
              <a:rPr lang="en-US" sz="1000"/>
              <a:t> </a:t>
            </a:r>
            <a:r>
              <a:rPr lang="en-US" sz="1000" err="1">
                <a:ea typeface="LG Smart_H Regular"/>
              </a:rPr>
              <a:t>데이터가</a:t>
            </a:r>
            <a:r>
              <a:rPr lang="en-US" sz="1000"/>
              <a:t> </a:t>
            </a:r>
            <a:r>
              <a:rPr lang="en-US" sz="1000" err="1"/>
              <a:t>EIoT</a:t>
            </a:r>
            <a:r>
              <a:rPr lang="en-US" sz="1000"/>
              <a:t> → </a:t>
            </a:r>
            <a:r>
              <a:rPr lang="en-US" sz="1000" err="1"/>
              <a:t>FDC로</a:t>
            </a:r>
            <a:r>
              <a:rPr lang="en-US" sz="1000"/>
              <a:t> </a:t>
            </a:r>
            <a:r>
              <a:rPr lang="en-US" sz="1000" err="1">
                <a:ea typeface="LG Smart_H Regular"/>
              </a:rPr>
              <a:t>전환됨에</a:t>
            </a:r>
            <a:r>
              <a:rPr lang="en-US" sz="1000"/>
              <a:t> </a:t>
            </a:r>
            <a:r>
              <a:rPr lang="en-US" sz="1000" err="1">
                <a:ea typeface="LG Smart_H Regular"/>
              </a:rPr>
              <a:t>따라서</a:t>
            </a:r>
            <a:r>
              <a:rPr lang="en-US" sz="1000"/>
              <a:t> </a:t>
            </a:r>
            <a:r>
              <a:rPr lang="en-US" sz="1000" err="1">
                <a:ea typeface="LG Smart_H Regular"/>
              </a:rPr>
              <a:t>다빈치</a:t>
            </a:r>
            <a:r>
              <a:rPr lang="en-US" sz="1000"/>
              <a:t> </a:t>
            </a:r>
            <a:r>
              <a:rPr lang="en-US" sz="1000" err="1">
                <a:ea typeface="LG Smart_H Regular"/>
              </a:rPr>
              <a:t>데이터</a:t>
            </a:r>
            <a:r>
              <a:rPr lang="en-US" sz="1000"/>
              <a:t> </a:t>
            </a:r>
            <a:r>
              <a:rPr lang="en-US" sz="1000" err="1">
                <a:ea typeface="LG Smart_H Regular"/>
              </a:rPr>
              <a:t>서비스</a:t>
            </a:r>
            <a:r>
              <a:rPr lang="en-US" sz="1000"/>
              <a:t> 및 BP Work Flow </a:t>
            </a:r>
            <a:r>
              <a:rPr lang="en-US" sz="1000" err="1">
                <a:ea typeface="LG Smart_H Regular"/>
              </a:rPr>
              <a:t>개선</a:t>
            </a:r>
            <a:r>
              <a:rPr lang="en-US" sz="1000"/>
              <a:t> 및 </a:t>
            </a:r>
            <a:r>
              <a:rPr lang="en-US" sz="1000" err="1">
                <a:ea typeface="LG Smart_H Regular"/>
              </a:rPr>
              <a:t>신규</a:t>
            </a:r>
            <a:r>
              <a:rPr lang="en-US" sz="1000"/>
              <a:t> </a:t>
            </a:r>
            <a:r>
              <a:rPr lang="en-US" sz="1000" err="1">
                <a:ea typeface="LG Smart_H Regular"/>
              </a:rPr>
              <a:t>생성이</a:t>
            </a:r>
            <a:r>
              <a:rPr lang="en-US" sz="1000"/>
              <a:t> </a:t>
            </a:r>
            <a:r>
              <a:rPr lang="en-US" sz="1000" err="1">
                <a:ea typeface="LG Smart_H Regular"/>
              </a:rPr>
              <a:t>필요함</a:t>
            </a:r>
            <a:r>
              <a:rPr lang="en-US" sz="1000"/>
              <a:t>.</a:t>
            </a:r>
            <a:endParaRPr lang="en-US"/>
          </a:p>
          <a:p>
            <a:r>
              <a:rPr lang="en-US" sz="1000">
                <a:solidFill>
                  <a:srgbClr val="000000"/>
                </a:solidFill>
                <a:latin typeface="+mn-ea"/>
                <a:ea typeface="LG Smart_H Regular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진행 사항</a:t>
            </a:r>
            <a:r>
              <a:rPr lang="en-US" sz="1000">
                <a:solidFill>
                  <a:srgbClr val="000000"/>
                </a:solidFill>
                <a:latin typeface="+mn-ea"/>
                <a:ea typeface="LG Smart_H Regular"/>
              </a:rPr>
              <a:t>]  </a:t>
            </a:r>
            <a:r>
              <a:rPr lang="en-US" sz="1000">
                <a:latin typeface="+mn-ea"/>
                <a:ea typeface="LG Smart_H Regular"/>
              </a:rPr>
              <a:t>: </a:t>
            </a:r>
            <a:r>
              <a:rPr lang="en-US" sz="1000" err="1">
                <a:latin typeface="+mn-ea"/>
                <a:ea typeface="LG Smart_H Regular"/>
              </a:rPr>
              <a:t>다빈치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데이터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서비스</a:t>
            </a:r>
            <a:r>
              <a:rPr lang="en-US" sz="1000">
                <a:latin typeface="+mn-ea"/>
                <a:ea typeface="LG Smart_H Regular"/>
              </a:rPr>
              <a:t> 와 BP </a:t>
            </a:r>
            <a:r>
              <a:rPr lang="en-US" sz="1000" err="1">
                <a:latin typeface="+mn-ea"/>
                <a:ea typeface="LG Smart_H Regular"/>
              </a:rPr>
              <a:t>전환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작업에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대한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공수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산정</a:t>
            </a:r>
            <a:endParaRPr lang="en-US">
              <a:ea typeface="LG Smart_H Regular"/>
            </a:endParaRPr>
          </a:p>
          <a:p>
            <a:r>
              <a:rPr lang="en-US" sz="1000">
                <a:solidFill>
                  <a:srgbClr val="000000"/>
                </a:solidFill>
                <a:latin typeface="+mn-ea"/>
                <a:ea typeface="LG Smart_H Regular"/>
              </a:rPr>
              <a:t>                  </a:t>
            </a:r>
            <a:r>
              <a:rPr lang="en-US" sz="1000">
                <a:latin typeface="+mn-ea"/>
                <a:ea typeface="LG Smart_H Regular"/>
              </a:rPr>
              <a:t>: </a:t>
            </a:r>
            <a:r>
              <a:rPr lang="en-US" sz="1000" err="1">
                <a:latin typeface="+mn-ea"/>
                <a:ea typeface="LG Smart_H Regular"/>
              </a:rPr>
              <a:t>기존</a:t>
            </a:r>
            <a:r>
              <a:rPr lang="en-US" sz="1000">
                <a:latin typeface="+mn-ea"/>
                <a:ea typeface="LG Smart_H Regular"/>
              </a:rPr>
              <a:t> File  </a:t>
            </a:r>
            <a:r>
              <a:rPr lang="en-US" sz="1000" err="1">
                <a:latin typeface="+mn-ea"/>
                <a:ea typeface="LG Smart_H Regular"/>
              </a:rPr>
              <a:t>형식에서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DB형식으로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수집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방식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변경으로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인한</a:t>
            </a:r>
            <a:r>
              <a:rPr lang="en-US" sz="1000">
                <a:latin typeface="+mn-ea"/>
                <a:ea typeface="LG Smart_H Regular"/>
              </a:rPr>
              <a:t> Format </a:t>
            </a:r>
            <a:r>
              <a:rPr lang="en-US" sz="1000" err="1">
                <a:latin typeface="+mn-ea"/>
                <a:ea typeface="LG Smart_H Regular"/>
              </a:rPr>
              <a:t>정합화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진행</a:t>
            </a:r>
            <a:r>
              <a:rPr lang="en-US" sz="1000">
                <a:latin typeface="+mn-ea"/>
                <a:ea typeface="LG Smart_H Regular"/>
              </a:rPr>
              <a:t> (8/19)</a:t>
            </a:r>
            <a:endParaRPr lang="en-US">
              <a:ea typeface="LG Smart_H Regular"/>
            </a:endParaRPr>
          </a:p>
          <a:p>
            <a:r>
              <a:rPr lang="en-US" sz="1000">
                <a:solidFill>
                  <a:srgbClr val="0000FF"/>
                </a:solidFill>
                <a:latin typeface="+mn-ea"/>
                <a:ea typeface="LG Smart_H Regular"/>
              </a:rPr>
              <a:t>                </a:t>
            </a:r>
            <a:r>
              <a:rPr lang="en-US" sz="1000">
                <a:latin typeface="+mn-ea"/>
                <a:ea typeface="LG Smart_H Regular"/>
              </a:rPr>
              <a:t>  1. </a:t>
            </a:r>
            <a:r>
              <a:rPr lang="ko-KR" altLang="en-US" sz="1000">
                <a:latin typeface="+mn-ea"/>
                <a:ea typeface="LG Smart_H Regular"/>
              </a:rPr>
              <a:t>데이터 서비스 </a:t>
            </a:r>
            <a:r>
              <a:rPr lang="en-US" altLang="ko-KR" sz="1000">
                <a:latin typeface="+mn-ea"/>
                <a:ea typeface="LG Smart_H Regular"/>
              </a:rPr>
              <a:t>2</a:t>
            </a:r>
            <a:r>
              <a:rPr lang="ko-KR" altLang="en-US" sz="1000">
                <a:latin typeface="+mn-ea"/>
                <a:ea typeface="LG Smart_H Regular"/>
              </a:rPr>
              <a:t>종 개선 개발 </a:t>
            </a:r>
            <a:r>
              <a:rPr lang="en-US" altLang="ko-KR" sz="1000">
                <a:latin typeface="+mn-ea"/>
                <a:ea typeface="LG Smart_H Regular"/>
              </a:rPr>
              <a:t>(PV </a:t>
            </a:r>
            <a:r>
              <a:rPr lang="ko-KR" altLang="en-US" sz="1000">
                <a:latin typeface="+mn-ea"/>
                <a:ea typeface="LG Smart_H Regular"/>
              </a:rPr>
              <a:t>데이터</a:t>
            </a:r>
            <a:r>
              <a:rPr lang="en-US" altLang="ko-KR" sz="1000">
                <a:latin typeface="+mn-ea"/>
                <a:ea typeface="LG Smart_H Regular"/>
              </a:rPr>
              <a:t>_</a:t>
            </a:r>
            <a:r>
              <a:rPr lang="ko-KR" altLang="en-US" sz="1000">
                <a:latin typeface="+mn-ea"/>
                <a:ea typeface="LG Smart_H Regular"/>
              </a:rPr>
              <a:t>완료</a:t>
            </a:r>
            <a:r>
              <a:rPr lang="en-US" altLang="ko-KR" sz="1000">
                <a:latin typeface="+mn-ea"/>
                <a:ea typeface="LG Smart_H Regular"/>
              </a:rPr>
              <a:t>, </a:t>
            </a:r>
            <a:r>
              <a:rPr lang="ko-KR" altLang="en-US" sz="1000" err="1">
                <a:latin typeface="+mn-ea"/>
                <a:ea typeface="LG Smart_H Regular"/>
              </a:rPr>
              <a:t>롤맵</a:t>
            </a:r>
            <a:r>
              <a:rPr lang="ko-KR" altLang="en-US" sz="1000">
                <a:latin typeface="+mn-ea"/>
                <a:ea typeface="LG Smart_H Regular"/>
              </a:rPr>
              <a:t> 데이터</a:t>
            </a:r>
            <a:r>
              <a:rPr lang="en-US" altLang="ko-KR" sz="1000">
                <a:latin typeface="+mn-ea"/>
                <a:ea typeface="LG Smart_H Regular"/>
              </a:rPr>
              <a:t>_12</a:t>
            </a:r>
            <a:r>
              <a:rPr lang="ko-KR" altLang="en-US" sz="1000">
                <a:latin typeface="+mn-ea"/>
                <a:ea typeface="LG Smart_H Regular"/>
              </a:rPr>
              <a:t>월 예정</a:t>
            </a:r>
            <a:r>
              <a:rPr lang="en-US" altLang="ko-KR" sz="1000">
                <a:latin typeface="+mn-ea"/>
                <a:ea typeface="LG Smart_H Regular"/>
              </a:rPr>
              <a:t>)</a:t>
            </a:r>
          </a:p>
          <a:p>
            <a:r>
              <a:rPr lang="en-US" sz="1000">
                <a:latin typeface="+mn-ea"/>
                <a:ea typeface="LG Smart_H Regular"/>
              </a:rPr>
              <a:t>                  2. </a:t>
            </a:r>
            <a:r>
              <a:rPr lang="ko-KR" altLang="en-US" sz="1000">
                <a:latin typeface="+mn-ea"/>
                <a:ea typeface="LG Smart_H Regular"/>
              </a:rPr>
              <a:t>단위 분석 </a:t>
            </a:r>
            <a:r>
              <a:rPr lang="en-US" altLang="ko-KR" sz="1000">
                <a:latin typeface="+mn-ea"/>
                <a:ea typeface="LG Smart_H Regular"/>
              </a:rPr>
              <a:t>4</a:t>
            </a:r>
            <a:r>
              <a:rPr lang="ko-KR" altLang="en-US" sz="1000">
                <a:latin typeface="+mn-ea"/>
                <a:ea typeface="LG Smart_H Regular"/>
              </a:rPr>
              <a:t>종 및 </a:t>
            </a:r>
            <a:r>
              <a:rPr lang="en-US" altLang="ko-KR" sz="1000">
                <a:latin typeface="+mn-ea"/>
                <a:ea typeface="LG Smart_H Regular"/>
              </a:rPr>
              <a:t>BP </a:t>
            </a:r>
            <a:r>
              <a:rPr lang="ko-KR" altLang="en-US" sz="1000">
                <a:latin typeface="+mn-ea"/>
                <a:ea typeface="LG Smart_H Regular"/>
              </a:rPr>
              <a:t>대응 </a:t>
            </a:r>
            <a:r>
              <a:rPr lang="en-US" altLang="ko-KR" sz="1000">
                <a:latin typeface="+mn-ea"/>
                <a:ea typeface="LG Smart_H Regular"/>
              </a:rPr>
              <a:t>21</a:t>
            </a:r>
            <a:r>
              <a:rPr lang="ko-KR" altLang="en-US" sz="1000">
                <a:latin typeface="+mn-ea"/>
                <a:ea typeface="LG Smart_H Regular"/>
              </a:rPr>
              <a:t>종 개발 </a:t>
            </a:r>
            <a:r>
              <a:rPr lang="en-US" altLang="ko-KR" sz="1000">
                <a:latin typeface="+mn-ea"/>
                <a:ea typeface="LG Smart_H Regular"/>
              </a:rPr>
              <a:t>(11</a:t>
            </a:r>
            <a:r>
              <a:rPr lang="ko-KR" altLang="en-US" sz="1000">
                <a:latin typeface="+mn-ea"/>
                <a:ea typeface="LG Smart_H Regular"/>
              </a:rPr>
              <a:t>월 완료</a:t>
            </a:r>
            <a:r>
              <a:rPr lang="en-US" altLang="ko-KR" sz="1000">
                <a:latin typeface="+mn-ea"/>
                <a:ea typeface="LG Smart_H Regular"/>
              </a:rPr>
              <a:t>)</a:t>
            </a:r>
          </a:p>
          <a:p>
            <a:r>
              <a:rPr lang="en-US" sz="1000">
                <a:latin typeface="+mn-ea"/>
                <a:ea typeface="LG Smart_H Regular"/>
              </a:rPr>
              <a:t>                  3. </a:t>
            </a:r>
            <a:r>
              <a:rPr lang="en-US" sz="1000" err="1">
                <a:latin typeface="+mn-ea"/>
                <a:ea typeface="LG Smart_H Regular"/>
              </a:rPr>
              <a:t>사용자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워크플로우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en-US" sz="1000" err="1">
                <a:latin typeface="+mn-ea"/>
                <a:ea typeface="LG Smart_H Regular"/>
              </a:rPr>
              <a:t>변화관리</a:t>
            </a:r>
            <a:r>
              <a:rPr lang="en-US" sz="1000">
                <a:latin typeface="+mn-ea"/>
                <a:ea typeface="LG Smart_H Regular"/>
              </a:rPr>
              <a:t> (~10/22) </a:t>
            </a:r>
          </a:p>
          <a:p>
            <a:r>
              <a:rPr lang="en-US" altLang="ko-KR" sz="1000">
                <a:latin typeface="+mn-ea"/>
                <a:ea typeface="LG Smart_H Regular"/>
              </a:rPr>
              <a:t>                   </a:t>
            </a:r>
          </a:p>
          <a:p>
            <a:endParaRPr lang="en-US" altLang="ko-KR" sz="1000">
              <a:latin typeface="+mn-ea"/>
              <a:ea typeface="LG Smart_H Regular"/>
            </a:endParaRPr>
          </a:p>
          <a:p>
            <a:endParaRPr lang="en-US" altLang="ko-KR" sz="1000">
              <a:latin typeface="+mn-ea"/>
              <a:ea typeface="LG Smart_H Regular"/>
            </a:endParaRPr>
          </a:p>
          <a:p>
            <a:endParaRPr lang="en-US" sz="1000">
              <a:latin typeface="+mn-ea"/>
              <a:ea typeface="LG Smart_H Regular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[VOE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F/u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사항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]</a:t>
            </a:r>
          </a:p>
          <a:p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1.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기존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FDC Trace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및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UVA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는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Lot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정보 제공하지 않았으나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, MES LOT </a:t>
            </a:r>
            <a:r>
              <a:rPr lang="ko-KR" altLang="en-US" sz="1000" err="1">
                <a:solidFill>
                  <a:srgbClr val="000000"/>
                </a:solidFill>
                <a:latin typeface="+mn-ea"/>
                <a:ea typeface="LG Smart_H Regular"/>
              </a:rPr>
              <a:t>착완공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 기준으로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Matching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하여 제공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(11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월 완료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)</a:t>
            </a:r>
            <a:endParaRPr lang="ko-KR" altLang="en-US" sz="1000">
              <a:solidFill>
                <a:srgbClr val="000000"/>
              </a:solidFill>
              <a:latin typeface="+mn-ea"/>
              <a:ea typeface="LG Smart_H Regular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2.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원천 </a:t>
            </a:r>
            <a:r>
              <a:rPr lang="en-US" altLang="ko-KR" sz="1000" err="1">
                <a:solidFill>
                  <a:srgbClr val="000000"/>
                </a:solidFill>
                <a:latin typeface="+mn-ea"/>
                <a:ea typeface="LG Smart_H Regular"/>
              </a:rPr>
              <a:t>eIoT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의 경우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Tag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명이 영문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/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국문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/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중문으로 제공하였으나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, FDC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는 영문으로만 제공하여 다국어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Desc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추가 대응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(12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월 예정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)</a:t>
            </a:r>
            <a:endParaRPr lang="ko-KR" altLang="en-US" sz="1000">
              <a:solidFill>
                <a:srgbClr val="000000"/>
              </a:solidFill>
              <a:latin typeface="+mn-ea"/>
              <a:ea typeface="LG Smart_H Regular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3.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다빈치 변화관리는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, </a:t>
            </a:r>
            <a:r>
              <a:rPr lang="ko-KR" altLang="en-US" sz="1000" err="1">
                <a:solidFill>
                  <a:srgbClr val="000000"/>
                </a:solidFill>
                <a:latin typeface="+mn-ea"/>
                <a:ea typeface="LG Smart_H Regular"/>
              </a:rPr>
              <a:t>공유회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 및 교육을 진행했고 개별 문의 대응 중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. </a:t>
            </a:r>
            <a:endParaRPr lang="ko-KR" altLang="en-US" sz="1000">
              <a:solidFill>
                <a:srgbClr val="000000"/>
              </a:solidFill>
              <a:latin typeface="+mn-ea"/>
              <a:ea typeface="LG Smart_H Regular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4.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전법인 확산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: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미주법인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26.3~8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월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, HM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법인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26.9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월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, WA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법인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26.10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월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,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중국법인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27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년 예정입니다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.</a:t>
            </a:r>
            <a:endParaRPr lang="ko-KR" altLang="en-US" sz="1000">
              <a:solidFill>
                <a:srgbClr val="000000"/>
              </a:solidFill>
              <a:latin typeface="+mn-ea"/>
              <a:ea typeface="LG Smart_H Regular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OC/OC2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는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12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월까지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VOE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내용 </a:t>
            </a:r>
            <a:r>
              <a:rPr lang="ko-KR" altLang="en-US" sz="1000" err="1">
                <a:solidFill>
                  <a:srgbClr val="000000"/>
                </a:solidFill>
                <a:latin typeface="+mn-ea"/>
                <a:ea typeface="LG Smart_H Regular"/>
              </a:rPr>
              <a:t>개선할예정이고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,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더이상 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VOE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가 </a:t>
            </a:r>
            <a:r>
              <a:rPr lang="ko-KR" altLang="en-US" sz="1000" err="1">
                <a:solidFill>
                  <a:srgbClr val="000000"/>
                </a:solidFill>
                <a:latin typeface="+mn-ea"/>
                <a:ea typeface="LG Smart_H Regular"/>
              </a:rPr>
              <a:t>없을때까지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 </a:t>
            </a:r>
            <a:r>
              <a:rPr lang="en-US" altLang="ko-KR" sz="1000" err="1">
                <a:solidFill>
                  <a:srgbClr val="000000"/>
                </a:solidFill>
                <a:latin typeface="+mn-ea"/>
                <a:ea typeface="LG Smart_H Regular"/>
              </a:rPr>
              <a:t>eiot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/</a:t>
            </a:r>
            <a:r>
              <a:rPr lang="en-US" altLang="ko-KR" sz="1000" err="1">
                <a:solidFill>
                  <a:srgbClr val="000000"/>
                </a:solidFill>
                <a:latin typeface="+mn-ea"/>
                <a:ea typeface="LG Smart_H Regular"/>
              </a:rPr>
              <a:t>fdc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병행 수집 운영할 예정이며 이후 </a:t>
            </a:r>
            <a:r>
              <a:rPr lang="en-US" altLang="ko-KR" sz="1000" err="1">
                <a:solidFill>
                  <a:srgbClr val="000000"/>
                </a:solidFill>
                <a:latin typeface="+mn-ea"/>
                <a:ea typeface="LG Smart_H Regular"/>
              </a:rPr>
              <a:t>eiot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 close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예정입니다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.(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다빈치는 과거 데이터 조회를 위해서 기존 </a:t>
            </a:r>
            <a:r>
              <a:rPr lang="en-US" altLang="ko-KR" sz="1000" err="1">
                <a:solidFill>
                  <a:srgbClr val="000000"/>
                </a:solidFill>
                <a:latin typeface="+mn-ea"/>
                <a:ea typeface="LG Smart_H Regular"/>
              </a:rPr>
              <a:t>eiot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 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메뉴는 지속</a:t>
            </a:r>
            <a:r>
              <a:rPr lang="en-US" altLang="ko-KR" sz="1000">
                <a:solidFill>
                  <a:srgbClr val="000000"/>
                </a:solidFill>
                <a:latin typeface="+mn-ea"/>
                <a:ea typeface="LG Smart_H Regular"/>
              </a:rPr>
              <a:t>)</a:t>
            </a:r>
            <a:endParaRPr lang="ko-KR" altLang="en-US" sz="1000">
              <a:solidFill>
                <a:srgbClr val="000000"/>
              </a:solidFill>
              <a:latin typeface="+mn-ea"/>
              <a:ea typeface="LG Smart_H Regular"/>
            </a:endParaRPr>
          </a:p>
          <a:p>
            <a:endParaRPr lang="en-US" altLang="ko-KR" sz="1000">
              <a:latin typeface="+mn-ea"/>
              <a:ea typeface="LG Smart_H Regular"/>
            </a:endParaRPr>
          </a:p>
          <a:p>
            <a:r>
              <a:rPr lang="ko-KR" altLang="en-US" sz="1000">
                <a:latin typeface="+mn-ea"/>
                <a:ea typeface="LG Smart_H Regular"/>
              </a:rPr>
              <a:t>▣ 조직별 변화관리 </a:t>
            </a:r>
            <a:r>
              <a:rPr lang="ko-KR" altLang="en-US" sz="1000" err="1">
                <a:latin typeface="+mn-ea"/>
                <a:ea typeface="LG Smart_H Regular"/>
              </a:rPr>
              <a:t>공유회</a:t>
            </a:r>
            <a:r>
              <a:rPr lang="ko-KR" altLang="en-US" sz="1000">
                <a:latin typeface="+mn-ea"/>
                <a:ea typeface="LG Smart_H Regular"/>
              </a:rPr>
              <a:t> 및 </a:t>
            </a:r>
            <a:r>
              <a:rPr lang="en-US" altLang="ko-KR" sz="1000">
                <a:latin typeface="+mn-ea"/>
                <a:ea typeface="LG Smart_H Regular"/>
              </a:rPr>
              <a:t>Work Flow </a:t>
            </a:r>
            <a:r>
              <a:rPr lang="ko-KR" altLang="en-US" sz="1000">
                <a:latin typeface="+mn-ea"/>
                <a:ea typeface="LG Smart_H Regular"/>
              </a:rPr>
              <a:t>전환 지원 </a:t>
            </a:r>
            <a:r>
              <a:rPr lang="en-US" altLang="ko-KR" sz="1000">
                <a:latin typeface="+mn-ea"/>
                <a:ea typeface="LG Smart_H Regular"/>
              </a:rPr>
              <a:t>(612</a:t>
            </a:r>
            <a:r>
              <a:rPr lang="ko-KR" altLang="en-US" sz="1000">
                <a:latin typeface="+mn-ea"/>
                <a:ea typeface="LG Smart_H Regular"/>
              </a:rPr>
              <a:t>명</a:t>
            </a:r>
            <a:r>
              <a:rPr lang="en-US" altLang="ko-KR" sz="1000">
                <a:latin typeface="+mn-ea"/>
                <a:ea typeface="LG Smart_H Regular"/>
              </a:rPr>
              <a:t>)</a:t>
            </a:r>
            <a:endParaRPr lang="en-US" altLang="ko-KR" sz="1000">
              <a:latin typeface="+mn-ea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975D021F-A86B-F7E1-2BE6-AF56108275A4}"/>
              </a:ext>
            </a:extLst>
          </p:cNvPr>
          <p:cNvSpPr txBox="1">
            <a:spLocks/>
          </p:cNvSpPr>
          <p:nvPr/>
        </p:nvSpPr>
        <p:spPr>
          <a:xfrm>
            <a:off x="8229601" y="403273"/>
            <a:ext cx="1457466" cy="3077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  <a:cs typeface="Malgun Gothic Semilight"/>
              </a:rPr>
              <a:t>김영선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P, </a:t>
            </a:r>
            <a:r>
              <a:rPr lang="ko-KR" altLang="en-US" sz="1000" err="1">
                <a:solidFill>
                  <a:prstClr val="black"/>
                </a:solidFill>
                <a:latin typeface="+mn-ea"/>
                <a:cs typeface="Malgun Gothic Semilight"/>
              </a:rPr>
              <a:t>지원경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5D184B1-6B05-A168-4EB2-A54D74831717}"/>
              </a:ext>
            </a:extLst>
          </p:cNvPr>
          <p:cNvGraphicFramePr>
            <a:graphicFrameLocks noGrp="1"/>
          </p:cNvGraphicFramePr>
          <p:nvPr/>
        </p:nvGraphicFramePr>
        <p:xfrm>
          <a:off x="1891031" y="2815290"/>
          <a:ext cx="5972148" cy="470929"/>
        </p:xfrm>
        <a:graphic>
          <a:graphicData uri="http://schemas.openxmlformats.org/drawingml/2006/table">
            <a:tbl>
              <a:tblPr bandRow="1">
                <a:tableStyleId>{6E25E649-3F16-4E02-A733-19D2CDBF48F0}</a:tableStyleId>
              </a:tblPr>
              <a:tblGrid>
                <a:gridCol w="1130699">
                  <a:extLst>
                    <a:ext uri="{9D8B030D-6E8A-4147-A177-3AD203B41FA5}">
                      <a16:colId xmlns:a16="http://schemas.microsoft.com/office/drawing/2014/main" val="618328066"/>
                    </a:ext>
                  </a:extLst>
                </a:gridCol>
                <a:gridCol w="657861">
                  <a:extLst>
                    <a:ext uri="{9D8B030D-6E8A-4147-A177-3AD203B41FA5}">
                      <a16:colId xmlns:a16="http://schemas.microsoft.com/office/drawing/2014/main" val="3438363974"/>
                    </a:ext>
                  </a:extLst>
                </a:gridCol>
                <a:gridCol w="750373">
                  <a:extLst>
                    <a:ext uri="{9D8B030D-6E8A-4147-A177-3AD203B41FA5}">
                      <a16:colId xmlns:a16="http://schemas.microsoft.com/office/drawing/2014/main" val="4222057268"/>
                    </a:ext>
                  </a:extLst>
                </a:gridCol>
                <a:gridCol w="1089583">
                  <a:extLst>
                    <a:ext uri="{9D8B030D-6E8A-4147-A177-3AD203B41FA5}">
                      <a16:colId xmlns:a16="http://schemas.microsoft.com/office/drawing/2014/main" val="2088665610"/>
                    </a:ext>
                  </a:extLst>
                </a:gridCol>
                <a:gridCol w="1171816">
                  <a:extLst>
                    <a:ext uri="{9D8B030D-6E8A-4147-A177-3AD203B41FA5}">
                      <a16:colId xmlns:a16="http://schemas.microsoft.com/office/drawing/2014/main" val="2092612943"/>
                    </a:ext>
                  </a:extLst>
                </a:gridCol>
                <a:gridCol w="1171816">
                  <a:extLst>
                    <a:ext uri="{9D8B030D-6E8A-4147-A177-3AD203B41FA5}">
                      <a16:colId xmlns:a16="http://schemas.microsoft.com/office/drawing/2014/main" val="3043288245"/>
                    </a:ext>
                  </a:extLst>
                </a:gridCol>
              </a:tblGrid>
              <a:tr h="138146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>
                        <a:effectLst/>
                        <a:latin typeface="LG Smart_H2.0 R"/>
                        <a:ea typeface="lg스마트체 regular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>
                          <a:latin typeface="LG Smart_H2.0 R"/>
                          <a:ea typeface="lg스마트체 regular"/>
                        </a:rPr>
                        <a:t>논의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>
                          <a:latin typeface="LG Smart_H2.0 R"/>
                          <a:ea typeface="lg스마트체 regular"/>
                        </a:rPr>
                        <a:t>개발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err="1">
                          <a:latin typeface="LG Smart_H2.0 R"/>
                          <a:ea typeface="lg스마트체 regular"/>
                        </a:rPr>
                        <a:t>Test</a:t>
                      </a:r>
                      <a:endParaRPr lang="ko-KR" sz="900">
                        <a:latin typeface="LG Smart_H2.0 R"/>
                        <a:ea typeface="lg스마트체 regular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err="1">
                          <a:latin typeface="LG Smart_H2.0 R"/>
                          <a:ea typeface="lg스마트체 regular"/>
                        </a:rPr>
                        <a:t>EIoT</a:t>
                      </a:r>
                      <a:r>
                        <a:rPr lang="ko-KR" sz="900">
                          <a:latin typeface="LG Smart_H2.0 R"/>
                          <a:ea typeface="lg스마트체 regular"/>
                        </a:rPr>
                        <a:t> </a:t>
                      </a:r>
                      <a:r>
                        <a:rPr lang="en-US" altLang="ko-KR" sz="900">
                          <a:latin typeface="LG Smart_H2.0 R"/>
                          <a:ea typeface="lg스마트체 regular"/>
                        </a:rPr>
                        <a:t>Close</a:t>
                      </a:r>
                      <a:endParaRPr lang="ko-KR" altLang="en-US" sz="900">
                        <a:latin typeface="LG Smart_H2.0 R"/>
                        <a:ea typeface="lg스마트체 regular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>
                          <a:latin typeface="LG Smart_H2.0 R"/>
                          <a:ea typeface="lg스마트체 regular"/>
                        </a:rPr>
                        <a:t>완료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228317930"/>
                  </a:ext>
                </a:extLst>
              </a:tr>
              <a:tr h="16760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>
                          <a:latin typeface="LG Smart_H2.0 R"/>
                          <a:ea typeface="lg스마트체 regular"/>
                        </a:rPr>
                        <a:t>OC</a:t>
                      </a:r>
                      <a:r>
                        <a:rPr lang="ko-KR" sz="900">
                          <a:latin typeface="LG Smart_H2.0 R"/>
                          <a:ea typeface="lg스마트체 regular"/>
                        </a:rPr>
                        <a:t> </a:t>
                      </a:r>
                      <a:r>
                        <a:rPr lang="ko-KR" sz="900" err="1">
                          <a:latin typeface="LG Smart_H2.0 R"/>
                          <a:ea typeface="lg스마트체 regular"/>
                        </a:rPr>
                        <a:t>Pilot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>
                          <a:latin typeface="LG Smart_H2.0 R"/>
                          <a:ea typeface="lg스마트체 regular"/>
                        </a:rPr>
                        <a:t>25.5</a:t>
                      </a:r>
                      <a:endParaRPr lang="ko-KR" altLang="en-US"/>
                    </a:p>
                  </a:txBody>
                  <a:tcPr marL="0" marR="0" marT="0" marB="0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>
                          <a:latin typeface="LG Smart_H2.0 R"/>
                          <a:ea typeface="lg스마트체 regular"/>
                        </a:rPr>
                        <a:t>25.9</a:t>
                      </a:r>
                      <a:endParaRPr lang="ko-KR" altLang="en-US"/>
                    </a:p>
                  </a:txBody>
                  <a:tcPr marL="0" marR="0" marT="0" marB="0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f-ZA" sz="900">
                          <a:latin typeface="LG Smart_H2.0 R"/>
                        </a:rPr>
                        <a:t>25.6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af-ZA" sz="900">
                          <a:latin typeface="LG Smart_H2.0 R"/>
                        </a:rPr>
                        <a:t>25.12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f-ZA" sz="900">
                          <a:latin typeface="LG Smart_H2.0 R"/>
                        </a:rPr>
                        <a:t>25.12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6911810"/>
                  </a:ext>
                </a:extLst>
              </a:tr>
              <a:tr h="165183">
                <a:tc>
                  <a:txBody>
                    <a:bodyPr/>
                    <a:lstStyle/>
                    <a:p>
                      <a:pPr algn="ctr"/>
                      <a:r>
                        <a:rPr lang="ko-KR" sz="900">
                          <a:latin typeface="LG Smart_H2.0 R"/>
                          <a:ea typeface="lg스마트체 regular"/>
                        </a:rPr>
                        <a:t>확대 전개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900">
                        <a:effectLst/>
                        <a:latin typeface="LG Smart_H2.0 R"/>
                        <a:ea typeface="lg스마트체 regular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900">
                          <a:latin typeface="LG Smart_H2.0 R"/>
                          <a:ea typeface="lg스마트체 regular"/>
                        </a:rPr>
                        <a:t>26</a:t>
                      </a:r>
                      <a:r>
                        <a:rPr lang="ko-KR" sz="900">
                          <a:latin typeface="LG Smart_H2.0 R"/>
                          <a:ea typeface="lg스마트체 regular"/>
                        </a:rPr>
                        <a:t>년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f-ZA" sz="900">
                          <a:latin typeface="LG Smart_H2.0 R"/>
                        </a:rPr>
                        <a:t>26</a:t>
                      </a:r>
                      <a:r>
                        <a:rPr lang="ko-KR" altLang="af-ZA" sz="900">
                          <a:latin typeface="LG Smart_H2.0 R"/>
                        </a:rPr>
                        <a:t>년</a:t>
                      </a:r>
                      <a:endParaRPr lang="af-ZA" sz="900">
                        <a:latin typeface="LG Smart_H2.0 R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af-ZA" sz="900">
                          <a:latin typeface="LG Smart_H2.0 R"/>
                        </a:rPr>
                        <a:t>26</a:t>
                      </a:r>
                      <a:r>
                        <a:rPr lang="ko-KR" altLang="af-ZA" sz="900">
                          <a:latin typeface="LG Smart_H2.0 R"/>
                        </a:rPr>
                        <a:t>년</a:t>
                      </a:r>
                      <a:endParaRPr lang="af-ZA" sz="900">
                        <a:latin typeface="LG Smart_H2.0 R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f-ZA" sz="900">
                          <a:latin typeface="LG Smart_H2.0 R"/>
                        </a:rPr>
                        <a:t>26</a:t>
                      </a:r>
                      <a:r>
                        <a:rPr lang="ko-KR" altLang="af-ZA" sz="900">
                          <a:latin typeface="LG Smart_H2.0 R"/>
                        </a:rPr>
                        <a:t>년</a:t>
                      </a:r>
                      <a:endParaRPr lang="af-ZA" sz="900">
                        <a:latin typeface="LG Smart_H2.0 R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0720273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06DFECD5-6FD2-677D-9AF3-E4AEC951150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6098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데이터 확장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제조 데이터 확장</a:t>
            </a:r>
          </a:p>
        </p:txBody>
      </p:sp>
      <p:pic>
        <p:nvPicPr>
          <p:cNvPr id="4" name="그림 3" descr="텍스트, 스크린샷, 번호, 도표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3E29C42-AA89-A548-6F7D-0CE5BB05F18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38992" y="4832985"/>
            <a:ext cx="6790609" cy="17613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555233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37AE18-16E3-F1F5-FA0D-4BBD7E1B8F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678D006-6A3C-C7D2-E29D-EA0F478AF5C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F2400318-B349-922B-2DC5-497574BE476E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8465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ko-KR" altLang="en-US" sz="1400" b="1">
                <a:latin typeface="+mj-ea"/>
                <a:ea typeface="+mj-ea"/>
              </a:rPr>
              <a:t>■ 데이터 확장</a:t>
            </a:r>
            <a:r>
              <a:rPr lang="en-US" altLang="ko-KR" sz="1400" b="1">
                <a:latin typeface="+mj-ea"/>
                <a:ea typeface="+mj-ea"/>
              </a:rPr>
              <a:t>_</a:t>
            </a:r>
            <a:r>
              <a:rPr lang="ko-KR" altLang="en-US" sz="1400" b="1" err="1">
                <a:latin typeface="+mj-ea"/>
                <a:ea typeface="+mj-ea"/>
              </a:rPr>
              <a:t>비제조</a:t>
            </a:r>
            <a:r>
              <a:rPr lang="ko-KR" altLang="en-US" sz="1400" b="1">
                <a:latin typeface="+mj-ea"/>
                <a:ea typeface="+mj-ea"/>
              </a:rPr>
              <a:t> 데이터 확장</a:t>
            </a: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A7B33D36-837B-CCAE-78E8-86DBE1FD42F9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719707" cy="5746282"/>
        </p:xfrm>
        <a:graphic>
          <a:graphicData uri="http://schemas.openxmlformats.org/drawingml/2006/table">
            <a:tbl>
              <a:tblPr/>
              <a:tblGrid>
                <a:gridCol w="5735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04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1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(W50)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눈으로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보는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SCM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25.12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오영택</a:t>
                      </a:r>
                      <a:r>
                        <a:rPr 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권태영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P</a:t>
                      </a:r>
                      <a:endParaRPr lang="ko-KR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김지송A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D8B97A37-4148-559B-5439-289FD2A436F7}"/>
              </a:ext>
            </a:extLst>
          </p:cNvPr>
          <p:cNvSpPr txBox="1"/>
          <p:nvPr/>
        </p:nvSpPr>
        <p:spPr>
          <a:xfrm>
            <a:off x="7979867" y="526370"/>
            <a:ext cx="1707199" cy="3077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 </a:t>
            </a:r>
            <a:r>
              <a:rPr lang="en-US" altLang="ko-KR" sz="1000" dirty="0">
                <a:latin typeface="맑은 고딕"/>
                <a:ea typeface="맑은 고딕"/>
                <a:cs typeface="Malgun Gothic Semilight"/>
              </a:rPr>
              <a:t>12/16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(수)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 11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  <a:br>
              <a:rPr lang="en-US" altLang="ko-KR" sz="1000">
                <a:latin typeface="+mn-ea"/>
                <a:ea typeface="+mn-ea"/>
                <a:cs typeface="Malgun Gothic Semilight"/>
              </a:rPr>
            </a:br>
            <a:r>
              <a:rPr lang="ko-KR" altLang="en-US" sz="1000">
                <a:solidFill>
                  <a:srgbClr val="0000FF"/>
                </a:solidFill>
                <a:latin typeface="+mn-ea"/>
                <a:ea typeface="+mn-ea"/>
                <a:cs typeface="Malgun Gothic Semilight"/>
              </a:rPr>
              <a:t>휴가로 인한 </a:t>
            </a:r>
            <a:r>
              <a:rPr lang="ko-KR" altLang="en-US" sz="1000" err="1">
                <a:solidFill>
                  <a:srgbClr val="0000FF"/>
                </a:solidFill>
                <a:latin typeface="+mn-ea"/>
                <a:ea typeface="+mn-ea"/>
                <a:cs typeface="Malgun Gothic Semilight"/>
              </a:rPr>
              <a:t>미작성</a:t>
            </a:r>
            <a:endParaRPr lang="ko-KR" altLang="en-US" sz="1000">
              <a:solidFill>
                <a:srgbClr val="0000FF"/>
              </a:solidFill>
              <a:latin typeface="+mn-ea"/>
              <a:ea typeface="+mn-ea"/>
              <a:cs typeface="Malgun Gothic Semiligh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CF8B1B8-024A-FDE0-528E-EB81FE4ECF5A}"/>
              </a:ext>
            </a:extLst>
          </p:cNvPr>
          <p:cNvSpPr txBox="1"/>
          <p:nvPr/>
        </p:nvSpPr>
        <p:spPr>
          <a:xfrm>
            <a:off x="5776546" y="558575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36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C0D4538-B564-48AD-835E-D2EBEA1BA39B}"/>
              </a:ext>
            </a:extLst>
          </p:cNvPr>
          <p:cNvSpPr/>
          <p:nvPr/>
        </p:nvSpPr>
        <p:spPr>
          <a:xfrm>
            <a:off x="1341459" y="1086561"/>
            <a:ext cx="7300126" cy="5509200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소형공정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LT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고도화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관련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Function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및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Table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이관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작업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진행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. </a:t>
            </a:r>
            <a:r>
              <a:rPr lang="en-US" sz="1100" dirty="0" err="1">
                <a:latin typeface="+mn-ea"/>
                <a:ea typeface="LG Smart_H Regular"/>
                <a:cs typeface="Malgun Gothic Semilight"/>
              </a:rPr>
              <a:t>인수인계</a:t>
            </a:r>
            <a:r>
              <a:rPr lang="en-US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en-US" sz="1100" dirty="0" err="1">
                <a:latin typeface="+mn-ea"/>
                <a:ea typeface="LG Smart_H Regular"/>
                <a:cs typeface="Malgun Gothic Semilight"/>
              </a:rPr>
              <a:t>관련은</a:t>
            </a:r>
            <a:r>
              <a:rPr lang="en-US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en-US" sz="1100" dirty="0" err="1">
                <a:latin typeface="+mn-ea"/>
                <a:ea typeface="LG Smart_H Regular"/>
                <a:cs typeface="Malgun Gothic Semilight"/>
              </a:rPr>
              <a:t>공정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LT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外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(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외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) </a:t>
            </a:r>
            <a:r>
              <a:rPr lang="en-US" sz="1100" dirty="0">
                <a:latin typeface="+mn-ea"/>
                <a:ea typeface="LG Smart_H Regular"/>
                <a:cs typeface="Malgun Gothic Semilight"/>
              </a:rPr>
              <a:t>CNS SM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에</a:t>
            </a:r>
            <a:r>
              <a:rPr lang="en-US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인계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 err="1">
                <a:latin typeface="+mn-ea"/>
                <a:ea typeface="LG Smart_H Regular"/>
                <a:cs typeface="Malgun Gothic Semilight"/>
              </a:rPr>
              <a:t>받도룩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데이터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흐름도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작성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진행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latin typeface="+mn-ea"/>
                <a:ea typeface="LG Smart_H Regular"/>
                <a:cs typeface="Malgun Gothic Semilight"/>
              </a:rPr>
              <a:t>중이며</a:t>
            </a:r>
            <a:r>
              <a:rPr lang="en-US" altLang="ko-KR" sz="1100" dirty="0">
                <a:latin typeface="+mn-ea"/>
                <a:ea typeface="LG Smart_H Regular"/>
                <a:cs typeface="Malgun Gothic Semilight"/>
              </a:rPr>
              <a:t>,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기간</a:t>
            </a:r>
            <a:r>
              <a:rPr 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12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월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말까지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완료할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</a:t>
            </a:r>
            <a:r>
              <a:rPr lang="ko-KR" altLang="en-US" sz="1100" dirty="0" err="1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목표이였으나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 1</a:t>
            </a:r>
            <a:r>
              <a:rPr lang="ko-KR" altLang="en-US" sz="110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월까지 인수인계 </a:t>
            </a:r>
            <a:r>
              <a:rPr lang="ko-KR" altLang="en-US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기간 연장함</a:t>
            </a:r>
            <a:r>
              <a:rPr lang="en-US" altLang="ko-KR" sz="1100" dirty="0">
                <a:solidFill>
                  <a:srgbClr val="0000FF"/>
                </a:solidFill>
                <a:latin typeface="+mn-ea"/>
                <a:ea typeface="LG Smart_H Regular"/>
                <a:cs typeface="Malgun Gothic Semilight"/>
              </a:rPr>
              <a:t>.</a:t>
            </a:r>
            <a:endParaRPr lang="en-US" altLang="ko-KR" sz="1100" dirty="0">
              <a:solidFill>
                <a:srgbClr val="0000FF"/>
              </a:solidFill>
              <a:ea typeface="LG Smart_H Regular"/>
              <a:cs typeface="Malgun Gothic Semilight"/>
            </a:endParaRPr>
          </a:p>
          <a:p>
            <a:endParaRPr lang="en-US" altLang="ko-KR" sz="1100">
              <a:solidFill>
                <a:srgbClr val="0000FF"/>
              </a:solidFill>
              <a:latin typeface="Arial Narrow"/>
              <a:ea typeface="LG Smart_H Regular"/>
              <a:cs typeface="Malgun Gothic Semilight"/>
            </a:endParaRPr>
          </a:p>
          <a:p>
            <a:endParaRPr lang="en-US" sz="1100">
              <a:solidFill>
                <a:srgbClr val="000000"/>
              </a:solidFill>
              <a:latin typeface="Arial Narrow"/>
              <a:ea typeface="LG Smart_H Regular"/>
              <a:cs typeface="Malgun Gothic Semilight"/>
            </a:endParaRPr>
          </a:p>
          <a:p>
            <a:endParaRPr lang="ko-KR" altLang="en-US" sz="1100">
              <a:solidFill>
                <a:srgbClr val="1414FE"/>
              </a:solidFill>
              <a:latin typeface="Arial Narrow"/>
              <a:ea typeface="LG Smart_H Regular"/>
              <a:cs typeface="Malgun Gothic Semilight"/>
            </a:endParaRPr>
          </a:p>
          <a:p>
            <a:endParaRPr lang="en-US" altLang="ko-KR" sz="1100">
              <a:solidFill>
                <a:srgbClr val="000000"/>
              </a:solidFill>
              <a:latin typeface="Arial Narrow"/>
              <a:ea typeface="LG스마트체 Regular"/>
              <a:cs typeface="Malgun Gothic Semilight"/>
            </a:endParaRPr>
          </a:p>
          <a:p>
            <a:pPr lvl="0"/>
            <a:r>
              <a:rPr lang="en-US" altLang="ko-KR" sz="1100">
                <a:latin typeface="+mn-ea"/>
              </a:rPr>
              <a:t>[</a:t>
            </a:r>
            <a:r>
              <a:rPr lang="ko-KR" altLang="en-US" sz="1100">
                <a:latin typeface="+mn-ea"/>
              </a:rPr>
              <a:t>배경</a:t>
            </a:r>
            <a:r>
              <a:rPr lang="en-US" altLang="ko-KR" sz="1100">
                <a:latin typeface="+mn-ea"/>
              </a:rPr>
              <a:t>] </a:t>
            </a:r>
            <a:endParaRPr lang="ko-KR" altLang="en-US" sz="1100">
              <a:latin typeface="+mn-ea"/>
            </a:endParaRPr>
          </a:p>
          <a:p>
            <a:r>
              <a:rPr lang="ko-KR" altLang="en-US" sz="1100">
                <a:latin typeface="+mn-ea"/>
              </a:rPr>
              <a:t>효율적인 재고 관리 및 통제를 위해 총 </a:t>
            </a:r>
            <a:r>
              <a:rPr lang="en-US" altLang="ko-KR" sz="1100">
                <a:latin typeface="+mn-ea"/>
              </a:rPr>
              <a:t>3</a:t>
            </a:r>
            <a:r>
              <a:rPr lang="ko-KR" altLang="en-US" sz="1100">
                <a:latin typeface="+mn-ea"/>
              </a:rPr>
              <a:t>단계에 걸쳐 </a:t>
            </a:r>
            <a:r>
              <a:rPr lang="en-US" altLang="ko-KR" sz="1100">
                <a:latin typeface="+mn-ea"/>
              </a:rPr>
              <a:t>SCM </a:t>
            </a:r>
            <a:r>
              <a:rPr lang="ko-KR" altLang="en-US" sz="1100">
                <a:latin typeface="+mn-ea"/>
              </a:rPr>
              <a:t>프로젝트를 진행 중입니다</a:t>
            </a:r>
            <a:r>
              <a:rPr lang="en-US" altLang="ko-KR" sz="1100">
                <a:latin typeface="+mn-ea"/>
              </a:rPr>
              <a:t>. 2</a:t>
            </a:r>
            <a:r>
              <a:rPr lang="ko-KR" altLang="en-US" sz="1100">
                <a:latin typeface="+mn-ea"/>
              </a:rPr>
              <a:t>단계 진행중입니다</a:t>
            </a:r>
            <a:r>
              <a:rPr lang="en-US" altLang="ko-KR" sz="1100">
                <a:latin typeface="+mn-ea"/>
              </a:rPr>
              <a:t>.</a:t>
            </a:r>
          </a:p>
          <a:p>
            <a:endParaRPr lang="en-US" altLang="ko-KR" sz="1100">
              <a:latin typeface="+mn-ea"/>
            </a:endParaRPr>
          </a:p>
          <a:p>
            <a:endParaRPr lang="en-US" altLang="ko-KR" sz="1100">
              <a:latin typeface="+mn-ea"/>
            </a:endParaRPr>
          </a:p>
          <a:p>
            <a:endParaRPr lang="en-US" altLang="ko-KR" sz="1100">
              <a:latin typeface="+mn-ea"/>
            </a:endParaRPr>
          </a:p>
          <a:p>
            <a:endParaRPr lang="en-US" altLang="ko-KR" sz="1100">
              <a:latin typeface="+mn-ea"/>
            </a:endParaRPr>
          </a:p>
          <a:p>
            <a:endParaRPr lang="en-US" altLang="ko-KR" sz="1100">
              <a:latin typeface="+mn-ea"/>
            </a:endParaRPr>
          </a:p>
          <a:p>
            <a:endParaRPr lang="en-US" altLang="ko-KR" sz="1100">
              <a:latin typeface="+mn-ea"/>
            </a:endParaRPr>
          </a:p>
          <a:p>
            <a:r>
              <a:rPr lang="en-US" altLang="ko-KR" sz="1100">
                <a:latin typeface="+mn-ea"/>
                <a:ea typeface="LG스마트체 Regular"/>
              </a:rPr>
              <a:t>[</a:t>
            </a:r>
            <a:r>
              <a:rPr lang="en-US" altLang="ko-KR" sz="1100" err="1">
                <a:latin typeface="+mn-ea"/>
                <a:ea typeface="LG스마트체 Regular"/>
              </a:rPr>
              <a:t>진행사항</a:t>
            </a:r>
            <a:r>
              <a:rPr lang="en-US" altLang="ko-KR" sz="1100">
                <a:latin typeface="+mn-ea"/>
                <a:ea typeface="LG스마트체 Regular"/>
              </a:rPr>
              <a:t>]</a:t>
            </a:r>
            <a:endParaRPr lang="en-US" sz="1100">
              <a:latin typeface="+mn-ea"/>
              <a:ea typeface="LG Smart_H Regular"/>
            </a:endParaRPr>
          </a:p>
          <a:p>
            <a:r>
              <a:rPr lang="en-US" sz="1100">
                <a:latin typeface="+mn-ea"/>
                <a:ea typeface="LG Smart_H Regular"/>
              </a:rPr>
              <a:t>1. 4</a:t>
            </a:r>
            <a:r>
              <a:rPr lang="ko-KR" altLang="en-US" sz="1100">
                <a:latin typeface="+mn-ea"/>
                <a:ea typeface="LG Smart_H Regular"/>
              </a:rPr>
              <a:t>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 dirty="0" err="1">
                <a:latin typeface="+mn-ea"/>
                <a:ea typeface="LG Smart_H Regular"/>
              </a:rPr>
              <a:t>과제중</a:t>
            </a:r>
            <a:r>
              <a:rPr lang="en-US" sz="1100">
                <a:latin typeface="+mn-ea"/>
                <a:ea typeface="LG Smart_H Regular"/>
              </a:rPr>
              <a:t> 3</a:t>
            </a:r>
            <a:r>
              <a:rPr lang="ko-KR" altLang="en-US" sz="1100">
                <a:latin typeface="+mn-ea"/>
                <a:ea typeface="LG Smart_H Regular"/>
              </a:rPr>
              <a:t>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진행중임</a:t>
            </a:r>
            <a:r>
              <a:rPr lang="en-US" sz="1100">
                <a:latin typeface="+mn-ea"/>
                <a:ea typeface="LG Smart_H Regular"/>
              </a:rPr>
              <a:t>.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 1) </a:t>
            </a:r>
            <a:r>
              <a:rPr lang="ko-KR" altLang="en-US" sz="1100">
                <a:latin typeface="+mn-ea"/>
                <a:ea typeface="LG Smart_H Regular"/>
              </a:rPr>
              <a:t>소형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공정</a:t>
            </a:r>
            <a:r>
              <a:rPr lang="en-US" sz="1100">
                <a:latin typeface="+mn-ea"/>
                <a:ea typeface="LG Smart_H Regular"/>
              </a:rPr>
              <a:t> LT </a:t>
            </a:r>
            <a:r>
              <a:rPr lang="ko-KR" altLang="en-US" sz="1100">
                <a:latin typeface="+mn-ea"/>
                <a:ea typeface="LG Smart_H Regular"/>
              </a:rPr>
              <a:t>고도화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    - </a:t>
            </a:r>
            <a:r>
              <a:rPr lang="ko-KR" altLang="en-US" sz="1100">
                <a:latin typeface="+mn-ea"/>
                <a:ea typeface="LG Smart_H Regular"/>
              </a:rPr>
              <a:t>공정</a:t>
            </a:r>
            <a:r>
              <a:rPr lang="en-US" sz="1100">
                <a:latin typeface="+mn-ea"/>
                <a:ea typeface="LG Smart_H Regular"/>
              </a:rPr>
              <a:t> LT </a:t>
            </a:r>
            <a:r>
              <a:rPr lang="ko-KR" altLang="en-US" sz="1100">
                <a:latin typeface="+mn-ea"/>
                <a:ea typeface="LG Smart_H Regular"/>
              </a:rPr>
              <a:t>수작업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관리정보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제거를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위한</a:t>
            </a:r>
            <a:r>
              <a:rPr lang="en-US" sz="1100">
                <a:latin typeface="+mn-ea"/>
                <a:ea typeface="LG Smart_H Regular"/>
              </a:rPr>
              <a:t> Function </a:t>
            </a:r>
            <a:r>
              <a:rPr lang="ko-KR" altLang="en-US" sz="1100">
                <a:latin typeface="+mn-ea"/>
                <a:ea typeface="LG Smart_H Regular"/>
              </a:rPr>
              <a:t>개발</a:t>
            </a:r>
            <a:r>
              <a:rPr lang="en-US" sz="1100">
                <a:latin typeface="+mn-ea"/>
                <a:ea typeface="LG Smart_H Regular"/>
              </a:rPr>
              <a:t> → Function </a:t>
            </a:r>
            <a:r>
              <a:rPr lang="ko-KR" altLang="en-US" sz="1100">
                <a:latin typeface="+mn-ea"/>
                <a:ea typeface="LG Smart_H Regular"/>
              </a:rPr>
              <a:t>이관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및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문서완료</a:t>
            </a:r>
            <a:r>
              <a:rPr lang="en-US" sz="1100">
                <a:latin typeface="+mn-ea"/>
                <a:ea typeface="LG Smart_H Regular"/>
              </a:rPr>
              <a:t> (OC, NB, NJ, MI)</a:t>
            </a:r>
            <a:endParaRPr lang="ko-KR"/>
          </a:p>
          <a:p>
            <a:r>
              <a:rPr lang="en-US" sz="1100">
                <a:latin typeface="+mn-ea"/>
                <a:ea typeface="LG Smart_H Regular"/>
              </a:rPr>
              <a:t>       - ESS</a:t>
            </a:r>
            <a:r>
              <a:rPr lang="ko-KR" altLang="en-US" sz="1100">
                <a:latin typeface="+mn-ea"/>
                <a:ea typeface="LG Smart_H Regular"/>
              </a:rPr>
              <a:t>사업부</a:t>
            </a:r>
            <a:r>
              <a:rPr lang="en-US" sz="1100">
                <a:latin typeface="+mn-ea"/>
                <a:ea typeface="LG Smart_H Regular"/>
              </a:rPr>
              <a:t> WA</a:t>
            </a:r>
            <a:r>
              <a:rPr lang="ko-KR" altLang="en-US" sz="1100">
                <a:latin typeface="+mn-ea"/>
                <a:ea typeface="LG Smart_H Regular"/>
              </a:rPr>
              <a:t>법인</a:t>
            </a:r>
            <a:r>
              <a:rPr lang="en-US" sz="1100">
                <a:latin typeface="+mn-ea"/>
                <a:ea typeface="LG Smart_H Regular"/>
              </a:rPr>
              <a:t> LT </a:t>
            </a:r>
            <a:r>
              <a:rPr lang="ko-KR" altLang="en-US" sz="1100" dirty="0" err="1">
                <a:latin typeface="+mn-ea"/>
                <a:ea typeface="LG Smart_H Regular"/>
              </a:rPr>
              <a:t>재산출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작업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로직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변경</a:t>
            </a:r>
            <a:r>
              <a:rPr lang="en-US" sz="1100">
                <a:latin typeface="+mn-ea"/>
                <a:ea typeface="LG Smart_H Regular"/>
              </a:rPr>
              <a:t> → </a:t>
            </a:r>
            <a:r>
              <a:rPr lang="ko-KR" altLang="en-US" sz="1100">
                <a:latin typeface="+mn-ea"/>
                <a:ea typeface="LG Smart_H Regular"/>
              </a:rPr>
              <a:t>활성화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공정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추가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작업</a:t>
            </a:r>
            <a:r>
              <a:rPr lang="en-US" sz="1100">
                <a:latin typeface="+mn-ea"/>
                <a:ea typeface="LG Smart_H Regular"/>
              </a:rPr>
              <a:t>  </a:t>
            </a:r>
            <a:r>
              <a:rPr lang="ko-KR" altLang="en-US" sz="1100">
                <a:latin typeface="+mn-ea"/>
                <a:ea typeface="LG Smart_H Regular"/>
              </a:rPr>
              <a:t>완료</a:t>
            </a:r>
            <a:r>
              <a:rPr lang="en-US" sz="1100">
                <a:latin typeface="+mn-ea"/>
                <a:ea typeface="LG Smart_H Regular"/>
              </a:rPr>
              <a:t>      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      #1 Tray 1</a:t>
            </a:r>
            <a:r>
              <a:rPr lang="ko-KR" altLang="en-US" sz="1100">
                <a:latin typeface="+mn-ea"/>
                <a:ea typeface="LG Smart_H Regular"/>
              </a:rPr>
              <a:t>개에서</a:t>
            </a:r>
            <a:r>
              <a:rPr lang="en-US" sz="1100">
                <a:latin typeface="+mn-ea"/>
                <a:ea typeface="LG Smart_H Regular"/>
              </a:rPr>
              <a:t> N</a:t>
            </a:r>
            <a:r>
              <a:rPr lang="ko-KR" altLang="en-US" sz="1100">
                <a:latin typeface="+mn-ea"/>
                <a:ea typeface="LG Smart_H Regular"/>
              </a:rPr>
              <a:t>개</a:t>
            </a:r>
            <a:r>
              <a:rPr lang="en-US" sz="1100">
                <a:latin typeface="+mn-ea"/>
                <a:ea typeface="LG Smart_H Regular"/>
              </a:rPr>
              <a:t> Route</a:t>
            </a:r>
            <a:r>
              <a:rPr lang="ko-KR" altLang="en-US" sz="1100">
                <a:latin typeface="+mn-ea"/>
                <a:ea typeface="LG Smart_H Regular"/>
              </a:rPr>
              <a:t>를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타는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경우</a:t>
            </a:r>
            <a:r>
              <a:rPr lang="en-US" sz="1100">
                <a:latin typeface="+mn-ea"/>
                <a:ea typeface="LG Smart_H Regular"/>
              </a:rPr>
              <a:t> →  </a:t>
            </a:r>
            <a:r>
              <a:rPr lang="ko-KR" altLang="en-US" sz="1100">
                <a:latin typeface="+mn-ea"/>
                <a:ea typeface="LG Smart_H Regular"/>
              </a:rPr>
              <a:t>재작업으로</a:t>
            </a:r>
            <a:r>
              <a:rPr lang="en-US" sz="1100">
                <a:latin typeface="+mn-ea"/>
                <a:ea typeface="LG Smart_H Regular"/>
              </a:rPr>
              <a:t> LT</a:t>
            </a:r>
            <a:r>
              <a:rPr lang="ko-KR" altLang="en-US" sz="1100">
                <a:latin typeface="+mn-ea"/>
                <a:ea typeface="LG Smart_H Regular"/>
              </a:rPr>
              <a:t>계산에서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제외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      #2 </a:t>
            </a:r>
            <a:r>
              <a:rPr lang="ko-KR" altLang="en-US" sz="1100">
                <a:latin typeface="+mn-ea"/>
                <a:ea typeface="LG Smart_H Regular"/>
              </a:rPr>
              <a:t>완제품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코드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하위</a:t>
            </a:r>
            <a:r>
              <a:rPr lang="en-US" sz="1100">
                <a:latin typeface="+mn-ea"/>
                <a:ea typeface="LG Smart_H Regular"/>
              </a:rPr>
              <a:t> LOT</a:t>
            </a:r>
            <a:r>
              <a:rPr lang="ko-KR" altLang="en-US" sz="1100">
                <a:latin typeface="+mn-ea"/>
                <a:ea typeface="LG Smart_H Regular"/>
              </a:rPr>
              <a:t>별로</a:t>
            </a:r>
            <a:r>
              <a:rPr lang="en-US" sz="1100">
                <a:latin typeface="+mn-ea"/>
                <a:ea typeface="LG Smart_H Regular"/>
              </a:rPr>
              <a:t> Hold </a:t>
            </a:r>
            <a:r>
              <a:rPr lang="ko-KR" altLang="en-US" sz="1100">
                <a:latin typeface="+mn-ea"/>
                <a:ea typeface="LG Smart_H Regular"/>
              </a:rPr>
              <a:t>여부에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따른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계산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로직</a:t>
            </a:r>
            <a:r>
              <a:rPr lang="en-US" sz="1100">
                <a:latin typeface="+mn-ea"/>
                <a:ea typeface="LG Smart_H Regular"/>
              </a:rPr>
              <a:t> ‘N’ : </a:t>
            </a:r>
            <a:r>
              <a:rPr lang="ko-KR" altLang="en-US" sz="1100">
                <a:latin typeface="+mn-ea"/>
                <a:ea typeface="LG Smart_H Regular"/>
              </a:rPr>
              <a:t>계산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포함</a:t>
            </a:r>
            <a:r>
              <a:rPr lang="en-US" sz="1100">
                <a:latin typeface="+mn-ea"/>
                <a:ea typeface="LG Smart_H Regular"/>
              </a:rPr>
              <a:t>, ‘Y’ : </a:t>
            </a:r>
            <a:r>
              <a:rPr lang="ko-KR" altLang="en-US" sz="1100">
                <a:latin typeface="+mn-ea"/>
                <a:ea typeface="LG Smart_H Regular"/>
              </a:rPr>
              <a:t>계산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미포함</a:t>
            </a:r>
            <a:r>
              <a:rPr lang="en-US" sz="1100">
                <a:latin typeface="+mn-ea"/>
                <a:ea typeface="LG Smart_H Regular"/>
              </a:rPr>
              <a:t> (</a:t>
            </a:r>
            <a:r>
              <a:rPr lang="ko-KR" altLang="en-US" sz="1100">
                <a:latin typeface="+mn-ea"/>
                <a:ea typeface="LG Smart_H Regular"/>
              </a:rPr>
              <a:t>제품코드</a:t>
            </a:r>
            <a:r>
              <a:rPr lang="en-US" sz="1100">
                <a:latin typeface="+mn-ea"/>
                <a:ea typeface="LG Smart_H Regular"/>
              </a:rPr>
              <a:t> LT</a:t>
            </a:r>
            <a:r>
              <a:rPr lang="ko-KR" altLang="en-US" sz="1100">
                <a:latin typeface="+mn-ea"/>
                <a:ea typeface="LG Smart_H Regular"/>
              </a:rPr>
              <a:t>계산에서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제외</a:t>
            </a:r>
            <a:r>
              <a:rPr lang="en-US" sz="1100">
                <a:latin typeface="+mn-ea"/>
                <a:ea typeface="LG Smart_H Regular"/>
              </a:rPr>
              <a:t>)</a:t>
            </a:r>
            <a:br>
              <a:rPr lang="en-US" sz="1100">
                <a:latin typeface="+mn-ea"/>
                <a:ea typeface="LG Smart_H Regular"/>
              </a:rPr>
            </a:br>
            <a:r>
              <a:rPr lang="en-US" sz="1100">
                <a:latin typeface="+mn-ea"/>
                <a:ea typeface="LG Smart_H Regular"/>
              </a:rPr>
              <a:t>         - </a:t>
            </a:r>
            <a:r>
              <a:rPr lang="ko-KR" altLang="en-US" sz="1100">
                <a:latin typeface="+mn-ea"/>
                <a:ea typeface="LG Smart_H Regular"/>
              </a:rPr>
              <a:t>자동차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소형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파우치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기준</a:t>
            </a:r>
            <a:r>
              <a:rPr lang="en-US" sz="1100">
                <a:latin typeface="+mn-ea"/>
                <a:ea typeface="LG Smart_H Regular"/>
              </a:rPr>
              <a:t> DIO </a:t>
            </a:r>
            <a:r>
              <a:rPr lang="ko-KR" altLang="en-US" sz="1100">
                <a:latin typeface="+mn-ea"/>
                <a:ea typeface="LG Smart_H Regular"/>
              </a:rPr>
              <a:t>데이터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전달</a:t>
            </a:r>
            <a:r>
              <a:rPr lang="en-US" sz="1100">
                <a:latin typeface="+mn-ea"/>
                <a:ea typeface="LG Smart_H Regular"/>
              </a:rPr>
              <a:t> NJ</a:t>
            </a:r>
            <a:r>
              <a:rPr lang="ko-KR" altLang="en-US" sz="1100">
                <a:latin typeface="+mn-ea"/>
                <a:ea typeface="LG Smart_H Regular"/>
              </a:rPr>
              <a:t>법인</a:t>
            </a:r>
            <a:r>
              <a:rPr lang="en-US" sz="1100">
                <a:latin typeface="+mn-ea"/>
                <a:ea typeface="LG Smart_H Regular"/>
              </a:rPr>
              <a:t> → </a:t>
            </a:r>
            <a:r>
              <a:rPr lang="en-US" sz="1100" dirty="0">
                <a:latin typeface="+mn-ea"/>
                <a:ea typeface="LG Smart_H Regular"/>
              </a:rPr>
              <a:t>Function </a:t>
            </a:r>
            <a:r>
              <a:rPr lang="ko-KR" altLang="en-US" sz="1100" dirty="0">
                <a:latin typeface="+mn-ea"/>
                <a:ea typeface="LG Smart_H Regular"/>
              </a:rPr>
              <a:t>성능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ko-KR" altLang="en-US" sz="1100" dirty="0">
                <a:latin typeface="+mn-ea"/>
                <a:ea typeface="LG Smart_H Regular"/>
              </a:rPr>
              <a:t>개선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ko-KR" altLang="en-US" sz="1100" dirty="0">
                <a:latin typeface="+mn-ea"/>
                <a:ea typeface="LG Smart_H Regular"/>
              </a:rPr>
              <a:t>및</a:t>
            </a:r>
            <a:r>
              <a:rPr lang="en-US" sz="1100" dirty="0">
                <a:latin typeface="+mn-ea"/>
                <a:ea typeface="LG Smart_H Regular"/>
              </a:rPr>
              <a:t> Table </a:t>
            </a:r>
            <a:r>
              <a:rPr lang="ko-KR" altLang="en-US" sz="1100" dirty="0">
                <a:latin typeface="+mn-ea"/>
                <a:ea typeface="LG Smart_H Regular"/>
              </a:rPr>
              <a:t>추가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ko-KR" altLang="en-US" sz="1100" dirty="0">
                <a:latin typeface="+mn-ea"/>
                <a:ea typeface="LG Smart_H Regular"/>
              </a:rPr>
              <a:t>작업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en-US" sz="1100">
                <a:latin typeface="+mn-ea"/>
                <a:ea typeface="LG Smart_H Regular"/>
              </a:rPr>
              <a:t>(</a:t>
            </a:r>
            <a:r>
              <a:rPr lang="ko-KR" altLang="en-US" sz="1100">
                <a:latin typeface="+mn-ea"/>
                <a:ea typeface="LG Smart_H Regular"/>
              </a:rPr>
              <a:t>이관</a:t>
            </a:r>
            <a:r>
              <a:rPr lang="en-US" sz="1100">
                <a:latin typeface="+mn-ea"/>
                <a:ea typeface="LG Smart_H Regular"/>
              </a:rPr>
              <a:t> 12</a:t>
            </a:r>
            <a:r>
              <a:rPr lang="ko-KR" altLang="en-US" sz="1100">
                <a:latin typeface="+mn-ea"/>
                <a:ea typeface="LG Smart_H Regular"/>
              </a:rPr>
              <a:t>월</a:t>
            </a:r>
            <a:r>
              <a:rPr lang="en-US" sz="1100">
                <a:latin typeface="+mn-ea"/>
                <a:ea typeface="LG Smart_H Regular"/>
              </a:rPr>
              <a:t> 16</a:t>
            </a:r>
            <a:r>
              <a:rPr lang="ko-KR" altLang="en-US" sz="1100">
                <a:latin typeface="+mn-ea"/>
                <a:ea typeface="LG Smart_H Regular"/>
              </a:rPr>
              <a:t>일</a:t>
            </a:r>
            <a:r>
              <a:rPr lang="en-US" sz="1100">
                <a:latin typeface="+mn-ea"/>
                <a:ea typeface="LG Smart_H Regular"/>
              </a:rPr>
              <a:t>)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     - CNS </a:t>
            </a:r>
            <a:r>
              <a:rPr lang="ko-KR" altLang="en-US" sz="1100">
                <a:latin typeface="+mn-ea"/>
                <a:ea typeface="LG Smart_H Regular"/>
              </a:rPr>
              <a:t>공정</a:t>
            </a:r>
            <a:r>
              <a:rPr lang="en-US" sz="1100">
                <a:latin typeface="+mn-ea"/>
                <a:ea typeface="LG Smart_H Regular"/>
              </a:rPr>
              <a:t> LT </a:t>
            </a:r>
            <a:r>
              <a:rPr lang="ko-KR" altLang="en-US" sz="1100">
                <a:latin typeface="+mn-ea"/>
                <a:ea typeface="LG Smart_H Regular"/>
              </a:rPr>
              <a:t>인수인계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 dirty="0">
                <a:latin typeface="+mn-ea"/>
                <a:ea typeface="LG Smart_H Regular"/>
              </a:rPr>
              <a:t>문서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ko-KR" altLang="en-US" sz="1100" dirty="0">
                <a:latin typeface="+mn-ea"/>
                <a:ea typeface="LG Smart_H Regular"/>
              </a:rPr>
              <a:t>작성</a:t>
            </a:r>
            <a:r>
              <a:rPr lang="en-US" sz="1100" dirty="0">
                <a:latin typeface="+mn-ea"/>
                <a:ea typeface="LG Smart_H Regular"/>
              </a:rPr>
              <a:t>  </a:t>
            </a:r>
            <a:r>
              <a:rPr lang="ko-KR" altLang="en-US" sz="1100" dirty="0">
                <a:latin typeface="+mn-ea"/>
                <a:ea typeface="LG Smart_H Regular"/>
              </a:rPr>
              <a:t>및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ko-KR" altLang="en-US" sz="1100" dirty="0">
                <a:latin typeface="+mn-ea"/>
                <a:ea typeface="LG Smart_H Regular"/>
              </a:rPr>
              <a:t>인수인계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ko-KR" altLang="en-US" sz="1100" dirty="0">
                <a:latin typeface="+mn-ea"/>
                <a:ea typeface="LG Smart_H Regular"/>
              </a:rPr>
              <a:t>협의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en-US" sz="1100">
                <a:latin typeface="+mn-ea"/>
                <a:ea typeface="LG Smart_H Regular"/>
              </a:rPr>
              <a:t>(</a:t>
            </a:r>
            <a:r>
              <a:rPr lang="en-US" sz="1100" strike="sngStrike" dirty="0">
                <a:latin typeface="+mn-ea"/>
                <a:ea typeface="LG Smart_H Regular"/>
              </a:rPr>
              <a:t>12</a:t>
            </a:r>
            <a:r>
              <a:rPr lang="ko-KR" altLang="en-US" sz="1100" strike="sngStrike" dirty="0">
                <a:latin typeface="+mn-ea"/>
                <a:ea typeface="LG Smart_H Regular"/>
              </a:rPr>
              <a:t>월</a:t>
            </a:r>
            <a:r>
              <a:rPr lang="en-US" sz="1100" strike="sngStrike" dirty="0">
                <a:latin typeface="+mn-ea"/>
                <a:ea typeface="LG Smart_H Regular"/>
              </a:rPr>
              <a:t> </a:t>
            </a:r>
            <a:r>
              <a:rPr lang="en-US" altLang="ko-KR" sz="1100" dirty="0">
                <a:latin typeface="+mn-ea"/>
                <a:ea typeface="LG Smart_H Regular"/>
              </a:rPr>
              <a:t>1</a:t>
            </a:r>
            <a:r>
              <a:rPr lang="ko-KR" altLang="en-US" sz="1100" dirty="0">
                <a:latin typeface="+mn-ea"/>
                <a:ea typeface="LG Smart_H Regular"/>
              </a:rPr>
              <a:t>월 </a:t>
            </a:r>
            <a:r>
              <a:rPr lang="en-US" sz="1100">
                <a:latin typeface="+mn-ea"/>
                <a:ea typeface="LG Smart_H Regular"/>
              </a:rPr>
              <a:t>(</a:t>
            </a:r>
            <a:r>
              <a:rPr lang="ko-KR" altLang="en-US" sz="1100">
                <a:latin typeface="+mn-ea"/>
                <a:ea typeface="LG Smart_H Regular"/>
              </a:rPr>
              <a:t>내</a:t>
            </a:r>
            <a:r>
              <a:rPr lang="en-US" sz="1100">
                <a:latin typeface="+mn-ea"/>
                <a:ea typeface="LG Smart_H Regular"/>
              </a:rPr>
              <a:t>))</a:t>
            </a:r>
            <a:endParaRPr lang="ko-KR"/>
          </a:p>
          <a:p>
            <a:r>
              <a:rPr lang="en-US" sz="1100">
                <a:latin typeface="+mn-ea"/>
                <a:ea typeface="LG Smart_H Regular"/>
              </a:rPr>
              <a:t>    2) SCM/SCP </a:t>
            </a:r>
            <a:r>
              <a:rPr lang="ko-KR" altLang="en-US" sz="1100">
                <a:latin typeface="+mn-ea"/>
                <a:ea typeface="LG Smart_H Regular"/>
              </a:rPr>
              <a:t>로직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개발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     - </a:t>
            </a:r>
            <a:r>
              <a:rPr lang="ko-KR" altLang="en-US" sz="1100">
                <a:latin typeface="+mn-ea"/>
                <a:ea typeface="LG Smart_H Regular"/>
              </a:rPr>
              <a:t>소형사업부</a:t>
            </a:r>
            <a:r>
              <a:rPr lang="en-US" sz="1100">
                <a:latin typeface="+mn-ea"/>
                <a:ea typeface="LG Smart_H Regular"/>
              </a:rPr>
              <a:t> SCM </a:t>
            </a:r>
            <a:r>
              <a:rPr lang="ko-KR" altLang="en-US" sz="1100">
                <a:latin typeface="+mn-ea"/>
                <a:ea typeface="LG Smart_H Regular"/>
              </a:rPr>
              <a:t>데이터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추가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데이터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확인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및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검토</a:t>
            </a:r>
            <a:r>
              <a:rPr lang="en-US" sz="1100">
                <a:latin typeface="+mn-ea"/>
                <a:ea typeface="LG Smart_H Regular"/>
              </a:rPr>
              <a:t> (</a:t>
            </a:r>
            <a:r>
              <a:rPr lang="ko-KR" altLang="en-US" sz="1100">
                <a:latin typeface="+mn-ea"/>
                <a:ea typeface="LG Smart_H Regular"/>
              </a:rPr>
              <a:t>공장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출하계획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및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실적화면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內</a:t>
            </a:r>
            <a:r>
              <a:rPr lang="en-US" sz="1100">
                <a:latin typeface="+mn-ea"/>
                <a:ea typeface="LG Smart_H Regular"/>
              </a:rPr>
              <a:t>)</a:t>
            </a:r>
            <a:endParaRPr lang="ko-KR"/>
          </a:p>
          <a:p>
            <a:r>
              <a:rPr lang="en-US" sz="1100">
                <a:latin typeface="+mn-ea"/>
                <a:ea typeface="LG Smart_H Regular"/>
              </a:rPr>
              <a:t>    3) </a:t>
            </a:r>
            <a:r>
              <a:rPr lang="ko-KR" altLang="en-US" sz="1100">
                <a:latin typeface="+mn-ea"/>
                <a:ea typeface="LG Smart_H Regular"/>
              </a:rPr>
              <a:t>보류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및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주기</a:t>
            </a:r>
            <a:r>
              <a:rPr lang="en-US" sz="1100">
                <a:latin typeface="+mn-ea"/>
                <a:ea typeface="LG Smart_H Regular"/>
              </a:rPr>
              <a:t> DIO </a:t>
            </a:r>
            <a:r>
              <a:rPr lang="ko-KR" altLang="en-US" sz="1100">
                <a:latin typeface="+mn-ea"/>
                <a:ea typeface="LG Smart_H Regular"/>
              </a:rPr>
              <a:t>산출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로직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개선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     - NERP RFC </a:t>
            </a:r>
            <a:r>
              <a:rPr lang="ko-KR" altLang="en-US" sz="1100">
                <a:latin typeface="+mn-ea"/>
                <a:ea typeface="LG Smart_H Regular"/>
              </a:rPr>
              <a:t>수정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요청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건</a:t>
            </a:r>
            <a:r>
              <a:rPr lang="en-US" sz="1100">
                <a:latin typeface="+mn-ea"/>
                <a:ea typeface="LG Smart_H Regular"/>
              </a:rPr>
              <a:t> 3</a:t>
            </a:r>
            <a:r>
              <a:rPr lang="ko-KR" altLang="en-US" sz="1100">
                <a:latin typeface="+mn-ea"/>
                <a:ea typeface="LG Smart_H Regular"/>
              </a:rPr>
              <a:t>건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관련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부서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협의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및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담당자</a:t>
            </a:r>
            <a:r>
              <a:rPr lang="en-US" sz="1100">
                <a:latin typeface="+mn-ea"/>
                <a:ea typeface="LG Smart_H Regular"/>
              </a:rPr>
              <a:t>(SCM</a:t>
            </a:r>
            <a:r>
              <a:rPr lang="ko-KR" altLang="en-US" sz="1100" dirty="0" err="1">
                <a:latin typeface="+mn-ea"/>
                <a:ea typeface="LG Smart_H Regular"/>
              </a:rPr>
              <a:t>혁신팀</a:t>
            </a:r>
            <a:r>
              <a:rPr lang="en-US" sz="1100">
                <a:latin typeface="+mn-ea"/>
                <a:ea typeface="LG Smart_H Regular"/>
              </a:rPr>
              <a:t>) </a:t>
            </a:r>
            <a:r>
              <a:rPr lang="ko-KR" altLang="en-US" sz="1100">
                <a:latin typeface="+mn-ea"/>
                <a:ea typeface="LG Smart_H Regular"/>
              </a:rPr>
              <a:t>진행</a:t>
            </a:r>
            <a:r>
              <a:rPr lang="en-US" sz="1100">
                <a:latin typeface="+mn-ea"/>
                <a:ea typeface="LG Smart_H Regular"/>
              </a:rPr>
              <a:t> → </a:t>
            </a:r>
            <a:r>
              <a:rPr lang="ko-KR" altLang="en-US" sz="1100">
                <a:latin typeface="+mn-ea"/>
                <a:ea typeface="LG Smart_H Regular"/>
              </a:rPr>
              <a:t>신규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en-US" sz="1100" dirty="0" err="1">
                <a:latin typeface="+mn-ea"/>
                <a:ea typeface="LG Smart_H Regular"/>
              </a:rPr>
              <a:t>eWM</a:t>
            </a:r>
            <a:r>
              <a:rPr lang="ko-KR" altLang="en-US" sz="1100">
                <a:latin typeface="+mn-ea"/>
                <a:ea typeface="LG Smart_H Regular"/>
              </a:rPr>
              <a:t>용</a:t>
            </a:r>
            <a:r>
              <a:rPr lang="en-US" sz="1100">
                <a:latin typeface="+mn-ea"/>
                <a:ea typeface="LG Smart_H Regular"/>
              </a:rPr>
              <a:t> RFC </a:t>
            </a:r>
            <a:r>
              <a:rPr lang="ko-KR" altLang="en-US" sz="1100" dirty="0" err="1">
                <a:latin typeface="+mn-ea"/>
                <a:ea typeface="LG Smart_H Regular"/>
              </a:rPr>
              <a:t>맵핑정의서</a:t>
            </a:r>
            <a:r>
              <a:rPr lang="en-US" sz="1100">
                <a:latin typeface="+mn-ea"/>
                <a:ea typeface="LG Smart_H Regular"/>
              </a:rPr>
              <a:t> </a:t>
            </a:r>
            <a:br>
              <a:rPr lang="en-US" sz="1100">
                <a:latin typeface="+mn-ea"/>
                <a:ea typeface="LG Smart_H Regular"/>
              </a:rPr>
            </a:br>
            <a:r>
              <a:rPr lang="en-US" sz="1100">
                <a:latin typeface="+mn-ea"/>
                <a:ea typeface="LG Smart_H Regular"/>
              </a:rPr>
              <a:t>          ⓐ ZMMCMR2003 (</a:t>
            </a:r>
            <a:r>
              <a:rPr lang="ko-KR" altLang="en-US" sz="1100">
                <a:latin typeface="+mn-ea"/>
                <a:ea typeface="LG Smart_H Regular"/>
              </a:rPr>
              <a:t>발주</a:t>
            </a:r>
            <a:r>
              <a:rPr lang="en-US" sz="1100">
                <a:latin typeface="+mn-ea"/>
                <a:ea typeface="LG Smart_H Regular"/>
              </a:rPr>
              <a:t>LT) ⓑ MM60(</a:t>
            </a:r>
            <a:r>
              <a:rPr lang="ko-KR" altLang="en-US" sz="1100">
                <a:latin typeface="+mn-ea"/>
                <a:ea typeface="LG Smart_H Regular"/>
              </a:rPr>
              <a:t>이동평균단가</a:t>
            </a:r>
            <a:r>
              <a:rPr lang="en-US" sz="1100">
                <a:latin typeface="+mn-ea"/>
                <a:ea typeface="LG Smart_H Regular"/>
              </a:rPr>
              <a:t>) ⓒMM03 (</a:t>
            </a:r>
            <a:r>
              <a:rPr lang="ko-KR" altLang="en-US" sz="1100">
                <a:latin typeface="+mn-ea"/>
                <a:ea typeface="LG Smart_H Regular"/>
              </a:rPr>
              <a:t>계획단가</a:t>
            </a:r>
            <a:r>
              <a:rPr lang="en-US" sz="1100">
                <a:latin typeface="+mn-ea"/>
                <a:ea typeface="LG Smart_H Regular"/>
              </a:rPr>
              <a:t>)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     - </a:t>
            </a:r>
            <a:r>
              <a:rPr lang="en-US" sz="1100" dirty="0" err="1">
                <a:latin typeface="+mn-ea"/>
                <a:ea typeface="LG Smart_H Regular"/>
              </a:rPr>
              <a:t>기준</a:t>
            </a:r>
            <a:r>
              <a:rPr lang="en-US" sz="1100">
                <a:latin typeface="+mn-ea"/>
                <a:ea typeface="LG Smart_H Regular"/>
              </a:rPr>
              <a:t> DIO </a:t>
            </a:r>
            <a:r>
              <a:rPr lang="en-US" sz="1100" dirty="0" err="1">
                <a:latin typeface="+mn-ea"/>
                <a:ea typeface="LG Smart_H Regular"/>
              </a:rPr>
              <a:t>배치</a:t>
            </a:r>
            <a:r>
              <a:rPr lang="en-US" sz="1100" dirty="0">
                <a:latin typeface="+mn-ea"/>
                <a:ea typeface="LG Smart_H Regular"/>
              </a:rPr>
              <a:t> </a:t>
            </a:r>
            <a:r>
              <a:rPr lang="en-US" sz="1100" dirty="0" err="1">
                <a:latin typeface="+mn-ea"/>
                <a:ea typeface="LG Smart_H Regular"/>
              </a:rPr>
              <a:t>적용</a:t>
            </a:r>
            <a:r>
              <a:rPr lang="en-US" sz="1100" dirty="0">
                <a:latin typeface="+mn-ea"/>
                <a:ea typeface="LG Smart_H Regular"/>
              </a:rPr>
              <a:t> 및 Data </a:t>
            </a:r>
            <a:r>
              <a:rPr lang="en-US" sz="1100" dirty="0" err="1">
                <a:latin typeface="+mn-ea"/>
                <a:ea typeface="LG Smart_H Regular"/>
              </a:rPr>
              <a:t>확인</a:t>
            </a:r>
            <a:r>
              <a:rPr lang="en-US" sz="1100">
                <a:latin typeface="+mn-ea"/>
                <a:ea typeface="LG Smart_H Regular"/>
              </a:rPr>
              <a:t> (</a:t>
            </a:r>
            <a:r>
              <a:rPr lang="en-US" sz="1100" dirty="0" err="1">
                <a:latin typeface="+mn-ea"/>
                <a:ea typeface="LG Smart_H Regular"/>
              </a:rPr>
              <a:t>사업부</a:t>
            </a:r>
            <a:r>
              <a:rPr lang="en-US" sz="1100">
                <a:latin typeface="+mn-ea"/>
                <a:ea typeface="LG Smart_H Regular"/>
              </a:rPr>
              <a:t>, </a:t>
            </a:r>
            <a:r>
              <a:rPr lang="en-US" sz="1100" dirty="0" err="1">
                <a:latin typeface="+mn-ea"/>
                <a:ea typeface="LG Smart_H Regular"/>
              </a:rPr>
              <a:t>법인</a:t>
            </a:r>
            <a:r>
              <a:rPr lang="en-US" sz="1100">
                <a:latin typeface="+mn-ea"/>
                <a:ea typeface="LG Smart_H Regular"/>
              </a:rPr>
              <a:t>)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 4) AI </a:t>
            </a:r>
            <a:r>
              <a:rPr lang="ko-KR" altLang="en-US" sz="1100">
                <a:latin typeface="+mn-ea"/>
                <a:ea typeface="LG Smart_H Regular"/>
              </a:rPr>
              <a:t>활용을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위한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데이터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제공</a:t>
            </a:r>
            <a:r>
              <a:rPr lang="en-US" sz="1100">
                <a:latin typeface="+mn-ea"/>
                <a:ea typeface="LG Smart_H Regular"/>
              </a:rPr>
              <a:t> </a:t>
            </a:r>
            <a:endParaRPr lang="en-US"/>
          </a:p>
          <a:p>
            <a:r>
              <a:rPr lang="en-US" sz="1100">
                <a:latin typeface="+mn-ea"/>
                <a:ea typeface="LG Smart_H Regular"/>
              </a:rPr>
              <a:t>        - SCM </a:t>
            </a:r>
            <a:r>
              <a:rPr lang="ko-KR" altLang="en-US" sz="1100">
                <a:latin typeface="+mn-ea"/>
                <a:ea typeface="LG Smart_H Regular"/>
              </a:rPr>
              <a:t>관련</a:t>
            </a:r>
            <a:r>
              <a:rPr lang="en-US" sz="1100">
                <a:latin typeface="+mn-ea"/>
                <a:ea typeface="LG Smart_H Regular"/>
              </a:rPr>
              <a:t> Data </a:t>
            </a:r>
            <a:r>
              <a:rPr lang="ko-KR" altLang="en-US" sz="1100">
                <a:latin typeface="+mn-ea"/>
                <a:ea typeface="LG Smart_H Regular"/>
              </a:rPr>
              <a:t>생성형</a:t>
            </a:r>
            <a:r>
              <a:rPr lang="en-US" sz="1100">
                <a:latin typeface="+mn-ea"/>
                <a:ea typeface="LG Smart_H Regular"/>
              </a:rPr>
              <a:t>AI </a:t>
            </a:r>
            <a:r>
              <a:rPr lang="ko-KR" altLang="en-US" sz="1100">
                <a:latin typeface="+mn-ea"/>
                <a:ea typeface="LG Smart_H Regular"/>
              </a:rPr>
              <a:t>활용을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위한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데이터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셋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추가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구성</a:t>
            </a:r>
            <a:r>
              <a:rPr lang="en-US" sz="1100">
                <a:latin typeface="+mn-ea"/>
                <a:ea typeface="LG Smart_H Regular"/>
              </a:rPr>
              <a:t> (SCM </a:t>
            </a:r>
            <a:r>
              <a:rPr lang="ko-KR" altLang="en-US" sz="1100">
                <a:latin typeface="+mn-ea"/>
                <a:ea typeface="LG Smart_H Regular"/>
              </a:rPr>
              <a:t>생산</a:t>
            </a:r>
            <a:r>
              <a:rPr lang="en-US" sz="1100">
                <a:latin typeface="+mn-ea"/>
                <a:ea typeface="LG Smart_H Regular"/>
              </a:rPr>
              <a:t>/</a:t>
            </a:r>
            <a:r>
              <a:rPr lang="ko-KR" altLang="en-US" sz="1100">
                <a:latin typeface="+mn-ea"/>
                <a:ea typeface="LG Smart_H Regular"/>
              </a:rPr>
              <a:t>출하계획</a:t>
            </a:r>
            <a:r>
              <a:rPr lang="en-US" sz="1100">
                <a:latin typeface="+mn-ea"/>
                <a:ea typeface="LG Smart_H Regular"/>
              </a:rPr>
              <a:t>, DIO </a:t>
            </a:r>
            <a:r>
              <a:rPr lang="ko-KR" altLang="en-US" sz="1100">
                <a:latin typeface="+mn-ea"/>
                <a:ea typeface="LG Smart_H Regular"/>
              </a:rPr>
              <a:t>중간</a:t>
            </a:r>
            <a:r>
              <a:rPr lang="en-US" sz="1100">
                <a:latin typeface="+mn-ea"/>
                <a:ea typeface="LG Smart_H Regular"/>
              </a:rPr>
              <a:t> </a:t>
            </a:r>
            <a:r>
              <a:rPr lang="ko-KR" altLang="en-US" sz="1100">
                <a:latin typeface="+mn-ea"/>
                <a:ea typeface="LG Smart_H Regular"/>
              </a:rPr>
              <a:t>집계</a:t>
            </a:r>
            <a:r>
              <a:rPr lang="en-US" sz="1100">
                <a:latin typeface="+mn-ea"/>
                <a:ea typeface="LG Smart_H Regular"/>
              </a:rPr>
              <a:t> data)</a:t>
            </a:r>
            <a:endParaRPr lang="ko-KR"/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A78972E1-2ED0-423B-BB1D-AD6725184D7B}"/>
              </a:ext>
            </a:extLst>
          </p:cNvPr>
          <p:cNvSpPr txBox="1">
            <a:spLocks/>
          </p:cNvSpPr>
          <p:nvPr/>
        </p:nvSpPr>
        <p:spPr>
          <a:xfrm>
            <a:off x="8229601" y="357093"/>
            <a:ext cx="1457466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권태영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6A3D89D-4695-4DB1-A70F-7E6A7EA18226}"/>
              </a:ext>
            </a:extLst>
          </p:cNvPr>
          <p:cNvGraphicFramePr>
            <a:graphicFrameLocks noGrp="1"/>
          </p:cNvGraphicFramePr>
          <p:nvPr/>
        </p:nvGraphicFramePr>
        <p:xfrm>
          <a:off x="1401132" y="1558434"/>
          <a:ext cx="7147170" cy="18160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19090">
                  <a:extLst>
                    <a:ext uri="{9D8B030D-6E8A-4147-A177-3AD203B41FA5}">
                      <a16:colId xmlns:a16="http://schemas.microsoft.com/office/drawing/2014/main" val="2207267172"/>
                    </a:ext>
                  </a:extLst>
                </a:gridCol>
                <a:gridCol w="5542280">
                  <a:extLst>
                    <a:ext uri="{9D8B030D-6E8A-4147-A177-3AD203B41FA5}">
                      <a16:colId xmlns:a16="http://schemas.microsoft.com/office/drawing/2014/main" val="2980148352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3876165532"/>
                    </a:ext>
                  </a:extLst>
                </a:gridCol>
              </a:tblGrid>
              <a:tr h="27845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구분</a:t>
                      </a:r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내용</a:t>
                      </a:r>
                      <a:endParaRPr 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기간</a:t>
                      </a:r>
                      <a:endParaRPr lang="en-US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770686"/>
                  </a:ext>
                </a:extLst>
              </a:tr>
              <a:tr h="34615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단계 완료</a:t>
                      </a:r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rtl="0" fontAlgn="ctr"/>
                      <a:endParaRPr lang="en-US" altLang="ko-KR" sz="3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지표 가시화</a:t>
                      </a:r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자동차</a:t>
                      </a:r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endParaRPr lang="en-US" altLang="ko-KR" sz="800" b="1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ct val="100000"/>
                        </a:lnSpc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자동차 사업부를 중심으로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개의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눈으로 보는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SCM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리포트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'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를 제작하여 재고 관리의 가시성을 확보했습니다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algn="l" fontAlgn="ctr">
                        <a:lnSpc>
                          <a:spcPct val="100000"/>
                        </a:lnSpc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- SCM KPI(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주요 성과 지표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관리를 위한 데이터가 시각화 되어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Lead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Time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현황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DIO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등 을 모니터링 할 수 있게 되었습니다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endParaRPr lang="en-US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390431"/>
                  </a:ext>
                </a:extLst>
              </a:tr>
              <a:tr h="621020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2</a:t>
                      </a: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단계 완료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3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지표 가시화 확산 및 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상세 분석 기능 추가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확산 및 신규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SCM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데이터 서비스 추가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-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소형 및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ESS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사업부에 지표 가시화를 확산할 예정이며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SCM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데이터 서비스에 신규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종을 개발할 예정입니다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분석 기능 추가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및 데이터 영역 확장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공정 리드 타임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(Lead Time)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단축을 위한 상세분석기능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종에 대해 진행할 예정입니다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- VMI(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공급업체 재고 관리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창고 자재 관리 영역도 확장됩니다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~6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7861927"/>
                  </a:ext>
                </a:extLst>
              </a:tr>
              <a:tr h="570469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3</a:t>
                      </a: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단계 준비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altLang="ko-KR" sz="3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소형 고도화 및 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ko-KR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AI </a:t>
                      </a:r>
                      <a:r>
                        <a:rPr lang="ko-KR" altLang="en-US" sz="8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기반 확보</a:t>
                      </a:r>
                      <a:endParaRPr lang="en-US" altLang="ko-KR" sz="800" b="1" i="0" u="none" strike="noStrike" kern="120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소형 공정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LT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고도화 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소형사업부의 활성화 이후의 물류창고 특화로직 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2. AI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기반확보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-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생성형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AI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용 데이터 셋 구성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‘25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년 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~12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14FE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60389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190120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57810"/>
          <a:ext cx="9644164" cy="5747089"/>
        </p:xfrm>
        <a:graphic>
          <a:graphicData uri="http://schemas.openxmlformats.org/drawingml/2006/table">
            <a:tbl>
              <a:tblPr/>
              <a:tblGrid>
                <a:gridCol w="5743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60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796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94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(W50)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kern="1200">
                          <a:solidFill>
                            <a:prstClr val="black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SPC+</a:t>
                      </a:r>
                      <a:endParaRPr lang="en-US" altLang="ko-KR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prstClr val="black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계측기 데이터 연계</a:t>
                      </a:r>
                      <a:endParaRPr lang="en-US" altLang="ko-KR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전법인</a:t>
                      </a:r>
                      <a:endParaRPr lang="en-US" altLang="ko-KR"/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 핵심 내용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금일 ESOC 스냅뷰 서비스와 이미지 뷰어 기능 서비스 오픈 예정입니다.                         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법인별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현황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  <a:endParaRPr lang="en-US" sz="1000"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1. SPC+ </a:t>
                      </a: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계측기 연계 </a:t>
                      </a:r>
                      <a:endParaRPr lang="ko-KR" altLang="en-US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대상 법인 : ESOC, ESNJ,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ESAZ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 OC 법인 서비스 개발을 위해 데이터 초기 적재 완료하였고 계측 데이터, 계측기 정합성, 계측기 이력 데이터 개발이 완료되어 11/18 운영이관 예정입니다.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-&gt; OC 오픈은 완료(11/18)했습니다. 계측 Raw데이터는 데이터 발생 시점에 맞춰 오픈 예정입니다.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- NJ 계발 90% 완료 테스트 준비 중입니다. 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-&gt; 계측기에서 발생 된 데이터가 없어 테스트 지연 중입니다. 공정검사DX팀(김태원 S)에 문의 중 입니다.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-&gt;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NJ 계측데이터 "26년 1월부터  한다고 공유받아 오픈시기를 1월 말로 준비하고 있습니다. 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  - AZ법인은 26년 초 투자 진행 예정 입니다.</a:t>
                      </a:r>
                      <a:endParaRPr lang="en-US"/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2. 대용량 시각화 서비스  (개발완료)</a:t>
                      </a:r>
                      <a:endParaRPr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OC , NJ법인 서비스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개발을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중이며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  OC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16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오픈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.(NJ법인 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말 오픈 예정)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- AZ법인은 26년 초 투자 진행 예정 입니다.</a:t>
                      </a:r>
                      <a:endParaRPr lang="en-US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이미지 뷰어  (개발완료)</a:t>
                      </a: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 OC, NJ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개발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중이며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OC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16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오픈 예정입니다.(NJ법인 1월 말 오픈 예정)</a:t>
                      </a:r>
                      <a:b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- AZ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법인은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26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년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초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투자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예정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입니다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lvl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‘26.12</a:t>
                      </a:r>
                      <a:b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소형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JV)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윤석모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P/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조남준</a:t>
                      </a:r>
                      <a:r>
                        <a:rPr lang="en-US" altLang="ko-KR" sz="10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A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85268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SPC +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계측기 </a:t>
            </a:r>
            <a:r>
              <a:rPr lang="ko-KR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데이터 연계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 rot="10800000" flipV="1">
            <a:off x="8049731" y="692663"/>
            <a:ext cx="171462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+mn-ea"/>
                <a:ea typeface="LG스마트체 Regular"/>
                <a:cs typeface="Malgun Gothic Semilight"/>
              </a:rPr>
              <a:t>12</a:t>
            </a:r>
            <a:r>
              <a:rPr lang="en-US" altLang="ko-KR" sz="1000">
                <a:latin typeface="+mn-ea"/>
                <a:ea typeface="맑은 고딕"/>
                <a:cs typeface="Malgun Gothic Semilight"/>
              </a:rPr>
              <a:t>/16(</a:t>
            </a:r>
            <a:r>
              <a:rPr lang="ko-KR" altLang="en-US" sz="1000">
                <a:latin typeface="+mn-ea"/>
                <a:ea typeface="맑은 고딕"/>
                <a:cs typeface="Malgun Gothic Semilight"/>
              </a:rPr>
              <a:t>화</a:t>
            </a:r>
            <a:r>
              <a:rPr lang="en-US" altLang="ko-KR" sz="1000">
                <a:latin typeface="+mn-ea"/>
                <a:ea typeface="맑은 고딕"/>
                <a:cs typeface="Malgun Gothic Semilight"/>
              </a:rPr>
              <a:t>)</a:t>
            </a:r>
            <a:r>
              <a:rPr lang="en-US" sz="1000">
                <a:latin typeface="+mn-ea"/>
                <a:ea typeface="+mn-ea"/>
                <a:cs typeface="Malgun Gothic Semilight"/>
              </a:rPr>
              <a:t> 11</a:t>
            </a:r>
            <a:r>
              <a:rPr lang="ko-KR" sz="1000">
                <a:latin typeface="+mn-ea"/>
                <a:ea typeface="+mn-ea"/>
                <a:cs typeface="Malgun Gothic Semilight"/>
              </a:rPr>
              <a:t>시</a:t>
            </a:r>
            <a:endParaRPr lang="en-US" sz="1000">
              <a:latin typeface="+mn-ea"/>
              <a:ea typeface="+mn-ea"/>
              <a:cs typeface="Malgun Gothic Semiligh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831062" y="403273"/>
            <a:ext cx="856004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ko-KR" altLang="en-US" sz="1000" err="1">
                <a:solidFill>
                  <a:prstClr val="black"/>
                </a:solidFill>
                <a:latin typeface="+mn-ea"/>
                <a:cs typeface="Malgun Gothic Semilight"/>
              </a:rPr>
              <a:t>윤석모P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 panose="020B0502040204020203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2B096A3-A710-49C4-AD07-99848204F431}"/>
              </a:ext>
            </a:extLst>
          </p:cNvPr>
          <p:cNvSpPr txBox="1"/>
          <p:nvPr/>
        </p:nvSpPr>
        <p:spPr>
          <a:xfrm>
            <a:off x="5793729" y="558575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762840B-F0CF-495A-AD3C-F9E304ED545E}"/>
              </a:ext>
            </a:extLst>
          </p:cNvPr>
          <p:cNvGraphicFramePr>
            <a:graphicFrameLocks noGrp="1"/>
          </p:cNvGraphicFramePr>
          <p:nvPr/>
        </p:nvGraphicFramePr>
        <p:xfrm>
          <a:off x="1326243" y="1869096"/>
          <a:ext cx="7083405" cy="16363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24013">
                  <a:extLst>
                    <a:ext uri="{9D8B030D-6E8A-4147-A177-3AD203B41FA5}">
                      <a16:colId xmlns:a16="http://schemas.microsoft.com/office/drawing/2014/main" val="1993497116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186272824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2572183020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982539157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2952050369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3792422273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3047010794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3450348450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430506268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3622836902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1149278789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930067466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1284093840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2291798138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1084078809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835445624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434896660"/>
                    </a:ext>
                  </a:extLst>
                </a:gridCol>
              </a:tblGrid>
              <a:tr h="18324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effectLst/>
                        </a:rPr>
                        <a:t>기능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>
                          <a:effectLst/>
                        </a:rPr>
                        <a:t>자동차</a:t>
                      </a:r>
                      <a:r>
                        <a:rPr lang="en-US" altLang="ko-KR" sz="800" u="none" strike="noStrike">
                          <a:effectLst/>
                        </a:rPr>
                        <a:t>/</a:t>
                      </a:r>
                      <a:r>
                        <a:rPr lang="en-US" sz="800" u="none" strike="noStrike">
                          <a:effectLst/>
                        </a:rPr>
                        <a:t>ESS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>
                          <a:effectLst/>
                        </a:rPr>
                        <a:t>소형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JV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5645664"/>
                  </a:ext>
                </a:extLst>
              </a:tr>
              <a:tr h="957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WA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NB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NA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NJ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OC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MI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MI-L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OC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NJ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AZ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GM1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GM2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HM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ST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HD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u="none" strike="noStrike">
                          <a:effectLst/>
                        </a:rPr>
                        <a:t>HG</a:t>
                      </a: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0597165"/>
                  </a:ext>
                </a:extLst>
              </a:tr>
              <a:tr h="18607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effectLst/>
                        </a:rPr>
                        <a:t>데이터 서비스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</a:rPr>
                        <a:t>일정</a:t>
                      </a:r>
                      <a:br>
                        <a:rPr lang="ko-KR" altLang="en-US" sz="800" u="none" strike="noStrike">
                          <a:solidFill>
                            <a:srgbClr val="BFBFBF"/>
                          </a:solidFill>
                          <a:effectLst/>
                        </a:rPr>
                      </a:br>
                      <a:r>
                        <a:rPr lang="ko-KR" altLang="en-US" sz="80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</a:rPr>
                        <a:t>검토中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1400" b="1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Malgun Gothic"/>
                        </a:rPr>
                        <a:t>●</a:t>
                      </a:r>
                      <a:endParaRPr lang="en-US"/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Malgun Gothic"/>
                        </a:rPr>
                        <a:t>◑</a:t>
                      </a:r>
                      <a:endParaRPr lang="en-US">
                        <a:solidFill>
                          <a:srgbClr val="0000FF"/>
                        </a:solidFill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</a:rPr>
                        <a:t>26.4Q</a:t>
                      </a:r>
                      <a:br>
                        <a:rPr lang="en-US" sz="800" u="none" strike="noStrike">
                          <a:solidFill>
                            <a:srgbClr val="BFBFBF"/>
                          </a:solidFill>
                          <a:effectLst/>
                        </a:rPr>
                      </a:br>
                      <a:r>
                        <a:rPr lang="ko-KR" altLang="en-US" sz="80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</a:rPr>
                        <a:t>예정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</a:rPr>
                        <a:t>26.4Q</a:t>
                      </a:r>
                      <a:br>
                        <a:rPr lang="en-US" sz="800" u="none" strike="noStrike">
                          <a:solidFill>
                            <a:srgbClr val="BFBFBF"/>
                          </a:solidFill>
                          <a:effectLst/>
                        </a:rPr>
                      </a:br>
                      <a:r>
                        <a:rPr lang="ko-KR" altLang="en-US" sz="80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</a:rPr>
                        <a:t>예정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</a:rPr>
                        <a:t>26.4Q</a:t>
                      </a:r>
                      <a:br>
                        <a:rPr lang="en-US" sz="800" u="none" strike="noStrike">
                          <a:solidFill>
                            <a:srgbClr val="BFBFBF"/>
                          </a:solidFill>
                          <a:effectLst/>
                        </a:rPr>
                      </a:br>
                      <a:r>
                        <a:rPr lang="ko-KR" altLang="en-US" sz="800" u="none" strike="noStrike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</a:rPr>
                        <a:t>예정</a:t>
                      </a:r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i="0" u="none" strike="noStrike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</a:rPr>
                        <a:t>26.4Q</a:t>
                      </a:r>
                      <a:br>
                        <a:rPr lang="en-US" sz="800" b="0" i="0" u="none" strike="noStrike" noProof="0">
                          <a:solidFill>
                            <a:srgbClr val="BFBFBF"/>
                          </a:solidFill>
                          <a:effectLst/>
                          <a:latin typeface="Arial Narrow"/>
                        </a:rPr>
                      </a:br>
                      <a:r>
                        <a:rPr lang="en-US" sz="800" b="0" i="0" u="none" strike="noStrike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</a:rPr>
                        <a:t>예정</a:t>
                      </a:r>
                      <a:endParaRPr lang="en-US" err="1"/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</a:rPr>
                        <a:t>26.4Q</a:t>
                      </a:r>
                      <a:br>
                        <a:rPr lang="en-US" altLang="ko-KR" sz="800" b="0" i="0" u="none" strike="noStrike" noProof="0">
                          <a:solidFill>
                            <a:srgbClr val="BFBFBF"/>
                          </a:solidFill>
                          <a:effectLst/>
                          <a:latin typeface="Arial Narrow"/>
                        </a:rPr>
                      </a:br>
                      <a:r>
                        <a:rPr lang="ko-KR" altLang="en-US" sz="800" b="0" i="0" u="none" strike="noStrike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</a:rPr>
                        <a:t>예정</a:t>
                      </a:r>
                      <a:endParaRPr lang="en-US" altLang="ko-KR"/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</a:rPr>
                        <a:t>26.4Q</a:t>
                      </a:r>
                      <a:br>
                        <a:rPr lang="en-US" altLang="ko-KR" sz="800" b="0" i="0" u="none" strike="noStrike" noProof="0">
                          <a:solidFill>
                            <a:srgbClr val="BFBFBF"/>
                          </a:solidFill>
                          <a:effectLst/>
                          <a:latin typeface="Arial Narrow"/>
                        </a:rPr>
                      </a:br>
                      <a:r>
                        <a:rPr lang="ko-KR" altLang="en-US" sz="800" b="0" i="0" u="none" strike="noStrike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</a:rPr>
                        <a:t>예정</a:t>
                      </a:r>
                      <a:endParaRPr lang="en-US" altLang="ko-KR"/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</a:rPr>
                        <a:t>26.4Q</a:t>
                      </a:r>
                      <a:br>
                        <a:rPr lang="en-US" altLang="ko-KR" sz="800" b="0" i="0" u="none" strike="noStrike" noProof="0">
                          <a:solidFill>
                            <a:srgbClr val="BFBFBF"/>
                          </a:solidFill>
                          <a:effectLst/>
                          <a:latin typeface="Arial Narrow"/>
                        </a:rPr>
                      </a:br>
                      <a:r>
                        <a:rPr lang="ko-KR" altLang="en-US" sz="800" b="0" i="0" u="none" strike="noStrike" noProof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Arial Narrow"/>
                        </a:rPr>
                        <a:t>예정</a:t>
                      </a:r>
                      <a:endParaRPr lang="en-US" altLang="ko-KR"/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0754248"/>
                  </a:ext>
                </a:extLst>
              </a:tr>
              <a:tr h="11961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계측 통합 분석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●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19418978"/>
                  </a:ext>
                </a:extLst>
              </a:tr>
              <a:tr h="169456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SPC</a:t>
                      </a:r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관리도 연계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</a:rPr>
                        <a:t>●</a:t>
                      </a: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</a:rPr>
                        <a:t>●</a:t>
                      </a: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</a:rPr>
                        <a:t>●</a:t>
                      </a: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</a:rPr>
                        <a:t>●</a:t>
                      </a: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</a:rPr>
                        <a:t>●</a:t>
                      </a: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3103076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19671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8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418854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u="none" strike="noStrike" err="1">
                          <a:solidFill>
                            <a:schemeClr val="tx1"/>
                          </a:solidFill>
                          <a:effectLst/>
                        </a:rPr>
                        <a:t>Sanpview</a:t>
                      </a:r>
                      <a:endParaRPr lang="en-US" altLang="ko-KR" err="1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 Smart_H Regular"/>
                        </a:rPr>
                        <a:t>●</a:t>
                      </a: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4611268"/>
                  </a:ext>
                </a:extLst>
              </a:tr>
              <a:tr h="149520"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err="1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981216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err="1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 Smart_H Regular"/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036999"/>
                  </a:ext>
                </a:extLst>
              </a:tr>
              <a:tr h="18607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</a:rPr>
                        <a:t>이미지 뷰어</a:t>
                      </a: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12544808"/>
                  </a:ext>
                </a:extLst>
              </a:tr>
              <a:tr h="18607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배열 </a:t>
                      </a:r>
                      <a:r>
                        <a:rPr lang="ko-KR" sz="8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to</a:t>
                      </a: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이미지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u="none" strike="noStrike">
                        <a:solidFill>
                          <a:schemeClr val="tx1"/>
                        </a:solidFill>
                        <a:effectLst/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rgbClr val="000000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405231"/>
                  </a:ext>
                </a:extLst>
              </a:tr>
              <a:tr h="18607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이미지 </a:t>
                      </a: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분석</a:t>
                      </a: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gridSpan="14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Pilot</a:t>
                      </a: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이후 진행 검토 예정</a:t>
                      </a: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8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765021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EB3A1E60-FD99-408E-E90A-273C6F01B84B}"/>
              </a:ext>
            </a:extLst>
          </p:cNvPr>
          <p:cNvSpPr txBox="1"/>
          <p:nvPr/>
        </p:nvSpPr>
        <p:spPr>
          <a:xfrm>
            <a:off x="6809110" y="1447796"/>
            <a:ext cx="1600118" cy="30777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r"/>
            <a:r>
              <a:rPr lang="ko-KR" altLang="en-US" sz="1400" b="1">
                <a:ea typeface="lg스마트체 regular"/>
              </a:rPr>
              <a:t>●</a:t>
            </a:r>
            <a:r>
              <a:rPr lang="ko-KR" sz="800">
                <a:ea typeface="lg스마트체 regular"/>
              </a:rPr>
              <a:t> : 완료, ◑ : 진행중 </a:t>
            </a:r>
            <a:r>
              <a:rPr lang="ko-KR" sz="800">
                <a:latin typeface="Malgun Gothic"/>
                <a:ea typeface="lg스마트체 regular"/>
              </a:rPr>
              <a:t>○ </a:t>
            </a:r>
            <a:r>
              <a:rPr lang="en-US" altLang="ko-KR" sz="800">
                <a:latin typeface="Malgun Gothic"/>
                <a:ea typeface="Malgun Gothic"/>
              </a:rPr>
              <a:t>:</a:t>
            </a:r>
            <a:r>
              <a:rPr lang="ko-KR" sz="800">
                <a:latin typeface="Malgun Gothic"/>
                <a:ea typeface="lg스마트체 regular"/>
              </a:rPr>
              <a:t> </a:t>
            </a:r>
            <a:r>
              <a:rPr lang="ko-KR" altLang="en-US" sz="800">
                <a:latin typeface="Malgun Gothic"/>
                <a:ea typeface="lg스마트체 regular"/>
              </a:rPr>
              <a:t>예정</a:t>
            </a:r>
            <a:endParaRPr lang="ko-KR" sz="800">
              <a:latin typeface="Malgun Gothic"/>
              <a:ea typeface="lg스마트체 regular"/>
            </a:endParaRPr>
          </a:p>
        </p:txBody>
      </p:sp>
    </p:spTree>
    <p:extLst>
      <p:ext uri="{BB962C8B-B14F-4D97-AF65-F5344CB8AC3E}">
        <p14:creationId xmlns:p14="http://schemas.microsoft.com/office/powerpoint/2010/main" val="150924099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834"/>
          <a:ext cx="9644166" cy="5747089"/>
        </p:xfrm>
        <a:graphic>
          <a:graphicData uri="http://schemas.openxmlformats.org/drawingml/2006/table">
            <a:tbl>
              <a:tblPr/>
              <a:tblGrid>
                <a:gridCol w="62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13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31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(W50)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prstClr val="black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AI 기반</a:t>
                      </a:r>
                      <a:endParaRPr lang="en-US" altLang="ko-KR"/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prstClr val="black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품질이슈 선별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prstClr val="black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시스템</a:t>
                      </a:r>
                      <a:endParaRPr lang="en-US" altLang="ko-KR"/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prstClr val="black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 구축​</a:t>
                      </a:r>
                      <a:endParaRPr lang="en-US" altLang="ko-KR"/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전법인</a:t>
                      </a:r>
                      <a:endParaRPr lang="ko-KR" sz="1000" b="0" i="0" u="none" strike="noStrike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lg스마트체 regular"/>
                          <a:cs typeface="+mn-cs"/>
                        </a:rPr>
                        <a:t>금주 핵심 내용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  ESMI AI기반 품질이슈 서비스 정상화 하였습니다.(이미지 요청 방화벽 해제 완료)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사항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■ AI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기반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품질이슈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선별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시스템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구축</a:t>
                      </a:r>
                      <a:endParaRPr lang="en-US" altLang="ko-KR" sz="1000" b="0" i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- 전법인 QA팀, 공정기술, 검사기술 대상으로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설명회 및 사용자 가이드 설명회를 진행하였으며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신공장의 경우 이미지 아카이빙 일정 및 다빈치 신공장 일정에 맞춰 차질없이 진행하도록 하겠습니다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endParaRPr lang="ko-KR" altLang="en-US" sz="1000" b="0" i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- AI기반 품질이슈 선별이 소형 확산을 마무리 하였으며, 아직까지 선별 요청 건은 없습니다. (8/19)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1000" b="0" i="0" kern="120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 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endParaRPr lang="en-US"/>
                    </a:p>
                    <a:p>
                      <a:pPr marL="0" lvl="0" algn="l">
                        <a:buNone/>
                      </a:pPr>
                      <a:r>
                        <a:rPr lang="ko-KR" altLang="en-US" sz="6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  <a:cs typeface="Malgun Gothic Semilight"/>
                        </a:rPr>
                        <a:t>■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  <a:cs typeface="Malgun Gothic Semilight"/>
                        </a:rPr>
                        <a:t> AI기반 품질이슈 선별 사용 현황</a:t>
                      </a:r>
                    </a:p>
                    <a:p>
                      <a:pPr marL="0" lvl="0" algn="l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lg스마트체 regular"/>
                        </a:rPr>
                        <a:t> - 34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건 접수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lg스마트체 regular"/>
                        </a:rPr>
                        <a:t>(9건 선별 진행 중, 5건 분석을 위한 논의 중, 완료17건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, 반려 3건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lg스마트체 regular"/>
                        </a:rPr>
                        <a:t>)  Portal Link</a:t>
                      </a:r>
                      <a:r>
                        <a:rPr lang="ko-KR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  <a:hlinkClick r:id="rId3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: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  <a:hlinkClick r:id="rId3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</a:t>
                      </a:r>
                      <a:r>
                        <a:rPr lang="ko-KR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  <a:hlinkClick r:id="rId3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  AI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  <a:hlinkClick r:id="rId3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기반</a:t>
                      </a:r>
                      <a:r>
                        <a:rPr lang="ko-KR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  <a:hlinkClick r:id="rId3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품질이슈 선별 창구</a:t>
                      </a:r>
                      <a:endParaRPr lang="ko-KR" sz="1000" b="0" i="0" u="none" strike="noStrike" kern="1200" noProof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lvl="0" algn="l">
                        <a:buNone/>
                      </a:pPr>
                      <a:r>
                        <a:rPr lang="ko-KR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반려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사유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(알고리즘 개발 불필요(법인 QA에서 전달))</a:t>
                      </a:r>
                    </a:p>
                    <a:p>
                      <a:pPr marL="0" lvl="0" algn="l">
                        <a:buNone/>
                      </a:pPr>
                      <a:endParaRPr lang="ko-KR" sz="10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marL="0" lvl="0" algn="l">
                        <a:buNone/>
                      </a:pPr>
                      <a:endParaRPr lang="ko-KR" sz="1000" b="0" i="0" u="none" strike="noStrike" kern="1200" noProof="0">
                        <a:solidFill>
                          <a:srgbClr val="000000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marL="0" lvl="0" algn="l">
                        <a:buNone/>
                      </a:pPr>
                      <a:r>
                        <a:rPr lang="ko-KR" altLang="en-US" sz="6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■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 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AI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기반 품질이슈 MI 복구 관련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  <a:p>
                      <a:pPr marL="0" lvl="0" algn="l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  -&gt; 데이터 캐치업 ; 캐치업 완료</a:t>
                      </a:r>
                      <a:endParaRPr lang="ko-KR" sz="10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marL="0" lvl="0" algn="l">
                        <a:buNone/>
                      </a:pPr>
                      <a:r>
                        <a:rPr lang="ko-KR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lg스마트체 regular"/>
                        </a:rPr>
                        <a:t>  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lg스마트체 regular"/>
                        </a:rPr>
                        <a:t>-&gt;</a:t>
                      </a:r>
                      <a:r>
                        <a:rPr lang="ko-KR" sz="1000" b="0" i="0" u="none" strike="noStrike" kern="120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lg스마트체 regular"/>
                        </a:rPr>
                        <a:t> 이미지 다운로드 서버 복구 :완료</a:t>
                      </a:r>
                      <a:endParaRPr lang="ko-KR" altLang="en-US" sz="1000" b="0" i="0" u="none" strike="noStrike" kern="1200" noProof="0">
                        <a:solidFill>
                          <a:srgbClr val="0000F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marL="171450" marR="0" lvl="0" indent="-1714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Char char="-"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  <a:b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윤석모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조남준A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25078"/>
            <a:ext cx="3354980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AI </a:t>
            </a:r>
            <a:r>
              <a:rPr lang="en-US" altLang="ko-KR" sz="1400" b="1" err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기반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품질 이슈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선별 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시스템 구축</a:t>
            </a: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836801" y="606755"/>
            <a:ext cx="1910232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+mn-ea"/>
                <a:ea typeface="LG스마트체 Regular"/>
                <a:cs typeface="Malgun Gothic Semilight"/>
              </a:rPr>
              <a:t>12/16 </a:t>
            </a:r>
            <a:r>
              <a:rPr lang="en-US" altLang="ko-KR" sz="1000">
                <a:latin typeface="+mn-ea"/>
                <a:ea typeface="맑은 고딕"/>
                <a:cs typeface="Malgun Gothic Semilight"/>
              </a:rPr>
              <a:t>(</a:t>
            </a:r>
            <a:r>
              <a:rPr lang="ko-KR" altLang="en-US" sz="1000">
                <a:latin typeface="+mn-ea"/>
                <a:ea typeface="맑은 고딕"/>
                <a:cs typeface="Malgun Gothic Semilight"/>
              </a:rPr>
              <a:t>화</a:t>
            </a:r>
            <a:r>
              <a:rPr lang="en-US" altLang="ko-KR" sz="1000">
                <a:latin typeface="+mn-ea"/>
                <a:ea typeface="맑은 고딕"/>
                <a:cs typeface="Malgun Gothic Semilight"/>
              </a:rPr>
              <a:t>)</a:t>
            </a:r>
            <a:r>
              <a:rPr lang="en-US" sz="1000">
                <a:latin typeface="+mn-ea"/>
                <a:ea typeface="+mn-ea"/>
                <a:cs typeface="Malgun Gothic Semilight"/>
              </a:rPr>
              <a:t> 11</a:t>
            </a:r>
            <a:r>
              <a:rPr lang="ko-KR" sz="1000">
                <a:latin typeface="+mn-ea"/>
                <a:ea typeface="+mn-ea"/>
                <a:cs typeface="Malgun Gothic Semilight"/>
              </a:rPr>
              <a:t>시</a:t>
            </a:r>
            <a:endParaRPr lang="en-US" altLang="ko-KR" sz="1000">
              <a:latin typeface="+mn-ea"/>
              <a:ea typeface="+mn-ea"/>
              <a:cs typeface="Malgun Gothic Semiligh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831062" y="403273"/>
            <a:ext cx="856004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ko-KR" altLang="en-US" sz="1000" err="1">
                <a:solidFill>
                  <a:prstClr val="black"/>
                </a:solidFill>
                <a:latin typeface="+mn-ea"/>
                <a:cs typeface="Malgun Gothic Semilight"/>
              </a:rPr>
              <a:t>윤석모P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 panose="020B0502040204020203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2B096A3-A710-49C4-AD07-99848204F431}"/>
              </a:ext>
            </a:extLst>
          </p:cNvPr>
          <p:cNvSpPr txBox="1"/>
          <p:nvPr/>
        </p:nvSpPr>
        <p:spPr>
          <a:xfrm>
            <a:off x="5758453" y="250960"/>
            <a:ext cx="2250993" cy="55399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-#5,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</a:p>
          <a:p>
            <a:pPr algn="r">
              <a:defRPr/>
            </a:pP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+mn-ea"/>
                <a:ea typeface="LG Smart_H Regular"/>
              </a:rPr>
              <a:t>과제번호 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  <a:ea typeface="LG Smart_H Regular"/>
              </a:rPr>
              <a:t>다빈치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-#30, </a:t>
            </a:r>
            <a:r>
              <a:rPr lang="ko-KR" altLang="en-US" sz="1000">
                <a:solidFill>
                  <a:prstClr val="black"/>
                </a:solidFill>
                <a:latin typeface="+mn-ea"/>
                <a:ea typeface="LG Smart_H Regular"/>
              </a:rPr>
              <a:t>진행 상태 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: </a:t>
            </a:r>
            <a:r>
              <a:rPr lang="en-US" sz="1000">
                <a:solidFill>
                  <a:srgbClr val="6CA76C"/>
                </a:solidFill>
                <a:latin typeface="+mn-ea"/>
                <a:ea typeface="LG Smart_H Regular"/>
              </a:rPr>
              <a:t>●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]</a:t>
            </a:r>
          </a:p>
          <a:p>
            <a:pPr algn="r">
              <a:defRPr/>
            </a:pP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+mn-ea"/>
                <a:ea typeface="LG Smart_H Regular"/>
              </a:rPr>
              <a:t>과제번호 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  <a:ea typeface="LG Smart_H Regular"/>
              </a:rPr>
              <a:t>다빈치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-#35, </a:t>
            </a:r>
            <a:r>
              <a:rPr lang="ko-KR" altLang="en-US" sz="1000">
                <a:solidFill>
                  <a:prstClr val="black"/>
                </a:solidFill>
                <a:latin typeface="+mn-ea"/>
                <a:ea typeface="LG Smart_H Regular"/>
              </a:rPr>
              <a:t>진행 상태 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: </a:t>
            </a:r>
            <a:r>
              <a:rPr lang="en-US" sz="1000">
                <a:solidFill>
                  <a:srgbClr val="6CA76C"/>
                </a:solidFill>
                <a:latin typeface="+mn-ea"/>
                <a:ea typeface="LG Smart_H Regular"/>
              </a:rPr>
              <a:t>●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]</a:t>
            </a:r>
            <a:endParaRPr lang="en-US"/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CE137136-973D-DC19-39E9-F4AA5111B8B3}"/>
              </a:ext>
            </a:extLst>
          </p:cNvPr>
          <p:cNvGraphicFramePr>
            <a:graphicFrameLocks noGrp="1"/>
          </p:cNvGraphicFramePr>
          <p:nvPr/>
        </p:nvGraphicFramePr>
        <p:xfrm>
          <a:off x="1384853" y="1716502"/>
          <a:ext cx="6685943" cy="106625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24013">
                  <a:extLst>
                    <a:ext uri="{9D8B030D-6E8A-4147-A177-3AD203B41FA5}">
                      <a16:colId xmlns:a16="http://schemas.microsoft.com/office/drawing/2014/main" val="1993497116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186272824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2572183020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982539157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2952050369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3792422273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3047010794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3450348450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430506268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3622836902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1149278789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930067466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1284093840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2291798138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1084078809"/>
                    </a:ext>
                  </a:extLst>
                </a:gridCol>
                <a:gridCol w="397462">
                  <a:extLst>
                    <a:ext uri="{9D8B030D-6E8A-4147-A177-3AD203B41FA5}">
                      <a16:colId xmlns:a16="http://schemas.microsoft.com/office/drawing/2014/main" val="835445624"/>
                    </a:ext>
                  </a:extLst>
                </a:gridCol>
              </a:tblGrid>
              <a:tr h="18324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u="none" strike="noStrike">
                          <a:effectLst/>
                        </a:rPr>
                        <a:t>기능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sz="800" u="none" strike="noStrike">
                        <a:effectLst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>
                          <a:effectLst/>
                        </a:rPr>
                        <a:t>소형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JV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65645664"/>
                  </a:ext>
                </a:extLst>
              </a:tr>
              <a:tr h="957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WA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NB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NA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u="none" strike="noStrike">
                          <a:effectLst/>
                        </a:rPr>
                        <a:t>NJ</a:t>
                      </a: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OC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MI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>
                          <a:effectLst/>
                        </a:rPr>
                        <a:t>MI-L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OC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NJ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AZ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GM1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GM2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HM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ST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u="none" strike="noStrike">
                          <a:effectLst/>
                        </a:rPr>
                        <a:t>HD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391" marR="7391" marT="7391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0597165"/>
                  </a:ext>
                </a:extLst>
              </a:tr>
              <a:tr h="18607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불량선별 이슈 창구</a:t>
                      </a: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altLang="en-US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altLang="en-US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altLang="en-US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altLang="en-US" sz="800" b="0" i="0" u="none" strike="noStrike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/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altLang="en-US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altLang="en-US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u="none" strike="noStrike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</a:rPr>
                        <a:t>"26년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800" u="none" strike="noStrike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</a:rPr>
                        <a:t>상반기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800" u="none" strike="noStrike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</a:rPr>
                        <a:t>예정</a:t>
                      </a: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Malgun Gothic"/>
                        </a:rPr>
                        <a:t>●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Malgun Gothic"/>
                        </a:rPr>
                        <a:t>8/19</a:t>
                      </a:r>
                      <a:endParaRPr lang="ko-KR" sz="8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Malgun Gothic"/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Malgun Gothic"/>
                        </a:rPr>
                        <a:t>●</a:t>
                      </a:r>
                      <a:endParaRPr lang="ko-KR" altLang="en-US" sz="8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Malgun Gothic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8/19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Malgun Gothic"/>
                          <a:ea typeface="Malgun Gothic"/>
                        </a:rPr>
                        <a:t>"26년</a:t>
                      </a:r>
                      <a:endParaRPr lang="ko-KR" sz="800" b="0" i="0" u="none" strike="noStrike" noProof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Malgun Gothic"/>
                        <a:ea typeface="Malgun Gothic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 err="1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Malgun Gothic"/>
                          <a:ea typeface="Malgun Gothic"/>
                        </a:rPr>
                        <a:t>하반기</a:t>
                      </a:r>
                      <a:r>
                        <a:rPr lang="en-US" altLang="ko-KR" sz="800" b="0" i="0" u="none" strike="noStrike" noProof="0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Malgun Gothic"/>
                          <a:ea typeface="Malgun Gothic"/>
                        </a:rPr>
                        <a:t> </a:t>
                      </a:r>
                      <a:r>
                        <a:rPr lang="en-US" altLang="ko-KR" sz="800" b="0" i="0" u="none" strike="noStrike" noProof="0" err="1">
                          <a:solidFill>
                            <a:schemeClr val="bg1">
                              <a:lumMod val="85000"/>
                            </a:schemeClr>
                          </a:solidFill>
                          <a:effectLst/>
                          <a:latin typeface="Malgun Gothic"/>
                          <a:ea typeface="Malgun Gothic"/>
                        </a:rPr>
                        <a:t>예정</a:t>
                      </a:r>
                      <a:endParaRPr lang="en-US" altLang="ko-KR" sz="800" b="0" i="0" u="none" strike="noStrike" noProof="0">
                        <a:solidFill>
                          <a:schemeClr val="bg1">
                            <a:lumMod val="85000"/>
                          </a:schemeClr>
                        </a:solidFill>
                        <a:effectLst/>
                        <a:latin typeface="Malgun Gothic"/>
                        <a:ea typeface="Malgun Gothic"/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altLang="en-US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latin typeface="Arial Narrow"/>
                          <a:ea typeface="Malgun Gothic"/>
                        </a:rPr>
                        <a:t>"26</a:t>
                      </a:r>
                      <a:r>
                        <a:rPr lang="ko-KR" altLang="en-US" sz="800" b="0" i="0" u="none" strike="noStrike" noProof="0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latin typeface="Arial Narrow"/>
                          <a:ea typeface="Malgun Gothic"/>
                        </a:rPr>
                        <a:t>년</a:t>
                      </a:r>
                      <a:endParaRPr lang="ko-KR" altLang="en-US" sz="800" b="0" i="0" u="none" strike="noStrike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latin typeface="Arial Narrow"/>
                          <a:ea typeface="Malgun Gothic"/>
                        </a:rPr>
                        <a:t>상반기</a:t>
                      </a:r>
                      <a:endParaRPr lang="ko-KR" sz="800" b="0" i="0" u="none" strike="noStrike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Malgun Gothic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latin typeface="Arial Narrow"/>
                          <a:ea typeface="Malgun Gothic"/>
                        </a:rPr>
                        <a:t>예정</a:t>
                      </a:r>
                      <a:endParaRPr lang="ko-KR"/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latin typeface="Arial Narrow"/>
                        </a:rPr>
                        <a:t>"26</a:t>
                      </a:r>
                      <a:r>
                        <a:rPr lang="ko-KR" sz="800" b="0" i="0" u="none" strike="noStrike" noProof="0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latin typeface="Arial Narrow"/>
                        </a:rPr>
                        <a:t>년</a:t>
                      </a:r>
                      <a:endParaRPr lang="ko-KR" sz="800" b="0" i="0" u="none" strike="noStrike" noProof="0">
                        <a:solidFill>
                          <a:srgbClr val="000000"/>
                        </a:solidFill>
                        <a:effectLst/>
                        <a:latin typeface="Arial Narrow"/>
                        <a:ea typeface="Malgun Gothic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latin typeface="Arial Narrow"/>
                        </a:rPr>
                        <a:t>상반기</a:t>
                      </a:r>
                      <a:endParaRPr lang="ko-KR" sz="800" b="0" i="0" u="none" strike="noStrike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bg1">
                              <a:lumMod val="76000"/>
                            </a:schemeClr>
                          </a:solidFill>
                          <a:effectLst/>
                          <a:latin typeface="Arial Narrow"/>
                        </a:rPr>
                        <a:t>예정</a:t>
                      </a:r>
                      <a:endParaRPr lang="ko-KR"/>
                    </a:p>
                  </a:txBody>
                  <a:tcPr marL="7391" marR="7391" marT="7391" marB="0" anchor="ctr">
                    <a:lnL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405231"/>
                  </a:ext>
                </a:extLst>
              </a:tr>
              <a:tr h="18607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단기 이미지 자동화( DFS)</a:t>
                      </a: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sz="800" b="0" i="0" u="none" strike="noStrike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Malgun Gothic"/>
                        </a:rPr>
                        <a:t>●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8/19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Malgun Gothic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8/19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1989915"/>
                  </a:ext>
                </a:extLst>
              </a:tr>
              <a:tr h="18607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장기이미지</a:t>
                      </a: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 자동화(GCP)</a:t>
                      </a: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sz="800" b="0" i="0" u="none" strike="noStrike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ko-KR" sz="7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Malgun Gothic"/>
                        </a:rPr>
                        <a:t>●</a:t>
                      </a:r>
                      <a:endParaRPr lang="ko-KR" sz="800" b="0" i="0" u="none" strike="noStrike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Malgun Gothic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8/19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Malgun Gothic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8/19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●</a:t>
                      </a:r>
                      <a:endParaRPr lang="en-US" altLang="ko-KR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6/24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marL="7391" marR="7391" marT="7391" marB="0" anchor="ctr">
                    <a:lnL w="9524">
                      <a:solidFill>
                        <a:schemeClr val="bg1">
                          <a:lumMod val="65000"/>
                        </a:schemeClr>
                      </a:solidFill>
                    </a:lnL>
                    <a:lnR w="9524">
                      <a:solidFill>
                        <a:schemeClr val="bg1">
                          <a:lumMod val="65000"/>
                        </a:schemeClr>
                      </a:solidFill>
                    </a:lnR>
                    <a:lnT w="9524">
                      <a:solidFill>
                        <a:schemeClr val="bg1">
                          <a:lumMod val="65000"/>
                        </a:schemeClr>
                      </a:solidFill>
                    </a:lnT>
                    <a:lnB w="9524">
                      <a:solidFill>
                        <a:schemeClr val="bg1">
                          <a:lumMod val="65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72005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1062CED8-D8C4-87FC-8A37-A12341DB0107}"/>
              </a:ext>
            </a:extLst>
          </p:cNvPr>
          <p:cNvSpPr txBox="1"/>
          <p:nvPr/>
        </p:nvSpPr>
        <p:spPr>
          <a:xfrm>
            <a:off x="6884679" y="1401415"/>
            <a:ext cx="1600118" cy="30777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r"/>
            <a:r>
              <a:rPr lang="ko-KR" altLang="en-US" sz="1400" b="1">
                <a:ea typeface="lg스마트체 regular"/>
              </a:rPr>
              <a:t>●</a:t>
            </a:r>
            <a:r>
              <a:rPr lang="ko-KR" sz="800">
                <a:ea typeface="lg스마트체 regular"/>
              </a:rPr>
              <a:t> : 완료, ◑ : 진행중 </a:t>
            </a:r>
            <a:r>
              <a:rPr lang="ko-KR" sz="800">
                <a:latin typeface="Malgun Gothic"/>
                <a:ea typeface="lg스마트체 regular"/>
              </a:rPr>
              <a:t>○ </a:t>
            </a:r>
            <a:r>
              <a:rPr lang="en-US" altLang="ko-KR" sz="800">
                <a:latin typeface="Malgun Gothic"/>
                <a:ea typeface="Malgun Gothic"/>
              </a:rPr>
              <a:t>:</a:t>
            </a:r>
            <a:r>
              <a:rPr lang="ko-KR" sz="800">
                <a:latin typeface="Malgun Gothic"/>
                <a:ea typeface="lg스마트체 regular"/>
              </a:rPr>
              <a:t> </a:t>
            </a:r>
            <a:r>
              <a:rPr lang="ko-KR" altLang="en-US" sz="800">
                <a:latin typeface="Malgun Gothic"/>
                <a:ea typeface="lg스마트체 regular"/>
              </a:rPr>
              <a:t>예정</a:t>
            </a:r>
            <a:endParaRPr lang="ko-KR" sz="800">
              <a:latin typeface="Malgun Gothic"/>
              <a:ea typeface="lg스마트체 regular"/>
            </a:endParaRPr>
          </a:p>
        </p:txBody>
      </p:sp>
    </p:spTree>
    <p:extLst>
      <p:ext uri="{BB962C8B-B14F-4D97-AF65-F5344CB8AC3E}">
        <p14:creationId xmlns:p14="http://schemas.microsoft.com/office/powerpoint/2010/main" val="415042094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16000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lg스마트체 regular"/>
                          <a:ea typeface="+mn-ea"/>
                        </a:rPr>
                        <a:t>(W51)</a:t>
                      </a:r>
                      <a:endParaRPr lang="en-US">
                        <a:latin typeface="lg스마트체 regular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이미지재판정 프로젝트</a:t>
                      </a:r>
                      <a:endParaRPr lang="en-US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 </a:t>
                      </a:r>
                      <a:endParaRPr lang="ko-KR" sz="10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자동차</a:t>
                      </a:r>
                      <a:r>
                        <a:rPr lang="en-US" altLang="ko-KR" sz="10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/ESS</a:t>
                      </a: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소형 원통형</a:t>
                      </a:r>
                      <a:endParaRPr lang="en-US" altLang="ko-KR" sz="10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전법인</a:t>
                      </a:r>
                      <a:endParaRPr lang="ko-KR" sz="10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금주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(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j-ea"/>
                        </a:rPr>
                        <a:t>W51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)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에는 자동차/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ESS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신규 JV 법인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(HD,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ST,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MIL,HG)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구축 진행 중으로 HG 법인 오픈 일정 '26.02으로 확정하였습니다.</a:t>
                      </a: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[</a:t>
                      </a:r>
                      <a:r>
                        <a:rPr 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배경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]</a:t>
                      </a:r>
                      <a:r>
                        <a:rPr 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</a:t>
                      </a:r>
                      <a:endParaRPr lang="ko-KR" b="1"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검사 이미지를 활용하여 공정 불량 유출 유출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Double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Check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를 통한 출하 품질 강화 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및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사외 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불량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유출 방지할 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수 있는 시스템 구축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[</a:t>
                      </a:r>
                      <a:r>
                        <a:rPr 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진행 사항</a:t>
                      </a:r>
                      <a:r>
                        <a:rPr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]</a:t>
                      </a:r>
                      <a:r>
                        <a:rPr 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</a:t>
                      </a:r>
                      <a:endParaRPr lang="ko-KR" sz="1200" b="1"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  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□ 자동차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/ESS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이미지재판정                                                                                                  </a:t>
                      </a:r>
                      <a:r>
                        <a:rPr 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● : 완료, ◐ : 진행중, ○: 진행 예정</a:t>
                      </a:r>
                      <a:r>
                        <a:rPr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,</a:t>
                      </a:r>
                      <a:r>
                        <a:rPr 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△</a:t>
                      </a:r>
                      <a:r>
                        <a:rPr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:</a:t>
                      </a:r>
                      <a:r>
                        <a:rPr 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</a:t>
                      </a:r>
                      <a:r>
                        <a:rPr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미정</a:t>
                      </a:r>
                      <a:b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</a:b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</a:t>
                      </a:r>
                      <a:endParaRPr lang="en-US" altLang="ko-KR"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   </a:t>
                      </a:r>
                      <a:r>
                        <a:rPr lang="en-US" altLang="ko-KR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lg스마트체 regular"/>
                          <a:ea typeface="Malgun Gothic"/>
                        </a:rPr>
                        <a:t>1) 신규JV법인(HD, MIL, ST, HG) 中 ㅇHD/MIL/ST 법인은 1개 라인 대상으로 PKG/STK 동시 오픈하는 것으로 진행하고 있으며, HG 법인은 검토 중에 있습니다.</a:t>
                      </a:r>
                      <a:endParaRPr lang="en-US" altLang="ko-KR" sz="7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ea typeface="Malgun Gothic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7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latin typeface="Malgun Gothic"/>
                        <a:ea typeface="Malgun Gothic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- MIL/HD/ST 법인 오픈 완료하였습니다.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- HG 법인은 '26.01 인프라 구축 출장 진행 예정이며, 품질 및 법인 담당자와 협의하여 오픈 일정 '26.02.04로 확정하였습니다. (12/3) 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- 분석환경 MLDL -&gt; SBP Workspace 전환 작업 NB/NA/OC 법인 전환 완료하였으며, WA('26.01), MI('26.05) 전환 진행 예정입니다. (12/15)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  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□ 소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형 원통형 이미지재판정                                                                                                                                         </a:t>
                      </a:r>
                      <a:r>
                        <a:rPr 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●</a:t>
                      </a:r>
                      <a:r>
                        <a:rPr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:</a:t>
                      </a:r>
                      <a:r>
                        <a:rPr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완료</a:t>
                      </a:r>
                      <a:r>
                        <a:rPr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,</a:t>
                      </a:r>
                      <a:r>
                        <a:rPr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◐ </a:t>
                      </a:r>
                      <a:r>
                        <a:rPr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:</a:t>
                      </a:r>
                      <a:r>
                        <a:rPr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진행중</a:t>
                      </a:r>
                      <a:r>
                        <a:rPr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,</a:t>
                      </a:r>
                      <a:r>
                        <a:rPr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○</a:t>
                      </a:r>
                      <a:r>
                        <a:rPr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 Smart_H Regular"/>
                        </a:rPr>
                        <a:t>:</a:t>
                      </a:r>
                      <a:r>
                        <a:rPr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진행 예정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</a:t>
                      </a:r>
                      <a:b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 Smart_H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endParaRPr 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7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66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1) 가상화 환경 구축은 1개의 물리적인 서버를 4개의 VM으로 나눠 알고리즘을 구동할 수 있는 환경 구축  2) 이미지 기반 알고리즘을 수행할 수 있는 분석 환경 구축 </a:t>
                      </a:r>
                      <a:endParaRPr 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 3) OC1대표 검사기(2종) 우선 오픈 예정이며, ’25.04 OC1 2순위 및 OC2 16종 233대 검사기 기준 확산 예정</a:t>
                      </a:r>
                      <a:endParaRPr 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4) NJ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법인도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OC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와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마찬가지로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대표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검사기 </a:t>
                      </a:r>
                      <a:r>
                        <a:rPr lang="en-US" altLang="ko-KR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(WND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양극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표면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검사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CSW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용접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후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Tab </a:t>
                      </a:r>
                      <a:r>
                        <a:rPr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검사기</a:t>
                      </a:r>
                      <a:r>
                        <a:rPr 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66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우선 오픈 이후 전체 8종 826대 기준 확산 예정</a:t>
                      </a:r>
                      <a:endParaRPr 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  <a:p>
                      <a:pPr marL="171450" lvl="0" indent="-1714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Calibri"/>
                        <a:buChar char="-"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스마트체 regular"/>
                        </a:rPr>
                        <a:t>AZ 소형 원통형 이미지재판정 구축을 위한 투자심의 완료하였습니다. (10/29)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j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조남준A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09993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defRPr/>
            </a:pPr>
            <a:r>
              <a:rPr kumimoji="0" 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■ </a:t>
            </a:r>
            <a:r>
              <a:rPr lang="ko-KR" sz="1400" b="1">
                <a:solidFill>
                  <a:prstClr val="black"/>
                </a:solidFill>
                <a:latin typeface="+mn-ea"/>
                <a:cs typeface="Malgun Gothic Semilight"/>
              </a:rPr>
              <a:t>이미지재판정</a:t>
            </a:r>
            <a:r>
              <a:rPr lang="en-US" altLang="ko-KR" sz="1400" b="1">
                <a:solidFill>
                  <a:prstClr val="black"/>
                </a:solidFill>
                <a:latin typeface="+mn-ea"/>
                <a:cs typeface="Malgun Gothic Semilight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+mn-ea"/>
                <a:cs typeface="Malgun Gothic Semilight"/>
              </a:rPr>
              <a:t>프로젝트</a:t>
            </a:r>
            <a:endParaRPr 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01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n-ea"/>
                <a:ea typeface="+mn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8CA09620-80B4-CCF4-4E5B-BCBE10020EB5}"/>
              </a:ext>
            </a:extLst>
          </p:cNvPr>
          <p:cNvSpPr txBox="1">
            <a:spLocks/>
          </p:cNvSpPr>
          <p:nvPr/>
        </p:nvSpPr>
        <p:spPr>
          <a:xfrm>
            <a:off x="8765308" y="372609"/>
            <a:ext cx="92653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lg스마트체 regular"/>
              </a:rPr>
              <a:t>조남준A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EC50AA4B-D79E-FA7D-C624-381B47F426A8}"/>
              </a:ext>
            </a:extLst>
          </p:cNvPr>
          <p:cNvGraphicFramePr>
            <a:graphicFrameLocks noGrp="1"/>
          </p:cNvGraphicFramePr>
          <p:nvPr/>
        </p:nvGraphicFramePr>
        <p:xfrm>
          <a:off x="1625532" y="2233644"/>
          <a:ext cx="6782206" cy="802733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539790">
                  <a:extLst>
                    <a:ext uri="{9D8B030D-6E8A-4147-A177-3AD203B41FA5}">
                      <a16:colId xmlns:a16="http://schemas.microsoft.com/office/drawing/2014/main" val="1074034033"/>
                    </a:ext>
                  </a:extLst>
                </a:gridCol>
                <a:gridCol w="470236">
                  <a:extLst>
                    <a:ext uri="{9D8B030D-6E8A-4147-A177-3AD203B41FA5}">
                      <a16:colId xmlns:a16="http://schemas.microsoft.com/office/drawing/2014/main" val="3635539319"/>
                    </a:ext>
                  </a:extLst>
                </a:gridCol>
                <a:gridCol w="498279">
                  <a:extLst>
                    <a:ext uri="{9D8B030D-6E8A-4147-A177-3AD203B41FA5}">
                      <a16:colId xmlns:a16="http://schemas.microsoft.com/office/drawing/2014/main" val="2952087144"/>
                    </a:ext>
                  </a:extLst>
                </a:gridCol>
                <a:gridCol w="498279">
                  <a:extLst>
                    <a:ext uri="{9D8B030D-6E8A-4147-A177-3AD203B41FA5}">
                      <a16:colId xmlns:a16="http://schemas.microsoft.com/office/drawing/2014/main" val="34820660"/>
                    </a:ext>
                  </a:extLst>
                </a:gridCol>
                <a:gridCol w="498279">
                  <a:extLst>
                    <a:ext uri="{9D8B030D-6E8A-4147-A177-3AD203B41FA5}">
                      <a16:colId xmlns:a16="http://schemas.microsoft.com/office/drawing/2014/main" val="4226694323"/>
                    </a:ext>
                  </a:extLst>
                </a:gridCol>
                <a:gridCol w="498279">
                  <a:extLst>
                    <a:ext uri="{9D8B030D-6E8A-4147-A177-3AD203B41FA5}">
                      <a16:colId xmlns:a16="http://schemas.microsoft.com/office/drawing/2014/main" val="2347723506"/>
                    </a:ext>
                  </a:extLst>
                </a:gridCol>
                <a:gridCol w="498279">
                  <a:extLst>
                    <a:ext uri="{9D8B030D-6E8A-4147-A177-3AD203B41FA5}">
                      <a16:colId xmlns:a16="http://schemas.microsoft.com/office/drawing/2014/main" val="3126259242"/>
                    </a:ext>
                  </a:extLst>
                </a:gridCol>
                <a:gridCol w="532849">
                  <a:extLst>
                    <a:ext uri="{9D8B030D-6E8A-4147-A177-3AD203B41FA5}">
                      <a16:colId xmlns:a16="http://schemas.microsoft.com/office/drawing/2014/main" val="289561655"/>
                    </a:ext>
                  </a:extLst>
                </a:gridCol>
                <a:gridCol w="493380">
                  <a:extLst>
                    <a:ext uri="{9D8B030D-6E8A-4147-A177-3AD203B41FA5}">
                      <a16:colId xmlns:a16="http://schemas.microsoft.com/office/drawing/2014/main" val="4268085036"/>
                    </a:ext>
                  </a:extLst>
                </a:gridCol>
                <a:gridCol w="522984">
                  <a:extLst>
                    <a:ext uri="{9D8B030D-6E8A-4147-A177-3AD203B41FA5}">
                      <a16:colId xmlns:a16="http://schemas.microsoft.com/office/drawing/2014/main" val="3101794068"/>
                    </a:ext>
                  </a:extLst>
                </a:gridCol>
                <a:gridCol w="562454">
                  <a:extLst>
                    <a:ext uri="{9D8B030D-6E8A-4147-A177-3AD203B41FA5}">
                      <a16:colId xmlns:a16="http://schemas.microsoft.com/office/drawing/2014/main" val="1633080033"/>
                    </a:ext>
                  </a:extLst>
                </a:gridCol>
                <a:gridCol w="582031">
                  <a:extLst>
                    <a:ext uri="{9D8B030D-6E8A-4147-A177-3AD203B41FA5}">
                      <a16:colId xmlns:a16="http://schemas.microsoft.com/office/drawing/2014/main" val="2961029381"/>
                    </a:ext>
                  </a:extLst>
                </a:gridCol>
                <a:gridCol w="587087">
                  <a:extLst>
                    <a:ext uri="{9D8B030D-6E8A-4147-A177-3AD203B41FA5}">
                      <a16:colId xmlns:a16="http://schemas.microsoft.com/office/drawing/2014/main" val="1132301860"/>
                    </a:ext>
                  </a:extLst>
                </a:gridCol>
              </a:tblGrid>
              <a:tr h="250772"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구분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OC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WA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NA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 baseline="300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1)</a:t>
                      </a:r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]NB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MI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GM1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GM2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HM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 baseline="300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1)</a:t>
                      </a:r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HD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 baseline="300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1)</a:t>
                      </a:r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MIL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 baseline="30000">
                          <a:solidFill>
                            <a:srgbClr val="000000"/>
                          </a:solidFill>
                          <a:effectLst/>
                          <a:latin typeface="Arial"/>
                          <a:ea typeface="LG스마트체 Regular" panose="020B0600000101010101"/>
                        </a:rPr>
                        <a:t>1</a:t>
                      </a:r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Arial"/>
                          <a:ea typeface="LG스마트체 Regular" panose="020B0600000101010101"/>
                        </a:rPr>
                        <a:t>ST</a:t>
                      </a:r>
                      <a:endParaRPr lang="en-US" altLang="ko-KR" sz="1800" b="0" i="0" u="none" strike="noStrike">
                        <a:effectLst/>
                        <a:latin typeface="Arial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1" i="0" u="none" strike="noStrike" kern="1200" baseline="300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1)</a:t>
                      </a:r>
                      <a:r>
                        <a:rPr lang="en-US" sz="6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HG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774096"/>
                  </a:ext>
                </a:extLst>
              </a:tr>
              <a:tr h="241816"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Phase1 (PKG)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(’22.10)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(’23.03)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(’23.09)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(’23.04)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(’23.07)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(‘24.07)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(’24.02)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(‘24.04)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6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 Smart_H Regular"/>
                        </a:rPr>
                        <a:t>●</a:t>
                      </a:r>
                      <a:endParaRPr lang="en-US" altLang="ko-KR"/>
                    </a:p>
                    <a:p>
                      <a:pPr marL="0" lvl="0" algn="ctr">
                        <a:buNone/>
                      </a:pPr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 </a:t>
                      </a:r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 panose="020B0600000101010101"/>
                        </a:rPr>
                        <a:t>(‘25.09.30)</a:t>
                      </a: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ko-KR" altLang="en-US" sz="6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 Smart_H Regular"/>
                        </a:rPr>
                        <a:t>●</a:t>
                      </a:r>
                      <a:endParaRPr lang="en-US" altLang="ko-KR"/>
                    </a:p>
                    <a:p>
                      <a:pPr marL="0" marR="0" lvl="0" indent="0" algn="ctr">
                        <a:buNone/>
                      </a:pPr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"/>
                          <a:ea typeface="LG스마트체 Regular"/>
                        </a:rPr>
                        <a:t>(‘25.09.17)</a:t>
                      </a: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ko-KR" altLang="en-US" sz="6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 Smart_H Regular"/>
                        </a:rPr>
                        <a:t>●</a:t>
                      </a:r>
                      <a:endParaRPr lang="en-US" altLang="ko-KR"/>
                    </a:p>
                    <a:p>
                      <a:pPr marL="0" marR="0" lvl="0" indent="0" algn="ctr">
                        <a:buNone/>
                      </a:pPr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(‘25.11.14)</a:t>
                      </a:r>
                      <a:endParaRPr lang="en-US" altLang="ko-KR" sz="600" b="0" i="0" u="none" strike="noStrike" kern="1200">
                        <a:solidFill>
                          <a:srgbClr val="000000"/>
                        </a:solidFill>
                        <a:effectLst/>
                        <a:latin typeface="Arial"/>
                        <a:ea typeface="LG스마트체 Regular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ko-KR" sz="600" b="1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Arial"/>
                          <a:ea typeface="lg스마트체 regular"/>
                        </a:rPr>
                        <a:t>◐</a:t>
                      </a:r>
                      <a:endParaRPr lang="en-US" altLang="ko-KR" sz="600">
                        <a:latin typeface="Arial"/>
                      </a:endParaRPr>
                    </a:p>
                    <a:p>
                      <a:pPr marL="0" marR="0" indent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"/>
                          <a:ea typeface="LG스마트체 Regular" panose="020B0600000101010101"/>
                        </a:rPr>
                        <a:t>('26.02.04)</a:t>
                      </a:r>
                      <a:endParaRPr lang="ko-KR" altLang="en-US" sz="600" b="0" i="0" u="none" strike="noStrike">
                        <a:effectLst/>
                        <a:latin typeface="Arial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8410121"/>
                  </a:ext>
                </a:extLst>
              </a:tr>
              <a:tr h="277641"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Phase2</a:t>
                      </a:r>
                      <a:endParaRPr lang="en-US" altLang="ko-KR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lvl="0" algn="ctr">
                        <a:buNone/>
                      </a:pPr>
                      <a:r>
                        <a:rPr 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(STK/FOL)</a:t>
                      </a:r>
                      <a:endParaRPr lang="en-US" altLang="ko-KR" sz="1800" b="0" i="0" u="none" strike="noStrike">
                        <a:effectLst/>
                        <a:latin typeface="Arial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(‘24.06)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(‘24.10)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(‘24.08)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● 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(’24.08)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sz="6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 Smart_H Regular"/>
                        </a:rPr>
                        <a:t>● </a:t>
                      </a:r>
                      <a:endParaRPr lang="en-US" altLang="ko-KR"/>
                    </a:p>
                    <a:p>
                      <a:pPr marL="0" algn="ctr" rtl="0" eaLnBrk="1" fontAlgn="base" latinLnBrk="1" hangingPunct="1"/>
                      <a:r>
                        <a:rPr lang="en-US" altLang="ko-KR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(‘25.02)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△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△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△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altLang="ko-KR"/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6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/>
                          <a:ea typeface="LG스마트체 Regular" panose="020B0600000101010101"/>
                        </a:rPr>
                        <a:t>△</a:t>
                      </a:r>
                      <a:endParaRPr lang="ko-KR" altLang="en-US" sz="18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033202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E1CFBD51-CFEE-4ADF-A002-B5C4ED463C66}"/>
              </a:ext>
            </a:extLst>
          </p:cNvPr>
          <p:cNvSpPr txBox="1"/>
          <p:nvPr/>
        </p:nvSpPr>
        <p:spPr>
          <a:xfrm>
            <a:off x="5800555" y="407035"/>
            <a:ext cx="2250993" cy="70788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21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</a:p>
          <a:p>
            <a:pPr algn="r">
              <a:defRPr/>
            </a:pP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[</a:t>
            </a:r>
            <a:r>
              <a:rPr lang="ko-KR" sz="1000">
                <a:solidFill>
                  <a:prstClr val="black"/>
                </a:solidFill>
                <a:latin typeface="+mn-ea"/>
                <a:ea typeface="LG Smart_H Regular"/>
              </a:rPr>
              <a:t>과제번호 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: </a:t>
            </a:r>
            <a:r>
              <a:rPr lang="ko-KR" sz="1000">
                <a:solidFill>
                  <a:prstClr val="black"/>
                </a:solidFill>
                <a:latin typeface="+mn-ea"/>
                <a:ea typeface="LG Smart_H Regular"/>
              </a:rPr>
              <a:t>다빈치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-#22, </a:t>
            </a:r>
            <a:r>
              <a:rPr lang="ko-KR" sz="1000">
                <a:solidFill>
                  <a:prstClr val="black"/>
                </a:solidFill>
                <a:latin typeface="+mn-ea"/>
                <a:ea typeface="LG Smart_H Regular"/>
              </a:rPr>
              <a:t>진행 상태 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: </a:t>
            </a:r>
            <a:r>
              <a:rPr lang="en-US" sz="1000">
                <a:solidFill>
                  <a:srgbClr val="6CA76C"/>
                </a:solidFill>
                <a:latin typeface="+mn-ea"/>
                <a:ea typeface="LG Smart_H Regular"/>
              </a:rPr>
              <a:t>●</a:t>
            </a:r>
            <a:r>
              <a:rPr lang="en-US" sz="1000">
                <a:solidFill>
                  <a:prstClr val="black"/>
                </a:solidFill>
                <a:latin typeface="+mn-ea"/>
                <a:ea typeface="LG Smart_H Regular"/>
              </a:rPr>
              <a:t>]</a:t>
            </a:r>
          </a:p>
        </p:txBody>
      </p:sp>
      <p:graphicFrame>
        <p:nvGraphicFramePr>
          <p:cNvPr id="10" name="표 13">
            <a:extLst>
              <a:ext uri="{FF2B5EF4-FFF2-40B4-BE49-F238E27FC236}">
                <a16:creationId xmlns:a16="http://schemas.microsoft.com/office/drawing/2014/main" id="{705B568D-90B6-84EE-5D04-AC603EA20316}"/>
              </a:ext>
            </a:extLst>
          </p:cNvPr>
          <p:cNvGraphicFramePr>
            <a:graphicFrameLocks noGrp="1"/>
          </p:cNvGraphicFramePr>
          <p:nvPr/>
        </p:nvGraphicFramePr>
        <p:xfrm>
          <a:off x="1694876" y="4274146"/>
          <a:ext cx="6832591" cy="14849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4687">
                  <a:extLst>
                    <a:ext uri="{9D8B030D-6E8A-4147-A177-3AD203B41FA5}">
                      <a16:colId xmlns:a16="http://schemas.microsoft.com/office/drawing/2014/main" val="1706057098"/>
                    </a:ext>
                  </a:extLst>
                </a:gridCol>
                <a:gridCol w="657954">
                  <a:extLst>
                    <a:ext uri="{9D8B030D-6E8A-4147-A177-3AD203B41FA5}">
                      <a16:colId xmlns:a16="http://schemas.microsoft.com/office/drawing/2014/main" val="2197038721"/>
                    </a:ext>
                  </a:extLst>
                </a:gridCol>
                <a:gridCol w="733872">
                  <a:extLst>
                    <a:ext uri="{9D8B030D-6E8A-4147-A177-3AD203B41FA5}">
                      <a16:colId xmlns:a16="http://schemas.microsoft.com/office/drawing/2014/main" val="2316701656"/>
                    </a:ext>
                  </a:extLst>
                </a:gridCol>
                <a:gridCol w="645301">
                  <a:extLst>
                    <a:ext uri="{9D8B030D-6E8A-4147-A177-3AD203B41FA5}">
                      <a16:colId xmlns:a16="http://schemas.microsoft.com/office/drawing/2014/main" val="1639882669"/>
                    </a:ext>
                  </a:extLst>
                </a:gridCol>
                <a:gridCol w="708564">
                  <a:extLst>
                    <a:ext uri="{9D8B030D-6E8A-4147-A177-3AD203B41FA5}">
                      <a16:colId xmlns:a16="http://schemas.microsoft.com/office/drawing/2014/main" val="3824077770"/>
                    </a:ext>
                  </a:extLst>
                </a:gridCol>
                <a:gridCol w="683260">
                  <a:extLst>
                    <a:ext uri="{9D8B030D-6E8A-4147-A177-3AD203B41FA5}">
                      <a16:colId xmlns:a16="http://schemas.microsoft.com/office/drawing/2014/main" val="2509599643"/>
                    </a:ext>
                  </a:extLst>
                </a:gridCol>
                <a:gridCol w="619874">
                  <a:extLst>
                    <a:ext uri="{9D8B030D-6E8A-4147-A177-3AD203B41FA5}">
                      <a16:colId xmlns:a16="http://schemas.microsoft.com/office/drawing/2014/main" val="3025434034"/>
                    </a:ext>
                  </a:extLst>
                </a:gridCol>
                <a:gridCol w="730204">
                  <a:extLst>
                    <a:ext uri="{9D8B030D-6E8A-4147-A177-3AD203B41FA5}">
                      <a16:colId xmlns:a16="http://schemas.microsoft.com/office/drawing/2014/main" val="1044826541"/>
                    </a:ext>
                  </a:extLst>
                </a:gridCol>
                <a:gridCol w="737657">
                  <a:extLst>
                    <a:ext uri="{9D8B030D-6E8A-4147-A177-3AD203B41FA5}">
                      <a16:colId xmlns:a16="http://schemas.microsoft.com/office/drawing/2014/main" val="128468392"/>
                    </a:ext>
                  </a:extLst>
                </a:gridCol>
                <a:gridCol w="721218">
                  <a:extLst>
                    <a:ext uri="{9D8B030D-6E8A-4147-A177-3AD203B41FA5}">
                      <a16:colId xmlns:a16="http://schemas.microsoft.com/office/drawing/2014/main" val="2216835997"/>
                    </a:ext>
                  </a:extLst>
                </a:gridCol>
              </a:tblGrid>
              <a:tr h="213298"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구분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투자심의</a:t>
                      </a:r>
                      <a:r>
                        <a:rPr lang="en-US" altLang="ko-KR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/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집행품의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인프라 입고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인프라 설치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en-US" altLang="ko-KR" sz="700" b="1" kern="1200" baseline="300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1)</a:t>
                      </a:r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가상화 환경 구축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en-US" altLang="ko-KR" sz="700" b="1" kern="1200" baseline="300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2)</a:t>
                      </a:r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분석환경구축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알고리즘 및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  <a:p>
                      <a:pPr marL="0" lvl="0" algn="ctr">
                        <a:buNone/>
                      </a:pPr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 </a:t>
                      </a:r>
                      <a:r>
                        <a:rPr lang="af-ZA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I/F </a:t>
                      </a:r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테스트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최종 테스트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오픈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1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오픈 후 모니터링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5571945"/>
                  </a:ext>
                </a:extLst>
              </a:tr>
              <a:tr h="254317"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OC1 </a:t>
                      </a:r>
                      <a:endParaRPr lang="en-US" altLang="ko-KR">
                        <a:effectLst/>
                        <a:latin typeface="lg스마트체 regular"/>
                      </a:endParaRPr>
                    </a:p>
                    <a:p>
                      <a:pPr marL="0" algn="ctr" rtl="0" eaLnBrk="1" latinLnBrk="1" hangingPunct="1"/>
                      <a:r>
                        <a:rPr lang="en-US" sz="700" b="1" kern="1200" baseline="300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3)</a:t>
                      </a:r>
                      <a:r>
                        <a:rPr 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대표호기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)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 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auto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(‘24.10)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(‘24.12.03)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(‘24.12.06)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auto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(‘24.12.06)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(‘24.12.11)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(‘24.12.15)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(‘24.12.17)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(‘24.12.18)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(‘24.12.27)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287899"/>
                  </a:ext>
                </a:extLst>
              </a:tr>
              <a:tr h="254317"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OC1/OC2</a:t>
                      </a:r>
                      <a:endParaRPr lang="en-US" altLang="ko-KR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auto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(‘24.10)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(‘24.12.03)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(‘24.12.06)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auto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 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(‘24.12.06)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(‘24.12.11)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auto" latinLnBrk="1" hangingPunct="1"/>
                      <a:r>
                        <a:rPr lang="ko-KR" altLang="en-US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 </a:t>
                      </a:r>
                      <a:r>
                        <a:rPr lang="en-US" altLang="ko-KR" sz="700" b="0" i="0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(‘25.02)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● ('25.02)</a:t>
                      </a:r>
                      <a:endParaRPr lang="en-US" altLang="ko-KR"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ko-KR" sz="800" b="1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 Smart_H Regular"/>
                        </a:rPr>
                        <a:t>●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 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(‘25.04)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ko-KR" altLang="en-US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●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 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 panose="020B0600000101010101"/>
                        </a:rPr>
                        <a:t>(‘25.04)</a:t>
                      </a:r>
                      <a:endParaRPr lang="ko-KR" altLang="en-US"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338813"/>
                  </a:ext>
                </a:extLst>
              </a:tr>
              <a:tr h="254317"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NJ</a:t>
                      </a:r>
                    </a:p>
                    <a:p>
                      <a:pPr marL="0" lvl="0" algn="ctr">
                        <a:buNone/>
                      </a:pPr>
                      <a:r>
                        <a:rPr lang="en-US" sz="700" kern="1200" baseline="3000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4)</a:t>
                      </a:r>
                      <a:r>
                        <a:rPr 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</a:t>
                      </a:r>
                      <a:r>
                        <a:rPr lang="ko-KR" altLang="en-US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대표호기</a:t>
                      </a: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)</a:t>
                      </a:r>
                      <a:endParaRPr lang="en-US" sz="700" kern="1200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ko-KR" altLang="en-US" sz="7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altLang="ko-KR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('25.07)</a:t>
                      </a:r>
                      <a:endParaRPr lang="ko-KR" alt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('25.07)</a:t>
                      </a:r>
                      <a:endParaRPr 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('25.08)</a:t>
                      </a:r>
                      <a:endParaRPr 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('25.08)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1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◐</a:t>
                      </a:r>
                      <a:r>
                        <a:rPr lang="ko-KR" alt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('25.08)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7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('25.08)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('25.08)</a:t>
                      </a:r>
                      <a:endParaRPr lang="ko-KR" sz="800" b="0" i="0" u="none" strike="noStrike" kern="1200" noProof="0">
                        <a:solidFill>
                          <a:srgbClr val="000000"/>
                        </a:solidFill>
                        <a:effectLst/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ko-KR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('25.08.27)</a:t>
                      </a:r>
                      <a:endParaRPr 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ko-KR" altLang="en-US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('25.09)</a:t>
                      </a:r>
                      <a:endParaRPr 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620972"/>
                  </a:ext>
                </a:extLst>
              </a:tr>
              <a:tr h="254317"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NJ</a:t>
                      </a:r>
                    </a:p>
                    <a:p>
                      <a:pPr marL="0" lvl="0" algn="ctr">
                        <a:buNone/>
                      </a:pP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(그 외)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ko-KR" sz="7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altLang="ko-KR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('25.07)</a:t>
                      </a:r>
                      <a:endParaRPr 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('25.07)</a:t>
                      </a:r>
                      <a:endParaRPr 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('25.08)</a:t>
                      </a:r>
                      <a:endParaRPr 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('25.08)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7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('25.08)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7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('25.09)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('25.09)</a:t>
                      </a:r>
                      <a:endParaRPr lang="en-US" b="0">
                        <a:latin typeface="lg스마트체 regular"/>
                      </a:endParaRP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ko-KR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 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('25.09)</a:t>
                      </a:r>
                      <a:endParaRPr lang="en-US" b="0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ko-KR" sz="7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●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 </a:t>
                      </a: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('25.10)</a:t>
                      </a:r>
                      <a:endParaRPr lang="en-US" b="0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776861"/>
                  </a:ext>
                </a:extLst>
              </a:tr>
              <a:tr h="254317"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70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AZ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● ('25.10)</a:t>
                      </a:r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○ (</a:t>
                      </a:r>
                      <a:r>
                        <a:rPr 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미정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/>
                        </a:rPr>
                        <a:t>)</a:t>
                      </a:r>
                      <a:endParaRPr 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○ (</a:t>
                      </a:r>
                      <a:r>
                        <a:rPr 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미정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○ (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미정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</a:rPr>
                        <a:t>○ (</a:t>
                      </a:r>
                      <a:r>
                        <a:rPr lang="ko-KR" alt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미정</a:t>
                      </a:r>
                      <a:r>
                        <a:rPr 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</a:rPr>
                        <a:t>○ (</a:t>
                      </a:r>
                      <a:r>
                        <a:rPr lang="ko-KR" alt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미정</a:t>
                      </a:r>
                      <a:r>
                        <a:rPr lang="en-US" sz="800" b="0" i="0" u="none" strike="noStrike" kern="1200" spc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○ (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미정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○ (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미정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○ (</a:t>
                      </a:r>
                      <a:r>
                        <a:rPr lang="ko-KR" alt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ea typeface="lg스마트체 regular"/>
                        </a:rPr>
                        <a:t>미정</a:t>
                      </a:r>
                      <a:r>
                        <a:rPr lang="en-US" sz="800" b="0" i="0" u="none" strike="noStrike" kern="1200" noProof="0"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/>
                    </a:p>
                  </a:txBody>
                  <a:tcPr marL="0" marR="0" marT="0" marB="0" anchor="ctr"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312438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808E2F85-F139-0073-1560-DDE0D7CD4F2F}"/>
              </a:ext>
            </a:extLst>
          </p:cNvPr>
          <p:cNvSpPr txBox="1"/>
          <p:nvPr/>
        </p:nvSpPr>
        <p:spPr>
          <a:xfrm>
            <a:off x="7874254" y="558998"/>
            <a:ext cx="183062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+mn-ea"/>
                <a:ea typeface="LG스마트체 Regular"/>
                <a:cs typeface="Malgun Gothic Semilight"/>
              </a:rPr>
              <a:t>12/16 </a:t>
            </a:r>
            <a:r>
              <a:rPr lang="en-US" altLang="ko-KR" sz="1000">
                <a:latin typeface="+mn-ea"/>
                <a:ea typeface="맑은 고딕"/>
                <a:cs typeface="Malgun Gothic Semilight"/>
              </a:rPr>
              <a:t>(화)</a:t>
            </a:r>
            <a:r>
              <a:rPr lang="en-US" sz="1000">
                <a:latin typeface="+mn-ea"/>
                <a:ea typeface="+mn-ea"/>
                <a:cs typeface="Malgun Gothic Semilight"/>
              </a:rPr>
              <a:t> 10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  <a:endParaRPr lang="en-US" sz="1000">
              <a:latin typeface="+mn-ea"/>
              <a:ea typeface="+mn-ea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262716117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/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_DAVINCI</a:t>
            </a:r>
            <a:r>
              <a:rPr lang="ko-KR" altLang="en-US" sz="1800"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30" name="내용 개체 틀 20">
            <a:extLst>
              <a:ext uri="{FF2B5EF4-FFF2-40B4-BE49-F238E27FC236}">
                <a16:creationId xmlns:a16="http://schemas.microsoft.com/office/drawing/2014/main" id="{6F0A1984-ACC2-4062-BE1D-9FBF00C4EB71}"/>
              </a:ext>
            </a:extLst>
          </p:cNvPr>
          <p:cNvSpPr txBox="1">
            <a:spLocks/>
          </p:cNvSpPr>
          <p:nvPr/>
        </p:nvSpPr>
        <p:spPr>
          <a:xfrm>
            <a:off x="108656" y="593629"/>
            <a:ext cx="192520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■ 검사데이터 무결성 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Task</a:t>
            </a:r>
            <a:endParaRPr lang="ko-KR" altLang="en-US" sz="1400" b="1">
              <a:solidFill>
                <a:prstClr val="black"/>
              </a:solidFill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graphicFrame>
        <p:nvGraphicFramePr>
          <p:cNvPr id="31" name="표 1">
            <a:extLst>
              <a:ext uri="{FF2B5EF4-FFF2-40B4-BE49-F238E27FC236}">
                <a16:creationId xmlns:a16="http://schemas.microsoft.com/office/drawing/2014/main" id="{49B0A808-D122-47A1-8FDD-5E8A1F67FAFA}"/>
              </a:ext>
            </a:extLst>
          </p:cNvPr>
          <p:cNvGraphicFramePr>
            <a:graphicFrameLocks noGrp="1"/>
          </p:cNvGraphicFramePr>
          <p:nvPr/>
        </p:nvGraphicFramePr>
        <p:xfrm>
          <a:off x="92635" y="875711"/>
          <a:ext cx="9777533" cy="5720398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8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621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96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95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0831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검사데이터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무결성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+mj-ea"/>
                        </a:rPr>
                        <a:t>Task</a:t>
                      </a: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자동차 </a:t>
                      </a:r>
                      <a:b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LG스마트체2.0 Regular"/>
                          <a:ea typeface="+mj-ea"/>
                        </a:rPr>
                      </a:b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소형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전법인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LG스마트체2.0 Regular"/>
                        <a:ea typeface="LG스마트체 Regular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baseline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/>
                          <a:cs typeface="Malgun Gothic Semilight"/>
                        </a:rPr>
                        <a:t>(W51) OC 원통형 전지에 대한 검사무결성 레포트 발행을 시작하였으며, 개선 업무 지속 예정입니다.</a:t>
                      </a:r>
                      <a:endParaRPr lang="en-US" altLang="ko-KR" sz="1000" b="0" i="0" u="none" strike="noStrike" baseline="0" noProof="0">
                        <a:solidFill>
                          <a:srgbClr val="1414FE"/>
                        </a:solidFill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414FE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414FE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1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[</a:t>
                      </a:r>
                      <a:r>
                        <a:rPr lang="ko-KR" altLang="en-US" sz="1000" b="1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검사데이터 무결성 레포트 구축]</a:t>
                      </a:r>
                      <a:endParaRPr lang="ko-KR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baseline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baseline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baseline="0" noProof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rgbClr val="000000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[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진행 사항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]</a:t>
                      </a:r>
                      <a:endParaRPr lang="en-US" sz="1000"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-.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법인별 검사무결성 워크플로우 구축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완료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  - 원통형 전지 검사무결성 마트 개발 1차 완료하였으며, 추가 수정 요건이 있어 개발 진행 중에 있습니다. (~7/15)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 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- 추가 수정 요건 개발 완료되어 품질검사정보팀 담당자와 데이터 정합성 확인 및 최종 검증 작업 진행 중에 있습니다. (~ 8/8)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  </a:t>
                      </a:r>
                      <a:r>
                        <a:rPr lang="ko-KR" altLang="en-US" sz="1000" b="0" i="0" u="none" strike="noStrike" baseline="0" noProof="0">
                          <a:solidFill>
                            <a:srgbClr val="000000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- 원통형 검사무결성 데이터에 대한 검증을 완료하였습니다. 차주 이관 진행할 예정입니다. (8/13)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  - 원통형 검사무결성 마트 운영 적용 완료하였습니다. (8/19)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-. Global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통합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Report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발행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(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진행중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)</a:t>
                      </a:r>
                      <a:endParaRPr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  - NA,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NJ,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OC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데이터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HQ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다빈치 전송 테스트를 진행하였으며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,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데이터 정합성 확인 완료했습니다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. (12/1)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  - 전 법인 검사 무결성 데이터 HQ 다빈치 통합 작업이 완료하였습니다. (1/21)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   - HQ Global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통합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Report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에 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NB/HM AZS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공정 검사무결성 데이터 전송 작업을 하여 데이터 검증하고 있습니다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. (6/11)</a:t>
                      </a:r>
                      <a:endParaRPr lang="en-US" sz="1000" b="0" i="0" u="none" strike="noStrike" baseline="0" noProof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sz="1000" b="0" i="0" u="none" strike="noStrike" baseline="0" noProof="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1" baseline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/>
                        </a:rPr>
                        <a:t>[검사무결성 Task 팔로우업 과제 진행]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1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1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1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1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1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1" baseline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-. 소형 원통형 검사 무결성 마트 개발 (진행중)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요건 정의하여 OC 소형 원통형 기준 개발 착수하였습니다. (4/23)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OC9_A 기준 데이터 일차적으로 확인 완료하였으며, 추가 요건 정의 필요한 부분은 확인 중에 있습니다. (5/14)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정합성 검증을 위해 현업 담당자(w/품질검사정보팀)에 테스트 요청 하였습니다. (5/27)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정합성 확인 중에 있으며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NJ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 요건을 정의하고 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(6/11)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OC 원통형 검사 무결성 마트 개발 일차적으로 완료하였으며, 추가 수정 요건이 있어 추가 개발 예정입니다. (6/25)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추가 수정요건 개발 완료되어 품질검사정보팀 담당자와 데이터 정합성 확인 및 최종 검증 진행 중에 있습니다. (~ 8/8)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+mj-ea"/>
                        </a:rPr>
                        <a:t>’25.12</a:t>
                      </a:r>
                      <a:endParaRPr lang="ko-KR" altLang="en-US" sz="1600">
                        <a:latin typeface="LG스마트체2.0 Regular"/>
                        <a:ea typeface="LG스마트체 Regular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LG스마트체 Regular"/>
                        </a:rPr>
                        <a:t>함우석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2.0 Regular"/>
                          <a:ea typeface="+mj-ea"/>
                        </a:rPr>
                        <a:t>A</a:t>
                      </a: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2.0 Regular"/>
                        <a:ea typeface="LG스마트체 Regular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0510FC50-267B-49A3-BDA2-A80FD4609AB9}"/>
              </a:ext>
            </a:extLst>
          </p:cNvPr>
          <p:cNvGraphicFramePr>
            <a:graphicFrameLocks noGrp="1"/>
          </p:cNvGraphicFramePr>
          <p:nvPr/>
        </p:nvGraphicFramePr>
        <p:xfrm>
          <a:off x="1526806" y="1772080"/>
          <a:ext cx="7172497" cy="606932"/>
        </p:xfrm>
        <a:graphic>
          <a:graphicData uri="http://schemas.openxmlformats.org/drawingml/2006/table">
            <a:tbl>
              <a:tblPr/>
              <a:tblGrid>
                <a:gridCol w="1000935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991445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1017620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1042642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941393">
                  <a:extLst>
                    <a:ext uri="{9D8B030D-6E8A-4147-A177-3AD203B41FA5}">
                      <a16:colId xmlns:a16="http://schemas.microsoft.com/office/drawing/2014/main" val="396520218"/>
                    </a:ext>
                  </a:extLst>
                </a:gridCol>
                <a:gridCol w="1089231">
                  <a:extLst>
                    <a:ext uri="{9D8B030D-6E8A-4147-A177-3AD203B41FA5}">
                      <a16:colId xmlns:a16="http://schemas.microsoft.com/office/drawing/2014/main" val="4075003826"/>
                    </a:ext>
                  </a:extLst>
                </a:gridCol>
                <a:gridCol w="1089231">
                  <a:extLst>
                    <a:ext uri="{9D8B030D-6E8A-4147-A177-3AD203B41FA5}">
                      <a16:colId xmlns:a16="http://schemas.microsoft.com/office/drawing/2014/main" val="1996767456"/>
                    </a:ext>
                  </a:extLst>
                </a:gridCol>
              </a:tblGrid>
              <a:tr h="146601"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진행 계획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안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chemeClr val="tx1"/>
                      </a:solidFill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155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데이터 수집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Pilot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마트 개발</a:t>
                      </a:r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검증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검사무결성 마트 오픈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ea typeface="LG스마트체 Regular"/>
                        </a:rPr>
                        <a:t>(자동차/ESS)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법인별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Report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발행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Global Report </a:t>
                      </a:r>
                      <a:r>
                        <a:rPr 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발행</a:t>
                      </a:r>
                      <a:endParaRPr lang="ko-KR" sz="800"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rgbClr val="000000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AZS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공정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레포트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발행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검사무결성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마트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오픈</a:t>
                      </a:r>
                    </a:p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소형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원통형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)</a:t>
                      </a: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0696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’24.06.13</a:t>
                      </a:r>
                      <a:endParaRPr kumimoji="0" lang="ko-KR" altLang="en-US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’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24.07.20</a:t>
                      </a: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‘24.09.15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’24.12.31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’</a:t>
                      </a:r>
                      <a:r>
                        <a:rPr lang="en-US" sz="8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25.04.10</a:t>
                      </a:r>
                      <a:endParaRPr lang="ko-KR" altLang="en-US" sz="800"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’25.04.01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  <a:cs typeface="+mn-cs"/>
                        </a:rPr>
                        <a:t>'25.08 중순</a:t>
                      </a:r>
                      <a:endParaRPr lang="en-US" altLang="ko-KR" sz="800" b="0" i="0" u="none" strike="noStrike" kern="1200" err="1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</a:txBody>
                  <a:tcPr marL="9524" marR="9524" marT="9524" marB="0" anchor="ctr">
                    <a:lnL w="6350">
                      <a:solidFill>
                        <a:schemeClr val="tx1"/>
                      </a:solidFill>
                    </a:lnL>
                    <a:lnR w="6350">
                      <a:solidFill>
                        <a:schemeClr val="tx1"/>
                      </a:solidFill>
                    </a:lnR>
                    <a:lnT w="6350">
                      <a:solidFill>
                        <a:schemeClr val="tx1"/>
                      </a:solidFill>
                    </a:lnT>
                    <a:lnB w="6350">
                      <a:solidFill>
                        <a:schemeClr val="tx1"/>
                      </a:solidFill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51" name="TextBox 50">
            <a:extLst>
              <a:ext uri="{FF2B5EF4-FFF2-40B4-BE49-F238E27FC236}">
                <a16:creationId xmlns:a16="http://schemas.microsoft.com/office/drawing/2014/main" id="{B32DF0FF-A572-4706-8C10-943F6582CF9D}"/>
              </a:ext>
            </a:extLst>
          </p:cNvPr>
          <p:cNvSpPr txBox="1"/>
          <p:nvPr/>
        </p:nvSpPr>
        <p:spPr>
          <a:xfrm>
            <a:off x="8073777" y="564283"/>
            <a:ext cx="1707262" cy="3077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 12/16(수)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 11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  <a:p>
            <a:pPr>
              <a:defRPr/>
            </a:pPr>
            <a:endParaRPr lang="ko-KR" altLang="en-US" sz="1000">
              <a:latin typeface="+mn-ea"/>
              <a:ea typeface="+mn-ea"/>
              <a:cs typeface="Malgun Gothic Semilight"/>
            </a:endParaRPr>
          </a:p>
        </p:txBody>
      </p:sp>
      <p:sp>
        <p:nvSpPr>
          <p:cNvPr id="55" name="내용 개체 틀 20">
            <a:extLst>
              <a:ext uri="{FF2B5EF4-FFF2-40B4-BE49-F238E27FC236}">
                <a16:creationId xmlns:a16="http://schemas.microsoft.com/office/drawing/2014/main" id="{B1480676-9927-4CC9-B1F0-4B5949782A37}"/>
              </a:ext>
            </a:extLst>
          </p:cNvPr>
          <p:cNvSpPr txBox="1">
            <a:spLocks/>
          </p:cNvSpPr>
          <p:nvPr/>
        </p:nvSpPr>
        <p:spPr>
          <a:xfrm>
            <a:off x="8915417" y="424352"/>
            <a:ext cx="865622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함우석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A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pic>
        <p:nvPicPr>
          <p:cNvPr id="8" name="그림 7" descr="레드, 스크린샷, 카민, 상징이(가) 표시된 사진&#10;&#10;자동 생성된 설명">
            <a:extLst>
              <a:ext uri="{FF2B5EF4-FFF2-40B4-BE49-F238E27FC236}">
                <a16:creationId xmlns:a16="http://schemas.microsoft.com/office/drawing/2014/main" id="{043A9D0B-8E57-436C-A2F0-9DEDE33ECBE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80470" y="1774054"/>
            <a:ext cx="1144162" cy="648496"/>
          </a:xfrm>
          <a:prstGeom prst="rect">
            <a:avLst/>
          </a:prstGeom>
        </p:spPr>
      </p:pic>
      <p:graphicFrame>
        <p:nvGraphicFramePr>
          <p:cNvPr id="6" name="Table 7">
            <a:extLst>
              <a:ext uri="{FF2B5EF4-FFF2-40B4-BE49-F238E27FC236}">
                <a16:creationId xmlns:a16="http://schemas.microsoft.com/office/drawing/2014/main" id="{C3E03FE6-EFB3-0D86-0A31-22605297189C}"/>
              </a:ext>
            </a:extLst>
          </p:cNvPr>
          <p:cNvGraphicFramePr>
            <a:graphicFrameLocks noGrp="1"/>
          </p:cNvGraphicFramePr>
          <p:nvPr/>
        </p:nvGraphicFramePr>
        <p:xfrm>
          <a:off x="1603090" y="4579315"/>
          <a:ext cx="6937023" cy="64008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661205">
                  <a:extLst>
                    <a:ext uri="{9D8B030D-6E8A-4147-A177-3AD203B41FA5}">
                      <a16:colId xmlns:a16="http://schemas.microsoft.com/office/drawing/2014/main" val="1074034033"/>
                    </a:ext>
                  </a:extLst>
                </a:gridCol>
                <a:gridCol w="718756">
                  <a:extLst>
                    <a:ext uri="{9D8B030D-6E8A-4147-A177-3AD203B41FA5}">
                      <a16:colId xmlns:a16="http://schemas.microsoft.com/office/drawing/2014/main" val="3635539319"/>
                    </a:ext>
                  </a:extLst>
                </a:gridCol>
                <a:gridCol w="3557062">
                  <a:extLst>
                    <a:ext uri="{9D8B030D-6E8A-4147-A177-3AD203B41FA5}">
                      <a16:colId xmlns:a16="http://schemas.microsoft.com/office/drawing/2014/main" val="2952087144"/>
                    </a:ext>
                  </a:extLst>
                </a:gridCol>
              </a:tblGrid>
              <a:tr h="181872"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과제명</a:t>
                      </a: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목표</a:t>
                      </a:r>
                      <a:r>
                        <a:rPr lang="en-US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ko-KR" altLang="en-US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일정</a:t>
                      </a:r>
                      <a:endParaRPr 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base" latinLnBrk="1" hangingPunct="1"/>
                      <a:r>
                        <a:rPr lang="ko-KR" altLang="en-US" sz="8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진행 사항</a:t>
                      </a:r>
                      <a:endParaRPr lang="en-US" sz="800" b="1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anchor="ctr">
                    <a:lnL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774096"/>
                  </a:ext>
                </a:extLst>
              </a:tr>
              <a:tr h="181872"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원통형 전지 검사무결성 마트 개발</a:t>
                      </a:r>
                    </a:p>
                  </a:txBody>
                  <a:tcPr anchor="ctr">
                    <a:lnL w="12318">
                      <a:solidFill>
                        <a:srgbClr val="000000"/>
                      </a:solidFill>
                    </a:lnL>
                    <a:lnR w="12318">
                      <a:solidFill>
                        <a:srgbClr val="000000"/>
                      </a:solidFill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8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'25.08 중순</a:t>
                      </a:r>
                      <a:endParaRPr lang="en-US" altLang="ko-KR" sz="800" b="0" i="0" u="none" strike="noStrike" kern="1200" err="1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anchor="ctr">
                    <a:lnL w="12318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8">
                      <a:solidFill>
                        <a:srgbClr val="000000"/>
                      </a:solidFill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8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개발 및 최종 테스트 완료하여 8/19 운영 적용 완료</a:t>
                      </a:r>
                    </a:p>
                  </a:txBody>
                  <a:tcPr anchor="ctr">
                    <a:lnL w="12318">
                      <a:solidFill>
                        <a:srgbClr val="000000"/>
                      </a:solidFill>
                    </a:lnL>
                    <a:lnR w="12318">
                      <a:solidFill>
                        <a:srgbClr val="000000"/>
                      </a:solidFill>
                    </a:lnR>
                    <a:lnT w="123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8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7517140"/>
                  </a:ext>
                </a:extLst>
              </a:tr>
              <a:tr h="181872"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HD 자동차 검사 무결성 마트 개발</a:t>
                      </a:r>
                    </a:p>
                  </a:txBody>
                  <a:tcPr anchor="ctr">
                    <a:lnL w="12318">
                      <a:solidFill>
                        <a:srgbClr val="000000"/>
                      </a:solidFill>
                    </a:lnL>
                    <a:lnR w="12318">
                      <a:solidFill>
                        <a:srgbClr val="000000"/>
                      </a:solidFill>
                    </a:lnR>
                    <a:lnT w="12318">
                      <a:solidFill>
                        <a:srgbClr val="000000"/>
                      </a:solidFill>
                    </a:lnT>
                    <a:lnB w="12318">
                      <a:solidFill>
                        <a:srgbClr val="00000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'25.06.11</a:t>
                      </a:r>
                    </a:p>
                  </a:txBody>
                  <a:tcPr anchor="ctr">
                    <a:lnL w="12318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318">
                      <a:solidFill>
                        <a:srgbClr val="000000"/>
                      </a:solidFill>
                    </a:lnR>
                    <a:lnT w="12318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318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개발 및 최종 테스트 완료하여 6/1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1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운영 적용 완료</a:t>
                      </a:r>
                    </a:p>
                  </a:txBody>
                  <a:tcPr anchor="ctr">
                    <a:lnL w="12318">
                      <a:solidFill>
                        <a:srgbClr val="000000"/>
                      </a:solidFill>
                    </a:lnL>
                    <a:lnR w="12318">
                      <a:solidFill>
                        <a:srgbClr val="000000"/>
                      </a:solidFill>
                    </a:lnR>
                    <a:lnT w="12318">
                      <a:solidFill>
                        <a:srgbClr val="000000"/>
                      </a:solidFill>
                    </a:lnT>
                    <a:lnB w="12318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978084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2E8D7CD-0A2D-4FE5-927F-4585531EB9D8}"/>
              </a:ext>
            </a:extLst>
          </p:cNvPr>
          <p:cNvSpPr txBox="1"/>
          <p:nvPr/>
        </p:nvSpPr>
        <p:spPr>
          <a:xfrm>
            <a:off x="5776546" y="558575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-#23,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798223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7C1BBB-AAC2-744B-4E14-8AC13E3D17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CF14EBBD-BADA-C3C2-7E44-D7541F4B234B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389804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defRPr/>
            </a:pPr>
            <a:r>
              <a:rPr kumimoji="0" 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NERP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전환 대응</a:t>
            </a:r>
            <a:endParaRPr lang="en-US" altLang="ko-KR" sz="1400" b="1">
              <a:solidFill>
                <a:prstClr val="black"/>
              </a:solidFill>
              <a:latin typeface="+mj-ea"/>
              <a:ea typeface="+mj-ea"/>
              <a:cs typeface="Malgun Gothic Semilight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A913B7DB-EC53-A681-C334-5AECDA90B65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01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501BB803-0C6A-82F6-BE77-072156EA40A3}"/>
              </a:ext>
            </a:extLst>
          </p:cNvPr>
          <p:cNvSpPr txBox="1">
            <a:spLocks/>
          </p:cNvSpPr>
          <p:nvPr/>
        </p:nvSpPr>
        <p:spPr>
          <a:xfrm>
            <a:off x="8968089" y="386055"/>
            <a:ext cx="839975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오영택</a:t>
            </a:r>
            <a:r>
              <a:rPr lang="en-US" altLang="ko-KR" sz="1000">
                <a:solidFill>
                  <a:prstClr val="black"/>
                </a:solidFill>
              </a:rPr>
              <a:t>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A20B223-45E7-4C3B-8C0C-F25E36C3B2E9}"/>
              </a:ext>
            </a:extLst>
          </p:cNvPr>
          <p:cNvSpPr txBox="1"/>
          <p:nvPr/>
        </p:nvSpPr>
        <p:spPr>
          <a:xfrm>
            <a:off x="8031194" y="527973"/>
            <a:ext cx="1875463" cy="369332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Arial Narrow"/>
                <a:ea typeface="LG스마트체 Regular"/>
              </a:rPr>
              <a:t> 12/16(수)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 </a:t>
            </a:r>
            <a:r>
              <a:rPr lang="en-US" altLang="ko-KR" sz="1000">
                <a:solidFill>
                  <a:prstClr val="black"/>
                </a:solidFill>
                <a:ea typeface="LG스마트체 Regular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시</a:t>
            </a:r>
            <a:b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LG스마트체 Regular"/>
              </a:rPr>
            </a:b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1414FE"/>
              </a:solidFill>
              <a:effectLst/>
              <a:uLnTx/>
              <a:uFillTx/>
              <a:ea typeface="LG스마트체 Regular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F65B3CD-8500-184A-9C67-AAF4137E7E83}"/>
              </a:ext>
            </a:extLst>
          </p:cNvPr>
          <p:cNvSpPr txBox="1"/>
          <p:nvPr/>
        </p:nvSpPr>
        <p:spPr>
          <a:xfrm>
            <a:off x="5776546" y="558575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39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aphicFrame>
        <p:nvGraphicFramePr>
          <p:cNvPr id="11" name="표 1">
            <a:extLst>
              <a:ext uri="{FF2B5EF4-FFF2-40B4-BE49-F238E27FC236}">
                <a16:creationId xmlns:a16="http://schemas.microsoft.com/office/drawing/2014/main" id="{52BA3B25-01B9-40E8-9ED1-99CC56913434}"/>
              </a:ext>
            </a:extLst>
          </p:cNvPr>
          <p:cNvGraphicFramePr>
            <a:graphicFrameLocks noGrp="1"/>
          </p:cNvGraphicFramePr>
          <p:nvPr/>
        </p:nvGraphicFramePr>
        <p:xfrm>
          <a:off x="83399" y="875711"/>
          <a:ext cx="9777536" cy="5720398"/>
        </p:xfrm>
        <a:graphic>
          <a:graphicData uri="http://schemas.openxmlformats.org/drawingml/2006/table">
            <a:tbl>
              <a:tblPr/>
              <a:tblGrid>
                <a:gridCol w="747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0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19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106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4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95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(W50)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08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NERP 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전환대응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Cut Over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준비하기 위해 데이터 서비스 항목별 점검 담당자 선정완료하였으며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데이터 마이그레이션 저장공간 부족이슈로 대응방안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가지를 마련하였으며 이중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가지를 선정하여 진행할 계획임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’02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년 구축된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ERP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는 국내와 해외로 분리되어 있어 업무수행이 비효율적이며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시스템 노후화 등의 문제가 존재하여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NERP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프로젝트가 시작 되었음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’25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월에 국내와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WA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는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NERP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도입이 완료 되었고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나머지 법인들은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차에 걸쳐 나누어서 오픈할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이에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NERP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변경사항 대응하기 위한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ERP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유관시스템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(DAVINCI, MES, QMS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등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별로 개발 및 테스트 진행 중입니다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특이사항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DAVINCI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의 경우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ERP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에서 직접 받는 데이터도 있고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유관시스템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(MES, SPC, IoT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등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을 통해 받는 데이터도 있습니다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  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77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개의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조직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설정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마스터 정보가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New Code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로 변경되며 이중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 정보(법인코드, 협력업체코드 등)가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DAVINCI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에 영향이 있습니다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DAVINCI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팀에서 제공하는 서비스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39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개중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(Spotfire, Data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API,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Automation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등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 영향 받습니다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 사항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미국법인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(GM1, GM2, HM) Cut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Over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준비중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1) Cut Over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계획 수립중이며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,NERP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는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12/29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~1/2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일 오전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시 이며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다빈치 작업은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12/29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~1/1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시로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Cut Over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계획 임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2)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데이터 마이그레이션시 저장공간 부족이슈 발생하여 아래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가지 안중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가지를 선택하여 대응할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3) Cut Over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시 데이터서비스 항목별 담당자 선정완료 하였으며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각 담당자 별로 데이터 정합성 비교할 조회조건 및 결과 저장 진행중에 있습니다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’26.02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오영택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권태영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김지송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285899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C7E5363F-4766-40EA-9C36-19DA673F6FB2}"/>
              </a:ext>
            </a:extLst>
          </p:cNvPr>
          <p:cNvGraphicFramePr>
            <a:graphicFrameLocks noGrp="1"/>
          </p:cNvGraphicFramePr>
          <p:nvPr/>
        </p:nvGraphicFramePr>
        <p:xfrm>
          <a:off x="1419056" y="1442334"/>
          <a:ext cx="6991094" cy="1216925"/>
        </p:xfrm>
        <a:graphic>
          <a:graphicData uri="http://schemas.openxmlformats.org/drawingml/2006/table">
            <a:tbl>
              <a:tblPr/>
              <a:tblGrid>
                <a:gridCol w="1831561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96487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1398219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1398219">
                  <a:extLst>
                    <a:ext uri="{9D8B030D-6E8A-4147-A177-3AD203B41FA5}">
                      <a16:colId xmlns:a16="http://schemas.microsoft.com/office/drawing/2014/main" val="534678290"/>
                    </a:ext>
                  </a:extLst>
                </a:gridCol>
                <a:gridCol w="1398219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</a:tblGrid>
              <a:tr h="15512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5512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통합테스트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Open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안정화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4675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국내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), WA 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‘24.08 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‘24.11 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‘25.01 (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‘25.02 (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235227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MI, MIL HD, ST 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’25.04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‘25.07.02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’25,08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3955506"/>
                  </a:ext>
                </a:extLst>
              </a:tr>
              <a:tr h="212347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NB,NA,NJ 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‘25.07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’25.08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‘25.10.04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29178"/>
                  </a:ext>
                </a:extLst>
              </a:tr>
              <a:tr h="212347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GM1,GM2,HM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‘25.11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‘26.01.02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  <a:cs typeface="+mn-cs"/>
                        </a:rPr>
                        <a:t>‘26.02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275281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C3AB4127-52A7-457A-8F67-A5B7C3E65404}"/>
              </a:ext>
            </a:extLst>
          </p:cNvPr>
          <p:cNvGrpSpPr/>
          <p:nvPr/>
        </p:nvGrpSpPr>
        <p:grpSpPr>
          <a:xfrm>
            <a:off x="4221379" y="2362675"/>
            <a:ext cx="1393260" cy="321241"/>
            <a:chOff x="4496890" y="4753908"/>
            <a:chExt cx="1177862" cy="503561"/>
          </a:xfrm>
        </p:grpSpPr>
        <p:sp>
          <p:nvSpPr>
            <p:cNvPr id="14" name="이등변 삼각형 13">
              <a:extLst>
                <a:ext uri="{FF2B5EF4-FFF2-40B4-BE49-F238E27FC236}">
                  <a16:creationId xmlns:a16="http://schemas.microsoft.com/office/drawing/2014/main" id="{98419D3A-B0F8-4F87-B027-9D5B37B37ECF}"/>
                </a:ext>
              </a:extLst>
            </p:cNvPr>
            <p:cNvSpPr/>
            <p:nvPr/>
          </p:nvSpPr>
          <p:spPr>
            <a:xfrm rot="10800000">
              <a:off x="4996141" y="4753908"/>
              <a:ext cx="184966" cy="92984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6886BF23-3A63-4847-835B-665AF31B235C}"/>
                </a:ext>
              </a:extLst>
            </p:cNvPr>
            <p:cNvSpPr/>
            <p:nvPr/>
          </p:nvSpPr>
          <p:spPr>
            <a:xfrm>
              <a:off x="4496890" y="4846892"/>
              <a:ext cx="1177862" cy="410577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/>
                <a:ea typeface="LG스마트체 Regular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171220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0E8E2AFF-DDC9-F714-5FD3-5645C3C65609}"/>
              </a:ext>
            </a:extLst>
          </p:cNvPr>
          <p:cNvSpPr txBox="1"/>
          <p:nvPr/>
        </p:nvSpPr>
        <p:spPr>
          <a:xfrm>
            <a:off x="8020822" y="473642"/>
            <a:ext cx="1875463" cy="400110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</a:rPr>
              <a:t>12/16(</a:t>
            </a:r>
            <a:r>
              <a:rPr lang="ko-KR" altLang="en-US" sz="1000">
                <a:solidFill>
                  <a:prstClr val="black"/>
                </a:solidFill>
              </a:rPr>
              <a:t>수</a:t>
            </a:r>
            <a:r>
              <a:rPr lang="en-US" altLang="ko-KR" sz="1000">
                <a:solidFill>
                  <a:prstClr val="black"/>
                </a:solidFill>
              </a:rPr>
              <a:t>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 </a:t>
            </a:r>
            <a:r>
              <a:rPr lang="en-US" altLang="ko-KR" sz="1000">
                <a:solidFill>
                  <a:prstClr val="black"/>
                </a:solidFill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시</a:t>
            </a:r>
            <a:br>
              <a:rPr lang="en-US" altLang="ko-KR" sz="10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</a:rPr>
            </a:br>
            <a:endParaRPr lang="ko-KR" altLang="en-US" sz="1000">
              <a:solidFill>
                <a:srgbClr val="1414FE"/>
              </a:solidFill>
            </a:endParaRPr>
          </a:p>
        </p:txBody>
      </p:sp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8304"/>
          <a:ext cx="9644176" cy="571051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084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9671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현업 워크플로우 지원 및 제작(주요)_F-Cost 분석 시스템 구축</a:t>
                      </a: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 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altLang="ko-KR" sz="1000" kern="120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금주(W51)는 특이사항 없습니다.</a:t>
                      </a:r>
                      <a:endParaRPr lang="en-US"/>
                    </a:p>
                    <a:p>
                      <a:pPr lvl="0">
                        <a:buNone/>
                      </a:pPr>
                      <a:endParaRPr lang="en-US" altLang="ko-KR" sz="1000" kern="1200">
                        <a:solidFill>
                          <a:srgbClr val="0000FF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endParaRPr lang="en-US" altLang="ko-KR" sz="1000" kern="1200">
                        <a:solidFill>
                          <a:srgbClr val="0000FF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endParaRPr lang="en-US" altLang="ko-KR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[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배경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]</a:t>
                      </a:r>
                      <a:endParaRPr lang="ko-KR" sz="1000" b="0" i="0" u="none" strike="noStrike" kern="1200" noProof="0">
                        <a:solidFill>
                          <a:srgbClr val="000000"/>
                        </a:solidFill>
                        <a:latin typeface="Arial Narrow"/>
                        <a:ea typeface="+mn-ea"/>
                      </a:endParaRPr>
                    </a:p>
                    <a:p>
                      <a:pPr lvl="0">
                        <a:buNone/>
                      </a:pP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ERP, MES, SRPT, QMS 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등 여러 시스템에 산재되어 있는 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F-Cost 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데이터를 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DAVINCI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로 연계하여 매월 반복하는 수작업을 줄이고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집계 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Lead Time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을 감소하여 이상문제를 즉시 확인 및 개선하여 궁극적으로 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F-Cost 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비용을 절감하고자 함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endParaRPr lang="en-US"/>
                    </a:p>
                    <a:p>
                      <a:pPr lvl="0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[진행사항]</a:t>
                      </a:r>
                      <a:endParaRPr lang="en-US" altLang="ko-KR" sz="1000" b="0" i="0" u="none" strike="noStrike" kern="120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QMS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에서 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NERP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로부터 데이터를 반복 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mig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 작업한 이력이 있으나, 이를 인지하지 못해 데이터가 중복으로 나타나는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현상이 있었습니다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  <a:endParaRPr lang="ko-KR" sz="1000" b="0" i="0" u="none" strike="noStrike" kern="120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lvl="0">
                        <a:buNone/>
                      </a:pP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이에 사용자 제공 로직을 수정하여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,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 정상데이터 나오는 것으로 확인하였고 </a:t>
                      </a:r>
                      <a:r>
                        <a:rPr lang="ko-KR" sz="1000" b="0" i="0" u="none" strike="noStrike" kern="1200" noProof="0">
                          <a:solidFill>
                            <a:srgbClr val="000000"/>
                          </a:solidFill>
                          <a:latin typeface="Arial Narrow"/>
                        </a:rPr>
                        <a:t>사용자 확인하여 이상없음으로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Arial Narrow"/>
                        </a:rPr>
                        <a:t>최종 확인하였습니다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Arial Narrow"/>
                        </a:rPr>
                        <a:t>.</a:t>
                      </a:r>
                      <a:endParaRPr lang="ko-KR" sz="10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rgbClr val="1414FE"/>
                          </a:solidFill>
                          <a:latin typeface="Arial Narrow"/>
                        </a:rPr>
                        <a:t>EF-Cost 관리대장 화면의 ESS Cell 관련 추가된 칼럼을 수집 진행중에 있습니다.</a:t>
                      </a:r>
                    </a:p>
                    <a:p>
                      <a:pPr lvl="0">
                        <a:buNone/>
                      </a:pPr>
                      <a:endParaRPr lang="en-US" altLang="ko-KR" sz="1000" b="0" i="0" u="none" strike="noStrike" kern="1200" noProof="0">
                        <a:solidFill>
                          <a:srgbClr val="1414FE"/>
                        </a:solidFill>
                        <a:latin typeface="Arial Narrow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'25.12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정경섭A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33871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defRPr/>
            </a:pPr>
            <a:r>
              <a:rPr kumimoji="0" 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 </a:t>
            </a:r>
            <a:r>
              <a:rPr lang="ko-KR" altLang="en-US" sz="1400" b="1">
                <a:latin typeface="+mj-ea"/>
                <a:ea typeface="LG스마트체 Regular"/>
              </a:rPr>
              <a:t>현업 워크플로우 지원 및 제작(주요)</a:t>
            </a:r>
            <a:endParaRPr lang="en-US" altLang="ko-KR" sz="1400" b="1" err="1">
              <a:solidFill>
                <a:prstClr val="black"/>
              </a:solidFill>
              <a:latin typeface="+mj-ea"/>
              <a:ea typeface="+mj-ea"/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01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8CA09620-80B4-CCF4-4E5B-BCBE10020EB5}"/>
              </a:ext>
            </a:extLst>
          </p:cNvPr>
          <p:cNvSpPr txBox="1">
            <a:spLocks/>
          </p:cNvSpPr>
          <p:nvPr/>
        </p:nvSpPr>
        <p:spPr>
          <a:xfrm>
            <a:off x="8968090" y="339177"/>
            <a:ext cx="83997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: </a:t>
            </a:r>
            <a:r>
              <a:rPr lang="en-US" altLang="ko-KR" sz="1000" err="1">
                <a:solidFill>
                  <a:prstClr val="black"/>
                </a:solidFill>
              </a:rPr>
              <a:t>정경섭A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67474C1-51B4-4B0D-9BE6-CD649EB53364}"/>
              </a:ext>
            </a:extLst>
          </p:cNvPr>
          <p:cNvSpPr txBox="1"/>
          <p:nvPr/>
        </p:nvSpPr>
        <p:spPr>
          <a:xfrm>
            <a:off x="5776546" y="558575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-#20,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28014D-1F87-5DC5-75FC-7054E43020DB}"/>
              </a:ext>
            </a:extLst>
          </p:cNvPr>
          <p:cNvGraphicFramePr>
            <a:graphicFrameLocks noGrp="1"/>
          </p:cNvGraphicFramePr>
          <p:nvPr/>
        </p:nvGraphicFramePr>
        <p:xfrm>
          <a:off x="1797683" y="1622532"/>
          <a:ext cx="6700727" cy="7315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1667">
                  <a:extLst>
                    <a:ext uri="{9D8B030D-6E8A-4147-A177-3AD203B41FA5}">
                      <a16:colId xmlns:a16="http://schemas.microsoft.com/office/drawing/2014/main" val="985786675"/>
                    </a:ext>
                  </a:extLst>
                </a:gridCol>
                <a:gridCol w="1150926">
                  <a:extLst>
                    <a:ext uri="{9D8B030D-6E8A-4147-A177-3AD203B41FA5}">
                      <a16:colId xmlns:a16="http://schemas.microsoft.com/office/drawing/2014/main" val="4130128458"/>
                    </a:ext>
                  </a:extLst>
                </a:gridCol>
                <a:gridCol w="1055803">
                  <a:extLst>
                    <a:ext uri="{9D8B030D-6E8A-4147-A177-3AD203B41FA5}">
                      <a16:colId xmlns:a16="http://schemas.microsoft.com/office/drawing/2014/main" val="4082456279"/>
                    </a:ext>
                  </a:extLst>
                </a:gridCol>
                <a:gridCol w="970198">
                  <a:extLst>
                    <a:ext uri="{9D8B030D-6E8A-4147-A177-3AD203B41FA5}">
                      <a16:colId xmlns:a16="http://schemas.microsoft.com/office/drawing/2014/main" val="2215379428"/>
                    </a:ext>
                  </a:extLst>
                </a:gridCol>
                <a:gridCol w="1569439">
                  <a:extLst>
                    <a:ext uri="{9D8B030D-6E8A-4147-A177-3AD203B41FA5}">
                      <a16:colId xmlns:a16="http://schemas.microsoft.com/office/drawing/2014/main" val="2028968895"/>
                    </a:ext>
                  </a:extLst>
                </a:gridCol>
                <a:gridCol w="1012694">
                  <a:extLst>
                    <a:ext uri="{9D8B030D-6E8A-4147-A177-3AD203B41FA5}">
                      <a16:colId xmlns:a16="http://schemas.microsoft.com/office/drawing/2014/main" val="1307093635"/>
                    </a:ext>
                  </a:extLst>
                </a:gridCol>
              </a:tblGrid>
              <a:tr h="24364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/>
                        <a:t>구분</a:t>
                      </a:r>
                    </a:p>
                  </a:txBody>
                  <a:tcPr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err="1"/>
                        <a:t>Phase</a:t>
                      </a:r>
                      <a:r>
                        <a:rPr lang="ko-KR" altLang="en-US" sz="1200"/>
                        <a:t> 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1200"/>
                    </a:p>
                  </a:txBody>
                  <a:tcPr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200" err="1"/>
                        <a:t>Phase</a:t>
                      </a:r>
                      <a:r>
                        <a:rPr lang="ko-KR" altLang="en-US" sz="1200"/>
                        <a:t> 3</a:t>
                      </a:r>
                      <a:endParaRPr lang="ko-KR" sz="12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/>
                    </a:p>
                  </a:txBody>
                  <a:tcPr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>
                        <a:buNone/>
                      </a:pPr>
                      <a:endParaRPr lang="ko-KR" sz="12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8104251"/>
                  </a:ext>
                </a:extLst>
              </a:tr>
              <a:tr h="444914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ko-KR" altLang="en-US" sz="1200" err="1"/>
                        <a:t>F-Cost</a:t>
                      </a:r>
                      <a:r>
                        <a:rPr lang="ko-KR" altLang="en-US" sz="1200"/>
                        <a:t> 분석</a:t>
                      </a:r>
                    </a:p>
                    <a:p>
                      <a:pPr lvl="0">
                        <a:buNone/>
                      </a:pPr>
                      <a:r>
                        <a:rPr lang="ko-KR" altLang="en-US" sz="1200"/>
                        <a:t>System 구축</a:t>
                      </a:r>
                    </a:p>
                  </a:txBody>
                  <a:tcPr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ko-KR" altLang="en-US" sz="1200" err="1"/>
                        <a:t>Phase</a:t>
                      </a:r>
                      <a:r>
                        <a:rPr lang="ko-KR" altLang="en-US" sz="1200"/>
                        <a:t> 2 TDR </a:t>
                      </a:r>
                    </a:p>
                    <a:p>
                      <a:pPr lvl="0">
                        <a:buNone/>
                      </a:pPr>
                      <a:r>
                        <a:rPr lang="ko-KR" altLang="en-US" sz="1200"/>
                        <a:t>('24.07)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ko-KR" sz="12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</a:rPr>
                        <a:t>Phase</a:t>
                      </a:r>
                      <a:r>
                        <a:rPr lang="ko-KR" sz="12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2 완료</a:t>
                      </a:r>
                    </a:p>
                    <a:p>
                      <a:pPr lvl="0">
                        <a:buNone/>
                      </a:pPr>
                      <a:r>
                        <a:rPr lang="ko-KR" sz="12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('25.02)</a:t>
                      </a:r>
                      <a:endParaRPr lang="ko-KR"/>
                    </a:p>
                  </a:txBody>
                  <a:tcPr>
                    <a:lnL w="12700">
                      <a:solidFill>
                        <a:schemeClr val="tx1"/>
                      </a:solidFill>
                    </a:lnL>
                    <a:lnR w="12700">
                      <a:solidFill>
                        <a:schemeClr val="tx1"/>
                      </a:solidFill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/>
                        <a:t>Phase3 착수 </a:t>
                      </a:r>
                    </a:p>
                    <a:p>
                      <a:pPr lvl="0">
                        <a:buNone/>
                      </a:pPr>
                      <a:r>
                        <a:rPr lang="ko-KR" altLang="en-US" sz="1200"/>
                        <a:t>('25.03)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chemeClr val="tx1"/>
                      </a:solidFill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/>
                        <a:t>데이터 정리 및 연계</a:t>
                      </a:r>
                      <a:endParaRPr lang="ko-KR"/>
                    </a:p>
                    <a:p>
                      <a:pPr lvl="0">
                        <a:buNone/>
                      </a:pPr>
                      <a:r>
                        <a:rPr lang="ko-KR" altLang="en-US" sz="1200"/>
                        <a:t>('25.05)</a:t>
                      </a:r>
                    </a:p>
                  </a:txBody>
                  <a:tcPr>
                    <a:lnL w="12700">
                      <a:solidFill>
                        <a:schemeClr val="tx1"/>
                      </a:solidFill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ko-KR" altLang="en-US" sz="1200"/>
                        <a:t>Phase 3완료</a:t>
                      </a:r>
                      <a:endParaRPr lang="ko-KR"/>
                    </a:p>
                    <a:p>
                      <a:pPr lvl="0">
                        <a:buNone/>
                      </a:pPr>
                      <a:r>
                        <a:rPr lang="ko-KR" altLang="en-US" sz="1200"/>
                        <a:t>('26.01) 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92593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781330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8303"/>
          <a:ext cx="9644173" cy="55865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790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10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42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62225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VTPD 셀 진단 WF 구현</a:t>
                      </a:r>
                      <a:endParaRPr lang="ko-KR"/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lvl="0" indent="0" algn="ctr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UFLPA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대응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Traceability</a:t>
                      </a: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확보</a:t>
                      </a: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ESWA</a:t>
                      </a:r>
                      <a:endParaRPr 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활성화</a:t>
                      </a:r>
                      <a:b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</a:br>
                      <a: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MEB</a:t>
                      </a:r>
                      <a:r>
                        <a:rPr lang="ko-KR" altLang="en-US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라인</a:t>
                      </a:r>
                      <a:endParaRPr lang="en-US" altLang="ko-KR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전 법인</a:t>
                      </a: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1000" b="0" i="0" u="none" strike="noStrike" kern="1200" baseline="0">
                        <a:solidFill>
                          <a:srgbClr val="1F1F1F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1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1)</a:t>
                      </a:r>
                      <a: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 ESWA </a:t>
                      </a:r>
                      <a:r>
                        <a:rPr lang="ko-KR" altLang="en-US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탭 단선/접힘 이슈 분석을 위한 VTPD 셀 진단 </a:t>
                      </a:r>
                      <a: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WF </a:t>
                      </a:r>
                      <a:r>
                        <a:rPr lang="ko-KR" altLang="en-US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구현</a:t>
                      </a:r>
                      <a:endParaRPr lang="en-US" altLang="ko-KR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latin typeface="+mn-lt"/>
                          <a:ea typeface="LG Smart_H Regular"/>
                          <a:cs typeface="+mn-cs"/>
                        </a:rPr>
                        <a:t>금주</a:t>
                      </a:r>
                      <a:r>
                        <a:rPr lang="en-US" sz="1000" b="0" i="0" u="none" strike="noStrike" kern="1200" baseline="0" noProof="0">
                          <a:solidFill>
                            <a:srgbClr val="1414FE"/>
                          </a:solidFill>
                          <a:latin typeface="+mn-lt"/>
                          <a:ea typeface="LG Smart_H Regular"/>
                          <a:cs typeface="+mn-cs"/>
                        </a:rPr>
                        <a:t>(W51)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latin typeface="+mn-lt"/>
                          <a:ea typeface="LG Smart_H Regular"/>
                          <a:cs typeface="+mn-cs"/>
                        </a:rPr>
                        <a:t>핵심 내용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1414FE"/>
                          </a:solidFill>
                          <a:latin typeface="+mn-lt"/>
                          <a:ea typeface="LG Smart_H Regular"/>
                          <a:cs typeface="+mn-cs"/>
                        </a:rPr>
                        <a:t>: VTPD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latin typeface="+mn-lt"/>
                          <a:ea typeface="LG Smart_H Regular"/>
                          <a:cs typeface="+mn-cs"/>
                        </a:rPr>
                        <a:t>진단 과제 특이사항 없습니다.</a:t>
                      </a:r>
                      <a:endParaRPr lang="en-US" altLang="ko-KR" sz="1000" b="0" i="0" u="none" strike="noStrike" kern="1200" baseline="0" noProof="0">
                        <a:solidFill>
                          <a:srgbClr val="1414FE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1414FE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1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배경</a:t>
                      </a:r>
                      <a:r>
                        <a:rPr lang="en-US" altLang="ko-KR" sz="1000" b="1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]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셀 단선, 내부 Short 등 발생으로 충방전 공정상 전압 이상 거동을 확인하는 방법으로 VTPD 셀 진단(시험분석지능화팀) 알고리즘이 유효한 방안으로 검증되어 이를 DAVINCI 환경을 활용하여 이슈 셀에 대한 진단 결과를 생성하고 모니터링할 수 있는 기능 및 WF 를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구현하는 과제를 </a:t>
                      </a:r>
                      <a:r>
                        <a:rPr lang="ko-KR" altLang="en-US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시험분석지능화팀</a:t>
                      </a:r>
                      <a: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법인 </a:t>
                      </a:r>
                      <a: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QA</a:t>
                      </a:r>
                      <a:r>
                        <a:rPr lang="ko-KR" altLang="en-US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팀과 진행중에 있습니다</a:t>
                      </a:r>
                      <a: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1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진행사항</a:t>
                      </a:r>
                      <a:r>
                        <a:rPr lang="en-US" altLang="ko-KR" sz="1000" b="1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] </a:t>
                      </a:r>
                      <a:r>
                        <a:rPr lang="en-US" altLang="ko-KR" sz="1000" b="0" i="0" u="none" strike="noStrike" kern="1200" baseline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시험분석지능화팀에서 E79 모델 VTPD 진단 결과를 WA 품질로 공유하고 있으며, 진단결과 기반 현장에서의 TDA 분해분석 결과를 토대로 진단 유효성 검증 진행중입니다.</a:t>
                      </a:r>
                      <a:endParaRPr lang="en-US" altLang="ko-KR" sz="1000" b="0" i="0" u="none" strike="noStrike" kern="1200" baseline="0">
                        <a:solidFill>
                          <a:srgbClr val="1414FE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kern="1200" baseline="0">
                        <a:solidFill>
                          <a:srgbClr val="000000"/>
                        </a:solidFill>
                        <a:ea typeface="+mn-ea"/>
                        <a:cs typeface="Malgun Gothic Semilight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2) UFLPA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대응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 Traceability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확보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</a:rPr>
                        <a:t>(W51)</a:t>
                      </a:r>
                      <a:r>
                        <a:rPr lang="en-US" sz="1000" b="0" i="0" u="none" strike="noStrike" kern="1200" baseline="0" noProof="0">
                          <a:solidFill>
                            <a:srgbClr val="1414FE"/>
                          </a:solidFill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a typeface="lg스마트체 regular"/>
                        </a:rPr>
                        <a:t>3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a typeface="lg스마트체 regular"/>
                        </a:rPr>
                        <a:t>차 모의훈련 3개 PJT(OC, NA) 대상으로 자재이력 추적 진행하여 결과 리포팅하였고 원천 추출 결과와 비교 확인 완료하였습니다.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1414FE"/>
                        </a:solidFill>
                        <a:ea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1" i="0" u="none" strike="noStrike" kern="1200" baseline="0" noProof="0">
                          <a:solidFill>
                            <a:srgbClr val="000000"/>
                          </a:solidFill>
                        </a:rPr>
                        <a:t>[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배경</a:t>
                      </a:r>
                      <a:r>
                        <a:rPr lang="en-US" sz="1000" b="1" i="0" u="none" strike="noStrike" kern="1200" baseline="0" noProof="0">
                          <a:solidFill>
                            <a:srgbClr val="000000"/>
                          </a:solidFill>
                        </a:rPr>
                        <a:t>]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</a:rPr>
                        <a:t>UFLPA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규제에 따라 당사 제품이 위구르 강제노동과 결부 없음을 증명하기 위해 공급망 전반에 걸쳐 추적 가능한 자료와 기능을 갖출 수 있도록 준비가 필요함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.</a:t>
                      </a:r>
                      <a:endParaRPr lang="en-US" sz="1000" b="0" i="0" u="none" strike="noStrike" kern="1200" baseline="0" noProof="0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</a:rPr>
                        <a:t>※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규제 개요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</a:rPr>
                        <a:t>: CBP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는 강제노동에 의해 생산된 것으로 추정된 상품의 미국 내 수입 및 입항을 금지하며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수입자가 통관 억류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</a:rPr>
                        <a:t>30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일 이내 상품이 강제노동과 무관함을 입증하지 못하는 경우 통관 보류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압수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반출 등의 조치가 취해짐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.</a:t>
                      </a:r>
                      <a:endParaRPr lang="en-US" sz="1000" b="0" i="0" u="none" strike="noStrike" kern="1200" baseline="0" noProof="0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sz="1000" b="0" i="0" u="none" strike="noStrike" kern="1200" baseline="0" noProof="0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1" i="0" u="none" strike="noStrike" kern="1200" baseline="0" noProof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lang="ko-KR" altLang="en-US" sz="1000" b="1" i="0" u="none" strike="noStrike" kern="1200" baseline="0" noProof="0">
                          <a:solidFill>
                            <a:schemeClr val="tx1"/>
                          </a:solidFill>
                          <a:ea typeface="LG Smart_H Regular"/>
                        </a:rPr>
                        <a:t>진행 사항</a:t>
                      </a:r>
                      <a:r>
                        <a:rPr lang="en-US" sz="1000" b="1" i="0" u="none" strike="noStrike" kern="1200" baseline="0" noProof="0">
                          <a:solidFill>
                            <a:schemeClr val="tx1"/>
                          </a:solidFill>
                        </a:rPr>
                        <a:t>]</a:t>
                      </a:r>
                      <a:endParaRPr lang="en-US" sz="1000" b="0" i="0" u="none" strike="noStrike" kern="1200" baseline="0" noProof="0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-.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ea typeface="LG Smart_H Regular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선적 번호 기준 생산에 투입된 자재 정보와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해당 자재의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PO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정보를 추적하는 기능에 대한 요구사항 정의 완료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 (‘24.11)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원천 시스템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(MES, IWMS)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’24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년 선정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PJT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대상 시범 추적을 진행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. OC M50F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모델 대상 동일 조회 기능 개발 및 정합성 확인 완료 ('24.12) </a:t>
                      </a:r>
                      <a:endParaRPr lang="en-US" sz="1000" b="0" i="0" u="none" strike="noStrike" kern="1200" baseline="0" noProof="0">
                        <a:solidFill>
                          <a:srgbClr val="000000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-.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외주 패커 데이터 연계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ESNB/ ESNJ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법인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ESS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전지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UFLPA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추적 기능 구현 완료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 ('25.2.12)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및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 IM향 남경셀(M50F1B) 대상 시범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추적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latin typeface="+mn-lt"/>
                          <a:ea typeface="LG Smart_H Regular"/>
                          <a:cs typeface="+mn-cs"/>
                        </a:rPr>
                        <a:t> 진행 ('25.4)</a:t>
                      </a:r>
                      <a:endParaRPr lang="en-US" sz="1000" b="0" i="0" u="none" strike="noStrike" kern="1200" baseline="0">
                        <a:solidFill>
                          <a:srgbClr val="1414FE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-. WA Pack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대상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자재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 →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생산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공급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시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 Kanban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+mn-lt"/>
                          <a:ea typeface="LG Smart_H Regular"/>
                          <a:cs typeface="+mn-cs"/>
                        </a:rPr>
                        <a:t>이력에 대한 데이터 구성 추가 요건 구성하여 결과 전달 완료</a:t>
                      </a:r>
                      <a:endParaRPr lang="en-US" sz="1000" b="0" i="0" u="none" strike="noStrike" kern="1200" baseline="0" noProof="0">
                        <a:solidFill>
                          <a:schemeClr val="tx1"/>
                        </a:solidFill>
                        <a:latin typeface="+mn-lt"/>
                        <a:ea typeface="LG Smart_H Regular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곽병욱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함우석A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706238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defRPr/>
            </a:pPr>
            <a:r>
              <a:rPr kumimoji="0" 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 </a:t>
            </a:r>
            <a:r>
              <a:rPr lang="ko-KR" altLang="en-US" sz="1400" b="1">
                <a:latin typeface="+mj-ea"/>
                <a:ea typeface="+mj-ea"/>
              </a:rPr>
              <a:t>현업 데이터 분석 업무 지원</a:t>
            </a:r>
            <a:r>
              <a:rPr lang="en-US" altLang="ko-KR" sz="1400" b="1">
                <a:latin typeface="+mj-ea"/>
                <a:ea typeface="+mj-ea"/>
              </a:rPr>
              <a:t>_</a:t>
            </a:r>
            <a:r>
              <a:rPr lang="ko-KR" altLang="en-US" sz="1400" b="1">
                <a:latin typeface="+mj-ea"/>
                <a:ea typeface="+mj-ea"/>
              </a:rPr>
              <a:t>VTPD 셀 진단 WF 구현 / UFLPA 대응 </a:t>
            </a:r>
            <a:r>
              <a:rPr lang="ko-KR" altLang="en-US" sz="1400" b="1" err="1">
                <a:latin typeface="+mj-ea"/>
                <a:ea typeface="+mj-ea"/>
              </a:rPr>
              <a:t>Traceability</a:t>
            </a:r>
            <a:r>
              <a:rPr lang="ko-KR" altLang="en-US" sz="1400" b="1">
                <a:latin typeface="+mj-ea"/>
                <a:ea typeface="+mj-ea"/>
              </a:rPr>
              <a:t> 확보</a:t>
            </a:r>
            <a:endParaRPr lang="ko-KR" altLang="en-US" sz="1400" b="1">
              <a:solidFill>
                <a:prstClr val="black"/>
              </a:solidFill>
              <a:latin typeface="+mj-ea"/>
              <a:ea typeface="+mj-ea"/>
              <a:cs typeface="Malgun Gothic Semilight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01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8CA09620-80B4-CCF4-4E5B-BCBE10020EB5}"/>
              </a:ext>
            </a:extLst>
          </p:cNvPr>
          <p:cNvSpPr txBox="1">
            <a:spLocks/>
          </p:cNvSpPr>
          <p:nvPr/>
        </p:nvSpPr>
        <p:spPr>
          <a:xfrm>
            <a:off x="8469557" y="376121"/>
            <a:ext cx="1338507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곽병욱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S</a:t>
            </a:r>
            <a:r>
              <a:rPr lang="en-US" altLang="ko-KR" sz="1000">
                <a:solidFill>
                  <a:prstClr val="black"/>
                </a:solidFill>
              </a:rPr>
              <a:t> / </a:t>
            </a:r>
            <a:r>
              <a:rPr lang="ko-KR" altLang="en-US" sz="1000" err="1">
                <a:solidFill>
                  <a:prstClr val="black"/>
                </a:solidFill>
              </a:rPr>
              <a:t>함우석</a:t>
            </a:r>
            <a:r>
              <a:rPr lang="en-US" altLang="ko-KR" sz="1000">
                <a:solidFill>
                  <a:prstClr val="black"/>
                </a:solidFill>
              </a:rPr>
              <a:t>A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E8E2AFF-DDC9-F714-5FD3-5645C3C65609}"/>
              </a:ext>
            </a:extLst>
          </p:cNvPr>
          <p:cNvSpPr txBox="1"/>
          <p:nvPr/>
        </p:nvSpPr>
        <p:spPr>
          <a:xfrm>
            <a:off x="7994708" y="545398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Arial Narrow"/>
              </a:rPr>
              <a:t>12/16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(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)</a:t>
            </a:r>
            <a:r>
              <a:rPr lang="en-US" altLang="ko-KR" sz="1000">
                <a:solidFill>
                  <a:prstClr val="black"/>
                </a:solidFill>
              </a:rPr>
              <a:t> 11시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E4C08CF-CD41-4515-9868-E20C2A54322A}"/>
              </a:ext>
            </a:extLst>
          </p:cNvPr>
          <p:cNvSpPr txBox="1"/>
          <p:nvPr/>
        </p:nvSpPr>
        <p:spPr>
          <a:xfrm>
            <a:off x="5386487" y="1376753"/>
            <a:ext cx="3559454" cy="2308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900">
                <a:solidFill>
                  <a:srgbClr val="006600"/>
                </a:solidFill>
              </a:rPr>
              <a:t>* VTPD : Voltage Turning-Points Detection : 개별 셀 전압 이상 거동 검출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8EBB2B7-3106-42CD-9BEC-F9BC9CC45108}"/>
              </a:ext>
            </a:extLst>
          </p:cNvPr>
          <p:cNvSpPr txBox="1"/>
          <p:nvPr/>
        </p:nvSpPr>
        <p:spPr>
          <a:xfrm>
            <a:off x="5747353" y="111103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-#16,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A80AB68-D5EC-CD2D-C7DF-AB8C51DB4C0C}"/>
              </a:ext>
            </a:extLst>
          </p:cNvPr>
          <p:cNvSpPr txBox="1"/>
          <p:nvPr/>
        </p:nvSpPr>
        <p:spPr>
          <a:xfrm>
            <a:off x="5747353" y="320448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-#31,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C338F83-9C56-2A05-2420-61F15DCC08C7}"/>
              </a:ext>
            </a:extLst>
          </p:cNvPr>
          <p:cNvSpPr txBox="1"/>
          <p:nvPr/>
        </p:nvSpPr>
        <p:spPr>
          <a:xfrm>
            <a:off x="1917669" y="2917170"/>
            <a:ext cx="172515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>
                <a:solidFill>
                  <a:srgbClr val="217A21"/>
                </a:solidFill>
                <a:latin typeface="+mj-ea"/>
              </a:defRPr>
            </a:lvl1pPr>
          </a:lstStyle>
          <a:p>
            <a:r>
              <a:rPr lang="ko-KR" altLang="en-US"/>
              <a:t>* </a:t>
            </a:r>
            <a:r>
              <a:rPr lang="en-US" altLang="ko-KR"/>
              <a:t>UFLPA : </a:t>
            </a:r>
            <a:r>
              <a:rPr lang="ko-KR" altLang="en-US"/>
              <a:t>美 위구르 강제노동방지법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D215A3B-1FBF-EA51-B0CA-D8648CD46065}"/>
              </a:ext>
            </a:extLst>
          </p:cNvPr>
          <p:cNvSpPr txBox="1"/>
          <p:nvPr/>
        </p:nvSpPr>
        <p:spPr>
          <a:xfrm>
            <a:off x="2379500" y="3670645"/>
            <a:ext cx="280878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800">
                <a:solidFill>
                  <a:srgbClr val="217A21"/>
                </a:solidFill>
                <a:latin typeface="+mj-ea"/>
              </a:defRPr>
            </a:lvl1pPr>
          </a:lstStyle>
          <a:p>
            <a:r>
              <a:rPr lang="ko-KR" altLang="en-US"/>
              <a:t>* </a:t>
            </a:r>
            <a:r>
              <a:rPr lang="en-US" altLang="ko-KR"/>
              <a:t>CBP : </a:t>
            </a:r>
            <a:r>
              <a:rPr lang="ko-KR" altLang="en-US"/>
              <a:t>미 관세국경보호청</a:t>
            </a:r>
            <a:r>
              <a:rPr lang="en-US" altLang="ko-KR"/>
              <a:t>(Customs and Border Protection)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8309B44-30B1-ED3B-6457-705965E69399}"/>
              </a:ext>
            </a:extLst>
          </p:cNvPr>
          <p:cNvSpPr txBox="1"/>
          <p:nvPr/>
        </p:nvSpPr>
        <p:spPr>
          <a:xfrm>
            <a:off x="5653617" y="6477210"/>
            <a:ext cx="3733713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>
              <a:defRPr sz="800">
                <a:solidFill>
                  <a:srgbClr val="217A21"/>
                </a:solidFill>
                <a:latin typeface="+mj-ea"/>
              </a:defRPr>
            </a:lvl1pPr>
          </a:lstStyle>
          <a:p>
            <a:r>
              <a:rPr lang="ko-KR" altLang="en-US"/>
              <a:t>* 정보확보율 : </a:t>
            </a:r>
            <a:r>
              <a:rPr lang="ko-KR" altLang="en-US" err="1"/>
              <a:t>BOM에서</a:t>
            </a:r>
            <a:r>
              <a:rPr lang="ko-KR" altLang="en-US"/>
              <a:t> 자재 </a:t>
            </a:r>
            <a:r>
              <a:rPr lang="ko-KR" altLang="en-US" err="1"/>
              <a:t>Lot</a:t>
            </a:r>
            <a:r>
              <a:rPr lang="ko-KR" altLang="en-US"/>
              <a:t> 기준으로 </a:t>
            </a:r>
            <a:r>
              <a:rPr lang="ko-KR" altLang="en-US" err="1"/>
              <a:t>IWMS에서</a:t>
            </a:r>
            <a:r>
              <a:rPr lang="ko-KR" altLang="en-US"/>
              <a:t> PO 정보 확보가 가능한 비율</a:t>
            </a:r>
          </a:p>
        </p:txBody>
      </p:sp>
    </p:spTree>
    <p:extLst>
      <p:ext uri="{BB962C8B-B14F-4D97-AF65-F5344CB8AC3E}">
        <p14:creationId xmlns:p14="http://schemas.microsoft.com/office/powerpoint/2010/main" val="34927107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DAVINCI_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신규 아키텍처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 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Portal LLM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은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챗봇카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프롬프트 개선 활동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중이며, PI 내부 테스트 진행하면서 필요한 자료 보완 진행하고 있습니다.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DAVINCI</a:t>
                      </a:r>
                      <a:r>
                        <a:rPr kumimoji="0" lang="ko-KR" altLang="en-US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신규 아키텍처</a:t>
                      </a:r>
                      <a:endParaRPr kumimoji="0" lang="en-US" altLang="ko-KR" sz="1000" b="1" i="0" u="sng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5895" indent="-175895">
                        <a:buFont typeface="LG스마트체 Regular" panose="020B0600000101010101" pitchFamily="50" charset="-127"/>
                        <a:buChar char="■"/>
                      </a:pP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목적 및 배경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br>
                        <a:rPr lang="en-US" altLang="ko-KR" sz="1000" b="0">
                          <a:solidFill>
                            <a:srgbClr val="000000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지금까지 국내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해외법인에 구축되거나 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상반기까지 구축 예정인 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DAVINCI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 아키텍처의 장단점과 사용자들의 불편사항을 파악하고 이를 보완 및 개선할 수 있는 신규 아키텍처를 준비하려 합니다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신규 아키텍처 고려 시 성능개선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비용절감 및 활용성 개선 등에 포커스를 맞추어 진행 예정입니다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en-US" altLang="ko-KR" sz="10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6213" indent="-176213">
                        <a:buFont typeface="LG스마트체 Regular" panose="020B0600000101010101" pitchFamily="50" charset="-127"/>
                        <a:buChar char="■"/>
                      </a:pPr>
                      <a:endParaRPr lang="en-US" altLang="ko-KR" sz="10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6213" indent="-176213">
                        <a:buFont typeface="LG스마트체 Regular" panose="020B0600000101010101" pitchFamily="50" charset="-127"/>
                        <a:buChar char="■"/>
                      </a:pPr>
                      <a:endParaRPr lang="en-US" altLang="ko-KR" sz="10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6213" indent="-176213">
                        <a:buFont typeface="LG스마트체 Regular" panose="020B0600000101010101" pitchFamily="50" charset="-127"/>
                        <a:buChar char="■"/>
                      </a:pPr>
                      <a:endParaRPr lang="en-US" altLang="ko-KR" sz="10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6213" indent="-176213">
                        <a:buFont typeface="LG스마트체 Regular" panose="020B0600000101010101" pitchFamily="50" charset="-127"/>
                        <a:buChar char="■"/>
                      </a:pPr>
                      <a:endParaRPr lang="en-US" altLang="ko-KR" sz="1000" b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박준규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박정환P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이재왕S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한승구A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01337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신규 아키텍처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091469" y="572550"/>
            <a:ext cx="17071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 12/16(</a:t>
            </a:r>
            <a:r>
              <a:rPr lang="ko-KR" altLang="en-US" sz="1000">
                <a:latin typeface="맑은 고딕"/>
                <a:ea typeface="맑은 고딕"/>
                <a:cs typeface="Malgun Gothic Semilight"/>
              </a:rPr>
              <a:t>화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)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 11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7794109" y="403273"/>
            <a:ext cx="2021387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박준규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P, 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박정환P,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이재왕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S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DE9B65-0E8B-4F6B-86CC-489FDFAA8DAE}"/>
              </a:ext>
            </a:extLst>
          </p:cNvPr>
          <p:cNvSpPr txBox="1"/>
          <p:nvPr/>
        </p:nvSpPr>
        <p:spPr>
          <a:xfrm>
            <a:off x="5776546" y="366509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28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40AF774-BA10-4CAD-8C02-CF768E57EDCA}"/>
              </a:ext>
            </a:extLst>
          </p:cNvPr>
          <p:cNvSpPr/>
          <p:nvPr/>
        </p:nvSpPr>
        <p:spPr>
          <a:xfrm>
            <a:off x="1603090" y="3750362"/>
            <a:ext cx="2371162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ko-KR" altLang="ko-KR" sz="1000" b="1" u="sng">
                <a:latin typeface="+mn-ea"/>
              </a:rPr>
              <a:t>DAVINCI 카탈로그/리니지 </a:t>
            </a:r>
            <a:r>
              <a:rPr lang="en-US" altLang="ko-KR" sz="1000" b="1" u="sng">
                <a:latin typeface="+mn-ea"/>
              </a:rPr>
              <a:t>UX</a:t>
            </a:r>
            <a:r>
              <a:rPr lang="ko-KR" altLang="ko-KR" sz="1000" b="1" u="sng">
                <a:latin typeface="+mn-ea"/>
              </a:rPr>
              <a:t> </a:t>
            </a:r>
            <a:r>
              <a:rPr lang="ko-KR" altLang="en-US" sz="1000" b="1" u="sng">
                <a:latin typeface="+mn-ea"/>
              </a:rPr>
              <a:t>고도화</a:t>
            </a:r>
            <a:endParaRPr lang="en-US" altLang="ko-KR" sz="1000" b="1" u="sng">
              <a:solidFill>
                <a:srgbClr val="000000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D8E6C72-873A-47B9-8E55-1A3A6B93F575}"/>
              </a:ext>
            </a:extLst>
          </p:cNvPr>
          <p:cNvSpPr txBox="1"/>
          <p:nvPr/>
        </p:nvSpPr>
        <p:spPr>
          <a:xfrm>
            <a:off x="5776546" y="515785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26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17E9C1E-98F0-4F03-A831-CF9BCC824568}"/>
              </a:ext>
            </a:extLst>
          </p:cNvPr>
          <p:cNvSpPr/>
          <p:nvPr/>
        </p:nvSpPr>
        <p:spPr>
          <a:xfrm>
            <a:off x="1665467" y="4036100"/>
            <a:ext cx="6945796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5895" indent="-175895">
              <a:buFont typeface="LG스마트체 Regular" panose="020B0600000101010101" pitchFamily="50" charset="-127"/>
              <a:buChar char="■"/>
            </a:pPr>
            <a:r>
              <a:rPr lang="ko-KR" altLang="en-US" sz="1000"/>
              <a:t>목적 및 배경</a:t>
            </a:r>
            <a:r>
              <a:rPr lang="en-US" altLang="ko-KR" sz="1000"/>
              <a:t> </a:t>
            </a:r>
            <a:br>
              <a:rPr lang="en-US" altLang="ko-KR" sz="1000">
                <a:solidFill>
                  <a:srgbClr val="000000"/>
                </a:solidFill>
              </a:rPr>
            </a:br>
            <a:r>
              <a:rPr lang="ko-KR" altLang="en-US" sz="1000">
                <a:solidFill>
                  <a:srgbClr val="000000"/>
                </a:solidFill>
              </a:rPr>
              <a:t>24년도 진행한 사용자 친화적 UI 개선에 이어 자사의 비즈니스와 연계하여 DAVINCI 데이터 식별 및 활용 측면에서 </a:t>
            </a:r>
            <a:r>
              <a:rPr lang="en-US" altLang="ko-KR" sz="1000">
                <a:solidFill>
                  <a:srgbClr val="000000"/>
                </a:solidFill>
              </a:rPr>
              <a:t>LLM </a:t>
            </a:r>
            <a:r>
              <a:rPr lang="ko-KR" altLang="en-US" sz="1000">
                <a:solidFill>
                  <a:srgbClr val="000000"/>
                </a:solidFill>
              </a:rPr>
              <a:t>도입 등을 검토하여 활용성 개선 및 고도화를 진행하고자 합니다</a:t>
            </a:r>
            <a:r>
              <a:rPr lang="en-US" altLang="ko-KR" sz="1000">
                <a:solidFill>
                  <a:srgbClr val="000000"/>
                </a:solidFill>
              </a:rPr>
              <a:t>.</a:t>
            </a:r>
            <a:endParaRPr lang="en-US" altLang="ko-KR" sz="100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7F0439B-CE59-4C0D-BAFA-C4A21204DD52}"/>
              </a:ext>
            </a:extLst>
          </p:cNvPr>
          <p:cNvSpPr/>
          <p:nvPr/>
        </p:nvSpPr>
        <p:spPr>
          <a:xfrm>
            <a:off x="1665467" y="4628782"/>
            <a:ext cx="6945796" cy="1169551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180975" indent="-180975">
              <a:buFont typeface="LG스마트체 Regular" panose="020B0600000101010101" pitchFamily="50" charset="-127"/>
              <a:buChar char="■"/>
            </a:pPr>
            <a:r>
              <a:rPr lang="ko-KR" altLang="en-US" sz="1000">
                <a:solidFill>
                  <a:srgbClr val="000000"/>
                </a:solidFill>
              </a:rPr>
              <a:t>진행 사항</a:t>
            </a:r>
            <a:br>
              <a:rPr lang="en-US" altLang="ko-KR" sz="1000"/>
            </a:br>
            <a:r>
              <a:rPr lang="en-US" altLang="ko-KR" sz="1000"/>
              <a:t>1)</a:t>
            </a:r>
            <a:r>
              <a:rPr lang="en-US" altLang="ko-KR" sz="1000">
                <a:solidFill>
                  <a:srgbClr val="0000FF"/>
                </a:solidFill>
              </a:rPr>
              <a:t> </a:t>
            </a:r>
            <a:r>
              <a:rPr lang="ko-KR" altLang="en-US" sz="1000"/>
              <a:t>품질</a:t>
            </a:r>
            <a:r>
              <a:rPr lang="en-US" altLang="ko-KR" sz="1000"/>
              <a:t>DX </a:t>
            </a:r>
            <a:r>
              <a:rPr lang="ko-KR" altLang="en-US" sz="1000"/>
              <a:t>담당 투자심의 완료</a:t>
            </a:r>
            <a:r>
              <a:rPr lang="en-US" altLang="ko-KR" sz="1000"/>
              <a:t>(10/1)</a:t>
            </a:r>
            <a:r>
              <a:rPr lang="ko-KR" altLang="en-US" sz="1000"/>
              <a:t>하였고</a:t>
            </a:r>
            <a:r>
              <a:rPr lang="en-US" altLang="ko-KR" sz="1000"/>
              <a:t>, </a:t>
            </a:r>
            <a:r>
              <a:rPr lang="ko-KR" altLang="en-US" sz="1000"/>
              <a:t>집행 품의도 완료하여 프로젝트 진행중입니다</a:t>
            </a:r>
            <a:r>
              <a:rPr lang="en-US" altLang="ko-KR" sz="1000"/>
              <a:t>. </a:t>
            </a:r>
            <a:br>
              <a:rPr lang="en-US" altLang="ko-KR" sz="1000"/>
            </a:br>
            <a:r>
              <a:rPr lang="en-US" altLang="ko-KR" sz="1000"/>
              <a:t>   - </a:t>
            </a:r>
            <a:r>
              <a:rPr lang="ko-KR" altLang="en-US" sz="1000"/>
              <a:t>투자 명 </a:t>
            </a:r>
            <a:r>
              <a:rPr lang="en-US" altLang="ko-KR" sz="1000"/>
              <a:t>: DAVINCI Portal LLM </a:t>
            </a:r>
            <a:r>
              <a:rPr lang="ko-KR" altLang="en-US" sz="1000"/>
              <a:t>도입을 통한 데이터 활용도 및 사용자 경험 개선</a:t>
            </a:r>
            <a:br>
              <a:rPr lang="en-US" altLang="ko-KR" sz="1000"/>
            </a:br>
            <a:r>
              <a:rPr lang="en-US" altLang="ko-KR" sz="1000"/>
              <a:t>2) </a:t>
            </a:r>
            <a:r>
              <a:rPr lang="en-US" altLang="ko-KR" sz="1000">
                <a:solidFill>
                  <a:srgbClr val="0000FF"/>
                </a:solidFill>
              </a:rPr>
              <a:t>LLM</a:t>
            </a:r>
            <a:r>
              <a:rPr lang="ko-KR" altLang="en-US" sz="1000">
                <a:solidFill>
                  <a:srgbClr val="0000FF"/>
                </a:solidFill>
              </a:rPr>
              <a:t>을 활용한 카탈로그 설명 생성은 전체 리스트에 대한 보완 작업 마무리 되어 팀 내 담당자에게 배분하여 설명이 적절한지, </a:t>
            </a:r>
            <a:r>
              <a:rPr lang="ko-KR" altLang="en-US" sz="1000" err="1">
                <a:solidFill>
                  <a:srgbClr val="0000FF"/>
                </a:solidFill>
              </a:rPr>
              <a:t>할루시네이션</a:t>
            </a:r>
            <a:r>
              <a:rPr lang="ko-KR" altLang="en-US" sz="1000">
                <a:solidFill>
                  <a:srgbClr val="0000FF"/>
                </a:solidFill>
              </a:rPr>
              <a:t> 여부 등을 점검 중입니다.</a:t>
            </a:r>
            <a:br>
              <a:rPr lang="ko-KR" altLang="en-US" sz="1000"/>
            </a:br>
            <a:r>
              <a:rPr lang="en-US" altLang="ko-KR" sz="1000">
                <a:solidFill>
                  <a:srgbClr val="0000FF"/>
                </a:solidFill>
              </a:rPr>
              <a:t>3) DAVINCI </a:t>
            </a:r>
            <a:r>
              <a:rPr lang="ko-KR" altLang="en-US" sz="1000">
                <a:solidFill>
                  <a:srgbClr val="0000FF"/>
                </a:solidFill>
              </a:rPr>
              <a:t>내 등록된 자료 학습을 위한 RAG 구성 완료 하였고, </a:t>
            </a:r>
            <a:r>
              <a:rPr lang="en-US" altLang="ko-KR" sz="1000">
                <a:solidFill>
                  <a:srgbClr val="0000FF"/>
                </a:solidFill>
              </a:rPr>
              <a:t>챗봇 답변 형식 및 퀄리티 관련해서 테스트 및 프롬프트 수정 진행중입니다.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644CB6D-4D7C-4426-A898-CAE8820C904F}"/>
              </a:ext>
            </a:extLst>
          </p:cNvPr>
          <p:cNvSpPr/>
          <p:nvPr/>
        </p:nvSpPr>
        <p:spPr>
          <a:xfrm>
            <a:off x="1576714" y="2460196"/>
            <a:ext cx="6945796" cy="1015663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175895" indent="-175895">
              <a:buFont typeface="LG스마트체 Regular" panose="020B0600000101010101" pitchFamily="50" charset="-127"/>
              <a:buChar char="■"/>
            </a:pPr>
            <a:r>
              <a:rPr lang="ko-KR" altLang="en-US" sz="1000">
                <a:solidFill>
                  <a:srgbClr val="000000"/>
                </a:solidFill>
              </a:rPr>
              <a:t>진행 사항</a:t>
            </a:r>
            <a:br>
              <a:rPr lang="en-US" altLang="ko-KR" sz="1000"/>
            </a:br>
            <a:r>
              <a:rPr lang="ko-KR" altLang="en-US" sz="1000"/>
              <a:t>1</a:t>
            </a:r>
            <a:r>
              <a:rPr lang="en-US" altLang="ko-KR" sz="1000"/>
              <a:t>) 2</a:t>
            </a:r>
            <a:r>
              <a:rPr lang="ko-KR" altLang="en-US" sz="1000"/>
              <a:t>차 </a:t>
            </a:r>
            <a:r>
              <a:rPr lang="en-US" altLang="ko-KR" sz="1000"/>
              <a:t>PoC </a:t>
            </a:r>
            <a:r>
              <a:rPr lang="ko-KR" altLang="en-US" sz="1000"/>
              <a:t>진행 </a:t>
            </a:r>
            <a:r>
              <a:rPr lang="en-US" altLang="ko-KR" sz="1000"/>
              <a:t>HW </a:t>
            </a:r>
            <a:r>
              <a:rPr lang="ko-KR" altLang="en-US" sz="1000"/>
              <a:t>설치 완료 </a:t>
            </a:r>
            <a:r>
              <a:rPr lang="en-US" altLang="ko-KR" sz="1000"/>
              <a:t>(11/18)</a:t>
            </a:r>
            <a:br>
              <a:rPr lang="en-US" altLang="ko-KR" sz="1000"/>
            </a:br>
            <a:r>
              <a:rPr lang="en-US" altLang="ko-KR" sz="1000"/>
              <a:t>2) 2</a:t>
            </a:r>
            <a:r>
              <a:rPr lang="ko-KR" altLang="en-US" sz="1000"/>
              <a:t>차 </a:t>
            </a:r>
            <a:r>
              <a:rPr lang="en-US" altLang="ko-KR" sz="1000"/>
              <a:t>PoC </a:t>
            </a:r>
            <a:r>
              <a:rPr lang="ko-KR" altLang="en-US" sz="1000"/>
              <a:t>수행 시나리오 협의</a:t>
            </a:r>
            <a:br>
              <a:rPr lang="en-US" altLang="ko-KR" sz="1000"/>
            </a:br>
            <a:r>
              <a:rPr lang="en-US" altLang="ko-KR" sz="1000">
                <a:solidFill>
                  <a:srgbClr val="1414FE"/>
                </a:solidFill>
              </a:rPr>
              <a:t>  - </a:t>
            </a:r>
            <a:r>
              <a:rPr lang="en-US" altLang="ko-KR" sz="1000" err="1"/>
              <a:t>SynxDB</a:t>
            </a:r>
            <a:r>
              <a:rPr lang="en-US" altLang="ko-KR" sz="1000"/>
              <a:t> 1</a:t>
            </a:r>
            <a:r>
              <a:rPr lang="ko-KR" altLang="en-US" sz="1000"/>
              <a:t>차 시나리오 미팅 </a:t>
            </a:r>
            <a:r>
              <a:rPr lang="en-US" altLang="ko-KR" sz="1000"/>
              <a:t>(11/20), 2</a:t>
            </a:r>
            <a:r>
              <a:rPr lang="ko-KR" altLang="en-US" sz="1000"/>
              <a:t>차 </a:t>
            </a:r>
            <a:r>
              <a:rPr lang="en-US" altLang="ko-KR" sz="1000"/>
              <a:t>(12/5)</a:t>
            </a:r>
            <a:br>
              <a:rPr lang="en-US" altLang="ko-KR" sz="1000"/>
            </a:br>
            <a:r>
              <a:rPr lang="en-US" altLang="ko-KR" sz="1000"/>
              <a:t>  - </a:t>
            </a:r>
            <a:r>
              <a:rPr lang="en-US" altLang="ko-KR" sz="1000" err="1"/>
              <a:t>eXperDB</a:t>
            </a:r>
            <a:r>
              <a:rPr lang="en-US" altLang="ko-KR" sz="1000"/>
              <a:t> 1</a:t>
            </a:r>
            <a:r>
              <a:rPr lang="ko-KR" altLang="en-US" sz="1000"/>
              <a:t>차 시나리오 미팅 </a:t>
            </a:r>
            <a:r>
              <a:rPr lang="en-US" altLang="ko-KR" sz="1000"/>
              <a:t>(11/28), 2</a:t>
            </a:r>
            <a:r>
              <a:rPr lang="ko-KR" altLang="en-US" sz="1000"/>
              <a:t>차 </a:t>
            </a:r>
            <a:r>
              <a:rPr lang="en-US" altLang="ko-KR" sz="1000"/>
              <a:t>(12/5)</a:t>
            </a:r>
            <a:br>
              <a:rPr lang="en-US" altLang="ko-KR" sz="1000"/>
            </a:br>
            <a:r>
              <a:rPr lang="en-US" altLang="ko-KR" sz="1000"/>
              <a:t>  - SW</a:t>
            </a:r>
            <a:r>
              <a:rPr lang="ko-KR" altLang="en-US" sz="1000"/>
              <a:t> 설치 </a:t>
            </a:r>
            <a:r>
              <a:rPr lang="en-US" altLang="ko-KR" sz="1000"/>
              <a:t>(12/11)</a:t>
            </a:r>
            <a:endParaRPr lang="en-US" altLang="ko-KR" sz="1000">
              <a:solidFill>
                <a:srgbClr val="1414F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406283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36248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72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8991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DAVINCI_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신규 아키텍처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 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핵심 내용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AI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기반 수율 자동기능 분석 건은 수준 재검점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(11/4)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후 시나리오 재설계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(12/12)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. X/Y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불량에 따른 분기 등 추가 고도화 및 정합성 향상 진행중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(~1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.  STK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공정에 대하여 외관불량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시나리오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(12/12)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하여 피드백 반영 중이며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 치수불량 시나리오 개발 진행 중에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. (~1/16). GPU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업그레이드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(12/24)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및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LLM Model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업그레이드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(26.1)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박준규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황덕현S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정경섭A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56773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_AX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과제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128056" y="572550"/>
            <a:ext cx="17071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 12/16(수)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 10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7782887" y="403273"/>
            <a:ext cx="203260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박준규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P, </a:t>
            </a:r>
            <a:r>
              <a:rPr lang="ko-KR" altLang="en-US" sz="1000">
                <a:solidFill>
                  <a:prstClr val="black"/>
                </a:solidFill>
                <a:latin typeface="+mn-ea"/>
                <a:cs typeface="Malgun Gothic Semilight"/>
              </a:rPr>
              <a:t>황덕현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S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, </a:t>
            </a:r>
            <a:r>
              <a:rPr lang="en-US" altLang="ko-KR" sz="1000" err="1">
                <a:solidFill>
                  <a:prstClr val="black"/>
                </a:solidFill>
                <a:latin typeface="+mn-ea"/>
                <a:cs typeface="Malgun Gothic Semilight"/>
              </a:rPr>
              <a:t>정경섭A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DE9B65-0E8B-4F6B-86CC-489FDFAA8DAE}"/>
              </a:ext>
            </a:extLst>
          </p:cNvPr>
          <p:cNvSpPr txBox="1"/>
          <p:nvPr/>
        </p:nvSpPr>
        <p:spPr>
          <a:xfrm>
            <a:off x="5776546" y="366509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-#43,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D8E6C72-873A-47B9-8E55-1A3A6B93F575}"/>
              </a:ext>
            </a:extLst>
          </p:cNvPr>
          <p:cNvSpPr txBox="1"/>
          <p:nvPr/>
        </p:nvSpPr>
        <p:spPr>
          <a:xfrm>
            <a:off x="5776546" y="515785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DA98828-4796-4A33-83FC-6671BD4844D3}"/>
              </a:ext>
            </a:extLst>
          </p:cNvPr>
          <p:cNvSpPr/>
          <p:nvPr/>
        </p:nvSpPr>
        <p:spPr>
          <a:xfrm>
            <a:off x="1603090" y="1811485"/>
            <a:ext cx="2395207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altLang="ko-KR" sz="1000" b="1" u="sng">
                <a:solidFill>
                  <a:srgbClr val="000000"/>
                </a:solidFill>
                <a:latin typeface="+mn-ea"/>
              </a:rPr>
              <a:t>AI</a:t>
            </a:r>
            <a:r>
              <a:rPr lang="ko-KR" altLang="en-US" sz="1000" b="1" u="sng">
                <a:solidFill>
                  <a:srgbClr val="000000"/>
                </a:solidFill>
                <a:latin typeface="+mn-ea"/>
              </a:rPr>
              <a:t>기반 </a:t>
            </a:r>
            <a:r>
              <a:rPr lang="en-US" altLang="ko-KR" sz="1000" b="1" u="sng">
                <a:solidFill>
                  <a:srgbClr val="000000"/>
                </a:solidFill>
                <a:latin typeface="+mn-ea"/>
              </a:rPr>
              <a:t>QMS </a:t>
            </a:r>
            <a:r>
              <a:rPr lang="ko-KR" altLang="en-US" sz="1000" b="1" u="sng">
                <a:solidFill>
                  <a:srgbClr val="000000"/>
                </a:solidFill>
                <a:latin typeface="+mn-ea"/>
              </a:rPr>
              <a:t>분석보고서 자동생성기능 개발</a:t>
            </a:r>
            <a:endParaRPr lang="en-US" altLang="ko-KR" sz="1000" b="1" u="sng">
              <a:solidFill>
                <a:srgbClr val="00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15A5334-9D18-4142-869C-1F60830F5986}"/>
              </a:ext>
            </a:extLst>
          </p:cNvPr>
          <p:cNvSpPr/>
          <p:nvPr/>
        </p:nvSpPr>
        <p:spPr>
          <a:xfrm>
            <a:off x="1603090" y="1982189"/>
            <a:ext cx="6945796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5895" indent="-175895">
              <a:buFont typeface="LG스마트체 Regular" panose="020B0600000101010101" pitchFamily="50" charset="-127"/>
              <a:buChar char="■"/>
            </a:pPr>
            <a:r>
              <a:rPr lang="ko-KR" altLang="en-US" sz="1000">
                <a:latin typeface="+mn-ea"/>
              </a:rPr>
              <a:t>목적 및 배경</a:t>
            </a:r>
            <a:r>
              <a:rPr lang="en-US" altLang="ko-KR" sz="1000">
                <a:latin typeface="+mn-ea"/>
              </a:rPr>
              <a:t> </a:t>
            </a:r>
            <a:br>
              <a:rPr lang="en-US" altLang="ko-KR" sz="1000">
                <a:solidFill>
                  <a:srgbClr val="000000"/>
                </a:solidFill>
                <a:latin typeface="+mn-ea"/>
              </a:rPr>
            </a:b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QMS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분석 의뢰 건에 대한 수작업 분석보고서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(PPT)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작성을 </a:t>
            </a:r>
            <a:r>
              <a:rPr lang="en-US" altLang="ko-KR" sz="1000" err="1">
                <a:latin typeface="Arial Narrow" panose="020B0606020202030204" pitchFamily="34" charset="0"/>
                <a:ea typeface="LG스마트체 Regular" panose="020B0600000101010101" pitchFamily="50" charset="-127"/>
              </a:rPr>
              <a:t>GenAI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기반으로 자동 생성함으로써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보고서 작성 업무 공수 절감 및 엔지니어들의 분석 업무 효율화에 기여하고자 함</a:t>
            </a:r>
            <a:endParaRPr lang="en-US" altLang="ko-KR" sz="10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marL="175895" indent="-175895">
              <a:buFont typeface="LG스마트체 Regular" panose="020B0600000101010101" pitchFamily="50" charset="-127"/>
              <a:buChar char="■"/>
            </a:pPr>
            <a:r>
              <a:rPr lang="ko-KR" altLang="en-US" sz="1000">
                <a:latin typeface="+mn-ea"/>
              </a:rPr>
              <a:t>진행 사항</a:t>
            </a:r>
            <a:br>
              <a:rPr lang="en-US" altLang="ko-KR" sz="10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전체 사용자 대상 오픈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(9/30)</a:t>
            </a:r>
            <a:b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- AI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기반 분석보고서 자동 생성기능 홍보 및 모니터링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(10/17)</a:t>
            </a:r>
            <a:b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-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사용자 보고서 생성관련 중분류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및 템플릿 선택과정 간소화하여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QMS UI </a:t>
            </a:r>
            <a:r>
              <a:rPr lang="ko-KR" altLang="en-US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개선안 배포 </a:t>
            </a:r>
            <a:r>
              <a:rPr lang="en-US" altLang="ko-KR" sz="1000">
                <a:latin typeface="Arial Narrow" panose="020B0606020202030204" pitchFamily="34" charset="0"/>
                <a:ea typeface="LG스마트체 Regular" panose="020B0600000101010101" pitchFamily="50" charset="-127"/>
              </a:rPr>
              <a:t>(11/27)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981D057-3E0E-4EC0-AC5E-C8AB71687CC5}"/>
              </a:ext>
            </a:extLst>
          </p:cNvPr>
          <p:cNvSpPr/>
          <p:nvPr/>
        </p:nvSpPr>
        <p:spPr>
          <a:xfrm>
            <a:off x="1603090" y="3109030"/>
            <a:ext cx="157286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altLang="ko-KR" sz="1000" b="1" u="sng">
                <a:solidFill>
                  <a:srgbClr val="000000"/>
                </a:solidFill>
                <a:latin typeface="+mn-ea"/>
              </a:rPr>
              <a:t>AI</a:t>
            </a:r>
            <a:r>
              <a:rPr lang="ko-KR" altLang="en-US" sz="1000" b="1" u="sng">
                <a:solidFill>
                  <a:srgbClr val="000000"/>
                </a:solidFill>
                <a:latin typeface="+mn-ea"/>
              </a:rPr>
              <a:t>를 활용한 </a:t>
            </a:r>
            <a:r>
              <a:rPr lang="ko-KR" altLang="en-US" sz="1000" b="1" u="sng" err="1">
                <a:solidFill>
                  <a:srgbClr val="000000"/>
                </a:solidFill>
                <a:latin typeface="+mn-ea"/>
              </a:rPr>
              <a:t>수율</a:t>
            </a:r>
            <a:r>
              <a:rPr lang="ko-KR" altLang="en-US" sz="1000" b="1" u="sng">
                <a:solidFill>
                  <a:srgbClr val="000000"/>
                </a:solidFill>
                <a:latin typeface="+mn-ea"/>
              </a:rPr>
              <a:t> 자동분석</a:t>
            </a:r>
            <a:endParaRPr lang="en-US" altLang="ko-KR" sz="1000" b="1" u="sng">
              <a:solidFill>
                <a:srgbClr val="000000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C1DD7F8-B569-4015-B7D1-261575238248}"/>
              </a:ext>
            </a:extLst>
          </p:cNvPr>
          <p:cNvSpPr/>
          <p:nvPr/>
        </p:nvSpPr>
        <p:spPr>
          <a:xfrm>
            <a:off x="1603090" y="3298783"/>
            <a:ext cx="7217060" cy="1477328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marL="175895" indent="-175895">
              <a:buFont typeface="LG스마트체 Regular" panose="020B0600000101010101" pitchFamily="50" charset="-127"/>
              <a:buChar char="■"/>
            </a:pPr>
            <a:r>
              <a:rPr lang="ko-KR" altLang="en-US" sz="1000">
                <a:latin typeface="+mn-ea"/>
              </a:rPr>
              <a:t>목적 및 배경</a:t>
            </a:r>
            <a:r>
              <a:rPr lang="en-US" altLang="ko-KR" sz="1000">
                <a:latin typeface="+mn-ea"/>
              </a:rPr>
              <a:t> </a:t>
            </a:r>
            <a:br>
              <a:rPr lang="en-US" altLang="ko-KR" sz="1000">
                <a:latin typeface="+mn-ea"/>
              </a:rPr>
            </a:br>
            <a:r>
              <a:rPr lang="ko-KR" altLang="en-US" sz="1000">
                <a:solidFill>
                  <a:srgbClr val="000000"/>
                </a:solidFill>
                <a:latin typeface="+mn-ea"/>
              </a:rPr>
              <a:t>수율 분석 시나리오를 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AI 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기반으로 자동분석결과 생성 하고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, Chatbot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을 구축 함으로써 분석 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L/T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 감소 및 업무 효율화에 기여하고자 함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. </a:t>
            </a:r>
            <a:endParaRPr lang="en-US" altLang="ko-KR" sz="1000">
              <a:latin typeface="+mn-ea"/>
            </a:endParaRPr>
          </a:p>
          <a:p>
            <a:pPr marL="175895" indent="-175895">
              <a:buFont typeface="LG스마트체 Regular" panose="020B0600000101010101" pitchFamily="50" charset="-127"/>
              <a:buChar char="■"/>
            </a:pPr>
            <a:r>
              <a:rPr lang="ko-KR" altLang="en-US" sz="1000">
                <a:latin typeface="+mn-ea"/>
              </a:rPr>
              <a:t>진행 사항</a:t>
            </a:r>
            <a:br>
              <a:rPr lang="en-US" altLang="ko-KR" sz="1000">
                <a:latin typeface="+mn-ea"/>
              </a:rPr>
            </a:br>
            <a:r>
              <a:rPr lang="en-US" altLang="ko-KR" sz="1000">
                <a:latin typeface="Arial Narrow"/>
                <a:ea typeface="LG스마트체 Regular"/>
              </a:rPr>
              <a:t>[1] LLM </a:t>
            </a:r>
            <a:r>
              <a:rPr lang="ko-KR" altLang="en-US" sz="1000">
                <a:latin typeface="Arial Narrow"/>
                <a:ea typeface="LG스마트체 Regular"/>
              </a:rPr>
              <a:t>활용 자동 분석</a:t>
            </a:r>
            <a:r>
              <a:rPr lang="en-US" altLang="ko-KR" sz="1000">
                <a:latin typeface="Arial Narrow"/>
                <a:ea typeface="LG스마트체 Regular"/>
              </a:rPr>
              <a:t>, </a:t>
            </a:r>
            <a:r>
              <a:rPr lang="ko-KR" altLang="en-US" sz="1000">
                <a:latin typeface="Arial Narrow"/>
                <a:ea typeface="LG스마트체 Regular"/>
              </a:rPr>
              <a:t>대화형 </a:t>
            </a:r>
            <a:r>
              <a:rPr lang="en-US" altLang="ko-KR" sz="1000">
                <a:latin typeface="Arial Narrow"/>
                <a:ea typeface="LG스마트체 Regular"/>
              </a:rPr>
              <a:t>Chatbot </a:t>
            </a:r>
            <a:r>
              <a:rPr lang="ko-KR" altLang="en-US" sz="1000">
                <a:latin typeface="Arial Narrow"/>
                <a:ea typeface="LG스마트체 Regular"/>
              </a:rPr>
              <a:t>시나리오 개발 완료</a:t>
            </a:r>
            <a:r>
              <a:rPr lang="en-US" altLang="ko-KR" sz="1000">
                <a:latin typeface="Arial Narrow"/>
                <a:ea typeface="LG스마트체 Regular"/>
              </a:rPr>
              <a:t>(10/30) </a:t>
            </a:r>
          </a:p>
          <a:p>
            <a:r>
              <a:rPr lang="en-US" altLang="ko-KR" sz="1000">
                <a:latin typeface="Arial Narrow"/>
                <a:ea typeface="LG스마트체 Regular"/>
              </a:rPr>
              <a:t>      [2] 2</a:t>
            </a:r>
            <a:r>
              <a:rPr lang="ko-KR" altLang="en-US" sz="1000">
                <a:latin typeface="Arial Narrow"/>
                <a:ea typeface="LG스마트체 Regular"/>
              </a:rPr>
              <a:t>차 그룹장님 시연</a:t>
            </a:r>
            <a:r>
              <a:rPr lang="en-US" altLang="ko-KR" sz="1000">
                <a:latin typeface="Arial Narrow"/>
                <a:ea typeface="LG스마트체 Regular"/>
              </a:rPr>
              <a:t>(10/30) </a:t>
            </a:r>
            <a:r>
              <a:rPr lang="ko-KR" altLang="en-US" sz="1000">
                <a:latin typeface="Arial Narrow"/>
                <a:ea typeface="LG스마트체 Regular"/>
              </a:rPr>
              <a:t>이후 완성도 향상을 위한 개선 작업</a:t>
            </a:r>
            <a:r>
              <a:rPr lang="en-US" altLang="ko-KR" sz="1000">
                <a:latin typeface="Arial Narrow"/>
                <a:ea typeface="LG스마트체 Regular"/>
              </a:rPr>
              <a:t>(~11</a:t>
            </a:r>
            <a:r>
              <a:rPr lang="ko-KR" altLang="en-US" sz="1000">
                <a:latin typeface="Arial Narrow"/>
                <a:ea typeface="LG스마트체 Regular"/>
              </a:rPr>
              <a:t>월</a:t>
            </a:r>
            <a:r>
              <a:rPr lang="en-US" altLang="ko-KR" sz="1000">
                <a:latin typeface="Arial Narrow"/>
                <a:ea typeface="LG스마트체 Regular"/>
              </a:rPr>
              <a:t>)  </a:t>
            </a:r>
          </a:p>
          <a:p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      </a:t>
            </a:r>
            <a:r>
              <a:rPr lang="en-US" altLang="ko-KR" sz="1000">
                <a:latin typeface="Arial Narrow"/>
                <a:ea typeface="LG스마트체 Regular"/>
              </a:rPr>
              <a:t>- </a:t>
            </a:r>
            <a:r>
              <a:rPr lang="ko-KR" altLang="en-US" sz="1000">
                <a:latin typeface="Arial Narrow"/>
                <a:ea typeface="LG스마트체 Regular"/>
              </a:rPr>
              <a:t>수준 재점검 및 개선방안 협의</a:t>
            </a:r>
            <a:r>
              <a:rPr lang="en-US" altLang="ko-KR" sz="1000">
                <a:latin typeface="Arial Narrow"/>
                <a:ea typeface="LG스마트체 Regular"/>
              </a:rPr>
              <a:t>(11/4, /w </a:t>
            </a:r>
            <a:r>
              <a:rPr lang="ko-KR" altLang="en-US" sz="1000">
                <a:latin typeface="Arial Narrow"/>
                <a:ea typeface="LG스마트체 Regular"/>
              </a:rPr>
              <a:t>데이터 통합분석팀</a:t>
            </a:r>
            <a:r>
              <a:rPr lang="en-US" altLang="ko-KR" sz="1000">
                <a:latin typeface="Arial Narrow"/>
                <a:ea typeface="LG스마트체 Regular"/>
              </a:rPr>
              <a:t>)</a:t>
            </a:r>
          </a:p>
          <a:p>
            <a:r>
              <a:rPr lang="en-US" altLang="ko-KR" sz="1000">
                <a:latin typeface="Arial Narrow"/>
                <a:ea typeface="LG스마트체 Regular"/>
              </a:rPr>
              <a:t>       - Drill Down </a:t>
            </a:r>
            <a:r>
              <a:rPr lang="ko-KR" altLang="en-US" sz="1000">
                <a:latin typeface="Arial Narrow"/>
                <a:ea typeface="LG스마트체 Regular"/>
              </a:rPr>
              <a:t>계층 구조 재설계</a:t>
            </a:r>
            <a:r>
              <a:rPr lang="en-US" altLang="ko-KR" sz="1000">
                <a:latin typeface="Arial Narrow"/>
                <a:ea typeface="LG스마트체 Regular"/>
              </a:rPr>
              <a:t>(11/21) , </a:t>
            </a:r>
            <a:r>
              <a:rPr lang="ko-KR" altLang="en-US" sz="1000">
                <a:latin typeface="Arial Narrow"/>
                <a:ea typeface="LG스마트체 Regular"/>
              </a:rPr>
              <a:t>수율</a:t>
            </a:r>
            <a:r>
              <a:rPr lang="en-US" altLang="ko-KR" sz="1000">
                <a:latin typeface="Arial Narrow"/>
                <a:ea typeface="LG스마트체 Regular"/>
              </a:rPr>
              <a:t>~</a:t>
            </a:r>
            <a:r>
              <a:rPr lang="ko-KR" altLang="en-US" sz="1000">
                <a:latin typeface="Arial Narrow"/>
                <a:ea typeface="LG스마트체 Regular"/>
              </a:rPr>
              <a:t>유의차 결과 생성</a:t>
            </a:r>
            <a:r>
              <a:rPr lang="en-US" altLang="ko-KR" sz="1000">
                <a:latin typeface="Arial Narrow"/>
                <a:ea typeface="LG스마트체 Regular"/>
              </a:rPr>
              <a:t>(11/28),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1000">
                <a:latin typeface="Arial Narrow"/>
                <a:ea typeface="LG스마트체 Regular"/>
              </a:rPr>
              <a:t>SV </a:t>
            </a:r>
            <a:r>
              <a:rPr lang="ko-KR" altLang="en-US" sz="1000">
                <a:latin typeface="Arial Narrow"/>
                <a:ea typeface="LG스마트체 Regular"/>
              </a:rPr>
              <a:t>및 </a:t>
            </a:r>
            <a:r>
              <a:rPr lang="en-US" altLang="ko-KR" sz="1000">
                <a:latin typeface="Arial Narrow"/>
                <a:ea typeface="LG스마트체 Regular"/>
              </a:rPr>
              <a:t>LOSS</a:t>
            </a:r>
            <a:r>
              <a:rPr lang="ko-KR" altLang="en-US" sz="1000">
                <a:latin typeface="Arial Narrow"/>
                <a:ea typeface="LG스마트체 Regular"/>
              </a:rPr>
              <a:t>이력 연계</a:t>
            </a:r>
            <a:r>
              <a:rPr lang="en-US" altLang="ko-KR" sz="1000">
                <a:latin typeface="Arial Narrow"/>
                <a:ea typeface="LG스마트체 Regular"/>
              </a:rPr>
              <a:t>(~12/12),Chatbot </a:t>
            </a:r>
            <a:r>
              <a:rPr lang="ko-KR" altLang="en-US" sz="1000">
                <a:latin typeface="Arial Narrow"/>
                <a:ea typeface="LG스마트체 Regular"/>
              </a:rPr>
              <a:t>고도화</a:t>
            </a:r>
            <a:r>
              <a:rPr lang="en-US" altLang="ko-KR" sz="1000">
                <a:latin typeface="Arial Narrow"/>
                <a:ea typeface="LG스마트체 Regular"/>
              </a:rPr>
              <a:t>(~12/5, streaming </a:t>
            </a:r>
            <a:r>
              <a:rPr lang="ko-KR" altLang="en-US" sz="1000">
                <a:latin typeface="Arial Narrow"/>
                <a:ea typeface="LG스마트체 Regular"/>
              </a:rPr>
              <a:t>기능</a:t>
            </a:r>
            <a:r>
              <a:rPr lang="en-US" altLang="ko-KR" sz="1000">
                <a:latin typeface="Arial Narrow"/>
                <a:ea typeface="LG스마트체 Regular"/>
              </a:rPr>
              <a:t>) </a:t>
            </a:r>
          </a:p>
          <a:p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     [3] STK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외관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/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치수 불량 시나리오 개발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: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외관불량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시나리오 완료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(12/11)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및 치수불량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개발 중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(~1/16) </a:t>
            </a:r>
          </a:p>
          <a:p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     [4] LLM Model Upgrade : H100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→ 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H200 GPU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업그레이드로 인해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, LLM Model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교체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Qwen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2.5 VL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 → </a:t>
            </a:r>
            <a:r>
              <a:rPr lang="en-US" altLang="ko-KR" sz="1000" err="1">
                <a:solidFill>
                  <a:srgbClr val="0000FF"/>
                </a:solidFill>
                <a:latin typeface="Arial Narrow"/>
                <a:ea typeface="LG스마트체 Regular"/>
              </a:rPr>
              <a:t>Qwen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 3 VL) </a:t>
            </a:r>
            <a:r>
              <a:rPr lang="ko-KR" altLang="en-US" sz="1000">
                <a:solidFill>
                  <a:srgbClr val="0000FF"/>
                </a:solidFill>
                <a:latin typeface="Arial Narrow"/>
                <a:ea typeface="LG스마트체 Regular"/>
              </a:rPr>
              <a:t>로 변경 예정</a:t>
            </a:r>
            <a:r>
              <a:rPr lang="en-US" altLang="ko-KR" sz="1000">
                <a:solidFill>
                  <a:srgbClr val="0000FF"/>
                </a:solidFill>
                <a:latin typeface="Arial Narrow"/>
                <a:ea typeface="LG스마트체 Regular"/>
              </a:rPr>
              <a:t>(‘26.1)</a:t>
            </a:r>
          </a:p>
        </p:txBody>
      </p:sp>
      <p:graphicFrame>
        <p:nvGraphicFramePr>
          <p:cNvPr id="4" name="표 16">
            <a:extLst>
              <a:ext uri="{FF2B5EF4-FFF2-40B4-BE49-F238E27FC236}">
                <a16:creationId xmlns:a16="http://schemas.microsoft.com/office/drawing/2014/main" id="{C1B457CA-CEE7-FC8F-AAAD-A2F55242A1DD}"/>
              </a:ext>
            </a:extLst>
          </p:cNvPr>
          <p:cNvGraphicFramePr>
            <a:graphicFrameLocks noGrp="1"/>
          </p:cNvGraphicFramePr>
          <p:nvPr/>
        </p:nvGraphicFramePr>
        <p:xfrm>
          <a:off x="1683592" y="4730921"/>
          <a:ext cx="6876000" cy="516128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047893985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23801722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440101960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197703431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7931913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660609160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880232562"/>
                    </a:ext>
                  </a:extLst>
                </a:gridCol>
              </a:tblGrid>
              <a:tr h="135128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>
                      <a:solidFill>
                        <a:schemeClr val="bg1">
                          <a:lumMod val="50000"/>
                        </a:schemeClr>
                      </a:solidFill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진행 계획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chemeClr val="bg1">
                          <a:lumMod val="65000"/>
                        </a:schemeClr>
                      </a:solidFill>
                    </a:lnR>
                    <a:lnT w="3175">
                      <a:solidFill>
                        <a:schemeClr val="bg1">
                          <a:lumMod val="65000"/>
                        </a:schemeClr>
                      </a:solidFill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95054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요건정의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수율 조회 </a:t>
                      </a:r>
                      <a:endParaRPr kumimoji="0" lang="en-US" altLang="ko-KR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algn="ctr" rtl="0" eaLnBrk="1" fontAlgn="ctr" latinLnBrk="1" hangingPunct="1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Agent 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개발</a:t>
                      </a:r>
                      <a:endParaRPr kumimoji="0" lang="en-US" altLang="ko-KR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Drill Down </a:t>
                      </a:r>
                    </a:p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연계 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Agent 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개발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>
                      <a:solidFill>
                        <a:schemeClr val="bg1">
                          <a:lumMod val="50000"/>
                        </a:schemeClr>
                      </a:solidFill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분석 결과 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Agent 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및 </a:t>
                      </a:r>
                      <a:endParaRPr kumimoji="0" lang="en-US" altLang="ko-KR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질의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UI 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개발 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고도화  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Lamin 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분석 시나리오 </a:t>
                      </a:r>
                      <a:endParaRPr kumimoji="0" lang="en-US" altLang="ko-KR" sz="8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  <a:p>
                      <a:pPr marL="0" algn="ctr" rtl="0" eaLnBrk="1" fontAlgn="ctr" latinLnBrk="1" hangingPunct="1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고도화 및 </a:t>
                      </a:r>
                      <a:r>
                        <a:rPr kumimoji="0" lang="en-US" altLang="ko-KR" sz="8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stk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개발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>
                      <a:solidFill>
                        <a:schemeClr val="bg1">
                          <a:lumMod val="50000"/>
                        </a:schemeClr>
                      </a:solidFill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329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AI </a:t>
                      </a:r>
                      <a:r>
                        <a:rPr kumimoji="0" lang="ko-KR" altLang="en-US" sz="900" b="0" i="0" u="none" strike="noStrike" kern="1200" cap="none" spc="0" normalizeH="0" baseline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수율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 자동분석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>
                      <a:solidFill>
                        <a:schemeClr val="bg1">
                          <a:lumMod val="50000"/>
                        </a:schemeClr>
                      </a:solidFill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kumimoji="0" 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‘25.05~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kumimoji="0" 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’25.07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kumimoji="0" 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’25.8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>
                      <a:solidFill>
                        <a:schemeClr val="bg1">
                          <a:lumMod val="50000"/>
                        </a:schemeClr>
                      </a:solidFill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‘25.9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‘25.10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‘25.11~</a:t>
                      </a:r>
                    </a:p>
                  </a:txBody>
                  <a:tcPr marL="0" marR="0" marT="0" marB="0" anchor="ctr">
                    <a:lnL w="3175">
                      <a:solidFill>
                        <a:schemeClr val="bg1">
                          <a:lumMod val="50000"/>
                        </a:schemeClr>
                      </a:solidFill>
                    </a:lnL>
                    <a:lnR w="3175">
                      <a:solidFill>
                        <a:schemeClr val="bg1">
                          <a:lumMod val="50000"/>
                        </a:schemeClr>
                      </a:solidFill>
                    </a:lnR>
                    <a:lnT w="3175">
                      <a:solidFill>
                        <a:schemeClr val="bg1">
                          <a:lumMod val="50000"/>
                        </a:schemeClr>
                      </a:solidFill>
                    </a:lnT>
                    <a:lnB w="3175">
                      <a:solidFill>
                        <a:schemeClr val="bg1">
                          <a:lumMod val="50000"/>
                        </a:schemeClr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6563764"/>
                  </a:ext>
                </a:extLst>
              </a:tr>
            </a:tbl>
          </a:graphicData>
        </a:graphic>
      </p:graphicFrame>
      <p:pic>
        <p:nvPicPr>
          <p:cNvPr id="6" name="그림 17" descr="레드, 스크린샷, 카민, 그래픽이(가) 표시된 사진&#10;&#10;자동 생성된 설명">
            <a:extLst>
              <a:ext uri="{FF2B5EF4-FFF2-40B4-BE49-F238E27FC236}">
                <a16:creationId xmlns:a16="http://schemas.microsoft.com/office/drawing/2014/main" id="{89F57D0C-2181-65D6-AB26-D8A868AE6A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26414" y="4666743"/>
            <a:ext cx="1000383" cy="580306"/>
          </a:xfrm>
          <a:prstGeom prst="rect">
            <a:avLst/>
          </a:prstGeom>
        </p:spPr>
      </p:pic>
      <p:sp>
        <p:nvSpPr>
          <p:cNvPr id="10" name="직사각형 9">
            <a:extLst>
              <a:ext uri="{FF2B5EF4-FFF2-40B4-BE49-F238E27FC236}">
                <a16:creationId xmlns:a16="http://schemas.microsoft.com/office/drawing/2014/main" id="{852657B1-26B9-4DB7-E653-57C70BF8E3B2}"/>
              </a:ext>
            </a:extLst>
          </p:cNvPr>
          <p:cNvSpPr/>
          <p:nvPr/>
        </p:nvSpPr>
        <p:spPr>
          <a:xfrm>
            <a:off x="1679405" y="5248512"/>
            <a:ext cx="6945796" cy="1323439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1000" b="1" u="sng">
                <a:latin typeface="+mn-ea"/>
              </a:rPr>
              <a:t>AI 활용 Automation 메일 내용 자동 요약</a:t>
            </a:r>
            <a:endParaRPr lang="ko-KR" altLang="en-US" sz="1000">
              <a:solidFill>
                <a:srgbClr val="0000FF"/>
              </a:solidFill>
              <a:latin typeface="+mn-ea"/>
            </a:endParaRPr>
          </a:p>
          <a:p>
            <a:pPr marL="175895" indent="-175895">
              <a:buFont typeface="LG스마트체 Regular" panose="020B0600000101010101" pitchFamily="50" charset="-127"/>
              <a:buChar char="■"/>
            </a:pPr>
            <a:r>
              <a:rPr lang="ko-KR" altLang="en-US" sz="1000">
                <a:latin typeface="+mn-ea"/>
              </a:rPr>
              <a:t>목적 및 배경</a:t>
            </a:r>
            <a:r>
              <a:rPr lang="en-US" altLang="ko-KR" sz="1000">
                <a:latin typeface="+mn-ea"/>
              </a:rPr>
              <a:t> </a:t>
            </a:r>
            <a:br>
              <a:rPr lang="en-US" altLang="ko-KR" sz="1000">
                <a:latin typeface="+mn-ea"/>
              </a:rPr>
            </a:br>
            <a:r>
              <a:rPr lang="en-US" altLang="ko-KR" sz="1000">
                <a:latin typeface="+mn-ea"/>
              </a:rPr>
              <a:t>Automation </a:t>
            </a:r>
            <a:r>
              <a:rPr lang="en-US" altLang="ko-KR" sz="1000" err="1">
                <a:latin typeface="+mn-ea"/>
              </a:rPr>
              <a:t>활용이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늘어남에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따라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개별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사용자가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수신하는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메일의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수가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늘어남</a:t>
            </a:r>
            <a:r>
              <a:rPr lang="en-US" altLang="ko-KR" sz="1000">
                <a:latin typeface="+mn-ea"/>
              </a:rPr>
              <a:t>. </a:t>
            </a:r>
            <a:r>
              <a:rPr lang="en-US" altLang="ko-KR" sz="1000" err="1">
                <a:latin typeface="+mn-ea"/>
              </a:rPr>
              <a:t>이러한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과다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정보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속에서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사용자가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확인이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필요한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정보를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요약된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하나의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메일을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통해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손쉽게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확인하고자</a:t>
            </a:r>
            <a:r>
              <a:rPr lang="en-US" altLang="ko-KR" sz="1000">
                <a:latin typeface="+mn-ea"/>
              </a:rPr>
              <a:t> 함.</a:t>
            </a:r>
          </a:p>
          <a:p>
            <a:pPr marL="175895" indent="-175895">
              <a:buFont typeface="LG스마트체 Regular" panose="020B0600000101010101" pitchFamily="50" charset="-127"/>
              <a:buChar char="■"/>
            </a:pPr>
            <a:r>
              <a:rPr lang="ko-KR" altLang="en-US" sz="1000">
                <a:latin typeface="+mn-ea"/>
              </a:rPr>
              <a:t>진행 사항</a:t>
            </a:r>
            <a:br>
              <a:rPr lang="en-US" altLang="ko-KR" sz="1000">
                <a:latin typeface="+mn-ea"/>
              </a:rPr>
            </a:br>
            <a:r>
              <a:rPr lang="ko-KR" altLang="en-US" sz="1000">
                <a:latin typeface="Arial Narrow"/>
                <a:ea typeface="LG스마트체 Regular"/>
              </a:rPr>
              <a:t>[1] Automation 내용 요약 전체 시나리오 작성 (8/22)</a:t>
            </a:r>
          </a:p>
          <a:p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      [2] 각 단계 별 고려사항 작성 </a:t>
            </a:r>
            <a:r>
              <a:rPr 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(</a:t>
            </a:r>
            <a:r>
              <a:rPr lang="en-US" alt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8/29</a:t>
            </a:r>
            <a:r>
              <a:rPr lang="ko-KR" sz="1000">
                <a:solidFill>
                  <a:srgbClr val="000000"/>
                </a:solidFill>
                <a:latin typeface="Arial Narrow"/>
                <a:ea typeface="LG스마트체 Regular"/>
              </a:rPr>
              <a:t>)</a:t>
            </a:r>
          </a:p>
          <a:p>
            <a:r>
              <a:rPr lang="ko-KR" altLang="en-US" sz="1000">
                <a:solidFill>
                  <a:srgbClr val="000000"/>
                </a:solidFill>
                <a:latin typeface="Arial Narrow"/>
                <a:ea typeface="LG스마트체 Regular"/>
              </a:rPr>
              <a:t>      [3] 상세 사용자 예상 시나리오 작성 (WF 제작자) (~9/5)</a:t>
            </a:r>
          </a:p>
        </p:txBody>
      </p:sp>
    </p:spTree>
    <p:extLst>
      <p:ext uri="{BB962C8B-B14F-4D97-AF65-F5344CB8AC3E}">
        <p14:creationId xmlns:p14="http://schemas.microsoft.com/office/powerpoint/2010/main" val="266173788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3" cy="5747089"/>
        </p:xfrm>
        <a:graphic>
          <a:graphicData uri="http://schemas.openxmlformats.org/drawingml/2006/table">
            <a:tbl>
              <a:tblPr/>
              <a:tblGrid>
                <a:gridCol w="9416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8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>
                          <a:latin typeface="+mj-ea"/>
                          <a:ea typeface="+mj-ea"/>
                        </a:rPr>
                        <a:t>DAVINCI </a:t>
                      </a:r>
                      <a:r>
                        <a:rPr lang="ko-KR" sz="1000">
                          <a:latin typeface="+mj-ea"/>
                          <a:ea typeface="+mj-ea"/>
                        </a:rPr>
                        <a:t>인프라</a:t>
                      </a:r>
                      <a:endParaRPr lang="en-US" altLang="ko-KR" sz="1000">
                        <a:effectLst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MLDL/Sandbox </a:t>
                      </a:r>
                      <a:endParaRPr lang="en-US" altLang="ko-KR" sz="1000">
                        <a:effectLst/>
                      </a:endParaRPr>
                    </a:p>
                    <a:p>
                      <a:pPr marL="0" algn="ctr" rtl="0" eaLnBrk="1" latinLnBrk="1" hangingPunct="1"/>
                      <a:r>
                        <a:rPr lang="ko-KR" altLang="en-US" sz="1000" b="0" kern="120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분석환경</a:t>
                      </a:r>
                      <a:endParaRPr lang="ko-KR" altLang="en-US" sz="1000">
                        <a:effectLst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sz="1000">
                        <a:latin typeface="+mj-ea"/>
                        <a:ea typeface="+mj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>
                        <a:latin typeface="+mj-ea"/>
                        <a:ea typeface="+mj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1000">
                          <a:latin typeface="+mj-ea"/>
                          <a:ea typeface="+mj-ea"/>
                        </a:rPr>
                        <a:t>전 법인</a:t>
                      </a:r>
                      <a:endParaRPr lang="en-US" sz="1000">
                        <a:latin typeface="+mj-ea"/>
                        <a:ea typeface="+mj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(W51</a:t>
                      </a:r>
                      <a:r>
                        <a:rPr lang="af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핵심 내용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 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DAVINCI AX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과제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인프라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증설이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완료하였습니다.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신규 Sandbox 구축 3건, 지원 3건에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대해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대응하였습니다. 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MI, MIL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랜섬웨어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감염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건으로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인한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대응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지속 지원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중입니다.</a:t>
                      </a:r>
                      <a:endParaRPr lang="en-US" altLang="ko-KR" sz="1000" b="0" i="0" u="none" strike="noStrike" kern="1200" baseline="0" noProof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1414FE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DAVINCI </a:t>
                      </a: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인프라</a:t>
                      </a:r>
                      <a:endParaRPr 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DAVINCI AX 과제 인프라 증설</a:t>
                      </a:r>
                      <a:endParaRPr lang="en-US" altLang="ko-KR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DAVINCI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ESOC2</a:t>
                      </a: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AX 과제에 대한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분석환경 인프라</a:t>
                      </a: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증설 투자심의 완료, 구축 완료(~12/04)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</a:rPr>
                        <a:t>- DAVINCI AX과제 자원 배정 완료 (~12/16)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2) 각 법인별 랜섬웨어 예방 프로세스(PW변경 등) 작업 예정 (12/1~)</a:t>
                      </a:r>
                      <a:endParaRPr lang="ko-KR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- 법인별 생산일정 확인 완료(~12/16)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 MLDL/Sandbox </a:t>
                      </a:r>
                      <a:r>
                        <a:rPr lang="ko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분석환경</a:t>
                      </a: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구축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   1) </a:t>
                      </a:r>
                      <a:r>
                        <a:rPr lang="ko" sz="10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분석 환경 구축 지원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- MI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개인정보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보호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관련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이미지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분석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지원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(11/20)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-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LAMI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수율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자동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분석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 AI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모듈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개발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관련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 Infra 자원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</a:rPr>
                        <a:t>검토 (12/9)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</a:t>
                      </a:r>
                      <a:endParaRPr 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-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n-ea"/>
                        </a:rPr>
                        <a:t>OC</a:t>
                      </a: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법인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 -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검사기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로직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개발용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 Sandbox </a:t>
                      </a: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구축지원 (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12/11)</a:t>
                      </a:r>
                      <a:endParaRPr lang="ko-KR" altLang="en-US" sz="1000" b="0" i="0" u="none" strike="noStrike" kern="1200" baseline="0" noProof="0">
                        <a:solidFill>
                          <a:srgbClr val="1414FE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   - MI법인 - JF2 대상 저전압 검출 모형을 개발 Sandbox 구축(12/12)</a:t>
                      </a:r>
                      <a:endParaRPr lang="ko-KR">
                        <a:solidFill>
                          <a:srgbClr val="1414FE"/>
                        </a:solidFill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   - OC법인 -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</a:rPr>
                        <a:t>ESWA</a:t>
                      </a: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</a:rPr>
                        <a:t> 向 LAMI 수율 자동 분석 AI 모듈 개발 관련 Infra 검토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</a:rPr>
                        <a:t>/</a:t>
                      </a: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</a:rPr>
                        <a:t>구축지원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</a:rPr>
                        <a:t>(12/12)</a:t>
                      </a:r>
                      <a:endParaRPr lang="ko-KR" altLang="en-US" sz="1000" b="0" i="0" u="none" strike="noStrike" kern="1200" baseline="0" noProof="0">
                        <a:solidFill>
                          <a:srgbClr val="1414FE"/>
                        </a:solidFill>
                        <a:effectLst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endParaRPr lang="ko-KR" altLang="en-US" sz="1000" b="0" i="0" u="none" strike="noStrike" kern="1200" baseline="0" noProof="0">
                        <a:solidFill>
                          <a:srgbClr val="1414FE"/>
                        </a:solidFill>
                        <a:effectLst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   2)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분석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환경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지원</a:t>
                      </a:r>
                      <a:endParaRPr lang="en-US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   -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</a:rPr>
                        <a:t>ESWA</a:t>
                      </a: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 向 LAMI 수율 자동 분석 AI 모듈 개발 관련 Infra 아키텍처 검토 (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12/11)</a:t>
                      </a:r>
                      <a:endParaRPr lang="ko-KR" sz="1000" b="0" i="0" u="none" strike="noStrike" kern="1200" baseline="0" noProof="0">
                        <a:solidFill>
                          <a:srgbClr val="1414FE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   -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ESOC</a:t>
                      </a: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Sandbox-DFS</a:t>
                      </a: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 간 현업 요청에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따른 연결 아키텍처/네트워크</a:t>
                      </a:r>
                      <a:r>
                        <a:rPr lang="ko-KR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검토 (12/11)</a:t>
                      </a:r>
                      <a:endParaRPr lang="ko-KR" sz="1000" b="0" i="0" u="none" strike="noStrike" kern="1200" baseline="0" noProof="0">
                        <a:solidFill>
                          <a:srgbClr val="1414FE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+mn-ea"/>
                        </a:rPr>
                        <a:t>   - OC법인 안전진단 구축 업무 협의/지원 (12/16)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kern="1200" baseline="0" noProof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" sz="10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j-ea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kern="1200" baseline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kern="1200" baseline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kern="1200" baseline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kern="1200" baseline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kern="1200" baseline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25'12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auto" latinLnBrk="1" hangingPunct="1"/>
                      <a:r>
                        <a:rPr lang="ko-KR" altLang="en-US" sz="900" b="0" kern="1200" baseline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박정환</a:t>
                      </a:r>
                      <a:r>
                        <a:rPr lang="af-ZA" altLang="ko-KR" sz="900" b="0" kern="1200" baseline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909351" y="554447"/>
            <a:ext cx="1700850" cy="461665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j-ea"/>
                <a:ea typeface="+mj-ea"/>
                <a:cs typeface="Malgun Gothic Semilight"/>
              </a:rPr>
              <a:t>업데이트 시간 </a:t>
            </a:r>
            <a:r>
              <a:rPr lang="en-US" altLang="ko-KR" sz="1000">
                <a:latin typeface="+mj-ea"/>
                <a:ea typeface="+mj-ea"/>
                <a:cs typeface="Malgun Gothic Semilight"/>
              </a:rPr>
              <a:t>: </a:t>
            </a:r>
            <a:r>
              <a:rPr lang="en-US" altLang="ko-KR" sz="1000">
                <a:latin typeface="+mn-ea"/>
                <a:ea typeface="LG스마트체 Regular"/>
                <a:cs typeface="Malgun Gothic Semilight"/>
              </a:rPr>
              <a:t>12/16(수</a:t>
            </a:r>
            <a:r>
              <a:rPr lang="en-US" altLang="ko-KR" sz="1000">
                <a:latin typeface="+mn-ea"/>
                <a:ea typeface="맑은 고딕"/>
                <a:cs typeface="Malgun Gothic Semilight"/>
              </a:rPr>
              <a:t>)</a:t>
            </a:r>
            <a:r>
              <a:rPr lang="en-US" altLang="ko-KR" sz="1000">
                <a:latin typeface="+mj-ea"/>
                <a:ea typeface="+mj-ea"/>
                <a:cs typeface="Malgun Gothic Semilight"/>
              </a:rPr>
              <a:t> 12</a:t>
            </a:r>
            <a:r>
              <a:rPr lang="ko-KR" altLang="en-US" sz="1000">
                <a:latin typeface="+mj-ea"/>
                <a:ea typeface="+mj-ea"/>
                <a:cs typeface="Malgun Gothic Semilight"/>
              </a:rPr>
              <a:t>시</a:t>
            </a:r>
            <a:br>
              <a:rPr lang="en-US" altLang="ko-KR" sz="1000">
                <a:latin typeface="+mj-ea"/>
                <a:ea typeface="+mj-ea"/>
                <a:cs typeface="Malgun Gothic Semilight"/>
              </a:rPr>
            </a:br>
            <a:br>
              <a:rPr lang="en-US" altLang="ko-KR" sz="1000">
                <a:latin typeface="+mj-ea"/>
                <a:ea typeface="+mj-ea"/>
                <a:cs typeface="Malgun Gothic Semilight"/>
              </a:rPr>
            </a:br>
            <a:endParaRPr lang="ko-KR" altLang="en-US" sz="1000">
              <a:solidFill>
                <a:srgbClr val="0000FF"/>
              </a:solidFill>
              <a:latin typeface="+mj-ea"/>
              <a:ea typeface="+mj-ea"/>
              <a:cs typeface="Malgun Gothic Semiligh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758569" y="359071"/>
            <a:ext cx="856004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: </a:t>
            </a:r>
            <a:r>
              <a:rPr lang="en-US" altLang="ko-KR" sz="1000" err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박정환P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Malgun Gothic Semilight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B638D9CA-BD33-DAA6-DC39-8D122A98DC2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EA83D02B-D7EA-2FD7-D2CA-A8AE02C19434}"/>
              </a:ext>
            </a:extLst>
          </p:cNvPr>
          <p:cNvSpPr txBox="1">
            <a:spLocks/>
          </p:cNvSpPr>
          <p:nvPr/>
        </p:nvSpPr>
        <p:spPr>
          <a:xfrm>
            <a:off x="126266" y="577515"/>
            <a:ext cx="4465399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defRPr/>
            </a:pPr>
            <a:r>
              <a:rPr kumimoji="0" 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 </a:t>
            </a:r>
            <a:r>
              <a:rPr lang="ko-KR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DAVINCI 인프라</a:t>
            </a:r>
            <a:endParaRPr lang="ko-KR" altLang="en-US" sz="1400" b="1">
              <a:solidFill>
                <a:prstClr val="black"/>
              </a:solidFill>
              <a:latin typeface="+mj-ea"/>
              <a:ea typeface="+mj-ea"/>
              <a:cs typeface="Malgun Gothic Semiligh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317C29D-81CF-4508-AFE0-60136B667CDA}"/>
              </a:ext>
            </a:extLst>
          </p:cNvPr>
          <p:cNvSpPr txBox="1"/>
          <p:nvPr/>
        </p:nvSpPr>
        <p:spPr>
          <a:xfrm>
            <a:off x="5734550" y="541516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-#9 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58CC177-2BEB-4A84-8CB8-ED6A9C82D5C4}"/>
              </a:ext>
            </a:extLst>
          </p:cNvPr>
          <p:cNvSpPr txBox="1"/>
          <p:nvPr/>
        </p:nvSpPr>
        <p:spPr>
          <a:xfrm>
            <a:off x="1704109" y="4536193"/>
            <a:ext cx="2620515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algn="l">
              <a:defRPr/>
            </a:pPr>
            <a:r>
              <a:rPr lang="en-US" altLang="ko-KR" sz="1000">
                <a:latin typeface="+mj-ea"/>
                <a:ea typeface="+mj-ea"/>
                <a:cs typeface="Malgun Gothic Semilight"/>
              </a:rPr>
              <a:t>※ 51주</a:t>
            </a:r>
            <a:r>
              <a:rPr lang="ko-KR" altLang="en-US" sz="1000">
                <a:latin typeface="+mj-ea"/>
                <a:ea typeface="+mj-ea"/>
                <a:cs typeface="Malgun Gothic Semilight"/>
              </a:rPr>
              <a:t>차 분석환경</a:t>
            </a:r>
            <a:r>
              <a:rPr lang="en-US" altLang="ko-KR" sz="1000">
                <a:latin typeface="+mj-ea"/>
                <a:ea typeface="+mj-ea"/>
                <a:cs typeface="Malgun Gothic Semilight"/>
              </a:rPr>
              <a:t>(MLDL, Sandbox)</a:t>
            </a:r>
            <a:r>
              <a:rPr lang="ko-KR" altLang="en-US" sz="1000">
                <a:latin typeface="+mj-ea"/>
                <a:ea typeface="+mj-ea"/>
                <a:cs typeface="Malgun Gothic Semilight"/>
              </a:rPr>
              <a:t> 할당 현황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43F9C10-F94D-6A19-3D90-1BD7091FC8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08213" y="4690569"/>
            <a:ext cx="6815764" cy="19078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141241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75556"/>
          <a:ext cx="9644173" cy="5505643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0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30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08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9648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1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</a:rPr>
                        <a:t>DAVINCI </a:t>
                      </a:r>
                      <a:r>
                        <a:rPr lang="ko-KR" sz="1100" b="0" i="0" u="none" strike="noStrike" baseline="0" noProof="0" err="1">
                          <a:solidFill>
                            <a:srgbClr val="000000"/>
                          </a:solidFill>
                          <a:effectLst/>
                          <a:latin typeface="+mj-ea"/>
                          <a:ea typeface="lg스마트체 regular"/>
                        </a:rPr>
                        <a:t>아키텍쳐</a:t>
                      </a:r>
                      <a:r>
                        <a:rPr lang="ko-KR" sz="11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j-ea"/>
                          <a:ea typeface="lg스마트체 regular"/>
                        </a:rPr>
                        <a:t> 및 분석활용환경 개선</a:t>
                      </a:r>
                      <a:endParaRPr lang="ko-KR" sz="1100" noProof="0">
                        <a:solidFill>
                          <a:srgbClr val="000000"/>
                        </a:solidFill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 법인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W51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핵심 내용: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주요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사용 조직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데이터통합분석팀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조립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FDC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대상으로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국내 대응 인원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</a:rPr>
                        <a:t>(한성원/김도희)이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교육 완료하였으며</a:t>
                      </a:r>
                      <a:r>
                        <a:rPr lang="en-US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WA 법인 출장 인원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</a:rPr>
                        <a:t>(한승구)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이 DAVINCI PainPoint 및 속도 개선 측면에서 현지 인원 대상으로 교육 진행하였습니다. 교육 중 받은 의견을 취합하여 26년 개선 진행할 예정입니다.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DAVINCI</a:t>
                      </a:r>
                      <a:r>
                        <a:rPr kumimoji="0" lang="ko-KR" altLang="en-US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통합 스케줄러</a:t>
                      </a:r>
                      <a:endParaRPr kumimoji="0" lang="en-US" altLang="ko-KR" sz="1000" b="1" i="0" u="sng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175895" indent="-175895">
                        <a:buFont typeface="LG스마트체 Regular" panose="020B0600000101010101" pitchFamily="50" charset="-127"/>
                        <a:buChar char="■"/>
                      </a:pP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배경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br>
                        <a:rPr lang="en-US" altLang="ko-KR" sz="1000" b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+mn-cs"/>
                        </a:rPr>
                      </a:b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DAVINCI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에서 제공하는 여러 분석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Tool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을 연계하여 스케줄 작업을 생성 및 자동화 할 수 있는 기능으로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 23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년 하반기 부터 단계적으로 진행중이며 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24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년 하반기에는 일부 분석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Tool(DataAPI,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Spotfire,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DataPrep,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MLDL)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에 대해 연계 기능을 구축 중입니다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마지막 단계인 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25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년 상반기에는 사용자가 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UI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기반으로 여러 분석</a:t>
                      </a:r>
                      <a:r>
                        <a:rPr lang="en-US" altLang="ko-KR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Tool</a:t>
                      </a: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을 연계하여 통합 스케줄 작업을 생성 할 수 있는 서비스를 제공하는 것을 목표로 하고 있습니다.</a:t>
                      </a:r>
                      <a:endParaRPr lang="en-US" altLang="ko-KR" sz="1000" b="0"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176213" indent="-176213">
                        <a:buFont typeface="LG스마트체 Regular" panose="020B0600000101010101" pitchFamily="50" charset="-127"/>
                        <a:buChar char="■"/>
                      </a:pPr>
                      <a:endParaRPr lang="en-US" altLang="ko-KR" sz="1000" b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175895" indent="-175895">
                        <a:buFont typeface="LG스마트체 Regular" panose="020B0600000101010101" pitchFamily="50" charset="-127"/>
                        <a:buChar char="■"/>
                      </a:pPr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진행사항</a:t>
                      </a:r>
                      <a:br>
                        <a:rPr lang="en-US" altLang="ko-KR" sz="1000" b="0">
                          <a:solidFill>
                            <a:srgbClr val="000000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1) Phase#2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를 통해 통합 스케줄러 구현을 위한 기본 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API 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개발이 완료되어 기능 및 매뉴얼 배포 완료하였습니다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.(’25.1)</a:t>
                      </a:r>
                      <a:br>
                        <a:rPr lang="en-US" altLang="ko-KR" sz="1000" b="0" kern="1200">
                          <a:solidFill>
                            <a:srgbClr val="000000"/>
                          </a:solidFill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2) 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팔란티어의 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Foundry 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솔루션 사례를 참고하여 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DAVINCI 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통합 스케줄러 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UI 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기획안 및 개발 요건 검토하였습니다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.(’25.2)</a:t>
                      </a:r>
                      <a:br>
                        <a:rPr lang="en-US" altLang="ko-KR" sz="1000" b="0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3) Phase #3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를 위해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최종 선정된 개발 항목에 대해 투자비 적절성 검토 및 자료 준비('25.3)</a:t>
                      </a:r>
                      <a:br>
                        <a:rPr lang="ko-KR" altLang="en-US" sz="1000" b="0" kern="120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ko-KR" altLang="en-US" sz="1000" b="0" kern="1200">
                          <a:solidFill>
                            <a:srgbClr val="000000"/>
                          </a:solidFill>
                          <a:latin typeface="+mj-ea"/>
                          <a:ea typeface="+mn-ea"/>
                          <a:cs typeface="+mn-cs"/>
                        </a:rPr>
                        <a:t>4) 비즈니스 효과를 고려하여 필수적으로 필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요한 항목을 선정하여 추가 비용 절감 검토 및 투자심의 완료(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~25.6)</a:t>
                      </a:r>
                      <a:br>
                        <a:rPr lang="en-US" altLang="ko-KR" sz="1000" b="0" kern="1200">
                          <a:solidFill>
                            <a:srgbClr val="000000"/>
                          </a:solidFill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5) 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DAVINCI 통합 스케줄러 UI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기획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(~'25.8)</a:t>
                      </a:r>
                    </a:p>
                    <a:p>
                      <a:pPr marL="0" lvl="0" indent="0">
                        <a:buNone/>
                      </a:pP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      6) 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DAVINCI 통합 스케줄러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연계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기능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개발 및 PI 테스트 진행 완료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(~'25.10 말)</a:t>
                      </a:r>
                    </a:p>
                    <a:p>
                      <a:pPr marL="0" lvl="0" indent="0">
                        <a:buNone/>
                      </a:pP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      7) OC/WA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법인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 사용자 테스트 진행 완료</a:t>
                      </a:r>
                      <a:endParaRPr lang="en-US" sz="1000" b="0" i="0" u="none" strike="noStrike" kern="1200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  <a:p>
                      <a:pPr marL="0" lvl="0" indent="0">
                        <a:buNone/>
                      </a:pPr>
                      <a:r>
                        <a:rPr lang="en-US" sz="10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</a:rPr>
                        <a:t>      8) OC/WA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</a:rPr>
                        <a:t> 주요 사용 인원/조직 대상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</a:rPr>
                        <a:t>교육</a:t>
                      </a:r>
                      <a:r>
                        <a:rPr lang="en-US" sz="10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</a:rPr>
                        <a:t>완료</a:t>
                      </a:r>
                      <a:endParaRPr lang="en-US" sz="1000" b="0" i="0" u="none" strike="noStrike" kern="120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  <a:p>
                      <a:pPr marL="0" lvl="0" indent="0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</a:rPr>
                        <a:t>      9) 전 법인</a:t>
                      </a:r>
                      <a:r>
                        <a:rPr lang="en-US" sz="10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</a:rPr>
                        <a:t> DAVINCI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FF"/>
                          </a:solidFill>
                          <a:latin typeface="Arial Narrow"/>
                        </a:rPr>
                        <a:t>통합 스케줄러 오픈 완료(12/12)</a:t>
                      </a:r>
                      <a:endParaRPr lang="en-US" sz="1000" b="0" i="0" u="none" strike="noStrike" kern="120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1" i="0" u="sng" strike="noStrike" kern="1200" noProof="0">
                        <a:solidFill>
                          <a:schemeClr val="tx1"/>
                        </a:solidFill>
                        <a:latin typeface="Arial Narrow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‘25.12</a:t>
                      </a:r>
                      <a:endParaRPr lang="ko-KR" alt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한성원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김도희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한승구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30665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LG스마트체 Regular"/>
                <a:cs typeface="Malgun Gothic Semilight"/>
              </a:rPr>
              <a:t>DAVINCI </a:t>
            </a:r>
            <a:r>
              <a:rPr lang="ko-KR" altLang="en-US" sz="1400" b="1" err="1">
                <a:solidFill>
                  <a:prstClr val="black"/>
                </a:solidFill>
                <a:latin typeface="+mj-ea"/>
                <a:ea typeface="LG스마트체 Regular"/>
                <a:cs typeface="Malgun Gothic Semilight"/>
              </a:rPr>
              <a:t>아키텍쳐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LG스마트체 Regular"/>
                <a:cs typeface="Malgun Gothic Semilight"/>
              </a:rPr>
              <a:t> 및 분석활용환경 개선</a:t>
            </a:r>
            <a:endParaRPr lang="ko-KR">
              <a:solidFill>
                <a:prstClr val="black"/>
              </a:solidFill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C4BF852-2E09-43AF-B1FE-9EEE1C8B4696}"/>
              </a:ext>
            </a:extLst>
          </p:cNvPr>
          <p:cNvSpPr txBox="1"/>
          <p:nvPr/>
        </p:nvSpPr>
        <p:spPr>
          <a:xfrm>
            <a:off x="5776546" y="558575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-#10,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3B3EF91C-AC28-6546-9833-195E84C803C5}"/>
              </a:ext>
            </a:extLst>
          </p:cNvPr>
          <p:cNvSpPr txBox="1">
            <a:spLocks/>
          </p:cNvSpPr>
          <p:nvPr/>
        </p:nvSpPr>
        <p:spPr>
          <a:xfrm>
            <a:off x="8879153" y="408598"/>
            <a:ext cx="807913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ko-KR" altLang="en-US" sz="900">
                <a:latin typeface="Arial Narrow"/>
                <a:cs typeface="Malgun Gothic Semilight"/>
              </a:rPr>
              <a:t>김도희</a:t>
            </a:r>
            <a:r>
              <a:rPr lang="en-US" altLang="ko-KR" sz="900">
                <a:latin typeface="Arial Narrow"/>
                <a:cs typeface="Malgun Gothic Semilight"/>
              </a:rPr>
              <a:t>S</a:t>
            </a:r>
            <a:endParaRPr lang="en-US" sz="900">
              <a:solidFill>
                <a:prstClr val="black"/>
              </a:solidFill>
              <a:latin typeface="Arial Narrow"/>
              <a:cs typeface="Malgun Gothic Semiligh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B466893-94FB-4BD9-12FF-270EE20889B7}"/>
              </a:ext>
            </a:extLst>
          </p:cNvPr>
          <p:cNvSpPr txBox="1"/>
          <p:nvPr/>
        </p:nvSpPr>
        <p:spPr>
          <a:xfrm>
            <a:off x="8021482" y="572550"/>
            <a:ext cx="1665584" cy="323165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:12/16</a:t>
            </a:r>
            <a:r>
              <a:rPr lang="en-US" altLang="ko-KR" sz="1000">
                <a:latin typeface="+mn-ea"/>
                <a:ea typeface="LG Smart_H Regular"/>
                <a:cs typeface="Malgun Gothic Semilight"/>
              </a:rPr>
              <a:t>(</a:t>
            </a:r>
            <a:r>
              <a:rPr lang="ko-KR" sz="1000">
                <a:latin typeface="+mn-ea"/>
                <a:ea typeface="LG Smart_H Regular"/>
                <a:cs typeface="Malgun Gothic Semilight"/>
              </a:rPr>
              <a:t>수</a:t>
            </a:r>
            <a:r>
              <a:rPr lang="en-US" sz="1000">
                <a:latin typeface="+mn-ea"/>
                <a:ea typeface="LG Smart_H Regular"/>
                <a:cs typeface="Malgun Gothic Semilight"/>
              </a:rPr>
              <a:t>) 12시</a:t>
            </a:r>
          </a:p>
          <a:p>
            <a:pPr>
              <a:defRPr/>
            </a:pPr>
            <a:endParaRPr lang="ko-KR" altLang="en-US"/>
          </a:p>
        </p:txBody>
      </p:sp>
      <p:pic>
        <p:nvPicPr>
          <p:cNvPr id="8" name="그림 7" descr="텍스트, 스크린샷, 소프트웨어, 웹 페이지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925D867-0047-E6EF-00C3-ED91B3FF19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02277" y="4118448"/>
            <a:ext cx="2749715" cy="1624224"/>
          </a:xfrm>
          <a:prstGeom prst="rect">
            <a:avLst/>
          </a:prstGeom>
        </p:spPr>
      </p:pic>
      <p:pic>
        <p:nvPicPr>
          <p:cNvPr id="9" name="그림 8" descr="텍스트, 스크린샷, 소프트웨어, 디스플레이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3C68C42-0548-60A1-B5A0-A93D8AECF7F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51016" y="4118584"/>
            <a:ext cx="2732153" cy="1623954"/>
          </a:xfrm>
          <a:prstGeom prst="rect">
            <a:avLst/>
          </a:prstGeom>
        </p:spPr>
      </p:pic>
      <p:pic>
        <p:nvPicPr>
          <p:cNvPr id="10" name="그림 9" descr="텍스트, 스크린샷, 소프트웨어, 번호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F95D36A-00E9-F329-C839-B5EF1EA1617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79640" y="4118313"/>
            <a:ext cx="1156512" cy="1624495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D2F85BF6-D296-7135-9BF8-D259913B0609}"/>
              </a:ext>
            </a:extLst>
          </p:cNvPr>
          <p:cNvSpPr txBox="1"/>
          <p:nvPr/>
        </p:nvSpPr>
        <p:spPr>
          <a:xfrm>
            <a:off x="2994634" y="5738416"/>
            <a:ext cx="755335" cy="24622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altLang="ko-KR" sz="1000">
                <a:ea typeface="Arial Narrow"/>
              </a:rPr>
              <a:t>[튜토리얼]</a:t>
            </a:r>
            <a:endParaRPr lang="ko-KR" sz="100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1184EA9-E5ED-2624-6EFE-E55BAFC82F56}"/>
              </a:ext>
            </a:extLst>
          </p:cNvPr>
          <p:cNvSpPr txBox="1"/>
          <p:nvPr/>
        </p:nvSpPr>
        <p:spPr>
          <a:xfrm>
            <a:off x="5743076" y="5729634"/>
            <a:ext cx="627095" cy="24622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altLang="ko-KR" sz="1000"/>
              <a:t>[</a:t>
            </a:r>
            <a:r>
              <a:rPr lang="en-US" altLang="ko-KR" sz="1000" err="1"/>
              <a:t>매뉴얼</a:t>
            </a:r>
            <a:r>
              <a:rPr lang="en-US" altLang="ko-KR" sz="1000"/>
              <a:t>]</a:t>
            </a:r>
            <a:endParaRPr lang="ko-KR" sz="100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88C74D4-059F-6216-8DB8-C56372482530}"/>
              </a:ext>
            </a:extLst>
          </p:cNvPr>
          <p:cNvSpPr txBox="1"/>
          <p:nvPr/>
        </p:nvSpPr>
        <p:spPr>
          <a:xfrm>
            <a:off x="7744773" y="5729633"/>
            <a:ext cx="755335" cy="24622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altLang="ko-KR" sz="1000"/>
              <a:t>[</a:t>
            </a:r>
            <a:r>
              <a:rPr lang="en-US" altLang="ko-KR" sz="1000" err="1"/>
              <a:t>홍보자료</a:t>
            </a:r>
            <a:r>
              <a:rPr lang="en-US" altLang="ko-KR" sz="1000"/>
              <a:t>]</a:t>
            </a:r>
            <a:endParaRPr lang="ko-KR" sz="1000"/>
          </a:p>
        </p:txBody>
      </p:sp>
    </p:spTree>
    <p:extLst>
      <p:ext uri="{BB962C8B-B14F-4D97-AF65-F5344CB8AC3E}">
        <p14:creationId xmlns:p14="http://schemas.microsoft.com/office/powerpoint/2010/main" val="19600005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850A9-CDA6-B54D-F272-588CF692FB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9F9BD6A1-3318-21D3-1B12-C680342AEAFB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0" cy="576756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2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75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855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9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sz="900" b="1" i="0" u="none" strike="noStrike" baseline="0" noProof="0">
                          <a:solidFill>
                            <a:schemeClr val="bg1"/>
                          </a:solidFill>
                          <a:effectLst/>
                          <a:latin typeface="Arial Narrow"/>
                        </a:rPr>
                        <a:t>(W51)</a:t>
                      </a:r>
                      <a:endParaRPr lang="en-US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+mn-ea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666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11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DAVINCI</a:t>
                      </a:r>
                      <a:r>
                        <a:rPr lang="en-US" altLang="ko-KR" sz="11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1100" b="0" i="0" u="none" strike="noStrike" noProof="0" err="1">
                          <a:solidFill>
                            <a:srgbClr val="000000"/>
                          </a:solidFill>
                          <a:latin typeface="LG스마트체2.0 Regular"/>
                          <a:ea typeface="LG Smart_H Regular"/>
                        </a:rPr>
                        <a:t>아키텍쳐</a:t>
                      </a:r>
                      <a:r>
                        <a:rPr lang="ko-KR" altLang="en-US" sz="1100" b="0" i="0" u="none" strike="noStrike" noProof="0">
                          <a:solidFill>
                            <a:srgbClr val="000000"/>
                          </a:solidFill>
                          <a:latin typeface="LG스마트체2.0 Regular"/>
                          <a:ea typeface="LG Smart_H Regular"/>
                        </a:rPr>
                        <a:t> </a:t>
                      </a:r>
                      <a:r>
                        <a:rPr lang="ko-KR" sz="1100" b="0" i="0" u="none" strike="noStrike" noProof="0">
                          <a:solidFill>
                            <a:srgbClr val="000000"/>
                          </a:solidFill>
                          <a:latin typeface="LG스마트체2.0 Regular"/>
                          <a:ea typeface="LG Smart_H Regular"/>
                        </a:rPr>
                        <a:t>및</a:t>
                      </a:r>
                      <a:r>
                        <a:rPr lang="ko-KR" altLang="en-US" sz="1100" b="0" i="0" u="none" strike="noStrike" noProof="0">
                          <a:solidFill>
                            <a:srgbClr val="000000"/>
                          </a:solidFill>
                          <a:latin typeface="LG스마트체2.0 Regular"/>
                          <a:ea typeface="LG Smart_H Regular"/>
                        </a:rPr>
                        <a:t> </a:t>
                      </a:r>
                      <a:r>
                        <a:rPr lang="ko-KR" sz="1100" b="0" i="0" u="none" strike="noStrike" noProof="0">
                          <a:solidFill>
                            <a:srgbClr val="000000"/>
                          </a:solidFill>
                          <a:latin typeface="LG스마트체2.0 Regular"/>
                          <a:ea typeface="LG Smart_H Regular"/>
                        </a:rPr>
                        <a:t>분석활용환경 개선</a:t>
                      </a:r>
                      <a:endParaRPr lang="ko-KR" altLang="en-US"/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전 법인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금주(W51)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핵심 내용 : 26년도 분석 Tool 고도화 진행을 위해 사용자 인터뷰 진행하였으며, 기반하여 26년도 분석 Tool 활용성 개선 및 교육 계획 논의하고 있습니다.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1" i="0" u="sng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Malgun Gothic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MLDL</a:t>
                      </a:r>
                      <a:r>
                        <a:rPr lang="ko-KR" altLang="en-US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 </a:t>
                      </a:r>
                      <a:r>
                        <a:rPr lang="en-US" altLang="ko-KR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3.0</a:t>
                      </a:r>
                      <a:r>
                        <a:rPr lang="ko-KR" altLang="en-US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 전환 및 자원 최적화</a:t>
                      </a: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175895" lvl="0" indent="-175895">
                        <a:buClr>
                          <a:srgbClr val="000000"/>
                        </a:buClr>
                        <a:buFont typeface="LG스마트체 Regular,Sans-Serif"/>
                        <a:buChar char="■"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배경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b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현재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2.0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버전으로 서비스 중이며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3.0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버전 업그레이드시 분석가들이 불편을 호소하는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Pain Point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일부 해소 가능할 것으로 예상되어 전법인 순차적으로 업그레이드를 진행할 예정입니다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.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 또한 기존 사용이 저조한 과제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환경 대상으로 자원에 대한 회수 로직이 적용되지 않았으나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,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 과제 요건이 많아짐에 따라 한정된 자원을 재분배하기 위해 자원 회수를 시행하고자 합니다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"/>
                        </a:rPr>
                        <a:t>.</a:t>
                      </a:r>
                      <a:endParaRPr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</a:endParaRPr>
                    </a:p>
                    <a:p>
                      <a:pPr marL="175895" lvl="0" indent="-175895">
                        <a:buClr>
                          <a:srgbClr val="000000"/>
                        </a:buClr>
                        <a:buFont typeface="LG스마트체 Regular,Sans-Serif"/>
                        <a:buChar char="■"/>
                      </a:pP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175895" marR="0" lvl="0" indent="-175895" algn="l">
                        <a:buClr>
                          <a:srgbClr val="000000"/>
                        </a:buClr>
                        <a:buFont typeface="LG스마트체 Regular,Sans-Serif"/>
                        <a:buChar char="■"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진행사항</a:t>
                      </a:r>
                      <a:b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1)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MLDL 3.0 버전 전환</a:t>
                      </a: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173990" marR="0" lvl="0" indent="0" algn="l"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- 8월: MI(완료)/ST(완료)/GM2(완료)/MIL(완료)</a:t>
                      </a: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173990" marR="0" lvl="0" indent="0" algn="l"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- 9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: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OC(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완료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)/GM1(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완료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)/HD(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완료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)/WA(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완료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endParaRPr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173990" marR="0" lvl="0" indent="0" algn="l"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- 12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월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NANJ(29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)/NB(7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b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2)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자원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최적화</a:t>
                      </a:r>
                    </a:p>
                    <a:p>
                      <a:pPr marL="173990" marR="0" lvl="0" indent="0" algn="l"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 MLDL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법인별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노드별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증설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완료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(6/12)</a:t>
                      </a:r>
                    </a:p>
                    <a:p>
                      <a:pPr marL="173990" marR="0" lvl="0" indent="0" algn="l">
                        <a:buNone/>
                      </a:pP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사용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저조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환경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대상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자원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회수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진행 완료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(1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차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)</a:t>
                      </a:r>
                      <a:endParaRPr lang="en-US"/>
                    </a:p>
                    <a:p>
                      <a:pPr marL="173990" marR="0" lvl="0" indent="0" algn="l"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-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3.0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 전환 완료 후 사용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저조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환경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대상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자원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회수 진행 예정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차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endParaRPr lang="en-US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1" i="0" u="sng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Malgun Gothic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Malgun Gothic"/>
                        </a:rPr>
                        <a:t>DAVINCI</a:t>
                      </a:r>
                      <a:r>
                        <a:rPr lang="ko-KR" sz="10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아키텍쳐 및 분석활용환경 개선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Malgun Gothic"/>
                      </a:endParaRPr>
                    </a:p>
                    <a:p>
                      <a:pPr marL="175895" lvl="0" indent="-175895">
                        <a:buClr>
                          <a:srgbClr val="000000"/>
                        </a:buClr>
                        <a:buFont typeface="LG스마트체 Regular,Sans-Serif"/>
                        <a:buChar char="■"/>
                      </a:pP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배경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DAVINCI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내에서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Spotfire Tool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신규로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개발된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분석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Tool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을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활용한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과제를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지원하고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DAVINCI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내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Tool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이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연계된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활용씬을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분석하여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다른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분석과제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혹은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인원이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참고할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수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있도록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지식화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하고자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합니다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endParaRPr lang="ko-KR"/>
                    </a:p>
                    <a:p>
                      <a:pPr marL="175895" lvl="0" indent="-175895">
                        <a:buClr>
                          <a:srgbClr val="000000"/>
                        </a:buClr>
                        <a:buFont typeface="LG스마트체 Regular,Sans-Serif"/>
                        <a:buChar char="■"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175895" marR="0" lvl="0" indent="-175895" algn="l">
                        <a:buClr>
                          <a:srgbClr val="000000"/>
                        </a:buClr>
                        <a:buFont typeface="LG스마트체 Regular,Sans-Serif"/>
                        <a:buChar char="■"/>
                      </a:pP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진행사항</a:t>
                      </a:r>
                      <a:b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연계 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활용씬 지식화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173990" marR="0" lvl="0" indent="0" algn="l"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-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DAVINCI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포털 내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LLM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적용 후 학습 예정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2) Pain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Point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개선 </a:t>
                      </a:r>
                      <a:r>
                        <a:rPr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개발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- IAM 비제조 권한 확산 논의 완료</a:t>
                      </a:r>
                    </a:p>
                    <a:p>
                      <a:pPr marL="0" marR="0" lvl="0" indent="0" algn="l"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- S3 브라우저 클라우드용 배포 완료(9/2)</a:t>
                      </a:r>
                    </a:p>
                    <a:p>
                      <a:pPr marL="0" marR="0" lvl="0" indent="0" algn="l"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 S3 브라우저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VM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용 개선안 배포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(8/19)</a:t>
                      </a:r>
                    </a:p>
                    <a:p>
                      <a:pPr marL="0" marR="0" lvl="0" indent="0" algn="l"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-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NJ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DataPrep WF 최적화 진행 완료(6/23)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Spotfire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–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MLDL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연계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BP</a:t>
                      </a:r>
                      <a:r>
                        <a:rPr 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사례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지원 완료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(6/24)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           </a:t>
                      </a:r>
                      <a:r>
                        <a:rPr lang="en-US" sz="10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- </a:t>
                      </a:r>
                      <a:r>
                        <a:rPr lang="en-US" sz="1000" b="0" i="0" u="none" strike="noStrike" noProof="0">
                          <a:solidFill>
                            <a:srgbClr val="000000"/>
                          </a:solidFill>
                        </a:rPr>
                        <a:t>IAM Admin 페이지 기능 </a:t>
                      </a: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</a:rPr>
                        <a:t>추가</a:t>
                      </a:r>
                      <a:endParaRPr lang="en-US" altLang="ko-KR" sz="1000" b="0" i="0" u="none" strike="noStrike" noProof="0">
                        <a:solidFill>
                          <a:srgbClr val="000000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</a:rPr>
                        <a:t>           - API DB 최적화(테이블 파티셔닝, 통계 테이블 생성 및 삭제 정책 적용)</a:t>
                      </a:r>
                      <a:r>
                        <a:rPr lang="en-US" altLang="ko-KR" sz="1000" b="0" i="0" u="none" strike="noStrike" noProof="0">
                          <a:solidFill>
                            <a:srgbClr val="000000"/>
                          </a:solidFill>
                          <a:latin typeface="Arial Narrow"/>
                        </a:rPr>
                        <a:t>(12/2)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noProof="0">
                          <a:solidFill>
                            <a:srgbClr val="000000"/>
                          </a:solidFill>
                        </a:rPr>
                        <a:t>           - 테이블</a:t>
                      </a:r>
                      <a:r>
                        <a:rPr lang="en-US" sz="1000" b="0" i="0" u="none" strike="noStrike" noProof="0">
                          <a:solidFill>
                            <a:srgbClr val="000000"/>
                          </a:solidFill>
                        </a:rPr>
                        <a:t> 파티셔닝(12/16)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 err="1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한성원P</a:t>
                      </a:r>
                      <a: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  <a:t>​</a:t>
                      </a:r>
                      <a:br>
                        <a:rPr lang="ko-KR" altLang="en-US" sz="900" b="0" i="0" u="none" strike="noStrike" noProof="0">
                          <a:solidFill>
                            <a:srgbClr val="000000"/>
                          </a:solidFill>
                          <a:latin typeface="Arial Narrow"/>
                          <a:ea typeface="+mn-ea"/>
                        </a:rPr>
                      </a:br>
                      <a:r>
                        <a:rPr lang="ko-KR" sz="900" b="0" i="0" u="none" strike="noStrike" noProof="0" err="1">
                          <a:solidFill>
                            <a:schemeClr val="tx1"/>
                          </a:solidFill>
                          <a:latin typeface="Arial Narrow"/>
                          <a:ea typeface="+mn-ea"/>
                        </a:rPr>
                        <a:t>김도희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S</a:t>
                      </a:r>
                      <a:endParaRPr lang="ko-KR" altLang="en-US"/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한승구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A</a:t>
                      </a:r>
                      <a:endParaRPr 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ACD26A89-82A3-4A16-B4F5-64BF2247F400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130665" cy="43088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LG Smart_H Regular"/>
                <a:cs typeface="Malgun Gothic Semilight"/>
              </a:rPr>
              <a:t>DAVINCI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LG Smart_H Regular"/>
                <a:cs typeface="Malgun Gothic Semilight"/>
              </a:rPr>
              <a:t> </a:t>
            </a:r>
            <a:r>
              <a:rPr lang="ko-KR" altLang="en-US" sz="1400" b="1" err="1">
                <a:solidFill>
                  <a:prstClr val="black"/>
                </a:solidFill>
                <a:latin typeface="+mj-ea"/>
                <a:ea typeface="LG Smart_H Regular"/>
                <a:cs typeface="Malgun Gothic Semilight"/>
              </a:rPr>
              <a:t>아키텍쳐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LG Smart_H Regular"/>
                <a:cs typeface="Malgun Gothic Semilight"/>
              </a:rPr>
              <a:t> 및 분석활용환경 개선</a:t>
            </a:r>
            <a:endParaRPr lang="ko-KR" altLang="en-US" sz="1400">
              <a:solidFill>
                <a:prstClr val="black"/>
              </a:solidFill>
              <a:latin typeface="+mj-ea"/>
              <a:ea typeface="LG Smart_H Regular"/>
              <a:cs typeface="Malgun Gothic Semilight"/>
            </a:endParaRPr>
          </a:p>
          <a:p>
            <a:pPr algn="l">
              <a:spcBef>
                <a:spcPts val="0"/>
              </a:spcBef>
              <a:defRPr/>
            </a:pPr>
            <a:endParaRPr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23263ECF-87AC-2531-798F-E3960896FB26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4B203B2-6202-1954-7F9D-3454C5C53474}"/>
              </a:ext>
            </a:extLst>
          </p:cNvPr>
          <p:cNvSpPr txBox="1"/>
          <p:nvPr/>
        </p:nvSpPr>
        <p:spPr>
          <a:xfrm>
            <a:off x="5776546" y="558575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9283B1-DB6A-A47D-8F35-033F1CEC2992}"/>
              </a:ext>
            </a:extLst>
          </p:cNvPr>
          <p:cNvSpPr txBox="1"/>
          <p:nvPr/>
        </p:nvSpPr>
        <p:spPr>
          <a:xfrm>
            <a:off x="8021482" y="572550"/>
            <a:ext cx="1665584" cy="323165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:12/16</a:t>
            </a:r>
            <a:r>
              <a:rPr lang="en-US" altLang="ko-KR" sz="1000">
                <a:latin typeface="+mn-ea"/>
                <a:ea typeface="LG Smart_H Regular"/>
                <a:cs typeface="Malgun Gothic Semilight"/>
              </a:rPr>
              <a:t>(</a:t>
            </a:r>
            <a:r>
              <a:rPr lang="ko-KR" sz="1000">
                <a:latin typeface="+mn-ea"/>
                <a:ea typeface="LG Smart_H Regular"/>
                <a:cs typeface="Malgun Gothic Semilight"/>
              </a:rPr>
              <a:t>수</a:t>
            </a:r>
            <a:r>
              <a:rPr lang="en-US" sz="1000">
                <a:latin typeface="+mn-ea"/>
                <a:ea typeface="LG Smart_H Regular"/>
                <a:cs typeface="Malgun Gothic Semilight"/>
              </a:rPr>
              <a:t>) 12시</a:t>
            </a:r>
          </a:p>
          <a:p>
            <a:pPr>
              <a:defRPr/>
            </a:pPr>
            <a:endParaRPr lang="ko-KR" altLang="en-US"/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4BD960DC-8BD4-2744-7240-3732AF1811B1}"/>
              </a:ext>
            </a:extLst>
          </p:cNvPr>
          <p:cNvSpPr txBox="1">
            <a:spLocks/>
          </p:cNvSpPr>
          <p:nvPr/>
        </p:nvSpPr>
        <p:spPr>
          <a:xfrm>
            <a:off x="8879153" y="408598"/>
            <a:ext cx="807913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ko-KR" altLang="en-US" sz="900">
                <a:latin typeface="Arial Narrow"/>
                <a:cs typeface="Malgun Gothic Semilight"/>
              </a:rPr>
              <a:t>김도희</a:t>
            </a:r>
            <a:r>
              <a:rPr lang="en-US" altLang="ko-KR" sz="900">
                <a:latin typeface="Arial Narrow"/>
                <a:cs typeface="Malgun Gothic Semilight"/>
              </a:rPr>
              <a:t>S</a:t>
            </a:r>
            <a:endParaRPr lang="en-US" sz="900">
              <a:solidFill>
                <a:prstClr val="black"/>
              </a:solidFill>
              <a:latin typeface="Arial Narrow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407807359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7C1BBB-AAC2-744B-4E14-8AC13E3D17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A1DCD19F-CBF9-1FA6-163A-9CD4E6AA4A1D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8304"/>
          <a:ext cx="9644176" cy="6074048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084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9671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1F1F1F"/>
                          </a:solidFill>
                          <a:effectLst/>
                          <a:latin typeface="+mn-ea"/>
                          <a:ea typeface="lg스마트체 regular"/>
                        </a:rPr>
                        <a:t>WA 다빈치 Traceability 구조 개선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ko-KR" altLang="en-US" sz="1000" b="0" i="0" u="none" strike="noStrike" baseline="0" noProof="0">
                          <a:solidFill>
                            <a:srgbClr val="1F1F1F"/>
                          </a:solidFill>
                          <a:effectLst/>
                          <a:latin typeface="+mn-ea"/>
                          <a:ea typeface="lg스마트체 regular"/>
                        </a:rPr>
                      </a:b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1F1F1F"/>
                          </a:solidFill>
                          <a:effectLst/>
                          <a:latin typeface="+mn-ea"/>
                          <a:ea typeface="lg스마트체 regular"/>
                        </a:rPr>
                        <a:t>ESS 추적 EGTS 고도화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1F1F1F"/>
                          </a:solidFill>
                          <a:effectLst/>
                          <a:latin typeface="+mn-ea"/>
                          <a:ea typeface="lg스마트체 regular"/>
                        </a:rPr>
                        <a:t>현대자동차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1F1F1F"/>
                          </a:solidFill>
                          <a:effectLst/>
                          <a:latin typeface="+mn-ea"/>
                          <a:ea typeface="lg스마트체 regular"/>
                        </a:rPr>
                        <a:t>배터리 여권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rgbClr val="1F1F1F"/>
                          </a:solidFill>
                          <a:effectLst/>
                          <a:latin typeface="+mn-ea"/>
                          <a:ea typeface="lg스마트체 regular"/>
                        </a:rPr>
                        <a:t>시스템 검토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1000" b="0" i="0" u="none" strike="noStrike" baseline="0" noProof="0">
                        <a:solidFill>
                          <a:srgbClr val="1F1F1F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ESS 법인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ESHM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ESHG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buNone/>
                      </a:pP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1.WA 다빈치 Traceability 구조 개선</a:t>
                      </a:r>
                    </a:p>
                    <a:p>
                      <a:pPr lvl="0">
                        <a:buNone/>
                      </a:pP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금주(W51) </a:t>
                      </a:r>
                      <a:r>
                        <a:rPr lang="ko-KR" altLang="en-US" sz="1000" b="0" i="0" u="none" strike="noStrike" kern="120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핵심 내용 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: 전주(12/9) 사용자대상 신규 메뉴 오픈하였고, 사용자 문의응대를 위한 On-Site 변화관리 진행중입니다. (WA 진행중)</a:t>
                      </a:r>
                      <a:endParaRPr lang="ko-KR" altLang="en-US" sz="1000" b="0" kern="1200">
                        <a:solidFill>
                          <a:schemeClr val="tx1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배경</a:t>
                      </a: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endParaRPr lang="ko-KR" altLang="en-US" sz="1000" b="0" kern="1200">
                        <a:solidFill>
                          <a:schemeClr val="tx1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</a:rPr>
                        <a:t>품질 Risk 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</a:rPr>
                        <a:t>Range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</a:rPr>
                        <a:t> </a:t>
                      </a:r>
                      <a:r>
                        <a:rPr 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</a:rPr>
                        <a:t>선별 및 각종 데이터를 활용한 연계 분석의 주요 기능인 Traceability 에 대하여 데이터 모델 및 배치의 수행 위치를 개선하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여 조회성능 향상과 배치 안정성을 확보하고자 함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. (WA 우선 적용)</a:t>
                      </a:r>
                      <a:endParaRPr lang="ko-KR" altLang="en-US" sz="1000" b="0" i="0" u="none" strike="noStrike" kern="1200">
                        <a:solidFill>
                          <a:srgbClr val="000000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[구축내용]</a:t>
                      </a:r>
                      <a:endParaRPr lang="en-US" sz="1000" b="0" i="0" u="none" strike="noStrike" kern="1200" noProof="0">
                        <a:solidFill>
                          <a:srgbClr val="000000"/>
                        </a:solidFill>
                        <a:latin typeface="+mn-ea"/>
                        <a:ea typeface="LG Smart_H Regular"/>
                        <a:cs typeface="+mn-cs"/>
                      </a:endParaRPr>
                    </a:p>
                    <a:p>
                      <a:pPr marL="0" lvl="0" indent="0">
                        <a:buNone/>
                      </a:pPr>
                      <a:r>
                        <a:rPr 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1. 추적정보(Traceability) 데이터 모델 구조 개선 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공정군별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 추적 마트 구성을 단일 테이블로 통합 및 다차원 배열 적용</a:t>
                      </a:r>
                    </a:p>
                    <a:p>
                      <a:pPr marL="0" lvl="0" indent="0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2. 추적정보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배치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수행위치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개선 : 데이터 조회에서 사용하는 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Mart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영역의 추적정보 데이터 배치 업무를 배치 전용 클러스터인 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SBP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로 이관</a:t>
                      </a:r>
                      <a:endParaRPr lang="ko-KR" altLang="en-US" sz="1000" b="0" i="0" u="none" strike="noStrike" kern="1200">
                        <a:solidFill>
                          <a:srgbClr val="000000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latin typeface="+mn-ea"/>
                          <a:ea typeface="LG Smart_H Regular"/>
                          <a:cs typeface="+mn-cs"/>
                        </a:rPr>
                        <a:t>[진행사항]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- (12월 2주차) 전주 12/9일 현지 08시 기준 WA법인 추적정보(NEW) 신규 메뉴 사용자 대상 오픈하였습니다. 해당 변화에 따른 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현업 밀착 지원을 위해 On-Site 헬프데스크 운영중입니다. (WA 현지 12/8 ~ 12/17)</a:t>
                      </a:r>
                      <a:endParaRPr lang="en-US" altLang="ko-KR" sz="1000" b="0" i="0" u="none" strike="noStrike" kern="1200" noProof="0">
                        <a:solidFill>
                          <a:srgbClr val="1414FE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- (12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3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주차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) 12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잔여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Task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로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1)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기존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추적정보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활용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프로그램</a:t>
                      </a:r>
                      <a:r>
                        <a:rPr 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1414FE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수정, 2)1년치 → 과거 전체 데이터 제공으로 확대를 위해 초기적재 진행중입니다.</a:t>
                      </a:r>
                      <a:endParaRPr lang="en-US" altLang="ko-KR" sz="1000" b="0" i="0" u="none" strike="noStrike" kern="1200" noProof="0">
                        <a:solidFill>
                          <a:srgbClr val="1414FE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endParaRPr lang="ko-KR" altLang="en-US" sz="1000" b="0" i="0" u="none" strike="noStrike" kern="1200" noProof="0">
                        <a:solidFill>
                          <a:srgbClr val="1414FE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 defTabSz="914400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2.ESS 추적 EGTS 고도화</a:t>
                      </a:r>
                      <a:endParaRPr lang="ko-KR"/>
                    </a:p>
                    <a:p>
                      <a:pPr marL="0" lvl="0" indent="0" algn="l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금주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(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W51)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핵심 내용 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: EGTS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구축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과제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관련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특이사항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없고 금년 하반기 프로젝트 종료하였습니다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이후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사용자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문의응대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진행중입니다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.</a:t>
                      </a:r>
                      <a:endParaRPr lang="ko-KR" altLang="en-US" sz="1000" b="0" i="0" u="none" strike="noStrike" kern="1200" noProof="0">
                        <a:solidFill>
                          <a:schemeClr val="tx1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배경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] </a:t>
                      </a:r>
                      <a:endParaRPr lang="ko-KR" altLang="en-US" sz="1000" b="0" i="0" u="none" strike="noStrike" kern="1200" noProof="0">
                        <a:solidFill>
                          <a:srgbClr val="000000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ESS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제품의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Cell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부터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LINK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까지의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하위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주요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구성품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중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일부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정보가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없거나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누락되어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시스템을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통한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추적성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관리가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되고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있지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못하여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원천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시스템</a:t>
                      </a:r>
                      <a:r>
                        <a:rPr 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(PSCM/ECS)개선 진행에 맞춰 DAVINCI 내 연계를 통해 ESS 제품 추적정보를 즉시 확인할 수 있도록 함</a:t>
                      </a:r>
                      <a:endParaRPr lang="en-US" sz="1000" b="0" i="0" u="none" strike="noStrike" kern="1200">
                        <a:solidFill>
                          <a:srgbClr val="000000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구축내용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lvl="0" indent="0" algn="l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1. PSCM 기반 주택용, 전력망 ESS Pack 및 Link 생산실적 연계</a:t>
                      </a:r>
                    </a:p>
                    <a:p>
                      <a:pPr marL="0" lvl="0" indent="0" algn="l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2. ECS 기반 CS 대응 이력(Pack 교체 S/N, 교체시기, Link 내 열/연/단 위치정보 등)</a:t>
                      </a:r>
                      <a:endParaRPr lang="en-US" altLang="ko-KR" sz="1000" b="0" i="0" u="none" strike="noStrike" kern="1200" noProof="0">
                        <a:solidFill>
                          <a:srgbClr val="000000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3. NERP-CS 모듈 기반 리퍼비시(CS 교체 불량품에 대한 양품화) 이력 연계</a:t>
                      </a:r>
                      <a:endParaRPr lang="en-US" altLang="ko-KR" sz="1000" b="0" i="0" u="none" strike="noStrike" kern="1200" noProof="0">
                        <a:solidFill>
                          <a:srgbClr val="000000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진행사항</a:t>
                      </a: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lvl="0" indent="0" algn="l" rtl="0" eaLnBrk="1" latinLnBrk="1" hangingPunct="1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rgbClr val="000000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- 원천 시스템 담당부서와 원천 시스템 변경사항 공유 및 I/F 요건 초도 회의 진행(8/11)</a:t>
                      </a:r>
                      <a:endParaRPr lang="en-US" sz="1000" b="0" i="0" u="none" strike="noStrike" kern="1200" noProof="0">
                        <a:solidFill>
                          <a:srgbClr val="000000"/>
                        </a:solidFill>
                        <a:latin typeface="Arial Narrow"/>
                      </a:endParaRPr>
                    </a:p>
                    <a:p>
                      <a:pPr marL="0" lvl="0" indent="0" algn="l">
                        <a:buNone/>
                      </a:pP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- 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</a:rPr>
                        <a:t>OC/NB/NANJ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</a:rPr>
                        <a:t> 서버에 배포 완료</a:t>
                      </a: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</a:rPr>
                        <a:t>(11/25)</a:t>
                      </a:r>
                      <a:r>
                        <a:rPr 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</a:rPr>
                        <a:t>하였으며 사용자 문의사항 대응 중입니다</a:t>
                      </a:r>
                      <a:r>
                        <a:rPr lang="en-US" sz="1000" b="0" i="0" u="none" strike="noStrike" kern="1200" noProof="0">
                          <a:solidFill>
                            <a:schemeClr val="tx1"/>
                          </a:solidFill>
                          <a:latin typeface="Arial Narrow"/>
                        </a:rPr>
                        <a:t>.</a:t>
                      </a:r>
                    </a:p>
                    <a:p>
                      <a:pPr marL="0" lvl="0" indent="0" algn="l">
                        <a:buNone/>
                      </a:pPr>
                      <a:endParaRPr lang="en-US" altLang="ko-KR" sz="1000" b="0" i="0" u="none" strike="noStrike" kern="1200" noProof="0">
                        <a:solidFill>
                          <a:srgbClr val="1414FE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3. 현대 자동차 배터리 여권 시스템 검토</a:t>
                      </a: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금주(W38) 핵심 내용 : 1셀당 배터리 여권 데이터 용량 산정하였으며, 고객사 협의 예정으로 이후 진행 대기중으로 추가 진척사항은 없습니다.</a:t>
                      </a:r>
                    </a:p>
                    <a:p>
                      <a:pPr marL="0" lvl="0" indent="0" algn="l">
                        <a:buNone/>
                      </a:pPr>
                      <a:endParaRPr lang="en-US" altLang="ko-KR" sz="1000" b="0" i="0" u="none" strike="noStrike" kern="1200" noProof="0">
                        <a:solidFill>
                          <a:srgbClr val="1414FE"/>
                        </a:solidFill>
                        <a:latin typeface="+mn-ea"/>
                        <a:ea typeface="lg스마트체 regular"/>
                        <a:cs typeface="+mn-cs"/>
                      </a:endParaRP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[배경] 고객사에서 배터리마다 ID 부여 및 이를 통한 원자재 및 제조정보를 사전에 제공 요청하여 시스템 구성 방안 검토 착수('25.5)</a:t>
                      </a:r>
                      <a:endParaRPr lang="en-US"/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[진행사항]</a:t>
                      </a: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- 고객사 제공 데이터(요건) 검토 (w/ Cell QA팀, '25.5)</a:t>
                      </a: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- 고객사 자체 시스템 구축 후 요청사항 논의 예정으로 진행 보류 접수 ('25.7)</a:t>
                      </a: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- 고객 협의시 활용 데이터 제공 완료 ('25.8, 활성화 완료 셀 기준 1셀당 데이터 용량 산정)</a:t>
                      </a:r>
                    </a:p>
                    <a:p>
                      <a:pPr marL="0" lvl="0" indent="0" algn="l">
                        <a:buNone/>
                      </a:pPr>
                      <a:r>
                        <a:rPr lang="en-US" altLang="ko-KR" sz="1000" b="0" i="0" u="none" strike="noStrike" kern="1200" noProof="0">
                          <a:solidFill>
                            <a:schemeClr val="tx1"/>
                          </a:solidFill>
                          <a:latin typeface="+mn-ea"/>
                          <a:ea typeface="lg스마트체 regular"/>
                          <a:cs typeface="+mn-cs"/>
                        </a:rPr>
                        <a:t>   -. 산정 용량(DB압축) : 53MB, 4MB (추적정보 외 데이터 8종이며, 추적된 전극 데이터를 셀 수량만큼 구분 여부에 따라 구분 산정)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'25.12</a:t>
                      </a:r>
                      <a:endParaRPr lang="en-US"/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'25.12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곽병욱S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lg스마트체 regular"/>
                        </a:rPr>
                        <a:t>함우석A</a:t>
                      </a:r>
                      <a:endParaRPr lang="en-US"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곽병욱S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김지송A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곽병욱S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한성원P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CF14EBBD-BADA-C3C2-7E44-D7541F4B234B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48400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defRPr/>
            </a:pPr>
            <a:r>
              <a:rPr kumimoji="0" 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/>
              </a:rPr>
              <a:t>■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/>
              </a:rPr>
              <a:t> 다빈치 Traceability 기능 개선</a:t>
            </a: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A913B7DB-EC53-A681-C334-5AECDA90B65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011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_</a:t>
            </a:r>
            <a:r>
              <a:rPr lang="en-US" altLang="ko-KR" sz="1800">
                <a:latin typeface="+mj-ea"/>
                <a:ea typeface="+mj-ea"/>
                <a:cs typeface="Malgun Gothic Semilight" panose="020B0502040204020203" pitchFamily="50" charset="-127"/>
              </a:rPr>
              <a:t>DAVINCI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501BB803-0C6A-82F6-BE77-072156EA40A3}"/>
              </a:ext>
            </a:extLst>
          </p:cNvPr>
          <p:cNvSpPr txBox="1">
            <a:spLocks/>
          </p:cNvSpPr>
          <p:nvPr/>
        </p:nvSpPr>
        <p:spPr>
          <a:xfrm>
            <a:off x="7913315" y="386055"/>
            <a:ext cx="1894749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</a:rPr>
              <a:t>곽병욱S/함우석A/김지송A</a:t>
            </a:r>
            <a:endParaRPr lang="ko-KR" altLang="en-US" sz="10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A20B223-45E7-4C3B-8C0C-F25E36C3B2E9}"/>
              </a:ext>
            </a:extLst>
          </p:cNvPr>
          <p:cNvSpPr txBox="1"/>
          <p:nvPr/>
        </p:nvSpPr>
        <p:spPr>
          <a:xfrm>
            <a:off x="8031194" y="527973"/>
            <a:ext cx="1875463" cy="246221"/>
          </a:xfrm>
          <a:prstGeom prst="rect">
            <a:avLst/>
          </a:prstGeom>
          <a:solidFill>
            <a:schemeClr val="bg1"/>
          </a:solidFill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Arial Narrow"/>
                <a:ea typeface="LG스마트체 Regular"/>
              </a:rPr>
              <a:t> 12/16</a:t>
            </a:r>
            <a:r>
              <a:rPr lang="en-US" altLang="ko-KR" sz="1000">
                <a:solidFill>
                  <a:prstClr val="black"/>
                </a:solidFill>
                <a:ea typeface="LG스마트체 Regular"/>
              </a:rPr>
              <a:t>(수)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 </a:t>
            </a:r>
            <a:r>
              <a:rPr lang="en-US" altLang="ko-KR" sz="1000">
                <a:solidFill>
                  <a:prstClr val="black"/>
                </a:solidFill>
                <a:ea typeface="LG스마트체 Regular"/>
              </a:rPr>
              <a:t>10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/>
              </a:rPr>
              <a:t>시</a:t>
            </a:r>
            <a:endParaRPr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F65B3CD-8500-184A-9C67-AAF4137E7E83}"/>
              </a:ext>
            </a:extLst>
          </p:cNvPr>
          <p:cNvSpPr txBox="1"/>
          <p:nvPr/>
        </p:nvSpPr>
        <p:spPr>
          <a:xfrm>
            <a:off x="5776546" y="118593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-#44,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28803AD-FD07-E06A-F92B-F3B97EF25512}"/>
              </a:ext>
            </a:extLst>
          </p:cNvPr>
          <p:cNvSpPr txBox="1"/>
          <p:nvPr/>
        </p:nvSpPr>
        <p:spPr>
          <a:xfrm>
            <a:off x="5778451" y="348149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-#45,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5147ED6-84CF-6B20-0B7E-3095121B3A67}"/>
              </a:ext>
            </a:extLst>
          </p:cNvPr>
          <p:cNvSpPr txBox="1"/>
          <p:nvPr/>
        </p:nvSpPr>
        <p:spPr>
          <a:xfrm>
            <a:off x="5780356" y="577705"/>
            <a:ext cx="2250993" cy="4001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-#48,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331469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표 1">
            <a:extLst>
              <a:ext uri="{FF2B5EF4-FFF2-40B4-BE49-F238E27FC236}">
                <a16:creationId xmlns:a16="http://schemas.microsoft.com/office/drawing/2014/main" id="{8A38A87F-4443-4478-82E8-3E765B92E1F5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519744" cy="5746282"/>
        </p:xfrm>
        <a:graphic>
          <a:graphicData uri="http://schemas.openxmlformats.org/drawingml/2006/table">
            <a:tbl>
              <a:tblPr/>
              <a:tblGrid>
                <a:gridCol w="561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5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54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08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64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DAVINCI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IT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유지보수 비용 절감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전체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는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특이사항 없습니다</a:t>
                      </a:r>
                      <a:r>
                        <a:rPr lang="en-US" altLang="ko-KR" sz="10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indent="0" algn="l" rtl="0" eaLnBrk="1" fontAlgn="auto" latinLnBrk="1" hangingPunct="1"/>
                      <a:r>
                        <a:rPr lang="en-US" altLang="ko-KR" sz="10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배경</a:t>
                      </a:r>
                      <a:r>
                        <a:rPr lang="en-US" altLang="ko-KR" sz="10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]</a:t>
                      </a:r>
                      <a:endParaRPr lang="ko-KR" altLang="en-US" sz="2000" b="0" i="0" u="none" strike="noStrike"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라이선스 갱신 등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DAVINCI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운영에 필요한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IT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유지 보수 항목들에 대한 비용 절감 활동을 통해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25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년 사업 계획 比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10%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이상 절감하고자 함</a:t>
                      </a:r>
                      <a:b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- 25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년 사업 계획 비용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9,633,247,781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(JV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제외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endParaRPr lang="en-US" altLang="ko-KR" sz="10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algn="l" rtl="0" eaLnBrk="1" fontAlgn="t" latinLnBrk="1" hangingPunct="1"/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   - 4Q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 기준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48.66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억 절감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(50.5%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↓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),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해외 법인 비용 배부를 포함한 실질적 개선 금액도 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20.36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억 절감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(21.1%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↓</a:t>
                      </a: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달성하였음</a:t>
                      </a:r>
                      <a:endParaRPr lang="en-US" altLang="ko-KR" sz="10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marL="0" algn="l" rtl="0" eaLnBrk="1" fontAlgn="t" latinLnBrk="1" hangingPunct="1"/>
                      <a:endParaRPr lang="ko-KR" altLang="en-US" sz="10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indent="0" algn="l" rtl="0" eaLnBrk="1" fontAlgn="auto" latinLnBrk="1" hangingPunct="1"/>
                      <a:r>
                        <a:rPr lang="ko-KR" altLang="en-US" sz="10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[주요 절감 내역]</a:t>
                      </a:r>
                      <a:endParaRPr lang="en-US" altLang="ko-KR" sz="10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l" rtl="0" eaLnBrk="1" fontAlgn="t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1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 SBP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라이선스의 유지 보수 요율 변경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17%, 3,336,005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변경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14%, 2,535,750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에 따른 비용 절감</a:t>
                      </a:r>
                      <a:endParaRPr lang="en-US" altLang="ko-KR" sz="10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2) SBP Prep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의 유지 보수 요율 변경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17%, 8,500,000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변경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14%, 7,000,000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에 따른 비용 절감</a:t>
                      </a:r>
                      <a:b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  3) RedHat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갱신 단가 변경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: 1,285,440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원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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변경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1,070,000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algn="l" rtl="0" eaLnBrk="1" fontAlgn="t" latinLnBrk="1" hangingPunct="1"/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4) SAS SW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코어 수 변경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(112 Core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16 Core)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따른 비용 절감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298,000,000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변경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99,000,000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algn="l" rtl="0" eaLnBrk="1" fontAlgn="t" latinLnBrk="1" hangingPunct="1"/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5) VCF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갱신 단가 변경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210,000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변경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205,330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에 따른 비용 절감</a:t>
                      </a:r>
                      <a:endParaRPr lang="en-US" altLang="ko-KR" sz="10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6) Horizon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갱신 단가 변경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2,125,000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변경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1,900,000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에 따른 비용 절감</a:t>
                      </a:r>
                      <a:endParaRPr lang="en-US" altLang="ko-KR" sz="10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7) GPDB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갱신 단가 변경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기존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1,000,000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변경 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995,000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원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에 따른 비용 절감</a:t>
                      </a:r>
                      <a:endParaRPr lang="en-US" altLang="ko-KR" sz="1000" b="0" i="0" u="none" strike="noStrike" kern="120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25.12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이재왕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한성원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3" name="직사각형 72">
            <a:extLst>
              <a:ext uri="{FF2B5EF4-FFF2-40B4-BE49-F238E27FC236}">
                <a16:creationId xmlns:a16="http://schemas.microsoft.com/office/drawing/2014/main" id="{E7F74914-8E98-C621-B30D-64E41D174A5B}"/>
              </a:ext>
            </a:extLst>
          </p:cNvPr>
          <p:cNvSpPr/>
          <p:nvPr/>
        </p:nvSpPr>
        <p:spPr>
          <a:xfrm>
            <a:off x="5585376" y="4845609"/>
            <a:ext cx="539440" cy="21600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>
                <a:solidFill>
                  <a:schemeClr val="tx1"/>
                </a:solidFill>
              </a:rPr>
              <a:t>NB</a:t>
            </a:r>
            <a:r>
              <a:rPr lang="ko-KR" altLang="en-US" sz="900">
                <a:solidFill>
                  <a:schemeClr val="tx1"/>
                </a:solidFill>
              </a:rPr>
              <a:t> </a:t>
            </a:r>
            <a:r>
              <a:rPr lang="en-US" altLang="ko-KR" sz="900">
                <a:solidFill>
                  <a:schemeClr val="tx1"/>
                </a:solidFill>
              </a:rPr>
              <a:t>8.2</a:t>
            </a:r>
            <a:r>
              <a:rPr lang="ko-KR" altLang="en-US" sz="900">
                <a:solidFill>
                  <a:schemeClr val="tx1"/>
                </a:solidFill>
              </a:rPr>
              <a:t>억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EB75179-57EF-ACC5-0C49-89F15354AB6D}"/>
              </a:ext>
            </a:extLst>
          </p:cNvPr>
          <p:cNvSpPr/>
          <p:nvPr/>
        </p:nvSpPr>
        <p:spPr>
          <a:xfrm>
            <a:off x="5585376" y="5059538"/>
            <a:ext cx="539440" cy="349200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>
                <a:solidFill>
                  <a:schemeClr val="tx1"/>
                </a:solidFill>
              </a:rPr>
              <a:t>NA/NJ</a:t>
            </a:r>
          </a:p>
          <a:p>
            <a:pPr algn="ctr"/>
            <a:r>
              <a:rPr lang="en-US" altLang="ko-KR" sz="900">
                <a:solidFill>
                  <a:schemeClr val="tx1"/>
                </a:solidFill>
              </a:rPr>
              <a:t>13.3</a:t>
            </a:r>
            <a:r>
              <a:rPr lang="ko-KR" altLang="en-US" sz="900">
                <a:solidFill>
                  <a:schemeClr val="tx1"/>
                </a:solidFill>
              </a:rPr>
              <a:t>억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7B9E5DC8-FD5C-AAB2-70C6-75BA466B93D8}"/>
              </a:ext>
            </a:extLst>
          </p:cNvPr>
          <p:cNvSpPr/>
          <p:nvPr/>
        </p:nvSpPr>
        <p:spPr>
          <a:xfrm>
            <a:off x="5585376" y="5408738"/>
            <a:ext cx="539440" cy="1764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>
                <a:solidFill>
                  <a:schemeClr val="tx1"/>
                </a:solidFill>
              </a:rPr>
              <a:t>MI 6.8</a:t>
            </a:r>
            <a:r>
              <a:rPr lang="ko-KR" altLang="en-US" sz="900">
                <a:solidFill>
                  <a:schemeClr val="tx1"/>
                </a:solidFill>
              </a:rPr>
              <a:t>억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6BA81FB-8DEA-C0B8-D977-0B978457BC3B}"/>
              </a:ext>
            </a:extLst>
          </p:cNvPr>
          <p:cNvSpPr txBox="1"/>
          <p:nvPr/>
        </p:nvSpPr>
        <p:spPr>
          <a:xfrm>
            <a:off x="5585376" y="4658075"/>
            <a:ext cx="529312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>
                <a:solidFill>
                  <a:srgbClr val="0000FF"/>
                </a:solidFill>
              </a:rPr>
              <a:t>- 28.3</a:t>
            </a:r>
            <a:r>
              <a:rPr lang="ko-KR" altLang="en-US" sz="900">
                <a:solidFill>
                  <a:srgbClr val="0000FF"/>
                </a:solidFill>
              </a:rPr>
              <a:t>억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04F09DE6-8C18-C44E-8A3E-D9FC65A3D461}"/>
              </a:ext>
            </a:extLst>
          </p:cNvPr>
          <p:cNvCxnSpPr>
            <a:cxnSpLocks/>
          </p:cNvCxnSpPr>
          <p:nvPr/>
        </p:nvCxnSpPr>
        <p:spPr>
          <a:xfrm flipH="1">
            <a:off x="5532091" y="4865918"/>
            <a:ext cx="1907" cy="703095"/>
          </a:xfrm>
          <a:prstGeom prst="straightConnector1">
            <a:avLst/>
          </a:prstGeom>
          <a:ln w="6350">
            <a:solidFill>
              <a:schemeClr val="bg1">
                <a:lumMod val="6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제목 1">
            <a:extLst>
              <a:ext uri="{FF2B5EF4-FFF2-40B4-BE49-F238E27FC236}">
                <a16:creationId xmlns:a16="http://schemas.microsoft.com/office/drawing/2014/main" id="{DF3912C3-2160-4F52-8D31-7D94A26A4F1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BD4ECF6-3496-4CDC-BBC5-57E6B6F4654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8465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+mj-ea"/>
                <a:ea typeface="+mj-ea"/>
              </a:rPr>
              <a:t>■ </a:t>
            </a:r>
            <a:r>
              <a:rPr lang="en-US" altLang="ko-KR" sz="1400" b="1">
                <a:latin typeface="+mj-ea"/>
                <a:ea typeface="+mj-ea"/>
              </a:rPr>
              <a:t>DAVINCI IT</a:t>
            </a:r>
            <a:r>
              <a:rPr lang="ko-KR" altLang="en-US" sz="1400" b="1">
                <a:latin typeface="+mj-ea"/>
                <a:ea typeface="+mj-ea"/>
              </a:rPr>
              <a:t> 유지보수 비용 절감</a:t>
            </a: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BE4C27CD-44CC-44E7-9F73-43C133C6C464}"/>
              </a:ext>
            </a:extLst>
          </p:cNvPr>
          <p:cNvSpPr txBox="1">
            <a:spLocks/>
          </p:cNvSpPr>
          <p:nvPr/>
        </p:nvSpPr>
        <p:spPr>
          <a:xfrm>
            <a:off x="8799995" y="395162"/>
            <a:ext cx="852798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이재왕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S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0373BB9-D390-4047-A064-8F4A4B80B416}"/>
              </a:ext>
            </a:extLst>
          </p:cNvPr>
          <p:cNvSpPr txBox="1"/>
          <p:nvPr/>
        </p:nvSpPr>
        <p:spPr>
          <a:xfrm>
            <a:off x="7705725" y="549050"/>
            <a:ext cx="2063009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12/16 (화)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12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  <a:endParaRPr lang="ko-KR" altLang="en-US" sz="10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79B09EB-D2F4-4A63-9F00-F730F7B668CB}"/>
              </a:ext>
            </a:extLst>
          </p:cNvPr>
          <p:cNvSpPr txBox="1"/>
          <p:nvPr/>
        </p:nvSpPr>
        <p:spPr>
          <a:xfrm>
            <a:off x="5738446" y="558575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-#34,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0C7EC62-1110-43A7-BBFF-A8449511749C}"/>
              </a:ext>
            </a:extLst>
          </p:cNvPr>
          <p:cNvSpPr txBox="1"/>
          <p:nvPr/>
        </p:nvSpPr>
        <p:spPr>
          <a:xfrm>
            <a:off x="2279340" y="6246613"/>
            <a:ext cx="6206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/>
              <a:t>2025</a:t>
            </a:r>
          </a:p>
          <a:p>
            <a:pPr algn="ctr"/>
            <a:r>
              <a:rPr lang="ko-KR" altLang="en-US" sz="900"/>
              <a:t>사업 계획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2914E18-C591-4182-8154-49708FD6AE3B}"/>
              </a:ext>
            </a:extLst>
          </p:cNvPr>
          <p:cNvSpPr txBox="1"/>
          <p:nvPr/>
        </p:nvSpPr>
        <p:spPr>
          <a:xfrm>
            <a:off x="6596743" y="6253341"/>
            <a:ext cx="6174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900"/>
              <a:t>현재</a:t>
            </a:r>
            <a:endParaRPr lang="en-US" altLang="ko-KR" sz="900"/>
          </a:p>
          <a:p>
            <a:pPr algn="ctr"/>
            <a:r>
              <a:rPr lang="en-US" altLang="ko-KR" sz="900"/>
              <a:t>(25/10/14)</a:t>
            </a:r>
            <a:endParaRPr lang="ko-KR" altLang="en-US" sz="90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DFCDE73-AE2C-43FB-9B41-C9883C8FC4AD}"/>
              </a:ext>
            </a:extLst>
          </p:cNvPr>
          <p:cNvSpPr/>
          <p:nvPr/>
        </p:nvSpPr>
        <p:spPr>
          <a:xfrm>
            <a:off x="2319682" y="4458263"/>
            <a:ext cx="540000" cy="1806179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FDBA035-8264-4C27-9979-7878C4B23F25}"/>
              </a:ext>
            </a:extLst>
          </p:cNvPr>
          <p:cNvSpPr txBox="1"/>
          <p:nvPr/>
        </p:nvSpPr>
        <p:spPr>
          <a:xfrm>
            <a:off x="2386420" y="4170381"/>
            <a:ext cx="47160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/>
              <a:t>96.3</a:t>
            </a:r>
            <a:r>
              <a:rPr lang="ko-KR" altLang="en-US" sz="900"/>
              <a:t>억</a:t>
            </a: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69696D1D-6826-4CAA-AEF5-DA422AE9E632}"/>
              </a:ext>
            </a:extLst>
          </p:cNvPr>
          <p:cNvCxnSpPr>
            <a:cxnSpLocks/>
          </p:cNvCxnSpPr>
          <p:nvPr/>
        </p:nvCxnSpPr>
        <p:spPr>
          <a:xfrm>
            <a:off x="1901190" y="6264442"/>
            <a:ext cx="550399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80F5793-786D-75DC-1385-C0C49612F03C}"/>
              </a:ext>
            </a:extLst>
          </p:cNvPr>
          <p:cNvSpPr/>
          <p:nvPr/>
        </p:nvSpPr>
        <p:spPr>
          <a:xfrm>
            <a:off x="6632042" y="5585137"/>
            <a:ext cx="540000" cy="67930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710DECFD-0CD2-60B1-E520-BEED2BC5D4E1}"/>
              </a:ext>
            </a:extLst>
          </p:cNvPr>
          <p:cNvCxnSpPr>
            <a:cxnSpLocks/>
          </p:cNvCxnSpPr>
          <p:nvPr/>
        </p:nvCxnSpPr>
        <p:spPr>
          <a:xfrm>
            <a:off x="2821004" y="4461049"/>
            <a:ext cx="873798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자유형: 도형 42">
            <a:extLst>
              <a:ext uri="{FF2B5EF4-FFF2-40B4-BE49-F238E27FC236}">
                <a16:creationId xmlns:a16="http://schemas.microsoft.com/office/drawing/2014/main" id="{CC8FA3E1-28A1-BD82-2BCD-9195F6F02232}"/>
              </a:ext>
            </a:extLst>
          </p:cNvPr>
          <p:cNvSpPr/>
          <p:nvPr/>
        </p:nvSpPr>
        <p:spPr>
          <a:xfrm>
            <a:off x="2102855" y="5793979"/>
            <a:ext cx="5223847" cy="176399"/>
          </a:xfrm>
          <a:custGeom>
            <a:avLst/>
            <a:gdLst>
              <a:gd name="connsiteX0" fmla="*/ 337869 w 4324720"/>
              <a:gd name="connsiteY0" fmla="*/ 178 h 114071"/>
              <a:gd name="connsiteX1" fmla="*/ 540590 w 4324720"/>
              <a:gd name="connsiteY1" fmla="*/ 6893 h 114071"/>
              <a:gd name="connsiteX2" fmla="*/ 810885 w 4324720"/>
              <a:gd name="connsiteY2" fmla="*/ 6893 h 114071"/>
              <a:gd name="connsiteX3" fmla="*/ 1081180 w 4324720"/>
              <a:gd name="connsiteY3" fmla="*/ 6893 h 114071"/>
              <a:gd name="connsiteX4" fmla="*/ 1351475 w 4324720"/>
              <a:gd name="connsiteY4" fmla="*/ 6893 h 114071"/>
              <a:gd name="connsiteX5" fmla="*/ 1621770 w 4324720"/>
              <a:gd name="connsiteY5" fmla="*/ 6893 h 114071"/>
              <a:gd name="connsiteX6" fmla="*/ 1689344 w 4324720"/>
              <a:gd name="connsiteY6" fmla="*/ 178 h 114071"/>
              <a:gd name="connsiteX7" fmla="*/ 1892065 w 4324720"/>
              <a:gd name="connsiteY7" fmla="*/ 6893 h 114071"/>
              <a:gd name="connsiteX8" fmla="*/ 2162360 w 4324720"/>
              <a:gd name="connsiteY8" fmla="*/ 6893 h 114071"/>
              <a:gd name="connsiteX9" fmla="*/ 2229933 w 4324720"/>
              <a:gd name="connsiteY9" fmla="*/ 178 h 114071"/>
              <a:gd name="connsiteX10" fmla="*/ 2432655 w 4324720"/>
              <a:gd name="connsiteY10" fmla="*/ 6893 h 114071"/>
              <a:gd name="connsiteX11" fmla="*/ 2702950 w 4324720"/>
              <a:gd name="connsiteY11" fmla="*/ 6893 h 114071"/>
              <a:gd name="connsiteX12" fmla="*/ 2973245 w 4324720"/>
              <a:gd name="connsiteY12" fmla="*/ 6893 h 114071"/>
              <a:gd name="connsiteX13" fmla="*/ 3243540 w 4324720"/>
              <a:gd name="connsiteY13" fmla="*/ 6893 h 114071"/>
              <a:gd name="connsiteX14" fmla="*/ 3513835 w 4324720"/>
              <a:gd name="connsiteY14" fmla="*/ 6893 h 114071"/>
              <a:gd name="connsiteX15" fmla="*/ 3784130 w 4324720"/>
              <a:gd name="connsiteY15" fmla="*/ 6893 h 114071"/>
              <a:gd name="connsiteX16" fmla="*/ 3851704 w 4324720"/>
              <a:gd name="connsiteY16" fmla="*/ 178 h 114071"/>
              <a:gd name="connsiteX17" fmla="*/ 4054425 w 4324720"/>
              <a:gd name="connsiteY17" fmla="*/ 6893 h 114071"/>
              <a:gd name="connsiteX18" fmla="*/ 4324720 w 4324720"/>
              <a:gd name="connsiteY18" fmla="*/ 6893 h 114071"/>
              <a:gd name="connsiteX19" fmla="*/ 4324720 w 4324720"/>
              <a:gd name="connsiteY19" fmla="*/ 107179 h 114071"/>
              <a:gd name="connsiteX20" fmla="*/ 4054425 w 4324720"/>
              <a:gd name="connsiteY20" fmla="*/ 107179 h 114071"/>
              <a:gd name="connsiteX21" fmla="*/ 3784130 w 4324720"/>
              <a:gd name="connsiteY21" fmla="*/ 107179 h 114071"/>
              <a:gd name="connsiteX22" fmla="*/ 3513835 w 4324720"/>
              <a:gd name="connsiteY22" fmla="*/ 107179 h 114071"/>
              <a:gd name="connsiteX23" fmla="*/ 3243540 w 4324720"/>
              <a:gd name="connsiteY23" fmla="*/ 107179 h 114071"/>
              <a:gd name="connsiteX24" fmla="*/ 2973245 w 4324720"/>
              <a:gd name="connsiteY24" fmla="*/ 107179 h 114071"/>
              <a:gd name="connsiteX25" fmla="*/ 2702950 w 4324720"/>
              <a:gd name="connsiteY25" fmla="*/ 107179 h 114071"/>
              <a:gd name="connsiteX26" fmla="*/ 2432655 w 4324720"/>
              <a:gd name="connsiteY26" fmla="*/ 107179 h 114071"/>
              <a:gd name="connsiteX27" fmla="*/ 2162360 w 4324720"/>
              <a:gd name="connsiteY27" fmla="*/ 107179 h 114071"/>
              <a:gd name="connsiteX28" fmla="*/ 1892065 w 4324720"/>
              <a:gd name="connsiteY28" fmla="*/ 107179 h 114071"/>
              <a:gd name="connsiteX29" fmla="*/ 1621770 w 4324720"/>
              <a:gd name="connsiteY29" fmla="*/ 107179 h 114071"/>
              <a:gd name="connsiteX30" fmla="*/ 1351475 w 4324720"/>
              <a:gd name="connsiteY30" fmla="*/ 107179 h 114071"/>
              <a:gd name="connsiteX31" fmla="*/ 1081180 w 4324720"/>
              <a:gd name="connsiteY31" fmla="*/ 107179 h 114071"/>
              <a:gd name="connsiteX32" fmla="*/ 810885 w 4324720"/>
              <a:gd name="connsiteY32" fmla="*/ 107179 h 114071"/>
              <a:gd name="connsiteX33" fmla="*/ 540590 w 4324720"/>
              <a:gd name="connsiteY33" fmla="*/ 107179 h 114071"/>
              <a:gd name="connsiteX34" fmla="*/ 270295 w 4324720"/>
              <a:gd name="connsiteY34" fmla="*/ 107179 h 114071"/>
              <a:gd name="connsiteX35" fmla="*/ 0 w 4324720"/>
              <a:gd name="connsiteY35" fmla="*/ 107179 h 114071"/>
              <a:gd name="connsiteX36" fmla="*/ 0 w 4324720"/>
              <a:gd name="connsiteY36" fmla="*/ 6893 h 114071"/>
              <a:gd name="connsiteX37" fmla="*/ 67573 w 4324720"/>
              <a:gd name="connsiteY37" fmla="*/ 178 h 114071"/>
              <a:gd name="connsiteX38" fmla="*/ 270295 w 4324720"/>
              <a:gd name="connsiteY38" fmla="*/ 6893 h 114071"/>
              <a:gd name="connsiteX39" fmla="*/ 337869 w 4324720"/>
              <a:gd name="connsiteY39" fmla="*/ 178 h 114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324720" h="114071">
                <a:moveTo>
                  <a:pt x="337869" y="178"/>
                </a:moveTo>
                <a:cubicBezTo>
                  <a:pt x="405442" y="2417"/>
                  <a:pt x="473016" y="24802"/>
                  <a:pt x="540590" y="6893"/>
                </a:cubicBezTo>
                <a:cubicBezTo>
                  <a:pt x="630688" y="-16984"/>
                  <a:pt x="720787" y="30771"/>
                  <a:pt x="810885" y="6893"/>
                </a:cubicBezTo>
                <a:cubicBezTo>
                  <a:pt x="900983" y="-16984"/>
                  <a:pt x="991082" y="30771"/>
                  <a:pt x="1081180" y="6893"/>
                </a:cubicBezTo>
                <a:cubicBezTo>
                  <a:pt x="1171278" y="-16984"/>
                  <a:pt x="1261377" y="30771"/>
                  <a:pt x="1351475" y="6893"/>
                </a:cubicBezTo>
                <a:cubicBezTo>
                  <a:pt x="1441573" y="-16984"/>
                  <a:pt x="1531672" y="30771"/>
                  <a:pt x="1621770" y="6893"/>
                </a:cubicBezTo>
                <a:cubicBezTo>
                  <a:pt x="1644295" y="924"/>
                  <a:pt x="1666819" y="-569"/>
                  <a:pt x="1689344" y="178"/>
                </a:cubicBezTo>
                <a:cubicBezTo>
                  <a:pt x="1756918" y="2417"/>
                  <a:pt x="1824492" y="24802"/>
                  <a:pt x="1892065" y="6893"/>
                </a:cubicBezTo>
                <a:cubicBezTo>
                  <a:pt x="1982163" y="-16984"/>
                  <a:pt x="2072262" y="30771"/>
                  <a:pt x="2162360" y="6893"/>
                </a:cubicBezTo>
                <a:cubicBezTo>
                  <a:pt x="2184884" y="924"/>
                  <a:pt x="2207409" y="-569"/>
                  <a:pt x="2229933" y="178"/>
                </a:cubicBezTo>
                <a:cubicBezTo>
                  <a:pt x="2297507" y="2417"/>
                  <a:pt x="2365081" y="24802"/>
                  <a:pt x="2432655" y="6893"/>
                </a:cubicBezTo>
                <a:cubicBezTo>
                  <a:pt x="2522753" y="-16984"/>
                  <a:pt x="2612852" y="30771"/>
                  <a:pt x="2702950" y="6893"/>
                </a:cubicBezTo>
                <a:cubicBezTo>
                  <a:pt x="2793048" y="-16984"/>
                  <a:pt x="2883147" y="30771"/>
                  <a:pt x="2973245" y="6893"/>
                </a:cubicBezTo>
                <a:cubicBezTo>
                  <a:pt x="3063343" y="-16984"/>
                  <a:pt x="3153442" y="30771"/>
                  <a:pt x="3243540" y="6893"/>
                </a:cubicBezTo>
                <a:cubicBezTo>
                  <a:pt x="3333638" y="-16984"/>
                  <a:pt x="3423737" y="30771"/>
                  <a:pt x="3513835" y="6893"/>
                </a:cubicBezTo>
                <a:cubicBezTo>
                  <a:pt x="3603933" y="-16984"/>
                  <a:pt x="3694032" y="30771"/>
                  <a:pt x="3784130" y="6893"/>
                </a:cubicBezTo>
                <a:cubicBezTo>
                  <a:pt x="3806655" y="924"/>
                  <a:pt x="3829179" y="-569"/>
                  <a:pt x="3851704" y="178"/>
                </a:cubicBezTo>
                <a:cubicBezTo>
                  <a:pt x="3919278" y="2417"/>
                  <a:pt x="3986852" y="24802"/>
                  <a:pt x="4054425" y="6893"/>
                </a:cubicBezTo>
                <a:cubicBezTo>
                  <a:pt x="4144523" y="-16984"/>
                  <a:pt x="4234622" y="30771"/>
                  <a:pt x="4324720" y="6893"/>
                </a:cubicBezTo>
                <a:lnTo>
                  <a:pt x="4324720" y="107179"/>
                </a:lnTo>
                <a:cubicBezTo>
                  <a:pt x="4234622" y="131056"/>
                  <a:pt x="4144523" y="83301"/>
                  <a:pt x="4054425" y="107179"/>
                </a:cubicBezTo>
                <a:cubicBezTo>
                  <a:pt x="3964327" y="131056"/>
                  <a:pt x="3874228" y="83301"/>
                  <a:pt x="3784130" y="107179"/>
                </a:cubicBezTo>
                <a:cubicBezTo>
                  <a:pt x="3694032" y="131056"/>
                  <a:pt x="3603933" y="83301"/>
                  <a:pt x="3513835" y="107179"/>
                </a:cubicBezTo>
                <a:cubicBezTo>
                  <a:pt x="3423737" y="131056"/>
                  <a:pt x="3333638" y="83301"/>
                  <a:pt x="3243540" y="107179"/>
                </a:cubicBezTo>
                <a:cubicBezTo>
                  <a:pt x="3153442" y="131056"/>
                  <a:pt x="3063343" y="83301"/>
                  <a:pt x="2973245" y="107179"/>
                </a:cubicBezTo>
                <a:cubicBezTo>
                  <a:pt x="2883147" y="131056"/>
                  <a:pt x="2793048" y="83301"/>
                  <a:pt x="2702950" y="107179"/>
                </a:cubicBezTo>
                <a:cubicBezTo>
                  <a:pt x="2612852" y="131056"/>
                  <a:pt x="2522753" y="83301"/>
                  <a:pt x="2432655" y="107179"/>
                </a:cubicBezTo>
                <a:cubicBezTo>
                  <a:pt x="2342557" y="131056"/>
                  <a:pt x="2252458" y="83301"/>
                  <a:pt x="2162360" y="107179"/>
                </a:cubicBezTo>
                <a:cubicBezTo>
                  <a:pt x="2072262" y="131056"/>
                  <a:pt x="1982163" y="83301"/>
                  <a:pt x="1892065" y="107179"/>
                </a:cubicBezTo>
                <a:cubicBezTo>
                  <a:pt x="1801967" y="131056"/>
                  <a:pt x="1711868" y="83301"/>
                  <a:pt x="1621770" y="107179"/>
                </a:cubicBezTo>
                <a:cubicBezTo>
                  <a:pt x="1531672" y="131056"/>
                  <a:pt x="1441573" y="83301"/>
                  <a:pt x="1351475" y="107179"/>
                </a:cubicBezTo>
                <a:cubicBezTo>
                  <a:pt x="1261377" y="131056"/>
                  <a:pt x="1171278" y="83301"/>
                  <a:pt x="1081180" y="107179"/>
                </a:cubicBezTo>
                <a:cubicBezTo>
                  <a:pt x="991082" y="131056"/>
                  <a:pt x="900983" y="83301"/>
                  <a:pt x="810885" y="107179"/>
                </a:cubicBezTo>
                <a:cubicBezTo>
                  <a:pt x="720787" y="131056"/>
                  <a:pt x="630688" y="83301"/>
                  <a:pt x="540590" y="107179"/>
                </a:cubicBezTo>
                <a:cubicBezTo>
                  <a:pt x="450492" y="131056"/>
                  <a:pt x="360393" y="83301"/>
                  <a:pt x="270295" y="107179"/>
                </a:cubicBezTo>
                <a:cubicBezTo>
                  <a:pt x="180197" y="131056"/>
                  <a:pt x="90098" y="83301"/>
                  <a:pt x="0" y="107179"/>
                </a:cubicBezTo>
                <a:lnTo>
                  <a:pt x="0" y="6893"/>
                </a:lnTo>
                <a:cubicBezTo>
                  <a:pt x="22524" y="924"/>
                  <a:pt x="45049" y="-569"/>
                  <a:pt x="67573" y="178"/>
                </a:cubicBezTo>
                <a:cubicBezTo>
                  <a:pt x="135147" y="2417"/>
                  <a:pt x="202721" y="24802"/>
                  <a:pt x="270295" y="6893"/>
                </a:cubicBezTo>
                <a:cubicBezTo>
                  <a:pt x="292819" y="924"/>
                  <a:pt x="315344" y="-569"/>
                  <a:pt x="337869" y="17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F504C87-214A-F322-6838-A94FFEE361E2}"/>
              </a:ext>
            </a:extLst>
          </p:cNvPr>
          <p:cNvSpPr/>
          <p:nvPr/>
        </p:nvSpPr>
        <p:spPr>
          <a:xfrm>
            <a:off x="4487040" y="4027345"/>
            <a:ext cx="539440" cy="818833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절감 활동</a:t>
            </a: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092F3DEA-F594-65FF-BBF0-8B7D16063FB2}"/>
              </a:ext>
            </a:extLst>
          </p:cNvPr>
          <p:cNvCxnSpPr>
            <a:cxnSpLocks/>
          </p:cNvCxnSpPr>
          <p:nvPr/>
        </p:nvCxnSpPr>
        <p:spPr>
          <a:xfrm>
            <a:off x="3855408" y="4027535"/>
            <a:ext cx="873798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19CE1BA8-2793-76C2-5F20-53D8C225D5DE}"/>
              </a:ext>
            </a:extLst>
          </p:cNvPr>
          <p:cNvCxnSpPr>
            <a:cxnSpLocks/>
          </p:cNvCxnSpPr>
          <p:nvPr/>
        </p:nvCxnSpPr>
        <p:spPr>
          <a:xfrm>
            <a:off x="4441696" y="4061956"/>
            <a:ext cx="0" cy="732364"/>
          </a:xfrm>
          <a:prstGeom prst="straightConnector1">
            <a:avLst/>
          </a:prstGeom>
          <a:ln w="6350">
            <a:solidFill>
              <a:schemeClr val="bg1">
                <a:lumMod val="6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CAF2678A-183E-3D88-7142-625F7448F64B}"/>
              </a:ext>
            </a:extLst>
          </p:cNvPr>
          <p:cNvSpPr txBox="1"/>
          <p:nvPr/>
        </p:nvSpPr>
        <p:spPr>
          <a:xfrm>
            <a:off x="4468181" y="3828996"/>
            <a:ext cx="595035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>
                <a:solidFill>
                  <a:srgbClr val="0000FF"/>
                </a:solidFill>
              </a:rPr>
              <a:t>- 34.72</a:t>
            </a:r>
            <a:r>
              <a:rPr lang="ko-KR" altLang="en-US" sz="900">
                <a:solidFill>
                  <a:srgbClr val="0000FF"/>
                </a:solidFill>
              </a:rPr>
              <a:t>억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82116C3-A64F-6039-07DB-94DE659951DF}"/>
              </a:ext>
            </a:extLst>
          </p:cNvPr>
          <p:cNvSpPr txBox="1"/>
          <p:nvPr/>
        </p:nvSpPr>
        <p:spPr>
          <a:xfrm>
            <a:off x="6669680" y="5392777"/>
            <a:ext cx="53732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/>
              <a:t>47.64</a:t>
            </a:r>
            <a:r>
              <a:rPr lang="ko-KR" altLang="en-US" sz="900"/>
              <a:t>억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FD224A9-E5B4-14B5-33BC-377CCE7918EE}"/>
              </a:ext>
            </a:extLst>
          </p:cNvPr>
          <p:cNvSpPr/>
          <p:nvPr/>
        </p:nvSpPr>
        <p:spPr>
          <a:xfrm>
            <a:off x="3403641" y="4027346"/>
            <a:ext cx="539440" cy="331200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>
                <a:solidFill>
                  <a:schemeClr val="tx1"/>
                </a:solidFill>
              </a:rPr>
              <a:t>24</a:t>
            </a:r>
            <a:r>
              <a:rPr lang="ko-KR" altLang="en-US" sz="700">
                <a:solidFill>
                  <a:schemeClr val="tx1"/>
                </a:solidFill>
              </a:rPr>
              <a:t>년 잔여 </a:t>
            </a:r>
            <a:r>
              <a:rPr lang="ko-KR" altLang="en-US" sz="700" err="1">
                <a:solidFill>
                  <a:schemeClr val="tx1"/>
                </a:solidFill>
              </a:rPr>
              <a:t>회차</a:t>
            </a:r>
            <a:endParaRPr lang="en-US" altLang="ko-KR" sz="700">
              <a:solidFill>
                <a:schemeClr val="tx1"/>
              </a:solidFill>
            </a:endParaRPr>
          </a:p>
          <a:p>
            <a:pPr algn="ctr"/>
            <a:r>
              <a:rPr lang="en-US" altLang="ko-KR" sz="900">
                <a:solidFill>
                  <a:schemeClr val="tx1"/>
                </a:solidFill>
              </a:rPr>
              <a:t>12.64</a:t>
            </a:r>
            <a:r>
              <a:rPr lang="ko-KR" altLang="en-US" sz="900">
                <a:solidFill>
                  <a:schemeClr val="tx1"/>
                </a:solidFill>
              </a:rPr>
              <a:t>억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D3B4FA0-E883-D0D0-8C13-22BF578CD5A5}"/>
              </a:ext>
            </a:extLst>
          </p:cNvPr>
          <p:cNvSpPr/>
          <p:nvPr/>
        </p:nvSpPr>
        <p:spPr>
          <a:xfrm>
            <a:off x="3403641" y="4351839"/>
            <a:ext cx="539440" cy="114071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>
                <a:solidFill>
                  <a:schemeClr val="tx1"/>
                </a:solidFill>
              </a:rPr>
              <a:t>WA </a:t>
            </a:r>
            <a:r>
              <a:rPr lang="ko-KR" altLang="en-US" sz="600" err="1">
                <a:solidFill>
                  <a:schemeClr val="tx1"/>
                </a:solidFill>
              </a:rPr>
              <a:t>미계약</a:t>
            </a:r>
            <a:r>
              <a:rPr lang="ko-KR" altLang="en-US" sz="600">
                <a:solidFill>
                  <a:schemeClr val="tx1"/>
                </a:solidFill>
              </a:rPr>
              <a:t> </a:t>
            </a:r>
            <a:r>
              <a:rPr lang="en-US" altLang="ko-KR" sz="600">
                <a:solidFill>
                  <a:schemeClr val="tx1"/>
                </a:solidFill>
              </a:rPr>
              <a:t>1.72</a:t>
            </a:r>
            <a:r>
              <a:rPr lang="ko-KR" altLang="en-US" sz="600">
                <a:solidFill>
                  <a:schemeClr val="tx1"/>
                </a:solidFill>
              </a:rPr>
              <a:t>억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7553A524-9D6F-C1A9-8B2B-2BE8E4672DBA}"/>
              </a:ext>
            </a:extLst>
          </p:cNvPr>
          <p:cNvCxnSpPr>
            <a:cxnSpLocks/>
          </p:cNvCxnSpPr>
          <p:nvPr/>
        </p:nvCxnSpPr>
        <p:spPr>
          <a:xfrm flipH="1">
            <a:off x="3346245" y="4055918"/>
            <a:ext cx="1907" cy="397636"/>
          </a:xfrm>
          <a:prstGeom prst="straightConnector1">
            <a:avLst/>
          </a:prstGeom>
          <a:ln w="6350">
            <a:solidFill>
              <a:schemeClr val="bg1">
                <a:lumMod val="6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>
            <a:extLst>
              <a:ext uri="{FF2B5EF4-FFF2-40B4-BE49-F238E27FC236}">
                <a16:creationId xmlns:a16="http://schemas.microsoft.com/office/drawing/2014/main" id="{98AF4F66-B06E-379E-9334-0A2B24990987}"/>
              </a:ext>
            </a:extLst>
          </p:cNvPr>
          <p:cNvSpPr txBox="1"/>
          <p:nvPr/>
        </p:nvSpPr>
        <p:spPr>
          <a:xfrm>
            <a:off x="3366820" y="3824894"/>
            <a:ext cx="604653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>
                <a:solidFill>
                  <a:srgbClr val="FF0000"/>
                </a:solidFill>
              </a:rPr>
              <a:t>+ 14.36</a:t>
            </a:r>
            <a:r>
              <a:rPr lang="ko-KR" altLang="en-US" sz="900">
                <a:solidFill>
                  <a:srgbClr val="FF0000"/>
                </a:solidFill>
              </a:rPr>
              <a:t>억</a:t>
            </a: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FCD03A17-A4FD-7808-E8CE-261356E5B83C}"/>
              </a:ext>
            </a:extLst>
          </p:cNvPr>
          <p:cNvCxnSpPr>
            <a:cxnSpLocks/>
          </p:cNvCxnSpPr>
          <p:nvPr/>
        </p:nvCxnSpPr>
        <p:spPr>
          <a:xfrm>
            <a:off x="5795882" y="5585138"/>
            <a:ext cx="873798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7BCE8CBC-6B83-5F15-23E2-08C3CA1447D6}"/>
              </a:ext>
            </a:extLst>
          </p:cNvPr>
          <p:cNvCxnSpPr>
            <a:cxnSpLocks/>
          </p:cNvCxnSpPr>
          <p:nvPr/>
        </p:nvCxnSpPr>
        <p:spPr>
          <a:xfrm>
            <a:off x="4750637" y="4846178"/>
            <a:ext cx="873798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636F9FD3-C957-0F29-2C32-BC761F8706AF}"/>
              </a:ext>
            </a:extLst>
          </p:cNvPr>
          <p:cNvCxnSpPr>
            <a:cxnSpLocks/>
          </p:cNvCxnSpPr>
          <p:nvPr/>
        </p:nvCxnSpPr>
        <p:spPr>
          <a:xfrm>
            <a:off x="3942793" y="4022501"/>
            <a:ext cx="534664" cy="823108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6D2E048D-8AF9-DC31-FBE8-7F0EB510103A}"/>
              </a:ext>
            </a:extLst>
          </p:cNvPr>
          <p:cNvCxnSpPr>
            <a:cxnSpLocks/>
          </p:cNvCxnSpPr>
          <p:nvPr/>
        </p:nvCxnSpPr>
        <p:spPr>
          <a:xfrm>
            <a:off x="5038596" y="4857279"/>
            <a:ext cx="521091" cy="711617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A4573665-67D2-DFEA-F9BD-E230BDD77A70}"/>
              </a:ext>
            </a:extLst>
          </p:cNvPr>
          <p:cNvCxnSpPr>
            <a:cxnSpLocks/>
          </p:cNvCxnSpPr>
          <p:nvPr/>
        </p:nvCxnSpPr>
        <p:spPr>
          <a:xfrm flipV="1">
            <a:off x="2851468" y="4061956"/>
            <a:ext cx="531656" cy="391598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오른쪽 중괄호 90">
            <a:extLst>
              <a:ext uri="{FF2B5EF4-FFF2-40B4-BE49-F238E27FC236}">
                <a16:creationId xmlns:a16="http://schemas.microsoft.com/office/drawing/2014/main" id="{3280DD90-8F52-9A5D-C541-86474037A48C}"/>
              </a:ext>
            </a:extLst>
          </p:cNvPr>
          <p:cNvSpPr/>
          <p:nvPr/>
        </p:nvSpPr>
        <p:spPr>
          <a:xfrm>
            <a:off x="7376160" y="4794320"/>
            <a:ext cx="215265" cy="1459021"/>
          </a:xfrm>
          <a:prstGeom prst="rightBrace">
            <a:avLst>
              <a:gd name="adj1" fmla="val 8333"/>
              <a:gd name="adj2" fmla="val 51567"/>
            </a:avLst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chemeClr val="bg1">
                    <a:lumMod val="95000"/>
                  </a:schemeClr>
                </a:solidFill>
              </a:ln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E507129-7637-8E7B-7EF8-7DA5D4693373}"/>
              </a:ext>
            </a:extLst>
          </p:cNvPr>
          <p:cNvSpPr txBox="1"/>
          <p:nvPr/>
        </p:nvSpPr>
        <p:spPr>
          <a:xfrm>
            <a:off x="3008295" y="4467756"/>
            <a:ext cx="103425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/>
              <a:t>- </a:t>
            </a:r>
            <a:r>
              <a:rPr lang="ko-KR" altLang="en-US" sz="700"/>
              <a:t>작년 비용 잔여 건 반영</a:t>
            </a:r>
            <a:endParaRPr lang="en-US" altLang="ko-KR" sz="700"/>
          </a:p>
          <a:p>
            <a:r>
              <a:rPr lang="en-US" altLang="ko-KR" sz="700"/>
              <a:t>- WA </a:t>
            </a:r>
            <a:r>
              <a:rPr lang="ko-KR" altLang="en-US" sz="700"/>
              <a:t>미계약분 </a:t>
            </a:r>
            <a:r>
              <a:rPr lang="en-US" altLang="ko-KR" sz="700"/>
              <a:t>4</a:t>
            </a:r>
            <a:r>
              <a:rPr lang="ko-KR" altLang="en-US" sz="700"/>
              <a:t>건 반영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A91EA287-A1B8-4698-97F0-2EEDACA8D703}"/>
              </a:ext>
            </a:extLst>
          </p:cNvPr>
          <p:cNvSpPr txBox="1"/>
          <p:nvPr/>
        </p:nvSpPr>
        <p:spPr>
          <a:xfrm>
            <a:off x="4009910" y="4842141"/>
            <a:ext cx="1529586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/>
              <a:t>- </a:t>
            </a:r>
            <a:r>
              <a:rPr lang="ko-KR" altLang="en-US" sz="700" err="1"/>
              <a:t>유지보수요율</a:t>
            </a:r>
            <a:r>
              <a:rPr lang="ko-KR" altLang="en-US" sz="700"/>
              <a:t> 및 단가 협의</a:t>
            </a:r>
            <a:endParaRPr lang="en-US" altLang="ko-KR" sz="700"/>
          </a:p>
          <a:p>
            <a:r>
              <a:rPr lang="en-US" altLang="ko-KR" sz="700"/>
              <a:t>- </a:t>
            </a:r>
            <a:r>
              <a:rPr lang="ko-KR" altLang="en-US" sz="700"/>
              <a:t>불필요 </a:t>
            </a:r>
            <a:r>
              <a:rPr lang="en-US" altLang="ko-KR" sz="700"/>
              <a:t>SW </a:t>
            </a:r>
            <a:r>
              <a:rPr lang="ko-KR" altLang="en-US" sz="700" err="1"/>
              <a:t>미갱신</a:t>
            </a:r>
            <a:r>
              <a:rPr lang="ko-KR" altLang="en-US" sz="700"/>
              <a:t> 및 수량 최적화</a:t>
            </a:r>
            <a:br>
              <a:rPr lang="en-US" altLang="ko-KR" sz="700"/>
            </a:br>
            <a:r>
              <a:rPr lang="en-US" altLang="ko-KR" sz="700"/>
              <a:t>-</a:t>
            </a:r>
            <a:r>
              <a:rPr lang="ko-KR" altLang="en-US" sz="700"/>
              <a:t> 대체 솔루션 적용 등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B16BFB8E-97D1-BCF8-4BA5-FB905458A44D}"/>
              </a:ext>
            </a:extLst>
          </p:cNvPr>
          <p:cNvSpPr txBox="1"/>
          <p:nvPr/>
        </p:nvSpPr>
        <p:spPr>
          <a:xfrm>
            <a:off x="5389726" y="4523684"/>
            <a:ext cx="95410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/>
              <a:t>- </a:t>
            </a:r>
            <a:r>
              <a:rPr lang="ko-KR" altLang="en-US" sz="700"/>
              <a:t>해외 법인 비용 배부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CF2C063-7EC9-7D37-E960-C4C0F631CE71}"/>
              </a:ext>
            </a:extLst>
          </p:cNvPr>
          <p:cNvSpPr txBox="1"/>
          <p:nvPr/>
        </p:nvSpPr>
        <p:spPr>
          <a:xfrm>
            <a:off x="7562516" y="5447158"/>
            <a:ext cx="968535" cy="63094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/>
              <a:t>48.66</a:t>
            </a:r>
            <a:r>
              <a:rPr lang="ko-KR" altLang="en-US" sz="700"/>
              <a:t>억 절감</a:t>
            </a:r>
            <a:r>
              <a:rPr lang="en-US" altLang="ko-KR" sz="700"/>
              <a:t>(50.5%</a:t>
            </a:r>
            <a:r>
              <a:rPr lang="ko-KR" altLang="en-US" sz="700"/>
              <a:t>↓</a:t>
            </a:r>
            <a:r>
              <a:rPr lang="en-US" altLang="ko-KR" sz="700"/>
              <a:t>)</a:t>
            </a:r>
          </a:p>
          <a:p>
            <a:endParaRPr lang="en-US" altLang="ko-KR" sz="700"/>
          </a:p>
          <a:p>
            <a:r>
              <a:rPr lang="ko-KR" altLang="en-US" sz="700"/>
              <a:t>해외법인 비용 포함한 </a:t>
            </a:r>
            <a:endParaRPr lang="en-US" altLang="ko-KR" sz="700"/>
          </a:p>
          <a:p>
            <a:r>
              <a:rPr lang="ko-KR" altLang="en-US" sz="700"/>
              <a:t>실질적 절감액은</a:t>
            </a:r>
            <a:endParaRPr lang="en-US" altLang="ko-KR" sz="700"/>
          </a:p>
          <a:p>
            <a:r>
              <a:rPr lang="en-US" altLang="ko-KR" sz="700"/>
              <a:t>20.36</a:t>
            </a:r>
            <a:r>
              <a:rPr lang="ko-KR" altLang="en-US" sz="700"/>
              <a:t>억</a:t>
            </a:r>
            <a:r>
              <a:rPr lang="en-US" altLang="ko-KR" sz="700"/>
              <a:t>(21.1%</a:t>
            </a:r>
            <a:r>
              <a:rPr lang="ko-KR" altLang="en-US" sz="700"/>
              <a:t>↓</a:t>
            </a:r>
            <a:r>
              <a:rPr lang="en-US" altLang="ko-KR" sz="700"/>
              <a:t>)</a:t>
            </a:r>
            <a:endParaRPr lang="ko-KR" altLang="en-US" sz="700"/>
          </a:p>
        </p:txBody>
      </p:sp>
    </p:spTree>
    <p:extLst>
      <p:ext uri="{BB962C8B-B14F-4D97-AF65-F5344CB8AC3E}">
        <p14:creationId xmlns:p14="http://schemas.microsoft.com/office/powerpoint/2010/main" val="344719295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표 1">
            <a:extLst>
              <a:ext uri="{FF2B5EF4-FFF2-40B4-BE49-F238E27FC236}">
                <a16:creationId xmlns:a16="http://schemas.microsoft.com/office/drawing/2014/main" id="{8A38A87F-4443-4478-82E8-3E765B92E1F5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519744" cy="5746282"/>
        </p:xfrm>
        <a:graphic>
          <a:graphicData uri="http://schemas.openxmlformats.org/drawingml/2006/table">
            <a:tbl>
              <a:tblPr/>
              <a:tblGrid>
                <a:gridCol w="561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5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54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08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64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안전진단 데이터 생태계 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전체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금주 특이사항 없습니다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lvl="0" indent="0" algn="l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  <a:r>
                        <a:rPr lang="en-US" altLang="ko-KR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lvl="0" indent="0" algn="l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lvl="0" indent="0" algn="l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10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indent="0" algn="l" rtl="0" eaLnBrk="1" fontAlgn="auto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배경</a:t>
                      </a:r>
                      <a:r>
                        <a:rPr lang="en-US" altLang="ko-KR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</a:t>
                      </a:r>
                      <a:endParaRPr lang="ko-KR" altLang="en-US" sz="2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안전진단을 위한 필드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연구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품질 데이터 간 통합 데이터 셋 구축</a:t>
                      </a:r>
                      <a:b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1)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데이터들 간 연계성 확인하여 통합 데이터 셋을 구성하고 분석가들 간 협업 가능 하도록 데이터 셋 관리가 필요함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2.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원활한 분석을 위한 환경 개선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2)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분석에 필요한 파일의 이동 작업을 최소화 하고 관련 부서와 협업을 위한 분석 환경 구성이 필요함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endParaRPr lang="ko-KR" altLang="en-US" sz="10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indent="0" algn="l" rtl="0" eaLnBrk="1" fontAlgn="auto" latinLnBrk="1" hangingPunct="1">
                        <a:lnSpc>
                          <a:spcPct val="130000"/>
                        </a:lnSpc>
                      </a:pPr>
                      <a:r>
                        <a:rPr lang="ko-KR" altLang="en-US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[진행 사항]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1.’25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PoC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1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PoC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대상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: ESS JH4, STLA PSA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2) 7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월말부터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PoC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준비를 시작하였으며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PoC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위한 임시 인프라 환경 구성 완료 하였습니다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.(~8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 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기존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CDO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분석클러스터를 활용하여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총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 서버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관리용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데이터 수집 및 처리용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데이터 분석용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),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storage 150T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구성 완료함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  -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현업이 요청한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vApp(</a:t>
                      </a:r>
                      <a:r>
                        <a:rPr lang="en-US" altLang="ko-KR" sz="1000" b="0" i="0" u="none" strike="noStrike" kern="1200" baseline="300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1)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VS Codium, </a:t>
                      </a:r>
                      <a:r>
                        <a:rPr lang="en-US" altLang="ko-KR" sz="1000" b="0" i="0" u="none" strike="noStrike" kern="1200" baseline="300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2)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VOID)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을 설치하여 권한부여 완료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(8/18)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3)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 수집 추가 건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외부 데이터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빅데이터분석팀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고객사 </a:t>
                      </a:r>
                      <a:r>
                        <a:rPr lang="en-US" altLang="ko-KR" sz="1000" b="0" i="0" u="none" strike="noStrike" kern="1200" baseline="300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3)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OTA/DRO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(PoC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필수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), ESS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(PoC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필수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외부데이터를 받기 위한 방화벽 작업을 완료하였으며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실제 데이터를 전송을 받아서 저장하기 위함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STLA  S3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버킷 권한 설정 하고 있습니다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t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내부 데이터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 QMS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분해분석데이터 추가 진행 완료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(~9/9), TOS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 해외법인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NB/WA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확산 완료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MI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는 미정임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t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                       </a:t>
                      </a:r>
                      <a:r>
                        <a:rPr lang="en-US" altLang="ko-KR" sz="1000" b="0" i="0" u="none" strike="noStrike" kern="1200" baseline="300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4)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EMAS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데이터는 기 수집되고 있는 것으로 분석가능한지 확인 필요하며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DAVINCI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내에 있는 생산데이터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(PoC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필수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-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팩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ID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기준으로 셀추적 데이터 추출은 완료하였으며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추가로 셀추적완료한 것들중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Pack ID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기준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 기준으로 조립공정에 대한 전수검사데이터를 요청하여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CNS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을 통해 임시테이블 형태로 데이터를 제공하였습니다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Data Prep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을 통해서 사용자가 직접 할 수 있는지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CNS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정영모 책임과 임시테이블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SQL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로직 같이 확인하였으며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12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월까지 테스트로 구현하여 가능여부 판단할 예정입니다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2. ’26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 투자준비 </a:t>
                      </a:r>
                      <a:b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1)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빅데이터분석팀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IT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인프라팀과 회의 하여 예상금액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억 산출하였으며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예산확보는 진단솔루션담당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김철택 상무님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에서 진행 하기로 함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26.09</a:t>
                      </a:r>
                      <a:r>
                        <a:rPr lang="ko-KR" altLang="en-US" sz="18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오영택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endParaRPr lang="en-US" altLang="ko-KR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박정환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제목 1">
            <a:extLst>
              <a:ext uri="{FF2B5EF4-FFF2-40B4-BE49-F238E27FC236}">
                <a16:creationId xmlns:a16="http://schemas.microsoft.com/office/drawing/2014/main" id="{DF3912C3-2160-4F52-8D31-7D94A26A4F1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BD4ECF6-3496-4CDC-BBC5-57E6B6F4654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24580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+mj-ea"/>
                <a:ea typeface="+mj-ea"/>
              </a:rPr>
              <a:t>■ 안전진단 데이터 생태계 구축</a:t>
            </a: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BE4C27CD-44CC-44E7-9F73-43C133C6C464}"/>
              </a:ext>
            </a:extLst>
          </p:cNvPr>
          <p:cNvSpPr txBox="1">
            <a:spLocks/>
          </p:cNvSpPr>
          <p:nvPr/>
        </p:nvSpPr>
        <p:spPr>
          <a:xfrm>
            <a:off x="8796789" y="404687"/>
            <a:ext cx="85600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 err="1">
                <a:solidFill>
                  <a:prstClr val="black"/>
                </a:solidFill>
                <a:latin typeface="+mn-ea"/>
              </a:rPr>
              <a:t>오영택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0373BB9-D390-4047-A064-8F4A4B80B416}"/>
              </a:ext>
            </a:extLst>
          </p:cNvPr>
          <p:cNvSpPr txBox="1"/>
          <p:nvPr/>
        </p:nvSpPr>
        <p:spPr>
          <a:xfrm>
            <a:off x="7860458" y="558575"/>
            <a:ext cx="1936886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12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/16 (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79B09EB-D2F4-4A63-9F00-F730F7B668CB}"/>
              </a:ext>
            </a:extLst>
          </p:cNvPr>
          <p:cNvSpPr txBox="1"/>
          <p:nvPr/>
        </p:nvSpPr>
        <p:spPr>
          <a:xfrm>
            <a:off x="5776546" y="558575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46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6A7E0C6-E792-43CB-9175-CB3E427E007D}"/>
              </a:ext>
            </a:extLst>
          </p:cNvPr>
          <p:cNvSpPr/>
          <p:nvPr/>
        </p:nvSpPr>
        <p:spPr>
          <a:xfrm>
            <a:off x="1255585" y="1736493"/>
            <a:ext cx="734037" cy="191010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72000" tIns="36000" rIns="72000" bIns="36000" rtlCol="0" anchor="t"/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Start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(’25.7</a:t>
            </a:r>
            <a:r>
              <a:rPr kumimoji="1" lang="ko-KR" altLang="en-US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월말</a:t>
            </a: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kumimoji="1" lang="en-US" altLang="ko-KR" sz="1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A3113AC-A555-4C23-859D-44955EE2CBF3}"/>
              </a:ext>
            </a:extLst>
          </p:cNvPr>
          <p:cNvSpPr/>
          <p:nvPr/>
        </p:nvSpPr>
        <p:spPr>
          <a:xfrm>
            <a:off x="1992026" y="1736493"/>
            <a:ext cx="1488684" cy="221490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72000" tIns="36000" rIns="72000" bIns="36000" rtlCol="0" anchor="t"/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kumimoji="1" lang="en-US" altLang="ko-KR" sz="1000" kern="0" err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PoC</a:t>
            </a: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kumimoji="1" lang="ko-KR" altLang="en-US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임시 인프라 구성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(‘25.8)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endParaRPr kumimoji="1" lang="en-US" altLang="ko-KR" sz="1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F0BF24A-1BB2-4B47-93D3-5C43804CDE09}"/>
              </a:ext>
            </a:extLst>
          </p:cNvPr>
          <p:cNvSpPr/>
          <p:nvPr/>
        </p:nvSpPr>
        <p:spPr>
          <a:xfrm>
            <a:off x="3136174" y="1736493"/>
            <a:ext cx="1488684" cy="22374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72000" tIns="36000" rIns="72000" bIns="36000" rtlCol="0" anchor="t"/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PoC </a:t>
            </a:r>
            <a:r>
              <a:rPr kumimoji="1" lang="ko-KR" altLang="en-US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데이터셋 구성 </a:t>
            </a:r>
            <a:r>
              <a:rPr kumimoji="1" lang="en-US" altLang="ko-KR" sz="1000" strike="sngStrike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(‘25.9 </a:t>
            </a: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‘25.11)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endParaRPr kumimoji="1" lang="en-US" altLang="ko-KR" sz="1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4004DD3-EEB3-4E4F-919D-DA4148D60851}"/>
              </a:ext>
            </a:extLst>
          </p:cNvPr>
          <p:cNvSpPr/>
          <p:nvPr/>
        </p:nvSpPr>
        <p:spPr>
          <a:xfrm>
            <a:off x="4454329" y="1736493"/>
            <a:ext cx="1051866" cy="216688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72000" tIns="36000" rIns="72000" bIns="36000" rtlCol="0" anchor="t"/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PoC </a:t>
            </a:r>
            <a:r>
              <a:rPr kumimoji="1" lang="ko-KR" altLang="en-US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성능 점검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kumimoji="1" lang="en-US" altLang="ko-KR" sz="1000" strike="sngStrike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‘25.10 </a:t>
            </a: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‘25.12)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endParaRPr kumimoji="1" lang="en-US" altLang="ko-KR" sz="1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AF71D61-92B2-4F17-B6C7-F7545F91E0EC}"/>
              </a:ext>
            </a:extLst>
          </p:cNvPr>
          <p:cNvSpPr/>
          <p:nvPr/>
        </p:nvSpPr>
        <p:spPr>
          <a:xfrm>
            <a:off x="5174216" y="1736493"/>
            <a:ext cx="2314632" cy="163953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72000" tIns="36000" rIns="72000" bIns="36000" rtlCol="0" anchor="t"/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kumimoji="1" lang="ko-KR" altLang="en-US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인프라</a:t>
            </a: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kumimoji="1" lang="ko-KR" altLang="en-US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데이터셋</a:t>
            </a: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</a:t>
            </a:r>
            <a:r>
              <a:rPr kumimoji="1" lang="ko-KR" altLang="en-US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분석환경 구성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(‘26.6)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endParaRPr kumimoji="1" lang="en-US" altLang="ko-KR" sz="1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0410E9C-7E49-44E2-A7C0-26B645FC5555}"/>
              </a:ext>
            </a:extLst>
          </p:cNvPr>
          <p:cNvSpPr/>
          <p:nvPr/>
        </p:nvSpPr>
        <p:spPr>
          <a:xfrm>
            <a:off x="7013045" y="1736493"/>
            <a:ext cx="2314632" cy="163953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lIns="72000" tIns="36000" rIns="72000" bIns="36000" rtlCol="0" anchor="t"/>
          <a:lstStyle/>
          <a:p>
            <a:pPr marR="0" lvl="0" algn="ctr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kumimoji="1" lang="ko-KR" altLang="en-US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성능점검 및 오픈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(‘26.9)</a:t>
            </a:r>
            <a:br>
              <a:rPr kumimoji="1" lang="en-US" altLang="ko-KR" sz="1000" kern="0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</a:br>
            <a:endParaRPr kumimoji="1" lang="en-US" altLang="ko-KR" sz="1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228293C-9E84-4DF2-9F32-498DAEB770EA}"/>
              </a:ext>
            </a:extLst>
          </p:cNvPr>
          <p:cNvSpPr txBox="1"/>
          <p:nvPr/>
        </p:nvSpPr>
        <p:spPr>
          <a:xfrm>
            <a:off x="4308856" y="5837909"/>
            <a:ext cx="4881910" cy="3693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600">
                <a:solidFill>
                  <a:srgbClr val="217A21"/>
                </a:solidFill>
              </a:rPr>
              <a:t>3)  OTA </a:t>
            </a:r>
            <a:r>
              <a:rPr lang="ko-KR" altLang="en-US" sz="600">
                <a:solidFill>
                  <a:srgbClr val="217A21"/>
                </a:solidFill>
              </a:rPr>
              <a:t>데이터</a:t>
            </a:r>
            <a:r>
              <a:rPr lang="en-US" altLang="ko-KR" sz="600">
                <a:solidFill>
                  <a:srgbClr val="217A21"/>
                </a:solidFill>
              </a:rPr>
              <a:t>:</a:t>
            </a:r>
            <a:r>
              <a:rPr lang="ko-KR" altLang="en-US" sz="600">
                <a:solidFill>
                  <a:srgbClr val="217A21"/>
                </a:solidFill>
              </a:rPr>
              <a:t> </a:t>
            </a:r>
            <a:r>
              <a:rPr lang="en-US" altLang="ko-KR" sz="600">
                <a:solidFill>
                  <a:srgbClr val="217A21"/>
                </a:solidFill>
              </a:rPr>
              <a:t>Over The Air, </a:t>
            </a:r>
            <a:r>
              <a:rPr lang="ko-KR" altLang="en-US" sz="600">
                <a:solidFill>
                  <a:srgbClr val="217A21"/>
                </a:solidFill>
              </a:rPr>
              <a:t> 차량 주행 중에 실시간으로 수집되는 데이터</a:t>
            </a:r>
            <a:r>
              <a:rPr lang="en-US" altLang="ko-KR" sz="600">
                <a:solidFill>
                  <a:srgbClr val="217A21"/>
                </a:solidFill>
              </a:rPr>
              <a:t>(Ex: </a:t>
            </a:r>
            <a:r>
              <a:rPr lang="ko-KR" altLang="en-US" sz="600">
                <a:solidFill>
                  <a:srgbClr val="217A21"/>
                </a:solidFill>
              </a:rPr>
              <a:t>배터리 팩의 </a:t>
            </a:r>
            <a:r>
              <a:rPr lang="ko-KR" altLang="en-US" sz="600" err="1">
                <a:solidFill>
                  <a:srgbClr val="217A21"/>
                </a:solidFill>
              </a:rPr>
              <a:t>밸런싱</a:t>
            </a:r>
            <a:r>
              <a:rPr lang="en-US" altLang="ko-KR" sz="600">
                <a:solidFill>
                  <a:srgbClr val="217A21"/>
                </a:solidFill>
              </a:rPr>
              <a:t>, </a:t>
            </a:r>
            <a:r>
              <a:rPr lang="ko-KR" altLang="en-US" sz="600">
                <a:solidFill>
                  <a:srgbClr val="217A21"/>
                </a:solidFill>
              </a:rPr>
              <a:t>전압</a:t>
            </a:r>
            <a:r>
              <a:rPr lang="en-US" altLang="ko-KR" sz="600">
                <a:solidFill>
                  <a:srgbClr val="217A21"/>
                </a:solidFill>
              </a:rPr>
              <a:t>, </a:t>
            </a:r>
            <a:r>
              <a:rPr lang="ko-KR" altLang="en-US" sz="600">
                <a:solidFill>
                  <a:srgbClr val="217A21"/>
                </a:solidFill>
              </a:rPr>
              <a:t>온도 등</a:t>
            </a:r>
            <a:r>
              <a:rPr lang="en-US" altLang="ko-KR" sz="600">
                <a:solidFill>
                  <a:srgbClr val="217A21"/>
                </a:solidFill>
              </a:rPr>
              <a:t>) </a:t>
            </a:r>
          </a:p>
          <a:p>
            <a:r>
              <a:rPr lang="en-US" altLang="ko-KR" sz="600">
                <a:solidFill>
                  <a:srgbClr val="217A21"/>
                </a:solidFill>
              </a:rPr>
              <a:t>      DRO </a:t>
            </a:r>
            <a:r>
              <a:rPr lang="ko-KR" altLang="en-US" sz="600">
                <a:solidFill>
                  <a:srgbClr val="217A21"/>
                </a:solidFill>
              </a:rPr>
              <a:t>데이터</a:t>
            </a:r>
            <a:r>
              <a:rPr lang="en-US" altLang="ko-KR" sz="600">
                <a:solidFill>
                  <a:srgbClr val="217A21"/>
                </a:solidFill>
              </a:rPr>
              <a:t>: Data Recorder Over The Air), </a:t>
            </a:r>
            <a:r>
              <a:rPr lang="ko-KR" altLang="en-US" sz="600">
                <a:solidFill>
                  <a:srgbClr val="217A21"/>
                </a:solidFill>
              </a:rPr>
              <a:t>데이터는 무선으로 차량 충전 시 수집되는 데이터</a:t>
            </a:r>
            <a:r>
              <a:rPr lang="en-US" altLang="ko-KR" sz="600">
                <a:solidFill>
                  <a:srgbClr val="217A21"/>
                </a:solidFill>
              </a:rPr>
              <a:t>(Ex: </a:t>
            </a:r>
            <a:r>
              <a:rPr lang="ko-KR" altLang="en-US" sz="600">
                <a:solidFill>
                  <a:srgbClr val="217A21"/>
                </a:solidFill>
              </a:rPr>
              <a:t>충전 중 발생하는 </a:t>
            </a:r>
            <a:r>
              <a:rPr lang="ko-KR" altLang="en-US" sz="600" err="1">
                <a:solidFill>
                  <a:srgbClr val="217A21"/>
                </a:solidFill>
              </a:rPr>
              <a:t>전류적산</a:t>
            </a:r>
            <a:r>
              <a:rPr lang="en-US" altLang="ko-KR" sz="600">
                <a:solidFill>
                  <a:srgbClr val="217A21"/>
                </a:solidFill>
              </a:rPr>
              <a:t>, SOC </a:t>
            </a:r>
            <a:r>
              <a:rPr lang="ko-KR" altLang="en-US" sz="600">
                <a:solidFill>
                  <a:srgbClr val="217A21"/>
                </a:solidFill>
              </a:rPr>
              <a:t>변화 등</a:t>
            </a:r>
            <a:r>
              <a:rPr lang="en-US" altLang="ko-KR" sz="600">
                <a:solidFill>
                  <a:srgbClr val="217A21"/>
                </a:solidFill>
              </a:rPr>
              <a:t>)</a:t>
            </a:r>
          </a:p>
          <a:p>
            <a:r>
              <a:rPr lang="en-US" altLang="ko-KR" sz="600">
                <a:solidFill>
                  <a:srgbClr val="217A21"/>
                </a:solidFill>
              </a:rPr>
              <a:t>4)  EMAS : </a:t>
            </a:r>
            <a:r>
              <a:rPr lang="ko-KR" altLang="en-US" sz="600">
                <a:solidFill>
                  <a:srgbClr val="217A21"/>
                </a:solidFill>
              </a:rPr>
              <a:t> </a:t>
            </a:r>
            <a:r>
              <a:rPr lang="en-US" altLang="ko-KR" sz="600">
                <a:solidFill>
                  <a:srgbClr val="217A21"/>
                </a:solidFill>
              </a:rPr>
              <a:t>ESS </a:t>
            </a:r>
            <a:r>
              <a:rPr lang="ko-KR" altLang="en-US" sz="600">
                <a:solidFill>
                  <a:srgbClr val="217A21"/>
                </a:solidFill>
              </a:rPr>
              <a:t>배터리의 이력 및 관련 정보를 관리하는 시스템</a:t>
            </a:r>
            <a:r>
              <a:rPr lang="en-US" altLang="ko-KR" sz="600">
                <a:solidFill>
                  <a:srgbClr val="217A21"/>
                </a:solidFill>
              </a:rPr>
              <a:t>  </a:t>
            </a:r>
            <a:endParaRPr lang="ko-KR" altLang="en-US" sz="600">
              <a:solidFill>
                <a:srgbClr val="217A2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7280726-2AD3-4052-93E0-C3DB4950A687}"/>
              </a:ext>
            </a:extLst>
          </p:cNvPr>
          <p:cNvSpPr txBox="1"/>
          <p:nvPr/>
        </p:nvSpPr>
        <p:spPr>
          <a:xfrm>
            <a:off x="2652905" y="4255732"/>
            <a:ext cx="4881910" cy="27699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600">
                <a:solidFill>
                  <a:srgbClr val="217A21"/>
                </a:solidFill>
              </a:rPr>
              <a:t>1)  VS Codium : </a:t>
            </a:r>
            <a:r>
              <a:rPr lang="ko-KR" altLang="en-US" sz="600">
                <a:solidFill>
                  <a:srgbClr val="217A21"/>
                </a:solidFill>
              </a:rPr>
              <a:t>무료 코드 편집기</a:t>
            </a:r>
            <a:r>
              <a:rPr lang="en-US" altLang="ko-KR" sz="600">
                <a:solidFill>
                  <a:srgbClr val="217A21"/>
                </a:solidFill>
              </a:rPr>
              <a:t>, </a:t>
            </a:r>
            <a:r>
              <a:rPr lang="ko-KR" altLang="en-US" sz="600">
                <a:solidFill>
                  <a:srgbClr val="217A21"/>
                </a:solidFill>
              </a:rPr>
              <a:t>마이크로소프트가 만든 </a:t>
            </a:r>
            <a:r>
              <a:rPr lang="en-US" altLang="ko-KR" sz="600">
                <a:solidFill>
                  <a:srgbClr val="217A21"/>
                </a:solidFill>
              </a:rPr>
              <a:t>Visual Studio</a:t>
            </a:r>
            <a:r>
              <a:rPr lang="ko-KR" altLang="en-US" sz="600">
                <a:solidFill>
                  <a:srgbClr val="217A21"/>
                </a:solidFill>
              </a:rPr>
              <a:t>기반이며 오픈소스임</a:t>
            </a:r>
            <a:r>
              <a:rPr lang="en-US" altLang="ko-KR" sz="600">
                <a:solidFill>
                  <a:srgbClr val="217A21"/>
                </a:solidFill>
              </a:rPr>
              <a:t>.  </a:t>
            </a:r>
          </a:p>
          <a:p>
            <a:r>
              <a:rPr lang="en-US" altLang="ko-KR" sz="600">
                <a:solidFill>
                  <a:srgbClr val="217A21"/>
                </a:solidFill>
              </a:rPr>
              <a:t>2)  VOID: VS Code </a:t>
            </a:r>
            <a:r>
              <a:rPr lang="ko-KR" altLang="en-US" sz="600">
                <a:solidFill>
                  <a:srgbClr val="217A21"/>
                </a:solidFill>
              </a:rPr>
              <a:t>기반의 오픈소스 </a:t>
            </a:r>
            <a:r>
              <a:rPr lang="en-US" altLang="ko-KR" sz="600">
                <a:solidFill>
                  <a:srgbClr val="217A21"/>
                </a:solidFill>
              </a:rPr>
              <a:t>AI </a:t>
            </a:r>
            <a:r>
              <a:rPr lang="ko-KR" altLang="en-US" sz="600">
                <a:solidFill>
                  <a:srgbClr val="217A21"/>
                </a:solidFill>
              </a:rPr>
              <a:t>코드 편집기로 사용자가 </a:t>
            </a:r>
            <a:r>
              <a:rPr lang="en-US" altLang="ko-KR" sz="600">
                <a:solidFill>
                  <a:srgbClr val="217A21"/>
                </a:solidFill>
              </a:rPr>
              <a:t>AI </a:t>
            </a:r>
            <a:r>
              <a:rPr lang="ko-KR" altLang="en-US" sz="600">
                <a:solidFill>
                  <a:srgbClr val="217A21"/>
                </a:solidFill>
              </a:rPr>
              <a:t>모델 선택하여 코드를 생성 및 편집 할 수 있음</a:t>
            </a:r>
            <a:r>
              <a:rPr lang="en-US" altLang="ko-KR" sz="600">
                <a:solidFill>
                  <a:srgbClr val="217A21"/>
                </a:solidFill>
              </a:rPr>
              <a:t>.</a:t>
            </a:r>
            <a:endParaRPr lang="ko-KR" altLang="en-US" sz="600">
              <a:solidFill>
                <a:srgbClr val="217A21"/>
              </a:solidFill>
            </a:endParaRPr>
          </a:p>
        </p:txBody>
      </p:sp>
      <p:graphicFrame>
        <p:nvGraphicFramePr>
          <p:cNvPr id="2" name="개체 1">
            <a:hlinkClick r:id="" action="ppaction://ole?verb=0"/>
            <a:extLst>
              <a:ext uri="{FF2B5EF4-FFF2-40B4-BE49-F238E27FC236}">
                <a16:creationId xmlns:a16="http://schemas.microsoft.com/office/drawing/2014/main" id="{C69A3983-AF1E-4332-86FE-C812B7E3451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164901" y="6244394"/>
          <a:ext cx="440923" cy="38325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Presentation" showAsIcon="1" r:id="rId3" imgW="914400" imgH="792360" progId="PowerPoint.Show.12">
                  <p:embed/>
                </p:oleObj>
              </mc:Choice>
              <mc:Fallback>
                <p:oleObj name="Presentation" showAsIcon="1" r:id="rId3" imgW="914400" imgH="792360" progId="PowerPoint.Show.12">
                  <p:embed/>
                  <p:pic>
                    <p:nvPicPr>
                      <p:cNvPr id="2" name="개체 1">
                        <a:hlinkClick r:id="" action="ppaction://ole?verb=0"/>
                        <a:extLst>
                          <a:ext uri="{FF2B5EF4-FFF2-40B4-BE49-F238E27FC236}">
                            <a16:creationId xmlns:a16="http://schemas.microsoft.com/office/drawing/2014/main" id="{C69A3983-AF1E-4332-86FE-C812B7E345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8164901" y="6244394"/>
                        <a:ext cx="440923" cy="38325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804EF69-B726-07F9-EEDC-889B33BC9DF4}"/>
              </a:ext>
            </a:extLst>
          </p:cNvPr>
          <p:cNvCxnSpPr>
            <a:cxnSpLocks/>
            <a:stCxn id="33" idx="6"/>
            <a:endCxn id="49" idx="2"/>
          </p:cNvCxnSpPr>
          <p:nvPr/>
        </p:nvCxnSpPr>
        <p:spPr>
          <a:xfrm flipV="1">
            <a:off x="1713597" y="1577533"/>
            <a:ext cx="6365285" cy="152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타원 32">
            <a:extLst>
              <a:ext uri="{FF2B5EF4-FFF2-40B4-BE49-F238E27FC236}">
                <a16:creationId xmlns:a16="http://schemas.microsoft.com/office/drawing/2014/main" id="{3970FCD4-3C11-49B8-811F-44327E90AB84}"/>
              </a:ext>
            </a:extLst>
          </p:cNvPr>
          <p:cNvSpPr/>
          <p:nvPr/>
        </p:nvSpPr>
        <p:spPr>
          <a:xfrm>
            <a:off x="1574204" y="1516370"/>
            <a:ext cx="139393" cy="1528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28CE2EC9-065E-4FF8-A212-8661713089C6}"/>
              </a:ext>
            </a:extLst>
          </p:cNvPr>
          <p:cNvSpPr/>
          <p:nvPr/>
        </p:nvSpPr>
        <p:spPr>
          <a:xfrm>
            <a:off x="2622156" y="1516370"/>
            <a:ext cx="139393" cy="1528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82DCCC8F-48CC-4AE2-9115-FF0A01E8B240}"/>
              </a:ext>
            </a:extLst>
          </p:cNvPr>
          <p:cNvSpPr/>
          <p:nvPr/>
        </p:nvSpPr>
        <p:spPr>
          <a:xfrm>
            <a:off x="4906954" y="1522085"/>
            <a:ext cx="139393" cy="152805"/>
          </a:xfrm>
          <a:prstGeom prst="ellipse">
            <a:avLst/>
          </a:prstGeom>
          <a:solidFill>
            <a:srgbClr val="0000FF"/>
          </a:solidFill>
          <a:ln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46D8A5A-FA21-4E32-AFF2-867D954D1355}"/>
              </a:ext>
            </a:extLst>
          </p:cNvPr>
          <p:cNvSpPr/>
          <p:nvPr/>
        </p:nvSpPr>
        <p:spPr>
          <a:xfrm>
            <a:off x="6301013" y="1508750"/>
            <a:ext cx="139393" cy="152805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18BCC73-F0C8-4475-816E-9F975D365539}"/>
              </a:ext>
            </a:extLst>
          </p:cNvPr>
          <p:cNvSpPr/>
          <p:nvPr/>
        </p:nvSpPr>
        <p:spPr>
          <a:xfrm>
            <a:off x="8078882" y="1501130"/>
            <a:ext cx="139393" cy="152805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EB3E44E-8CC5-53F3-A436-C4AFB880596E}"/>
              </a:ext>
            </a:extLst>
          </p:cNvPr>
          <p:cNvSpPr/>
          <p:nvPr/>
        </p:nvSpPr>
        <p:spPr>
          <a:xfrm>
            <a:off x="3728961" y="1508750"/>
            <a:ext cx="139393" cy="1528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1440337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9C2E0-E27B-9468-4077-1E5D84C81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77274AB-BF1E-2B59-0E37-A2D8A90173A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334D889E-A719-5A76-8530-78081E41C5C4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503202" cy="5746282"/>
        </p:xfrm>
        <a:graphic>
          <a:graphicData uri="http://schemas.openxmlformats.org/drawingml/2006/table">
            <a:tbl>
              <a:tblPr/>
              <a:tblGrid>
                <a:gridCol w="5607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2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5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550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공장 동</a:t>
                      </a: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/</a:t>
                      </a: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라인 증설 및 변화대응</a:t>
                      </a:r>
                    </a:p>
                  </a:txBody>
                  <a:tcPr marL="36000" marR="6273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전체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26년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김영선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 err="1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지원경P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21D7DB0-F5D5-30DC-33C0-7CD43CA7DF43}"/>
              </a:ext>
            </a:extLst>
          </p:cNvPr>
          <p:cNvSpPr txBox="1"/>
          <p:nvPr/>
        </p:nvSpPr>
        <p:spPr>
          <a:xfrm>
            <a:off x="7979867" y="572550"/>
            <a:ext cx="1707199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</a:t>
            </a:r>
            <a:r>
              <a:rPr lang="en-US" altLang="ko-KR" sz="1000">
                <a:latin typeface="맑은 고딕"/>
                <a:ea typeface="맑은 고딕"/>
                <a:cs typeface="Malgun Gothic Semilight"/>
              </a:rPr>
              <a:t> 12/16(화)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 11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6DEE5F-7FF9-85FE-FBF1-075831A7C253}"/>
              </a:ext>
            </a:extLst>
          </p:cNvPr>
          <p:cNvSpPr txBox="1"/>
          <p:nvPr/>
        </p:nvSpPr>
        <p:spPr>
          <a:xfrm>
            <a:off x="5447490" y="558575"/>
            <a:ext cx="2580050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49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935F6F9-1F30-4EAB-3AE8-85D54956C9A2}"/>
              </a:ext>
            </a:extLst>
          </p:cNvPr>
          <p:cNvSpPr/>
          <p:nvPr/>
        </p:nvSpPr>
        <p:spPr>
          <a:xfrm>
            <a:off x="1302937" y="1081729"/>
            <a:ext cx="7148336" cy="5372998"/>
          </a:xfrm>
          <a:prstGeom prst="rect">
            <a:avLst/>
          </a:prstGeom>
        </p:spPr>
        <p:txBody>
          <a:bodyPr wrap="square" lIns="91440" tIns="45720" rIns="91440" bIns="45720" anchor="t">
            <a:noAutofit/>
          </a:bodyPr>
          <a:lstStyle/>
          <a:p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금주(</a:t>
            </a:r>
            <a:r>
              <a:rPr lang="ko-KR" altLang="en-US" sz="1000" err="1">
                <a:solidFill>
                  <a:srgbClr val="0000FF"/>
                </a:solidFill>
                <a:latin typeface="+mn-ea"/>
                <a:cs typeface="Malgun Gothic Semilight"/>
              </a:rPr>
              <a:t>W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51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)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: 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SUS CAN SPC 대응 개발/Test완료 하였고,  12월 16일 배포하였습니다. </a:t>
            </a:r>
            <a:endParaRPr lang="ko-KR"/>
          </a:p>
          <a:p>
            <a:endParaRPr lang="en-US" altLang="ko-KR" sz="1000" b="1">
              <a:latin typeface="+mn-ea"/>
              <a:cs typeface="Malgun Gothic Semilight"/>
            </a:endParaRPr>
          </a:p>
          <a:p>
            <a:r>
              <a:rPr lang="ko-KR" altLang="en-US" sz="1000" b="1">
                <a:latin typeface="+mn-ea"/>
                <a:cs typeface="Malgun Gothic Semilight"/>
              </a:rPr>
              <a:t>▣ </a:t>
            </a:r>
            <a:r>
              <a:rPr lang="en-US" altLang="ko-KR" sz="1000" b="1">
                <a:latin typeface="+mn-ea"/>
                <a:cs typeface="Malgun Gothic Semilight"/>
              </a:rPr>
              <a:t>OC5 </a:t>
            </a:r>
            <a:r>
              <a:rPr lang="ko-KR" altLang="en-US" sz="1000" b="1">
                <a:latin typeface="+mn-ea"/>
                <a:cs typeface="Malgun Gothic Semilight"/>
              </a:rPr>
              <a:t>각형 </a:t>
            </a:r>
            <a:r>
              <a:rPr lang="en-US" altLang="ko-KR" sz="1000" b="1">
                <a:latin typeface="+mn-ea"/>
                <a:cs typeface="Malgun Gothic Semilight"/>
              </a:rPr>
              <a:t>T/T Pilot</a:t>
            </a:r>
            <a:endParaRPr lang="ko-KR" altLang="en-US" sz="1000" b="1">
              <a:latin typeface="+mn-ea"/>
              <a:cs typeface="Malgun Gothic Semilight"/>
            </a:endParaRPr>
          </a:p>
          <a:p>
            <a:r>
              <a:rPr lang="en-US" altLang="ko-KR" sz="1000"/>
              <a:t>[</a:t>
            </a:r>
            <a:r>
              <a:rPr lang="ko-KR" altLang="en-US" sz="1000"/>
              <a:t>배경</a:t>
            </a:r>
            <a:r>
              <a:rPr lang="en-US" altLang="ko-KR" sz="1000"/>
              <a:t>] </a:t>
            </a:r>
            <a:endParaRPr lang="ko-KR" altLang="en-US" sz="1000"/>
          </a:p>
          <a:p>
            <a:r>
              <a:rPr lang="en-US" altLang="ko-KR" sz="1000"/>
              <a:t>OC 5</a:t>
            </a:r>
            <a:r>
              <a:rPr lang="ko-KR" altLang="en-US" sz="1000"/>
              <a:t>동 각형 </a:t>
            </a:r>
            <a:r>
              <a:rPr lang="ko-KR" altLang="en-US" sz="1000">
                <a:latin typeface="+mn-ea"/>
              </a:rPr>
              <a:t>공정품질 </a:t>
            </a:r>
            <a:r>
              <a:rPr lang="ko-KR" altLang="en-US" sz="1000" err="1">
                <a:latin typeface="+mn-ea"/>
                <a:cs typeface="Arial"/>
              </a:rPr>
              <a:t>양산성</a:t>
            </a:r>
            <a:r>
              <a:rPr lang="ko-KR" altLang="en-US" sz="1000">
                <a:latin typeface="+mn-ea"/>
                <a:cs typeface="Arial"/>
              </a:rPr>
              <a:t> 사전 검증을 위한 </a:t>
            </a:r>
            <a:r>
              <a:rPr lang="en-US" altLang="ko-KR" sz="1000">
                <a:latin typeface="+mn-ea"/>
                <a:cs typeface="Arial"/>
              </a:rPr>
              <a:t>TT Pilot </a:t>
            </a:r>
            <a:r>
              <a:rPr lang="ko-KR" altLang="en-US" sz="1000">
                <a:latin typeface="+mn-ea"/>
                <a:cs typeface="Arial"/>
              </a:rPr>
              <a:t>라인을 구축하여 신규 </a:t>
            </a:r>
            <a:r>
              <a:rPr lang="ko-KR" altLang="en-US" sz="1000" err="1">
                <a:latin typeface="+mn-ea"/>
                <a:cs typeface="Arial"/>
              </a:rPr>
              <a:t>폼팩터와</a:t>
            </a:r>
            <a:r>
              <a:rPr lang="ko-KR" altLang="en-US" sz="1000">
                <a:latin typeface="+mn-ea"/>
                <a:cs typeface="Arial"/>
              </a:rPr>
              <a:t> 공정에 대한 </a:t>
            </a:r>
            <a:r>
              <a:rPr lang="en-US" altLang="ko-KR" sz="1000">
                <a:latin typeface="+mn-ea"/>
                <a:cs typeface="Arial"/>
              </a:rPr>
              <a:t>DAVINCI</a:t>
            </a:r>
            <a:r>
              <a:rPr lang="ko-KR" altLang="en-US" sz="1000">
                <a:latin typeface="+mn-ea"/>
                <a:cs typeface="Arial"/>
              </a:rPr>
              <a:t> 구축 대응 필요</a:t>
            </a:r>
            <a:endParaRPr lang="en-US" altLang="ko-KR" sz="1000">
              <a:latin typeface="+mn-ea"/>
              <a:cs typeface="Arial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진행 사항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]</a:t>
            </a: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 -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원천시스템 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(MES, QMS, SPC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등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)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데이터 발생 확인 후 데이터 수집 완료하였습니다</a:t>
            </a:r>
            <a:r>
              <a:rPr lang="en-US" altLang="ko-KR" sz="1000">
                <a:latin typeface="+mn-ea"/>
                <a:sym typeface="Wingdings" panose="05000000000000000000" pitchFamily="2" charset="2"/>
              </a:rPr>
              <a:t>.</a:t>
            </a:r>
            <a:br>
              <a:rPr lang="en-US" altLang="ko-KR" sz="1000">
                <a:latin typeface="+mn-ea"/>
                <a:cs typeface="+mn-lt"/>
              </a:rPr>
            </a:br>
            <a:r>
              <a:rPr lang="en-US" altLang="ko-KR" sz="1000">
                <a:latin typeface="+mn-ea"/>
                <a:cs typeface="+mn-lt"/>
                <a:sym typeface="Wingdings" panose="05000000000000000000" pitchFamily="2" charset="2"/>
              </a:rPr>
              <a:t>  - </a:t>
            </a:r>
            <a:r>
              <a:rPr lang="ko-KR" altLang="en-US" sz="1000">
                <a:latin typeface="+mn-ea"/>
                <a:cs typeface="+mn-lt"/>
                <a:sym typeface="Wingdings" panose="05000000000000000000" pitchFamily="2" charset="2"/>
              </a:rPr>
              <a:t>라인 형변환으로 인해 </a:t>
            </a:r>
            <a:r>
              <a:rPr lang="ko-KR" altLang="en-US" sz="1000" err="1">
                <a:latin typeface="+mn-ea"/>
                <a:cs typeface="+mn-lt"/>
                <a:sym typeface="Wingdings" panose="05000000000000000000" pitchFamily="2" charset="2"/>
              </a:rPr>
              <a:t>셀추적</a:t>
            </a:r>
            <a:r>
              <a:rPr lang="ko-KR" altLang="en-US" sz="1000">
                <a:latin typeface="+mn-ea"/>
                <a:cs typeface="+mn-lt"/>
                <a:sym typeface="Wingdings" panose="05000000000000000000" pitchFamily="2" charset="2"/>
              </a:rPr>
              <a:t> 표준화 테이블 재구성하여 </a:t>
            </a:r>
            <a:r>
              <a:rPr lang="en-US" altLang="ko-KR" sz="1000">
                <a:latin typeface="+mn-ea"/>
                <a:cs typeface="+mn-lt"/>
                <a:sym typeface="Wingdings" panose="05000000000000000000" pitchFamily="2" charset="2"/>
              </a:rPr>
              <a:t>I/F </a:t>
            </a:r>
            <a:r>
              <a:rPr lang="ko-KR" altLang="en-US" sz="1000">
                <a:latin typeface="+mn-ea"/>
                <a:cs typeface="+mn-lt"/>
                <a:sym typeface="Wingdings" panose="05000000000000000000" pitchFamily="2" charset="2"/>
              </a:rPr>
              <a:t>합의하였습니다</a:t>
            </a:r>
            <a:r>
              <a:rPr lang="en-US" altLang="ko-KR" sz="1000">
                <a:latin typeface="+mn-ea"/>
                <a:cs typeface="+mn-lt"/>
                <a:sym typeface="Wingdings" panose="05000000000000000000" pitchFamily="2" charset="2"/>
              </a:rPr>
              <a:t>. </a:t>
            </a:r>
            <a:br>
              <a:rPr lang="en-US" altLang="ko-KR" sz="1000">
                <a:latin typeface="+mn-ea"/>
                <a:cs typeface="+mn-lt"/>
                <a:sym typeface="Wingdings" panose="05000000000000000000" pitchFamily="2" charset="2"/>
              </a:rPr>
            </a:br>
            <a:r>
              <a:rPr lang="en-US" altLang="ko-KR" sz="1000">
                <a:latin typeface="+mn-ea"/>
                <a:cs typeface="+mn-lt"/>
                <a:sym typeface="Wingdings" panose="05000000000000000000" pitchFamily="2" charset="2"/>
              </a:rPr>
              <a:t>  - IM</a:t>
            </a:r>
            <a:r>
              <a:rPr lang="ko-KR" altLang="en-US" sz="1000">
                <a:latin typeface="+mn-ea"/>
                <a:cs typeface="+mn-lt"/>
                <a:sym typeface="Wingdings" panose="05000000000000000000" pitchFamily="2" charset="2"/>
              </a:rPr>
              <a:t>향 </a:t>
            </a:r>
            <a:r>
              <a:rPr lang="ko-KR" altLang="en-US" sz="1000" err="1">
                <a:latin typeface="+mn-ea"/>
                <a:cs typeface="+mn-lt"/>
                <a:sym typeface="Wingdings" panose="05000000000000000000" pitchFamily="2" charset="2"/>
              </a:rPr>
              <a:t>형변환</a:t>
            </a:r>
            <a:r>
              <a:rPr lang="ko-KR" altLang="en-US" sz="1000">
                <a:latin typeface="+mn-ea"/>
                <a:cs typeface="+mn-lt"/>
                <a:sym typeface="Wingdings" panose="05000000000000000000" pitchFamily="2" charset="2"/>
              </a:rPr>
              <a:t> 후 </a:t>
            </a:r>
            <a:r>
              <a:rPr lang="en-US" altLang="ko-KR" sz="1000">
                <a:latin typeface="+mn-ea"/>
                <a:cs typeface="+mn-lt"/>
                <a:sym typeface="Wingdings" panose="05000000000000000000" pitchFamily="2" charset="2"/>
              </a:rPr>
              <a:t>PKG</a:t>
            </a:r>
            <a:r>
              <a:rPr lang="ko-KR" altLang="en-US" sz="1000">
                <a:latin typeface="+mn-ea"/>
                <a:cs typeface="+mn-lt"/>
                <a:sym typeface="Wingdings" panose="05000000000000000000" pitchFamily="2" charset="2"/>
              </a:rPr>
              <a:t>공정까지 완료되고 표준화테이블 데이터 발생하여 셀추적영역 개발 진행중입니다.</a:t>
            </a:r>
            <a:endParaRPr lang="en-US" altLang="ko-KR" sz="1000">
              <a:solidFill>
                <a:srgbClr val="1414FE"/>
              </a:solidFill>
              <a:latin typeface="Arial Narrow"/>
              <a:cs typeface="Malgun Gothic Semilight"/>
            </a:endParaRPr>
          </a:p>
          <a:p>
            <a:endParaRPr lang="en-US" altLang="ko-KR" sz="1000">
              <a:latin typeface="Arial Narrow"/>
              <a:ea typeface="LG스마트체 Regular"/>
              <a:cs typeface="Malgun Gothic Semilight"/>
            </a:endParaRPr>
          </a:p>
          <a:p>
            <a:r>
              <a:rPr lang="en-US" altLang="ko-KR" sz="1000" b="1">
                <a:latin typeface="+mn-ea"/>
                <a:ea typeface="LG Smart_H Regular"/>
                <a:cs typeface="Malgun Gothic Semilight"/>
              </a:rPr>
              <a:t>▣ </a:t>
            </a:r>
            <a:r>
              <a:rPr lang="en-US" sz="1000" b="1">
                <a:latin typeface="+mn-ea"/>
                <a:ea typeface="LG Smart_H Regular"/>
                <a:cs typeface="Malgun Gothic Semilight"/>
              </a:rPr>
              <a:t>OC10 Mother Line</a:t>
            </a:r>
            <a:endParaRPr lang="ko-KR">
              <a:ea typeface="LG Smart_H Regular"/>
            </a:endParaRPr>
          </a:p>
          <a:p>
            <a:r>
              <a:rPr lang="en-US" sz="1000">
                <a:latin typeface="+mn-ea"/>
                <a:ea typeface="LG Smart_H Regular"/>
              </a:rPr>
              <a:t>[</a:t>
            </a:r>
            <a:r>
              <a:rPr lang="ko-KR" altLang="en-US" sz="1000">
                <a:latin typeface="+mn-ea"/>
                <a:ea typeface="LG Smart_H Regular"/>
              </a:rPr>
              <a:t>배경</a:t>
            </a:r>
            <a:r>
              <a:rPr lang="en-US" sz="1000">
                <a:latin typeface="+mn-ea"/>
                <a:ea typeface="LG Smart_H Regular"/>
              </a:rPr>
              <a:t>] </a:t>
            </a:r>
            <a:endParaRPr lang="ko-KR">
              <a:ea typeface="LG Smart_H Regular"/>
            </a:endParaRPr>
          </a:p>
          <a:p>
            <a:r>
              <a:rPr lang="ko-KR" altLang="en-US" sz="1000" err="1">
                <a:ea typeface="LG Smart_H Regular"/>
              </a:rPr>
              <a:t>오창</a:t>
            </a:r>
            <a:r>
              <a:rPr lang="en-US" altLang="ko-KR" sz="1000">
                <a:ea typeface="LG스마트체 Regular"/>
              </a:rPr>
              <a:t> </a:t>
            </a:r>
            <a:r>
              <a:rPr lang="ko-KR" altLang="en-US" sz="1000">
                <a:ea typeface="LG스마트체 Regular"/>
              </a:rPr>
              <a:t>에너지플랜트</a:t>
            </a:r>
            <a:r>
              <a:rPr lang="en-US" sz="1000">
                <a:ea typeface="LG스마트체 Regular"/>
              </a:rPr>
              <a:t>2</a:t>
            </a:r>
            <a:r>
              <a:rPr lang="en-US" altLang="ko-KR" sz="1000">
                <a:ea typeface="LG스마트체 Regular"/>
              </a:rPr>
              <a:t> </a:t>
            </a:r>
            <a:r>
              <a:rPr lang="en-US" sz="1000">
                <a:ea typeface="LG스마트체 Regular"/>
              </a:rPr>
              <a:t>OC10</a:t>
            </a:r>
            <a:r>
              <a:rPr lang="ko-KR" altLang="en-US" sz="1000">
                <a:ea typeface="LG Smart_H Regular"/>
              </a:rPr>
              <a:t>동에 공정 품질</a:t>
            </a:r>
            <a:r>
              <a:rPr lang="en-US" sz="1000">
                <a:ea typeface="LG스마트체 Regular"/>
              </a:rPr>
              <a:t>/</a:t>
            </a:r>
            <a:r>
              <a:rPr lang="ko-KR" altLang="en-US" sz="1000" err="1">
                <a:ea typeface="LG Smart_H Regular"/>
              </a:rPr>
              <a:t>양산성</a:t>
            </a:r>
            <a:r>
              <a:rPr lang="en-US" altLang="ko-KR" sz="1000">
                <a:ea typeface="LG스마트체 Regular"/>
              </a:rPr>
              <a:t> </a:t>
            </a:r>
            <a:r>
              <a:rPr lang="ko-KR" altLang="en-US" sz="1000">
                <a:ea typeface="LG스마트체 Regular"/>
              </a:rPr>
              <a:t>사전 검증을 위한 </a:t>
            </a:r>
            <a:r>
              <a:rPr lang="ko-KR" altLang="en-US" sz="1000" err="1">
                <a:ea typeface="LG Smart_H Regular"/>
              </a:rPr>
              <a:t>마더라인과</a:t>
            </a:r>
            <a:r>
              <a:rPr lang="en-US" altLang="ko-KR" sz="1000">
                <a:ea typeface="LG스마트체 Regular"/>
              </a:rPr>
              <a:t> </a:t>
            </a:r>
            <a:r>
              <a:rPr lang="ko-KR" altLang="en-US" sz="1000">
                <a:ea typeface="LG스마트체 Regular"/>
              </a:rPr>
              <a:t>소형 </a:t>
            </a:r>
            <a:r>
              <a:rPr lang="en-US" sz="1000">
                <a:ea typeface="LG스마트체 Regular"/>
              </a:rPr>
              <a:t>NFF</a:t>
            </a:r>
            <a:r>
              <a:rPr lang="en-US" altLang="ko-KR" sz="1000">
                <a:ea typeface="LG스마트체 Regular"/>
              </a:rPr>
              <a:t> </a:t>
            </a:r>
            <a:r>
              <a:rPr lang="ko-KR" altLang="en-US" sz="1000">
                <a:ea typeface="LG스마트체 Regular"/>
              </a:rPr>
              <a:t>전극</a:t>
            </a:r>
            <a:r>
              <a:rPr lang="en-US" sz="1000">
                <a:ea typeface="LG스마트체 Regular"/>
              </a:rPr>
              <a:t>(</a:t>
            </a:r>
            <a:r>
              <a:rPr lang="ko-KR" altLang="en-US" sz="1000">
                <a:ea typeface="LG Smart_H Regular"/>
              </a:rPr>
              <a:t>믹서</a:t>
            </a:r>
            <a:r>
              <a:rPr lang="en-US" sz="1000">
                <a:ea typeface="LG스마트체 Regular"/>
              </a:rPr>
              <a:t>/</a:t>
            </a:r>
            <a:r>
              <a:rPr lang="ko-KR" altLang="en-US" sz="1000" err="1">
                <a:ea typeface="LG Smart_H Regular"/>
              </a:rPr>
              <a:t>코터</a:t>
            </a:r>
            <a:r>
              <a:rPr lang="en-US" sz="1000">
                <a:ea typeface="LG스마트체 Regular"/>
              </a:rPr>
              <a:t>)</a:t>
            </a:r>
            <a:r>
              <a:rPr lang="en-US" altLang="ko-KR" sz="1000">
                <a:ea typeface="LG스마트체 Regular"/>
              </a:rPr>
              <a:t> </a:t>
            </a:r>
            <a:r>
              <a:rPr lang="en-US" sz="1000">
                <a:ea typeface="LG스마트체 Regular"/>
              </a:rPr>
              <a:t>Pilot</a:t>
            </a:r>
            <a:r>
              <a:rPr lang="en-US" altLang="ko-KR" sz="1000">
                <a:ea typeface="LG스마트체 Regular"/>
              </a:rPr>
              <a:t> </a:t>
            </a:r>
            <a:r>
              <a:rPr lang="ko-KR" altLang="en-US" sz="1000">
                <a:ea typeface="LG스마트체 Regular"/>
              </a:rPr>
              <a:t>라인을 </a:t>
            </a:r>
            <a:r>
              <a:rPr lang="ko-KR" altLang="en-US" sz="1000" err="1">
                <a:ea typeface="LG Smart_H Regular"/>
              </a:rPr>
              <a:t>구축중에</a:t>
            </a:r>
            <a:r>
              <a:rPr lang="en-US" altLang="ko-KR" sz="1000">
                <a:ea typeface="LG스마트체 Regular"/>
              </a:rPr>
              <a:t> </a:t>
            </a:r>
            <a:r>
              <a:rPr lang="ko-KR" altLang="en-US" sz="1000">
                <a:ea typeface="LG스마트체 Regular"/>
              </a:rPr>
              <a:t>있음</a:t>
            </a:r>
            <a:endParaRPr lang="en-US"/>
          </a:p>
          <a:p>
            <a:r>
              <a:rPr lang="ko-KR" altLang="en-US" sz="1000">
                <a:ea typeface="LG Smart_H Regular"/>
              </a:rPr>
              <a:t>신규 라인을 대상으로 다빈치 빅데이터 플랫폼 구축</a:t>
            </a:r>
            <a:r>
              <a:rPr lang="en-US" altLang="ko-KR" sz="1000">
                <a:ea typeface="LG스마트체 Regular"/>
              </a:rPr>
              <a:t> </a:t>
            </a:r>
            <a:r>
              <a:rPr lang="ko-KR" altLang="en-US" sz="1000">
                <a:ea typeface="LG Smart_H Regular"/>
              </a:rPr>
              <a:t>필요</a:t>
            </a:r>
            <a:endParaRPr lang="en-US" altLang="ko-KR">
              <a:ea typeface="LG Smart_H Regular"/>
            </a:endParaRPr>
          </a:p>
          <a:p>
            <a:r>
              <a:rPr lang="en-US" sz="1000">
                <a:solidFill>
                  <a:srgbClr val="000000"/>
                </a:solidFill>
                <a:latin typeface="+mn-ea"/>
                <a:ea typeface="LG Smart_H Regular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  <a:ea typeface="LG Smart_H Regular"/>
              </a:rPr>
              <a:t>진행 사항</a:t>
            </a:r>
            <a:r>
              <a:rPr lang="en-US" sz="1000">
                <a:solidFill>
                  <a:srgbClr val="000000"/>
                </a:solidFill>
                <a:latin typeface="+mn-ea"/>
                <a:ea typeface="LG Smart_H Regular"/>
              </a:rPr>
              <a:t>]   </a:t>
            </a:r>
            <a:endParaRPr lang="en-US"/>
          </a:p>
          <a:p>
            <a:r>
              <a:rPr lang="en-US" altLang="ko-KR" sz="1000">
                <a:latin typeface="+mn-ea"/>
                <a:ea typeface="LG Smart_H Regular"/>
              </a:rPr>
              <a:t>-. </a:t>
            </a:r>
            <a:r>
              <a:rPr lang="ko-KR" altLang="en-US" sz="1000">
                <a:latin typeface="+mn-ea"/>
                <a:ea typeface="LG Smart_H Regular"/>
              </a:rPr>
              <a:t>전극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샘플</a:t>
            </a:r>
            <a:r>
              <a:rPr lang="en-US" altLang="ko-KR" sz="1000">
                <a:latin typeface="+mn-ea"/>
                <a:ea typeface="LG Smart_H Regular"/>
              </a:rPr>
              <a:t> : 8/16, </a:t>
            </a:r>
            <a:r>
              <a:rPr lang="ko-KR" altLang="en-US" sz="1000">
                <a:latin typeface="+mn-ea"/>
                <a:ea typeface="LG Smart_H Regular"/>
              </a:rPr>
              <a:t>조립</a:t>
            </a:r>
            <a:r>
              <a:rPr lang="en-US" altLang="ko-KR" sz="1000">
                <a:latin typeface="+mn-ea"/>
                <a:ea typeface="LG Smart_H Regular"/>
              </a:rPr>
              <a:t>/</a:t>
            </a:r>
            <a:r>
              <a:rPr lang="ko-KR" altLang="en-US" sz="1000">
                <a:latin typeface="+mn-ea"/>
                <a:ea typeface="LG Smart_H Regular"/>
              </a:rPr>
              <a:t>활성화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샘플</a:t>
            </a:r>
            <a:r>
              <a:rPr lang="en-US" altLang="ko-KR" sz="1000">
                <a:latin typeface="+mn-ea"/>
                <a:ea typeface="LG Smart_H Regular"/>
              </a:rPr>
              <a:t> :11</a:t>
            </a:r>
            <a:r>
              <a:rPr lang="ko-KR" altLang="en-US" sz="1000">
                <a:latin typeface="+mn-ea"/>
                <a:ea typeface="LG Smart_H Regular"/>
              </a:rPr>
              <a:t>월중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예정</a:t>
            </a:r>
            <a:endParaRPr lang="en-US" altLang="ko-KR"/>
          </a:p>
          <a:p>
            <a:r>
              <a:rPr lang="en-US" altLang="ko-KR" sz="1000">
                <a:latin typeface="+mn-ea"/>
                <a:ea typeface="LG Smart_H Regular"/>
              </a:rPr>
              <a:t>-. DAVINCI </a:t>
            </a:r>
            <a:r>
              <a:rPr lang="ko-KR" altLang="en-US" sz="1000">
                <a:latin typeface="+mn-ea"/>
                <a:ea typeface="LG Smart_H Regular"/>
              </a:rPr>
              <a:t>적용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일정</a:t>
            </a:r>
            <a:r>
              <a:rPr lang="en-US" altLang="ko-KR" sz="1000">
                <a:latin typeface="+mn-ea"/>
                <a:ea typeface="LG Smart_H Regular"/>
              </a:rPr>
              <a:t> : 9/16(</a:t>
            </a:r>
            <a:r>
              <a:rPr lang="ko-KR" altLang="en-US" sz="1000">
                <a:latin typeface="+mn-ea"/>
                <a:ea typeface="LG Smart_H Regular"/>
              </a:rPr>
              <a:t>화</a:t>
            </a:r>
            <a:r>
              <a:rPr lang="en-US" altLang="ko-KR" sz="1000">
                <a:latin typeface="+mn-ea"/>
                <a:ea typeface="LG Smart_H Regular"/>
              </a:rPr>
              <a:t>)</a:t>
            </a:r>
            <a:endParaRPr lang="en-US" altLang="ko-KR"/>
          </a:p>
          <a:p>
            <a:r>
              <a:rPr lang="en-US" altLang="ko-KR" sz="1000">
                <a:latin typeface="+mn-ea"/>
                <a:ea typeface="LG Smart_H Regular"/>
              </a:rPr>
              <a:t>  : </a:t>
            </a:r>
            <a:r>
              <a:rPr lang="ko-KR" altLang="en-US" sz="1000">
                <a:latin typeface="+mn-ea"/>
                <a:ea typeface="LG Smart_H Regular"/>
              </a:rPr>
              <a:t>데이터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수집</a:t>
            </a:r>
            <a:r>
              <a:rPr lang="en-US" sz="1000">
                <a:latin typeface="+mn-ea"/>
                <a:ea typeface="LG Smart_H Regular"/>
              </a:rPr>
              <a:t> : 100% </a:t>
            </a:r>
            <a:r>
              <a:rPr lang="ko-KR" altLang="en-US" sz="1000">
                <a:latin typeface="+mn-ea"/>
                <a:ea typeface="LG Smart_H Regular"/>
              </a:rPr>
              <a:t>완료</a:t>
            </a:r>
            <a:r>
              <a:rPr lang="en-US" sz="1000">
                <a:latin typeface="+mn-ea"/>
                <a:ea typeface="LG Smart_H Regular"/>
              </a:rPr>
              <a:t> ▶</a:t>
            </a:r>
            <a:r>
              <a:rPr lang="ko-KR" altLang="en-US" sz="1000">
                <a:latin typeface="+mn-ea"/>
                <a:ea typeface="LG Smart_H Regular"/>
              </a:rPr>
              <a:t>자동차</a:t>
            </a:r>
            <a:r>
              <a:rPr lang="en-US" sz="1000">
                <a:latin typeface="+mn-ea"/>
                <a:ea typeface="LG Smart_H Regular"/>
              </a:rPr>
              <a:t>(</a:t>
            </a:r>
            <a:r>
              <a:rPr lang="ko-KR" altLang="en-US" sz="1000">
                <a:latin typeface="+mn-ea"/>
                <a:ea typeface="LG Smart_H Regular"/>
              </a:rPr>
              <a:t>전극</a:t>
            </a:r>
            <a:r>
              <a:rPr lang="en-US" sz="1000">
                <a:latin typeface="+mn-ea"/>
                <a:ea typeface="LG Smart_H Regular"/>
              </a:rPr>
              <a:t>/</a:t>
            </a:r>
            <a:r>
              <a:rPr lang="ko-KR" altLang="en-US" sz="1000">
                <a:latin typeface="+mn-ea"/>
                <a:ea typeface="LG Smart_H Regular"/>
              </a:rPr>
              <a:t>조립</a:t>
            </a:r>
            <a:r>
              <a:rPr lang="en-US" sz="1000">
                <a:latin typeface="+mn-ea"/>
                <a:ea typeface="LG Smart_H Regular"/>
              </a:rPr>
              <a:t>) </a:t>
            </a:r>
            <a:r>
              <a:rPr lang="ko-KR" altLang="en-US" sz="1000">
                <a:latin typeface="+mn-ea"/>
                <a:ea typeface="LG Smart_H Regular"/>
              </a:rPr>
              <a:t>수집</a:t>
            </a:r>
            <a:r>
              <a:rPr lang="en-US" sz="1000">
                <a:latin typeface="+mn-ea"/>
                <a:ea typeface="LG Smart_H Regular"/>
              </a:rPr>
              <a:t> (236ea) </a:t>
            </a:r>
            <a:r>
              <a:rPr lang="ko-KR" altLang="en-US" sz="1000">
                <a:latin typeface="+mn-ea"/>
                <a:ea typeface="LG Smart_H Regular"/>
              </a:rPr>
              <a:t>완료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en-US" sz="1000">
                <a:latin typeface="+mn-ea"/>
                <a:ea typeface="LG Smart_H Regular"/>
              </a:rPr>
              <a:t>/ </a:t>
            </a:r>
            <a:r>
              <a:rPr lang="ko-KR" altLang="en-US" sz="1000">
                <a:latin typeface="+mn-ea"/>
                <a:ea typeface="LG Smart_H Regular"/>
              </a:rPr>
              <a:t>활성화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일부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테이블</a:t>
            </a:r>
            <a:r>
              <a:rPr lang="en-US" sz="1000">
                <a:latin typeface="+mn-ea"/>
                <a:ea typeface="LG Smart_H Regular"/>
              </a:rPr>
              <a:t> (22ea) </a:t>
            </a:r>
            <a:r>
              <a:rPr lang="ko-KR" altLang="en-US" sz="1000">
                <a:latin typeface="+mn-ea"/>
                <a:ea typeface="LG Smart_H Regular"/>
              </a:rPr>
              <a:t>완료</a:t>
            </a:r>
            <a:r>
              <a:rPr lang="en-US" sz="1000">
                <a:latin typeface="+mn-ea"/>
                <a:ea typeface="LG Smart_H Regular"/>
              </a:rPr>
              <a:t> / SPCP</a:t>
            </a:r>
            <a:r>
              <a:rPr lang="ko-KR" altLang="en-US" sz="1000">
                <a:latin typeface="+mn-ea"/>
                <a:ea typeface="LG Smart_H Regular"/>
              </a:rPr>
              <a:t>표준화</a:t>
            </a:r>
            <a:r>
              <a:rPr lang="en-US" sz="1000">
                <a:latin typeface="+mn-ea"/>
                <a:ea typeface="LG Smart_H Regular"/>
              </a:rPr>
              <a:t> (9ea),</a:t>
            </a:r>
            <a:r>
              <a:rPr lang="ko-KR" altLang="en-US" sz="1000">
                <a:latin typeface="+mn-ea"/>
                <a:ea typeface="LG Smart_H Regular"/>
              </a:rPr>
              <a:t>완료</a:t>
            </a:r>
            <a:endParaRPr lang="en-US"/>
          </a:p>
          <a:p>
            <a:r>
              <a:rPr lang="en-US" altLang="ko-KR" sz="1000">
                <a:latin typeface="+mn-ea"/>
                <a:ea typeface="LG Smart_H Regular"/>
              </a:rPr>
              <a:t>  : </a:t>
            </a:r>
            <a:r>
              <a:rPr lang="ko-KR" altLang="en-US" sz="1000">
                <a:latin typeface="+mn-ea"/>
                <a:ea typeface="LG Smart_H Regular"/>
              </a:rPr>
              <a:t>추적</a:t>
            </a:r>
            <a:r>
              <a:rPr lang="en-US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개발</a:t>
            </a:r>
            <a:r>
              <a:rPr lang="en-US" sz="1000">
                <a:latin typeface="+mn-ea"/>
                <a:ea typeface="LG Smart_H Regular"/>
              </a:rPr>
              <a:t> : 100% </a:t>
            </a:r>
            <a:r>
              <a:rPr lang="ko-KR" altLang="en-US" sz="1000">
                <a:latin typeface="+mn-ea"/>
                <a:ea typeface="LG Smart_H Regular"/>
              </a:rPr>
              <a:t>완료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en-US" sz="1000">
                <a:latin typeface="+mn-ea"/>
                <a:ea typeface="LG Smart_H Regular"/>
              </a:rPr>
              <a:t>▶</a:t>
            </a:r>
            <a:r>
              <a:rPr lang="ko-KR" altLang="en-US" sz="1000">
                <a:latin typeface="+mn-ea"/>
                <a:ea typeface="LG Smart_H Regular"/>
              </a:rPr>
              <a:t>전극</a:t>
            </a:r>
            <a:r>
              <a:rPr lang="en-US" sz="1000">
                <a:latin typeface="+mn-ea"/>
                <a:ea typeface="LG Smart_H Regular"/>
              </a:rPr>
              <a:t>/</a:t>
            </a:r>
            <a:r>
              <a:rPr lang="ko-KR" altLang="en-US" sz="1000">
                <a:latin typeface="+mn-ea"/>
                <a:ea typeface="LG Smart_H Regular"/>
              </a:rPr>
              <a:t>조립</a:t>
            </a:r>
            <a:r>
              <a:rPr lang="en-US" sz="1000">
                <a:latin typeface="+mn-ea"/>
                <a:ea typeface="LG Smart_H Regular"/>
              </a:rPr>
              <a:t> LOT </a:t>
            </a:r>
            <a:r>
              <a:rPr lang="ko-KR" altLang="en-US" sz="1000">
                <a:latin typeface="+mn-ea"/>
                <a:ea typeface="LG Smart_H Regular"/>
              </a:rPr>
              <a:t>추적개발</a:t>
            </a:r>
            <a:endParaRPr lang="en-US" altLang="ko-KR"/>
          </a:p>
          <a:p>
            <a:r>
              <a:rPr lang="en-US" altLang="ko-KR" sz="1000">
                <a:latin typeface="+mn-ea"/>
                <a:ea typeface="LG Smart_H Regular"/>
              </a:rPr>
              <a:t>  : PI </a:t>
            </a:r>
            <a:r>
              <a:rPr lang="ko-KR" altLang="en-US" sz="1000">
                <a:latin typeface="+mn-ea"/>
                <a:ea typeface="LG Smart_H Regular"/>
              </a:rPr>
              <a:t>테스트</a:t>
            </a:r>
            <a:r>
              <a:rPr lang="en-US" altLang="ko-KR" sz="1000">
                <a:latin typeface="+mn-ea"/>
                <a:ea typeface="LG Smart_H Regular"/>
              </a:rPr>
              <a:t> : 100% </a:t>
            </a:r>
            <a:r>
              <a:rPr lang="ko-KR" altLang="en-US" sz="1000">
                <a:latin typeface="+mn-ea"/>
                <a:ea typeface="LG Smart_H Regular"/>
              </a:rPr>
              <a:t>완료</a:t>
            </a:r>
            <a:endParaRPr lang="ko-KR"/>
          </a:p>
          <a:p>
            <a:r>
              <a:rPr lang="en-US" altLang="ko-KR" sz="1000">
                <a:latin typeface="+mn-ea"/>
                <a:ea typeface="LG Smart_H Regular"/>
              </a:rPr>
              <a:t>  : </a:t>
            </a:r>
            <a:r>
              <a:rPr lang="ko-KR" altLang="en-US" sz="1000">
                <a:latin typeface="+mn-ea"/>
                <a:ea typeface="LG Smart_H Regular"/>
              </a:rPr>
              <a:t>조립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및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활성화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샘플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연기로</a:t>
            </a:r>
            <a:r>
              <a:rPr lang="en-US" altLang="ko-KR" sz="1000">
                <a:latin typeface="+mn-ea"/>
                <a:ea typeface="LG Smart_H Regular"/>
              </a:rPr>
              <a:t> (11</a:t>
            </a:r>
            <a:r>
              <a:rPr lang="ko-KR" altLang="en-US" sz="1000">
                <a:latin typeface="+mn-ea"/>
                <a:ea typeface="LG Smart_H Regular"/>
              </a:rPr>
              <a:t>월</a:t>
            </a:r>
            <a:r>
              <a:rPr lang="en-US" altLang="ko-KR" sz="1000">
                <a:latin typeface="+mn-ea"/>
                <a:ea typeface="LG Smart_H Regular"/>
              </a:rPr>
              <a:t>) Cell </a:t>
            </a:r>
            <a:r>
              <a:rPr lang="ko-KR" altLang="en-US" sz="1000">
                <a:latin typeface="+mn-ea"/>
                <a:ea typeface="LG Smart_H Regular"/>
              </a:rPr>
              <a:t>추적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포함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조립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데이터서비스는</a:t>
            </a:r>
            <a:r>
              <a:rPr lang="en-US" altLang="ko-KR" sz="1000">
                <a:latin typeface="+mn-ea"/>
                <a:ea typeface="LG Smart_H Regular"/>
              </a:rPr>
              <a:t> 11</a:t>
            </a:r>
            <a:r>
              <a:rPr lang="ko-KR" altLang="en-US" sz="1000">
                <a:latin typeface="+mn-ea"/>
                <a:ea typeface="LG Smart_H Regular"/>
              </a:rPr>
              <a:t>월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샘플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이후로</a:t>
            </a:r>
            <a:r>
              <a:rPr lang="en-US" altLang="ko-KR" sz="1000">
                <a:latin typeface="+mn-ea"/>
                <a:ea typeface="LG Smart_H Regular"/>
              </a:rPr>
              <a:t> </a:t>
            </a:r>
            <a:r>
              <a:rPr lang="ko-KR" altLang="en-US" sz="1000">
                <a:latin typeface="+mn-ea"/>
                <a:ea typeface="LG Smart_H Regular"/>
              </a:rPr>
              <a:t>협의하였습니다</a:t>
            </a:r>
            <a:r>
              <a:rPr lang="en-US" altLang="ko-KR" sz="1000">
                <a:latin typeface="+mn-ea"/>
                <a:ea typeface="LG Smart_H Regular"/>
              </a:rPr>
              <a:t>.(w/ </a:t>
            </a:r>
            <a:r>
              <a:rPr lang="ko-KR" altLang="en-US" sz="1000">
                <a:latin typeface="+mn-ea"/>
                <a:ea typeface="LG Smart_H Regular"/>
              </a:rPr>
              <a:t>파우치형</a:t>
            </a:r>
            <a:r>
              <a:rPr lang="en-US" altLang="ko-KR" sz="1000">
                <a:latin typeface="+mn-ea"/>
                <a:ea typeface="LG Smart_H Regular"/>
              </a:rPr>
              <a:t>Pilot</a:t>
            </a:r>
            <a:r>
              <a:rPr lang="ko-KR" altLang="en-US" sz="1000">
                <a:latin typeface="+mn-ea"/>
                <a:ea typeface="LG Smart_H Regular"/>
              </a:rPr>
              <a:t>생산팀</a:t>
            </a:r>
            <a:r>
              <a:rPr lang="en-US" altLang="ko-KR" sz="1000">
                <a:latin typeface="+mn-ea"/>
                <a:ea typeface="LG Smart_H Regular"/>
              </a:rPr>
              <a:t>)</a:t>
            </a:r>
            <a:endParaRPr lang="ko-KR"/>
          </a:p>
          <a:p>
            <a:endParaRPr lang="en-US" altLang="ko-KR" sz="1000">
              <a:latin typeface="Arial Narrow"/>
              <a:ea typeface="LG스마트체 Regular"/>
              <a:cs typeface="Malgun Gothic Semilight"/>
            </a:endParaRPr>
          </a:p>
          <a:p>
            <a:r>
              <a:rPr lang="ko-KR" altLang="en-US" sz="1000" b="1">
                <a:latin typeface="+mn-ea"/>
                <a:ea typeface="LG Smart_H Regular"/>
              </a:rPr>
              <a:t>▣ </a:t>
            </a:r>
            <a:r>
              <a:rPr lang="en-US" sz="1000" b="1">
                <a:latin typeface="+mn-ea"/>
                <a:ea typeface="LG Smart_H Regular"/>
              </a:rPr>
              <a:t>NJ SUS CAN EGL Line</a:t>
            </a:r>
            <a:endParaRPr lang="en-US"/>
          </a:p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배경</a:t>
            </a:r>
            <a:r>
              <a:rPr lang="en-US" altLang="ko-KR" sz="1000">
                <a:latin typeface="+mn-ea"/>
              </a:rPr>
              <a:t>] </a:t>
            </a:r>
            <a:endParaRPr lang="ko-KR" altLang="en-US" sz="1000">
              <a:latin typeface="+mn-ea"/>
            </a:endParaRPr>
          </a:p>
          <a:p>
            <a:r>
              <a:rPr lang="en-US" altLang="ko-KR" sz="1000" err="1">
                <a:latin typeface="+mn-ea"/>
              </a:rPr>
              <a:t>신규</a:t>
            </a:r>
            <a:r>
              <a:rPr lang="en-US" altLang="ko-KR" sz="1000">
                <a:latin typeface="+mn-ea"/>
              </a:rPr>
              <a:t> SUS Can </a:t>
            </a:r>
            <a:r>
              <a:rPr lang="en-US" altLang="ko-KR" sz="1000" err="1">
                <a:latin typeface="+mn-ea"/>
              </a:rPr>
              <a:t>배터리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모델의</a:t>
            </a:r>
            <a:r>
              <a:rPr lang="en-US" altLang="ko-KR" sz="1000">
                <a:latin typeface="+mn-ea"/>
              </a:rPr>
              <a:t> EGL </a:t>
            </a:r>
            <a:r>
              <a:rPr lang="en-US" altLang="ko-KR" sz="1000" err="1">
                <a:latin typeface="+mn-ea"/>
              </a:rPr>
              <a:t>라인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셋업에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따른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다빈치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구축을</a:t>
            </a:r>
            <a:r>
              <a:rPr lang="en-US" altLang="ko-KR" sz="1000">
                <a:latin typeface="+mn-ea"/>
              </a:rPr>
              <a:t> </a:t>
            </a:r>
            <a:r>
              <a:rPr lang="en-US" altLang="ko-KR" sz="1000" err="1">
                <a:latin typeface="+mn-ea"/>
              </a:rPr>
              <a:t>통한</a:t>
            </a:r>
            <a:r>
              <a:rPr lang="en-US" altLang="ko-KR" sz="1000">
                <a:latin typeface="+mn-ea"/>
              </a:rPr>
              <a:t> </a:t>
            </a:r>
            <a:r>
              <a:rPr lang="ko-KR" altLang="en-US" sz="1000">
                <a:latin typeface="+mn-ea"/>
              </a:rPr>
              <a:t>검사</a:t>
            </a:r>
            <a:r>
              <a:rPr lang="en-US" sz="1000">
                <a:latin typeface="+mn-ea"/>
              </a:rPr>
              <a:t> </a:t>
            </a:r>
            <a:r>
              <a:rPr lang="en-US" sz="1000" err="1">
                <a:latin typeface="+mn-ea"/>
              </a:rPr>
              <a:t>데이터</a:t>
            </a:r>
            <a:r>
              <a:rPr lang="en-US" sz="1000">
                <a:latin typeface="+mn-ea"/>
              </a:rPr>
              <a:t>/</a:t>
            </a:r>
            <a:r>
              <a:rPr lang="en-US" sz="1000" err="1">
                <a:latin typeface="+mn-ea"/>
              </a:rPr>
              <a:t>이미지</a:t>
            </a:r>
            <a:r>
              <a:rPr lang="en-US" sz="1000">
                <a:latin typeface="+mn-ea"/>
              </a:rPr>
              <a:t> 및 </a:t>
            </a:r>
            <a:r>
              <a:rPr lang="en-US" sz="1000" err="1">
                <a:latin typeface="+mn-ea"/>
              </a:rPr>
              <a:t>품질</a:t>
            </a:r>
            <a:r>
              <a:rPr lang="en-US" sz="1000">
                <a:latin typeface="+mn-ea"/>
              </a:rPr>
              <a:t> </a:t>
            </a:r>
            <a:r>
              <a:rPr lang="en-US" sz="1000" err="1">
                <a:latin typeface="+mn-ea"/>
              </a:rPr>
              <a:t>관련</a:t>
            </a:r>
            <a:r>
              <a:rPr lang="en-US" sz="1000">
                <a:latin typeface="+mn-ea"/>
              </a:rPr>
              <a:t> </a:t>
            </a:r>
            <a:r>
              <a:rPr lang="en-US" sz="1000" err="1">
                <a:latin typeface="+mn-ea"/>
              </a:rPr>
              <a:t>주요</a:t>
            </a:r>
            <a:r>
              <a:rPr lang="en-US" sz="1000">
                <a:latin typeface="+mn-ea"/>
              </a:rPr>
              <a:t> </a:t>
            </a:r>
            <a:r>
              <a:rPr lang="en-US" sz="1000" err="1">
                <a:latin typeface="+mn-ea"/>
              </a:rPr>
              <a:t>항목에</a:t>
            </a:r>
            <a:r>
              <a:rPr lang="en-US" sz="1000">
                <a:latin typeface="+mn-ea"/>
              </a:rPr>
              <a:t> </a:t>
            </a:r>
            <a:r>
              <a:rPr lang="en-US" sz="1000" err="1">
                <a:latin typeface="+mn-ea"/>
              </a:rPr>
              <a:t>대한</a:t>
            </a:r>
            <a:r>
              <a:rPr lang="en-US" sz="1000">
                <a:latin typeface="+mn-ea"/>
              </a:rPr>
              <a:t> </a:t>
            </a:r>
            <a:r>
              <a:rPr lang="en-US" sz="1000" err="1">
                <a:latin typeface="+mn-ea"/>
              </a:rPr>
              <a:t>관리</a:t>
            </a:r>
            <a:r>
              <a:rPr lang="en-US" sz="1000">
                <a:latin typeface="+mn-ea"/>
              </a:rPr>
              <a:t> </a:t>
            </a:r>
            <a:r>
              <a:rPr lang="en-US" sz="1000" err="1">
                <a:latin typeface="+mn-ea"/>
              </a:rPr>
              <a:t>필요</a:t>
            </a:r>
            <a:endParaRPr lang="en-US" sz="1000">
              <a:solidFill>
                <a:srgbClr val="000000"/>
              </a:solidFill>
              <a:latin typeface="Arial Narrow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진행 사항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] </a:t>
            </a:r>
            <a:endParaRPr lang="en-US" sz="1000">
              <a:solidFill>
                <a:srgbClr val="000000"/>
              </a:solidFill>
              <a:latin typeface="Arial Narrow"/>
            </a:endParaRPr>
          </a:p>
          <a:p>
            <a:r>
              <a:rPr lang="en-US" altLang="ko-KR" sz="1000">
                <a:latin typeface="Arial Narrow"/>
                <a:ea typeface="LG Smart_H Regular"/>
              </a:rPr>
              <a:t>-.</a:t>
            </a:r>
            <a:r>
              <a:rPr lang="ko-KR" altLang="en-US" sz="1000">
                <a:latin typeface="Arial Narrow"/>
                <a:ea typeface="LG Smart_H Regular"/>
              </a:rPr>
              <a:t> 활성화 샘플일정 : 1차 5월 </a:t>
            </a:r>
            <a:r>
              <a:rPr lang="ko-KR" altLang="en-US" sz="1000" err="1">
                <a:latin typeface="Arial Narrow"/>
                <a:ea typeface="LG Smart_H Regular"/>
              </a:rPr>
              <a:t>진행후</a:t>
            </a:r>
            <a:r>
              <a:rPr lang="ko-KR" altLang="en-US" sz="1000">
                <a:latin typeface="Arial Narrow"/>
                <a:ea typeface="LG Smart_H Regular"/>
              </a:rPr>
              <a:t>, 9월 초 2차 진행</a:t>
            </a:r>
            <a:r>
              <a:rPr lang="en-US" altLang="ko-KR" sz="1000">
                <a:latin typeface="Arial Narrow"/>
                <a:ea typeface="LG Smart_H Regular"/>
              </a:rPr>
              <a:t>.</a:t>
            </a:r>
            <a:endParaRPr lang="ko-KR" altLang="en-US" sz="1000">
              <a:latin typeface="Arial Narrow"/>
              <a:ea typeface="LG Smart_H Regular"/>
            </a:endParaRPr>
          </a:p>
          <a:p>
            <a:r>
              <a:rPr lang="en-US" altLang="ko-KR" sz="1000">
                <a:latin typeface="Arial Narrow"/>
                <a:ea typeface="LG Smart_H Regular"/>
              </a:rPr>
              <a:t>-.</a:t>
            </a:r>
            <a:r>
              <a:rPr lang="ko-KR" altLang="en-US" sz="1000">
                <a:latin typeface="Arial Narrow"/>
                <a:ea typeface="LG Smart_H Regular"/>
              </a:rPr>
              <a:t> </a:t>
            </a:r>
            <a:r>
              <a:rPr lang="en-US" altLang="ko-KR" sz="1000">
                <a:latin typeface="Arial Narrow"/>
                <a:ea typeface="LG Smart_H Regular"/>
              </a:rPr>
              <a:t>DAVINCI</a:t>
            </a:r>
            <a:r>
              <a:rPr lang="ko-KR" altLang="en-US" sz="1000">
                <a:latin typeface="Arial Narrow"/>
                <a:ea typeface="LG Smart_H Regular"/>
              </a:rPr>
              <a:t> 적용 일정 </a:t>
            </a:r>
            <a:r>
              <a:rPr lang="en-US" altLang="ko-KR" sz="1000">
                <a:latin typeface="Arial Narrow"/>
                <a:ea typeface="LG Smart_H Regular"/>
              </a:rPr>
              <a:t>:</a:t>
            </a:r>
            <a:r>
              <a:rPr lang="ko-KR" altLang="en-US" sz="1000">
                <a:latin typeface="Arial Narrow"/>
                <a:ea typeface="LG Smart_H Regular"/>
              </a:rPr>
              <a:t> </a:t>
            </a:r>
            <a:r>
              <a:rPr lang="en-US" altLang="ko-KR" sz="1000">
                <a:latin typeface="Arial Narrow"/>
                <a:ea typeface="LG Smart_H Regular"/>
              </a:rPr>
              <a:t>9/16(</a:t>
            </a:r>
            <a:r>
              <a:rPr lang="ko-KR" altLang="en-US" sz="1000">
                <a:latin typeface="Arial Narrow"/>
                <a:ea typeface="LG Smart_H Regular"/>
              </a:rPr>
              <a:t>화</a:t>
            </a:r>
            <a:r>
              <a:rPr lang="en-US" altLang="ko-KR" sz="1000">
                <a:latin typeface="Arial Narrow"/>
                <a:ea typeface="LG Smart_H Regular"/>
              </a:rPr>
              <a:t>)</a:t>
            </a:r>
            <a:endParaRPr lang="ko-KR" altLang="en-US" sz="1000">
              <a:latin typeface="Arial Narrow"/>
              <a:ea typeface="LG Smart_H Regular"/>
            </a:endParaRPr>
          </a:p>
          <a:p>
            <a:r>
              <a:rPr lang="en-US" altLang="ko-KR" sz="1000">
                <a:latin typeface="Arial Narrow"/>
                <a:ea typeface="LG Smart_H Regular"/>
              </a:rPr>
              <a:t>-. </a:t>
            </a:r>
            <a:r>
              <a:rPr lang="en-US" altLang="ko-KR" sz="1000" err="1">
                <a:latin typeface="Arial Narrow"/>
                <a:ea typeface="LG Smart_H Regular"/>
              </a:rPr>
              <a:t>테이터</a:t>
            </a:r>
            <a:r>
              <a:rPr lang="en-US" altLang="ko-KR" sz="1000">
                <a:latin typeface="Arial Narrow"/>
                <a:ea typeface="LG Smart_H Regular"/>
              </a:rPr>
              <a:t> </a:t>
            </a:r>
            <a:r>
              <a:rPr lang="en-US" altLang="ko-KR" sz="1000" err="1">
                <a:latin typeface="Arial Narrow"/>
                <a:ea typeface="LG Smart_H Regular"/>
              </a:rPr>
              <a:t>수집</a:t>
            </a:r>
            <a:r>
              <a:rPr lang="en-US" altLang="ko-KR" sz="1000">
                <a:latin typeface="Arial Narrow"/>
                <a:ea typeface="LG Smart_H Regular"/>
              </a:rPr>
              <a:t> : 100% (8/1) </a:t>
            </a:r>
            <a:r>
              <a:rPr lang="en-US" altLang="ko-KR" sz="1000" err="1">
                <a:latin typeface="Arial Narrow"/>
                <a:ea typeface="LG Smart_H Regular"/>
              </a:rPr>
              <a:t>샘플</a:t>
            </a:r>
            <a:r>
              <a:rPr lang="en-US" altLang="ko-KR" sz="1000">
                <a:latin typeface="Arial Narrow"/>
                <a:ea typeface="LG Smart_H Regular"/>
              </a:rPr>
              <a:t> </a:t>
            </a:r>
            <a:r>
              <a:rPr lang="en-US" altLang="ko-KR" sz="1000" err="1">
                <a:latin typeface="Arial Narrow"/>
                <a:ea typeface="LG Smart_H Regular"/>
              </a:rPr>
              <a:t>진행</a:t>
            </a:r>
            <a:r>
              <a:rPr lang="en-US" altLang="ko-KR" sz="1000">
                <a:latin typeface="Arial Narrow"/>
                <a:ea typeface="LG Smart_H Regular"/>
              </a:rPr>
              <a:t> 후 </a:t>
            </a:r>
            <a:r>
              <a:rPr lang="en-US" altLang="ko-KR" sz="1000" err="1">
                <a:latin typeface="Arial Narrow"/>
                <a:ea typeface="LG Smart_H Regular"/>
              </a:rPr>
              <a:t>데이터</a:t>
            </a:r>
            <a:r>
              <a:rPr lang="en-US" altLang="ko-KR" sz="1000">
                <a:latin typeface="Arial Narrow"/>
                <a:ea typeface="LG Smart_H Regular"/>
              </a:rPr>
              <a:t> </a:t>
            </a:r>
            <a:r>
              <a:rPr lang="en-US" altLang="ko-KR" sz="1000" err="1">
                <a:latin typeface="Arial Narrow"/>
                <a:ea typeface="LG Smart_H Regular"/>
              </a:rPr>
              <a:t>발생여부</a:t>
            </a:r>
            <a:r>
              <a:rPr lang="en-US" altLang="ko-KR" sz="1000">
                <a:latin typeface="Arial Narrow"/>
                <a:ea typeface="LG Smart_H Regular"/>
              </a:rPr>
              <a:t> </a:t>
            </a:r>
            <a:r>
              <a:rPr lang="en-US" altLang="ko-KR" sz="1000" err="1">
                <a:latin typeface="Arial Narrow"/>
                <a:ea typeface="LG Smart_H Regular"/>
              </a:rPr>
              <a:t>확인</a:t>
            </a:r>
            <a:r>
              <a:rPr lang="en-US" altLang="ko-KR" sz="1000">
                <a:latin typeface="Arial Narrow"/>
                <a:ea typeface="LG Smart_H Regular"/>
              </a:rPr>
              <a:t> </a:t>
            </a:r>
            <a:r>
              <a:rPr lang="en-US" altLang="ko-KR" sz="1000" err="1">
                <a:latin typeface="Arial Narrow"/>
                <a:ea typeface="LG Smart_H Regular"/>
              </a:rPr>
              <a:t>하였고</a:t>
            </a:r>
            <a:r>
              <a:rPr lang="en-US" altLang="ko-KR" sz="1000">
                <a:latin typeface="Arial Narrow"/>
                <a:ea typeface="LG Smart_H Regular"/>
              </a:rPr>
              <a:t>, </a:t>
            </a:r>
            <a:r>
              <a:rPr lang="en-US" altLang="ko-KR" sz="1000" err="1">
                <a:latin typeface="Arial Narrow"/>
                <a:ea typeface="LG Smart_H Regular"/>
              </a:rPr>
              <a:t>수집</a:t>
            </a:r>
            <a:r>
              <a:rPr lang="en-US" altLang="ko-KR" sz="1000">
                <a:latin typeface="Arial Narrow"/>
                <a:ea typeface="LG Smart_H Regular"/>
              </a:rPr>
              <a:t> </a:t>
            </a:r>
            <a:r>
              <a:rPr lang="en-US" altLang="ko-KR" sz="1000" err="1">
                <a:latin typeface="Arial Narrow"/>
                <a:ea typeface="LG Smart_H Regular"/>
              </a:rPr>
              <a:t>진행</a:t>
            </a:r>
            <a:r>
              <a:rPr lang="en-US" altLang="ko-KR" sz="1000">
                <a:latin typeface="Arial Narrow"/>
                <a:ea typeface="LG Smart_H Regular"/>
              </a:rPr>
              <a:t> </a:t>
            </a:r>
            <a:r>
              <a:rPr lang="en-US" altLang="ko-KR" sz="1000" err="1">
                <a:latin typeface="Arial Narrow"/>
                <a:ea typeface="LG Smart_H Regular"/>
              </a:rPr>
              <a:t>완료</a:t>
            </a:r>
            <a:endParaRPr lang="en-US" altLang="ko-KR" sz="1000">
              <a:latin typeface="Arial Narrow"/>
              <a:ea typeface="LG Smart_H Regular"/>
            </a:endParaRPr>
          </a:p>
          <a:p>
            <a:r>
              <a:rPr lang="en-US" altLang="ko-KR" sz="1000">
                <a:latin typeface="Arial Narrow"/>
              </a:rPr>
              <a:t>-. </a:t>
            </a:r>
            <a:r>
              <a:rPr lang="en-US" altLang="ko-KR" sz="1000" err="1">
                <a:latin typeface="Arial Narrow"/>
              </a:rPr>
              <a:t>표준화테이블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양식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확정</a:t>
            </a:r>
            <a:r>
              <a:rPr lang="en-US" altLang="ko-KR" sz="1000">
                <a:latin typeface="Arial Narrow"/>
              </a:rPr>
              <a:t> : </a:t>
            </a:r>
            <a:r>
              <a:rPr lang="en-US" altLang="ko-KR" sz="1000" err="1">
                <a:latin typeface="Arial Narrow"/>
              </a:rPr>
              <a:t>자동차라인과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변경점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없음</a:t>
            </a:r>
            <a:r>
              <a:rPr lang="en-US" altLang="ko-KR" sz="1000">
                <a:latin typeface="Arial Narrow"/>
              </a:rPr>
              <a:t> (</a:t>
            </a:r>
            <a:r>
              <a:rPr lang="en-US" altLang="ko-KR" sz="1000" err="1">
                <a:latin typeface="Arial Narrow"/>
              </a:rPr>
              <a:t>박정우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책임</a:t>
            </a:r>
            <a:r>
              <a:rPr lang="en-US" altLang="ko-KR" sz="1000">
                <a:latin typeface="Arial Narrow"/>
              </a:rPr>
              <a:t>)</a:t>
            </a:r>
          </a:p>
          <a:p>
            <a:r>
              <a:rPr lang="en-US" altLang="ko-KR" sz="1000">
                <a:solidFill>
                  <a:srgbClr val="0000FF"/>
                </a:solidFill>
                <a:latin typeface="Arial Narrow"/>
              </a:rPr>
              <a:t>-. </a:t>
            </a:r>
            <a:r>
              <a:rPr lang="en-US" altLang="ko-KR" sz="1000">
                <a:latin typeface="Arial Narrow"/>
              </a:rPr>
              <a:t>NJ </a:t>
            </a:r>
            <a:r>
              <a:rPr lang="en-US" altLang="ko-KR" sz="1000" err="1">
                <a:latin typeface="Arial Narrow"/>
              </a:rPr>
              <a:t>현지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PI와</a:t>
            </a:r>
            <a:r>
              <a:rPr lang="en-US" altLang="ko-KR" sz="1000">
                <a:latin typeface="Arial Narrow"/>
              </a:rPr>
              <a:t> SPC/EDC/</a:t>
            </a:r>
            <a:r>
              <a:rPr lang="en-US" altLang="ko-KR" sz="1000" err="1">
                <a:latin typeface="Arial Narrow"/>
              </a:rPr>
              <a:t>추적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데이터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조회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불가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현상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확인하여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대응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하고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있으며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기존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공정과의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차이점</a:t>
            </a:r>
            <a:r>
              <a:rPr lang="en-US" altLang="ko-KR" sz="1000">
                <a:latin typeface="Arial Narrow"/>
              </a:rPr>
              <a:t> 및 </a:t>
            </a:r>
            <a:r>
              <a:rPr lang="en-US" altLang="ko-KR" sz="1000" err="1">
                <a:latin typeface="Arial Narrow"/>
              </a:rPr>
              <a:t>공정추가에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따른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영향성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파악하여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신속히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진행하도록</a:t>
            </a:r>
            <a:r>
              <a:rPr lang="en-US" altLang="ko-KR" sz="1000">
                <a:latin typeface="Arial Narrow"/>
              </a:rPr>
              <a:t> </a:t>
            </a:r>
            <a:r>
              <a:rPr lang="en-US" altLang="ko-KR" sz="1000" err="1">
                <a:latin typeface="Arial Narrow"/>
              </a:rPr>
              <a:t>하겠습니다</a:t>
            </a:r>
            <a:r>
              <a:rPr lang="en-US" altLang="ko-KR" sz="1000">
                <a:latin typeface="Arial Narrow"/>
              </a:rPr>
              <a:t>. (11/18)</a:t>
            </a:r>
          </a:p>
          <a:p>
            <a:r>
              <a:rPr lang="en-US" altLang="ko-KR" sz="1000">
                <a:latin typeface="Arial Narrow"/>
              </a:rPr>
              <a:t>-. SPC+/EDC/Trace</a:t>
            </a:r>
            <a:r>
              <a:rPr lang="ko-KR" altLang="en-US" sz="1000">
                <a:latin typeface="Arial Narrow"/>
              </a:rPr>
              <a:t>개발 완료하여 배포 완료하였습니다</a:t>
            </a:r>
            <a:r>
              <a:rPr lang="en-US" altLang="ko-KR" sz="1000">
                <a:latin typeface="Arial Narrow"/>
              </a:rPr>
              <a:t>.(11/18)  </a:t>
            </a:r>
          </a:p>
          <a:p>
            <a:r>
              <a:rPr lang="en-US" altLang="ko-KR" sz="1000">
                <a:latin typeface="Arial Narrow"/>
              </a:rPr>
              <a:t>-. SPC </a:t>
            </a:r>
            <a:r>
              <a:rPr lang="ko-KR" altLang="en-US" sz="1000">
                <a:latin typeface="Arial Narrow"/>
              </a:rPr>
              <a:t>추가 개발이 필요하여 </a:t>
            </a:r>
            <a:r>
              <a:rPr lang="en-US" altLang="ko-KR" sz="1000">
                <a:latin typeface="Arial Narrow"/>
              </a:rPr>
              <a:t>12/16</a:t>
            </a:r>
            <a:r>
              <a:rPr lang="ko-KR" altLang="en-US" sz="1000">
                <a:latin typeface="Arial Narrow"/>
              </a:rPr>
              <a:t>일 완료 하겠습니다</a:t>
            </a:r>
            <a:r>
              <a:rPr lang="en-US" altLang="ko-KR" sz="1000">
                <a:latin typeface="Arial Narrow"/>
              </a:rPr>
              <a:t>. </a:t>
            </a: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975D021F-A86B-F7E1-2BE6-AF56108275A4}"/>
              </a:ext>
            </a:extLst>
          </p:cNvPr>
          <p:cNvSpPr txBox="1">
            <a:spLocks/>
          </p:cNvSpPr>
          <p:nvPr/>
        </p:nvSpPr>
        <p:spPr>
          <a:xfrm>
            <a:off x="8229601" y="403273"/>
            <a:ext cx="1457466" cy="30777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  <a:cs typeface="Malgun Gothic Semilight"/>
              </a:rPr>
              <a:t>김영선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P, </a:t>
            </a:r>
            <a:r>
              <a:rPr lang="ko-KR" altLang="en-US" sz="1000" err="1">
                <a:solidFill>
                  <a:prstClr val="black"/>
                </a:solidFill>
                <a:latin typeface="+mn-ea"/>
                <a:cs typeface="Malgun Gothic Semilight"/>
              </a:rPr>
              <a:t>지원경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06DFECD5-6FD2-677D-9AF3-E4AEC951150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41412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공장 동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라인 증설 및 변화대응</a:t>
            </a:r>
          </a:p>
        </p:txBody>
      </p:sp>
    </p:spTree>
    <p:extLst>
      <p:ext uri="{BB962C8B-B14F-4D97-AF65-F5344CB8AC3E}">
        <p14:creationId xmlns:p14="http://schemas.microsoft.com/office/powerpoint/2010/main" val="295996924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표 1">
            <a:extLst>
              <a:ext uri="{FF2B5EF4-FFF2-40B4-BE49-F238E27FC236}">
                <a16:creationId xmlns:a16="http://schemas.microsoft.com/office/drawing/2014/main" id="{8A38A87F-4443-4478-82E8-3E765B92E1F5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519744" cy="5746282"/>
        </p:xfrm>
        <a:graphic>
          <a:graphicData uri="http://schemas.openxmlformats.org/drawingml/2006/table">
            <a:tbl>
              <a:tblPr/>
              <a:tblGrid>
                <a:gridCol w="561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5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54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08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64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+mn-ea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TOS </a:t>
                      </a: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충방전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Data DAVINCI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연계 확산 및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전체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MI</a:t>
                      </a:r>
                      <a:r>
                        <a:rPr lang="ko-KR" altLang="en-US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TOS </a:t>
                      </a:r>
                      <a:r>
                        <a:rPr lang="ko-KR" altLang="en-US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서버가 복구되었다고 하며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시험결과파일 인터페이스 해줄 서버 준비 중에 있습니다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t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spc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배경</a:t>
                      </a:r>
                      <a:r>
                        <a:rPr lang="en-US" altLang="ko-KR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]</a:t>
                      </a:r>
                      <a:endParaRPr lang="ko-KR" altLang="en-US" sz="2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현재 국내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PNE(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시험의뢰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제조사 것만 연결이 되어 있기에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PNE(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직접시험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), APRO, </a:t>
                      </a:r>
                      <a:r>
                        <a:rPr lang="ko-KR" altLang="en-US" sz="10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이노벡스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제조사 것도 추가 연결하고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해외확산도 하고자 합니다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2.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또한 시험결과조회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UI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에 대한 사용자의 의견 반영하여 개선도 하고자 합니다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        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ko-KR" altLang="en-US" sz="1000" b="0" i="0" u="none" strike="noStrike" kern="1200" spc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[진행 사항]</a:t>
                      </a: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국내 설비제조사 확산 완료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-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사용자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Test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10/17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 운영 배포 완료하였으며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 확인결과 정상적으로 수집되고 있습니다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2. 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해외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(WA,NB,MI)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확산 진행중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- WA/NB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확산 완료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(11/20)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 </a:t>
                      </a:r>
                      <a:r>
                        <a:rPr lang="ko-KR" altLang="en-US" sz="10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배포후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모니터링 진행중이며 특이사항 없습니다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 - MI</a:t>
                      </a:r>
                      <a:r>
                        <a:rPr lang="ko-KR" altLang="en-US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TOS </a:t>
                      </a:r>
                      <a:r>
                        <a:rPr lang="ko-KR" altLang="en-US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서버가 복구되었다고 하며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시험결과파일 인터페이스 해줄 서버 준비 중에 있습니다</a:t>
                      </a:r>
                      <a:r>
                        <a:rPr lang="en-US" altLang="ko-KR" sz="1000" b="0" i="0" u="none" strike="noStrike" kern="120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      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충방전기 데이터 표준화 관련  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CNS PM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과 화상회의 진행하였으며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표준화 </a:t>
                      </a:r>
                      <a:r>
                        <a:rPr lang="ko-KR" altLang="en-US" sz="10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적용후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데이터 정합성 검증은 같이 하기로 하였습니다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algn="l" rtl="0" eaLnBrk="1" fontAlgn="t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4. TOS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의 실험결과 파일이 대용량이기 때문에 다운로드 속도가 </a:t>
                      </a:r>
                      <a:r>
                        <a:rPr lang="ko-KR" altLang="en-US" sz="1000" b="0" i="0" u="none" strike="noStrike" kern="120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오래걸리기에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병목구간이 어디인지 확인하여 개선안 검토 준비작업 진행 중입니다</a:t>
                      </a:r>
                      <a:r>
                        <a:rPr lang="en-US" altLang="ko-KR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n-US" altLang="ko-KR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 ’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26/12</a:t>
                      </a:r>
                      <a:r>
                        <a:rPr lang="ko-KR" altLang="en-US" sz="18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오영택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제목 1">
            <a:extLst>
              <a:ext uri="{FF2B5EF4-FFF2-40B4-BE49-F238E27FC236}">
                <a16:creationId xmlns:a16="http://schemas.microsoft.com/office/drawing/2014/main" id="{DF3912C3-2160-4F52-8D31-7D94A26A4F1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BD4ECF6-3496-4CDC-BBC5-57E6B6F4654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65645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latin typeface="+mj-ea"/>
                <a:ea typeface="+mj-ea"/>
              </a:rPr>
              <a:t>■ </a:t>
            </a:r>
            <a:r>
              <a:rPr lang="en-US" altLang="ko-KR" sz="1400" b="1">
                <a:latin typeface="+mj-ea"/>
                <a:ea typeface="+mj-ea"/>
              </a:rPr>
              <a:t>TOS </a:t>
            </a:r>
            <a:r>
              <a:rPr lang="ko-KR" altLang="en-US" sz="1400" b="1" err="1">
                <a:latin typeface="+mj-ea"/>
                <a:ea typeface="+mj-ea"/>
              </a:rPr>
              <a:t>충방전</a:t>
            </a:r>
            <a:r>
              <a:rPr lang="ko-KR" altLang="en-US" sz="1400" b="1">
                <a:latin typeface="+mj-ea"/>
                <a:ea typeface="+mj-ea"/>
              </a:rPr>
              <a:t> </a:t>
            </a:r>
            <a:r>
              <a:rPr lang="en-US" altLang="ko-KR" sz="1400" b="1">
                <a:latin typeface="+mj-ea"/>
                <a:ea typeface="+mj-ea"/>
              </a:rPr>
              <a:t>Data DAVINCI </a:t>
            </a:r>
            <a:r>
              <a:rPr lang="ko-KR" altLang="en-US" sz="1400" b="1">
                <a:latin typeface="+mj-ea"/>
                <a:ea typeface="+mj-ea"/>
              </a:rPr>
              <a:t>연계 확산 및 고도화</a:t>
            </a: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BE4C27CD-44CC-44E7-9F73-43C133C6C464}"/>
              </a:ext>
            </a:extLst>
          </p:cNvPr>
          <p:cNvSpPr txBox="1">
            <a:spLocks/>
          </p:cNvSpPr>
          <p:nvPr/>
        </p:nvSpPr>
        <p:spPr>
          <a:xfrm>
            <a:off x="8796789" y="404687"/>
            <a:ext cx="856004" cy="153888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lang="ko-KR" altLang="en-US" sz="1000" err="1">
                <a:solidFill>
                  <a:prstClr val="black"/>
                </a:solidFill>
                <a:latin typeface="+mn-ea"/>
              </a:rPr>
              <a:t>오영택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P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0373BB9-D390-4047-A064-8F4A4B80B416}"/>
              </a:ext>
            </a:extLst>
          </p:cNvPr>
          <p:cNvSpPr txBox="1"/>
          <p:nvPr/>
        </p:nvSpPr>
        <p:spPr>
          <a:xfrm>
            <a:off x="7860458" y="558575"/>
            <a:ext cx="1927648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r"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업데이트 시간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12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/10 (</a:t>
            </a:r>
            <a:r>
              <a:rPr lang="ko-KR" altLang="en-US" sz="1000">
                <a:solidFill>
                  <a:prstClr val="black"/>
                </a:solidFill>
                <a:latin typeface="+mn-ea"/>
              </a:rPr>
              <a:t>수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)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11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시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79B09EB-D2F4-4A63-9F00-F730F7B668CB}"/>
              </a:ext>
            </a:extLst>
          </p:cNvPr>
          <p:cNvSpPr txBox="1"/>
          <p:nvPr/>
        </p:nvSpPr>
        <p:spPr>
          <a:xfrm>
            <a:off x="5776546" y="558575"/>
            <a:ext cx="2250993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-#50,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03EF9B6-356B-411A-B89A-3D5B0B5AFEE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58468" y="2091759"/>
            <a:ext cx="6301740" cy="974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623002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9C2E0-E27B-9468-4077-1E5D84C81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77274AB-BF1E-2B59-0E37-A2D8A90173A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334D889E-A719-5A76-8530-78081E41C5C4}"/>
              </a:ext>
            </a:extLst>
          </p:cNvPr>
          <p:cNvGraphicFramePr>
            <a:graphicFrameLocks noGrp="1"/>
          </p:cNvGraphicFramePr>
          <p:nvPr/>
        </p:nvGraphicFramePr>
        <p:xfrm>
          <a:off x="118181" y="878693"/>
          <a:ext cx="9503202" cy="5746282"/>
        </p:xfrm>
        <a:graphic>
          <a:graphicData uri="http://schemas.openxmlformats.org/drawingml/2006/table">
            <a:tbl>
              <a:tblPr/>
              <a:tblGrid>
                <a:gridCol w="5607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2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5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550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MES2.0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전환</a:t>
                      </a:r>
                      <a:endParaRPr lang="en-US" altLang="ko-KR" sz="900" b="0" i="0" u="none" strike="noStrike" baseline="0" noProof="0">
                        <a:solidFill>
                          <a:srgbClr val="000000"/>
                        </a:solidFill>
                        <a:effectLst/>
                        <a:latin typeface="Arial Narrow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DAVINCI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대응</a:t>
                      </a:r>
                    </a:p>
                  </a:txBody>
                  <a:tcPr marL="36000" marR="6273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GM1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GM2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HM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25년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김영선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P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Arial Narrow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21D7DB0-F5D5-30DC-33C0-7CD43CA7DF43}"/>
              </a:ext>
            </a:extLst>
          </p:cNvPr>
          <p:cNvSpPr txBox="1"/>
          <p:nvPr/>
        </p:nvSpPr>
        <p:spPr>
          <a:xfrm>
            <a:off x="7951013" y="572550"/>
            <a:ext cx="1736053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 12/16(화) 11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6DEE5F-7FF9-85FE-FBF1-075831A7C253}"/>
              </a:ext>
            </a:extLst>
          </p:cNvPr>
          <p:cNvSpPr txBox="1"/>
          <p:nvPr/>
        </p:nvSpPr>
        <p:spPr>
          <a:xfrm>
            <a:off x="5447490" y="558575"/>
            <a:ext cx="2580050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51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935F6F9-1F30-4EAB-3AE8-85D54956C9A2}"/>
              </a:ext>
            </a:extLst>
          </p:cNvPr>
          <p:cNvSpPr/>
          <p:nvPr/>
        </p:nvSpPr>
        <p:spPr>
          <a:xfrm>
            <a:off x="1302937" y="1081729"/>
            <a:ext cx="7148336" cy="2708434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금주(</a:t>
            </a:r>
            <a:r>
              <a:rPr lang="ko-KR" altLang="en-US" sz="1000" err="1">
                <a:solidFill>
                  <a:srgbClr val="0000FF"/>
                </a:solidFill>
                <a:latin typeface="+mn-ea"/>
                <a:cs typeface="Malgun Gothic Semilight"/>
              </a:rPr>
              <a:t>W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51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)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: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특이사항 없습니다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.</a:t>
            </a:r>
            <a:endParaRPr lang="en-US" altLang="ko-KR" sz="1000" b="1">
              <a:latin typeface="+mn-ea"/>
              <a:cs typeface="Malgun Gothic Semilight"/>
            </a:endParaRPr>
          </a:p>
          <a:p>
            <a:endParaRPr lang="en-US" altLang="ko-KR" sz="1000" b="1">
              <a:latin typeface="+mn-ea"/>
              <a:cs typeface="Malgun Gothic Semilight"/>
            </a:endParaRPr>
          </a:p>
          <a:p>
            <a:r>
              <a:rPr lang="ko-KR" altLang="en-US" sz="1000" b="1">
                <a:latin typeface="+mn-ea"/>
                <a:cs typeface="Malgun Gothic Semilight"/>
              </a:rPr>
              <a:t>▣ </a:t>
            </a:r>
            <a:r>
              <a:rPr lang="en-US" altLang="ko-KR" sz="1000" b="1">
                <a:latin typeface="+mn-ea"/>
                <a:cs typeface="Malgun Gothic Semilight"/>
              </a:rPr>
              <a:t>MES2.0 </a:t>
            </a:r>
            <a:r>
              <a:rPr lang="ko-KR" altLang="en-US" sz="1000" b="1">
                <a:latin typeface="+mn-ea"/>
                <a:cs typeface="Malgun Gothic Semilight"/>
              </a:rPr>
              <a:t>전환 </a:t>
            </a:r>
            <a:r>
              <a:rPr lang="en-US" altLang="ko-KR" sz="1000" b="1">
                <a:latin typeface="+mn-ea"/>
                <a:cs typeface="Malgun Gothic Semilight"/>
              </a:rPr>
              <a:t>DAVINCI </a:t>
            </a:r>
            <a:r>
              <a:rPr lang="ko-KR" altLang="en-US" sz="1000" b="1">
                <a:latin typeface="+mn-ea"/>
                <a:cs typeface="Malgun Gothic Semilight"/>
              </a:rPr>
              <a:t>대응 </a:t>
            </a:r>
            <a:r>
              <a:rPr lang="en-US" altLang="ko-KR" sz="1000" b="1">
                <a:latin typeface="+mn-ea"/>
                <a:cs typeface="Malgun Gothic Semilight"/>
              </a:rPr>
              <a:t>PJT</a:t>
            </a:r>
            <a:endParaRPr lang="ko-KR" altLang="en-US" sz="1000" b="1">
              <a:latin typeface="+mn-ea"/>
              <a:cs typeface="Malgun Gothic Semilight"/>
            </a:endParaRPr>
          </a:p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배경</a:t>
            </a:r>
            <a:r>
              <a:rPr lang="en-US" altLang="ko-KR" sz="1000">
                <a:latin typeface="+mn-ea"/>
              </a:rPr>
              <a:t>] </a:t>
            </a:r>
            <a:endParaRPr lang="ko-KR" altLang="en-US" sz="1000">
              <a:latin typeface="+mn-ea"/>
            </a:endParaRPr>
          </a:p>
          <a:p>
            <a:r>
              <a:rPr lang="ko-KR" altLang="en-US" sz="1000"/>
              <a:t>법인 별 </a:t>
            </a:r>
            <a:r>
              <a:rPr lang="en-US" altLang="ko-KR" sz="1000"/>
              <a:t>MES2.0 </a:t>
            </a:r>
            <a:r>
              <a:rPr lang="ko-KR" altLang="en-US" sz="1000"/>
              <a:t>전환이 순차적으로 전환됨에 따라 </a:t>
            </a:r>
            <a:r>
              <a:rPr lang="en-US" altLang="ko-KR" sz="1000"/>
              <a:t>DAVINCI</a:t>
            </a:r>
            <a:r>
              <a:rPr lang="ko-KR" altLang="en-US" sz="1000"/>
              <a:t>에서 제공중인 </a:t>
            </a:r>
            <a:r>
              <a:rPr lang="en-US" altLang="ko-KR" sz="1000"/>
              <a:t>MES</a:t>
            </a:r>
            <a:r>
              <a:rPr lang="ko-KR" altLang="en-US" sz="1000"/>
              <a:t>데이터의 점검과 변경사항 대응</a:t>
            </a:r>
            <a:endParaRPr lang="en-US" altLang="ko-KR" sz="1000">
              <a:latin typeface="+mn-ea"/>
              <a:cs typeface="Arial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진행 사항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]</a:t>
            </a:r>
            <a:br>
              <a:rPr lang="en-US" altLang="ko-KR" sz="1000">
                <a:latin typeface="+mn-ea"/>
              </a:rPr>
            </a:br>
            <a:r>
              <a:rPr lang="en-US" altLang="ko-KR" sz="1000">
                <a:solidFill>
                  <a:srgbClr val="000000"/>
                </a:solidFill>
                <a:latin typeface="+mn-ea"/>
              </a:rPr>
              <a:t>  - 25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년 하반기 전환 대상 법인 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: GM1, GM2, HM, MI 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활성화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, WA 2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동 활성화</a:t>
            </a:r>
            <a:br>
              <a:rPr lang="en-US" altLang="ko-KR" sz="1000">
                <a:latin typeface="+mn-ea"/>
                <a:cs typeface="+mn-lt"/>
              </a:rPr>
            </a:br>
            <a:r>
              <a:rPr lang="en-US" altLang="ko-KR" sz="1000">
                <a:latin typeface="+mn-ea"/>
                <a:cs typeface="+mn-lt"/>
              </a:rPr>
              <a:t>  - GM2 </a:t>
            </a:r>
            <a:r>
              <a:rPr lang="ko-KR" altLang="en-US" sz="1000">
                <a:latin typeface="+mn-ea"/>
                <a:cs typeface="+mn-lt"/>
              </a:rPr>
              <a:t>법인 과거 </a:t>
            </a:r>
            <a:r>
              <a:rPr lang="en-US" altLang="ko-KR" sz="1000">
                <a:latin typeface="+mn-ea"/>
                <a:cs typeface="+mn-lt"/>
              </a:rPr>
              <a:t>MES DB</a:t>
            </a:r>
            <a:r>
              <a:rPr lang="ko-KR" altLang="en-US" sz="1000">
                <a:latin typeface="+mn-ea"/>
                <a:cs typeface="+mn-lt"/>
              </a:rPr>
              <a:t>가 </a:t>
            </a:r>
            <a:r>
              <a:rPr lang="ko-KR" altLang="en-US" sz="1000" err="1">
                <a:latin typeface="+mn-ea"/>
                <a:cs typeface="+mn-lt"/>
              </a:rPr>
              <a:t>절체되고</a:t>
            </a:r>
            <a:r>
              <a:rPr lang="ko-KR" altLang="en-US" sz="1000">
                <a:latin typeface="+mn-ea"/>
                <a:cs typeface="+mn-lt"/>
              </a:rPr>
              <a:t> </a:t>
            </a:r>
            <a:r>
              <a:rPr lang="en-US" altLang="ko-KR" sz="1000">
                <a:latin typeface="+mn-ea"/>
                <a:cs typeface="+mn-lt"/>
              </a:rPr>
              <a:t>MES2.0 DB</a:t>
            </a:r>
            <a:r>
              <a:rPr lang="ko-KR" altLang="en-US" sz="1000">
                <a:latin typeface="+mn-ea"/>
                <a:cs typeface="+mn-lt"/>
              </a:rPr>
              <a:t>가 오픈하여 방화벽 해제 및 데이터 수집 등 </a:t>
            </a:r>
            <a:r>
              <a:rPr lang="en-US" altLang="ko-KR" sz="1000">
                <a:latin typeface="+mn-ea"/>
                <a:cs typeface="+mn-lt"/>
              </a:rPr>
              <a:t>DB </a:t>
            </a:r>
            <a:r>
              <a:rPr lang="ko-KR" altLang="en-US" sz="1000">
                <a:latin typeface="+mn-ea"/>
                <a:cs typeface="+mn-lt"/>
              </a:rPr>
              <a:t>변경 대응하였습니다</a:t>
            </a:r>
            <a:r>
              <a:rPr lang="en-US" altLang="ko-KR" sz="1000">
                <a:latin typeface="+mn-ea"/>
                <a:cs typeface="+mn-lt"/>
              </a:rPr>
              <a:t>.</a:t>
            </a:r>
            <a:br>
              <a:rPr lang="en-US" altLang="ko-KR" sz="1000">
                <a:latin typeface="+mn-ea"/>
                <a:cs typeface="+mn-lt"/>
              </a:rPr>
            </a:br>
            <a:r>
              <a:rPr lang="en-US" altLang="ko-KR" sz="1000">
                <a:latin typeface="+mn-ea"/>
                <a:cs typeface="+mn-lt"/>
              </a:rPr>
              <a:t>  - </a:t>
            </a:r>
            <a:r>
              <a:rPr lang="ko-KR" altLang="en-US" sz="1000">
                <a:latin typeface="+mn-ea"/>
                <a:cs typeface="+mn-lt"/>
              </a:rPr>
              <a:t>일정</a:t>
            </a:r>
            <a:r>
              <a:rPr lang="en-US" altLang="ko-KR" sz="1000">
                <a:latin typeface="+mn-ea"/>
                <a:cs typeface="+mn-lt"/>
              </a:rPr>
              <a:t> </a:t>
            </a:r>
            <a:br>
              <a:rPr lang="en-US" altLang="ko-KR" sz="1000">
                <a:latin typeface="+mn-ea"/>
                <a:cs typeface="+mn-lt"/>
              </a:rPr>
            </a:br>
            <a:r>
              <a:rPr lang="en-US" altLang="ko-KR" sz="1000">
                <a:latin typeface="+mn-ea"/>
                <a:cs typeface="+mn-lt"/>
              </a:rPr>
              <a:t>   • MI </a:t>
            </a:r>
            <a:r>
              <a:rPr lang="ko-KR" altLang="en-US" sz="1000">
                <a:latin typeface="+mn-ea"/>
                <a:cs typeface="+mn-lt"/>
              </a:rPr>
              <a:t>활성화</a:t>
            </a:r>
            <a:r>
              <a:rPr lang="en-US" altLang="ko-KR" sz="1000">
                <a:latin typeface="+mn-ea"/>
                <a:cs typeface="+mn-lt"/>
              </a:rPr>
              <a:t>, WA 3</a:t>
            </a:r>
            <a:r>
              <a:rPr lang="ko-KR" altLang="en-US" sz="1000">
                <a:latin typeface="+mn-ea"/>
                <a:cs typeface="+mn-lt"/>
              </a:rPr>
              <a:t>동 활성화 </a:t>
            </a:r>
            <a:r>
              <a:rPr lang="en-US" altLang="ko-KR" sz="1000">
                <a:latin typeface="+mn-ea"/>
                <a:cs typeface="+mn-lt"/>
              </a:rPr>
              <a:t>: ‘26</a:t>
            </a:r>
            <a:r>
              <a:rPr lang="ko-KR" altLang="en-US" sz="1000">
                <a:latin typeface="+mn-ea"/>
                <a:cs typeface="+mn-lt"/>
              </a:rPr>
              <a:t>년 </a:t>
            </a:r>
            <a:r>
              <a:rPr lang="en-US" altLang="ko-KR" sz="1000">
                <a:latin typeface="+mn-ea"/>
                <a:cs typeface="+mn-lt"/>
              </a:rPr>
              <a:t>1</a:t>
            </a:r>
            <a:r>
              <a:rPr lang="ko-KR" altLang="en-US" sz="1000">
                <a:latin typeface="+mn-ea"/>
                <a:cs typeface="+mn-lt"/>
              </a:rPr>
              <a:t>월 말</a:t>
            </a:r>
            <a:br>
              <a:rPr lang="en-US" altLang="ko-KR" sz="1000">
                <a:latin typeface="+mn-ea"/>
                <a:cs typeface="+mn-lt"/>
              </a:rPr>
            </a:br>
            <a:r>
              <a:rPr lang="en-US" altLang="ko-KR" sz="1000">
                <a:latin typeface="+mn-ea"/>
                <a:cs typeface="+mn-lt"/>
              </a:rPr>
              <a:t>   • GM1/GM2/HM : ’25</a:t>
            </a:r>
            <a:r>
              <a:rPr lang="ko-KR" altLang="en-US" sz="1000">
                <a:latin typeface="+mn-ea"/>
                <a:cs typeface="+mn-lt"/>
              </a:rPr>
              <a:t>년 </a:t>
            </a:r>
            <a:r>
              <a:rPr lang="en-US" altLang="ko-KR" sz="1000">
                <a:latin typeface="+mn-ea"/>
                <a:cs typeface="+mn-lt"/>
              </a:rPr>
              <a:t>12</a:t>
            </a:r>
            <a:r>
              <a:rPr lang="ko-KR" altLang="en-US" sz="1000">
                <a:latin typeface="+mn-ea"/>
                <a:cs typeface="+mn-lt"/>
              </a:rPr>
              <a:t>월말</a:t>
            </a:r>
            <a:endParaRPr lang="en-US" altLang="ko-KR" sz="1000">
              <a:latin typeface="+mn-ea"/>
              <a:cs typeface="+mn-lt"/>
            </a:endParaRPr>
          </a:p>
          <a:p>
            <a:r>
              <a:rPr lang="en-US" sz="1000">
                <a:solidFill>
                  <a:srgbClr val="1414FE"/>
                </a:solidFill>
                <a:latin typeface="+mn-ea"/>
                <a:cs typeface="+mn-lt"/>
              </a:rPr>
              <a:t>  </a:t>
            </a:r>
            <a:r>
              <a:rPr lang="en-US" sz="1000">
                <a:latin typeface="+mn-ea"/>
                <a:cs typeface="+mn-lt"/>
              </a:rPr>
              <a:t>- DAVINCI</a:t>
            </a:r>
            <a:r>
              <a:rPr lang="ko-KR" altLang="en-US" sz="1000">
                <a:latin typeface="+mn-ea"/>
                <a:cs typeface="+mn-lt"/>
              </a:rPr>
              <a:t>에서 </a:t>
            </a:r>
            <a:r>
              <a:rPr lang="en-US" altLang="ko-KR" sz="1000">
                <a:latin typeface="+mn-ea"/>
                <a:cs typeface="+mn-lt"/>
              </a:rPr>
              <a:t>MES2.0</a:t>
            </a:r>
            <a:r>
              <a:rPr lang="ko-KR" altLang="en-US" sz="1000">
                <a:latin typeface="+mn-ea"/>
                <a:cs typeface="+mn-lt"/>
              </a:rPr>
              <a:t>전환 </a:t>
            </a:r>
            <a:r>
              <a:rPr lang="ko-KR" altLang="en-US" sz="1000" err="1">
                <a:latin typeface="+mn-ea"/>
                <a:cs typeface="+mn-lt"/>
              </a:rPr>
              <a:t>선대응</a:t>
            </a:r>
            <a:r>
              <a:rPr lang="ko-KR" altLang="en-US" sz="1000">
                <a:latin typeface="+mn-ea"/>
                <a:cs typeface="+mn-lt"/>
              </a:rPr>
              <a:t> 하기 위해 기존 </a:t>
            </a:r>
            <a:r>
              <a:rPr lang="en-US" altLang="ko-KR" sz="1000">
                <a:latin typeface="+mn-ea"/>
                <a:cs typeface="+mn-lt"/>
              </a:rPr>
              <a:t>MES2.0</a:t>
            </a:r>
            <a:r>
              <a:rPr lang="ko-KR" altLang="en-US" sz="1000">
                <a:latin typeface="+mn-ea"/>
                <a:cs typeface="+mn-lt"/>
              </a:rPr>
              <a:t> 적용 법인</a:t>
            </a:r>
            <a:r>
              <a:rPr lang="en-US" altLang="ko-KR" sz="1000">
                <a:latin typeface="+mn-ea"/>
                <a:cs typeface="+mn-lt"/>
              </a:rPr>
              <a:t>(HD,</a:t>
            </a:r>
            <a:r>
              <a:rPr lang="ko-KR" altLang="en-US" sz="1000">
                <a:latin typeface="+mn-ea"/>
                <a:cs typeface="+mn-lt"/>
              </a:rPr>
              <a:t> </a:t>
            </a:r>
            <a:r>
              <a:rPr lang="en-US" altLang="ko-KR" sz="1000">
                <a:latin typeface="+mn-ea"/>
                <a:cs typeface="+mn-lt"/>
              </a:rPr>
              <a:t>HG </a:t>
            </a:r>
            <a:r>
              <a:rPr lang="ko-KR" altLang="en-US" sz="1000">
                <a:latin typeface="+mn-ea"/>
                <a:cs typeface="+mn-lt"/>
              </a:rPr>
              <a:t>등</a:t>
            </a:r>
            <a:r>
              <a:rPr lang="en-US" altLang="ko-KR" sz="1000">
                <a:latin typeface="+mn-ea"/>
                <a:cs typeface="+mn-lt"/>
              </a:rPr>
              <a:t>)</a:t>
            </a:r>
            <a:r>
              <a:rPr lang="ko-KR" altLang="en-US" sz="1000">
                <a:latin typeface="+mn-ea"/>
                <a:cs typeface="+mn-lt"/>
              </a:rPr>
              <a:t>의 버전</a:t>
            </a:r>
            <a:r>
              <a:rPr lang="en-US" altLang="ko-KR" sz="1000">
                <a:latin typeface="+mn-ea"/>
                <a:cs typeface="+mn-lt"/>
              </a:rPr>
              <a:t>/</a:t>
            </a:r>
            <a:r>
              <a:rPr lang="ko-KR" altLang="en-US" sz="1000">
                <a:latin typeface="+mn-ea"/>
                <a:cs typeface="+mn-lt"/>
              </a:rPr>
              <a:t>로직 차이를 분석할 예정입니다</a:t>
            </a:r>
            <a:r>
              <a:rPr lang="en-US" altLang="ko-KR" sz="1000">
                <a:latin typeface="+mn-ea"/>
                <a:cs typeface="+mn-lt"/>
              </a:rPr>
              <a:t>.</a:t>
            </a:r>
            <a:br>
              <a:rPr lang="en-US" altLang="ko-KR" sz="1000">
                <a:latin typeface="+mn-ea"/>
                <a:cs typeface="+mn-lt"/>
              </a:rPr>
            </a:br>
            <a:r>
              <a:rPr lang="en-US" altLang="ko-KR" sz="1000">
                <a:latin typeface="+mn-ea"/>
                <a:cs typeface="+mn-lt"/>
              </a:rPr>
              <a:t>  - GM1/GM2/HM/WA </a:t>
            </a:r>
            <a:r>
              <a:rPr lang="ko-KR" altLang="en-US" sz="1000">
                <a:latin typeface="+mn-ea"/>
                <a:cs typeface="+mn-lt"/>
              </a:rPr>
              <a:t>개발 완료되었으며 금주 테스트 예정입니다</a:t>
            </a:r>
            <a:r>
              <a:rPr lang="en-US" altLang="ko-KR" sz="1000">
                <a:latin typeface="+mn-ea"/>
                <a:cs typeface="+mn-lt"/>
              </a:rPr>
              <a:t>.</a:t>
            </a:r>
          </a:p>
          <a:p>
            <a:endParaRPr lang="en-US" altLang="ko-KR" sz="1000">
              <a:solidFill>
                <a:srgbClr val="1414FE"/>
              </a:solidFill>
              <a:latin typeface="+mn-ea"/>
              <a:cs typeface="+mn-lt"/>
            </a:endParaRPr>
          </a:p>
          <a:p>
            <a:endParaRPr lang="en-US" altLang="ko-KR" sz="1000">
              <a:solidFill>
                <a:srgbClr val="1414FE"/>
              </a:solidFill>
              <a:latin typeface="Arial Narrow"/>
              <a:cs typeface="Malgun Gothic Semilight"/>
            </a:endParaRPr>
          </a:p>
          <a:p>
            <a:r>
              <a:rPr lang="en-US" altLang="ko-KR" sz="1000"/>
              <a:t>[</a:t>
            </a:r>
            <a:r>
              <a:rPr lang="ko-KR" altLang="en-US" sz="1000"/>
              <a:t>법인 별 전환 일정</a:t>
            </a:r>
            <a:r>
              <a:rPr lang="en-US" altLang="ko-KR" sz="1000"/>
              <a:t>] </a:t>
            </a:r>
            <a:endParaRPr lang="ko-KR" altLang="en-US" sz="1000"/>
          </a:p>
          <a:p>
            <a:endParaRPr lang="en-US" altLang="ko-KR" sz="1000">
              <a:solidFill>
                <a:srgbClr val="1414FE"/>
              </a:solidFill>
              <a:latin typeface="Arial Narrow"/>
              <a:cs typeface="Malgun Gothic Semilight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975D021F-A86B-F7E1-2BE6-AF56108275A4}"/>
              </a:ext>
            </a:extLst>
          </p:cNvPr>
          <p:cNvSpPr txBox="1">
            <a:spLocks/>
          </p:cNvSpPr>
          <p:nvPr/>
        </p:nvSpPr>
        <p:spPr>
          <a:xfrm>
            <a:off x="8229601" y="403273"/>
            <a:ext cx="1457466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+mn-ea"/>
                <a:cs typeface="Malgun Gothic Semilight"/>
              </a:rPr>
              <a:t>김영선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06DFECD5-6FD2-677D-9AF3-E4AEC951150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27786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MES2.0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전환 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DAVINCI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대응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67D900A-E72E-4D1D-BA6E-E69CB10FDD70}"/>
              </a:ext>
            </a:extLst>
          </p:cNvPr>
          <p:cNvGraphicFramePr>
            <a:graphicFrameLocks noGrp="1"/>
          </p:cNvGraphicFramePr>
          <p:nvPr/>
        </p:nvGraphicFramePr>
        <p:xfrm>
          <a:off x="1575105" y="4019767"/>
          <a:ext cx="6604002" cy="20328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00667">
                  <a:extLst>
                    <a:ext uri="{9D8B030D-6E8A-4147-A177-3AD203B41FA5}">
                      <a16:colId xmlns:a16="http://schemas.microsoft.com/office/drawing/2014/main" val="1613054384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2513551801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3002368093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3488479458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2069005093"/>
                    </a:ext>
                  </a:extLst>
                </a:gridCol>
                <a:gridCol w="1100667">
                  <a:extLst>
                    <a:ext uri="{9D8B030D-6E8A-4147-A177-3AD203B41FA5}">
                      <a16:colId xmlns:a16="http://schemas.microsoft.com/office/drawing/2014/main" val="3135918072"/>
                    </a:ext>
                  </a:extLst>
                </a:gridCol>
              </a:tblGrid>
              <a:tr h="310095"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‘26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100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582458"/>
                  </a:ext>
                </a:extLst>
              </a:tr>
              <a:tr h="3100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GM1</a:t>
                      </a:r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>
                          <a:latin typeface="+mn-ea"/>
                          <a:ea typeface="+mn-ea"/>
                        </a:rPr>
                        <a:t>전극</a:t>
                      </a:r>
                      <a:r>
                        <a:rPr lang="en-US" altLang="ko-KR" sz="100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조립</a:t>
                      </a:r>
                      <a:r>
                        <a:rPr lang="en-US" altLang="ko-KR" sz="100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활성화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1109825"/>
                  </a:ext>
                </a:extLst>
              </a:tr>
              <a:tr h="3100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GM2</a:t>
                      </a:r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>
                          <a:latin typeface="+mn-ea"/>
                          <a:ea typeface="+mn-ea"/>
                        </a:rPr>
                        <a:t>전극</a:t>
                      </a:r>
                      <a:r>
                        <a:rPr lang="en-US" altLang="ko-KR" sz="100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조립</a:t>
                      </a:r>
                      <a:r>
                        <a:rPr lang="en-US" altLang="ko-KR" sz="100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활성화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0877163"/>
                  </a:ext>
                </a:extLst>
              </a:tr>
              <a:tr h="33133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HM</a:t>
                      </a:r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>
                          <a:latin typeface="+mn-ea"/>
                          <a:ea typeface="+mn-ea"/>
                        </a:rPr>
                        <a:t>전극</a:t>
                      </a:r>
                      <a:r>
                        <a:rPr lang="en-US" altLang="ko-KR" sz="100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조립</a:t>
                      </a:r>
                    </a:p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활성화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9997880"/>
                  </a:ext>
                </a:extLst>
              </a:tr>
              <a:tr h="3100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MI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 활성화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>
                          <a:latin typeface="+mn-ea"/>
                          <a:ea typeface="+mn-ea"/>
                        </a:rPr>
                        <a:t>활성화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6799320"/>
                  </a:ext>
                </a:extLst>
              </a:tr>
              <a:tr h="33133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>
                          <a:latin typeface="+mn-ea"/>
                          <a:ea typeface="+mn-ea"/>
                        </a:rPr>
                        <a:t>WA 2</a:t>
                      </a:r>
                      <a:r>
                        <a:rPr lang="ko-KR" altLang="en-US" sz="1000">
                          <a:latin typeface="+mn-ea"/>
                          <a:ea typeface="+mn-ea"/>
                        </a:rPr>
                        <a:t>동 </a:t>
                      </a:r>
                      <a:br>
                        <a:rPr lang="en-US" altLang="ko-KR" sz="1000">
                          <a:latin typeface="+mn-ea"/>
                          <a:ea typeface="+mn-ea"/>
                        </a:rPr>
                      </a:br>
                      <a:r>
                        <a:rPr lang="ko-KR" altLang="en-US" sz="1000">
                          <a:latin typeface="+mn-ea"/>
                          <a:ea typeface="+mn-ea"/>
                        </a:rPr>
                        <a:t>활성화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>
                          <a:latin typeface="+mn-ea"/>
                          <a:ea typeface="+mn-ea"/>
                        </a:rPr>
                        <a:t>활성화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31826"/>
                  </a:ext>
                </a:extLst>
              </a:tr>
            </a:tbl>
          </a:graphicData>
        </a:graphic>
      </p:graphicFrame>
      <p:grpSp>
        <p:nvGrpSpPr>
          <p:cNvPr id="15" name="그룹 14">
            <a:extLst>
              <a:ext uri="{FF2B5EF4-FFF2-40B4-BE49-F238E27FC236}">
                <a16:creationId xmlns:a16="http://schemas.microsoft.com/office/drawing/2014/main" id="{25B3E24D-9DCA-4AEC-B8DF-494DC38D884E}"/>
              </a:ext>
            </a:extLst>
          </p:cNvPr>
          <p:cNvGrpSpPr/>
          <p:nvPr/>
        </p:nvGrpSpPr>
        <p:grpSpPr>
          <a:xfrm>
            <a:off x="6492384" y="3824397"/>
            <a:ext cx="195928" cy="2306244"/>
            <a:chOff x="3790543" y="3639379"/>
            <a:chExt cx="195928" cy="2306244"/>
          </a:xfrm>
        </p:grpSpPr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275C37A0-601C-421B-845F-2DF863436D1A}"/>
                </a:ext>
              </a:extLst>
            </p:cNvPr>
            <p:cNvCxnSpPr>
              <a:cxnSpLocks/>
            </p:cNvCxnSpPr>
            <p:nvPr/>
          </p:nvCxnSpPr>
          <p:spPr>
            <a:xfrm>
              <a:off x="3888507" y="3814621"/>
              <a:ext cx="0" cy="2131002"/>
            </a:xfrm>
            <a:prstGeom prst="line">
              <a:avLst/>
            </a:prstGeom>
            <a:ln w="19050">
              <a:solidFill>
                <a:srgbClr val="1414F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42C9F51C-8E7D-416A-99F5-A88A97282BF3}"/>
                </a:ext>
              </a:extLst>
            </p:cNvPr>
            <p:cNvSpPr/>
            <p:nvPr/>
          </p:nvSpPr>
          <p:spPr>
            <a:xfrm>
              <a:off x="3790543" y="3639379"/>
              <a:ext cx="195928" cy="19592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1414F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ko-KR" altLang="en-US" sz="1000">
                  <a:solidFill>
                    <a:schemeClr val="tx1"/>
                  </a:solidFill>
                </a:rPr>
                <a:t>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7523821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9C2E0-E27B-9468-4077-1E5D84C81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77274AB-BF1E-2B59-0E37-A2D8A90173A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334D889E-A719-5A76-8530-78081E41C5C4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503202" cy="5746282"/>
        </p:xfrm>
        <a:graphic>
          <a:graphicData uri="http://schemas.openxmlformats.org/drawingml/2006/table">
            <a:tbl>
              <a:tblPr/>
              <a:tblGrid>
                <a:gridCol w="5607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2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5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550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WA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성능개선</a:t>
                      </a:r>
                    </a:p>
                  </a:txBody>
                  <a:tcPr marL="36000" marR="6273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25년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박준규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김영선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21D7DB0-F5D5-30DC-33C0-7CD43CA7DF43}"/>
              </a:ext>
            </a:extLst>
          </p:cNvPr>
          <p:cNvSpPr txBox="1"/>
          <p:nvPr/>
        </p:nvSpPr>
        <p:spPr>
          <a:xfrm>
            <a:off x="7951013" y="572550"/>
            <a:ext cx="1736053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 12/16(화) 18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6DEE5F-7FF9-85FE-FBF1-075831A7C253}"/>
              </a:ext>
            </a:extLst>
          </p:cNvPr>
          <p:cNvSpPr txBox="1"/>
          <p:nvPr/>
        </p:nvSpPr>
        <p:spPr>
          <a:xfrm>
            <a:off x="5447490" y="558575"/>
            <a:ext cx="2580050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52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935F6F9-1F30-4EAB-3AE8-85D54956C9A2}"/>
              </a:ext>
            </a:extLst>
          </p:cNvPr>
          <p:cNvSpPr/>
          <p:nvPr/>
        </p:nvSpPr>
        <p:spPr>
          <a:xfrm>
            <a:off x="1302937" y="1081729"/>
            <a:ext cx="7148336" cy="5170646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금주(W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51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)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: 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데이터서비스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5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종에 대해 사용자공지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, 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연속성 확보 등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Sunset Process 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진행 예정입니다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.</a:t>
            </a:r>
            <a:endParaRPr lang="en-US" altLang="ko-KR" sz="1000" b="1">
              <a:latin typeface="+mn-ea"/>
              <a:cs typeface="Malgun Gothic Semilight"/>
            </a:endParaRPr>
          </a:p>
          <a:p>
            <a:endParaRPr lang="en-US" altLang="ko-KR" sz="1000" b="1">
              <a:latin typeface="+mn-ea"/>
              <a:cs typeface="Malgun Gothic Semilight"/>
            </a:endParaRPr>
          </a:p>
          <a:p>
            <a:r>
              <a:rPr lang="ko-KR" altLang="en-US" sz="1000" b="1">
                <a:latin typeface="+mn-ea"/>
                <a:cs typeface="Malgun Gothic Semilight"/>
              </a:rPr>
              <a:t>▣ </a:t>
            </a:r>
            <a:r>
              <a:rPr lang="en-US" altLang="ko-KR" sz="1000" b="1">
                <a:latin typeface="+mn-ea"/>
                <a:cs typeface="Malgun Gothic Semilight"/>
              </a:rPr>
              <a:t>WA</a:t>
            </a:r>
            <a:r>
              <a:rPr lang="ko-KR" altLang="en-US" sz="1000" b="1">
                <a:latin typeface="+mn-ea"/>
                <a:cs typeface="Malgun Gothic Semilight"/>
              </a:rPr>
              <a:t> 성능개선</a:t>
            </a:r>
          </a:p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배경</a:t>
            </a:r>
            <a:r>
              <a:rPr lang="en-US" altLang="ko-KR" sz="1000">
                <a:latin typeface="+mn-ea"/>
              </a:rPr>
              <a:t>] </a:t>
            </a:r>
            <a:endParaRPr lang="ko-KR" altLang="en-US" sz="1000">
              <a:latin typeface="+mn-ea"/>
            </a:endParaRPr>
          </a:p>
          <a:p>
            <a:r>
              <a:rPr lang="en-US" altLang="ko-KR" sz="1000"/>
              <a:t>ESWA DAVINCI </a:t>
            </a:r>
            <a:r>
              <a:rPr lang="ko-KR" altLang="en-US" sz="1000"/>
              <a:t>데이터 및 사용자 증가로 인한 적재 및 조회 성능 저하 현상 개선을 위한 활동 진행 필요</a:t>
            </a:r>
            <a:br>
              <a:rPr lang="en-US" altLang="ko-KR" sz="1000"/>
            </a:br>
            <a:endParaRPr lang="en-US" altLang="ko-KR" sz="1000">
              <a:latin typeface="+mn-ea"/>
              <a:cs typeface="Arial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진행 사항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]</a:t>
            </a:r>
            <a:br>
              <a:rPr lang="en-US" altLang="ko-KR" sz="1000">
                <a:latin typeface="+mn-ea"/>
              </a:rPr>
            </a:br>
            <a:r>
              <a:rPr lang="en-US" altLang="ko-KR" sz="1000">
                <a:latin typeface="+mn-ea"/>
              </a:rPr>
              <a:t>1. </a:t>
            </a:r>
            <a:r>
              <a:rPr lang="ko-KR" altLang="en-US" sz="1000">
                <a:latin typeface="+mn-ea"/>
              </a:rPr>
              <a:t>데이터 서비스</a:t>
            </a:r>
            <a:endParaRPr lang="en-US" altLang="ko-KR" sz="1000">
              <a:latin typeface="+mn-ea"/>
            </a:endParaRPr>
          </a:p>
          <a:p>
            <a:r>
              <a:rPr lang="en-US" altLang="ko-KR" sz="1000">
                <a:latin typeface="+mn-ea"/>
                <a:cs typeface="Malgun Gothic Semilight"/>
              </a:rPr>
              <a:t>  - </a:t>
            </a:r>
            <a:r>
              <a:rPr lang="ko-KR" altLang="en-US" sz="1000" err="1">
                <a:latin typeface="+mn-ea"/>
                <a:cs typeface="Malgun Gothic Semilight"/>
              </a:rPr>
              <a:t>사용율</a:t>
            </a:r>
            <a:r>
              <a:rPr lang="ko-KR" altLang="en-US" sz="1000">
                <a:latin typeface="+mn-ea"/>
                <a:cs typeface="Malgun Gothic Semilight"/>
              </a:rPr>
              <a:t> 저하 데이터 서비스 조사하여 해당 데이터 서비스 용도의 데이터 적재 </a:t>
            </a:r>
            <a:r>
              <a:rPr lang="en-US" altLang="ko-KR" sz="1000">
                <a:latin typeface="+mn-ea"/>
                <a:cs typeface="Malgun Gothic Semilight"/>
              </a:rPr>
              <a:t>Job </a:t>
            </a:r>
            <a:r>
              <a:rPr lang="ko-KR" altLang="en-US" sz="1000">
                <a:latin typeface="+mn-ea"/>
                <a:cs typeface="Malgun Gothic Semilight"/>
              </a:rPr>
              <a:t>제거를 통한 적재 성능 개선 진행</a:t>
            </a:r>
            <a:endParaRPr lang="en-US" altLang="ko-KR" sz="1000">
              <a:latin typeface="+mn-ea"/>
              <a:cs typeface="Malgun Gothic Semilight"/>
            </a:endParaRPr>
          </a:p>
          <a:p>
            <a:r>
              <a:rPr lang="en-US" altLang="ko-KR" sz="1000">
                <a:latin typeface="+mn-ea"/>
                <a:cs typeface="Malgun Gothic Semilight"/>
              </a:rPr>
              <a:t>  1) </a:t>
            </a:r>
            <a:r>
              <a:rPr lang="ko-KR" altLang="en-US" sz="1000" err="1">
                <a:latin typeface="+mn-ea"/>
                <a:cs typeface="Malgun Gothic Semilight"/>
              </a:rPr>
              <a:t>사용율</a:t>
            </a:r>
            <a:r>
              <a:rPr lang="ko-KR" altLang="en-US" sz="1000">
                <a:latin typeface="+mn-ea"/>
                <a:cs typeface="Malgun Gothic Semilight"/>
              </a:rPr>
              <a:t> 낮은 데이터 서비스 리스트업 후 활성화 방안 및 필요성 정리검토 후 활성화 및 </a:t>
            </a:r>
            <a:r>
              <a:rPr lang="en-US" altLang="ko-KR" sz="1000">
                <a:latin typeface="+mn-ea"/>
                <a:cs typeface="Malgun Gothic Semilight"/>
              </a:rPr>
              <a:t>Sunset </a:t>
            </a:r>
            <a:r>
              <a:rPr lang="ko-KR" altLang="en-US" sz="1000">
                <a:latin typeface="+mn-ea"/>
                <a:cs typeface="Malgun Gothic Semilight"/>
              </a:rPr>
              <a:t>진행 예정</a:t>
            </a:r>
            <a:endParaRPr lang="en-US" altLang="ko-KR" sz="1000">
              <a:latin typeface="+mn-ea"/>
              <a:cs typeface="Malgun Gothic Semilight"/>
            </a:endParaRPr>
          </a:p>
          <a:p>
            <a:r>
              <a:rPr lang="en-US" altLang="ko-KR" sz="1000">
                <a:latin typeface="+mn-ea"/>
                <a:cs typeface="Malgun Gothic Semilight"/>
              </a:rPr>
              <a:t>  2) Sunset </a:t>
            </a:r>
            <a:r>
              <a:rPr lang="ko-KR" altLang="en-US" sz="1000">
                <a:latin typeface="+mn-ea"/>
                <a:cs typeface="Malgun Gothic Semilight"/>
              </a:rPr>
              <a:t>대상 데이터서비스 </a:t>
            </a:r>
            <a:r>
              <a:rPr lang="en-US" altLang="ko-KR" sz="1000">
                <a:latin typeface="+mn-ea"/>
                <a:cs typeface="Malgun Gothic Semilight"/>
              </a:rPr>
              <a:t>: ESS Packer </a:t>
            </a:r>
            <a:r>
              <a:rPr lang="ko-KR" altLang="en-US" sz="1000">
                <a:latin typeface="+mn-ea"/>
                <a:cs typeface="Malgun Gothic Semilight"/>
              </a:rPr>
              <a:t>공정품질실적</a:t>
            </a:r>
            <a:r>
              <a:rPr lang="en-US" altLang="ko-KR" sz="1000">
                <a:latin typeface="+mn-ea"/>
                <a:cs typeface="Malgun Gothic Semilight"/>
              </a:rPr>
              <a:t>, </a:t>
            </a:r>
            <a:r>
              <a:rPr lang="ko-KR" altLang="en-US" sz="1000">
                <a:latin typeface="+mn-ea"/>
                <a:cs typeface="Malgun Gothic Semilight"/>
              </a:rPr>
              <a:t>설비별 특이사항</a:t>
            </a:r>
            <a:r>
              <a:rPr lang="en-US" altLang="ko-KR" sz="1000">
                <a:latin typeface="+mn-ea"/>
                <a:cs typeface="Malgun Gothic Semilight"/>
              </a:rPr>
              <a:t>, Package </a:t>
            </a:r>
            <a:r>
              <a:rPr lang="ko-KR" altLang="en-US" sz="1000">
                <a:latin typeface="+mn-ea"/>
                <a:cs typeface="Malgun Gothic Semilight"/>
              </a:rPr>
              <a:t>라인별 검사이력</a:t>
            </a:r>
            <a:r>
              <a:rPr lang="en-US" altLang="ko-KR" sz="1000">
                <a:latin typeface="+mn-ea"/>
                <a:cs typeface="Malgun Gothic Semilight"/>
              </a:rPr>
              <a:t>, </a:t>
            </a:r>
            <a:r>
              <a:rPr lang="ko-KR" altLang="en-US" sz="1000" err="1">
                <a:latin typeface="+mn-ea"/>
                <a:cs typeface="Malgun Gothic Semilight"/>
              </a:rPr>
              <a:t>측정기검교정이력</a:t>
            </a:r>
            <a:r>
              <a:rPr lang="ko-KR" altLang="en-US" sz="1000">
                <a:latin typeface="+mn-ea"/>
                <a:cs typeface="Malgun Gothic Semilight"/>
              </a:rPr>
              <a:t> 데이터</a:t>
            </a:r>
            <a:r>
              <a:rPr lang="en-US" altLang="ko-KR" sz="1000">
                <a:latin typeface="+mn-ea"/>
                <a:cs typeface="Malgun Gothic Semilight"/>
              </a:rPr>
              <a:t>, </a:t>
            </a:r>
            <a:r>
              <a:rPr lang="ko-KR" altLang="en-US" sz="1000">
                <a:latin typeface="+mn-ea"/>
                <a:cs typeface="Malgun Gothic Semilight"/>
              </a:rPr>
              <a:t>설비별 미등록 </a:t>
            </a:r>
            <a:r>
              <a:rPr lang="en-US" altLang="ko-KR" sz="1000">
                <a:latin typeface="+mn-ea"/>
                <a:cs typeface="Malgun Gothic Semilight"/>
              </a:rPr>
              <a:t>Trouble </a:t>
            </a:r>
            <a:r>
              <a:rPr lang="ko-KR" altLang="en-US" sz="1000">
                <a:latin typeface="+mn-ea"/>
                <a:cs typeface="Malgun Gothic Semilight"/>
              </a:rPr>
              <a:t>코드</a:t>
            </a:r>
            <a:r>
              <a:rPr lang="en-US" altLang="ko-KR" sz="1000">
                <a:latin typeface="+mn-ea"/>
                <a:cs typeface="Malgun Gothic Semilight"/>
              </a:rPr>
              <a:t>, ESS </a:t>
            </a:r>
            <a:r>
              <a:rPr lang="ko-KR" altLang="en-US" sz="1000">
                <a:latin typeface="+mn-ea"/>
                <a:cs typeface="Malgun Gothic Semilight"/>
              </a:rPr>
              <a:t>셀 </a:t>
            </a:r>
            <a:r>
              <a:rPr lang="en-US" altLang="ko-KR" sz="1000">
                <a:latin typeface="+mn-ea"/>
                <a:cs typeface="Malgun Gothic Semilight"/>
              </a:rPr>
              <a:t>Lot </a:t>
            </a:r>
            <a:r>
              <a:rPr lang="ko-KR" altLang="en-US" sz="1000">
                <a:latin typeface="+mn-ea"/>
                <a:cs typeface="Malgun Gothic Semilight"/>
              </a:rPr>
              <a:t>추적 시스템</a:t>
            </a:r>
            <a:r>
              <a:rPr lang="en-US" altLang="ko-KR" sz="1000">
                <a:latin typeface="+mn-ea"/>
                <a:cs typeface="Malgun Gothic Semilight"/>
              </a:rPr>
              <a:t>(EGTS Cell STS)</a:t>
            </a:r>
          </a:p>
          <a:p>
            <a:endParaRPr lang="en-US" altLang="ko-KR" sz="1000">
              <a:latin typeface="Arial Narrow"/>
              <a:cs typeface="Malgun Gothic Semilight"/>
            </a:endParaRPr>
          </a:p>
          <a:p>
            <a:r>
              <a:rPr lang="en-US" altLang="ko-KR" sz="1000">
                <a:latin typeface="Arial Narrow"/>
                <a:cs typeface="Malgun Gothic Semilight"/>
              </a:rPr>
              <a:t>2. Automation</a:t>
            </a:r>
          </a:p>
          <a:p>
            <a:r>
              <a:rPr lang="en-US" altLang="ko-KR" sz="1000">
                <a:latin typeface="Arial Narrow"/>
                <a:cs typeface="Malgun Gothic Semilight"/>
              </a:rPr>
              <a:t>   - </a:t>
            </a:r>
            <a:r>
              <a:rPr lang="ko-KR" altLang="en-US" sz="1000">
                <a:latin typeface="Arial Narrow"/>
                <a:cs typeface="Malgun Gothic Semilight"/>
              </a:rPr>
              <a:t>대용량</a:t>
            </a:r>
            <a:r>
              <a:rPr lang="en-US" altLang="ko-KR" sz="1000">
                <a:latin typeface="Arial Narrow"/>
                <a:cs typeface="Malgun Gothic Semilight"/>
              </a:rPr>
              <a:t>, </a:t>
            </a:r>
            <a:r>
              <a:rPr lang="ko-KR" altLang="en-US" sz="1000">
                <a:latin typeface="Arial Narrow"/>
                <a:cs typeface="Malgun Gothic Semilight"/>
              </a:rPr>
              <a:t>장기 수행되는 </a:t>
            </a:r>
            <a:r>
              <a:rPr lang="en-US" altLang="ko-KR" sz="1000">
                <a:latin typeface="Arial Narrow"/>
                <a:cs typeface="Malgun Gothic Semilight"/>
              </a:rPr>
              <a:t>Automation Job</a:t>
            </a:r>
            <a:r>
              <a:rPr lang="ko-KR" altLang="en-US" sz="1000">
                <a:latin typeface="Arial Narrow"/>
                <a:cs typeface="Malgun Gothic Semilight"/>
              </a:rPr>
              <a:t>을 분리 실행하여 </a:t>
            </a:r>
            <a:r>
              <a:rPr lang="en-US" altLang="ko-KR" sz="1000">
                <a:latin typeface="Arial Narrow"/>
                <a:cs typeface="Malgun Gothic Semilight"/>
              </a:rPr>
              <a:t>Automation </a:t>
            </a:r>
            <a:r>
              <a:rPr lang="ko-KR" altLang="en-US" sz="1000">
                <a:latin typeface="Arial Narrow"/>
                <a:cs typeface="Malgun Gothic Semilight"/>
              </a:rPr>
              <a:t>오류 개선 및 수행 속도 향상</a:t>
            </a:r>
            <a:endParaRPr lang="en-US" altLang="ko-KR" sz="1000">
              <a:latin typeface="Arial Narrow"/>
              <a:cs typeface="Malgun Gothic Semilight"/>
            </a:endParaRPr>
          </a:p>
          <a:p>
            <a:r>
              <a:rPr lang="en-US" altLang="ko-KR" sz="1000">
                <a:latin typeface="Arial Narrow"/>
                <a:cs typeface="Malgun Gothic Semilight"/>
              </a:rPr>
              <a:t>    1) </a:t>
            </a:r>
            <a:r>
              <a:rPr lang="ko-KR" altLang="en-US" sz="1000">
                <a:latin typeface="Arial Narrow"/>
                <a:cs typeface="Malgun Gothic Semilight"/>
              </a:rPr>
              <a:t>장기 수행 </a:t>
            </a:r>
            <a:r>
              <a:rPr lang="en-US" altLang="ko-KR" sz="1000">
                <a:latin typeface="Arial Narrow"/>
                <a:cs typeface="Malgun Gothic Semilight"/>
              </a:rPr>
              <a:t>Automation Job</a:t>
            </a:r>
            <a:r>
              <a:rPr lang="ko-KR" altLang="en-US" sz="1000">
                <a:latin typeface="Arial Narrow"/>
                <a:cs typeface="Malgun Gothic Semilight"/>
              </a:rPr>
              <a:t> 분리</a:t>
            </a:r>
            <a:r>
              <a:rPr lang="en-US" altLang="ko-KR" sz="1000">
                <a:latin typeface="Arial Narrow"/>
                <a:cs typeface="Malgun Gothic Semilight"/>
              </a:rPr>
              <a:t> : </a:t>
            </a:r>
            <a:r>
              <a:rPr lang="ko-KR" altLang="en-US" sz="1000">
                <a:latin typeface="Arial Narrow"/>
                <a:cs typeface="Malgun Gothic Semilight"/>
              </a:rPr>
              <a:t>분리 작업 후 </a:t>
            </a: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endParaRPr lang="en-US" altLang="ko-KR" sz="1000">
              <a:latin typeface="Arial Narrow"/>
              <a:cs typeface="Malgun Gothic Semilight"/>
            </a:endParaRPr>
          </a:p>
          <a:p>
            <a:r>
              <a:rPr lang="en-US" altLang="ko-KR" sz="1000">
                <a:latin typeface="Arial Narrow"/>
                <a:cs typeface="Malgun Gothic Semilight"/>
              </a:rPr>
              <a:t>    </a:t>
            </a:r>
          </a:p>
          <a:p>
            <a:endParaRPr lang="en-US" altLang="ko-KR" sz="1000">
              <a:latin typeface="Arial Narrow"/>
              <a:cs typeface="Malgun Gothic Semilight"/>
            </a:endParaRPr>
          </a:p>
          <a:p>
            <a:r>
              <a:rPr lang="en-US" altLang="ko-KR" sz="1000">
                <a:latin typeface="Arial Narrow"/>
                <a:cs typeface="Malgun Gothic Semilight"/>
              </a:rPr>
              <a:t>3. DataMart</a:t>
            </a:r>
            <a:br>
              <a:rPr lang="en-US" altLang="ko-KR" sz="1000">
                <a:latin typeface="Arial Narrow"/>
                <a:cs typeface="Malgun Gothic Semilight"/>
              </a:rPr>
            </a:br>
            <a:r>
              <a:rPr lang="en-US" altLang="ko-KR" sz="1000">
                <a:latin typeface="Arial Narrow"/>
                <a:cs typeface="Malgun Gothic Semilight"/>
              </a:rPr>
              <a:t>   - Table</a:t>
            </a:r>
            <a:r>
              <a:rPr lang="ko-KR" altLang="en-US" sz="1000">
                <a:latin typeface="Arial Narrow"/>
                <a:cs typeface="Malgun Gothic Semilight"/>
              </a:rPr>
              <a:t> 분산 적재 </a:t>
            </a:r>
            <a:r>
              <a:rPr lang="en-US" altLang="ko-KR" sz="1000">
                <a:latin typeface="Arial Narrow"/>
                <a:cs typeface="Malgun Gothic Semilight"/>
              </a:rPr>
              <a:t>Key </a:t>
            </a:r>
            <a:r>
              <a:rPr lang="ko-KR" altLang="en-US" sz="1000">
                <a:latin typeface="Arial Narrow"/>
                <a:cs typeface="Malgun Gothic Semilight"/>
              </a:rPr>
              <a:t>변경 및 불필요 인덱스  제거</a:t>
            </a:r>
            <a:endParaRPr lang="en-US" altLang="ko-KR" sz="1000">
              <a:latin typeface="Arial Narrow"/>
              <a:cs typeface="Malgun Gothic Semilight"/>
            </a:endParaRPr>
          </a:p>
          <a:p>
            <a:r>
              <a:rPr lang="en-US" altLang="ko-KR" sz="1000">
                <a:latin typeface="Arial Narrow"/>
                <a:cs typeface="Malgun Gothic Semilight"/>
              </a:rPr>
              <a:t>   1) DB Table </a:t>
            </a:r>
            <a:r>
              <a:rPr lang="ko-KR" altLang="en-US" sz="1000">
                <a:latin typeface="Arial Narrow"/>
                <a:cs typeface="Malgun Gothic Semilight"/>
              </a:rPr>
              <a:t>데이터 분산 적재 시 조회 성능 개선을 위한 분산</a:t>
            </a:r>
            <a:r>
              <a:rPr lang="en-US" altLang="ko-KR" sz="1000">
                <a:latin typeface="Arial Narrow"/>
                <a:cs typeface="Malgun Gothic Semilight"/>
              </a:rPr>
              <a:t>Key </a:t>
            </a:r>
            <a:r>
              <a:rPr lang="ko-KR" altLang="en-US" sz="1000">
                <a:latin typeface="Arial Narrow"/>
                <a:cs typeface="Malgun Gothic Semilight"/>
              </a:rPr>
              <a:t>변경</a:t>
            </a:r>
            <a:endParaRPr lang="en-US" altLang="ko-KR" sz="1000">
              <a:latin typeface="Arial Narrow"/>
              <a:cs typeface="Malgun Gothic Semilight"/>
            </a:endParaRPr>
          </a:p>
          <a:p>
            <a:r>
              <a:rPr lang="en-US" altLang="ko-KR" sz="1000">
                <a:latin typeface="Arial Narrow"/>
                <a:cs typeface="Malgun Gothic Semilight"/>
              </a:rPr>
              <a:t>   2) </a:t>
            </a:r>
            <a:r>
              <a:rPr lang="ko-KR" altLang="en-US" sz="1000">
                <a:latin typeface="Arial Narrow"/>
                <a:cs typeface="Malgun Gothic Semilight"/>
              </a:rPr>
              <a:t>중복 또는 미사용 인덱스 제거 </a:t>
            </a:r>
            <a:endParaRPr lang="en-US" altLang="ko-KR" sz="1000">
              <a:latin typeface="Arial Narrow"/>
              <a:cs typeface="Malgun Gothic Semilight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975D021F-A86B-F7E1-2BE6-AF56108275A4}"/>
              </a:ext>
            </a:extLst>
          </p:cNvPr>
          <p:cNvSpPr txBox="1">
            <a:spLocks/>
          </p:cNvSpPr>
          <p:nvPr/>
        </p:nvSpPr>
        <p:spPr>
          <a:xfrm>
            <a:off x="8229601" y="403273"/>
            <a:ext cx="1457466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박준규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P, </a:t>
            </a:r>
            <a:r>
              <a:rPr lang="ko-KR" altLang="en-US" sz="1000">
                <a:solidFill>
                  <a:prstClr val="black"/>
                </a:solidFill>
                <a:latin typeface="+mn-ea"/>
                <a:cs typeface="Malgun Gothic Semilight"/>
              </a:rPr>
              <a:t>김영선</a:t>
            </a:r>
            <a:r>
              <a:rPr lang="en-US" altLang="ko-KR" sz="1000">
                <a:solidFill>
                  <a:prstClr val="black"/>
                </a:solidFill>
                <a:latin typeface="+mn-ea"/>
                <a:cs typeface="Malgun Gothic Semilight"/>
              </a:rPr>
              <a:t>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06DFECD5-6FD2-677D-9AF3-E4AEC951150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16886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ES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WA DAVINCI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성능 개선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E8132A51-C32F-CA3A-54DE-BB6DE2BE090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12890" y="3714131"/>
            <a:ext cx="2914650" cy="1731062"/>
          </a:xfrm>
          <a:prstGeom prst="rect">
            <a:avLst/>
          </a:prstGeom>
          <a:ln>
            <a:solidFill>
              <a:schemeClr val="tx1"/>
            </a:solidFill>
          </a:ln>
        </p:spPr>
      </p:pic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A01A4DB0-3A1D-084A-9AE5-E3DDF293E032}"/>
              </a:ext>
            </a:extLst>
          </p:cNvPr>
          <p:cNvGraphicFramePr>
            <a:graphicFrameLocks noGrp="1"/>
          </p:cNvGraphicFramePr>
          <p:nvPr/>
        </p:nvGraphicFramePr>
        <p:xfrm>
          <a:off x="1574668" y="3714131"/>
          <a:ext cx="3302132" cy="17310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24787">
                  <a:extLst>
                    <a:ext uri="{9D8B030D-6E8A-4147-A177-3AD203B41FA5}">
                      <a16:colId xmlns:a16="http://schemas.microsoft.com/office/drawing/2014/main" val="1091160782"/>
                    </a:ext>
                  </a:extLst>
                </a:gridCol>
                <a:gridCol w="1250599">
                  <a:extLst>
                    <a:ext uri="{9D8B030D-6E8A-4147-A177-3AD203B41FA5}">
                      <a16:colId xmlns:a16="http://schemas.microsoft.com/office/drawing/2014/main" val="2670515085"/>
                    </a:ext>
                  </a:extLst>
                </a:gridCol>
                <a:gridCol w="607621">
                  <a:extLst>
                    <a:ext uri="{9D8B030D-6E8A-4147-A177-3AD203B41FA5}">
                      <a16:colId xmlns:a16="http://schemas.microsoft.com/office/drawing/2014/main" val="1611632762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7480245"/>
                    </a:ext>
                  </a:extLst>
                </a:gridCol>
              </a:tblGrid>
              <a:tr h="4327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u="none" strike="noStrike">
                          <a:effectLst/>
                        </a:rPr>
                        <a:t>구분</a:t>
                      </a:r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u="none" strike="noStrike">
                          <a:effectLst/>
                        </a:rPr>
                        <a:t>내용</a:t>
                      </a:r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u="none" strike="noStrike">
                          <a:effectLst/>
                        </a:rPr>
                        <a:t>개선 전 </a:t>
                      </a:r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u="none" strike="noStrike">
                          <a:effectLst/>
                        </a:rPr>
                        <a:t>개선 후</a:t>
                      </a:r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949079"/>
                  </a:ext>
                </a:extLst>
              </a:tr>
              <a:tr h="43276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u="none" strike="noStrike">
                          <a:effectLst/>
                        </a:rPr>
                        <a:t>Canceled</a:t>
                      </a:r>
                      <a:endParaRPr 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u="none" strike="noStrike">
                          <a:effectLst/>
                        </a:rPr>
                        <a:t>Automation</a:t>
                      </a:r>
                      <a:r>
                        <a:rPr lang="ko-KR" altLang="en-US" sz="1050" u="none" strike="noStrike">
                          <a:effectLst/>
                        </a:rPr>
                        <a:t>서버 </a:t>
                      </a:r>
                      <a:r>
                        <a:rPr lang="en-US" altLang="ko-KR" sz="1050" u="none" strike="noStrike">
                          <a:effectLst/>
                        </a:rPr>
                        <a:t>8</a:t>
                      </a:r>
                      <a:r>
                        <a:rPr lang="ko-KR" altLang="en-US" sz="1050" u="none" strike="noStrike">
                          <a:effectLst/>
                        </a:rPr>
                        <a:t>시간</a:t>
                      </a:r>
                      <a:br>
                        <a:rPr lang="en-US" altLang="ko-KR" sz="1050" u="none" strike="noStrike">
                          <a:effectLst/>
                        </a:rPr>
                      </a:br>
                      <a:r>
                        <a:rPr lang="ko-KR" altLang="en-US" sz="1050" u="none" strike="noStrike">
                          <a:effectLst/>
                        </a:rPr>
                        <a:t>초과 수행 강제종료</a:t>
                      </a:r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u="none" strike="noStrike">
                          <a:effectLst/>
                        </a:rPr>
                        <a:t>34.3</a:t>
                      </a:r>
                      <a:endParaRPr lang="en-US" altLang="ko-KR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u="none" strike="noStrike">
                          <a:effectLst/>
                        </a:rPr>
                        <a:t>3.6</a:t>
                      </a:r>
                      <a:endParaRPr lang="en-US" altLang="ko-KR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945228"/>
                  </a:ext>
                </a:extLst>
              </a:tr>
              <a:tr h="43276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u="none" strike="noStrike">
                          <a:effectLst/>
                        </a:rPr>
                        <a:t>Failed</a:t>
                      </a:r>
                      <a:endParaRPr 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u="none" strike="noStrike">
                          <a:effectLst/>
                        </a:rPr>
                        <a:t>DB 1</a:t>
                      </a:r>
                      <a:r>
                        <a:rPr lang="ko-KR" altLang="en-US" sz="1050" u="none" strike="noStrike">
                          <a:effectLst/>
                        </a:rPr>
                        <a:t>시간</a:t>
                      </a:r>
                      <a:br>
                        <a:rPr lang="en-US" altLang="ko-KR" sz="1050" u="none" strike="noStrike">
                          <a:effectLst/>
                        </a:rPr>
                      </a:br>
                      <a:r>
                        <a:rPr lang="ko-KR" altLang="en-US" sz="1050" u="none" strike="noStrike">
                          <a:effectLst/>
                        </a:rPr>
                        <a:t>초과수행 강제종료</a:t>
                      </a:r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u="none" strike="noStrike">
                          <a:effectLst/>
                        </a:rPr>
                        <a:t>537</a:t>
                      </a:r>
                      <a:endParaRPr lang="en-US" altLang="ko-KR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u="none" strike="noStrike">
                          <a:effectLst/>
                        </a:rPr>
                        <a:t>128</a:t>
                      </a:r>
                      <a:endParaRPr lang="en-US" altLang="ko-KR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462928"/>
                  </a:ext>
                </a:extLst>
              </a:tr>
              <a:tr h="43276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u="none" strike="noStrike">
                          <a:effectLst/>
                        </a:rPr>
                        <a:t>Completed</a:t>
                      </a:r>
                      <a:endParaRPr 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u="none" strike="noStrike">
                          <a:effectLst/>
                        </a:rPr>
                        <a:t>정상 수행</a:t>
                      </a:r>
                      <a:endParaRPr lang="ko-KR" altLang="en-US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u="none" strike="noStrike">
                          <a:effectLst/>
                        </a:rPr>
                        <a:t>2564</a:t>
                      </a:r>
                      <a:endParaRPr lang="en-US" altLang="ko-KR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u="none" strike="noStrike">
                          <a:effectLst/>
                        </a:rPr>
                        <a:t>3038.4</a:t>
                      </a:r>
                      <a:endParaRPr lang="en-US" altLang="ko-KR" sz="105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23675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5834537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9C2E0-E27B-9468-4077-1E5D84C81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77274AB-BF1E-2B59-0E37-A2D8A90173A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956259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1. 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과제 진행 현황</a:t>
            </a:r>
            <a:r>
              <a:rPr lang="en-US" altLang="ko-KR" sz="1800">
                <a:solidFill>
                  <a:schemeClr val="tx1"/>
                </a:solidFill>
                <a:latin typeface="+mj-ea"/>
                <a:ea typeface="+mj-ea"/>
              </a:rPr>
              <a:t>_DAVINCI</a:t>
            </a:r>
            <a:r>
              <a:rPr lang="ko-KR" altLang="en-US" sz="1800">
                <a:solidFill>
                  <a:schemeClr val="tx1"/>
                </a:solidFill>
                <a:latin typeface="+mj-ea"/>
                <a:ea typeface="+mj-ea"/>
              </a:rPr>
              <a:t>팀</a:t>
            </a: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334D889E-A719-5A76-8530-78081E41C5C4}"/>
              </a:ext>
            </a:extLst>
          </p:cNvPr>
          <p:cNvGraphicFramePr>
            <a:graphicFrameLocks noGrp="1"/>
          </p:cNvGraphicFramePr>
          <p:nvPr/>
        </p:nvGraphicFramePr>
        <p:xfrm>
          <a:off x="156219" y="848482"/>
          <a:ext cx="9503202" cy="5746282"/>
        </p:xfrm>
        <a:graphic>
          <a:graphicData uri="http://schemas.openxmlformats.org/drawingml/2006/table">
            <a:tbl>
              <a:tblPr/>
              <a:tblGrid>
                <a:gridCol w="5607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2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5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550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62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>
                        <a:solidFill>
                          <a:schemeClr val="bg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chemeClr val="bg1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999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WA</a:t>
                      </a:r>
                      <a:br>
                        <a:rPr lang="en-US" altLang="ko-KR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</a:br>
                      <a:r>
                        <a:rPr lang="ko-KR" altLang="en-US" sz="900" b="0" i="0" u="none" strike="noStrike" baseline="0" noProof="0">
                          <a:solidFill>
                            <a:srgbClr val="000000"/>
                          </a:solidFill>
                          <a:effectLst/>
                          <a:latin typeface="Arial Narrow"/>
                        </a:rPr>
                        <a:t>성능개선</a:t>
                      </a:r>
                    </a:p>
                  </a:txBody>
                  <a:tcPr marL="36000" marR="6273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/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 ‘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25년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박준규</a:t>
                      </a:r>
                      <a:r>
                        <a:rPr lang="en-US" altLang="ko-KR" sz="900" b="0" i="0" u="none" strike="noStrike" baseline="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  <a:endParaRPr lang="ko-KR" altLang="en-US" sz="900" b="0" i="0" u="none" strike="noStrike" baseline="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21D7DB0-F5D5-30DC-33C0-7CD43CA7DF43}"/>
              </a:ext>
            </a:extLst>
          </p:cNvPr>
          <p:cNvSpPr txBox="1"/>
          <p:nvPr/>
        </p:nvSpPr>
        <p:spPr>
          <a:xfrm>
            <a:off x="7951013" y="572550"/>
            <a:ext cx="1736053" cy="153888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sz="1000">
                <a:latin typeface="+mn-ea"/>
                <a:ea typeface="+mn-ea"/>
                <a:cs typeface="Malgun Gothic Semilight"/>
              </a:rPr>
              <a:t>업데이트 시간 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:  12/16(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화</a:t>
            </a:r>
            <a:r>
              <a:rPr lang="en-US" altLang="ko-KR" sz="1000">
                <a:latin typeface="+mn-ea"/>
                <a:ea typeface="+mn-ea"/>
                <a:cs typeface="Malgun Gothic Semilight"/>
              </a:rPr>
              <a:t>) 11</a:t>
            </a:r>
            <a:r>
              <a:rPr lang="ko-KR" altLang="en-US" sz="1000">
                <a:latin typeface="+mn-ea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6DEE5F-7FF9-85FE-FBF1-075831A7C253}"/>
              </a:ext>
            </a:extLst>
          </p:cNvPr>
          <p:cNvSpPr txBox="1"/>
          <p:nvPr/>
        </p:nvSpPr>
        <p:spPr>
          <a:xfrm>
            <a:off x="5447490" y="558575"/>
            <a:ext cx="2580050" cy="24622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lvl="0" algn="r"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다빈치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-#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53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: </a:t>
            </a:r>
            <a:r>
              <a:rPr lang="en-US" altLang="ko-KR" sz="1000">
                <a:solidFill>
                  <a:srgbClr val="6CA76C"/>
                </a:solidFill>
                <a:latin typeface="+mn-ea"/>
              </a:rPr>
              <a:t>●</a:t>
            </a:r>
            <a:r>
              <a:rPr lang="en-US" altLang="ko-KR" sz="1000">
                <a:solidFill>
                  <a:prstClr val="black"/>
                </a:solidFill>
                <a:latin typeface="+mn-ea"/>
              </a:rPr>
              <a:t>]</a:t>
            </a:r>
            <a:endParaRPr kumimoji="0"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935F6F9-1F30-4EAB-3AE8-85D54956C9A2}"/>
              </a:ext>
            </a:extLst>
          </p:cNvPr>
          <p:cNvSpPr/>
          <p:nvPr/>
        </p:nvSpPr>
        <p:spPr>
          <a:xfrm>
            <a:off x="1302937" y="1081729"/>
            <a:ext cx="7148336" cy="5478423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금주(</a:t>
            </a:r>
            <a:r>
              <a:rPr lang="ko-KR" altLang="en-US" sz="1000" err="1">
                <a:solidFill>
                  <a:srgbClr val="0000FF"/>
                </a:solidFill>
                <a:latin typeface="+mn-ea"/>
                <a:cs typeface="Malgun Gothic Semilight"/>
              </a:rPr>
              <a:t>W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51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)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: 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금주 특이사항 없습니다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. ESNB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법인 대상 전환작업을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12/16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에 진행할 예정입니다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. 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추가로 보안 강화를 위해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S3 </a:t>
            </a:r>
            <a:r>
              <a:rPr lang="ko-KR" altLang="en-US" sz="1000" err="1">
                <a:solidFill>
                  <a:srgbClr val="0000FF"/>
                </a:solidFill>
                <a:latin typeface="+mn-ea"/>
                <a:cs typeface="Malgun Gothic Semilight"/>
              </a:rPr>
              <a:t>연결시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HTTP PORT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가 아닌 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HTTPS PORT</a:t>
            </a:r>
            <a:r>
              <a:rPr lang="ko-KR" altLang="en-US" sz="1000">
                <a:solidFill>
                  <a:srgbClr val="0000FF"/>
                </a:solidFill>
                <a:latin typeface="+mn-ea"/>
                <a:cs typeface="Malgun Gothic Semilight"/>
              </a:rPr>
              <a:t>사용을 권고 받아 성능 테스트 및 가능여부 확인작업 진행하였고 이상이 없는 것 확인하여 변경 일정 </a:t>
            </a:r>
            <a:r>
              <a:rPr lang="ko-KR" altLang="en-US" sz="1000" err="1">
                <a:solidFill>
                  <a:srgbClr val="0000FF"/>
                </a:solidFill>
                <a:latin typeface="+mn-ea"/>
                <a:cs typeface="Malgun Gothic Semilight"/>
              </a:rPr>
              <a:t>수립중입니다</a:t>
            </a:r>
            <a:r>
              <a:rPr lang="en-US" altLang="ko-KR" sz="1000">
                <a:solidFill>
                  <a:srgbClr val="0000FF"/>
                </a:solidFill>
                <a:latin typeface="+mn-ea"/>
                <a:cs typeface="Malgun Gothic Semilight"/>
              </a:rPr>
              <a:t>.</a:t>
            </a:r>
          </a:p>
          <a:p>
            <a:endParaRPr lang="en-US" altLang="ko-KR" sz="1000" b="1">
              <a:latin typeface="+mn-ea"/>
              <a:cs typeface="Malgun Gothic Semilight"/>
            </a:endParaRPr>
          </a:p>
          <a:p>
            <a:endParaRPr lang="en-US" altLang="ko-KR" sz="1000" b="1">
              <a:latin typeface="+mn-ea"/>
              <a:cs typeface="Malgun Gothic Semilight"/>
            </a:endParaRPr>
          </a:p>
          <a:p>
            <a:r>
              <a:rPr lang="ko-KR" altLang="en-US" sz="1000" b="1">
                <a:latin typeface="+mn-ea"/>
                <a:cs typeface="Malgun Gothic Semilight"/>
              </a:rPr>
              <a:t>▣ </a:t>
            </a:r>
            <a:r>
              <a:rPr lang="en-US" altLang="ko-KR" sz="1000" b="1">
                <a:latin typeface="+mn-ea"/>
                <a:cs typeface="Malgun Gothic Semilight"/>
              </a:rPr>
              <a:t>Spotfire </a:t>
            </a:r>
            <a:r>
              <a:rPr lang="en-US" altLang="ko-KR" sz="1000" b="1" err="1">
                <a:latin typeface="+mn-ea"/>
                <a:cs typeface="Malgun Gothic Semilight"/>
              </a:rPr>
              <a:t>MetaDB</a:t>
            </a:r>
            <a:r>
              <a:rPr lang="en-US" altLang="ko-KR" sz="1000" b="1">
                <a:latin typeface="+mn-ea"/>
                <a:cs typeface="Malgun Gothic Semilight"/>
              </a:rPr>
              <a:t> S3 </a:t>
            </a:r>
            <a:r>
              <a:rPr lang="ko-KR" altLang="en-US" sz="1000" b="1">
                <a:latin typeface="+mn-ea"/>
                <a:cs typeface="Malgun Gothic Semilight"/>
              </a:rPr>
              <a:t>전환</a:t>
            </a:r>
          </a:p>
          <a:p>
            <a:r>
              <a:rPr lang="en-US" altLang="ko-KR" sz="1000">
                <a:latin typeface="+mn-ea"/>
              </a:rPr>
              <a:t>[</a:t>
            </a:r>
            <a:r>
              <a:rPr lang="ko-KR" altLang="en-US" sz="1000">
                <a:latin typeface="+mn-ea"/>
              </a:rPr>
              <a:t>배경</a:t>
            </a:r>
            <a:r>
              <a:rPr lang="en-US" altLang="ko-KR" sz="1000">
                <a:latin typeface="+mn-ea"/>
              </a:rPr>
              <a:t>] </a:t>
            </a:r>
            <a:endParaRPr lang="ko-KR" altLang="en-US" sz="1000">
              <a:latin typeface="+mn-ea"/>
            </a:endParaRPr>
          </a:p>
          <a:p>
            <a:r>
              <a:rPr lang="en-US" altLang="ko-KR" sz="1000"/>
              <a:t>Spotfire </a:t>
            </a:r>
            <a:r>
              <a:rPr lang="en-US" altLang="ko-KR" sz="1000" err="1"/>
              <a:t>MetaDB</a:t>
            </a:r>
            <a:r>
              <a:rPr lang="ko-KR" altLang="en-US" sz="1000"/>
              <a:t>의 경우 현재 </a:t>
            </a:r>
            <a:r>
              <a:rPr lang="en-US" altLang="ko-KR" sz="1000" err="1"/>
              <a:t>Postgresql</a:t>
            </a:r>
            <a:r>
              <a:rPr lang="ko-KR" altLang="en-US" sz="1000"/>
              <a:t> 이라는 </a:t>
            </a:r>
            <a:r>
              <a:rPr lang="en-US" altLang="ko-KR" sz="1000"/>
              <a:t>DB</a:t>
            </a:r>
            <a:r>
              <a:rPr lang="ko-KR" altLang="en-US" sz="1000"/>
              <a:t>를 활용하여 </a:t>
            </a:r>
            <a:r>
              <a:rPr lang="ko-KR" altLang="en-US" sz="1000" err="1"/>
              <a:t>운영중입니다</a:t>
            </a:r>
            <a:r>
              <a:rPr lang="en-US" altLang="ko-KR" sz="1000"/>
              <a:t>. </a:t>
            </a:r>
            <a:r>
              <a:rPr lang="ko-KR" altLang="en-US" sz="1000"/>
              <a:t>해당 </a:t>
            </a:r>
            <a:r>
              <a:rPr lang="en-US" altLang="ko-KR" sz="1000"/>
              <a:t>DB</a:t>
            </a:r>
            <a:r>
              <a:rPr lang="ko-KR" altLang="en-US" sz="1000"/>
              <a:t>기반으로 </a:t>
            </a:r>
            <a:r>
              <a:rPr lang="en-US" altLang="ko-KR" sz="1000"/>
              <a:t>Spotfire </a:t>
            </a:r>
            <a:r>
              <a:rPr lang="en-US" altLang="ko-KR" sz="1000" err="1"/>
              <a:t>MetaDB</a:t>
            </a:r>
            <a:r>
              <a:rPr lang="en-US" altLang="ko-KR" sz="1000"/>
              <a:t> </a:t>
            </a:r>
            <a:r>
              <a:rPr lang="ko-KR" altLang="en-US" sz="1000" err="1"/>
              <a:t>운영시</a:t>
            </a:r>
            <a:r>
              <a:rPr lang="ko-KR" altLang="en-US" sz="1000"/>
              <a:t> 시스템 특성상 사용자들이 큰 데이터</a:t>
            </a:r>
            <a:r>
              <a:rPr lang="en-US" altLang="ko-KR" sz="1000"/>
              <a:t>(</a:t>
            </a:r>
            <a:r>
              <a:rPr lang="ko-KR" altLang="en-US" sz="1000"/>
              <a:t>워크플로우 용량이 큰 것들</a:t>
            </a:r>
            <a:r>
              <a:rPr lang="en-US" altLang="ko-KR" sz="1000"/>
              <a:t>)</a:t>
            </a:r>
            <a:r>
              <a:rPr lang="ko-KR" altLang="en-US" sz="1000"/>
              <a:t>을 자주 생성</a:t>
            </a:r>
            <a:r>
              <a:rPr lang="en-US" altLang="ko-KR" sz="1000"/>
              <a:t>, </a:t>
            </a:r>
            <a:r>
              <a:rPr lang="ko-KR" altLang="en-US" sz="1000"/>
              <a:t>삭제하는 작업으로 인해 </a:t>
            </a:r>
            <a:r>
              <a:rPr lang="en-US" altLang="ko-KR" sz="1000"/>
              <a:t>DB</a:t>
            </a:r>
            <a:r>
              <a:rPr lang="ko-KR" altLang="en-US" sz="1000"/>
              <a:t> 저장공간에 </a:t>
            </a:r>
            <a:r>
              <a:rPr lang="ko-KR" altLang="en-US" sz="1000" err="1"/>
              <a:t>빈공간</a:t>
            </a:r>
            <a:r>
              <a:rPr lang="en-US" altLang="ko-KR" sz="1000"/>
              <a:t>(Blot)</a:t>
            </a:r>
            <a:r>
              <a:rPr lang="ko-KR" altLang="en-US" sz="1000"/>
              <a:t>이 생기게 되어 지속적인 정리작업 및 </a:t>
            </a:r>
            <a:r>
              <a:rPr lang="en-US" altLang="ko-KR" sz="1000"/>
              <a:t>DB</a:t>
            </a:r>
            <a:r>
              <a:rPr lang="ko-KR" altLang="en-US" sz="1000"/>
              <a:t>가 활용하는 디스크를 </a:t>
            </a:r>
            <a:r>
              <a:rPr lang="ko-KR" altLang="en-US" sz="1000" err="1"/>
              <a:t>증설해야하는</a:t>
            </a:r>
            <a:r>
              <a:rPr lang="ko-KR" altLang="en-US" sz="1000"/>
              <a:t> 작업이 발생합니다</a:t>
            </a:r>
            <a:r>
              <a:rPr lang="en-US" altLang="ko-KR" sz="1000"/>
              <a:t>. </a:t>
            </a:r>
            <a:r>
              <a:rPr lang="ko-KR" altLang="en-US" sz="1000"/>
              <a:t>이를 </a:t>
            </a:r>
            <a:r>
              <a:rPr lang="ko-KR" altLang="en-US" sz="1000" err="1"/>
              <a:t>아이실론이라는</a:t>
            </a:r>
            <a:r>
              <a:rPr lang="ko-KR" altLang="en-US" sz="1000"/>
              <a:t> 별도의 저장소에서 제공하는 </a:t>
            </a:r>
            <a:r>
              <a:rPr lang="en-US" altLang="ko-KR" sz="1000"/>
              <a:t>S3 </a:t>
            </a:r>
            <a:r>
              <a:rPr lang="ko-KR" altLang="en-US" sz="1000"/>
              <a:t>기능을 활용하는 방식으로 전환하면 별도의 정리작업 및 증설작업을 진행하지 않아도 됩니다</a:t>
            </a:r>
            <a:r>
              <a:rPr lang="en-US" altLang="ko-KR" sz="1000"/>
              <a:t>.</a:t>
            </a:r>
          </a:p>
          <a:p>
            <a:endParaRPr lang="en-US" altLang="ko-KR" sz="1000">
              <a:latin typeface="+mn-ea"/>
              <a:cs typeface="Arial"/>
            </a:endParaRPr>
          </a:p>
          <a:p>
            <a:r>
              <a:rPr lang="en-US" altLang="ko-KR" sz="1000">
                <a:solidFill>
                  <a:srgbClr val="000000"/>
                </a:solidFill>
                <a:latin typeface="+mn-ea"/>
              </a:rPr>
              <a:t>[</a:t>
            </a:r>
            <a:r>
              <a:rPr lang="ko-KR" altLang="en-US" sz="1000">
                <a:solidFill>
                  <a:srgbClr val="000000"/>
                </a:solidFill>
                <a:latin typeface="+mn-ea"/>
              </a:rPr>
              <a:t>진행 사항</a:t>
            </a:r>
            <a:r>
              <a:rPr lang="en-US" altLang="ko-KR" sz="1000">
                <a:solidFill>
                  <a:srgbClr val="000000"/>
                </a:solidFill>
                <a:latin typeface="+mn-ea"/>
              </a:rPr>
              <a:t>]</a:t>
            </a:r>
            <a:br>
              <a:rPr lang="en-US" altLang="ko-KR" sz="1000">
                <a:latin typeface="+mn-ea"/>
              </a:rPr>
            </a:br>
            <a:r>
              <a:rPr lang="en-US" altLang="ko-KR" sz="1000">
                <a:latin typeface="+mn-ea"/>
              </a:rPr>
              <a:t>1. </a:t>
            </a:r>
            <a:r>
              <a:rPr lang="ko-KR" altLang="en-US" sz="1000" err="1">
                <a:latin typeface="+mn-ea"/>
              </a:rPr>
              <a:t>법인별</a:t>
            </a:r>
            <a:r>
              <a:rPr lang="ko-KR" altLang="en-US" sz="1000">
                <a:latin typeface="+mn-ea"/>
              </a:rPr>
              <a:t> 작업 현황</a:t>
            </a:r>
            <a:endParaRPr lang="en-US" altLang="ko-KR" sz="1000">
              <a:latin typeface="+mn-ea"/>
            </a:endParaRPr>
          </a:p>
          <a:p>
            <a:r>
              <a:rPr lang="en-US" altLang="ko-KR" sz="1000">
                <a:latin typeface="+mn-ea"/>
                <a:cs typeface="Malgun Gothic Semilight"/>
              </a:rPr>
              <a:t>  - </a:t>
            </a:r>
            <a:r>
              <a:rPr lang="ko-KR" altLang="en-US" sz="1000">
                <a:latin typeface="+mn-ea"/>
                <a:cs typeface="Malgun Gothic Semilight"/>
              </a:rPr>
              <a:t>기존 계획은 </a:t>
            </a:r>
            <a:r>
              <a:rPr lang="en-US" altLang="ko-KR" sz="1000">
                <a:latin typeface="+mn-ea"/>
                <a:cs typeface="Malgun Gothic Semilight"/>
              </a:rPr>
              <a:t>11</a:t>
            </a:r>
            <a:r>
              <a:rPr lang="ko-KR" altLang="en-US" sz="1000">
                <a:latin typeface="+mn-ea"/>
                <a:cs typeface="Malgun Gothic Semilight"/>
              </a:rPr>
              <a:t>월에 주차별로 법인 </a:t>
            </a:r>
            <a:r>
              <a:rPr lang="en-US" altLang="ko-KR" sz="1000">
                <a:latin typeface="+mn-ea"/>
                <a:cs typeface="Malgun Gothic Semilight"/>
              </a:rPr>
              <a:t>1~2</a:t>
            </a:r>
            <a:r>
              <a:rPr lang="ko-KR" altLang="en-US" sz="1000">
                <a:latin typeface="+mn-ea"/>
                <a:cs typeface="Malgun Gothic Semilight"/>
              </a:rPr>
              <a:t>개씩 진행 예정이었으나 </a:t>
            </a:r>
            <a:r>
              <a:rPr lang="en-US" altLang="ko-KR" sz="1000">
                <a:latin typeface="+mn-ea"/>
                <a:cs typeface="Malgun Gothic Semilight"/>
              </a:rPr>
              <a:t>MI,</a:t>
            </a:r>
            <a:r>
              <a:rPr lang="ko-KR" altLang="en-US" sz="1000">
                <a:latin typeface="+mn-ea"/>
                <a:cs typeface="Malgun Gothic Semilight"/>
              </a:rPr>
              <a:t> </a:t>
            </a:r>
            <a:r>
              <a:rPr lang="en-US" altLang="ko-KR" sz="1000">
                <a:latin typeface="+mn-ea"/>
                <a:cs typeface="Malgun Gothic Semilight"/>
              </a:rPr>
              <a:t>MIL </a:t>
            </a:r>
            <a:r>
              <a:rPr lang="ko-KR" altLang="en-US" sz="1000">
                <a:latin typeface="+mn-ea"/>
                <a:cs typeface="Malgun Gothic Semilight"/>
              </a:rPr>
              <a:t>복구대응으로 일정이 연기되어 금주 중 대부분의 법인 </a:t>
            </a:r>
            <a:br>
              <a:rPr lang="en-US" altLang="ko-KR" sz="1000">
                <a:latin typeface="+mn-ea"/>
                <a:cs typeface="Malgun Gothic Semilight"/>
              </a:rPr>
            </a:br>
            <a:r>
              <a:rPr lang="en-US" altLang="ko-KR" sz="1000">
                <a:latin typeface="+mn-ea"/>
                <a:cs typeface="Malgun Gothic Semilight"/>
              </a:rPr>
              <a:t>     </a:t>
            </a:r>
            <a:r>
              <a:rPr lang="ko-KR" altLang="en-US" sz="1000">
                <a:latin typeface="+mn-ea"/>
                <a:cs typeface="Malgun Gothic Semilight"/>
              </a:rPr>
              <a:t>대상으로 전환작업을 진행하고 있습니다</a:t>
            </a:r>
            <a:r>
              <a:rPr lang="en-US" altLang="ko-KR" sz="1000">
                <a:latin typeface="+mn-ea"/>
                <a:cs typeface="Malgun Gothic Semilight"/>
              </a:rPr>
              <a:t>.  </a:t>
            </a: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endParaRPr lang="en-US" altLang="ko-KR" sz="1000">
              <a:latin typeface="+mn-ea"/>
              <a:cs typeface="Malgun Gothic Semilight"/>
            </a:endParaRPr>
          </a:p>
          <a:p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br>
              <a:rPr lang="en-US" altLang="ko-KR" sz="1000">
                <a:latin typeface="Arial Narrow"/>
                <a:cs typeface="Malgun Gothic Semilight"/>
              </a:rPr>
            </a:br>
            <a:endParaRPr lang="en-US" altLang="ko-KR" sz="1000">
              <a:latin typeface="Arial Narrow"/>
              <a:cs typeface="Malgun Gothic Semilight"/>
            </a:endParaRP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975D021F-A86B-F7E1-2BE6-AF56108275A4}"/>
              </a:ext>
            </a:extLst>
          </p:cNvPr>
          <p:cNvSpPr txBox="1">
            <a:spLocks/>
          </p:cNvSpPr>
          <p:nvPr/>
        </p:nvSpPr>
        <p:spPr>
          <a:xfrm>
            <a:off x="8229601" y="403273"/>
            <a:ext cx="1457466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작성자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박준규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/>
              </a:rPr>
              <a:t>P</a:t>
            </a:r>
            <a:endParaRPr lang="ko-KR" altLang="en-US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06DFECD5-6FD2-677D-9AF3-E4AEC951150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146421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Spotfire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MetaDB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 S3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전환</a:t>
            </a:r>
            <a:endParaRPr lang="ko-KR" altLang="en-US" sz="1400" b="1">
              <a:solidFill>
                <a:prstClr val="black"/>
              </a:solidFill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4124F6A-EC41-128A-3373-7309E9250BDC}"/>
              </a:ext>
            </a:extLst>
          </p:cNvPr>
          <p:cNvGraphicFramePr>
            <a:graphicFrameLocks noGrp="1"/>
          </p:cNvGraphicFramePr>
          <p:nvPr/>
        </p:nvGraphicFramePr>
        <p:xfrm>
          <a:off x="2121217" y="3429000"/>
          <a:ext cx="5301615" cy="16764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20979">
                  <a:extLst>
                    <a:ext uri="{9D8B030D-6E8A-4147-A177-3AD203B41FA5}">
                      <a16:colId xmlns:a16="http://schemas.microsoft.com/office/drawing/2014/main" val="18001513"/>
                    </a:ext>
                  </a:extLst>
                </a:gridCol>
                <a:gridCol w="4180636">
                  <a:extLst>
                    <a:ext uri="{9D8B030D-6E8A-4147-A177-3AD203B41FA5}">
                      <a16:colId xmlns:a16="http://schemas.microsoft.com/office/drawing/2014/main" val="2475055352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대상법인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작업일자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61028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  <a:latin typeface="+mn-ea"/>
                          <a:ea typeface="+mn-ea"/>
                        </a:rPr>
                        <a:t>ST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2025-11-03 (</a:t>
                      </a:r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4779578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  <a:latin typeface="+mn-ea"/>
                          <a:ea typeface="+mn-ea"/>
                        </a:rPr>
                        <a:t>MI, MIL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복구 작업 진행 시 전환작업 버전으로 진행 </a:t>
                      </a:r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4683884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  <a:latin typeface="+mn-ea"/>
                          <a:ea typeface="+mn-ea"/>
                        </a:rPr>
                        <a:t>HG, HD, HM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2025-11-24 (</a:t>
                      </a:r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386566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  <a:latin typeface="+mn-ea"/>
                          <a:ea typeface="+mn-ea"/>
                        </a:rPr>
                        <a:t>WA, NA/NJ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2025-11-25 (</a:t>
                      </a:r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0202034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  <a:latin typeface="+mn-ea"/>
                          <a:ea typeface="+mn-ea"/>
                        </a:rPr>
                        <a:t>GM1, GM2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2025-11-27 (</a:t>
                      </a:r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1822909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  <a:latin typeface="+mn-ea"/>
                          <a:ea typeface="+mn-ea"/>
                        </a:rPr>
                        <a:t>OC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2025-11-29 (</a:t>
                      </a:r>
                      <a:r>
                        <a:rPr lang="ko-KR" altLang="en-US" sz="11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11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1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6" marR="11526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1817009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NB</a:t>
                      </a:r>
                    </a:p>
                  </a:txBody>
                  <a:tcPr marL="11526" marR="11526" marT="9525" marB="0" anchor="ctr"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2025-12-16 (</a:t>
                      </a:r>
                      <a:r>
                        <a:rPr lang="ko-KR" altLang="en-US" sz="1100" b="0" i="0" u="none" strike="noStrike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진행예정</a:t>
                      </a:r>
                      <a:r>
                        <a:rPr lang="en-US" altLang="ko-KR" sz="1100" b="0" i="0" u="none" strike="noStrike">
                          <a:solidFill>
                            <a:srgbClr val="1414FE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1526" marR="11526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64834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495092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001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ko-KR" altLang="en-US" sz="1800">
                <a:solidFill>
                  <a:schemeClr val="tx1"/>
                </a:solidFill>
                <a:latin typeface="+mn-ea"/>
                <a:ea typeface="+mn-ea"/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solidFill>
                  <a:schemeClr val="tx1"/>
                </a:solidFill>
                <a:latin typeface="+mn-ea"/>
                <a:ea typeface="+mn-ea"/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solidFill>
                  <a:schemeClr val="tx1"/>
                </a:solidFill>
                <a:latin typeface="+mn-ea"/>
                <a:ea typeface="+mn-ea"/>
                <a:cs typeface="Malgun Gothic Semilight" panose="020B0502040204020203" pitchFamily="50" charset="-127"/>
              </a:rPr>
              <a:t>팀 금주 주요 내용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6160D62-C27B-48F2-9F42-68B14758DA93}"/>
              </a:ext>
            </a:extLst>
          </p:cNvPr>
          <p:cNvSpPr txBox="1"/>
          <p:nvPr/>
        </p:nvSpPr>
        <p:spPr>
          <a:xfrm>
            <a:off x="7880649" y="332076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)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F2DD2DA3-693F-4F0E-B59F-1EBA3485EF03}"/>
              </a:ext>
            </a:extLst>
          </p:cNvPr>
          <p:cNvSpPr txBox="1">
            <a:spLocks/>
          </p:cNvSpPr>
          <p:nvPr/>
        </p:nvSpPr>
        <p:spPr>
          <a:xfrm>
            <a:off x="7880649" y="143498"/>
            <a:ext cx="107721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이강국</a:t>
            </a:r>
            <a:r>
              <a:rPr lang="en-US" altLang="ko-KR" sz="1100" dirty="0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TL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" name="TextBox 4">
            <a:extLst>
              <a:ext uri="{FF2B5EF4-FFF2-40B4-BE49-F238E27FC236}">
                <a16:creationId xmlns:a16="http://schemas.microsoft.com/office/drawing/2014/main" id="{EB495C40-164F-FB24-36C7-A86A1BF4C55F}"/>
              </a:ext>
            </a:extLst>
          </p:cNvPr>
          <p:cNvSpPr txBox="1"/>
          <p:nvPr/>
        </p:nvSpPr>
        <p:spPr>
          <a:xfrm>
            <a:off x="82627" y="854069"/>
            <a:ext cx="9783279" cy="2723823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ko-KR" sz="1100" b="1" kern="0" dirty="0">
                <a:cs typeface="Malgun Gothic Semilight"/>
              </a:rPr>
              <a:t>1. IVS(</a:t>
            </a:r>
            <a:r>
              <a:rPr kumimoji="1" lang="ko-KR" altLang="en-US" sz="1100" b="1" kern="0" dirty="0">
                <a:cs typeface="Malgun Gothic Semilight"/>
              </a:rPr>
              <a:t>자동영상감지</a:t>
            </a:r>
            <a:r>
              <a:rPr kumimoji="1" lang="en-US" altLang="ko-KR" sz="1100" b="1" kern="0" dirty="0">
                <a:cs typeface="Malgun Gothic Semilight"/>
              </a:rPr>
              <a:t>) </a:t>
            </a:r>
            <a:r>
              <a:rPr kumimoji="1" lang="ko-KR" altLang="en-US" sz="1100" b="1" kern="0" dirty="0">
                <a:cs typeface="Malgun Gothic Semilight"/>
              </a:rPr>
              <a:t>사전 검토</a:t>
            </a:r>
            <a:endParaRPr kumimoji="1" lang="en-US" altLang="ko-KR" sz="1100" b="1" kern="0" dirty="0">
              <a:cs typeface="Malgun Gothic Semilight"/>
            </a:endParaRPr>
          </a:p>
          <a:p>
            <a:r>
              <a:rPr lang="en-US" altLang="ko-KR" sz="1000" dirty="0"/>
              <a:t> - </a:t>
            </a:r>
            <a:r>
              <a:rPr lang="ko-KR" altLang="en-US" sz="1000" dirty="0"/>
              <a:t>현재 서버화 적용 최초 법인은 </a:t>
            </a:r>
            <a:r>
              <a:rPr lang="en-US" altLang="ko-KR" sz="1000" dirty="0"/>
              <a:t>AZS</a:t>
            </a:r>
            <a:r>
              <a:rPr lang="ko-KR" altLang="en-US" sz="1000" dirty="0"/>
              <a:t>공정이 적용된 </a:t>
            </a:r>
            <a:r>
              <a:rPr lang="en-US" altLang="ko-KR" sz="1000" dirty="0"/>
              <a:t>HM</a:t>
            </a:r>
            <a:r>
              <a:rPr lang="ko-KR" altLang="en-US" sz="1000" dirty="0"/>
              <a:t>법인</a:t>
            </a:r>
            <a:r>
              <a:rPr lang="en-US" altLang="ko-KR" sz="1000" dirty="0"/>
              <a:t>(CPO</a:t>
            </a:r>
            <a:r>
              <a:rPr lang="ko-KR" altLang="en-US" sz="1000" dirty="0"/>
              <a:t>결정</a:t>
            </a:r>
            <a:r>
              <a:rPr lang="en-US" altLang="ko-KR" sz="1000" dirty="0"/>
              <a:t>)</a:t>
            </a:r>
            <a:r>
              <a:rPr lang="ko-KR" altLang="en-US" sz="1000" dirty="0"/>
              <a:t>을 대상으로 검토하고 있으며</a:t>
            </a:r>
            <a:r>
              <a:rPr lang="en-US" altLang="ko-KR" sz="1000" dirty="0"/>
              <a:t>, </a:t>
            </a:r>
            <a:r>
              <a:rPr lang="ko-KR" altLang="en-US" sz="1000" dirty="0"/>
              <a:t>투자 비용 상세 조건 확정을 위한 사전 </a:t>
            </a:r>
            <a:r>
              <a:rPr lang="en-US" altLang="ko-KR" sz="1000" dirty="0"/>
              <a:t>Test</a:t>
            </a:r>
            <a:r>
              <a:rPr lang="ko-KR" altLang="en-US" sz="1000" dirty="0"/>
              <a:t>는 </a:t>
            </a:r>
            <a:r>
              <a:rPr lang="en-US" altLang="ko-KR" sz="1000" dirty="0"/>
              <a:t>WA</a:t>
            </a:r>
            <a:r>
              <a:rPr lang="ko-KR" altLang="en-US" sz="1000" dirty="0"/>
              <a:t>법인에서 진행 중입니다</a:t>
            </a:r>
            <a:r>
              <a:rPr lang="en-US" altLang="ko-KR" sz="1000" dirty="0"/>
              <a:t>.</a:t>
            </a:r>
            <a:br>
              <a:rPr lang="en-US" altLang="ko-KR" sz="1000" dirty="0"/>
            </a:br>
            <a:r>
              <a:rPr lang="en-US" altLang="ko-KR" sz="1000" dirty="0"/>
              <a:t>   (NB </a:t>
            </a:r>
            <a:r>
              <a:rPr lang="ko-KR" altLang="en-US" sz="1000" dirty="0"/>
              <a:t>법인 기준 예가 </a:t>
            </a:r>
            <a:r>
              <a:rPr lang="en-US" altLang="ko-KR" sz="1000" dirty="0"/>
              <a:t>: </a:t>
            </a:r>
            <a:r>
              <a:rPr lang="ko-KR" altLang="en-US" sz="1000" dirty="0"/>
              <a:t>전극</a:t>
            </a:r>
            <a:r>
              <a:rPr lang="en-US" altLang="ko-KR" sz="1000" dirty="0"/>
              <a:t>2, </a:t>
            </a:r>
            <a:r>
              <a:rPr lang="ko-KR" altLang="en-US" sz="1000" dirty="0"/>
              <a:t>조립</a:t>
            </a:r>
            <a:r>
              <a:rPr lang="en-US" altLang="ko-KR" sz="1000" dirty="0"/>
              <a:t>5</a:t>
            </a:r>
            <a:r>
              <a:rPr lang="ko-KR" altLang="en-US" sz="1000" dirty="0"/>
              <a:t>라인 기준</a:t>
            </a:r>
            <a:r>
              <a:rPr lang="en-US" altLang="ko-KR" sz="1000" dirty="0"/>
              <a:t> 54</a:t>
            </a:r>
            <a:r>
              <a:rPr lang="ko-KR" altLang="en-US" sz="1000" dirty="0"/>
              <a:t>억</a:t>
            </a:r>
            <a:r>
              <a:rPr lang="en-US" altLang="ko-KR" sz="1000" dirty="0"/>
              <a:t>)</a:t>
            </a:r>
          </a:p>
          <a:p>
            <a:r>
              <a:rPr lang="en-US" altLang="ko-KR" sz="1000" dirty="0"/>
              <a:t> -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서버 기반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IVS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기능 동작 및 통신 속도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Test 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차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Test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를  완료 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.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  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서버기반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IVS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판정 체계 구축 시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1.2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초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~2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초 수준의 판정 시간 확보가 필요할 것으로 확인 했습니다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.(w.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생산공정운영팀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비전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AI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팀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</a:p>
          <a:p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구간마다 시간을 측정했으며 시간이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가장 많이 걸리는 구간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(EIF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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설비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PLC 730ms)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에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대해서는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EIF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팀 김인기팀장을 통해서 다시 검증하고 개선을 검토할 </a:t>
            </a:r>
            <a:r>
              <a:rPr lang="ko-KR" altLang="en-US" sz="1000" dirty="0">
                <a:sym typeface="Wingdings" panose="05000000000000000000" pitchFamily="2" charset="2"/>
              </a:rPr>
              <a:t>예정입니다</a:t>
            </a:r>
            <a:r>
              <a:rPr lang="en-US" altLang="ko-KR" sz="1000" dirty="0">
                <a:sym typeface="Wingdings" panose="05000000000000000000" pitchFamily="2" charset="2"/>
              </a:rPr>
              <a:t>.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  <a:sym typeface="Wingdings" panose="05000000000000000000" pitchFamily="2" charset="2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cs typeface="+mn-cs"/>
              </a:rPr>
              <a:t>  </a:t>
            </a:r>
          </a:p>
          <a:p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    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: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설비 상태 수신부터 알고리즘 판정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NG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에 따른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PLC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명령 내리기까지 평균 약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1.2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초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(1223msec)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소요되었습니다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 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알고리즘 판정 시간 제외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- HM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법인 기준 발생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데이터량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알고리즘 비율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(Pro 1:178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Basic 3:534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현행화 및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VM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서버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Test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결과 반영하여 예가를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월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16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일까지 검토 중입니다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.(IT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인프라팀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비전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AI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생산공정운영팀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</a:t>
            </a:r>
          </a:p>
          <a:p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투자가 필요한 영역은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3</a:t>
            </a:r>
            <a:r>
              <a:rPr lang="ko-KR" altLang="en-US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영역이며 비용검토 완료 하였습니다</a:t>
            </a:r>
            <a:r>
              <a:rPr lang="en-US" altLang="ko-KR" sz="10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① 알고리즘 실행 서버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Pro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알고리즘 서버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(VM 60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), Basic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알고리즘 서버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8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(VM 60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구성하여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42.2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억으로 비용 검토하였습니다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②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UI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를 위한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Web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서버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학습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/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배포 서버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WEB(4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)/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응용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(3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)/DB(4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용도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VM 11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및 알고리즘 학습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)/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(1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VM 2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+GPU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기준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4.5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억으로 검토되었습니다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  <a:b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③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이미지 저장소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알고리즘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개월 발생 데이터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이미지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+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텍스트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용량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:1.83GB,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파일수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:2,812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개 기준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6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억으로 비용 검토 완료되었습니다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</a:p>
          <a:p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-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비용 검토결과 총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67.4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억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인프라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52.7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억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개발비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14.7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억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으로 검토완료 되어 유관부서 공유 완료하였습니다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</a:t>
            </a:r>
          </a:p>
          <a:p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- CPO(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생산공정운영팀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확보 비용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40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억원 수준으로 투자 예사 대비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27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억 수준의 저감이 필요하여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가지 관점에서 유관 부서들과 추가 검토를 진행할 예정입니다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.(~12/23)</a:t>
            </a:r>
            <a:b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① 적용 개소 축소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기존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712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개소 대비 축소 검토</a:t>
            </a:r>
            <a:b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② 알고리즘 실행서버 감소 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: Pro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알고리즘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(GPU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활용 알고리즘</a:t>
            </a: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비중을 낮추어서 비용 저감</a:t>
            </a:r>
            <a:b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</a:t>
            </a:r>
            <a:r>
              <a:rPr lang="ko-KR" altLang="en-US" sz="1000" dirty="0">
                <a:solidFill>
                  <a:srgbClr val="0000FF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③ 시스템 개발 비용 저감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15" name="TextBox 2">
            <a:extLst>
              <a:ext uri="{FF2B5EF4-FFF2-40B4-BE49-F238E27FC236}">
                <a16:creationId xmlns:a16="http://schemas.microsoft.com/office/drawing/2014/main" id="{EDD6582D-1DE6-B2CE-51C6-BB819F8FED5E}"/>
              </a:ext>
            </a:extLst>
          </p:cNvPr>
          <p:cNvSpPr txBox="1"/>
          <p:nvPr/>
        </p:nvSpPr>
        <p:spPr>
          <a:xfrm>
            <a:off x="61361" y="3769705"/>
            <a:ext cx="9783279" cy="247760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1" lang="en-US" altLang="ko-KR" sz="1100" b="1" kern="0" dirty="0">
                <a:cs typeface="Malgun Gothic Semilight"/>
              </a:rPr>
              <a:t>2. </a:t>
            </a:r>
            <a:r>
              <a:rPr kumimoji="1" lang="ko-KR" altLang="en-US" sz="1100" b="1" kern="0" dirty="0">
                <a:cs typeface="Malgun Gothic Semilight"/>
              </a:rPr>
              <a:t>시스템  모니터링 자동화</a:t>
            </a:r>
            <a:br>
              <a:rPr kumimoji="1" lang="en-US" altLang="ko-KR" sz="1100" b="1" kern="0" dirty="0">
                <a:cs typeface="Malgun Gothic Semilight"/>
              </a:rPr>
            </a:br>
            <a:r>
              <a:rPr kumimoji="1" lang="en-US" altLang="ko-KR" sz="1100" b="1" kern="0" dirty="0">
                <a:cs typeface="Malgun Gothic Semilight"/>
              </a:rPr>
              <a:t> 1) EDC </a:t>
            </a:r>
            <a:r>
              <a:rPr kumimoji="1" lang="ko-KR" altLang="en-US" sz="1100" b="1" kern="0" dirty="0" err="1">
                <a:cs typeface="Malgun Gothic Semilight"/>
              </a:rPr>
              <a:t>셀추적</a:t>
            </a:r>
            <a:r>
              <a:rPr kumimoji="1" lang="en-US" altLang="ko-KR" sz="1100" b="1" kern="0" dirty="0">
                <a:cs typeface="Malgun Gothic Semilight"/>
              </a:rPr>
              <a:t>(ECS PC)</a:t>
            </a:r>
            <a:r>
              <a:rPr kumimoji="1" lang="ko-KR" altLang="en-US" sz="1100" b="1" kern="0" dirty="0">
                <a:cs typeface="Malgun Gothic Semilight"/>
              </a:rPr>
              <a:t> </a:t>
            </a:r>
            <a:br>
              <a:rPr lang="en-US" altLang="ko-KR" sz="1100" dirty="0"/>
            </a:br>
            <a:r>
              <a:rPr lang="en-US" altLang="ko-KR" sz="1100" dirty="0"/>
              <a:t>  </a:t>
            </a:r>
            <a:r>
              <a:rPr lang="en-US" altLang="ko-KR" sz="1000" dirty="0"/>
              <a:t>- EDC </a:t>
            </a:r>
            <a:r>
              <a:rPr lang="ko-KR" altLang="en-US" sz="1000" dirty="0"/>
              <a:t>일상점검을 방식을 기존 ‘매뉴얼 점검 </a:t>
            </a:r>
            <a:r>
              <a:rPr lang="ko-KR" altLang="en-US" sz="1000" dirty="0" err="1"/>
              <a:t>방식’에서</a:t>
            </a:r>
            <a:r>
              <a:rPr lang="ko-KR" altLang="en-US" sz="1000" dirty="0"/>
              <a:t> ‘자동화 모니터링 </a:t>
            </a:r>
            <a:r>
              <a:rPr lang="ko-KR" altLang="en-US" sz="1000" dirty="0" err="1"/>
              <a:t>방식’으로</a:t>
            </a:r>
            <a:r>
              <a:rPr lang="ko-KR" altLang="en-US" sz="1000" dirty="0"/>
              <a:t> 변경하여 문제점을 신속하게 인지하여 전파하고</a:t>
            </a:r>
            <a:r>
              <a:rPr lang="en-US" altLang="ko-KR" sz="1000" dirty="0"/>
              <a:t>, </a:t>
            </a:r>
            <a:r>
              <a:rPr lang="ko-KR" altLang="en-US" sz="1000" dirty="0"/>
              <a:t>비업무시간에는 상암관제센터를 통하여 전달 및 대응할 수</a:t>
            </a:r>
            <a:br>
              <a:rPr lang="en-US" altLang="ko-KR" sz="1000" dirty="0"/>
            </a:br>
            <a:r>
              <a:rPr lang="en-US" altLang="ko-KR" sz="1000" dirty="0"/>
              <a:t>  </a:t>
            </a:r>
            <a:r>
              <a:rPr lang="ko-KR" altLang="en-US" sz="1000" dirty="0"/>
              <a:t> 있도록 자동화된 대응 체계를 구축하는 것을 목표로 하고 있습니다</a:t>
            </a:r>
            <a:r>
              <a:rPr lang="en-US" altLang="ko-KR" sz="1000" dirty="0"/>
              <a:t>.</a:t>
            </a:r>
            <a:br>
              <a:rPr lang="en-US" altLang="ko-KR" sz="1000" dirty="0"/>
            </a:br>
            <a:r>
              <a:rPr lang="en-US" altLang="ko-KR" sz="1000" dirty="0"/>
              <a:t>   17</a:t>
            </a:r>
            <a:r>
              <a:rPr lang="ko-KR" altLang="en-US" sz="1000" dirty="0"/>
              <a:t>건 중 </a:t>
            </a:r>
            <a:r>
              <a:rPr lang="en-US" altLang="ko-KR" sz="1000" dirty="0"/>
              <a:t>13</a:t>
            </a:r>
            <a:r>
              <a:rPr lang="ko-KR" altLang="en-US" sz="1000" dirty="0"/>
              <a:t>건을 </a:t>
            </a:r>
            <a:r>
              <a:rPr lang="en-US" altLang="ko-KR" sz="1000" dirty="0"/>
              <a:t>OC1, OC2 </a:t>
            </a:r>
            <a:r>
              <a:rPr lang="ko-KR" altLang="en-US" sz="1000" dirty="0"/>
              <a:t>에 </a:t>
            </a:r>
            <a:r>
              <a:rPr lang="en-US" altLang="ko-KR" sz="1000" dirty="0"/>
              <a:t>Open </a:t>
            </a:r>
            <a:r>
              <a:rPr lang="ko-KR" altLang="en-US" sz="1000" dirty="0"/>
              <a:t>완료하였으며</a:t>
            </a:r>
            <a:r>
              <a:rPr lang="en-US" altLang="ko-KR" sz="1000" dirty="0"/>
              <a:t>, </a:t>
            </a:r>
            <a:r>
              <a:rPr lang="ko-KR" altLang="en-US" sz="1000" dirty="0"/>
              <a:t>잔여 </a:t>
            </a:r>
            <a:r>
              <a:rPr lang="en-US" altLang="ko-KR" sz="1000" dirty="0"/>
              <a:t>4</a:t>
            </a:r>
            <a:r>
              <a:rPr lang="ko-KR" altLang="en-US" sz="1000" dirty="0"/>
              <a:t>건</a:t>
            </a:r>
            <a:r>
              <a:rPr lang="en-US" altLang="ko-KR" sz="1000" dirty="0"/>
              <a:t>(①</a:t>
            </a:r>
            <a:r>
              <a:rPr lang="ko-KR" altLang="en-US" sz="1000" dirty="0"/>
              <a:t>스케줄 처리 관리</a:t>
            </a:r>
            <a:r>
              <a:rPr lang="en-US" altLang="ko-KR" sz="1000" dirty="0"/>
              <a:t>,② </a:t>
            </a:r>
            <a:r>
              <a:rPr lang="ko-KR" altLang="en-US" sz="1000" dirty="0"/>
              <a:t>수집데이터 누락 감지 ③ </a:t>
            </a:r>
            <a:r>
              <a:rPr lang="en-US" altLang="ko-KR" sz="1000" dirty="0"/>
              <a:t>Out of Memory </a:t>
            </a:r>
            <a:r>
              <a:rPr lang="ko-KR" altLang="en-US" sz="1000" dirty="0"/>
              <a:t>신규 알람 실시간 수신 ④ </a:t>
            </a:r>
            <a:r>
              <a:rPr lang="en-US" altLang="ko-KR" sz="1000" dirty="0"/>
              <a:t>ECS </a:t>
            </a:r>
            <a:r>
              <a:rPr lang="ko-KR" altLang="en-US" sz="1000" dirty="0"/>
              <a:t>프로그램 자동 업로드</a:t>
            </a:r>
            <a:r>
              <a:rPr lang="en-US" altLang="ko-KR" sz="1000" dirty="0"/>
              <a:t>)</a:t>
            </a:r>
            <a:r>
              <a:rPr lang="ko-KR" altLang="en-US" sz="1000" dirty="0"/>
              <a:t>에 대하여</a:t>
            </a:r>
            <a:br>
              <a:rPr lang="en-US" altLang="ko-KR" sz="1000" dirty="0"/>
            </a:br>
            <a:r>
              <a:rPr lang="en-US" altLang="ko-KR" sz="1000" dirty="0"/>
              <a:t>  </a:t>
            </a:r>
            <a:r>
              <a:rPr lang="ko-KR" altLang="en-US" sz="1000" dirty="0"/>
              <a:t> </a:t>
            </a:r>
            <a:r>
              <a:rPr lang="en-US" altLang="ko-KR" sz="1000" dirty="0"/>
              <a:t>11/28 </a:t>
            </a:r>
            <a:r>
              <a:rPr lang="ko-KR" altLang="en-US" sz="1000" dirty="0"/>
              <a:t>적용 예정입니다</a:t>
            </a:r>
            <a:r>
              <a:rPr lang="en-US" altLang="ko-KR" sz="1000" dirty="0"/>
              <a:t>.</a:t>
            </a:r>
          </a:p>
          <a:p>
            <a:r>
              <a:rPr lang="en-US" altLang="ko-KR" sz="1000" dirty="0"/>
              <a:t>  - </a:t>
            </a:r>
            <a:r>
              <a:rPr lang="ko-KR" altLang="en-US" sz="1000" dirty="0"/>
              <a:t>주요 적용 아이템은 ①</a:t>
            </a:r>
            <a:r>
              <a:rPr lang="en-US" altLang="ko-KR" sz="1000" dirty="0"/>
              <a:t> DB/VM</a:t>
            </a:r>
            <a:r>
              <a:rPr lang="ko-KR" altLang="en-US" sz="1000" dirty="0"/>
              <a:t>서버 </a:t>
            </a:r>
            <a:r>
              <a:rPr lang="en-US" altLang="ko-KR" sz="1000" dirty="0"/>
              <a:t>/ Web </a:t>
            </a:r>
            <a:r>
              <a:rPr lang="ko-KR" altLang="en-US" sz="1000" dirty="0"/>
              <a:t>서버 상태 모니터링 및 이상 감지</a:t>
            </a:r>
            <a:r>
              <a:rPr lang="en-US" altLang="ko-KR" sz="1000" dirty="0"/>
              <a:t>, </a:t>
            </a:r>
            <a:r>
              <a:rPr lang="ko-KR" altLang="en-US" sz="1000" dirty="0"/>
              <a:t>② 직전 </a:t>
            </a:r>
            <a:r>
              <a:rPr lang="en-US" altLang="ko-KR" sz="1000" dirty="0"/>
              <a:t>24</a:t>
            </a:r>
            <a:r>
              <a:rPr lang="ko-KR" altLang="en-US" sz="1000" dirty="0"/>
              <a:t>시간 대상 중복 </a:t>
            </a:r>
            <a:r>
              <a:rPr lang="en-US" altLang="ko-KR" sz="1000" dirty="0"/>
              <a:t>CELL ID </a:t>
            </a:r>
            <a:r>
              <a:rPr lang="ko-KR" altLang="en-US" sz="1000" dirty="0"/>
              <a:t>감지</a:t>
            </a:r>
            <a:r>
              <a:rPr lang="en-US" altLang="ko-KR" sz="1000" dirty="0"/>
              <a:t>, </a:t>
            </a:r>
            <a:r>
              <a:rPr lang="ko-KR" altLang="en-US" sz="1000" dirty="0"/>
              <a:t>③ 가상</a:t>
            </a:r>
            <a:r>
              <a:rPr lang="en-US" altLang="ko-KR" sz="1000" dirty="0"/>
              <a:t>ID-</a:t>
            </a:r>
            <a:r>
              <a:rPr lang="ko-KR" altLang="en-US" sz="1000" dirty="0"/>
              <a:t>실제</a:t>
            </a:r>
            <a:r>
              <a:rPr lang="en-US" altLang="ko-KR" sz="1000" dirty="0"/>
              <a:t>ID Match </a:t>
            </a:r>
            <a:r>
              <a:rPr lang="ko-KR" altLang="en-US" sz="1000" dirty="0"/>
              <a:t>보고 대상인데 </a:t>
            </a:r>
            <a:r>
              <a:rPr lang="en-US" altLang="ko-KR" sz="1000" dirty="0"/>
              <a:t>Match </a:t>
            </a:r>
            <a:r>
              <a:rPr lang="ko-KR" altLang="en-US" sz="1000" dirty="0"/>
              <a:t>파일 생성 누락 감지</a:t>
            </a:r>
            <a:r>
              <a:rPr lang="en-US" altLang="ko-KR" sz="1000" dirty="0"/>
              <a:t>,</a:t>
            </a:r>
          </a:p>
          <a:p>
            <a:r>
              <a:rPr lang="en-US" altLang="ko-KR" sz="1000" dirty="0"/>
              <a:t>    </a:t>
            </a:r>
            <a:r>
              <a:rPr lang="ko-KR" altLang="en-US" sz="1000" dirty="0"/>
              <a:t>④필수 알람 메신저 발송 </a:t>
            </a:r>
            <a:r>
              <a:rPr lang="en-US" altLang="ko-KR" sz="1000" dirty="0"/>
              <a:t>&amp; </a:t>
            </a:r>
            <a:r>
              <a:rPr lang="ko-KR" altLang="en-US" sz="1000" dirty="0"/>
              <a:t>관제 센터 연계 등이며</a:t>
            </a:r>
            <a:r>
              <a:rPr lang="en-US" altLang="ko-KR" sz="1000" dirty="0"/>
              <a:t>,</a:t>
            </a:r>
            <a:r>
              <a:rPr lang="ko-KR" altLang="en-US" sz="1000" dirty="0"/>
              <a:t> 기존 수동 모니터링으로 인한 장애 발생 후 감지 시간 개선</a:t>
            </a:r>
            <a:r>
              <a:rPr lang="en-US" altLang="ko-KR" sz="1000" dirty="0"/>
              <a:t>(</a:t>
            </a:r>
            <a:r>
              <a:rPr lang="ko-KR" altLang="en-US" sz="1000" dirty="0"/>
              <a:t>기존 </a:t>
            </a:r>
            <a:r>
              <a:rPr lang="en-US" altLang="ko-KR" sz="1000" dirty="0"/>
              <a:t>5</a:t>
            </a:r>
            <a:r>
              <a:rPr lang="ko-KR" altLang="en-US" sz="1000" dirty="0"/>
              <a:t>시간 → 신규 </a:t>
            </a:r>
            <a:r>
              <a:rPr lang="en-US" altLang="ko-KR" sz="1000" dirty="0"/>
              <a:t>5</a:t>
            </a:r>
            <a:r>
              <a:rPr lang="ko-KR" altLang="en-US" sz="1000" dirty="0"/>
              <a:t>분</a:t>
            </a:r>
            <a:r>
              <a:rPr lang="en-US" altLang="ko-KR" sz="1000" dirty="0"/>
              <a:t>)</a:t>
            </a:r>
            <a:r>
              <a:rPr lang="ko-KR" altLang="en-US" sz="1000" dirty="0"/>
              <a:t>을 진행 하였습니다</a:t>
            </a:r>
            <a:r>
              <a:rPr lang="en-US" altLang="ko-KR" sz="1000" dirty="0"/>
              <a:t>.</a:t>
            </a:r>
          </a:p>
          <a:p>
            <a:r>
              <a:rPr lang="en-US" altLang="ko-KR" sz="1000" dirty="0"/>
              <a:t>  -</a:t>
            </a:r>
            <a:r>
              <a:rPr lang="ko-KR" altLang="en-US" sz="1000" dirty="0"/>
              <a:t> </a:t>
            </a:r>
            <a:r>
              <a:rPr lang="en-US" altLang="ko-KR" sz="1000" dirty="0"/>
              <a:t>OC1</a:t>
            </a:r>
            <a:r>
              <a:rPr lang="ko-KR" altLang="en-US" sz="1000" dirty="0"/>
              <a:t> </a:t>
            </a:r>
            <a:r>
              <a:rPr lang="en-US" altLang="ko-KR" sz="1000" dirty="0"/>
              <a:t>/ OC2 </a:t>
            </a:r>
            <a:r>
              <a:rPr lang="ko-KR" altLang="en-US" sz="1000" dirty="0"/>
              <a:t>모니터링 후 </a:t>
            </a:r>
            <a:r>
              <a:rPr lang="en-US" altLang="ko-KR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DB, VM, </a:t>
            </a:r>
            <a:r>
              <a:rPr lang="ko-KR" altLang="en-US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웹서버 현황수집 </a:t>
            </a:r>
            <a:r>
              <a:rPr lang="en-US" altLang="ko-KR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/  MQ </a:t>
            </a:r>
            <a:r>
              <a:rPr lang="ko-KR" altLang="en-US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지연 대상 수집 </a:t>
            </a:r>
            <a:r>
              <a:rPr lang="en-US" altLang="ko-KR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/ </a:t>
            </a:r>
            <a:r>
              <a:rPr lang="ko-KR" altLang="en-US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이상감지 전파 요건에 대하여 </a:t>
            </a:r>
            <a:r>
              <a:rPr lang="en-US" altLang="ko-KR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GM1, ST, HG</a:t>
            </a:r>
            <a:r>
              <a:rPr lang="ko-KR" altLang="en-US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에 확산 적용 완료</a:t>
            </a:r>
            <a:r>
              <a:rPr lang="en-US" altLang="ko-KR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(12/2)</a:t>
            </a:r>
            <a:r>
              <a:rPr lang="ko-KR" altLang="en-US" sz="1000" b="0" i="0" u="none" strike="noStrike" kern="1200" baseline="0" noProof="0" dirty="0">
                <a:effectLst/>
                <a:latin typeface="+mn-lt"/>
                <a:ea typeface="+mn-ea"/>
                <a:cs typeface="+mn-cs"/>
              </a:rPr>
              <a:t> 하였습니다</a:t>
            </a:r>
            <a: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.</a:t>
            </a:r>
            <a:b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  - NJ NA NB WA</a:t>
            </a:r>
            <a:r>
              <a:rPr lang="ko-KR" altLang="en-US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에 확산 적용</a:t>
            </a:r>
            <a: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(12/11)</a:t>
            </a:r>
            <a:r>
              <a:rPr lang="ko-KR" altLang="en-US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하였으며</a:t>
            </a:r>
            <a: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, ‘EDC </a:t>
            </a:r>
            <a:r>
              <a:rPr lang="ko-KR" altLang="en-US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수집 데이터 누락 감지</a:t>
            </a:r>
            <a: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’</a:t>
            </a:r>
            <a:r>
              <a:rPr lang="ko-KR" altLang="en-US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 요건을 </a:t>
            </a:r>
            <a:r>
              <a:rPr lang="ko-KR" altLang="en-US" sz="1000" b="0" i="0" u="none" strike="noStrike" kern="1200" baseline="0" noProof="0" dirty="0" err="1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오창</a:t>
            </a:r>
            <a: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(OC1, OC2)</a:t>
            </a:r>
            <a:r>
              <a:rPr lang="ko-KR" altLang="en-US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에 적용 예정 입니다</a:t>
            </a:r>
            <a: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  <a:t>.(12/16)</a:t>
            </a:r>
            <a:br>
              <a:rPr lang="en-US" altLang="ko-KR" sz="1000" b="0" i="0" u="none" strike="noStrike" kern="1200" baseline="0" noProof="0" dirty="0">
                <a:solidFill>
                  <a:srgbClr val="0000FF"/>
                </a:solidFill>
                <a:effectLst/>
                <a:latin typeface="+mn-lt"/>
                <a:ea typeface="+mn-ea"/>
                <a:cs typeface="+mn-cs"/>
              </a:rPr>
            </a:br>
            <a:endParaRPr lang="en-US" altLang="ko-KR" sz="1000" b="0" i="0" u="none" strike="noStrike" kern="1200" baseline="0" noProof="0" dirty="0">
              <a:solidFill>
                <a:srgbClr val="0000FF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kumimoji="1" lang="en-US" altLang="ko-KR" sz="1100" b="1" kern="0" dirty="0">
                <a:solidFill>
                  <a:srgbClr val="0000FF"/>
                </a:solidFill>
                <a:cs typeface="Malgun Gothic Semilight"/>
              </a:rPr>
              <a:t> </a:t>
            </a:r>
            <a:r>
              <a:rPr kumimoji="1" lang="en-US" altLang="ko-KR" sz="1100" b="1" kern="0" dirty="0">
                <a:cs typeface="Malgun Gothic Semilight"/>
              </a:rPr>
              <a:t>2) SPC</a:t>
            </a:r>
            <a:r>
              <a:rPr kumimoji="1" lang="ko-KR" altLang="en-US" sz="1100" b="1" kern="0" dirty="0">
                <a:cs typeface="Malgun Gothic Semilight"/>
              </a:rPr>
              <a:t> 데이터 수집 상태</a:t>
            </a:r>
            <a:br>
              <a:rPr kumimoji="1" lang="en-US" altLang="ko-KR" sz="1100" b="1" kern="0" dirty="0">
                <a:cs typeface="Malgun Gothic Semilight"/>
              </a:rPr>
            </a:br>
            <a:r>
              <a:rPr kumimoji="1" lang="en-US" altLang="ko-KR" sz="1100" b="1" kern="0" dirty="0">
                <a:cs typeface="Malgun Gothic Semilight"/>
              </a:rPr>
              <a:t> </a:t>
            </a:r>
            <a:r>
              <a:rPr lang="en-US" altLang="ko-KR" sz="1000" dirty="0"/>
              <a:t> - SPC+ </a:t>
            </a:r>
            <a:r>
              <a:rPr lang="ko-KR" altLang="en-US" sz="1000" dirty="0"/>
              <a:t>배치 지연과 </a:t>
            </a:r>
            <a:r>
              <a:rPr lang="ko-KR" altLang="en-US" sz="1000" dirty="0" err="1"/>
              <a:t>솔라스</a:t>
            </a:r>
            <a:r>
              <a:rPr lang="ko-KR" altLang="en-US" sz="1000" dirty="0"/>
              <a:t> 서비스 상태를 모니터링하여 기능이 동작하지 않는 현상을 감지할 수 있도록 개선하여 장애 대응 리드타임 단축을 목표로 하고 있습니다</a:t>
            </a:r>
            <a:r>
              <a:rPr lang="en-US" altLang="ko-KR" sz="1000" dirty="0">
                <a:solidFill>
                  <a:srgbClr val="0000FF"/>
                </a:solidFill>
              </a:rPr>
              <a:t>.</a:t>
            </a:r>
          </a:p>
          <a:p>
            <a:r>
              <a:rPr lang="en-US" altLang="ko-KR" sz="1000" dirty="0">
                <a:solidFill>
                  <a:srgbClr val="0000FF"/>
                </a:solidFill>
              </a:rPr>
              <a:t>  -  </a:t>
            </a:r>
            <a:r>
              <a:rPr lang="ko-KR" altLang="en-US" sz="1000" dirty="0"/>
              <a:t>① 배치 지연 모니터링 및 알람 ②운영 변경 작업 프로세스 개선 기능은 </a:t>
            </a:r>
            <a:r>
              <a:rPr lang="en-US" altLang="ko-KR" sz="1000" dirty="0"/>
              <a:t>12/2 </a:t>
            </a:r>
            <a:r>
              <a:rPr lang="ko-KR" altLang="en-US" sz="1000" dirty="0"/>
              <a:t>운영 적용 완료 후 모니터링 결과 특이 사항 없으며</a:t>
            </a:r>
            <a:r>
              <a:rPr lang="en-US" altLang="ko-KR" sz="1000" dirty="0"/>
              <a:t>,</a:t>
            </a:r>
            <a:r>
              <a:rPr lang="en-US" altLang="ko-KR" sz="1000" dirty="0">
                <a:solidFill>
                  <a:srgbClr val="0000FF"/>
                </a:solidFill>
              </a:rPr>
              <a:t>  </a:t>
            </a:r>
            <a:r>
              <a:rPr lang="ko-KR" altLang="en-US" sz="1000" dirty="0">
                <a:solidFill>
                  <a:srgbClr val="0000FF"/>
                </a:solidFill>
              </a:rPr>
              <a:t>③ </a:t>
            </a:r>
            <a:r>
              <a:rPr lang="en-US" altLang="ko-KR" sz="1000" dirty="0">
                <a:solidFill>
                  <a:srgbClr val="0000FF"/>
                </a:solidFill>
              </a:rPr>
              <a:t>QA </a:t>
            </a:r>
            <a:r>
              <a:rPr lang="ko-KR" altLang="en-US" sz="1000" dirty="0">
                <a:solidFill>
                  <a:srgbClr val="0000FF"/>
                </a:solidFill>
              </a:rPr>
              <a:t>네트워크 </a:t>
            </a:r>
            <a:r>
              <a:rPr lang="ko-KR" altLang="en-US" sz="1000" dirty="0" err="1">
                <a:solidFill>
                  <a:srgbClr val="0000FF"/>
                </a:solidFill>
              </a:rPr>
              <a:t>솔라스</a:t>
            </a:r>
            <a:r>
              <a:rPr lang="ko-KR" altLang="en-US" sz="1000" dirty="0">
                <a:solidFill>
                  <a:srgbClr val="0000FF"/>
                </a:solidFill>
              </a:rPr>
              <a:t> 수집 상태 모니터링 및 알람 연계</a:t>
            </a:r>
            <a:br>
              <a:rPr lang="en-US" altLang="ko-KR" sz="1000" dirty="0">
                <a:solidFill>
                  <a:srgbClr val="0000FF"/>
                </a:solidFill>
              </a:rPr>
            </a:br>
            <a:r>
              <a:rPr lang="en-US" altLang="ko-KR" sz="1000" dirty="0">
                <a:solidFill>
                  <a:srgbClr val="0000FF"/>
                </a:solidFill>
              </a:rPr>
              <a:t>    </a:t>
            </a:r>
            <a:r>
              <a:rPr lang="ko-KR" altLang="en-US" sz="1000" dirty="0">
                <a:solidFill>
                  <a:srgbClr val="0000FF"/>
                </a:solidFill>
              </a:rPr>
              <a:t>기능은 </a:t>
            </a:r>
            <a:r>
              <a:rPr lang="en-US" altLang="ko-KR" sz="1000" dirty="0">
                <a:solidFill>
                  <a:srgbClr val="0000FF"/>
                </a:solidFill>
              </a:rPr>
              <a:t>12/16 </a:t>
            </a:r>
            <a:r>
              <a:rPr lang="ko-KR" altLang="en-US" sz="1000" dirty="0">
                <a:solidFill>
                  <a:srgbClr val="0000FF"/>
                </a:solidFill>
              </a:rPr>
              <a:t>운영 적용 예정입니다</a:t>
            </a:r>
            <a:r>
              <a:rPr lang="en-US" altLang="ko-KR" sz="1000" dirty="0">
                <a:solidFill>
                  <a:srgbClr val="0000FF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52722093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90015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ko-KR" altLang="en-US" sz="1800" dirty="0">
                <a:solidFill>
                  <a:schemeClr val="tx1"/>
                </a:solidFill>
                <a:latin typeface="+mn-ea"/>
                <a:ea typeface="+mn-ea"/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 dirty="0">
                <a:solidFill>
                  <a:schemeClr val="tx1"/>
                </a:solidFill>
                <a:latin typeface="+mn-ea"/>
                <a:ea typeface="+mn-ea"/>
                <a:cs typeface="Malgun Gothic Semilight" panose="020B0502040204020203" pitchFamily="50" charset="-127"/>
              </a:rPr>
              <a:t>DX</a:t>
            </a:r>
            <a:r>
              <a:rPr lang="ko-KR" altLang="en-US" sz="1800" dirty="0">
                <a:solidFill>
                  <a:schemeClr val="tx1"/>
                </a:solidFill>
                <a:latin typeface="+mn-ea"/>
                <a:ea typeface="+mn-ea"/>
                <a:cs typeface="Malgun Gothic Semilight" panose="020B0502040204020203" pitchFamily="50" charset="-127"/>
              </a:rPr>
              <a:t>팀 금주 주요 내용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6160D62-C27B-48F2-9F42-68B14758DA93}"/>
              </a:ext>
            </a:extLst>
          </p:cNvPr>
          <p:cNvSpPr txBox="1"/>
          <p:nvPr/>
        </p:nvSpPr>
        <p:spPr>
          <a:xfrm>
            <a:off x="7880649" y="332076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: 12/16(</a:t>
            </a:r>
            <a:r>
              <a:rPr lang="ko-KR" altLang="en-US" dirty="0">
                <a:latin typeface="Arial Narrow"/>
                <a:ea typeface="맑은 고딕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)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맑은 고딕"/>
                <a:cs typeface="Malgun Gothic Semilight"/>
              </a:rPr>
              <a:t>시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F2DD2DA3-693F-4F0E-B59F-1EBA3485EF03}"/>
              </a:ext>
            </a:extLst>
          </p:cNvPr>
          <p:cNvSpPr txBox="1">
            <a:spLocks/>
          </p:cNvSpPr>
          <p:nvPr/>
        </p:nvSpPr>
        <p:spPr>
          <a:xfrm>
            <a:off x="7880649" y="143498"/>
            <a:ext cx="107721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이강국</a:t>
            </a:r>
            <a:r>
              <a:rPr lang="en-US" altLang="ko-KR" sz="1100" dirty="0">
                <a:solidFill>
                  <a:prstClr val="black"/>
                </a:solidFill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TL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5293B41-46C5-686C-0769-3AB39CC4FA1B}"/>
              </a:ext>
            </a:extLst>
          </p:cNvPr>
          <p:cNvSpPr txBox="1"/>
          <p:nvPr/>
        </p:nvSpPr>
        <p:spPr>
          <a:xfrm>
            <a:off x="103795" y="854070"/>
            <a:ext cx="9783279" cy="195438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kumimoji="1" lang="en-US" altLang="ko-KR" sz="1100" b="1" kern="0" dirty="0">
                <a:cs typeface="Malgun Gothic Semilight"/>
              </a:rPr>
              <a:t>3. </a:t>
            </a:r>
            <a:r>
              <a:rPr kumimoji="1" lang="ko-KR" altLang="en-US" sz="1100" b="1" kern="0" dirty="0">
                <a:cs typeface="Malgun Gothic Semilight"/>
              </a:rPr>
              <a:t>원통형 계측기 </a:t>
            </a:r>
            <a:r>
              <a:rPr kumimoji="1" lang="en-US" altLang="ko-KR" sz="1100" b="1" kern="0" dirty="0">
                <a:cs typeface="Malgun Gothic Semilight"/>
              </a:rPr>
              <a:t>SPC </a:t>
            </a:r>
            <a:r>
              <a:rPr kumimoji="1" lang="ko-KR" altLang="en-US" sz="1100" b="1" kern="0" dirty="0">
                <a:cs typeface="Malgun Gothic Semilight"/>
              </a:rPr>
              <a:t>구축</a:t>
            </a:r>
            <a:br>
              <a:rPr lang="en-US" altLang="ko-KR" sz="1100" dirty="0"/>
            </a:br>
            <a:r>
              <a:rPr lang="en-US" altLang="ko-KR" sz="1100" dirty="0"/>
              <a:t> -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원통형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Vision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검사기에 이어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Non-Vision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계측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Data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수집을 통한 스마트 팩토리 기반 구축 및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SPC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실시간 이상감지 기능 제공을 목적으로 구축 진행 중입니다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</a:t>
            </a:r>
            <a:endParaRPr kumimoji="0" lang="ko-KR" altLang="en-US" sz="105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  <a:p>
            <a:r>
              <a:rPr lang="en-US" altLang="ko-KR" sz="1100" dirty="0"/>
              <a:t> - </a:t>
            </a:r>
            <a:r>
              <a:rPr lang="ko-KR" altLang="en-US" sz="1100" dirty="0"/>
              <a:t>주요 구축 범위는 총 </a:t>
            </a:r>
            <a:r>
              <a:rPr lang="en-US" altLang="ko-KR" sz="1100" dirty="0"/>
              <a:t>3</a:t>
            </a:r>
            <a:r>
              <a:rPr lang="ko-KR" altLang="en-US" sz="1100" dirty="0"/>
              <a:t>가지 입니다</a:t>
            </a:r>
            <a:r>
              <a:rPr lang="en-US" altLang="ko-KR" sz="1100" dirty="0"/>
              <a:t>.</a:t>
            </a:r>
          </a:p>
          <a:p>
            <a:r>
              <a:rPr lang="en-US" altLang="ko-KR" sz="1100" dirty="0"/>
              <a:t>  </a:t>
            </a:r>
            <a:r>
              <a:rPr lang="ko-KR" altLang="en-US" sz="1100" dirty="0"/>
              <a:t>① </a:t>
            </a:r>
            <a:r>
              <a:rPr lang="en-US" altLang="ko-KR" sz="1100" dirty="0"/>
              <a:t> </a:t>
            </a:r>
            <a:r>
              <a:rPr lang="ko-KR" altLang="en-US" sz="1100" dirty="0"/>
              <a:t>계측 </a:t>
            </a:r>
            <a:r>
              <a:rPr lang="en-US" altLang="ko-KR" sz="1100" dirty="0"/>
              <a:t>Data / Image </a:t>
            </a:r>
            <a:r>
              <a:rPr lang="ko-KR" altLang="en-US" sz="1100" dirty="0"/>
              <a:t>조회를 위한 화면 요건 정의 및 개발</a:t>
            </a:r>
            <a:endParaRPr lang="en-US" altLang="ko-KR" sz="1100" dirty="0"/>
          </a:p>
          <a:p>
            <a:r>
              <a:rPr lang="en-US" altLang="ko-KR" sz="1100" dirty="0"/>
              <a:t>    - </a:t>
            </a:r>
            <a:r>
              <a:rPr lang="ko-KR" altLang="en-US" sz="1100" dirty="0"/>
              <a:t>전극 </a:t>
            </a:r>
            <a:r>
              <a:rPr lang="en-US" altLang="ko-KR" sz="1100" dirty="0"/>
              <a:t>/ </a:t>
            </a:r>
            <a:r>
              <a:rPr lang="ko-KR" altLang="en-US" sz="1100" dirty="0" err="1"/>
              <a:t>와인더</a:t>
            </a:r>
            <a:r>
              <a:rPr lang="ko-KR" altLang="en-US" sz="1100" dirty="0"/>
              <a:t> </a:t>
            </a:r>
            <a:r>
              <a:rPr lang="en-US" altLang="ko-KR" sz="1100" dirty="0"/>
              <a:t>/ </a:t>
            </a:r>
            <a:r>
              <a:rPr lang="ko-KR" altLang="en-US" sz="1100" dirty="0"/>
              <a:t>조립 </a:t>
            </a:r>
            <a:r>
              <a:rPr lang="en-US" altLang="ko-KR" sz="1100" dirty="0"/>
              <a:t>/ </a:t>
            </a:r>
            <a:r>
              <a:rPr lang="ko-KR" altLang="en-US" sz="1100" dirty="0"/>
              <a:t>활성화 공정 개발 완료</a:t>
            </a:r>
            <a:r>
              <a:rPr lang="en-US" altLang="ko-KR" sz="1100" dirty="0"/>
              <a:t>(10/28) </a:t>
            </a:r>
            <a:r>
              <a:rPr lang="ko-KR" altLang="en-US" sz="1100" dirty="0"/>
              <a:t>되었으며 </a:t>
            </a:r>
            <a:r>
              <a:rPr lang="en-US" altLang="ko-KR" sz="1100" dirty="0"/>
              <a:t>OC1 </a:t>
            </a:r>
            <a:r>
              <a:rPr lang="ko-KR" altLang="en-US" sz="1100" dirty="0"/>
              <a:t>공장 계측기 개통일정에 맞추어서 시스템 </a:t>
            </a:r>
            <a:r>
              <a:rPr lang="en-US" altLang="ko-KR" sz="1100" dirty="0"/>
              <a:t>Open </a:t>
            </a:r>
            <a:r>
              <a:rPr lang="ko-KR" altLang="en-US" sz="1100" dirty="0"/>
              <a:t>대응 진행중입니다</a:t>
            </a:r>
            <a:r>
              <a:rPr lang="en-US" altLang="ko-KR" sz="1100" dirty="0"/>
              <a:t>.</a:t>
            </a:r>
          </a:p>
          <a:p>
            <a:r>
              <a:rPr lang="en-US" altLang="ko-KR" sz="1100" dirty="0"/>
              <a:t>  </a:t>
            </a:r>
            <a:r>
              <a:rPr lang="ko-KR" altLang="en-US" sz="1100" dirty="0"/>
              <a:t>② 실시간 모니터링 </a:t>
            </a:r>
            <a:r>
              <a:rPr lang="en-US" altLang="ko-KR" sz="1100" dirty="0"/>
              <a:t>/</a:t>
            </a:r>
            <a:r>
              <a:rPr lang="ko-KR" altLang="en-US" sz="1100" dirty="0"/>
              <a:t>계측기 이력 화면 조회</a:t>
            </a:r>
            <a:endParaRPr lang="en-US" altLang="ko-KR" sz="1100" dirty="0"/>
          </a:p>
          <a:p>
            <a:r>
              <a:rPr lang="en-US" altLang="ko-KR" sz="1100" dirty="0"/>
              <a:t>    - </a:t>
            </a:r>
            <a:r>
              <a:rPr lang="ko-KR" altLang="en-US" sz="1100" dirty="0"/>
              <a:t>라인에서 진행하고 있는 주요 모니터링 항목에 대하여 </a:t>
            </a:r>
            <a:r>
              <a:rPr lang="en-US" altLang="ko-KR" sz="1100" dirty="0"/>
              <a:t>SPC </a:t>
            </a:r>
            <a:r>
              <a:rPr lang="ko-KR" altLang="en-US" sz="1100" dirty="0"/>
              <a:t>화면에서 조회할 수 있는 실시간 모니터링 기능과 계측기 </a:t>
            </a:r>
            <a:r>
              <a:rPr lang="en-US" altLang="ko-KR" sz="1100" dirty="0"/>
              <a:t>SPEC </a:t>
            </a:r>
            <a:r>
              <a:rPr lang="ko-KR" altLang="en-US" sz="1100" dirty="0" err="1"/>
              <a:t>오설정</a:t>
            </a:r>
            <a:r>
              <a:rPr lang="ko-KR" altLang="en-US" sz="1100" dirty="0"/>
              <a:t> 및 계측기 변경 이력 조회</a:t>
            </a:r>
            <a:br>
              <a:rPr lang="en-US" altLang="ko-KR" sz="1100" dirty="0"/>
            </a:br>
            <a:r>
              <a:rPr lang="en-US" altLang="ko-KR" sz="1100" dirty="0"/>
              <a:t>      </a:t>
            </a:r>
            <a:r>
              <a:rPr lang="ko-KR" altLang="en-US" sz="1100" dirty="0"/>
              <a:t>기능에 대한 요건 정의를 완료 하였습니다</a:t>
            </a:r>
            <a:r>
              <a:rPr lang="en-US" altLang="ko-KR" sz="1100" dirty="0"/>
              <a:t>.(10/28)</a:t>
            </a:r>
            <a:br>
              <a:rPr lang="en-US" altLang="ko-KR" sz="1100" dirty="0"/>
            </a:br>
            <a:r>
              <a:rPr lang="en-US" altLang="ko-KR" sz="1100" dirty="0"/>
              <a:t>    - </a:t>
            </a:r>
            <a:r>
              <a:rPr lang="ko-KR" altLang="en-US" sz="1100" dirty="0"/>
              <a:t>원통형 전극 </a:t>
            </a:r>
            <a:r>
              <a:rPr lang="en-US" altLang="ko-KR" sz="1100" dirty="0"/>
              <a:t>Pattern </a:t>
            </a:r>
            <a:r>
              <a:rPr lang="ko-KR" altLang="en-US" sz="1100" dirty="0"/>
              <a:t>기준 불량률 집계 및 </a:t>
            </a:r>
            <a:r>
              <a:rPr lang="en-US" altLang="ko-KR" sz="1100" dirty="0"/>
              <a:t>Trend </a:t>
            </a:r>
            <a:r>
              <a:rPr lang="ko-KR" altLang="en-US" sz="1100" dirty="0"/>
              <a:t>화면 정의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원통형 전극검사기술팀과 내용 협의 및 정의 완료하였습니다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.(12/4)</a:t>
            </a:r>
            <a:br>
              <a:rPr lang="en-US" altLang="ko-KR" sz="1100" dirty="0"/>
            </a:br>
            <a:r>
              <a:rPr lang="en-US" altLang="ko-KR" sz="1100" dirty="0"/>
              <a:t>    -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전극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Lot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별 공정능력 실시간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Trend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화면 반영 관련 생산공정운영팀 의견 취합 내용 기반 요건 정의하였으며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(12/11)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구체내용 논의 및 확정 예정입니다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.(~12/17)</a:t>
            </a:r>
          </a:p>
          <a:p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D36C934-E2D6-A127-D836-B08E55BD53FA}"/>
              </a:ext>
            </a:extLst>
          </p:cNvPr>
          <p:cNvSpPr txBox="1"/>
          <p:nvPr/>
        </p:nvSpPr>
        <p:spPr>
          <a:xfrm>
            <a:off x="133608" y="2876262"/>
            <a:ext cx="9783279" cy="118494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kumimoji="1" lang="en-US" altLang="ko-KR" sz="1100" b="1" kern="0" dirty="0">
                <a:cs typeface="Malgun Gothic Semilight"/>
              </a:rPr>
              <a:t>4. </a:t>
            </a:r>
            <a:r>
              <a:rPr kumimoji="1" lang="ko-KR" altLang="en-US" sz="1100" b="1" kern="0" dirty="0">
                <a:cs typeface="Malgun Gothic Semilight"/>
              </a:rPr>
              <a:t>자동차</a:t>
            </a:r>
            <a:r>
              <a:rPr kumimoji="1" lang="en-US" altLang="ko-KR" sz="1100" b="1" kern="0" dirty="0">
                <a:cs typeface="Malgun Gothic Semilight"/>
              </a:rPr>
              <a:t>/ESS </a:t>
            </a:r>
            <a:r>
              <a:rPr lang="ko-KR" altLang="en-US" sz="11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검사 이미지 재판정 시스템</a:t>
            </a:r>
            <a:r>
              <a:rPr lang="en-US" altLang="ko-KR" sz="11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(IRS)</a:t>
            </a:r>
            <a:r>
              <a:rPr lang="ko-KR" altLang="en-US" sz="11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구축</a:t>
            </a:r>
            <a:r>
              <a:rPr lang="en-US" altLang="ko-KR" sz="11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/</a:t>
            </a:r>
            <a:r>
              <a:rPr lang="ko-KR" altLang="en-US" sz="11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확산 </a:t>
            </a:r>
            <a:endParaRPr kumimoji="1" lang="en-US" altLang="ko-KR" sz="1100" b="1" kern="0" dirty="0">
              <a:cs typeface="Malgun Gothic Semilight"/>
            </a:endParaRPr>
          </a:p>
          <a:p>
            <a:r>
              <a:rPr lang="en-US" altLang="ko-KR" sz="1000" dirty="0"/>
              <a:t> - </a:t>
            </a:r>
            <a:r>
              <a:rPr lang="ko-KR" altLang="en-US" sz="1000" dirty="0"/>
              <a:t>자동차</a:t>
            </a:r>
            <a:r>
              <a:rPr lang="en-US" altLang="ko-KR" sz="1000" dirty="0"/>
              <a:t>/ESS</a:t>
            </a:r>
            <a:r>
              <a:rPr lang="ko-KR" altLang="en-US" sz="1000" dirty="0"/>
              <a:t>의 </a:t>
            </a:r>
            <a:r>
              <a:rPr lang="en-US" altLang="ko-KR" sz="1000" dirty="0"/>
              <a:t>PKG </a:t>
            </a:r>
            <a:r>
              <a:rPr lang="ko-KR" altLang="en-US" sz="1000" dirty="0"/>
              <a:t>공정</a:t>
            </a:r>
            <a:r>
              <a:rPr lang="en-US" altLang="ko-KR" sz="1000" dirty="0"/>
              <a:t>, </a:t>
            </a:r>
            <a:r>
              <a:rPr lang="ko-KR" altLang="en-US" sz="1000" dirty="0"/>
              <a:t>조립공정에 알고리즘 기반 상시 전수 검사 체계를 구축하여 불량 유출을 방지하기 위한 시스템으로</a:t>
            </a:r>
            <a:r>
              <a:rPr lang="en-US" altLang="ko-KR" sz="1000" dirty="0"/>
              <a:t>, </a:t>
            </a:r>
            <a:r>
              <a:rPr lang="ko-KR" altLang="en-US" sz="1000" dirty="0"/>
              <a:t>전 </a:t>
            </a:r>
            <a:r>
              <a:rPr lang="en-US" altLang="ko-KR" sz="1000" dirty="0"/>
              <a:t>Site </a:t>
            </a:r>
            <a:r>
              <a:rPr lang="ko-KR" altLang="en-US" sz="1000" dirty="0"/>
              <a:t>단계별 운영 및 확산전개 진행중에 있습니다</a:t>
            </a:r>
            <a:r>
              <a:rPr lang="en-US" altLang="ko-KR" sz="1000" dirty="0"/>
              <a:t>. </a:t>
            </a:r>
            <a:br>
              <a:rPr lang="en-US" altLang="ko-KR" sz="1000" dirty="0"/>
            </a:br>
            <a:r>
              <a:rPr lang="ko-KR" altLang="en-US" sz="1000" dirty="0"/>
              <a:t> </a:t>
            </a:r>
            <a:r>
              <a:rPr lang="en-US" altLang="ko-KR" sz="1000" dirty="0"/>
              <a:t>- </a:t>
            </a:r>
            <a:r>
              <a:rPr lang="ko-KR" altLang="en-US" sz="1000" dirty="0"/>
              <a:t>신규 확산 법인 요청으로 </a:t>
            </a:r>
            <a:r>
              <a:rPr lang="en-US" altLang="ko-KR" sz="1000" dirty="0"/>
              <a:t>PKG</a:t>
            </a:r>
            <a:r>
              <a:rPr lang="ko-KR" altLang="en-US" sz="1000" dirty="0"/>
              <a:t> 공정 이미지 재판정과 관련하여 </a:t>
            </a:r>
            <a:r>
              <a:rPr lang="ko-KR" altLang="en-US" sz="1000" dirty="0" err="1"/>
              <a:t>법인별</a:t>
            </a:r>
            <a:r>
              <a:rPr lang="ko-KR" altLang="en-US" sz="1000" dirty="0"/>
              <a:t> </a:t>
            </a:r>
            <a:r>
              <a:rPr lang="en-US" altLang="ko-KR" sz="1000" dirty="0"/>
              <a:t>MIL(9</a:t>
            </a:r>
            <a:r>
              <a:rPr lang="ko-KR" altLang="en-US" sz="1000" dirty="0"/>
              <a:t>월 완료</a:t>
            </a:r>
            <a:r>
              <a:rPr lang="en-US" altLang="ko-KR" sz="1000" dirty="0"/>
              <a:t>), HD(9</a:t>
            </a:r>
            <a:r>
              <a:rPr lang="ko-KR" altLang="en-US" sz="1000" dirty="0"/>
              <a:t>월 완료</a:t>
            </a:r>
            <a:r>
              <a:rPr lang="en-US" altLang="ko-KR" sz="1000" dirty="0"/>
              <a:t>), ST(11</a:t>
            </a:r>
            <a:r>
              <a:rPr lang="ko-KR" altLang="en-US" sz="1000" dirty="0"/>
              <a:t>월</a:t>
            </a:r>
            <a:r>
              <a:rPr lang="en-US" altLang="ko-KR" sz="1000" dirty="0"/>
              <a:t>), </a:t>
            </a:r>
            <a:r>
              <a:rPr lang="en-US" altLang="ko-KR" sz="1000" dirty="0">
                <a:solidFill>
                  <a:srgbClr val="0000FF"/>
                </a:solidFill>
              </a:rPr>
              <a:t>HG(</a:t>
            </a:r>
            <a:r>
              <a:rPr lang="en-US" altLang="ko-KR" sz="1000" strike="sngStrike" dirty="0">
                <a:solidFill>
                  <a:srgbClr val="0000FF"/>
                </a:solidFill>
              </a:rPr>
              <a:t>12</a:t>
            </a:r>
            <a:r>
              <a:rPr lang="ko-KR" altLang="en-US" sz="1000" strike="sngStrike" dirty="0">
                <a:solidFill>
                  <a:srgbClr val="0000FF"/>
                </a:solidFill>
              </a:rPr>
              <a:t>월</a:t>
            </a:r>
            <a:r>
              <a:rPr lang="ko-KR" altLang="en-US" sz="1000" dirty="0">
                <a:solidFill>
                  <a:srgbClr val="0000FF"/>
                </a:solidFill>
              </a:rPr>
              <a:t> → </a:t>
            </a:r>
            <a:r>
              <a:rPr lang="en-US" altLang="ko-KR" sz="1000" dirty="0">
                <a:solidFill>
                  <a:srgbClr val="0000FF"/>
                </a:solidFill>
              </a:rPr>
              <a:t>’26 2</a:t>
            </a:r>
            <a:r>
              <a:rPr lang="ko-KR" altLang="en-US" sz="1000" dirty="0">
                <a:solidFill>
                  <a:srgbClr val="0000FF"/>
                </a:solidFill>
              </a:rPr>
              <a:t>월</a:t>
            </a:r>
            <a:r>
              <a:rPr lang="en-US" altLang="ko-KR" sz="1000" dirty="0">
                <a:solidFill>
                  <a:srgbClr val="0000FF"/>
                </a:solidFill>
              </a:rPr>
              <a:t>)</a:t>
            </a:r>
            <a:r>
              <a:rPr lang="en-US" altLang="ko-KR" sz="1000" dirty="0"/>
              <a:t> Open</a:t>
            </a:r>
            <a:r>
              <a:rPr lang="ko-KR" altLang="en-US" sz="1000" dirty="0"/>
              <a:t>을 목표로 사전 준비 진행 중입니다</a:t>
            </a:r>
            <a:r>
              <a:rPr lang="en-US" altLang="ko-KR" sz="1000" dirty="0"/>
              <a:t>.</a:t>
            </a:r>
          </a:p>
          <a:p>
            <a:r>
              <a:rPr lang="en-US" altLang="ko-KR" sz="1000" dirty="0">
                <a:solidFill>
                  <a:srgbClr val="0000FF"/>
                </a:solidFill>
              </a:rPr>
              <a:t> - HG </a:t>
            </a:r>
            <a:r>
              <a:rPr lang="ko-KR" altLang="en-US" sz="1000" dirty="0">
                <a:solidFill>
                  <a:srgbClr val="0000FF"/>
                </a:solidFill>
              </a:rPr>
              <a:t>법인 비자 이슈로 인하여 기존 </a:t>
            </a:r>
            <a:r>
              <a:rPr lang="en-US" altLang="ko-KR" sz="1000" dirty="0">
                <a:solidFill>
                  <a:srgbClr val="0000FF"/>
                </a:solidFill>
              </a:rPr>
              <a:t>’25</a:t>
            </a:r>
            <a:r>
              <a:rPr lang="ko-KR" altLang="en-US" sz="1000" dirty="0">
                <a:solidFill>
                  <a:srgbClr val="0000FF"/>
                </a:solidFill>
              </a:rPr>
              <a:t>년 </a:t>
            </a:r>
            <a:r>
              <a:rPr lang="en-US" altLang="ko-KR" sz="1000" dirty="0">
                <a:solidFill>
                  <a:srgbClr val="0000FF"/>
                </a:solidFill>
              </a:rPr>
              <a:t>12</a:t>
            </a:r>
            <a:r>
              <a:rPr lang="ko-KR" altLang="en-US" sz="1000" dirty="0">
                <a:solidFill>
                  <a:srgbClr val="0000FF"/>
                </a:solidFill>
              </a:rPr>
              <a:t>월에서 </a:t>
            </a:r>
            <a:r>
              <a:rPr lang="en-US" altLang="ko-KR" sz="1000" dirty="0">
                <a:solidFill>
                  <a:srgbClr val="0000FF"/>
                </a:solidFill>
              </a:rPr>
              <a:t>’26</a:t>
            </a:r>
            <a:r>
              <a:rPr lang="ko-KR" altLang="en-US" sz="1000" dirty="0">
                <a:solidFill>
                  <a:srgbClr val="0000FF"/>
                </a:solidFill>
              </a:rPr>
              <a:t>년 </a:t>
            </a:r>
            <a:r>
              <a:rPr lang="en-US" altLang="ko-KR" sz="1000" dirty="0">
                <a:solidFill>
                  <a:srgbClr val="0000FF"/>
                </a:solidFill>
              </a:rPr>
              <a:t>2</a:t>
            </a:r>
            <a:r>
              <a:rPr lang="ko-KR" altLang="en-US" sz="1000" dirty="0">
                <a:solidFill>
                  <a:srgbClr val="0000FF"/>
                </a:solidFill>
              </a:rPr>
              <a:t>월</a:t>
            </a:r>
            <a:r>
              <a:rPr lang="en-US" altLang="ko-KR" sz="1000" dirty="0">
                <a:solidFill>
                  <a:srgbClr val="0000FF"/>
                </a:solidFill>
              </a:rPr>
              <a:t>(2/4)</a:t>
            </a:r>
            <a:r>
              <a:rPr lang="ko-KR" altLang="en-US" sz="1000" dirty="0">
                <a:solidFill>
                  <a:srgbClr val="0000FF"/>
                </a:solidFill>
              </a:rPr>
              <a:t>로 이미지 재판정 오픈 대응 일정이 변경 되었으며 구축 단계별 업무를 진행 예정입니다</a:t>
            </a:r>
            <a:r>
              <a:rPr lang="en-US" altLang="ko-KR" sz="1000" dirty="0">
                <a:solidFill>
                  <a:srgbClr val="0000FF"/>
                </a:solidFill>
              </a:rPr>
              <a:t>.</a:t>
            </a:r>
          </a:p>
          <a:p>
            <a:r>
              <a:rPr lang="en-US" altLang="ko-KR" sz="1000" dirty="0"/>
              <a:t>    </a:t>
            </a:r>
            <a:r>
              <a:rPr lang="ko-KR" altLang="en-US" sz="1000" dirty="0"/>
              <a:t>① </a:t>
            </a:r>
            <a:r>
              <a:rPr lang="en-US" altLang="ko-KR" sz="1000" dirty="0"/>
              <a:t>PC </a:t>
            </a:r>
            <a:r>
              <a:rPr lang="ko-KR" altLang="en-US" sz="1000" dirty="0"/>
              <a:t>위치 확보 및 </a:t>
            </a:r>
            <a:r>
              <a:rPr lang="en-US" altLang="ko-KR" sz="1000" dirty="0"/>
              <a:t>IP </a:t>
            </a:r>
            <a:r>
              <a:rPr lang="ko-KR" altLang="en-US" sz="1000" dirty="0" err="1"/>
              <a:t>발번</a:t>
            </a:r>
            <a:r>
              <a:rPr lang="en-US" altLang="ko-KR" sz="1000" dirty="0"/>
              <a:t>, </a:t>
            </a:r>
            <a:r>
              <a:rPr lang="ko-KR" altLang="en-US" sz="1000" dirty="0"/>
              <a:t>방화벽 해제</a:t>
            </a:r>
            <a:br>
              <a:rPr lang="en-US" altLang="ko-KR" sz="1000" dirty="0"/>
            </a:br>
            <a:r>
              <a:rPr lang="en-US" altLang="ko-KR" sz="1000" dirty="0"/>
              <a:t>    </a:t>
            </a:r>
            <a:r>
              <a:rPr lang="ko-KR" altLang="en-US" sz="1000" dirty="0"/>
              <a:t>②</a:t>
            </a:r>
            <a:r>
              <a:rPr lang="en-US" altLang="ko-KR" sz="1000" dirty="0"/>
              <a:t> N/W</a:t>
            </a:r>
            <a:r>
              <a:rPr lang="ko-KR" altLang="en-US" sz="1000" dirty="0"/>
              <a:t>공사</a:t>
            </a:r>
            <a:r>
              <a:rPr lang="en-US" altLang="ko-KR" sz="1000" dirty="0"/>
              <a:t> </a:t>
            </a:r>
            <a:r>
              <a:rPr lang="ko-KR" altLang="en-US" sz="1000" dirty="0"/>
              <a:t>및 </a:t>
            </a:r>
            <a:r>
              <a:rPr lang="en-US" altLang="ko-KR" sz="1000" dirty="0"/>
              <a:t>PC</a:t>
            </a:r>
            <a:r>
              <a:rPr lang="ko-KR" altLang="en-US" sz="1000" dirty="0"/>
              <a:t>설치</a:t>
            </a:r>
            <a:endParaRPr lang="en-US" altLang="ko-KR" sz="1000" dirty="0"/>
          </a:p>
          <a:p>
            <a:r>
              <a:rPr lang="en-US" altLang="ko-KR" sz="1000" dirty="0"/>
              <a:t>    </a:t>
            </a:r>
            <a:r>
              <a:rPr lang="ko-KR" altLang="en-US" sz="1000" dirty="0"/>
              <a:t>③ </a:t>
            </a:r>
            <a:r>
              <a:rPr lang="en-US" altLang="ko-KR" sz="1000" dirty="0"/>
              <a:t>IRS </a:t>
            </a:r>
            <a:r>
              <a:rPr lang="ko-KR" altLang="en-US" sz="1000" dirty="0"/>
              <a:t>시스템 </a:t>
            </a:r>
            <a:r>
              <a:rPr lang="en-US" altLang="ko-KR" sz="1000" dirty="0"/>
              <a:t>/ </a:t>
            </a:r>
            <a:r>
              <a:rPr lang="ko-KR" altLang="en-US" sz="1000" dirty="0"/>
              <a:t>활성화</a:t>
            </a:r>
            <a:r>
              <a:rPr lang="en-US" altLang="ko-KR" sz="1000" dirty="0"/>
              <a:t>MES </a:t>
            </a:r>
            <a:r>
              <a:rPr lang="ko-KR" altLang="en-US" sz="1000" dirty="0"/>
              <a:t>인터페이스 및 통합테스트</a:t>
            </a:r>
            <a:endParaRPr lang="en-US" altLang="ko-KR" sz="1000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511309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95914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/ESS)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SPC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계측기 데이터 수집</a:t>
            </a:r>
          </a:p>
        </p:txBody>
      </p:sp>
      <p:sp>
        <p:nvSpPr>
          <p:cNvPr id="10" name="제목 1">
            <a:extLst>
              <a:ext uri="{FF2B5EF4-FFF2-40B4-BE49-F238E27FC236}">
                <a16:creationId xmlns:a16="http://schemas.microsoft.com/office/drawing/2014/main" id="{8C708E1D-C856-4EE0-B8B6-32C65CCF387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499086E1-C404-4360-9B05-2A20527DDD49}"/>
              </a:ext>
            </a:extLst>
          </p:cNvPr>
          <p:cNvSpPr txBox="1">
            <a:spLocks/>
          </p:cNvSpPr>
          <p:nvPr/>
        </p:nvSpPr>
        <p:spPr>
          <a:xfrm>
            <a:off x="5646988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8F1CA92-879E-0F61-CB5B-35777D33CB78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3" cy="5762329"/>
        </p:xfrm>
        <a:graphic>
          <a:graphicData uri="http://schemas.openxmlformats.org/drawingml/2006/table">
            <a:tbl>
              <a:tblPr/>
              <a:tblGrid>
                <a:gridCol w="5465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25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410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90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974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97495">
                  <a:extLst>
                    <a:ext uri="{9D8B030D-6E8A-4147-A177-3AD203B41FA5}">
                      <a16:colId xmlns:a16="http://schemas.microsoft.com/office/drawing/2014/main" val="3198736543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en-US" altLang="ko-KR" sz="1000" b="1" i="0" u="none" strike="noStrike" baseline="0" dirty="0">
                        <a:solidFill>
                          <a:srgbClr val="FFFF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ko-KR" altLang="en-US" sz="1000" b="1" i="0" u="none" strike="noStrike" baseline="0">
                        <a:solidFill>
                          <a:srgbClr val="FFFF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36000" marB="36000" anchor="ctr">
                    <a:lnL w="12700">
                      <a:solidFill>
                        <a:schemeClr val="tx1"/>
                      </a:solidFill>
                    </a:lnL>
                    <a:lnR w="0">
                      <a:noFill/>
                    </a:lnR>
                    <a:lnT w="6350">
                      <a:solidFill>
                        <a:srgbClr val="000000"/>
                      </a:solidFill>
                    </a:lnT>
                    <a:lnB w="12700">
                      <a:solidFill>
                        <a:schemeClr val="tx1"/>
                      </a:solidFill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수집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자동차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/ESS)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(W51)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에는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총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6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대의 계측기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(ESNA 6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(99% 249/251)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가 추가 개통되었습니다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신규로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Open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*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활성화 계측기 외관검사 이미지조회 기능 모니터링 시 특이사항 없습니다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.(12/15)​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구축 목적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/ESS In-Line Vision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검사기에 이어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Non-Vision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생성 데이터를 정보화 하여 불량 유출 방지 및 스마트 팩토리 기반 확보를 위함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/ESS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수집 프로젝트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 법인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Open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완료되었습니다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계측기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S/W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개조 완료된 호기에 대해 순차적으로 개통 중입니다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endParaRPr lang="en-US" altLang="ko-KR" sz="1000" b="0" baseline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(W51)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에는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총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6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대의 계측기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(ESNA 6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(99% 249/251) 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가 추가 개통되었습니다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신규로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Open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한 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*</a:t>
                      </a:r>
                      <a:r>
                        <a:rPr lang="ko-KR" altLang="en-US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활성화 계측기 외관검사 이미지조회 기능 모니터링 시 특이사항 없습니다</a:t>
                      </a:r>
                      <a:r>
                        <a:rPr lang="en-US" altLang="ko-KR" sz="1000" b="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.(12/15).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25”09.30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김승진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김태원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 anchor="ctr">
                    <a:lnL w="12700">
                      <a:solidFill>
                        <a:schemeClr val="bg1">
                          <a:lumMod val="50000"/>
                        </a:schemeClr>
                      </a:solidFill>
                    </a:lnL>
                    <a:lnR w="0">
                      <a:noFill/>
                    </a:lnR>
                    <a:lnT w="12700">
                      <a:solidFill>
                        <a:schemeClr val="tx1"/>
                      </a:solidFill>
                    </a:lnT>
                    <a:lnB w="12700">
                      <a:solidFill>
                        <a:schemeClr val="tx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04F2E93-1BA6-2A20-1AC7-15F630C49E13}"/>
              </a:ext>
            </a:extLst>
          </p:cNvPr>
          <p:cNvGraphicFramePr>
            <a:graphicFrameLocks noGrp="1"/>
          </p:cNvGraphicFramePr>
          <p:nvPr/>
        </p:nvGraphicFramePr>
        <p:xfrm>
          <a:off x="1427433" y="2835948"/>
          <a:ext cx="6792968" cy="13234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64328">
                  <a:extLst>
                    <a:ext uri="{9D8B030D-6E8A-4147-A177-3AD203B41FA5}">
                      <a16:colId xmlns:a16="http://schemas.microsoft.com/office/drawing/2014/main" val="411834105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227375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13145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13688847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399477799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1841181469"/>
                    </a:ext>
                  </a:extLst>
                </a:gridCol>
                <a:gridCol w="781984">
                  <a:extLst>
                    <a:ext uri="{9D8B030D-6E8A-4147-A177-3AD203B41FA5}">
                      <a16:colId xmlns:a16="http://schemas.microsoft.com/office/drawing/2014/main" val="865723766"/>
                    </a:ext>
                  </a:extLst>
                </a:gridCol>
                <a:gridCol w="361456">
                  <a:extLst>
                    <a:ext uri="{9D8B030D-6E8A-4147-A177-3AD203B41FA5}">
                      <a16:colId xmlns:a16="http://schemas.microsoft.com/office/drawing/2014/main" val="2220876641"/>
                    </a:ext>
                  </a:extLst>
                </a:gridCol>
                <a:gridCol w="459440">
                  <a:extLst>
                    <a:ext uri="{9D8B030D-6E8A-4147-A177-3AD203B41FA5}">
                      <a16:colId xmlns:a16="http://schemas.microsoft.com/office/drawing/2014/main" val="1191249741"/>
                    </a:ext>
                  </a:extLst>
                </a:gridCol>
                <a:gridCol w="459440">
                  <a:extLst>
                    <a:ext uri="{9D8B030D-6E8A-4147-A177-3AD203B41FA5}">
                      <a16:colId xmlns:a16="http://schemas.microsoft.com/office/drawing/2014/main" val="1343192785"/>
                    </a:ext>
                  </a:extLst>
                </a:gridCol>
                <a:gridCol w="459440">
                  <a:extLst>
                    <a:ext uri="{9D8B030D-6E8A-4147-A177-3AD203B41FA5}">
                      <a16:colId xmlns:a16="http://schemas.microsoft.com/office/drawing/2014/main" val="2694228221"/>
                    </a:ext>
                  </a:extLst>
                </a:gridCol>
                <a:gridCol w="459440">
                  <a:extLst>
                    <a:ext uri="{9D8B030D-6E8A-4147-A177-3AD203B41FA5}">
                      <a16:colId xmlns:a16="http://schemas.microsoft.com/office/drawing/2014/main" val="3744155447"/>
                    </a:ext>
                  </a:extLst>
                </a:gridCol>
                <a:gridCol w="459440">
                  <a:extLst>
                    <a:ext uri="{9D8B030D-6E8A-4147-A177-3AD203B41FA5}">
                      <a16:colId xmlns:a16="http://schemas.microsoft.com/office/drawing/2014/main" val="223921450"/>
                    </a:ext>
                  </a:extLst>
                </a:gridCol>
              </a:tblGrid>
              <a:tr h="144382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 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 데이터수집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조회 개발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 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S/W 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개조 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계획</a:t>
                      </a: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9756859"/>
                  </a:ext>
                </a:extLst>
              </a:tr>
              <a:tr h="1443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요건정의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UAT</a:t>
                      </a:r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Open</a:t>
                      </a:r>
                      <a:endParaRPr lang="ko-KR" altLang="en-US" sz="800" b="1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대표호기</a:t>
                      </a:r>
                    </a:p>
                  </a:txBody>
                  <a:tcPr marL="3874" marR="3874" marT="387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확산호기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7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0622366"/>
                  </a:ext>
                </a:extLst>
              </a:tr>
              <a:tr h="168345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계획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진척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</a:t>
                      </a:r>
                    </a:p>
                  </a:txBody>
                  <a:tcPr marL="3874" marR="3874" marT="387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</a:t>
                      </a:r>
                    </a:p>
                  </a:txBody>
                  <a:tcPr marL="3874" marR="3874" marT="3874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950041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</a:txBody>
                  <a:tcPr marL="3874" marR="3874" marT="3874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5/17(</a:t>
                      </a:r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6/14(</a:t>
                      </a:r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7/10(</a:t>
                      </a:r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820(</a:t>
                      </a:r>
                      <a:r>
                        <a:rPr lang="ko-KR" altLang="en-US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8/27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8/27(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8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 04/30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24” 06/03 ~ 25” 03/07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3269253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ESNB</a:t>
                      </a:r>
                    </a:p>
                  </a:txBody>
                  <a:tcPr marL="3874" marR="3874" marT="3874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9/24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9/24(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 05/10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24” 06/17 ~ 24” 09/20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1560608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ESNA</a:t>
                      </a:r>
                    </a:p>
                  </a:txBody>
                  <a:tcPr marL="3874" marR="3874" marT="3874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10/8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10/8(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 07/26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24” 08/26 ~ 24” 10/11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721060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</a:p>
                  </a:txBody>
                  <a:tcPr marL="3874" marR="3874" marT="3874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noProof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11/26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11/26(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lang="en-US" altLang="ko-KR" sz="8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 10/11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24” 11/18 ~ 24” 12/06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202457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</a:t>
                      </a:r>
                    </a:p>
                  </a:txBody>
                  <a:tcPr marL="3874" marR="3874" marT="3874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12/10(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完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 10/11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24” 11/18 ~ 24” 12/31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2680385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874" marR="3874" marT="3874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24"12/31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-&gt;25”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4/1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3/21(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完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 11/22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24” 12/23 ~ 25” 01/31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7782129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274C5E9C-689C-B98A-0AD3-0BDF7AE23BE1}"/>
              </a:ext>
            </a:extLst>
          </p:cNvPr>
          <p:cNvGraphicFramePr>
            <a:graphicFrameLocks noGrp="1"/>
          </p:cNvGraphicFramePr>
          <p:nvPr/>
        </p:nvGraphicFramePr>
        <p:xfrm>
          <a:off x="1427433" y="4887748"/>
          <a:ext cx="7139802" cy="15752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4637">
                  <a:extLst>
                    <a:ext uri="{9D8B030D-6E8A-4147-A177-3AD203B41FA5}">
                      <a16:colId xmlns:a16="http://schemas.microsoft.com/office/drawing/2014/main" val="411834105"/>
                    </a:ext>
                  </a:extLst>
                </a:gridCol>
                <a:gridCol w="225425">
                  <a:extLst>
                    <a:ext uri="{9D8B030D-6E8A-4147-A177-3AD203B41FA5}">
                      <a16:colId xmlns:a16="http://schemas.microsoft.com/office/drawing/2014/main" val="1946245354"/>
                    </a:ext>
                  </a:extLst>
                </a:gridCol>
                <a:gridCol w="252000">
                  <a:extLst>
                    <a:ext uri="{9D8B030D-6E8A-4147-A177-3AD203B41FA5}">
                      <a16:colId xmlns:a16="http://schemas.microsoft.com/office/drawing/2014/main" val="1036370883"/>
                    </a:ext>
                  </a:extLst>
                </a:gridCol>
                <a:gridCol w="237600">
                  <a:extLst>
                    <a:ext uri="{9D8B030D-6E8A-4147-A177-3AD203B41FA5}">
                      <a16:colId xmlns:a16="http://schemas.microsoft.com/office/drawing/2014/main" val="1172556555"/>
                    </a:ext>
                  </a:extLst>
                </a:gridCol>
                <a:gridCol w="237600">
                  <a:extLst>
                    <a:ext uri="{9D8B030D-6E8A-4147-A177-3AD203B41FA5}">
                      <a16:colId xmlns:a16="http://schemas.microsoft.com/office/drawing/2014/main" val="3236145323"/>
                    </a:ext>
                  </a:extLst>
                </a:gridCol>
                <a:gridCol w="226800">
                  <a:extLst>
                    <a:ext uri="{9D8B030D-6E8A-4147-A177-3AD203B41FA5}">
                      <a16:colId xmlns:a16="http://schemas.microsoft.com/office/drawing/2014/main" val="1494284264"/>
                    </a:ext>
                  </a:extLst>
                </a:gridCol>
                <a:gridCol w="226800">
                  <a:extLst>
                    <a:ext uri="{9D8B030D-6E8A-4147-A177-3AD203B41FA5}">
                      <a16:colId xmlns:a16="http://schemas.microsoft.com/office/drawing/2014/main" val="1378105840"/>
                    </a:ext>
                  </a:extLst>
                </a:gridCol>
                <a:gridCol w="237600">
                  <a:extLst>
                    <a:ext uri="{9D8B030D-6E8A-4147-A177-3AD203B41FA5}">
                      <a16:colId xmlns:a16="http://schemas.microsoft.com/office/drawing/2014/main" val="865723766"/>
                    </a:ext>
                  </a:extLst>
                </a:gridCol>
                <a:gridCol w="237600">
                  <a:extLst>
                    <a:ext uri="{9D8B030D-6E8A-4147-A177-3AD203B41FA5}">
                      <a16:colId xmlns:a16="http://schemas.microsoft.com/office/drawing/2014/main" val="3609058304"/>
                    </a:ext>
                  </a:extLst>
                </a:gridCol>
                <a:gridCol w="226800">
                  <a:extLst>
                    <a:ext uri="{9D8B030D-6E8A-4147-A177-3AD203B41FA5}">
                      <a16:colId xmlns:a16="http://schemas.microsoft.com/office/drawing/2014/main" val="821353441"/>
                    </a:ext>
                  </a:extLst>
                </a:gridCol>
                <a:gridCol w="226800">
                  <a:extLst>
                    <a:ext uri="{9D8B030D-6E8A-4147-A177-3AD203B41FA5}">
                      <a16:colId xmlns:a16="http://schemas.microsoft.com/office/drawing/2014/main" val="2730585974"/>
                    </a:ext>
                  </a:extLst>
                </a:gridCol>
                <a:gridCol w="237600">
                  <a:extLst>
                    <a:ext uri="{9D8B030D-6E8A-4147-A177-3AD203B41FA5}">
                      <a16:colId xmlns:a16="http://schemas.microsoft.com/office/drawing/2014/main" val="3552892629"/>
                    </a:ext>
                  </a:extLst>
                </a:gridCol>
                <a:gridCol w="237600">
                  <a:extLst>
                    <a:ext uri="{9D8B030D-6E8A-4147-A177-3AD203B41FA5}">
                      <a16:colId xmlns:a16="http://schemas.microsoft.com/office/drawing/2014/main" val="4195106058"/>
                    </a:ext>
                  </a:extLst>
                </a:gridCol>
                <a:gridCol w="244193">
                  <a:extLst>
                    <a:ext uri="{9D8B030D-6E8A-4147-A177-3AD203B41FA5}">
                      <a16:colId xmlns:a16="http://schemas.microsoft.com/office/drawing/2014/main" val="2876092565"/>
                    </a:ext>
                  </a:extLst>
                </a:gridCol>
                <a:gridCol w="284163">
                  <a:extLst>
                    <a:ext uri="{9D8B030D-6E8A-4147-A177-3AD203B41FA5}">
                      <a16:colId xmlns:a16="http://schemas.microsoft.com/office/drawing/2014/main" val="2305902630"/>
                    </a:ext>
                  </a:extLst>
                </a:gridCol>
                <a:gridCol w="244193">
                  <a:extLst>
                    <a:ext uri="{9D8B030D-6E8A-4147-A177-3AD203B41FA5}">
                      <a16:colId xmlns:a16="http://schemas.microsoft.com/office/drawing/2014/main" val="3117308361"/>
                    </a:ext>
                  </a:extLst>
                </a:gridCol>
                <a:gridCol w="244193">
                  <a:extLst>
                    <a:ext uri="{9D8B030D-6E8A-4147-A177-3AD203B41FA5}">
                      <a16:colId xmlns:a16="http://schemas.microsoft.com/office/drawing/2014/main" val="533888178"/>
                    </a:ext>
                  </a:extLst>
                </a:gridCol>
                <a:gridCol w="227013">
                  <a:extLst>
                    <a:ext uri="{9D8B030D-6E8A-4147-A177-3AD203B41FA5}">
                      <a16:colId xmlns:a16="http://schemas.microsoft.com/office/drawing/2014/main" val="3988948335"/>
                    </a:ext>
                  </a:extLst>
                </a:gridCol>
                <a:gridCol w="225425">
                  <a:extLst>
                    <a:ext uri="{9D8B030D-6E8A-4147-A177-3AD203B41FA5}">
                      <a16:colId xmlns:a16="http://schemas.microsoft.com/office/drawing/2014/main" val="1601137569"/>
                    </a:ext>
                  </a:extLst>
                </a:gridCol>
                <a:gridCol w="244193">
                  <a:extLst>
                    <a:ext uri="{9D8B030D-6E8A-4147-A177-3AD203B41FA5}">
                      <a16:colId xmlns:a16="http://schemas.microsoft.com/office/drawing/2014/main" val="271287474"/>
                    </a:ext>
                  </a:extLst>
                </a:gridCol>
                <a:gridCol w="244193">
                  <a:extLst>
                    <a:ext uri="{9D8B030D-6E8A-4147-A177-3AD203B41FA5}">
                      <a16:colId xmlns:a16="http://schemas.microsoft.com/office/drawing/2014/main" val="1209521837"/>
                    </a:ext>
                  </a:extLst>
                </a:gridCol>
                <a:gridCol w="227013">
                  <a:extLst>
                    <a:ext uri="{9D8B030D-6E8A-4147-A177-3AD203B41FA5}">
                      <a16:colId xmlns:a16="http://schemas.microsoft.com/office/drawing/2014/main" val="1068543779"/>
                    </a:ext>
                  </a:extLst>
                </a:gridCol>
                <a:gridCol w="314325">
                  <a:extLst>
                    <a:ext uri="{9D8B030D-6E8A-4147-A177-3AD203B41FA5}">
                      <a16:colId xmlns:a16="http://schemas.microsoft.com/office/drawing/2014/main" val="1145254089"/>
                    </a:ext>
                  </a:extLst>
                </a:gridCol>
                <a:gridCol w="237600">
                  <a:extLst>
                    <a:ext uri="{9D8B030D-6E8A-4147-A177-3AD203B41FA5}">
                      <a16:colId xmlns:a16="http://schemas.microsoft.com/office/drawing/2014/main" val="722599042"/>
                    </a:ext>
                  </a:extLst>
                </a:gridCol>
                <a:gridCol w="226800">
                  <a:extLst>
                    <a:ext uri="{9D8B030D-6E8A-4147-A177-3AD203B41FA5}">
                      <a16:colId xmlns:a16="http://schemas.microsoft.com/office/drawing/2014/main" val="1175648652"/>
                    </a:ext>
                  </a:extLst>
                </a:gridCol>
                <a:gridCol w="227013">
                  <a:extLst>
                    <a:ext uri="{9D8B030D-6E8A-4147-A177-3AD203B41FA5}">
                      <a16:colId xmlns:a16="http://schemas.microsoft.com/office/drawing/2014/main" val="3395360933"/>
                    </a:ext>
                  </a:extLst>
                </a:gridCol>
                <a:gridCol w="376237">
                  <a:extLst>
                    <a:ext uri="{9D8B030D-6E8A-4147-A177-3AD203B41FA5}">
                      <a16:colId xmlns:a16="http://schemas.microsoft.com/office/drawing/2014/main" val="1619508064"/>
                    </a:ext>
                  </a:extLst>
                </a:gridCol>
                <a:gridCol w="244193">
                  <a:extLst>
                    <a:ext uri="{9D8B030D-6E8A-4147-A177-3AD203B41FA5}">
                      <a16:colId xmlns:a16="http://schemas.microsoft.com/office/drawing/2014/main" val="597643493"/>
                    </a:ext>
                  </a:extLst>
                </a:gridCol>
                <a:gridCol w="244193">
                  <a:extLst>
                    <a:ext uri="{9D8B030D-6E8A-4147-A177-3AD203B41FA5}">
                      <a16:colId xmlns:a16="http://schemas.microsoft.com/office/drawing/2014/main" val="1059871288"/>
                    </a:ext>
                  </a:extLst>
                </a:gridCol>
              </a:tblGrid>
              <a:tr h="86918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대표호기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확산호기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4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Total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950041"/>
                  </a:ext>
                </a:extLst>
              </a:tr>
              <a:tr h="1443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전극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활성화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활성화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0228007"/>
                  </a:ext>
                </a:extLst>
              </a:tr>
              <a:tr h="28876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적합률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개통수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적합률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개통수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적합률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</a:t>
                      </a:r>
                    </a:p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적합률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</a:t>
                      </a:r>
                    </a:p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적합률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적합률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개통률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적합률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0230996"/>
                  </a:ext>
                </a:extLst>
              </a:tr>
              <a:tr h="14436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ESWA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93%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5302098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ESNB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97%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419480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ESNA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249(+6)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8842021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ESNJ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6372034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ESOC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156%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4829497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ESMI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68%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30307"/>
                  </a:ext>
                </a:extLst>
              </a:tr>
              <a:tr h="14438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Total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96%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1245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79%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2459(+6)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84%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99%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6712529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CB500B74-7E77-E170-2CDC-DF721A4D74A4}"/>
              </a:ext>
            </a:extLst>
          </p:cNvPr>
          <p:cNvSpPr txBox="1"/>
          <p:nvPr/>
        </p:nvSpPr>
        <p:spPr>
          <a:xfrm>
            <a:off x="1314553" y="1460162"/>
            <a:ext cx="742834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*</a:t>
            </a:r>
            <a:r>
              <a:rPr lang="ko-KR" altLang="en-US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계측기 외관검사 </a:t>
            </a:r>
            <a:r>
              <a:rPr lang="en-US" altLang="ko-KR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EOL </a:t>
            </a:r>
            <a:r>
              <a:rPr lang="ko-KR" altLang="en-US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활성화 </a:t>
            </a:r>
            <a:r>
              <a:rPr lang="ko-KR" altLang="en-US" sz="800" b="0" baseline="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실링검사기는</a:t>
            </a:r>
            <a:r>
              <a:rPr lang="ko-KR" altLang="en-US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프로파일 기반으로 </a:t>
            </a:r>
            <a:r>
              <a:rPr lang="ko-KR" altLang="en-US" sz="800" b="0" baseline="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전영역</a:t>
            </a:r>
            <a:r>
              <a:rPr lang="en-US" altLang="ko-KR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lang="ko-KR" altLang="en-US" sz="800" b="0" baseline="0" dirty="0" err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미실링</a:t>
            </a:r>
            <a:r>
              <a:rPr lang="ko-KR" altLang="en-US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영역</a:t>
            </a:r>
            <a:r>
              <a:rPr lang="en-US" altLang="ko-KR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</a:t>
            </a:r>
            <a:r>
              <a:rPr lang="ko-KR" altLang="en-US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외관검사를 진행하여</a:t>
            </a:r>
            <a:r>
              <a:rPr lang="en-US" altLang="ko-KR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lang="ko-KR" altLang="en-US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데이터조회 및 분석 목적 </a:t>
            </a:r>
            <a:r>
              <a:rPr lang="en-US" altLang="ko-KR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SPC </a:t>
            </a:r>
            <a:r>
              <a:rPr lang="ko-KR" altLang="en-US" sz="800" b="0" baseline="0" dirty="0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수집 및 이미지 조회기능 필요</a:t>
            </a:r>
            <a:endParaRPr kumimoji="0" lang="en-US" altLang="ko-KR" sz="800" b="0" i="0" u="none" strike="noStrike" kern="1200" cap="none" spc="0" normalizeH="0" baseline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3F92BCF-F569-3C91-3D80-40333DBFAF18}"/>
              </a:ext>
            </a:extLst>
          </p:cNvPr>
          <p:cNvSpPr txBox="1"/>
          <p:nvPr/>
        </p:nvSpPr>
        <p:spPr>
          <a:xfrm>
            <a:off x="8032766" y="670208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5DFB0B2C-3AFF-D978-8114-0CD4FC701E27}"/>
              </a:ext>
            </a:extLst>
          </p:cNvPr>
          <p:cNvSpPr txBox="1">
            <a:spLocks/>
          </p:cNvSpPr>
          <p:nvPr/>
        </p:nvSpPr>
        <p:spPr>
          <a:xfrm>
            <a:off x="8742898" y="500931"/>
            <a:ext cx="94416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김승진</a:t>
            </a:r>
            <a:r>
              <a:rPr lang="en-US" altLang="ko-KR" sz="11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8264119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93963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SPC 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모니터링 기능 개선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kern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defRPr>
            </a:lvl1pPr>
          </a:lstStyle>
          <a:p>
            <a:r>
              <a:rPr lang="en-US" altLang="ko-KR">
                <a:latin typeface="+mj-lt"/>
                <a:ea typeface="LG스마트체 Regular" panose="020B0600000101010101" pitchFamily="50" charset="-127"/>
              </a:rPr>
              <a:t>1. </a:t>
            </a:r>
            <a:r>
              <a:rPr lang="ko-KR" altLang="en-US">
                <a:latin typeface="+mj-lt"/>
                <a:ea typeface="LG스마트체 Regular" panose="020B0600000101010101" pitchFamily="50" charset="-127"/>
              </a:rPr>
              <a:t>과제 진행 현황</a:t>
            </a:r>
            <a:r>
              <a:rPr lang="en-US" altLang="ko-KR"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공정검사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</a:rPr>
              <a:t>DX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팀</a:t>
            </a:r>
            <a:endParaRPr lang="ko-KR" altLang="en-US">
              <a:latin typeface="+mj-lt"/>
              <a:ea typeface="LG스마트체 Regular" panose="020B0600000101010101" pitchFamily="50" charset="-127"/>
            </a:endParaRPr>
          </a:p>
        </p:txBody>
      </p:sp>
      <p:graphicFrame>
        <p:nvGraphicFramePr>
          <p:cNvPr id="49" name="표 1">
            <a:extLst>
              <a:ext uri="{FF2B5EF4-FFF2-40B4-BE49-F238E27FC236}">
                <a16:creationId xmlns:a16="http://schemas.microsoft.com/office/drawing/2014/main" id="{B8B65B43-2855-49BD-B4DB-F7ABB603F926}"/>
              </a:ext>
            </a:extLst>
          </p:cNvPr>
          <p:cNvGraphicFramePr>
            <a:graphicFrameLocks noGrp="1"/>
          </p:cNvGraphicFramePr>
          <p:nvPr/>
        </p:nvGraphicFramePr>
        <p:xfrm>
          <a:off x="122467" y="864195"/>
          <a:ext cx="9644176" cy="5867623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59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4322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SPC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조회기능 개선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전사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(W51)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SPC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모니터링 기능개선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Data/Image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조회기능개선 건 운영배포 완료하였으며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</a:t>
                      </a:r>
                      <a:r>
                        <a:rPr lang="ko-KR" altLang="en-US" sz="10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프로젝트 완료 되었습니다</a:t>
                      </a:r>
                      <a:r>
                        <a:rPr kumimoji="0"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en-US" altLang="ko-KR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11/25).</a:t>
                      </a:r>
                      <a:endParaRPr kumimoji="0" lang="en-US" altLang="ko-KR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데이터분석팀 실제 운영 후 사용자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VOE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청취 진행 예정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(~12/24)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이며 개선 필요사항에 대한 협의를 진행할 예정입니다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현재까지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특이사항 없습니다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.(12/15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구축 목적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검사기의 전체 측정 데이터를 실시간 차트로 조회하고 차트를 비교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하고자하는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현업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Needs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반영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차트 조회 속도 및 성능 개선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Needs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반영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실시간 조회 기능이 당일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00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시부터 현재시간까지 고정 조회되는 방식에서 시작시간을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24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시간 내 범위에서 조절 하고자 하는 현업 요청사항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반영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 검사데이터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 LOT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완공 기준 조회방식에서 검사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LOT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기준의 실시간 조회하고자 하는 현업 요청사항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반영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사용자 경험개선 목적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디자인 개선 하고자 하는 목적입니다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현항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25”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현업 부서와 실시간 모니터링 기능 개선 회의를 진행하였습니다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회의 간 실시간 차트조회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및 비교기능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 검사데이터 검사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Lot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기준의 실시간 조회 기능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조회성능 개선 요청을 접수하였습니다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(7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원통형생산팀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전극검사기술팀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실시간 전극 </a:t>
                      </a:r>
                      <a:r>
                        <a:rPr lang="ko-KR" altLang="en-US" sz="1000" b="0" kern="120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랏별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전체 치수를 차트로 조회할 수 있는 메뉴를 개발하였습니다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성능 이슈 해결을 위해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*LTTB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를 적용하여 최대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30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개 차트를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초 내에 조회할 수 있도록 개선하였습니다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(11/25). (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기존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분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-&gt;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초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사용자가 비교를 원하는 차트들을 </a:t>
                      </a:r>
                      <a:r>
                        <a:rPr lang="ko-KR" altLang="en-US" sz="1000" b="0" kern="120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오버레이하여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동시에 확인할 수 있는 기능을 추가하였습니다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(11/25).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기존에는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MES LOT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완공 기준으로 검사 데이터가 조회되어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MES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완공 전까지는 데이터 확인이 불가능했으나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현업의 요구사항을 반영하여 검사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LOT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기준의 실시간 조회 기능으로 개선하였습니다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(11/25).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사용자 경험개선 목적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SPC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폰트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</a:t>
                      </a:r>
                      <a:r>
                        <a:rPr lang="ko-KR" altLang="en-US" sz="1000" b="0" kern="120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메뉴바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,Split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바 개선하였습니다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(11/25)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25”.11(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김승진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김태원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7" name="Group 986">
            <a:extLst>
              <a:ext uri="{FF2B5EF4-FFF2-40B4-BE49-F238E27FC236}">
                <a16:creationId xmlns:a16="http://schemas.microsoft.com/office/drawing/2014/main" id="{D79E330F-83B7-42DA-9210-748663DD951D}"/>
              </a:ext>
            </a:extLst>
          </p:cNvPr>
          <p:cNvGraphicFramePr>
            <a:graphicFrameLocks noGrp="1"/>
          </p:cNvGraphicFramePr>
          <p:nvPr/>
        </p:nvGraphicFramePr>
        <p:xfrm>
          <a:off x="1943269" y="2530764"/>
          <a:ext cx="6693211" cy="968836"/>
        </p:xfrm>
        <a:graphic>
          <a:graphicData uri="http://schemas.openxmlformats.org/drawingml/2006/table">
            <a:tbl>
              <a:tblPr/>
              <a:tblGrid>
                <a:gridCol w="956173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14079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407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40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8" name="Rectangle 4">
            <a:extLst>
              <a:ext uri="{FF2B5EF4-FFF2-40B4-BE49-F238E27FC236}">
                <a16:creationId xmlns:a16="http://schemas.microsoft.com/office/drawing/2014/main" id="{46C50348-FE61-4B60-A9BB-B32A92714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248" y="2530764"/>
            <a:ext cx="283910" cy="939505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일정</a:t>
            </a:r>
            <a:endParaRPr kumimoji="1" lang="en-US" altLang="ko-KR" sz="12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graphicFrame>
        <p:nvGraphicFramePr>
          <p:cNvPr id="53" name="표 3">
            <a:extLst>
              <a:ext uri="{FF2B5EF4-FFF2-40B4-BE49-F238E27FC236}">
                <a16:creationId xmlns:a16="http://schemas.microsoft.com/office/drawing/2014/main" id="{47DBEDA1-DF2F-40FE-898F-EDD4756BABAB}"/>
              </a:ext>
            </a:extLst>
          </p:cNvPr>
          <p:cNvGraphicFramePr>
            <a:graphicFrameLocks noGrp="1"/>
          </p:cNvGraphicFramePr>
          <p:nvPr/>
        </p:nvGraphicFramePr>
        <p:xfrm>
          <a:off x="1629054" y="5151239"/>
          <a:ext cx="7062364" cy="15543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8242">
                  <a:extLst>
                    <a:ext uri="{9D8B030D-6E8A-4147-A177-3AD203B41FA5}">
                      <a16:colId xmlns:a16="http://schemas.microsoft.com/office/drawing/2014/main" val="3042033024"/>
                    </a:ext>
                  </a:extLst>
                </a:gridCol>
                <a:gridCol w="729737">
                  <a:extLst>
                    <a:ext uri="{9D8B030D-6E8A-4147-A177-3AD203B41FA5}">
                      <a16:colId xmlns:a16="http://schemas.microsoft.com/office/drawing/2014/main" val="2400593333"/>
                    </a:ext>
                  </a:extLst>
                </a:gridCol>
                <a:gridCol w="718625">
                  <a:extLst>
                    <a:ext uri="{9D8B030D-6E8A-4147-A177-3AD203B41FA5}">
                      <a16:colId xmlns:a16="http://schemas.microsoft.com/office/drawing/2014/main" val="2998497398"/>
                    </a:ext>
                  </a:extLst>
                </a:gridCol>
                <a:gridCol w="718625">
                  <a:extLst>
                    <a:ext uri="{9D8B030D-6E8A-4147-A177-3AD203B41FA5}">
                      <a16:colId xmlns:a16="http://schemas.microsoft.com/office/drawing/2014/main" val="1387175064"/>
                    </a:ext>
                  </a:extLst>
                </a:gridCol>
                <a:gridCol w="782125">
                  <a:extLst>
                    <a:ext uri="{9D8B030D-6E8A-4147-A177-3AD203B41FA5}">
                      <a16:colId xmlns:a16="http://schemas.microsoft.com/office/drawing/2014/main" val="1255822071"/>
                    </a:ext>
                  </a:extLst>
                </a:gridCol>
                <a:gridCol w="782125">
                  <a:extLst>
                    <a:ext uri="{9D8B030D-6E8A-4147-A177-3AD203B41FA5}">
                      <a16:colId xmlns:a16="http://schemas.microsoft.com/office/drawing/2014/main" val="3507646051"/>
                    </a:ext>
                  </a:extLst>
                </a:gridCol>
                <a:gridCol w="731325">
                  <a:extLst>
                    <a:ext uri="{9D8B030D-6E8A-4147-A177-3AD203B41FA5}">
                      <a16:colId xmlns:a16="http://schemas.microsoft.com/office/drawing/2014/main" val="1147132441"/>
                    </a:ext>
                  </a:extLst>
                </a:gridCol>
                <a:gridCol w="1511560">
                  <a:extLst>
                    <a:ext uri="{9D8B030D-6E8A-4147-A177-3AD203B41FA5}">
                      <a16:colId xmlns:a16="http://schemas.microsoft.com/office/drawing/2014/main" val="3498344807"/>
                    </a:ext>
                  </a:extLst>
                </a:gridCol>
              </a:tblGrid>
              <a:tr h="14920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latin typeface="+mj-ea"/>
                          <a:ea typeface="+mj-ea"/>
                        </a:rPr>
                        <a:t>PJT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명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투자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요건정의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800" b="1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설계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개발</a:t>
                      </a:r>
                      <a:endParaRPr lang="ko-KR" altLang="en-US" sz="800" b="1">
                        <a:solidFill>
                          <a:srgbClr val="006600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테스트</a:t>
                      </a:r>
                      <a:endParaRPr lang="ko-KR" altLang="en-US" sz="800" b="0" i="1">
                        <a:solidFill>
                          <a:schemeClr val="bg1">
                            <a:lumMod val="50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링크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155186"/>
                  </a:ext>
                </a:extLst>
              </a:tr>
              <a:tr h="46838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latin typeface="+mj-ea"/>
                          <a:ea typeface="+mj-ea"/>
                        </a:rPr>
                        <a:t>모니터링 성능개선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계약완료</a:t>
                      </a:r>
                      <a:r>
                        <a:rPr lang="en-US" altLang="ko-KR" sz="80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(9/16)</a:t>
                      </a:r>
                      <a:endParaRPr lang="ko-KR" altLang="en-US" sz="80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100% (~7/17)</a:t>
                      </a:r>
                      <a:endParaRPr lang="ko-KR" altLang="en-US" sz="800" b="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100% (~8/31)</a:t>
                      </a:r>
                      <a:endParaRPr lang="ko-KR" altLang="en-US" sz="800" b="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100% (~10/14)</a:t>
                      </a:r>
                      <a:endParaRPr lang="ko-KR" altLang="en-US" sz="800" b="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(~10/24)</a:t>
                      </a:r>
                      <a:endParaRPr lang="ko-KR" altLang="en-US" sz="800" b="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(11/25)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0073025"/>
                  </a:ext>
                </a:extLst>
              </a:tr>
              <a:tr h="46838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latin typeface="Arial Narrow"/>
                          <a:ea typeface="LG스마트체 Regular"/>
                          <a:cs typeface="Arial"/>
                        </a:rPr>
                        <a:t>Data/Image </a:t>
                      </a:r>
                      <a:r>
                        <a:rPr lang="ko-KR" altLang="en-US" sz="800" b="1">
                          <a:latin typeface="Arial Narrow"/>
                          <a:ea typeface="LG스마트체 Regular"/>
                          <a:cs typeface="Arial"/>
                        </a:rPr>
                        <a:t>조회 기능 개선</a:t>
                      </a:r>
                      <a:endParaRPr lang="ko-KR" altLang="en-US" sz="800" b="0">
                        <a:latin typeface="Arial Narrow"/>
                        <a:ea typeface="LG스마트체 Regular"/>
                        <a:cs typeface="Arial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계약완료</a:t>
                      </a:r>
                      <a:r>
                        <a:rPr lang="en-US" altLang="ko-KR" sz="80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(9/16)</a:t>
                      </a:r>
                      <a:endParaRPr lang="ko-KR" altLang="en-US" sz="80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100%(~7/17)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(~8/8)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(~10/14)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(~10/24)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(11/25)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623452"/>
                  </a:ext>
                </a:extLst>
              </a:tr>
              <a:tr h="46838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Arial Narrow"/>
                          <a:ea typeface="LG스마트체 Regular"/>
                          <a:cs typeface="Arial"/>
                        </a:rPr>
                        <a:t>디자인 개선</a:t>
                      </a:r>
                      <a:endParaRPr lang="ko-KR" altLang="en-US" sz="800" b="0">
                        <a:latin typeface="Arial Narrow"/>
                        <a:ea typeface="LG스마트체 Regular"/>
                        <a:cs typeface="Arial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계약완료</a:t>
                      </a:r>
                      <a:r>
                        <a:rPr lang="en-US" altLang="ko-KR" sz="80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(9/16)</a:t>
                      </a:r>
                      <a:endParaRPr lang="ko-KR" altLang="en-US" sz="80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100%(~7/17)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(~8/31)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(~11/07)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(~11/18)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(11/25)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58925486"/>
                  </a:ext>
                </a:extLst>
              </a:tr>
            </a:tbl>
          </a:graphicData>
        </a:graphic>
      </p:graphicFrame>
      <p:sp>
        <p:nvSpPr>
          <p:cNvPr id="68" name="모서리가 둥근 직사각형 87">
            <a:extLst>
              <a:ext uri="{FF2B5EF4-FFF2-40B4-BE49-F238E27FC236}">
                <a16:creationId xmlns:a16="http://schemas.microsoft.com/office/drawing/2014/main" id="{67A06859-ED37-4268-8CCE-662D0F055805}"/>
              </a:ext>
            </a:extLst>
          </p:cNvPr>
          <p:cNvSpPr/>
          <p:nvPr/>
        </p:nvSpPr>
        <p:spPr>
          <a:xfrm>
            <a:off x="7518522" y="2323752"/>
            <a:ext cx="54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진행중</a:t>
            </a:r>
          </a:p>
        </p:txBody>
      </p:sp>
      <p:sp>
        <p:nvSpPr>
          <p:cNvPr id="54" name="모서리가 둥근 직사각형 87">
            <a:extLst>
              <a:ext uri="{FF2B5EF4-FFF2-40B4-BE49-F238E27FC236}">
                <a16:creationId xmlns:a16="http://schemas.microsoft.com/office/drawing/2014/main" id="{B20D304A-4567-429C-98D2-07A24FF2FA37}"/>
              </a:ext>
            </a:extLst>
          </p:cNvPr>
          <p:cNvSpPr/>
          <p:nvPr/>
        </p:nvSpPr>
        <p:spPr>
          <a:xfrm>
            <a:off x="2876248" y="2904249"/>
            <a:ext cx="4190260" cy="100095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모니터링 성능개선</a:t>
            </a:r>
          </a:p>
        </p:txBody>
      </p:sp>
      <p:sp>
        <p:nvSpPr>
          <p:cNvPr id="73" name="모서리가 둥근 직사각형 87">
            <a:extLst>
              <a:ext uri="{FF2B5EF4-FFF2-40B4-BE49-F238E27FC236}">
                <a16:creationId xmlns:a16="http://schemas.microsoft.com/office/drawing/2014/main" id="{81DBA9CC-8B5E-4D83-B4FA-AF2D6CDF2D63}"/>
              </a:ext>
            </a:extLst>
          </p:cNvPr>
          <p:cNvSpPr/>
          <p:nvPr/>
        </p:nvSpPr>
        <p:spPr>
          <a:xfrm>
            <a:off x="2876249" y="3089692"/>
            <a:ext cx="4190259" cy="105645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Data/Image 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조회 기능 개선</a:t>
            </a:r>
          </a:p>
        </p:txBody>
      </p:sp>
      <p:sp>
        <p:nvSpPr>
          <p:cNvPr id="22" name="모서리가 둥근 직사각형 87">
            <a:extLst>
              <a:ext uri="{FF2B5EF4-FFF2-40B4-BE49-F238E27FC236}">
                <a16:creationId xmlns:a16="http://schemas.microsoft.com/office/drawing/2014/main" id="{FE476712-8EAA-42E8-8ACC-5FFF374938D6}"/>
              </a:ext>
            </a:extLst>
          </p:cNvPr>
          <p:cNvSpPr/>
          <p:nvPr/>
        </p:nvSpPr>
        <p:spPr>
          <a:xfrm>
            <a:off x="3941494" y="3303919"/>
            <a:ext cx="3125015" cy="100095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디자인 개선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C6783598-4A54-5DDA-BDE8-C67008737258}"/>
              </a:ext>
            </a:extLst>
          </p:cNvPr>
          <p:cNvGrpSpPr/>
          <p:nvPr/>
        </p:nvGrpSpPr>
        <p:grpSpPr>
          <a:xfrm>
            <a:off x="7195128" y="2897618"/>
            <a:ext cx="940230" cy="501058"/>
            <a:chOff x="6808384" y="3026929"/>
            <a:chExt cx="1326973" cy="501058"/>
          </a:xfrm>
        </p:grpSpPr>
        <p:sp>
          <p:nvSpPr>
            <p:cNvPr id="69" name="모서리가 둥근 직사각형 87">
              <a:extLst>
                <a:ext uri="{FF2B5EF4-FFF2-40B4-BE49-F238E27FC236}">
                  <a16:creationId xmlns:a16="http://schemas.microsoft.com/office/drawing/2014/main" id="{1C06A907-0EDB-4E75-BE3C-AF44FBA0CB0C}"/>
                </a:ext>
              </a:extLst>
            </p:cNvPr>
            <p:cNvSpPr/>
            <p:nvPr/>
          </p:nvSpPr>
          <p:spPr>
            <a:xfrm>
              <a:off x="6808384" y="3026929"/>
              <a:ext cx="1326973" cy="106726"/>
            </a:xfrm>
            <a:prstGeom prst="roundRect">
              <a:avLst/>
            </a:prstGeom>
            <a:pattFill prst="wdUpDiag">
              <a:fgClr>
                <a:srgbClr val="FFFF00"/>
              </a:fgClr>
              <a:bgClr>
                <a:schemeClr val="bg1"/>
              </a:bgClr>
            </a:patt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defTabSz="1022350" fontAlgn="base" latinLnBrk="0">
                <a:spcBef>
                  <a:spcPct val="50000"/>
                </a:spcBef>
                <a:spcAft>
                  <a:spcPct val="0"/>
                </a:spcAft>
              </a:pPr>
              <a:r>
                <a:rPr kumimoji="1" lang="ko-KR" altLang="en-US" sz="700" b="1" kern="0">
                  <a:solidFill>
                    <a:sysClr val="windowText" lastClr="000000"/>
                  </a:solidFill>
                  <a:latin typeface="+mn-ea"/>
                  <a:cs typeface="Arial"/>
                </a:rPr>
                <a:t>운영테스트</a:t>
              </a:r>
            </a:p>
          </p:txBody>
        </p:sp>
        <p:sp>
          <p:nvSpPr>
            <p:cNvPr id="24" name="모서리가 둥근 직사각형 87">
              <a:extLst>
                <a:ext uri="{FF2B5EF4-FFF2-40B4-BE49-F238E27FC236}">
                  <a16:creationId xmlns:a16="http://schemas.microsoft.com/office/drawing/2014/main" id="{1A574311-F927-4B49-996F-74331CC6F4BB}"/>
                </a:ext>
              </a:extLst>
            </p:cNvPr>
            <p:cNvSpPr/>
            <p:nvPr/>
          </p:nvSpPr>
          <p:spPr>
            <a:xfrm>
              <a:off x="6808384" y="3219003"/>
              <a:ext cx="1326973" cy="106726"/>
            </a:xfrm>
            <a:prstGeom prst="roundRect">
              <a:avLst/>
            </a:prstGeom>
            <a:pattFill prst="wdUpDiag">
              <a:fgClr>
                <a:srgbClr val="FFFF00"/>
              </a:fgClr>
              <a:bgClr>
                <a:schemeClr val="bg1"/>
              </a:bgClr>
            </a:patt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defTabSz="1022350" fontAlgn="base" latinLnBrk="0">
                <a:spcBef>
                  <a:spcPct val="50000"/>
                </a:spcBef>
                <a:spcAft>
                  <a:spcPct val="0"/>
                </a:spcAft>
              </a:pPr>
              <a:r>
                <a:rPr kumimoji="1" lang="ko-KR" altLang="en-US" sz="700" b="1" kern="0">
                  <a:solidFill>
                    <a:sysClr val="windowText" lastClr="000000"/>
                  </a:solidFill>
                  <a:latin typeface="+mn-ea"/>
                  <a:cs typeface="Arial"/>
                </a:rPr>
                <a:t>운영테스트</a:t>
              </a:r>
            </a:p>
          </p:txBody>
        </p:sp>
        <p:sp>
          <p:nvSpPr>
            <p:cNvPr id="25" name="모서리가 둥근 직사각형 87">
              <a:extLst>
                <a:ext uri="{FF2B5EF4-FFF2-40B4-BE49-F238E27FC236}">
                  <a16:creationId xmlns:a16="http://schemas.microsoft.com/office/drawing/2014/main" id="{1C530428-429A-4553-B6E3-860E891B0C01}"/>
                </a:ext>
              </a:extLst>
            </p:cNvPr>
            <p:cNvSpPr/>
            <p:nvPr/>
          </p:nvSpPr>
          <p:spPr>
            <a:xfrm>
              <a:off x="6808384" y="3421261"/>
              <a:ext cx="1326973" cy="106726"/>
            </a:xfrm>
            <a:prstGeom prst="roundRect">
              <a:avLst/>
            </a:prstGeom>
            <a:pattFill prst="wdUpDiag">
              <a:fgClr>
                <a:srgbClr val="FFFF00"/>
              </a:fgClr>
              <a:bgClr>
                <a:schemeClr val="bg1"/>
              </a:bgClr>
            </a:patt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defTabSz="1022350" fontAlgn="base" latinLnBrk="0">
                <a:spcBef>
                  <a:spcPct val="50000"/>
                </a:spcBef>
                <a:spcAft>
                  <a:spcPct val="0"/>
                </a:spcAft>
              </a:pPr>
              <a:r>
                <a:rPr kumimoji="1" lang="ko-KR" altLang="en-US" sz="700" b="1" kern="0">
                  <a:solidFill>
                    <a:sysClr val="windowText" lastClr="000000"/>
                  </a:solidFill>
                  <a:latin typeface="+mn-ea"/>
                  <a:cs typeface="Arial"/>
                </a:rPr>
                <a:t>운영테스트</a:t>
              </a:r>
            </a:p>
          </p:txBody>
        </p:sp>
      </p:grpSp>
      <p:sp>
        <p:nvSpPr>
          <p:cNvPr id="3" name="모서리가 둥근 직사각형 87">
            <a:extLst>
              <a:ext uri="{FF2B5EF4-FFF2-40B4-BE49-F238E27FC236}">
                <a16:creationId xmlns:a16="http://schemas.microsoft.com/office/drawing/2014/main" id="{B73CE3A6-C22E-5954-D5EB-E279677013A9}"/>
              </a:ext>
            </a:extLst>
          </p:cNvPr>
          <p:cNvSpPr/>
          <p:nvPr/>
        </p:nvSpPr>
        <p:spPr>
          <a:xfrm>
            <a:off x="8079412" y="2323752"/>
            <a:ext cx="526970" cy="116032"/>
          </a:xfrm>
          <a:prstGeom prst="roundRect">
            <a:avLst/>
          </a:prstGeom>
          <a:pattFill prst="wdUpDiag">
            <a:fgClr>
              <a:srgbClr val="FFFF00"/>
            </a:fgClr>
            <a:bgClr>
              <a:schemeClr val="bg1"/>
            </a:bgClr>
          </a:patt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ysClr val="windowText" lastClr="000000"/>
                </a:solidFill>
                <a:latin typeface="+mn-ea"/>
                <a:cs typeface="Arial"/>
              </a:rPr>
              <a:t>예정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7BAFDE7-2C94-A0FA-D0DB-AAADE476BC6F}"/>
              </a:ext>
            </a:extLst>
          </p:cNvPr>
          <p:cNvSpPr txBox="1"/>
          <p:nvPr/>
        </p:nvSpPr>
        <p:spPr>
          <a:xfrm>
            <a:off x="1413165" y="4915881"/>
            <a:ext cx="794327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 dirty="0">
                <a:solidFill>
                  <a:srgbClr val="339933"/>
                </a:solidFill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*LTTB(Largest Triangle Three Buckets) :</a:t>
            </a:r>
            <a:r>
              <a:rPr lang="ko-KR" altLang="en-US" sz="800" b="0" i="0" dirty="0">
                <a:solidFill>
                  <a:srgbClr val="339933"/>
                </a:solidFill>
                <a:effectLst/>
                <a:latin typeface="Noto Sans KR" panose="020B0200000000000000" pitchFamily="50" charset="-127"/>
                <a:ea typeface="Noto Sans KR" panose="020B0200000000000000" pitchFamily="50" charset="-127"/>
              </a:rPr>
              <a:t> </a:t>
            </a:r>
            <a:r>
              <a:rPr lang="en-US" altLang="ko-KR" sz="800" b="0" i="0" dirty="0">
                <a:solidFill>
                  <a:srgbClr val="339933"/>
                </a:solidFill>
                <a:effectLst/>
                <a:latin typeface="Noto Sans KR" panose="020B0200000000000000" pitchFamily="50" charset="-127"/>
                <a:ea typeface="Noto Sans KR" panose="020B0200000000000000" pitchFamily="50" charset="-127"/>
              </a:rPr>
              <a:t>LTTB </a:t>
            </a:r>
            <a:r>
              <a:rPr lang="ko-KR" altLang="en-US" sz="800" b="0" i="0" dirty="0">
                <a:solidFill>
                  <a:srgbClr val="339933"/>
                </a:solidFill>
                <a:effectLst/>
                <a:latin typeface="Noto Sans KR" panose="020B0200000000000000" pitchFamily="50" charset="-127"/>
                <a:ea typeface="Noto Sans KR" panose="020B0200000000000000" pitchFamily="50" charset="-127"/>
              </a:rPr>
              <a:t>알고리즘은 대량의 시계열 데이터를 시각화할 때 데이터 포인트 수를 줄이면서 시각적 패턴을 최대한 유지하여 성능을 개선하는 방법</a:t>
            </a:r>
            <a:r>
              <a:rPr lang="en-US" altLang="ko-KR" sz="800" dirty="0">
                <a:solidFill>
                  <a:srgbClr val="339933"/>
                </a:solidFill>
                <a:latin typeface="LG스마트체2.0 Regular" panose="020B0600000101010101" pitchFamily="50" charset="-127"/>
                <a:ea typeface="LG스마트체2.0 Regular" panose="020B0600000101010101" pitchFamily="50" charset="-127"/>
              </a:rPr>
              <a:t> </a:t>
            </a:r>
            <a:endParaRPr lang="ko-KR" altLang="en-US" sz="800" dirty="0">
              <a:solidFill>
                <a:srgbClr val="339933"/>
              </a:solidFill>
            </a:endParaRPr>
          </a:p>
        </p:txBody>
      </p:sp>
      <p:graphicFrame>
        <p:nvGraphicFramePr>
          <p:cNvPr id="10" name="개체 9">
            <a:extLst>
              <a:ext uri="{FF2B5EF4-FFF2-40B4-BE49-F238E27FC236}">
                <a16:creationId xmlns:a16="http://schemas.microsoft.com/office/drawing/2014/main" id="{ACEFE58C-0CB4-17A4-3590-D078DC55AAC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218363" y="5265738"/>
          <a:ext cx="733425" cy="619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3" imgW="914400" imgH="771525" progId="Package">
                  <p:embed/>
                </p:oleObj>
              </mc:Choice>
              <mc:Fallback>
                <p:oleObj name="포장기 셸 개체" showAsIcon="1" r:id="rId3" imgW="914400" imgH="771525" progId="Package">
                  <p:embed/>
                  <p:pic>
                    <p:nvPicPr>
                      <p:cNvPr id="10" name="개체 9">
                        <a:extLst>
                          <a:ext uri="{FF2B5EF4-FFF2-40B4-BE49-F238E27FC236}">
                            <a16:creationId xmlns:a16="http://schemas.microsoft.com/office/drawing/2014/main" id="{ACEFE58C-0CB4-17A4-3590-D078DC55AAC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218363" y="5265738"/>
                        <a:ext cx="733425" cy="61912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" name="개체 11">
            <a:extLst>
              <a:ext uri="{FF2B5EF4-FFF2-40B4-BE49-F238E27FC236}">
                <a16:creationId xmlns:a16="http://schemas.microsoft.com/office/drawing/2014/main" id="{02EC619F-89A7-C163-3AA9-1AF7931C4EC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971250" y="5264086"/>
          <a:ext cx="734702" cy="6199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5" imgW="914400" imgH="771525" progId="Package">
                  <p:embed/>
                </p:oleObj>
              </mc:Choice>
              <mc:Fallback>
                <p:oleObj name="포장기 셸 개체" showAsIcon="1" r:id="rId5" imgW="914400" imgH="771525" progId="Package">
                  <p:embed/>
                  <p:pic>
                    <p:nvPicPr>
                      <p:cNvPr id="12" name="개체 11">
                        <a:extLst>
                          <a:ext uri="{FF2B5EF4-FFF2-40B4-BE49-F238E27FC236}">
                            <a16:creationId xmlns:a16="http://schemas.microsoft.com/office/drawing/2014/main" id="{02EC619F-89A7-C163-3AA9-1AF7931C4EC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7971250" y="5264086"/>
                        <a:ext cx="734702" cy="61990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" name="개체 12">
            <a:extLst>
              <a:ext uri="{FF2B5EF4-FFF2-40B4-BE49-F238E27FC236}">
                <a16:creationId xmlns:a16="http://schemas.microsoft.com/office/drawing/2014/main" id="{1DC181CA-9D92-8948-DABA-1F7AEED657F6}"/>
              </a:ext>
            </a:extLst>
          </p:cNvPr>
          <p:cNvGraphicFramePr>
            <a:graphicFrameLocks/>
          </p:cNvGraphicFramePr>
          <p:nvPr/>
        </p:nvGraphicFramePr>
        <p:xfrm>
          <a:off x="7585138" y="5806014"/>
          <a:ext cx="734701" cy="6199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7" imgW="914400" imgH="771525" progId="Package">
                  <p:embed/>
                </p:oleObj>
              </mc:Choice>
              <mc:Fallback>
                <p:oleObj name="포장기 셸 개체" showAsIcon="1" r:id="rId7" imgW="914400" imgH="771525" progId="Package">
                  <p:embed/>
                  <p:pic>
                    <p:nvPicPr>
                      <p:cNvPr id="13" name="개체 12">
                        <a:extLst>
                          <a:ext uri="{FF2B5EF4-FFF2-40B4-BE49-F238E27FC236}">
                            <a16:creationId xmlns:a16="http://schemas.microsoft.com/office/drawing/2014/main" id="{1DC181CA-9D92-8948-DABA-1F7AEED657F6}"/>
                          </a:ext>
                        </a:extLst>
                      </p:cNvPr>
                      <p:cNvPicPr preferRelativeResize="0"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7585138" y="5806014"/>
                        <a:ext cx="734701" cy="61990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0" name="Oval 113">
            <a:extLst>
              <a:ext uri="{FF2B5EF4-FFF2-40B4-BE49-F238E27FC236}">
                <a16:creationId xmlns:a16="http://schemas.microsoft.com/office/drawing/2014/main" id="{0F13B5B5-FC32-4F53-87EA-6DD21EF83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622" y="3287477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n-ea"/>
                <a:cs typeface="Arial" pitchFamily="34" charset="0"/>
              </a:rPr>
              <a:t>25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Arial" pitchFamily="34" charset="0"/>
            </a:endParaRPr>
          </a:p>
        </p:txBody>
      </p:sp>
      <p:sp>
        <p:nvSpPr>
          <p:cNvPr id="105" name="Oval 113">
            <a:extLst>
              <a:ext uri="{FF2B5EF4-FFF2-40B4-BE49-F238E27FC236}">
                <a16:creationId xmlns:a16="http://schemas.microsoft.com/office/drawing/2014/main" id="{1CAA623F-ADC1-4A7A-BAC1-8CE30AA03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621" y="2879471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n-ea"/>
                <a:cs typeface="Arial" pitchFamily="34" charset="0"/>
              </a:rPr>
              <a:t>25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Arial" pitchFamily="34" charset="0"/>
            </a:endParaRPr>
          </a:p>
        </p:txBody>
      </p:sp>
      <p:sp>
        <p:nvSpPr>
          <p:cNvPr id="23" name="Oval 113">
            <a:extLst>
              <a:ext uri="{FF2B5EF4-FFF2-40B4-BE49-F238E27FC236}">
                <a16:creationId xmlns:a16="http://schemas.microsoft.com/office/drawing/2014/main" id="{8280FA6E-B47D-49C8-B252-71F6432AF8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621" y="3076025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n-ea"/>
                <a:cs typeface="Arial" pitchFamily="34" charset="0"/>
              </a:rPr>
              <a:t>25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Arial" pitchFamily="34" charset="0"/>
            </a:endParaRPr>
          </a:p>
        </p:txBody>
      </p:sp>
      <p:graphicFrame>
        <p:nvGraphicFramePr>
          <p:cNvPr id="14" name="개체 13">
            <a:extLst>
              <a:ext uri="{FF2B5EF4-FFF2-40B4-BE49-F238E27FC236}">
                <a16:creationId xmlns:a16="http://schemas.microsoft.com/office/drawing/2014/main" id="{24F897ED-CF04-37C8-EE35-EF8F3D53DAC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585138" y="6273000"/>
          <a:ext cx="734701" cy="6199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9" imgW="914400" imgH="771525" progId="Package">
                  <p:embed/>
                </p:oleObj>
              </mc:Choice>
              <mc:Fallback>
                <p:oleObj name="포장기 셸 개체" showAsIcon="1" r:id="rId9" imgW="914400" imgH="771525" progId="Package">
                  <p:embed/>
                  <p:pic>
                    <p:nvPicPr>
                      <p:cNvPr id="14" name="개체 13">
                        <a:extLst>
                          <a:ext uri="{FF2B5EF4-FFF2-40B4-BE49-F238E27FC236}">
                            <a16:creationId xmlns:a16="http://schemas.microsoft.com/office/drawing/2014/main" id="{24F897ED-CF04-37C8-EE35-EF8F3D53DAC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7585138" y="6273000"/>
                        <a:ext cx="734701" cy="61990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31C5FC88-16EE-22EB-182C-872FF6A4BF8C}"/>
              </a:ext>
            </a:extLst>
          </p:cNvPr>
          <p:cNvSpPr txBox="1"/>
          <p:nvPr/>
        </p:nvSpPr>
        <p:spPr>
          <a:xfrm>
            <a:off x="8032766" y="670208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9740FBF9-470D-907B-C78A-E6118DBA3D75}"/>
              </a:ext>
            </a:extLst>
          </p:cNvPr>
          <p:cNvSpPr txBox="1">
            <a:spLocks/>
          </p:cNvSpPr>
          <p:nvPr/>
        </p:nvSpPr>
        <p:spPr>
          <a:xfrm>
            <a:off x="8742898" y="500931"/>
            <a:ext cx="94416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김승진</a:t>
            </a:r>
            <a:r>
              <a:rPr lang="en-US" altLang="ko-KR" sz="11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1886393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83090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/ESS)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SPC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계측기 모니터링</a:t>
            </a: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kern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defRPr>
            </a:lvl1pPr>
          </a:lstStyle>
          <a:p>
            <a:r>
              <a:rPr lang="en-US" altLang="ko-KR">
                <a:latin typeface="+mj-lt"/>
                <a:ea typeface="LG스마트체 Regular" panose="020B0600000101010101" pitchFamily="50" charset="-127"/>
              </a:rPr>
              <a:t>1. </a:t>
            </a:r>
            <a:r>
              <a:rPr lang="ko-KR" altLang="en-US">
                <a:latin typeface="+mj-lt"/>
                <a:ea typeface="LG스마트체 Regular" panose="020B0600000101010101" pitchFamily="50" charset="-127"/>
              </a:rPr>
              <a:t>과제 진행 현황</a:t>
            </a:r>
            <a:r>
              <a:rPr lang="en-US" altLang="ko-KR"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공정검사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</a:rPr>
              <a:t>DX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팀</a:t>
            </a:r>
            <a:endParaRPr lang="ko-KR" altLang="en-US"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47" name="내용 개체 틀 20">
            <a:extLst>
              <a:ext uri="{FF2B5EF4-FFF2-40B4-BE49-F238E27FC236}">
                <a16:creationId xmlns:a16="http://schemas.microsoft.com/office/drawing/2014/main" id="{C956258F-73BE-4269-94A7-5006A222621E}"/>
              </a:ext>
            </a:extLst>
          </p:cNvPr>
          <p:cNvSpPr txBox="1">
            <a:spLocks/>
          </p:cNvSpPr>
          <p:nvPr/>
        </p:nvSpPr>
        <p:spPr>
          <a:xfrm>
            <a:off x="5646988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811BF4AB-3B65-049E-F488-0AFD03E0A70D}"/>
              </a:ext>
            </a:extLst>
          </p:cNvPr>
          <p:cNvGraphicFramePr>
            <a:graphicFrameLocks noGrp="1"/>
          </p:cNvGraphicFramePr>
          <p:nvPr/>
        </p:nvGraphicFramePr>
        <p:xfrm>
          <a:off x="122467" y="864195"/>
          <a:ext cx="9644176" cy="5867623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59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1000" b="1" i="0" u="none" strike="noStrike" baseline="0" dirty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4322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SPC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계측기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모니터링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/ESS)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ESNJ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ESOC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(W51)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에는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SPC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모니터링 전극 치수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Trend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신규 화면 및 치수 차트 비교 기능을 모니터링 하였으며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현재까지 특이사항 없습니다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.(12/10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기준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구축 목적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/ESS In-Line Vision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검사기에 이어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Non-Vision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계측기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생성 데이터를 정보화 하여 불량 유출 방지 및 스마트 팩토리 기반 확보를 위함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endParaRPr kumimoji="0" lang="en-US" altLang="ko-KR" sz="100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(W51)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에는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SPC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모니터링 전극 치수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Trend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신규 화면 및 치수 차트 비교 기능을 모니터링 하였으며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현재까지 특이사항 없습니다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.(12/3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기준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SPC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모니터링의 전극 치수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Trend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화면을 조회 화면에서 실시간 업데이트가 가능하도록 개선하고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사용자 편의성 목적 차트 비교 기능을 추가하였습니다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기존 성능 이슈를 해결하기 위해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LTTB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를 적용하여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분 주기로 업데이트되는 실시간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Trend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화면으로 변경하였습니다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.(10/28)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SPC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이상통보 고도화 사용현황 확인 시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ESNA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법인 레시피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Parameter 1101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종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(10,843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건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이상감지 기준정보 등록하여 사용 중입니다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Parameter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이상통보 운영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관련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ESNA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현업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VoE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모두 반영되었으며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(10/16), 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주 모니터링 결과 현재까지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.(10/21)</a:t>
                      </a:r>
                      <a:endParaRPr lang="en-US" altLang="ko-KR" sz="1000" b="0" kern="1200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기준정보 등록 메뉴</a:t>
                      </a:r>
                      <a:r>
                        <a:rPr 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</a:rPr>
                        <a:t>(MMD2)</a:t>
                      </a: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조회 </a:t>
                      </a: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성능 개선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VoE 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접수되어 개선 </a:t>
                      </a:r>
                      <a:r>
                        <a:rPr 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완료하였습니다.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(500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만건 조회 시간 평균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분 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-&gt;10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초로 개선</a:t>
                      </a:r>
                      <a:r>
                        <a:rPr lang="en-US" altLang="ko-KR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1000" b="0" i="0" u="none" strike="noStrike" kern="1200" baseline="0" noProof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endParaRPr lang="en-US" altLang="ko-KR" sz="1000" b="0" i="0" u="none" strike="noStrike" kern="1200" baseline="0" noProof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SPC MMD2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개발과제 운영 배포 완료하였습니다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(3/18).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계측기의 기준값을 입력할 수 있는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MMD2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화면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Open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되었습니다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계측기 화면 개발 완료되어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*SPC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개발 환경에서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Sample Data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활용한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단위 테스트 진행 완료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SPC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계측기 모니터링 기능 단위 테스트결과 수정항목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20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건 수정 완료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.ESWA/ESNJ/ESNA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법인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Open(4/15)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완료하였습니다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25”09 (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김승진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김태원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FC57E4B-D24A-D1A4-01F5-749A66B3248B}"/>
              </a:ext>
            </a:extLst>
          </p:cNvPr>
          <p:cNvGraphicFramePr>
            <a:graphicFrameLocks noGrp="1"/>
          </p:cNvGraphicFramePr>
          <p:nvPr/>
        </p:nvGraphicFramePr>
        <p:xfrm>
          <a:off x="1502502" y="5573399"/>
          <a:ext cx="4518425" cy="1152580"/>
        </p:xfrm>
        <a:graphic>
          <a:graphicData uri="http://schemas.openxmlformats.org/drawingml/2006/table">
            <a:tbl>
              <a:tblPr/>
              <a:tblGrid>
                <a:gridCol w="911225">
                  <a:extLst>
                    <a:ext uri="{9D8B030D-6E8A-4147-A177-3AD203B41FA5}">
                      <a16:colId xmlns:a16="http://schemas.microsoft.com/office/drawing/2014/main" val="1443331970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4270178724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2658531014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4216546204"/>
                    </a:ext>
                  </a:extLst>
                </a:gridCol>
                <a:gridCol w="367275">
                  <a:extLst>
                    <a:ext uri="{9D8B030D-6E8A-4147-A177-3AD203B41FA5}">
                      <a16:colId xmlns:a16="http://schemas.microsoft.com/office/drawing/2014/main" val="2605549656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180291221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3046051891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1432390610"/>
                    </a:ext>
                  </a:extLst>
                </a:gridCol>
                <a:gridCol w="367275">
                  <a:extLst>
                    <a:ext uri="{9D8B030D-6E8A-4147-A177-3AD203B41FA5}">
                      <a16:colId xmlns:a16="http://schemas.microsoft.com/office/drawing/2014/main" val="1530981055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12497215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919656486"/>
                    </a:ext>
                  </a:extLst>
                </a:gridCol>
                <a:gridCol w="278375">
                  <a:extLst>
                    <a:ext uri="{9D8B030D-6E8A-4147-A177-3AD203B41FA5}">
                      <a16:colId xmlns:a16="http://schemas.microsoft.com/office/drawing/2014/main" val="2744280180"/>
                    </a:ext>
                  </a:extLst>
                </a:gridCol>
                <a:gridCol w="367275">
                  <a:extLst>
                    <a:ext uri="{9D8B030D-6E8A-4147-A177-3AD203B41FA5}">
                      <a16:colId xmlns:a16="http://schemas.microsoft.com/office/drawing/2014/main" val="882855709"/>
                    </a:ext>
                  </a:extLst>
                </a:gridCol>
              </a:tblGrid>
              <a:tr h="15114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설계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테스트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3976913"/>
                  </a:ext>
                </a:extLst>
              </a:tr>
              <a:tr h="1380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진척률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진척률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진척률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863023"/>
                  </a:ext>
                </a:extLst>
              </a:tr>
              <a:tr h="1511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계측기 이상감지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45587"/>
                  </a:ext>
                </a:extLst>
              </a:tr>
              <a:tr h="1511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Spec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다운로드</a:t>
                      </a:r>
                      <a:endParaRPr 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2499440"/>
                  </a:ext>
                </a:extLst>
              </a:tr>
              <a:tr h="13808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계측기 이력조회</a:t>
                      </a:r>
                      <a:endParaRPr 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319526"/>
                  </a:ext>
                </a:extLst>
              </a:tr>
              <a:tr h="13808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SPC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 모니터링</a:t>
                      </a:r>
                      <a:endParaRPr 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25933"/>
                  </a:ext>
                </a:extLst>
              </a:tr>
              <a:tr h="13808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운영자 관리기능</a:t>
                      </a:r>
                      <a:endParaRPr 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35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0446848"/>
                  </a:ext>
                </a:extLst>
              </a:tr>
              <a:tr h="13808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MMD2</a:t>
                      </a:r>
                    </a:p>
                  </a:txBody>
                  <a:tcPr marL="0" marR="0" marT="615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113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113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113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113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113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113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6290515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5F4D831-822F-0F6E-55D2-E5DC0044B1CB}"/>
              </a:ext>
            </a:extLst>
          </p:cNvPr>
          <p:cNvGraphicFramePr>
            <a:graphicFrameLocks noGrp="1"/>
          </p:cNvGraphicFramePr>
          <p:nvPr/>
        </p:nvGraphicFramePr>
        <p:xfrm>
          <a:off x="1538015" y="2060243"/>
          <a:ext cx="6991623" cy="1636520"/>
        </p:xfrm>
        <a:graphic>
          <a:graphicData uri="http://schemas.openxmlformats.org/drawingml/2006/table">
            <a:tbl>
              <a:tblPr/>
              <a:tblGrid>
                <a:gridCol w="318496">
                  <a:extLst>
                    <a:ext uri="{9D8B030D-6E8A-4147-A177-3AD203B41FA5}">
                      <a16:colId xmlns:a16="http://schemas.microsoft.com/office/drawing/2014/main" val="1321708174"/>
                    </a:ext>
                  </a:extLst>
                </a:gridCol>
                <a:gridCol w="1386450">
                  <a:extLst>
                    <a:ext uri="{9D8B030D-6E8A-4147-A177-3AD203B41FA5}">
                      <a16:colId xmlns:a16="http://schemas.microsoft.com/office/drawing/2014/main" val="222725115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984918428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2700089666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3927457904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3063556838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2244956555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2844945116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1366193922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308560146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291247900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2790639737"/>
                    </a:ext>
                  </a:extLst>
                </a:gridCol>
                <a:gridCol w="480607">
                  <a:extLst>
                    <a:ext uri="{9D8B030D-6E8A-4147-A177-3AD203B41FA5}">
                      <a16:colId xmlns:a16="http://schemas.microsoft.com/office/drawing/2014/main" val="2074599760"/>
                    </a:ext>
                  </a:extLst>
                </a:gridCol>
              </a:tblGrid>
              <a:tr h="239873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2024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2025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3255103"/>
                  </a:ext>
                </a:extLst>
              </a:tr>
              <a:tr h="172866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4103353"/>
                  </a:ext>
                </a:extLst>
              </a:tr>
              <a:tr h="158727">
                <a:tc rowSpan="5">
                  <a:txBody>
                    <a:bodyPr/>
                    <a:lstStyle/>
                    <a:p>
                      <a:pPr algn="ctr"/>
                      <a:r>
                        <a:rPr lang="en-US" altLang="ko-KR" sz="800" b="1">
                          <a:latin typeface="+mn-lt"/>
                          <a:ea typeface="LG스마트체 Regular" panose="020B0600000101010101" pitchFamily="50" charset="-127"/>
                        </a:rPr>
                        <a:t>SPC</a:t>
                      </a: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1. SPC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검사기 이상통보 고도화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2255173"/>
                  </a:ext>
                </a:extLst>
              </a:tr>
              <a:tr h="158727">
                <a:tc vMerge="1">
                  <a:txBody>
                    <a:bodyPr/>
                    <a:lstStyle/>
                    <a:p>
                      <a:pPr algn="ctr"/>
                      <a:endParaRPr lang="en-US" altLang="ko-KR" sz="10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2. SPC SPEC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다운로드 기능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5868400"/>
                  </a:ext>
                </a:extLst>
              </a:tr>
              <a:tr h="186900">
                <a:tc vMerge="1">
                  <a:txBody>
                    <a:bodyPr/>
                    <a:lstStyle/>
                    <a:p>
                      <a:pPr algn="ctr"/>
                      <a:endParaRPr lang="en-US" altLang="ko-KR" sz="10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3.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실시간모니터링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8365933"/>
                  </a:ext>
                </a:extLst>
              </a:tr>
              <a:tr h="186900">
                <a:tc vMerge="1">
                  <a:txBody>
                    <a:bodyPr/>
                    <a:lstStyle/>
                    <a:p>
                      <a:pPr algn="ctr"/>
                      <a:endParaRPr lang="en-US" altLang="ko-KR" sz="10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4.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계측기 이력 조회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9721597"/>
                  </a:ext>
                </a:extLst>
              </a:tr>
              <a:tr h="186900">
                <a:tc vMerge="1">
                  <a:txBody>
                    <a:bodyPr/>
                    <a:lstStyle/>
                    <a:p>
                      <a:pPr algn="ctr"/>
                      <a:endParaRPr lang="ko-KR" altLang="en-US" sz="1000" b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5.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운영자관리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3406595"/>
                  </a:ext>
                </a:extLst>
              </a:tr>
              <a:tr h="158727">
                <a:tc rowSpan="2">
                  <a:txBody>
                    <a:bodyPr/>
                    <a:lstStyle/>
                    <a:p>
                      <a:pPr algn="ctr"/>
                      <a:r>
                        <a:rPr lang="en-US" altLang="ko-KR" sz="800" b="0">
                          <a:latin typeface="+mn-lt"/>
                          <a:ea typeface="LG스마트체 Regular" panose="020B0600000101010101" pitchFamily="50" charset="-127"/>
                        </a:rPr>
                        <a:t>MMD</a:t>
                      </a:r>
                      <a:endParaRPr lang="ko-KR" altLang="en-US" sz="800" b="0"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1.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기초코드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5001166"/>
                  </a:ext>
                </a:extLst>
              </a:tr>
              <a:tr h="186900">
                <a:tc vMerge="1">
                  <a:txBody>
                    <a:bodyPr/>
                    <a:lstStyle/>
                    <a:p>
                      <a:pPr algn="ctr"/>
                      <a:endParaRPr lang="ko-KR" altLang="en-US" sz="1000" b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2.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검사품질관리</a:t>
                      </a: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3D6D6D9F-E563-AFA8-84B2-2F25DE85BC71}"/>
              </a:ext>
            </a:extLst>
          </p:cNvPr>
          <p:cNvGrpSpPr/>
          <p:nvPr/>
        </p:nvGrpSpPr>
        <p:grpSpPr>
          <a:xfrm>
            <a:off x="7478992" y="2058916"/>
            <a:ext cx="888993" cy="286816"/>
            <a:chOff x="7419094" y="2025846"/>
            <a:chExt cx="888993" cy="286816"/>
          </a:xfrm>
        </p:grpSpPr>
        <p:cxnSp>
          <p:nvCxnSpPr>
            <p:cNvPr id="49" name="직선 화살표 연결선 48">
              <a:extLst>
                <a:ext uri="{FF2B5EF4-FFF2-40B4-BE49-F238E27FC236}">
                  <a16:creationId xmlns:a16="http://schemas.microsoft.com/office/drawing/2014/main" id="{E64DBC8D-C3B5-F0CB-08EA-FCD357778799}"/>
                </a:ext>
              </a:extLst>
            </p:cNvPr>
            <p:cNvCxnSpPr>
              <a:cxnSpLocks/>
            </p:cNvCxnSpPr>
            <p:nvPr/>
          </p:nvCxnSpPr>
          <p:spPr>
            <a:xfrm>
              <a:off x="7419094" y="2095080"/>
              <a:ext cx="185931" cy="0"/>
            </a:xfrm>
            <a:prstGeom prst="straightConnector1">
              <a:avLst/>
            </a:prstGeom>
            <a:ln w="317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화살표 연결선 49">
              <a:extLst>
                <a:ext uri="{FF2B5EF4-FFF2-40B4-BE49-F238E27FC236}">
                  <a16:creationId xmlns:a16="http://schemas.microsoft.com/office/drawing/2014/main" id="{FD5B01B2-BFCA-04F2-B41F-8AD6F66A76F4}"/>
                </a:ext>
              </a:extLst>
            </p:cNvPr>
            <p:cNvCxnSpPr>
              <a:cxnSpLocks/>
            </p:cNvCxnSpPr>
            <p:nvPr/>
          </p:nvCxnSpPr>
          <p:spPr>
            <a:xfrm>
              <a:off x="8110639" y="2103726"/>
              <a:ext cx="197448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47613770-A535-6634-C557-B35CAC32128C}"/>
                </a:ext>
              </a:extLst>
            </p:cNvPr>
            <p:cNvSpPr/>
            <p:nvPr/>
          </p:nvSpPr>
          <p:spPr bwMode="auto">
            <a:xfrm>
              <a:off x="7799112" y="2025846"/>
              <a:ext cx="149635" cy="155759"/>
            </a:xfrm>
            <a:prstGeom prst="ellipse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3600" tIns="46800" rIns="93600" bIns="468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620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700" i="0" u="none" strike="no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endParaRPr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BE56BC6C-FF7A-8F45-6697-B6ECD6CD67DC}"/>
                </a:ext>
              </a:extLst>
            </p:cNvPr>
            <p:cNvSpPr/>
            <p:nvPr/>
          </p:nvSpPr>
          <p:spPr bwMode="auto">
            <a:xfrm>
              <a:off x="7799112" y="2156903"/>
              <a:ext cx="149635" cy="155759"/>
            </a:xfrm>
            <a:prstGeom prst="ellipse">
              <a:avLst/>
            </a:prstGeom>
            <a:noFill/>
            <a:ln w="31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3600" tIns="46800" rIns="93600" bIns="468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620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700" i="0" u="none" strike="noStrike" cap="none" normalizeH="0" baseline="0">
                  <a:ln>
                    <a:noFill/>
                  </a:ln>
                  <a:effectLst/>
                  <a:latin typeface="Arial" charset="0"/>
                  <a:ea typeface="바탕" pitchFamily="18" charset="-127"/>
                </a:rPr>
                <a:t>Open</a:t>
              </a:r>
              <a:endParaRPr kumimoji="1" lang="ko-KR" altLang="en-US" sz="700" i="0" u="none" strike="no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endParaRPr>
            </a:p>
          </p:txBody>
        </p:sp>
        <p:sp>
          <p:nvSpPr>
            <p:cNvPr id="53" name="타원 52">
              <a:extLst>
                <a:ext uri="{FF2B5EF4-FFF2-40B4-BE49-F238E27FC236}">
                  <a16:creationId xmlns:a16="http://schemas.microsoft.com/office/drawing/2014/main" id="{B0DAEBCF-7661-9C8D-2895-A20D1C166BA3}"/>
                </a:ext>
              </a:extLst>
            </p:cNvPr>
            <p:cNvSpPr/>
            <p:nvPr/>
          </p:nvSpPr>
          <p:spPr bwMode="auto">
            <a:xfrm>
              <a:off x="7420476" y="2156903"/>
              <a:ext cx="149635" cy="155759"/>
            </a:xfrm>
            <a:prstGeom prst="ellipse">
              <a:avLst/>
            </a:prstGeom>
            <a:noFill/>
            <a:ln w="31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3600" tIns="46800" rIns="93600" bIns="468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620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ko-KR" altLang="en-US" sz="700" i="0" u="none" strike="noStrike" cap="none" normalizeH="0" baseline="0">
                  <a:ln>
                    <a:noFill/>
                  </a:ln>
                  <a:effectLst/>
                  <a:latin typeface="+mj-ea"/>
                  <a:ea typeface="+mj-ea"/>
                </a:rPr>
                <a:t>개발</a:t>
              </a:r>
            </a:p>
          </p:txBody>
        </p:sp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5653AD7C-5589-7F7B-209B-BF2B53AEC0C5}"/>
                </a:ext>
              </a:extLst>
            </p:cNvPr>
            <p:cNvSpPr/>
            <p:nvPr/>
          </p:nvSpPr>
          <p:spPr bwMode="auto">
            <a:xfrm>
              <a:off x="8136413" y="2156903"/>
              <a:ext cx="149635" cy="155759"/>
            </a:xfrm>
            <a:prstGeom prst="ellipse">
              <a:avLst/>
            </a:prstGeom>
            <a:noFill/>
            <a:ln w="31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ot="0" spcFirstLastPara="0" vertOverflow="overflow" horzOverflow="overflow" vert="horz" wrap="none" lIns="93600" tIns="46800" rIns="936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762000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>
                  <a:latin typeface="+mj-ea"/>
                  <a:ea typeface="+mj-ea"/>
                </a:rPr>
                <a:t>안정화</a:t>
              </a:r>
            </a:p>
          </p:txBody>
        </p:sp>
      </p:grp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6A39ADD2-5B50-62DD-D79B-A7E86C11F223}"/>
              </a:ext>
            </a:extLst>
          </p:cNvPr>
          <p:cNvGraphicFramePr>
            <a:graphicFrameLocks noGrp="1"/>
          </p:cNvGraphicFramePr>
          <p:nvPr/>
        </p:nvGraphicFramePr>
        <p:xfrm>
          <a:off x="6069156" y="5572263"/>
          <a:ext cx="2566523" cy="11441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23296">
                  <a:extLst>
                    <a:ext uri="{9D8B030D-6E8A-4147-A177-3AD203B41FA5}">
                      <a16:colId xmlns:a16="http://schemas.microsoft.com/office/drawing/2014/main" val="1938730975"/>
                    </a:ext>
                  </a:extLst>
                </a:gridCol>
                <a:gridCol w="323296">
                  <a:extLst>
                    <a:ext uri="{9D8B030D-6E8A-4147-A177-3AD203B41FA5}">
                      <a16:colId xmlns:a16="http://schemas.microsoft.com/office/drawing/2014/main" val="3196223900"/>
                    </a:ext>
                  </a:extLst>
                </a:gridCol>
                <a:gridCol w="370313">
                  <a:extLst>
                    <a:ext uri="{9D8B030D-6E8A-4147-A177-3AD203B41FA5}">
                      <a16:colId xmlns:a16="http://schemas.microsoft.com/office/drawing/2014/main" val="3537354353"/>
                    </a:ext>
                  </a:extLst>
                </a:gridCol>
                <a:gridCol w="370313">
                  <a:extLst>
                    <a:ext uri="{9D8B030D-6E8A-4147-A177-3AD203B41FA5}">
                      <a16:colId xmlns:a16="http://schemas.microsoft.com/office/drawing/2014/main" val="638863140"/>
                    </a:ext>
                  </a:extLst>
                </a:gridCol>
                <a:gridCol w="414234">
                  <a:extLst>
                    <a:ext uri="{9D8B030D-6E8A-4147-A177-3AD203B41FA5}">
                      <a16:colId xmlns:a16="http://schemas.microsoft.com/office/drawing/2014/main" val="1548844797"/>
                    </a:ext>
                  </a:extLst>
                </a:gridCol>
                <a:gridCol w="765071">
                  <a:extLst>
                    <a:ext uri="{9D8B030D-6E8A-4147-A177-3AD203B41FA5}">
                      <a16:colId xmlns:a16="http://schemas.microsoft.com/office/drawing/2014/main" val="1495451940"/>
                    </a:ext>
                  </a:extLst>
                </a:gridCol>
              </a:tblGrid>
              <a:tr h="162696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구분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1" u="none" strike="noStrike">
                          <a:effectLst/>
                          <a:latin typeface="+mj-ea"/>
                          <a:ea typeface="+mj-ea"/>
                        </a:rPr>
                        <a:t>ALARM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1" u="none" strike="noStrike">
                          <a:effectLst/>
                          <a:latin typeface="+mj-ea"/>
                          <a:ea typeface="+mj-ea"/>
                        </a:rPr>
                        <a:t>PARA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1" u="none" strike="noStrike">
                          <a:effectLst/>
                          <a:latin typeface="+mj-ea"/>
                          <a:ea typeface="+mj-ea"/>
                        </a:rPr>
                        <a:t>STATUS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비고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9221408"/>
                  </a:ext>
                </a:extLst>
              </a:tr>
              <a:tr h="16357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전극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1" u="none" strike="noStrike">
                          <a:effectLst/>
                          <a:latin typeface="+mj-ea"/>
                          <a:ea typeface="+mj-ea"/>
                        </a:rPr>
                        <a:t>Vision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9</a:t>
                      </a:r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ko-KR" altLang="en-US" sz="800" b="1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707285"/>
                  </a:ext>
                </a:extLst>
              </a:tr>
              <a:tr h="163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계측기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79906"/>
                  </a:ext>
                </a:extLst>
              </a:tr>
              <a:tr h="16357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조립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1" u="none" strike="noStrike">
                          <a:effectLst/>
                          <a:latin typeface="+mj-ea"/>
                          <a:ea typeface="+mj-ea"/>
                        </a:rPr>
                        <a:t>Vision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VCT / IRS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0394054"/>
                  </a:ext>
                </a:extLst>
              </a:tr>
              <a:tr h="163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계측기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9958158"/>
                  </a:ext>
                </a:extLst>
              </a:tr>
              <a:tr h="16357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활성화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1" u="none" strike="noStrike">
                          <a:effectLst/>
                          <a:latin typeface="+mj-ea"/>
                          <a:ea typeface="+mj-ea"/>
                        </a:rPr>
                        <a:t>Vision</a:t>
                      </a:r>
                      <a:endParaRPr 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5178607"/>
                  </a:ext>
                </a:extLst>
              </a:tr>
              <a:tr h="163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u="none" strike="noStrike">
                          <a:effectLst/>
                          <a:latin typeface="+mj-ea"/>
                          <a:ea typeface="+mj-ea"/>
                        </a:rPr>
                        <a:t>계측기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r>
                        <a:rPr lang="en-US" altLang="ko-KR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80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473" marR="9473" marT="9473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3097254"/>
                  </a:ext>
                </a:extLst>
              </a:tr>
            </a:tbl>
          </a:graphicData>
        </a:graphic>
      </p:graphicFrame>
      <p:sp>
        <p:nvSpPr>
          <p:cNvPr id="57" name="TextBox 56">
            <a:extLst>
              <a:ext uri="{FF2B5EF4-FFF2-40B4-BE49-F238E27FC236}">
                <a16:creationId xmlns:a16="http://schemas.microsoft.com/office/drawing/2014/main" id="{075C4B02-F525-7202-F142-B1988CA36CC5}"/>
              </a:ext>
            </a:extLst>
          </p:cNvPr>
          <p:cNvSpPr txBox="1"/>
          <p:nvPr/>
        </p:nvSpPr>
        <p:spPr>
          <a:xfrm>
            <a:off x="1417329" y="5392712"/>
            <a:ext cx="249381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/>
              <a:t>▣ 개발 </a:t>
            </a:r>
            <a:r>
              <a:rPr lang="ko-KR" altLang="en-US" sz="800" b="1" err="1"/>
              <a:t>진척률</a:t>
            </a:r>
            <a:endParaRPr lang="ko-KR" altLang="en-US" sz="800" b="1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E037E937-4666-68E9-FB66-602577F0B83F}"/>
              </a:ext>
            </a:extLst>
          </p:cNvPr>
          <p:cNvSpPr txBox="1"/>
          <p:nvPr/>
        </p:nvSpPr>
        <p:spPr>
          <a:xfrm>
            <a:off x="5932618" y="5392712"/>
            <a:ext cx="249381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b="1"/>
              <a:t>▣ 관리항목 취합</a:t>
            </a: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8CD6599B-F835-DDBE-D8D3-7A938E58B0C7}"/>
              </a:ext>
            </a:extLst>
          </p:cNvPr>
          <p:cNvSpPr/>
          <p:nvPr/>
        </p:nvSpPr>
        <p:spPr bwMode="auto">
          <a:xfrm>
            <a:off x="6109238" y="2464429"/>
            <a:ext cx="154800" cy="155759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i="0" u="none" strike="no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4/15</a:t>
            </a:r>
            <a:endParaRPr kumimoji="1" lang="ko-KR" altLang="en-US" sz="700" i="0" u="none" strike="no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F7E2B0D9-4E48-6548-637D-FDB97BE01819}"/>
              </a:ext>
            </a:extLst>
          </p:cNvPr>
          <p:cNvSpPr/>
          <p:nvPr/>
        </p:nvSpPr>
        <p:spPr bwMode="auto">
          <a:xfrm>
            <a:off x="6109238" y="2617094"/>
            <a:ext cx="154800" cy="155759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>
                <a:latin typeface="Arial" charset="0"/>
                <a:ea typeface="바탕" pitchFamily="18" charset="-127"/>
              </a:rPr>
              <a:t>4/15</a:t>
            </a:r>
            <a:endParaRPr kumimoji="1" lang="ko-KR" altLang="en-US" sz="700">
              <a:latin typeface="Arial" charset="0"/>
              <a:ea typeface="바탕" pitchFamily="18" charset="-127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FBDF6CD7-7539-5761-0635-3C32867ED4DC}"/>
              </a:ext>
            </a:extLst>
          </p:cNvPr>
          <p:cNvSpPr/>
          <p:nvPr/>
        </p:nvSpPr>
        <p:spPr bwMode="auto">
          <a:xfrm>
            <a:off x="6109238" y="2994024"/>
            <a:ext cx="154800" cy="155759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i="0" u="none" strike="no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4/15</a:t>
            </a:r>
            <a:endParaRPr kumimoji="1" lang="ko-KR" altLang="en-US" sz="700" i="0" u="none" strike="no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60DA4983-6AAD-CEB2-780F-08A31E0F92EE}"/>
              </a:ext>
            </a:extLst>
          </p:cNvPr>
          <p:cNvSpPr/>
          <p:nvPr/>
        </p:nvSpPr>
        <p:spPr bwMode="auto">
          <a:xfrm>
            <a:off x="6109238" y="3176581"/>
            <a:ext cx="154800" cy="155759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i="0" u="none" strike="no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4/15</a:t>
            </a:r>
            <a:endParaRPr kumimoji="1" lang="ko-KR" altLang="en-US" sz="700" i="0" u="none" strike="no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F8566C5E-7322-3DC4-D636-10D111886AAD}"/>
              </a:ext>
            </a:extLst>
          </p:cNvPr>
          <p:cNvSpPr/>
          <p:nvPr/>
        </p:nvSpPr>
        <p:spPr bwMode="auto">
          <a:xfrm>
            <a:off x="4825760" y="3366627"/>
            <a:ext cx="154800" cy="155759"/>
          </a:xfrm>
          <a:prstGeom prst="ellipse">
            <a:avLst/>
          </a:prstGeom>
          <a:solidFill>
            <a:schemeClr val="bg1">
              <a:lumMod val="75000"/>
            </a:schemeClr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i="0" u="none" strike="no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1/21</a:t>
            </a:r>
            <a:endParaRPr kumimoji="1" lang="ko-KR" altLang="en-US" sz="700" i="0" u="none" strike="no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1DFEE0F9-F16C-1B1F-67F3-FA77DC21369D}"/>
              </a:ext>
            </a:extLst>
          </p:cNvPr>
          <p:cNvSpPr/>
          <p:nvPr/>
        </p:nvSpPr>
        <p:spPr bwMode="auto">
          <a:xfrm>
            <a:off x="5777818" y="3524431"/>
            <a:ext cx="154800" cy="155759"/>
          </a:xfrm>
          <a:prstGeom prst="ellipse">
            <a:avLst/>
          </a:prstGeom>
          <a:solidFill>
            <a:schemeClr val="bg1">
              <a:lumMod val="75000"/>
            </a:schemeClr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>
                <a:latin typeface="Arial" charset="0"/>
                <a:ea typeface="바탕" pitchFamily="18" charset="-127"/>
              </a:rPr>
              <a:t>3</a:t>
            </a:r>
            <a:r>
              <a:rPr kumimoji="1" lang="en-US" altLang="ko-KR" sz="700" i="0" u="none" strike="no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/4</a:t>
            </a:r>
            <a:endParaRPr kumimoji="1" lang="ko-KR" altLang="en-US" sz="700" i="0" u="none" strike="no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EFD6A830-697F-80FB-1EF2-9B0BA72F18A9}"/>
              </a:ext>
            </a:extLst>
          </p:cNvPr>
          <p:cNvSpPr/>
          <p:nvPr/>
        </p:nvSpPr>
        <p:spPr bwMode="auto">
          <a:xfrm>
            <a:off x="6874294" y="2802303"/>
            <a:ext cx="154800" cy="155759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>
                <a:latin typeface="Arial" charset="0"/>
                <a:ea typeface="바탕" pitchFamily="18" charset="-127"/>
              </a:rPr>
              <a:t>5/27</a:t>
            </a:r>
            <a:endParaRPr kumimoji="1" lang="ko-KR" altLang="en-US" sz="700">
              <a:latin typeface="Arial" charset="0"/>
              <a:ea typeface="바탕" pitchFamily="18" charset="-127"/>
            </a:endParaRPr>
          </a:p>
        </p:txBody>
      </p:sp>
      <p:cxnSp>
        <p:nvCxnSpPr>
          <p:cNvPr id="67" name="직선 화살표 연결선 66">
            <a:extLst>
              <a:ext uri="{FF2B5EF4-FFF2-40B4-BE49-F238E27FC236}">
                <a16:creationId xmlns:a16="http://schemas.microsoft.com/office/drawing/2014/main" id="{30D535E5-7B2E-F991-1AB3-7755574E7372}"/>
              </a:ext>
            </a:extLst>
          </p:cNvPr>
          <p:cNvCxnSpPr>
            <a:cxnSpLocks/>
          </p:cNvCxnSpPr>
          <p:nvPr/>
        </p:nvCxnSpPr>
        <p:spPr>
          <a:xfrm>
            <a:off x="3600450" y="2542308"/>
            <a:ext cx="2402661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1CA365F1-C8A0-ABB3-FFE7-FA00E53FCCD6}"/>
              </a:ext>
            </a:extLst>
          </p:cNvPr>
          <p:cNvCxnSpPr>
            <a:cxnSpLocks/>
          </p:cNvCxnSpPr>
          <p:nvPr/>
        </p:nvCxnSpPr>
        <p:spPr>
          <a:xfrm>
            <a:off x="3600450" y="2694973"/>
            <a:ext cx="2402661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906CBAE4-42A4-6A52-C76B-F55CCA081CDB}"/>
              </a:ext>
            </a:extLst>
          </p:cNvPr>
          <p:cNvCxnSpPr>
            <a:cxnSpLocks/>
          </p:cNvCxnSpPr>
          <p:nvPr/>
        </p:nvCxnSpPr>
        <p:spPr>
          <a:xfrm>
            <a:off x="3600450" y="3071903"/>
            <a:ext cx="2402661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7EA79424-B111-1DE4-31B6-F03EC5B20514}"/>
              </a:ext>
            </a:extLst>
          </p:cNvPr>
          <p:cNvCxnSpPr>
            <a:cxnSpLocks/>
          </p:cNvCxnSpPr>
          <p:nvPr/>
        </p:nvCxnSpPr>
        <p:spPr>
          <a:xfrm>
            <a:off x="3600450" y="3254460"/>
            <a:ext cx="2402661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E2503124-039A-8805-D730-73241DC89ADB}"/>
              </a:ext>
            </a:extLst>
          </p:cNvPr>
          <p:cNvCxnSpPr>
            <a:cxnSpLocks/>
          </p:cNvCxnSpPr>
          <p:nvPr/>
        </p:nvCxnSpPr>
        <p:spPr>
          <a:xfrm>
            <a:off x="3600450" y="3438155"/>
            <a:ext cx="1133308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557BEF61-9116-5848-CEDF-4402CA174D70}"/>
              </a:ext>
            </a:extLst>
          </p:cNvPr>
          <p:cNvCxnSpPr>
            <a:cxnSpLocks/>
          </p:cNvCxnSpPr>
          <p:nvPr/>
        </p:nvCxnSpPr>
        <p:spPr>
          <a:xfrm>
            <a:off x="3600450" y="3602310"/>
            <a:ext cx="2145030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0808B520-9F20-8A8B-F523-3FCCDC97A93F}"/>
              </a:ext>
            </a:extLst>
          </p:cNvPr>
          <p:cNvCxnSpPr>
            <a:cxnSpLocks/>
          </p:cNvCxnSpPr>
          <p:nvPr/>
        </p:nvCxnSpPr>
        <p:spPr>
          <a:xfrm>
            <a:off x="3600450" y="2883646"/>
            <a:ext cx="3128010" cy="0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4030148A-E0CA-2668-8B5D-BB533FF45CD3}"/>
              </a:ext>
            </a:extLst>
          </p:cNvPr>
          <p:cNvCxnSpPr>
            <a:cxnSpLocks/>
          </p:cNvCxnSpPr>
          <p:nvPr/>
        </p:nvCxnSpPr>
        <p:spPr>
          <a:xfrm>
            <a:off x="7109460" y="2883646"/>
            <a:ext cx="1420178" cy="0"/>
          </a:xfrm>
          <a:prstGeom prst="straightConnector1">
            <a:avLst/>
          </a:prstGeom>
          <a:ln w="3175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CCF9366E-F7EC-4ACB-5B35-BDFB9B7149D2}"/>
              </a:ext>
            </a:extLst>
          </p:cNvPr>
          <p:cNvCxnSpPr>
            <a:cxnSpLocks/>
          </p:cNvCxnSpPr>
          <p:nvPr/>
        </p:nvCxnSpPr>
        <p:spPr>
          <a:xfrm>
            <a:off x="5207072" y="3438155"/>
            <a:ext cx="3322566" cy="0"/>
          </a:xfrm>
          <a:prstGeom prst="straightConnector1">
            <a:avLst/>
          </a:prstGeom>
          <a:ln w="3175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9C00A577-9438-3131-F3E2-951471B0C9C8}"/>
              </a:ext>
            </a:extLst>
          </p:cNvPr>
          <p:cNvCxnSpPr>
            <a:cxnSpLocks/>
          </p:cNvCxnSpPr>
          <p:nvPr/>
        </p:nvCxnSpPr>
        <p:spPr>
          <a:xfrm>
            <a:off x="6069156" y="3602310"/>
            <a:ext cx="2460482" cy="0"/>
          </a:xfrm>
          <a:prstGeom prst="straightConnector1">
            <a:avLst/>
          </a:prstGeom>
          <a:ln w="3175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619CD176-F084-AB37-C997-E56D6E247007}"/>
              </a:ext>
            </a:extLst>
          </p:cNvPr>
          <p:cNvCxnSpPr>
            <a:cxnSpLocks/>
          </p:cNvCxnSpPr>
          <p:nvPr/>
        </p:nvCxnSpPr>
        <p:spPr>
          <a:xfrm>
            <a:off x="6728460" y="2542308"/>
            <a:ext cx="1801178" cy="0"/>
          </a:xfrm>
          <a:prstGeom prst="straightConnector1">
            <a:avLst/>
          </a:prstGeom>
          <a:ln w="3175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화살표 연결선 77">
            <a:extLst>
              <a:ext uri="{FF2B5EF4-FFF2-40B4-BE49-F238E27FC236}">
                <a16:creationId xmlns:a16="http://schemas.microsoft.com/office/drawing/2014/main" id="{46FA2DDA-C5EB-CAF7-4A1D-8196A42E9EDE}"/>
              </a:ext>
            </a:extLst>
          </p:cNvPr>
          <p:cNvCxnSpPr>
            <a:cxnSpLocks/>
          </p:cNvCxnSpPr>
          <p:nvPr/>
        </p:nvCxnSpPr>
        <p:spPr>
          <a:xfrm>
            <a:off x="6728460" y="3071903"/>
            <a:ext cx="1801178" cy="0"/>
          </a:xfrm>
          <a:prstGeom prst="straightConnector1">
            <a:avLst/>
          </a:prstGeom>
          <a:ln w="3175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0DB75D42-80FB-516E-8E72-86A7D60A3793}"/>
              </a:ext>
            </a:extLst>
          </p:cNvPr>
          <p:cNvCxnSpPr>
            <a:cxnSpLocks/>
          </p:cNvCxnSpPr>
          <p:nvPr/>
        </p:nvCxnSpPr>
        <p:spPr>
          <a:xfrm>
            <a:off x="6728460" y="3254460"/>
            <a:ext cx="1801178" cy="0"/>
          </a:xfrm>
          <a:prstGeom prst="straightConnector1">
            <a:avLst/>
          </a:prstGeom>
          <a:ln w="3175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9E54E3F8-3274-451B-8458-D5D153132E13}"/>
              </a:ext>
            </a:extLst>
          </p:cNvPr>
          <p:cNvCxnSpPr>
            <a:cxnSpLocks/>
          </p:cNvCxnSpPr>
          <p:nvPr/>
        </p:nvCxnSpPr>
        <p:spPr>
          <a:xfrm>
            <a:off x="6728460" y="2694973"/>
            <a:ext cx="1801178" cy="0"/>
          </a:xfrm>
          <a:prstGeom prst="straightConnector1">
            <a:avLst/>
          </a:prstGeom>
          <a:ln w="3175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타원 80">
            <a:extLst>
              <a:ext uri="{FF2B5EF4-FFF2-40B4-BE49-F238E27FC236}">
                <a16:creationId xmlns:a16="http://schemas.microsoft.com/office/drawing/2014/main" id="{866B96C1-39F3-D764-1AF2-9C4FE8E97B25}"/>
              </a:ext>
            </a:extLst>
          </p:cNvPr>
          <p:cNvSpPr/>
          <p:nvPr/>
        </p:nvSpPr>
        <p:spPr bwMode="auto">
          <a:xfrm>
            <a:off x="6452358" y="2464429"/>
            <a:ext cx="154800" cy="155759"/>
          </a:xfrm>
          <a:prstGeom prst="ellipse">
            <a:avLst/>
          </a:prstGeom>
          <a:noFill/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i="0" u="none" strike="sng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4/22</a:t>
            </a:r>
            <a:endParaRPr kumimoji="1" lang="ko-KR" altLang="en-US" sz="700" i="0" u="none" strike="sng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CE8B8C45-7BC3-9253-14DA-11F2CB87FFD8}"/>
              </a:ext>
            </a:extLst>
          </p:cNvPr>
          <p:cNvSpPr/>
          <p:nvPr/>
        </p:nvSpPr>
        <p:spPr bwMode="auto">
          <a:xfrm>
            <a:off x="6452358" y="2617094"/>
            <a:ext cx="154800" cy="155759"/>
          </a:xfrm>
          <a:prstGeom prst="ellipse">
            <a:avLst/>
          </a:prstGeom>
          <a:noFill/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i="0" u="none" strike="sng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4/22</a:t>
            </a:r>
            <a:endParaRPr kumimoji="1" lang="ko-KR" altLang="en-US" sz="700" i="0" u="none" strike="sng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9CFD001D-425F-A784-A68C-42EE1626E059}"/>
              </a:ext>
            </a:extLst>
          </p:cNvPr>
          <p:cNvSpPr/>
          <p:nvPr/>
        </p:nvSpPr>
        <p:spPr bwMode="auto">
          <a:xfrm>
            <a:off x="6452358" y="2994024"/>
            <a:ext cx="154800" cy="155759"/>
          </a:xfrm>
          <a:prstGeom prst="ellipse">
            <a:avLst/>
          </a:prstGeom>
          <a:noFill/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i="0" u="none" strike="sng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4/22</a:t>
            </a:r>
            <a:endParaRPr kumimoji="1" lang="ko-KR" altLang="en-US" sz="700" i="0" u="none" strike="sng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284AFD2B-7D7B-84AE-CE46-0C444B9AAE04}"/>
              </a:ext>
            </a:extLst>
          </p:cNvPr>
          <p:cNvSpPr/>
          <p:nvPr/>
        </p:nvSpPr>
        <p:spPr bwMode="auto">
          <a:xfrm>
            <a:off x="6452358" y="3176581"/>
            <a:ext cx="154800" cy="155759"/>
          </a:xfrm>
          <a:prstGeom prst="ellipse">
            <a:avLst/>
          </a:prstGeom>
          <a:noFill/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i="0" u="none" strike="sngStrike" cap="none" normalizeH="0" baseline="0">
                <a:ln>
                  <a:noFill/>
                </a:ln>
                <a:effectLst/>
                <a:latin typeface="Arial" charset="0"/>
                <a:ea typeface="바탕" pitchFamily="18" charset="-127"/>
              </a:rPr>
              <a:t>4/22</a:t>
            </a:r>
            <a:endParaRPr kumimoji="1" lang="ko-KR" altLang="en-US" sz="700" i="0" u="none" strike="sngStrike" cap="none" normalizeH="0" baseline="0">
              <a:ln>
                <a:noFill/>
              </a:ln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85" name="화살표: 오각형 84">
            <a:extLst>
              <a:ext uri="{FF2B5EF4-FFF2-40B4-BE49-F238E27FC236}">
                <a16:creationId xmlns:a16="http://schemas.microsoft.com/office/drawing/2014/main" id="{118D5E1F-488F-52C6-2ACF-5157B7B521E1}"/>
              </a:ext>
            </a:extLst>
          </p:cNvPr>
          <p:cNvSpPr/>
          <p:nvPr/>
        </p:nvSpPr>
        <p:spPr bwMode="auto">
          <a:xfrm rot="10800000">
            <a:off x="6316981" y="2516478"/>
            <a:ext cx="93397" cy="285252"/>
          </a:xfrm>
          <a:prstGeom prst="homePlate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3600" tIns="46800" rIns="93600" bIns="4680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3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86" name="화살표: 오각형 85">
            <a:extLst>
              <a:ext uri="{FF2B5EF4-FFF2-40B4-BE49-F238E27FC236}">
                <a16:creationId xmlns:a16="http://schemas.microsoft.com/office/drawing/2014/main" id="{CF83B79D-F97D-E6C0-4ADA-B992AB8F2312}"/>
              </a:ext>
            </a:extLst>
          </p:cNvPr>
          <p:cNvSpPr/>
          <p:nvPr/>
        </p:nvSpPr>
        <p:spPr bwMode="auto">
          <a:xfrm rot="10800000">
            <a:off x="6316981" y="3015388"/>
            <a:ext cx="93397" cy="285252"/>
          </a:xfrm>
          <a:prstGeom prst="homePlate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3600" tIns="46800" rIns="93600" bIns="4680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3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" pitchFamily="18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5941165-C6F2-235D-01CC-290B1336CE85}"/>
              </a:ext>
            </a:extLst>
          </p:cNvPr>
          <p:cNvSpPr txBox="1"/>
          <p:nvPr/>
        </p:nvSpPr>
        <p:spPr>
          <a:xfrm>
            <a:off x="1416191" y="3669110"/>
            <a:ext cx="7581762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800" b="0" i="0" dirty="0">
                <a:solidFill>
                  <a:srgbClr val="2C3238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*LTTB(Least-Trimmed Squares Binning) :</a:t>
            </a:r>
            <a:r>
              <a:rPr lang="ko-KR" altLang="en-US" sz="800" b="0" i="0" dirty="0">
                <a:solidFill>
                  <a:srgbClr val="2C3238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데이터 시각화 시 많은 데이터 포인트 중 중요한 점만 선택하여 시각적 패턴은 유지하면서</a:t>
            </a:r>
            <a:r>
              <a:rPr lang="en-US" altLang="ko-KR" sz="800" b="0" i="0" dirty="0">
                <a:solidFill>
                  <a:srgbClr val="2C3238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800" b="0" i="0" dirty="0">
                <a:solidFill>
                  <a:srgbClr val="2C3238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차트를 간결하게 표현하는 방법 </a:t>
            </a:r>
            <a:r>
              <a:rPr lang="en-US" altLang="ko-KR" sz="800" b="0" i="0" dirty="0">
                <a:solidFill>
                  <a:srgbClr val="2C3238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 </a:t>
            </a:r>
            <a:endParaRPr lang="ko-KR" altLang="en-US" sz="800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B45118A-4DC5-ED17-972B-A6F77C01AFF2}"/>
              </a:ext>
            </a:extLst>
          </p:cNvPr>
          <p:cNvSpPr txBox="1"/>
          <p:nvPr/>
        </p:nvSpPr>
        <p:spPr>
          <a:xfrm>
            <a:off x="8032766" y="670208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297C0D8D-3239-846C-05F8-FB5B2D75DBA7}"/>
              </a:ext>
            </a:extLst>
          </p:cNvPr>
          <p:cNvSpPr txBox="1">
            <a:spLocks/>
          </p:cNvSpPr>
          <p:nvPr/>
        </p:nvSpPr>
        <p:spPr>
          <a:xfrm>
            <a:off x="8742898" y="500931"/>
            <a:ext cx="94416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김승진</a:t>
            </a:r>
            <a:r>
              <a:rPr lang="en-US" altLang="ko-KR" sz="11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0758856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830903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/ESS)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SPC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계측기 모니터링</a:t>
            </a: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kern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defRPr>
            </a:lvl1pPr>
          </a:lstStyle>
          <a:p>
            <a:r>
              <a:rPr lang="en-US" altLang="ko-KR">
                <a:latin typeface="+mj-lt"/>
                <a:ea typeface="LG스마트체 Regular" panose="020B0600000101010101" pitchFamily="50" charset="-127"/>
              </a:rPr>
              <a:t>1. </a:t>
            </a:r>
            <a:r>
              <a:rPr lang="ko-KR" altLang="en-US">
                <a:latin typeface="+mj-lt"/>
                <a:ea typeface="LG스마트체 Regular" panose="020B0600000101010101" pitchFamily="50" charset="-127"/>
              </a:rPr>
              <a:t>과제 진행 현황</a:t>
            </a:r>
            <a:r>
              <a:rPr lang="en-US" altLang="ko-KR"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공정검사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</a:rPr>
              <a:t>DX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팀</a:t>
            </a:r>
            <a:endParaRPr lang="ko-KR" altLang="en-US"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75" name="내용 개체 틀 20">
            <a:extLst>
              <a:ext uri="{FF2B5EF4-FFF2-40B4-BE49-F238E27FC236}">
                <a16:creationId xmlns:a16="http://schemas.microsoft.com/office/drawing/2014/main" id="{2725236C-BE60-47E7-B3FB-358C4335DB0C}"/>
              </a:ext>
            </a:extLst>
          </p:cNvPr>
          <p:cNvSpPr txBox="1">
            <a:spLocks/>
          </p:cNvSpPr>
          <p:nvPr/>
        </p:nvSpPr>
        <p:spPr>
          <a:xfrm>
            <a:off x="5646988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73" name="표 1">
            <a:extLst>
              <a:ext uri="{FF2B5EF4-FFF2-40B4-BE49-F238E27FC236}">
                <a16:creationId xmlns:a16="http://schemas.microsoft.com/office/drawing/2014/main" id="{8F3717A0-ADAC-4569-8F00-C74CEDD862D6}"/>
              </a:ext>
            </a:extLst>
          </p:cNvPr>
          <p:cNvGraphicFramePr>
            <a:graphicFrameLocks noGrp="1"/>
          </p:cNvGraphicFramePr>
          <p:nvPr/>
        </p:nvGraphicFramePr>
        <p:xfrm>
          <a:off x="122467" y="864195"/>
          <a:ext cx="9644176" cy="5936100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59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1000" b="1" i="0" u="none" strike="noStrike" baseline="0" dirty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1170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모니터링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자동차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ESS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ESNB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ESNA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현항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실시간 모니터링이 필요한 </a:t>
                      </a:r>
                      <a:r>
                        <a:rPr lang="en-US" altLang="ko-KR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 영역 </a:t>
                      </a:r>
                      <a:r>
                        <a:rPr lang="en-US" altLang="ko-KR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(Status, Alarm, Spec, Para)</a:t>
                      </a:r>
                      <a:r>
                        <a:rPr lang="ko-KR" altLang="en-US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중 </a:t>
                      </a:r>
                      <a:r>
                        <a:rPr lang="en-US" altLang="ko-KR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 영역</a:t>
                      </a:r>
                      <a:r>
                        <a:rPr lang="en-US" altLang="ko-KR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(Status, Alarm, Spec)</a:t>
                      </a:r>
                      <a:r>
                        <a:rPr lang="ko-KR" altLang="en-US" sz="100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은 기준정보 등록하여 이상감지를 진행하고 있으며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SPC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이상통보 고도화 사용현황 확인 시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ESNA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법인 레시피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Parameter 1101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종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(10,843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건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이상감지 기준정보 등록하여 사용 중입니다</a:t>
                      </a:r>
                      <a:r>
                        <a:rPr lang="en-US" altLang="ko-KR" sz="1000" b="0" kern="1200" baseline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ESNA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VoE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결과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이상발생 자동 메일링 내용에 상세 이탈 정보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제품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ID,Para Name,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관리한계선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,Value)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포함을 요청받아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9/30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반영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기준정보 등록 메뉴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(MMD2)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에 성능 개선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VoE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접수되어 개선 진행 중이며, 솔루션 내부 검토 및 테스트 진행 중 입니다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.(~9/30)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기준정보 등록 메뉴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(MMD2)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에 성능 개선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VoE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접수되어 개선 완료 하였으며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500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만건 조회 시간 평균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분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-&gt;10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초로 개선되었습니다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(9/23)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ESNA VoE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결과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SPC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이상발생 메일링 내용에 상세 정보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제품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ID,Para Name,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관리한계선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,Value)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포함을 요청받아 개발 완료하였습니다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.(9/30)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추가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VoE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로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레시피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Validation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을 위해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KEY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값으로 검사기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LOT_ID (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제품매칭목적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), CELL POSITION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키 값이 통일되어야 하나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검사기 특성 상 키값 없는 경우 존재하여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KEY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값 유동적으로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Validation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이 가능하도록 개발하였습니다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반영 예정일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10/16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입니다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Parameter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이상통보 운영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관련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ESNA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현업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VoE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모두 반영되었으며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(10/16), 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주 모니터링 결과 현재까지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.(10/21)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endParaRPr lang="en-US" altLang="ko-KR" sz="1000" b="0" kern="1200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rgbClr val="0000FF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25”09 (</a:t>
                      </a: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完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김승진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김태원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  <a:cs typeface="+mn-cs"/>
                        </a:rPr>
                        <a:t>A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1" name="TextBox 40">
            <a:extLst>
              <a:ext uri="{FF2B5EF4-FFF2-40B4-BE49-F238E27FC236}">
                <a16:creationId xmlns:a16="http://schemas.microsoft.com/office/drawing/2014/main" id="{68DBAEE3-4A6C-4C0E-A356-B06BA35A0B1B}"/>
              </a:ext>
            </a:extLst>
          </p:cNvPr>
          <p:cNvSpPr txBox="1"/>
          <p:nvPr/>
        </p:nvSpPr>
        <p:spPr>
          <a:xfrm>
            <a:off x="2200759" y="4329874"/>
            <a:ext cx="667977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PARA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메시지는 검사기의 레시피 값에 변경이 발생했을 때 보고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Para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값이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MMD2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등록된 관리선을 벗어난 경우 이상 판별</a:t>
            </a:r>
            <a:endParaRPr lang="en-US" altLang="ko-KR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F5B6363-7DB9-4CB5-A967-5C47826277D2}"/>
              </a:ext>
            </a:extLst>
          </p:cNvPr>
          <p:cNvSpPr txBox="1"/>
          <p:nvPr/>
        </p:nvSpPr>
        <p:spPr>
          <a:xfrm>
            <a:off x="2200759" y="3038658"/>
            <a:ext cx="68425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상태 메시지는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10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초마다 검사기의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On/Off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상태를 보고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설비 상태가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'Run'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상태일 때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검사기가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'*Agent Off'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상태면 이상 판별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24BDE60-00C9-432E-B2EC-D6E9B788469F}"/>
              </a:ext>
            </a:extLst>
          </p:cNvPr>
          <p:cNvSpPr/>
          <p:nvPr/>
        </p:nvSpPr>
        <p:spPr>
          <a:xfrm>
            <a:off x="5497518" y="3208034"/>
            <a:ext cx="246253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*Agent Off :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상태 메시지를 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분간 수신하지 못한 경우</a:t>
            </a:r>
            <a:endParaRPr lang="ko-KR" altLang="en-US" sz="800">
              <a:solidFill>
                <a:srgbClr val="00B050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407C055-352A-46B5-9C9A-795A845F3CDD}"/>
              </a:ext>
            </a:extLst>
          </p:cNvPr>
          <p:cNvSpPr txBox="1"/>
          <p:nvPr/>
        </p:nvSpPr>
        <p:spPr>
          <a:xfrm>
            <a:off x="2200759" y="3453659"/>
            <a:ext cx="66647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Alarm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메시지는 검사기가 생성하는 알람 메시지를 보고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검사기술팀이 선정한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Critical Alarm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발생 시 이상으로 판별</a:t>
            </a:r>
            <a:endParaRPr lang="en-US" altLang="ko-KR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13B139E-2F52-4F14-8394-2F10F70673DF}"/>
              </a:ext>
            </a:extLst>
          </p:cNvPr>
          <p:cNvSpPr txBox="1"/>
          <p:nvPr/>
        </p:nvSpPr>
        <p:spPr>
          <a:xfrm>
            <a:off x="2200759" y="3896904"/>
            <a:ext cx="629426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SPEC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메시지는 검사기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SPEC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값에 변경 발생 시 보고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. SPEC 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값이 </a:t>
            </a:r>
            <a:r>
              <a:rPr lang="en-US" altLang="ko-KR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*MMD2</a:t>
            </a:r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에 등록된 기준 정보와 다를 경우 이상 판별</a:t>
            </a:r>
            <a:endParaRPr lang="en-US" altLang="ko-KR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739C74E-EB8E-48E7-9409-38B0F3271218}"/>
              </a:ext>
            </a:extLst>
          </p:cNvPr>
          <p:cNvSpPr/>
          <p:nvPr/>
        </p:nvSpPr>
        <p:spPr>
          <a:xfrm>
            <a:off x="6324549" y="4081577"/>
            <a:ext cx="2638008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*MMD : Manufacturing Master Data</a:t>
            </a:r>
            <a:endParaRPr lang="ko-KR" altLang="en-US" sz="800">
              <a:solidFill>
                <a:srgbClr val="00B050"/>
              </a:solidFill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EA62DC4-934B-4310-A8EC-2A679D5F3306}"/>
              </a:ext>
            </a:extLst>
          </p:cNvPr>
          <p:cNvGrpSpPr/>
          <p:nvPr/>
        </p:nvGrpSpPr>
        <p:grpSpPr>
          <a:xfrm>
            <a:off x="1525101" y="3019707"/>
            <a:ext cx="675658" cy="1529888"/>
            <a:chOff x="1525101" y="1556792"/>
            <a:chExt cx="1080120" cy="1529888"/>
          </a:xfrm>
        </p:grpSpPr>
        <p:sp>
          <p:nvSpPr>
            <p:cNvPr id="36" name="사각형: 둥근 모서리 35">
              <a:extLst>
                <a:ext uri="{FF2B5EF4-FFF2-40B4-BE49-F238E27FC236}">
                  <a16:creationId xmlns:a16="http://schemas.microsoft.com/office/drawing/2014/main" id="{68B3591C-DA8F-4E0B-9F48-6639C4354C38}"/>
                </a:ext>
              </a:extLst>
            </p:cNvPr>
            <p:cNvSpPr/>
            <p:nvPr/>
          </p:nvSpPr>
          <p:spPr>
            <a:xfrm>
              <a:off x="1525101" y="1556792"/>
              <a:ext cx="1080120" cy="252000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Status</a:t>
              </a:r>
              <a:endParaRPr lang="ko-KR" altLang="en-US" sz="12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8" name="사각형: 둥근 모서리 47">
              <a:extLst>
                <a:ext uri="{FF2B5EF4-FFF2-40B4-BE49-F238E27FC236}">
                  <a16:creationId xmlns:a16="http://schemas.microsoft.com/office/drawing/2014/main" id="{E1ACE62B-23C6-4274-A744-A0B149A687BB}"/>
                </a:ext>
              </a:extLst>
            </p:cNvPr>
            <p:cNvSpPr/>
            <p:nvPr/>
          </p:nvSpPr>
          <p:spPr>
            <a:xfrm>
              <a:off x="1525101" y="1963228"/>
              <a:ext cx="1080120" cy="252000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Alarm</a:t>
              </a:r>
              <a:endParaRPr lang="ko-KR" altLang="en-US" sz="12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3FC7E283-7B82-4A2D-9525-BF08D58368D9}"/>
                </a:ext>
              </a:extLst>
            </p:cNvPr>
            <p:cNvSpPr/>
            <p:nvPr/>
          </p:nvSpPr>
          <p:spPr>
            <a:xfrm>
              <a:off x="1525101" y="2415886"/>
              <a:ext cx="1080120" cy="252000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Spec</a:t>
              </a:r>
              <a:endParaRPr lang="ko-KR" altLang="en-US" sz="12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  <p:sp>
          <p:nvSpPr>
            <p:cNvPr id="50" name="사각형: 둥근 모서리 49">
              <a:extLst>
                <a:ext uri="{FF2B5EF4-FFF2-40B4-BE49-F238E27FC236}">
                  <a16:creationId xmlns:a16="http://schemas.microsoft.com/office/drawing/2014/main" id="{F6AA6759-3225-4B8C-AFEE-D5BE1DAB50E4}"/>
                </a:ext>
              </a:extLst>
            </p:cNvPr>
            <p:cNvSpPr/>
            <p:nvPr/>
          </p:nvSpPr>
          <p:spPr>
            <a:xfrm>
              <a:off x="1525101" y="2834680"/>
              <a:ext cx="1080120" cy="252000"/>
            </a:xfrm>
            <a:prstGeom prst="round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>
                  <a:solidFill>
                    <a:schemeClr val="tx1"/>
                  </a:solidFill>
                  <a:latin typeface="Arial Narrow" panose="020B0606020202030204" pitchFamily="34" charset="0"/>
                  <a:ea typeface="LG스마트체 Regular" panose="020B0600000101010101" pitchFamily="50" charset="-127"/>
                </a:rPr>
                <a:t>Para</a:t>
              </a:r>
              <a:endParaRPr lang="ko-KR" altLang="en-US" sz="120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1EA6EA42-0E2D-4B66-AD21-B02AEEB8E2EE}"/>
              </a:ext>
            </a:extLst>
          </p:cNvPr>
          <p:cNvSpPr txBox="1"/>
          <p:nvPr/>
        </p:nvSpPr>
        <p:spPr>
          <a:xfrm>
            <a:off x="1454862" y="4736068"/>
            <a:ext cx="5891335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ko-KR" altLang="en-US" sz="10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기준정보 등록 현황 및 이상발생 현황</a:t>
            </a:r>
            <a:endParaRPr lang="en-US" altLang="ko-KR" sz="10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18C74E7C-2ADF-4DCF-87C0-089227E3D65E}"/>
              </a:ext>
            </a:extLst>
          </p:cNvPr>
          <p:cNvGraphicFramePr>
            <a:graphicFrameLocks noGrp="1"/>
          </p:cNvGraphicFramePr>
          <p:nvPr/>
        </p:nvGraphicFramePr>
        <p:xfrm>
          <a:off x="1596721" y="5040599"/>
          <a:ext cx="6898304" cy="14827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2950">
                  <a:extLst>
                    <a:ext uri="{9D8B030D-6E8A-4147-A177-3AD203B41FA5}">
                      <a16:colId xmlns:a16="http://schemas.microsoft.com/office/drawing/2014/main" val="922741363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2701438613"/>
                    </a:ext>
                  </a:extLst>
                </a:gridCol>
                <a:gridCol w="524542">
                  <a:extLst>
                    <a:ext uri="{9D8B030D-6E8A-4147-A177-3AD203B41FA5}">
                      <a16:colId xmlns:a16="http://schemas.microsoft.com/office/drawing/2014/main" val="3353397610"/>
                    </a:ext>
                  </a:extLst>
                </a:gridCol>
                <a:gridCol w="414663">
                  <a:extLst>
                    <a:ext uri="{9D8B030D-6E8A-4147-A177-3AD203B41FA5}">
                      <a16:colId xmlns:a16="http://schemas.microsoft.com/office/drawing/2014/main" val="2165878460"/>
                    </a:ext>
                  </a:extLst>
                </a:gridCol>
                <a:gridCol w="536314">
                  <a:extLst>
                    <a:ext uri="{9D8B030D-6E8A-4147-A177-3AD203B41FA5}">
                      <a16:colId xmlns:a16="http://schemas.microsoft.com/office/drawing/2014/main" val="409633756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416755900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3654537185"/>
                    </a:ext>
                  </a:extLst>
                </a:gridCol>
                <a:gridCol w="693285">
                  <a:extLst>
                    <a:ext uri="{9D8B030D-6E8A-4147-A177-3AD203B41FA5}">
                      <a16:colId xmlns:a16="http://schemas.microsoft.com/office/drawing/2014/main" val="3264737890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529400107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3943455253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1912565229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3781735337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3660286104"/>
                    </a:ext>
                  </a:extLst>
                </a:gridCol>
                <a:gridCol w="472950">
                  <a:extLst>
                    <a:ext uri="{9D8B030D-6E8A-4147-A177-3AD203B41FA5}">
                      <a16:colId xmlns:a16="http://schemas.microsoft.com/office/drawing/2014/main" val="3956888093"/>
                    </a:ext>
                  </a:extLst>
                </a:gridCol>
              </a:tblGrid>
              <a:tr h="759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관리 항목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등록 현황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이상발생 현황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11103645"/>
                  </a:ext>
                </a:extLst>
              </a:tr>
              <a:tr h="14694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*Status</a:t>
                      </a:r>
                    </a:p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조건</a:t>
                      </a:r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Alarm</a:t>
                      </a:r>
                    </a:p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종류</a:t>
                      </a:r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Status</a:t>
                      </a:r>
                    </a:p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설비 대수</a:t>
                      </a:r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Alarm</a:t>
                      </a:r>
                    </a:p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알람 개수</a:t>
                      </a:r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</a:p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(Spec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</a:t>
                      </a:r>
                    </a:p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(Para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Status</a:t>
                      </a:r>
                    </a:p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Alarm</a:t>
                      </a:r>
                    </a:p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알람 개수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</a:p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(Spec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Para</a:t>
                      </a:r>
                    </a:p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(Para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888531"/>
                  </a:ext>
                </a:extLst>
              </a:tr>
              <a:tr h="129834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Vision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논의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1075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129110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8830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6609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5214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838665"/>
                  </a:ext>
                </a:extLst>
              </a:tr>
              <a:tr h="7593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758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6545325"/>
                  </a:ext>
                </a:extLst>
              </a:tr>
              <a:tr h="7593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표준화 중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216699"/>
                  </a:ext>
                </a:extLst>
              </a:tr>
              <a:tr h="7593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858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320232"/>
                  </a:ext>
                </a:extLst>
              </a:tr>
              <a:tr h="7593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4800061"/>
                  </a:ext>
                </a:extLst>
              </a:tr>
            </a:tbl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26BC91AD-5D4F-4A3A-87C0-C05E69A7E320}"/>
              </a:ext>
            </a:extLst>
          </p:cNvPr>
          <p:cNvSpPr txBox="1"/>
          <p:nvPr/>
        </p:nvSpPr>
        <p:spPr>
          <a:xfrm>
            <a:off x="6289104" y="4797045"/>
            <a:ext cx="2205921" cy="21544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>
            <a:defPPr>
              <a:defRPr lang="ko-KR"/>
            </a:defPPr>
            <a:lvl1pPr algn="ctr">
              <a:defRPr sz="800" b="1">
                <a:solidFill>
                  <a:srgbClr val="0000FF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algn="r"/>
            <a:r>
              <a:rPr lang="ko-KR" altLang="en-US">
                <a:solidFill>
                  <a:schemeClr val="tx1"/>
                </a:solidFill>
              </a:rPr>
              <a:t>이상발생 현황 </a:t>
            </a:r>
            <a:r>
              <a:rPr lang="en-US" altLang="ko-KR">
                <a:solidFill>
                  <a:schemeClr val="tx1"/>
                </a:solidFill>
              </a:rPr>
              <a:t>: 25.4.20~25.6.23</a:t>
            </a:r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B690DB-269B-E18A-EAB4-4A698F40125F}"/>
              </a:ext>
            </a:extLst>
          </p:cNvPr>
          <p:cNvSpPr txBox="1"/>
          <p:nvPr/>
        </p:nvSpPr>
        <p:spPr>
          <a:xfrm>
            <a:off x="8032766" y="670208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CE452F1C-1C14-DA9B-4961-77C01F594E26}"/>
              </a:ext>
            </a:extLst>
          </p:cNvPr>
          <p:cNvSpPr txBox="1">
            <a:spLocks/>
          </p:cNvSpPr>
          <p:nvPr/>
        </p:nvSpPr>
        <p:spPr>
          <a:xfrm>
            <a:off x="8742898" y="500931"/>
            <a:ext cx="94416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김승진</a:t>
            </a:r>
            <a:r>
              <a:rPr lang="en-US" altLang="ko-KR" sz="11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2096830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06814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자동차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/</a:t>
            </a:r>
            <a:r>
              <a:rPr lang="en-US" altLang="ko-KR" sz="1400" b="1" err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ESS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lang="en-US" altLang="ko-KR" sz="1400" b="1" err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EOL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Tape 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비전 </a:t>
            </a:r>
            <a:r>
              <a:rPr lang="en-US" altLang="ko-KR" sz="1400" b="1" err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SPC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연계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kern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defRPr>
            </a:lvl1pPr>
          </a:lstStyle>
          <a:p>
            <a:r>
              <a:rPr lang="en-US" altLang="ko-KR">
                <a:latin typeface="+mj-lt"/>
                <a:ea typeface="LG스마트체 Regular" panose="020B0600000101010101" pitchFamily="50" charset="-127"/>
              </a:rPr>
              <a:t>1. </a:t>
            </a:r>
            <a:r>
              <a:rPr lang="ko-KR" altLang="en-US">
                <a:latin typeface="+mj-lt"/>
                <a:ea typeface="LG스마트체 Regular" panose="020B0600000101010101" pitchFamily="50" charset="-127"/>
              </a:rPr>
              <a:t>과제 진행 현황</a:t>
            </a:r>
            <a:r>
              <a:rPr lang="en-US" altLang="ko-KR"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공정검사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</a:rPr>
              <a:t>DX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팀</a:t>
            </a:r>
            <a:endParaRPr lang="ko-KR" altLang="en-US"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92" name="내용 개체 틀 20">
            <a:extLst>
              <a:ext uri="{FF2B5EF4-FFF2-40B4-BE49-F238E27FC236}">
                <a16:creationId xmlns:a16="http://schemas.microsoft.com/office/drawing/2014/main" id="{23533D3D-ADFF-492C-AB1F-9F3C44917683}"/>
              </a:ext>
            </a:extLst>
          </p:cNvPr>
          <p:cNvSpPr txBox="1">
            <a:spLocks/>
          </p:cNvSpPr>
          <p:nvPr/>
        </p:nvSpPr>
        <p:spPr>
          <a:xfrm>
            <a:off x="5646988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DX-#10,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5A3678EC-E824-B7FD-9D8F-DF0B03DDA712}"/>
              </a:ext>
            </a:extLst>
          </p:cNvPr>
          <p:cNvGraphicFramePr>
            <a:graphicFrameLocks noGrp="1"/>
          </p:cNvGraphicFramePr>
          <p:nvPr/>
        </p:nvGraphicFramePr>
        <p:xfrm>
          <a:off x="122467" y="864195"/>
          <a:ext cx="9644176" cy="5782800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59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en-US" altLang="ko-KR" sz="1000" b="1" i="0" u="none" strike="noStrike" baseline="0" err="1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W35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2845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SPC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계측기</a:t>
                      </a:r>
                      <a:br>
                        <a:rPr lang="en-US" altLang="ko-KR" sz="10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모니터링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자동차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ESS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ESGM1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W35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)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는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특이사항 없습니다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ESGM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전체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10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개 라인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ETV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검사기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20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대 </a:t>
                      </a: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SPC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연계 완료하였습니다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구축 목적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자동차생산센터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Sameness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과제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(EOL Tape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부착 불량 개선 활동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을 위한 데이터 수집 목적으로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EOL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Vision Type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추가 수집하는 건 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현항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W10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03/05(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수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부터 격주단위로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EOL Tape Vision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추가 수집을 위한 정기 회의체 소집하였습니다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Tape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비젼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설비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ID </a:t>
                      </a:r>
                      <a:r>
                        <a:rPr kumimoji="0" lang="ko-KR" altLang="en-US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발번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(3/5)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되었으며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en-US" altLang="ko-KR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SPC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연동을 위한 </a:t>
                      </a:r>
                      <a:r>
                        <a:rPr kumimoji="0" lang="en-US" altLang="ko-KR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MMD2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기준정보 등록 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(4/1).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SPC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데이터 송신 업체 점검 회의 결과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중계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S/W(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유비샘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없이 검사기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1000" b="0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휴민텍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직접 송신으로 검토되었습니다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(3/11).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양품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Image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까지 업로드하는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Case(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전체</a:t>
                      </a:r>
                      <a:r>
                        <a:rPr kumimoji="0" lang="en-US" altLang="ko-KR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vsOnly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불량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Infra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검토하였으며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(3/19),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이미지 용량 </a:t>
                      </a:r>
                      <a:r>
                        <a:rPr kumimoji="0" lang="en-US" altLang="ko-KR" sz="10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jpg70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기준 재검토 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(4/18).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NW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포설 담당자 변경 기인 일정변경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(3/31&gt;4/30)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되었으며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,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법인 내 집행품의결재 지연으로 일정 변경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(4/30&gt;5/14&gt;7/31))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되었습니다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신규 치수수집항목 검토 및 내부 표준화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(4/1)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후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품질부서와 치수명칭 표준화 협의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(4/7),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 표준문서 반영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(4/15)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되었습니다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Tape Vision S/W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개조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5/20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일 까지 완료하는 것으로 합의되었습니다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.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법인 내 집행품의결재 지연으로 일정 변경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(5/20&gt;7/31)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되었습니다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통신사양서 업데이트 및 </a:t>
                      </a: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SPC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신규 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Vision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및 신규수집항목 개발 완료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(5/8)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되었으며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en-US" altLang="ko-KR" sz="1000" b="0" baseline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SPC</a:t>
                      </a:r>
                      <a:r>
                        <a:rPr lang="en-US" altLang="ko-KR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배포 </a:t>
                      </a:r>
                      <a:r>
                        <a:rPr lang="ko-KR" altLang="en-US" sz="10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 되었습니다</a:t>
                      </a:r>
                      <a:r>
                        <a:rPr lang="en-US" altLang="ko-KR" sz="10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.(5/13)</a:t>
                      </a:r>
                      <a:r>
                        <a:rPr lang="ko-KR" altLang="en-US" sz="10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입니다</a:t>
                      </a:r>
                      <a:r>
                        <a:rPr lang="en-US" altLang="ko-KR" sz="1000" b="0" strike="noStrike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  <a:endParaRPr lang="en-US" altLang="ko-KR" sz="1000" b="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sng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25’07.31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김승진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김효정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D6810408-F917-03BB-E111-5CDA478702B4}"/>
              </a:ext>
            </a:extLst>
          </p:cNvPr>
          <p:cNvGraphicFramePr>
            <a:graphicFrameLocks noGrp="1"/>
          </p:cNvGraphicFramePr>
          <p:nvPr/>
        </p:nvGraphicFramePr>
        <p:xfrm>
          <a:off x="1505722" y="5407111"/>
          <a:ext cx="6877666" cy="1423580"/>
        </p:xfrm>
        <a:graphic>
          <a:graphicData uri="http://schemas.openxmlformats.org/drawingml/2006/table">
            <a:tbl>
              <a:tblPr/>
              <a:tblGrid>
                <a:gridCol w="1091876">
                  <a:extLst>
                    <a:ext uri="{9D8B030D-6E8A-4147-A177-3AD203B41FA5}">
                      <a16:colId xmlns:a16="http://schemas.microsoft.com/office/drawing/2014/main" val="1443331970"/>
                    </a:ext>
                  </a:extLst>
                </a:gridCol>
                <a:gridCol w="3127547">
                  <a:extLst>
                    <a:ext uri="{9D8B030D-6E8A-4147-A177-3AD203B41FA5}">
                      <a16:colId xmlns:a16="http://schemas.microsoft.com/office/drawing/2014/main" val="4270178724"/>
                    </a:ext>
                  </a:extLst>
                </a:gridCol>
                <a:gridCol w="1081436">
                  <a:extLst>
                    <a:ext uri="{9D8B030D-6E8A-4147-A177-3AD203B41FA5}">
                      <a16:colId xmlns:a16="http://schemas.microsoft.com/office/drawing/2014/main" val="180291221"/>
                    </a:ext>
                  </a:extLst>
                </a:gridCol>
                <a:gridCol w="1576807">
                  <a:extLst>
                    <a:ext uri="{9D8B030D-6E8A-4147-A177-3AD203B41FA5}">
                      <a16:colId xmlns:a16="http://schemas.microsoft.com/office/drawing/2014/main" val="12497215"/>
                    </a:ext>
                  </a:extLst>
                </a:gridCol>
              </a:tblGrid>
              <a:tr h="11083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내용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진행률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3976913"/>
                  </a:ext>
                </a:extLst>
              </a:tr>
              <a:tr h="100022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 정보 발번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EMS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검사기 정보 등록 및 </a:t>
                      </a:r>
                      <a:r>
                        <a:rPr lang="en-US" altLang="ko-KR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EM_NO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발번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795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활성화설비기술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45587"/>
                  </a:ext>
                </a:extLst>
              </a:tr>
              <a:tr h="100022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Infra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검토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이미지별 인프라 검토 </a:t>
                      </a:r>
                      <a:r>
                        <a:rPr lang="en-US" altLang="ko-KR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Case1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불량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en-US" altLang="ko-KR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Case2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양품포함 전체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795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활성화공정기술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공정검사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DX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401607"/>
                  </a:ext>
                </a:extLst>
              </a:tr>
              <a:tr h="10002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N/W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포설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신규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비젼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검사기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QA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망 연결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795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검사기술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,GM PI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20720"/>
                  </a:ext>
                </a:extLst>
              </a:tr>
              <a:tr h="10002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요건 검토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수집정보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조회화면 요건 검토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795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ALL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277614"/>
                  </a:ext>
                </a:extLst>
              </a:tr>
              <a:tr h="100022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통신사양서 개정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요건 반영한 통신사양서로 개정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10795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파우치계측기술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2499440"/>
                  </a:ext>
                </a:extLst>
              </a:tr>
              <a:tr h="97518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항목 표준화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수집 치수 항목 표준화 진행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7239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활성화공정기술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공정검사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DX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319526"/>
                  </a:ext>
                </a:extLst>
              </a:tr>
              <a:tr h="97518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기준정보 설정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수집 대상 검사기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MMD2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기준정보 등록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7239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25933"/>
                  </a:ext>
                </a:extLst>
              </a:tr>
              <a:tr h="975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 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조회화면 수정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7239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0446848"/>
                  </a:ext>
                </a:extLst>
              </a:tr>
              <a:tr h="97518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테스트</a:t>
                      </a: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검사기 송신 항목에 대해 통신사양서와의 정합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endParaRPr lang="ko-KR" altLang="en-US" sz="1800" b="0" i="0" u="none" strike="noStrike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7239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공정검사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DX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6290515"/>
                  </a:ext>
                </a:extLst>
              </a:tr>
            </a:tbl>
          </a:graphicData>
        </a:graphic>
      </p:graphicFrame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23B2C60E-E4B6-5853-DE43-AB506B03E802}"/>
              </a:ext>
            </a:extLst>
          </p:cNvPr>
          <p:cNvGraphicFramePr>
            <a:graphicFrameLocks noGrp="1"/>
          </p:cNvGraphicFramePr>
          <p:nvPr/>
        </p:nvGraphicFramePr>
        <p:xfrm>
          <a:off x="1538014" y="1932157"/>
          <a:ext cx="6997828" cy="1991854"/>
        </p:xfrm>
        <a:graphic>
          <a:graphicData uri="http://schemas.openxmlformats.org/drawingml/2006/table">
            <a:tbl>
              <a:tblPr/>
              <a:tblGrid>
                <a:gridCol w="309931">
                  <a:extLst>
                    <a:ext uri="{9D8B030D-6E8A-4147-A177-3AD203B41FA5}">
                      <a16:colId xmlns:a16="http://schemas.microsoft.com/office/drawing/2014/main" val="1321708174"/>
                    </a:ext>
                  </a:extLst>
                </a:gridCol>
                <a:gridCol w="755157">
                  <a:extLst>
                    <a:ext uri="{9D8B030D-6E8A-4147-A177-3AD203B41FA5}">
                      <a16:colId xmlns:a16="http://schemas.microsoft.com/office/drawing/2014/main" val="222725115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3584785376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188268350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984918428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2700089666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3927457904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3063556838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2244956555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2844945116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1366193922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308560146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291247900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2790639737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2074599760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3097506073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3777859630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2923315228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3578066753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1309801212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3653573859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1235955941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2122523587"/>
                    </a:ext>
                  </a:extLst>
                </a:gridCol>
                <a:gridCol w="269670">
                  <a:extLst>
                    <a:ext uri="{9D8B030D-6E8A-4147-A177-3AD203B41FA5}">
                      <a16:colId xmlns:a16="http://schemas.microsoft.com/office/drawing/2014/main" val="1826421072"/>
                    </a:ext>
                  </a:extLst>
                </a:gridCol>
              </a:tblGrid>
              <a:tr h="202803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3255103"/>
                  </a:ext>
                </a:extLst>
              </a:tr>
              <a:tr h="146151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w10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w11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w12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w13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w14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W15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W16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W17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W18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W19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W20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W21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W22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W23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W24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W25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W26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W27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W28</a:t>
                      </a:r>
                      <a:endParaRPr lang="en-US" altLang="ko-KR" sz="800" b="1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W29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W30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W31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4103353"/>
                  </a:ext>
                </a:extLst>
              </a:tr>
              <a:tr h="134197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ko-KR" sz="8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Open(GM1)</a:t>
                      </a: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1374724"/>
                  </a:ext>
                </a:extLst>
              </a:tr>
              <a:tr h="13419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</a:t>
                      </a:r>
                      <a:endParaRPr lang="en-US" altLang="ko-KR" sz="8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설비 정보 발번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2255173"/>
                  </a:ext>
                </a:extLst>
              </a:tr>
              <a:tr h="134197">
                <a:tc rowSpan="2">
                  <a:txBody>
                    <a:bodyPr/>
                    <a:lstStyle/>
                    <a:p>
                      <a:pPr algn="ctr"/>
                      <a:r>
                        <a:rPr lang="en-US" altLang="ko-KR" sz="8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Infra</a:t>
                      </a: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Infra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검토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5868400"/>
                  </a:ext>
                </a:extLst>
              </a:tr>
              <a:tr h="158016">
                <a:tc vMerge="1">
                  <a:txBody>
                    <a:bodyPr/>
                    <a:lstStyle/>
                    <a:p>
                      <a:pPr algn="ctr"/>
                      <a:endParaRPr lang="en-US" altLang="ko-KR" sz="10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N/W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포설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65933"/>
                  </a:ext>
                </a:extLst>
              </a:tr>
              <a:tr h="158016">
                <a:tc rowSpan="3">
                  <a:txBody>
                    <a:bodyPr/>
                    <a:lstStyle/>
                    <a:p>
                      <a:pPr algn="ctr"/>
                      <a:r>
                        <a:rPr lang="ko-KR" altLang="en-US" sz="800" b="1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표준</a:t>
                      </a:r>
                      <a:endParaRPr lang="en-US" altLang="ko-KR" sz="800" b="1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요건 검토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4654933"/>
                  </a:ext>
                </a:extLst>
              </a:tr>
              <a:tr h="158016">
                <a:tc vMerge="1">
                  <a:txBody>
                    <a:bodyPr/>
                    <a:lstStyle/>
                    <a:p>
                      <a:pPr algn="ctr"/>
                      <a:endParaRPr lang="en-US" altLang="ko-KR" sz="10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통신사양서 개정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9721597"/>
                  </a:ext>
                </a:extLst>
              </a:tr>
              <a:tr h="1580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항목 표준화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70822"/>
                  </a:ext>
                </a:extLst>
              </a:tr>
              <a:tr h="15801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800" b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MMD</a:t>
                      </a:r>
                      <a:endParaRPr lang="ko-KR" altLang="en-US" sz="800" b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기준정보 설정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2111189"/>
                  </a:ext>
                </a:extLst>
              </a:tr>
              <a:tr h="134197">
                <a:tc rowSpan="2">
                  <a:txBody>
                    <a:bodyPr/>
                    <a:lstStyle/>
                    <a:p>
                      <a:pPr algn="ctr"/>
                      <a:r>
                        <a:rPr lang="en-US" altLang="ko-KR" sz="800" b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SPC</a:t>
                      </a:r>
                      <a:endParaRPr lang="ko-KR" altLang="en-US" sz="800" b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endParaRPr lang="en-US" altLang="ko-KR" sz="800" b="0" i="0" u="none" strike="noStrike" kern="120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1166"/>
                  </a:ext>
                </a:extLst>
              </a:tr>
              <a:tr h="158016">
                <a:tc vMerge="1">
                  <a:txBody>
                    <a:bodyPr/>
                    <a:lstStyle/>
                    <a:p>
                      <a:pPr algn="ctr"/>
                      <a:endParaRPr lang="ko-KR" altLang="en-US" sz="1000" b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개통 테스트</a:t>
                      </a: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8016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0"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검사기</a:t>
                      </a: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S/W 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lang="en-US" altLang="ko-KR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b="0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605603"/>
                  </a:ext>
                </a:extLst>
              </a:tr>
            </a:tbl>
          </a:graphicData>
        </a:graphic>
      </p:graphicFrame>
      <p:sp>
        <p:nvSpPr>
          <p:cNvPr id="69" name="타원 68">
            <a:extLst>
              <a:ext uri="{FF2B5EF4-FFF2-40B4-BE49-F238E27FC236}">
                <a16:creationId xmlns:a16="http://schemas.microsoft.com/office/drawing/2014/main" id="{B74159D9-488A-C25E-597E-A6ABD33D3E57}"/>
              </a:ext>
            </a:extLst>
          </p:cNvPr>
          <p:cNvSpPr/>
          <p:nvPr/>
        </p:nvSpPr>
        <p:spPr bwMode="auto">
          <a:xfrm>
            <a:off x="7124991" y="1764841"/>
            <a:ext cx="157636" cy="154004"/>
          </a:xfrm>
          <a:prstGeom prst="ellipse">
            <a:avLst/>
          </a:prstGeom>
          <a:solidFill>
            <a:srgbClr val="92D050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8457A741-AE4E-4581-53E7-F5DEE0E14133}"/>
              </a:ext>
            </a:extLst>
          </p:cNvPr>
          <p:cNvSpPr/>
          <p:nvPr/>
        </p:nvSpPr>
        <p:spPr bwMode="auto">
          <a:xfrm>
            <a:off x="7558539" y="1764841"/>
            <a:ext cx="157636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FCCE793E-5DAF-1BB5-71AF-1EDE81A37180}"/>
              </a:ext>
            </a:extLst>
          </p:cNvPr>
          <p:cNvSpPr/>
          <p:nvPr/>
        </p:nvSpPr>
        <p:spPr bwMode="auto">
          <a:xfrm>
            <a:off x="7930227" y="1764841"/>
            <a:ext cx="157636" cy="154004"/>
          </a:xfrm>
          <a:prstGeom prst="ellipse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1C46D875-BCCA-5865-B8B5-AB460794BFBF}"/>
              </a:ext>
            </a:extLst>
          </p:cNvPr>
          <p:cNvSpPr txBox="1"/>
          <p:nvPr/>
        </p:nvSpPr>
        <p:spPr>
          <a:xfrm>
            <a:off x="7210661" y="1750297"/>
            <a:ext cx="89849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Open</a:t>
            </a:r>
            <a:endParaRPr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02DB989D-320D-7D91-CF71-5D073408EE4A}"/>
              </a:ext>
            </a:extLst>
          </p:cNvPr>
          <p:cNvSpPr txBox="1"/>
          <p:nvPr/>
        </p:nvSpPr>
        <p:spPr>
          <a:xfrm>
            <a:off x="7637357" y="1750297"/>
            <a:ext cx="89849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완료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A8C80FE-3963-515F-7117-540D36EE9FBE}"/>
              </a:ext>
            </a:extLst>
          </p:cNvPr>
          <p:cNvSpPr txBox="1"/>
          <p:nvPr/>
        </p:nvSpPr>
        <p:spPr>
          <a:xfrm>
            <a:off x="8020774" y="1750297"/>
            <a:ext cx="89849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예정</a:t>
            </a: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18EA64C2-0F90-6920-483E-F9AEA384EC57}"/>
              </a:ext>
            </a:extLst>
          </p:cNvPr>
          <p:cNvSpPr/>
          <p:nvPr/>
        </p:nvSpPr>
        <p:spPr bwMode="auto">
          <a:xfrm>
            <a:off x="6542119" y="2289717"/>
            <a:ext cx="133889" cy="154004"/>
          </a:xfrm>
          <a:prstGeom prst="ellipse">
            <a:avLst/>
          </a:prstGeom>
          <a:solidFill>
            <a:srgbClr val="92D050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10</a:t>
            </a: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2861420-9860-7171-60A4-59D3C8117154}"/>
              </a:ext>
            </a:extLst>
          </p:cNvPr>
          <p:cNvSpPr/>
          <p:nvPr/>
        </p:nvSpPr>
        <p:spPr bwMode="auto">
          <a:xfrm>
            <a:off x="2732068" y="2406013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0F71E8E2-FB6D-32E8-D3F0-436C91863E25}"/>
              </a:ext>
            </a:extLst>
          </p:cNvPr>
          <p:cNvSpPr/>
          <p:nvPr/>
        </p:nvSpPr>
        <p:spPr bwMode="auto">
          <a:xfrm>
            <a:off x="3582848" y="2666105"/>
            <a:ext cx="133889" cy="154004"/>
          </a:xfrm>
          <a:prstGeom prst="ellipse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31</a:t>
            </a: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55F7C2C-D6D2-4076-3A52-188CBC326D5F}"/>
              </a:ext>
            </a:extLst>
          </p:cNvPr>
          <p:cNvSpPr/>
          <p:nvPr/>
        </p:nvSpPr>
        <p:spPr bwMode="auto">
          <a:xfrm>
            <a:off x="3820277" y="2832592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73695174-9F63-F043-AE35-5C6B4C7EA06E}"/>
              </a:ext>
            </a:extLst>
          </p:cNvPr>
          <p:cNvSpPr/>
          <p:nvPr/>
        </p:nvSpPr>
        <p:spPr bwMode="auto">
          <a:xfrm>
            <a:off x="4347740" y="3170598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15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1028E96B-9BDF-3E90-A58C-D8C4DD8D8DF5}"/>
              </a:ext>
            </a:extLst>
          </p:cNvPr>
          <p:cNvSpPr/>
          <p:nvPr/>
        </p:nvSpPr>
        <p:spPr bwMode="auto">
          <a:xfrm>
            <a:off x="4347740" y="2997344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15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3C366512-3A89-84A0-9743-2693DCB863C5}"/>
              </a:ext>
            </a:extLst>
          </p:cNvPr>
          <p:cNvSpPr/>
          <p:nvPr/>
        </p:nvSpPr>
        <p:spPr bwMode="auto">
          <a:xfrm>
            <a:off x="4881687" y="3315571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30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A1AA84AC-3A6F-ED6B-6283-72399CB95F14}"/>
              </a:ext>
            </a:extLst>
          </p:cNvPr>
          <p:cNvSpPr/>
          <p:nvPr/>
        </p:nvSpPr>
        <p:spPr bwMode="auto">
          <a:xfrm>
            <a:off x="5183514" y="3452501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CD21F3E1-5F31-3575-03B5-A5E12B963CB2}"/>
              </a:ext>
            </a:extLst>
          </p:cNvPr>
          <p:cNvSpPr/>
          <p:nvPr/>
        </p:nvSpPr>
        <p:spPr bwMode="auto">
          <a:xfrm>
            <a:off x="6542119" y="3598571"/>
            <a:ext cx="133889" cy="154004"/>
          </a:xfrm>
          <a:prstGeom prst="ellipse">
            <a:avLst/>
          </a:prstGeom>
          <a:noFill/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10</a:t>
            </a: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58BFB061-AB0C-E006-BFA0-E24B9D29D4C0}"/>
              </a:ext>
            </a:extLst>
          </p:cNvPr>
          <p:cNvCxnSpPr>
            <a:cxnSpLocks/>
          </p:cNvCxnSpPr>
          <p:nvPr/>
        </p:nvCxnSpPr>
        <p:spPr>
          <a:xfrm>
            <a:off x="6118371" y="3675573"/>
            <a:ext cx="3844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타원 84">
            <a:extLst>
              <a:ext uri="{FF2B5EF4-FFF2-40B4-BE49-F238E27FC236}">
                <a16:creationId xmlns:a16="http://schemas.microsoft.com/office/drawing/2014/main" id="{8DB88F13-59F9-A912-1450-89AD512ED989}"/>
              </a:ext>
            </a:extLst>
          </p:cNvPr>
          <p:cNvSpPr/>
          <p:nvPr/>
        </p:nvSpPr>
        <p:spPr bwMode="auto">
          <a:xfrm>
            <a:off x="5953224" y="3598571"/>
            <a:ext cx="133889" cy="154004"/>
          </a:xfrm>
          <a:prstGeom prst="ellipse">
            <a:avLst/>
          </a:prstGeom>
          <a:noFill/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27</a:t>
            </a: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B66187AB-A09F-E7CB-6670-24BE100541C6}"/>
              </a:ext>
            </a:extLst>
          </p:cNvPr>
          <p:cNvCxnSpPr>
            <a:cxnSpLocks/>
          </p:cNvCxnSpPr>
          <p:nvPr/>
        </p:nvCxnSpPr>
        <p:spPr>
          <a:xfrm>
            <a:off x="2606769" y="2484669"/>
            <a:ext cx="14820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0958EEAC-F94C-54E4-B324-DD55C5D9F0DB}"/>
              </a:ext>
            </a:extLst>
          </p:cNvPr>
          <p:cNvCxnSpPr>
            <a:cxnSpLocks/>
          </p:cNvCxnSpPr>
          <p:nvPr/>
        </p:nvCxnSpPr>
        <p:spPr>
          <a:xfrm>
            <a:off x="2606769" y="2615138"/>
            <a:ext cx="59167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898E2233-C1D1-D3C2-29FF-3DCBC4D45F37}"/>
              </a:ext>
            </a:extLst>
          </p:cNvPr>
          <p:cNvCxnSpPr>
            <a:cxnSpLocks/>
          </p:cNvCxnSpPr>
          <p:nvPr/>
        </p:nvCxnSpPr>
        <p:spPr>
          <a:xfrm>
            <a:off x="2606769" y="2755189"/>
            <a:ext cx="97607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AF4F9E27-2C5D-E77A-C87E-2D00EE8C340B}"/>
              </a:ext>
            </a:extLst>
          </p:cNvPr>
          <p:cNvCxnSpPr>
            <a:cxnSpLocks/>
          </p:cNvCxnSpPr>
          <p:nvPr/>
        </p:nvCxnSpPr>
        <p:spPr>
          <a:xfrm>
            <a:off x="3247551" y="2910604"/>
            <a:ext cx="55812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738EBBAD-EBC4-541D-BA96-352683987BCB}"/>
              </a:ext>
            </a:extLst>
          </p:cNvPr>
          <p:cNvCxnSpPr>
            <a:cxnSpLocks/>
          </p:cNvCxnSpPr>
          <p:nvPr/>
        </p:nvCxnSpPr>
        <p:spPr>
          <a:xfrm>
            <a:off x="3256978" y="3066277"/>
            <a:ext cx="106510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화살표 연결선 90">
            <a:extLst>
              <a:ext uri="{FF2B5EF4-FFF2-40B4-BE49-F238E27FC236}">
                <a16:creationId xmlns:a16="http://schemas.microsoft.com/office/drawing/2014/main" id="{BA6E714D-EBC1-CE47-41D7-E1505675843A}"/>
              </a:ext>
            </a:extLst>
          </p:cNvPr>
          <p:cNvCxnSpPr>
            <a:cxnSpLocks/>
          </p:cNvCxnSpPr>
          <p:nvPr/>
        </p:nvCxnSpPr>
        <p:spPr>
          <a:xfrm>
            <a:off x="3256978" y="3252967"/>
            <a:ext cx="106510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화살표 연결선 92">
            <a:extLst>
              <a:ext uri="{FF2B5EF4-FFF2-40B4-BE49-F238E27FC236}">
                <a16:creationId xmlns:a16="http://schemas.microsoft.com/office/drawing/2014/main" id="{E30906B3-C22F-290E-BA2D-6E4F412A5308}"/>
              </a:ext>
            </a:extLst>
          </p:cNvPr>
          <p:cNvCxnSpPr>
            <a:cxnSpLocks/>
          </p:cNvCxnSpPr>
          <p:nvPr/>
        </p:nvCxnSpPr>
        <p:spPr>
          <a:xfrm>
            <a:off x="4428641" y="3406296"/>
            <a:ext cx="42329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BB6BA4D5-A53B-7350-F6BF-49968A4692E7}"/>
              </a:ext>
            </a:extLst>
          </p:cNvPr>
          <p:cNvCxnSpPr>
            <a:cxnSpLocks/>
          </p:cNvCxnSpPr>
          <p:nvPr/>
        </p:nvCxnSpPr>
        <p:spPr>
          <a:xfrm>
            <a:off x="3927054" y="3533688"/>
            <a:ext cx="125645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타원 94">
            <a:extLst>
              <a:ext uri="{FF2B5EF4-FFF2-40B4-BE49-F238E27FC236}">
                <a16:creationId xmlns:a16="http://schemas.microsoft.com/office/drawing/2014/main" id="{705F999C-0288-CBDE-9C97-3255D9D02059}"/>
              </a:ext>
            </a:extLst>
          </p:cNvPr>
          <p:cNvSpPr/>
          <p:nvPr/>
        </p:nvSpPr>
        <p:spPr bwMode="auto">
          <a:xfrm>
            <a:off x="4083875" y="2541163"/>
            <a:ext cx="133889" cy="154004"/>
          </a:xfrm>
          <a:prstGeom prst="ellipse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i="0" u="none" strike="noStrike" cap="none" normalizeH="0" baseline="0">
                <a:ln>
                  <a:noFill/>
                </a:ln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9</a:t>
            </a:r>
            <a:endParaRPr kumimoji="1" lang="ko-KR" altLang="en-US" sz="800" i="0" u="none" strike="noStrike" cap="none" normalizeH="0" baseline="0">
              <a:ln>
                <a:noFill/>
              </a:ln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96" name="직선 화살표 연결선 95">
            <a:extLst>
              <a:ext uri="{FF2B5EF4-FFF2-40B4-BE49-F238E27FC236}">
                <a16:creationId xmlns:a16="http://schemas.microsoft.com/office/drawing/2014/main" id="{C81B9272-7B9B-C3E5-1A4C-6E1475AEFE08}"/>
              </a:ext>
            </a:extLst>
          </p:cNvPr>
          <p:cNvCxnSpPr>
            <a:cxnSpLocks/>
          </p:cNvCxnSpPr>
          <p:nvPr/>
        </p:nvCxnSpPr>
        <p:spPr>
          <a:xfrm>
            <a:off x="3338034" y="2615138"/>
            <a:ext cx="74584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화살표 연결선 96">
            <a:extLst>
              <a:ext uri="{FF2B5EF4-FFF2-40B4-BE49-F238E27FC236}">
                <a16:creationId xmlns:a16="http://schemas.microsoft.com/office/drawing/2014/main" id="{9C182C1E-0722-E89F-BDF9-F3C077695865}"/>
              </a:ext>
            </a:extLst>
          </p:cNvPr>
          <p:cNvCxnSpPr>
            <a:cxnSpLocks/>
          </p:cNvCxnSpPr>
          <p:nvPr/>
        </p:nvCxnSpPr>
        <p:spPr>
          <a:xfrm>
            <a:off x="3716737" y="2755189"/>
            <a:ext cx="11351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타원 97">
            <a:extLst>
              <a:ext uri="{FF2B5EF4-FFF2-40B4-BE49-F238E27FC236}">
                <a16:creationId xmlns:a16="http://schemas.microsoft.com/office/drawing/2014/main" id="{9CEC7875-3848-2CB1-E1A4-441A25A3FCCD}"/>
              </a:ext>
            </a:extLst>
          </p:cNvPr>
          <p:cNvSpPr/>
          <p:nvPr/>
        </p:nvSpPr>
        <p:spPr bwMode="auto">
          <a:xfrm>
            <a:off x="4886493" y="2666105"/>
            <a:ext cx="133889" cy="154004"/>
          </a:xfrm>
          <a:prstGeom prst="ellipse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30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B8562D67-ACA7-AF1E-E39F-A689995D9B68}"/>
              </a:ext>
            </a:extLst>
          </p:cNvPr>
          <p:cNvCxnSpPr>
            <a:cxnSpLocks/>
            <a:stCxn id="77" idx="7"/>
            <a:endCxn id="77" idx="3"/>
          </p:cNvCxnSpPr>
          <p:nvPr/>
        </p:nvCxnSpPr>
        <p:spPr>
          <a:xfrm flipH="1">
            <a:off x="3602455" y="2688658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타원 99">
            <a:extLst>
              <a:ext uri="{FF2B5EF4-FFF2-40B4-BE49-F238E27FC236}">
                <a16:creationId xmlns:a16="http://schemas.microsoft.com/office/drawing/2014/main" id="{3389C0EA-7087-BB82-9AD7-11A045AD24A0}"/>
              </a:ext>
            </a:extLst>
          </p:cNvPr>
          <p:cNvSpPr/>
          <p:nvPr/>
        </p:nvSpPr>
        <p:spPr bwMode="auto">
          <a:xfrm>
            <a:off x="3189850" y="2532408"/>
            <a:ext cx="133889" cy="154004"/>
          </a:xfrm>
          <a:prstGeom prst="ellipse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19</a:t>
            </a: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8CB8C3AF-37D8-1A50-BC63-37306F2BB38D}"/>
              </a:ext>
            </a:extLst>
          </p:cNvPr>
          <p:cNvCxnSpPr>
            <a:cxnSpLocks/>
            <a:stCxn id="100" idx="7"/>
            <a:endCxn id="100" idx="3"/>
          </p:cNvCxnSpPr>
          <p:nvPr/>
        </p:nvCxnSpPr>
        <p:spPr>
          <a:xfrm flipH="1">
            <a:off x="3209458" y="2554961"/>
            <a:ext cx="94673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타원 101">
            <a:extLst>
              <a:ext uri="{FF2B5EF4-FFF2-40B4-BE49-F238E27FC236}">
                <a16:creationId xmlns:a16="http://schemas.microsoft.com/office/drawing/2014/main" id="{44B70C40-DE41-D735-3F63-A53C5B8308D1}"/>
              </a:ext>
            </a:extLst>
          </p:cNvPr>
          <p:cNvSpPr/>
          <p:nvPr/>
        </p:nvSpPr>
        <p:spPr bwMode="auto">
          <a:xfrm>
            <a:off x="5725411" y="3754381"/>
            <a:ext cx="133889" cy="154004"/>
          </a:xfrm>
          <a:prstGeom prst="ellipse">
            <a:avLst/>
          </a:prstGeom>
          <a:noFill/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20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id="{ECE5C9F5-8D49-29BB-FA89-8428104DED89}"/>
              </a:ext>
            </a:extLst>
          </p:cNvPr>
          <p:cNvCxnSpPr>
            <a:cxnSpLocks/>
          </p:cNvCxnSpPr>
          <p:nvPr/>
        </p:nvCxnSpPr>
        <p:spPr>
          <a:xfrm>
            <a:off x="3927054" y="3834049"/>
            <a:ext cx="179835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5E218A17-7B9E-A017-DA37-4036D9C06E96}"/>
              </a:ext>
            </a:extLst>
          </p:cNvPr>
          <p:cNvCxnSpPr>
            <a:cxnSpLocks/>
          </p:cNvCxnSpPr>
          <p:nvPr/>
        </p:nvCxnSpPr>
        <p:spPr>
          <a:xfrm flipH="1">
            <a:off x="4901294" y="2688658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9211112A-9970-C16F-16E5-9BB4E802BCA6}"/>
              </a:ext>
            </a:extLst>
          </p:cNvPr>
          <p:cNvCxnSpPr>
            <a:cxnSpLocks/>
          </p:cNvCxnSpPr>
          <p:nvPr/>
        </p:nvCxnSpPr>
        <p:spPr>
          <a:xfrm>
            <a:off x="5038197" y="2755189"/>
            <a:ext cx="34360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타원 105">
            <a:extLst>
              <a:ext uri="{FF2B5EF4-FFF2-40B4-BE49-F238E27FC236}">
                <a16:creationId xmlns:a16="http://schemas.microsoft.com/office/drawing/2014/main" id="{3197338A-8815-E5B0-3F90-C63E96AFE2BE}"/>
              </a:ext>
            </a:extLst>
          </p:cNvPr>
          <p:cNvSpPr/>
          <p:nvPr/>
        </p:nvSpPr>
        <p:spPr bwMode="auto">
          <a:xfrm>
            <a:off x="5392036" y="2666105"/>
            <a:ext cx="133889" cy="154004"/>
          </a:xfrm>
          <a:prstGeom prst="ellipse">
            <a:avLst/>
          </a:prstGeom>
          <a:noFill/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14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7" name="타원 106">
            <a:extLst>
              <a:ext uri="{FF2B5EF4-FFF2-40B4-BE49-F238E27FC236}">
                <a16:creationId xmlns:a16="http://schemas.microsoft.com/office/drawing/2014/main" id="{B5857C81-4827-09C0-3352-0409BA2C5997}"/>
              </a:ext>
            </a:extLst>
          </p:cNvPr>
          <p:cNvSpPr/>
          <p:nvPr/>
        </p:nvSpPr>
        <p:spPr bwMode="auto">
          <a:xfrm>
            <a:off x="4431251" y="2531736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18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6FFEC8C7-4BBF-A6E6-D60D-E5055E99E06C}"/>
              </a:ext>
            </a:extLst>
          </p:cNvPr>
          <p:cNvCxnSpPr>
            <a:cxnSpLocks/>
          </p:cNvCxnSpPr>
          <p:nvPr/>
        </p:nvCxnSpPr>
        <p:spPr>
          <a:xfrm>
            <a:off x="4217764" y="2615138"/>
            <a:ext cx="19692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1CEBA50C-6E9D-AD7D-C298-2500635E537E}"/>
              </a:ext>
            </a:extLst>
          </p:cNvPr>
          <p:cNvCxnSpPr>
            <a:cxnSpLocks/>
          </p:cNvCxnSpPr>
          <p:nvPr/>
        </p:nvCxnSpPr>
        <p:spPr>
          <a:xfrm flipH="1">
            <a:off x="4109944" y="2554961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타원 109">
            <a:extLst>
              <a:ext uri="{FF2B5EF4-FFF2-40B4-BE49-F238E27FC236}">
                <a16:creationId xmlns:a16="http://schemas.microsoft.com/office/drawing/2014/main" id="{F65CE5B6-CDE7-8CA1-F4F1-612E14206A0E}"/>
              </a:ext>
            </a:extLst>
          </p:cNvPr>
          <p:cNvSpPr/>
          <p:nvPr/>
        </p:nvSpPr>
        <p:spPr bwMode="auto">
          <a:xfrm>
            <a:off x="5374280" y="3452501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13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2ECF219B-DB58-7C41-1AC6-E5251F618EC9}"/>
              </a:ext>
            </a:extLst>
          </p:cNvPr>
          <p:cNvCxnSpPr>
            <a:cxnSpLocks/>
          </p:cNvCxnSpPr>
          <p:nvPr/>
        </p:nvCxnSpPr>
        <p:spPr>
          <a:xfrm>
            <a:off x="5317807" y="3533688"/>
            <a:ext cx="9584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DA669A05-D960-6973-8132-608569024011}"/>
              </a:ext>
            </a:extLst>
          </p:cNvPr>
          <p:cNvCxnSpPr>
            <a:cxnSpLocks/>
          </p:cNvCxnSpPr>
          <p:nvPr/>
        </p:nvCxnSpPr>
        <p:spPr>
          <a:xfrm flipH="1">
            <a:off x="5203121" y="3475054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E83340BE-4FFE-BB0D-2FBF-78A923A35611}"/>
              </a:ext>
            </a:extLst>
          </p:cNvPr>
          <p:cNvCxnSpPr>
            <a:cxnSpLocks/>
          </p:cNvCxnSpPr>
          <p:nvPr/>
        </p:nvCxnSpPr>
        <p:spPr>
          <a:xfrm>
            <a:off x="5525925" y="2755189"/>
            <a:ext cx="2301169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8FC1E9FB-F13E-8AE7-174B-FCF83ED421B1}"/>
              </a:ext>
            </a:extLst>
          </p:cNvPr>
          <p:cNvCxnSpPr>
            <a:cxnSpLocks/>
          </p:cNvCxnSpPr>
          <p:nvPr/>
        </p:nvCxnSpPr>
        <p:spPr>
          <a:xfrm flipH="1">
            <a:off x="6561726" y="2312834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타원 114">
            <a:extLst>
              <a:ext uri="{FF2B5EF4-FFF2-40B4-BE49-F238E27FC236}">
                <a16:creationId xmlns:a16="http://schemas.microsoft.com/office/drawing/2014/main" id="{59FBFC16-70F2-C5C1-88FD-BADD26C48472}"/>
              </a:ext>
            </a:extLst>
          </p:cNvPr>
          <p:cNvSpPr/>
          <p:nvPr/>
        </p:nvSpPr>
        <p:spPr bwMode="auto">
          <a:xfrm>
            <a:off x="8353688" y="2289717"/>
            <a:ext cx="133889" cy="154004"/>
          </a:xfrm>
          <a:prstGeom prst="ellipse">
            <a:avLst/>
          </a:prstGeom>
          <a:solidFill>
            <a:srgbClr val="92D050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620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31</a:t>
            </a:r>
            <a:endParaRPr kumimoji="1" lang="ko-KR" altLang="en-US" sz="8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16" name="직선 화살표 연결선 115">
            <a:extLst>
              <a:ext uri="{FF2B5EF4-FFF2-40B4-BE49-F238E27FC236}">
                <a16:creationId xmlns:a16="http://schemas.microsoft.com/office/drawing/2014/main" id="{39503C71-974A-4D13-652A-07D23C1DC9DA}"/>
              </a:ext>
            </a:extLst>
          </p:cNvPr>
          <p:cNvCxnSpPr>
            <a:cxnSpLocks/>
            <a:endCxn id="115" idx="2"/>
          </p:cNvCxnSpPr>
          <p:nvPr/>
        </p:nvCxnSpPr>
        <p:spPr>
          <a:xfrm>
            <a:off x="6694862" y="2366719"/>
            <a:ext cx="1658826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CB19E9D6-BE10-9B0A-0B0B-F21D4ECDC7E0}"/>
              </a:ext>
            </a:extLst>
          </p:cNvPr>
          <p:cNvCxnSpPr>
            <a:cxnSpLocks/>
          </p:cNvCxnSpPr>
          <p:nvPr/>
        </p:nvCxnSpPr>
        <p:spPr>
          <a:xfrm>
            <a:off x="5892363" y="3834049"/>
            <a:ext cx="249102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C610B842-943B-ED0A-C403-1A1989230D03}"/>
              </a:ext>
            </a:extLst>
          </p:cNvPr>
          <p:cNvCxnSpPr>
            <a:cxnSpLocks/>
          </p:cNvCxnSpPr>
          <p:nvPr/>
        </p:nvCxnSpPr>
        <p:spPr>
          <a:xfrm flipH="1">
            <a:off x="5419072" y="2688658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473121A-6EA0-4853-0E44-6D4680289DEB}"/>
              </a:ext>
            </a:extLst>
          </p:cNvPr>
          <p:cNvCxnSpPr>
            <a:cxnSpLocks/>
          </p:cNvCxnSpPr>
          <p:nvPr/>
        </p:nvCxnSpPr>
        <p:spPr>
          <a:xfrm flipH="1">
            <a:off x="5745018" y="3776934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0B73DDBF-A2B1-BB1E-488C-DE660F2F3477}"/>
              </a:ext>
            </a:extLst>
          </p:cNvPr>
          <p:cNvCxnSpPr>
            <a:cxnSpLocks/>
          </p:cNvCxnSpPr>
          <p:nvPr/>
        </p:nvCxnSpPr>
        <p:spPr>
          <a:xfrm flipH="1">
            <a:off x="5976152" y="3627729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B8DB90C5-5A9B-0B6F-3D0F-7CF9FDEF1BDD}"/>
              </a:ext>
            </a:extLst>
          </p:cNvPr>
          <p:cNvCxnSpPr>
            <a:cxnSpLocks/>
          </p:cNvCxnSpPr>
          <p:nvPr/>
        </p:nvCxnSpPr>
        <p:spPr>
          <a:xfrm flipH="1">
            <a:off x="6552104" y="3627729"/>
            <a:ext cx="94674" cy="10889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07B2E882-B855-23F3-CEE5-C92360FA042D}"/>
              </a:ext>
            </a:extLst>
          </p:cNvPr>
          <p:cNvCxnSpPr>
            <a:cxnSpLocks/>
          </p:cNvCxnSpPr>
          <p:nvPr/>
        </p:nvCxnSpPr>
        <p:spPr>
          <a:xfrm>
            <a:off x="6676008" y="3675573"/>
            <a:ext cx="1151086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04758D00-3D1B-C58E-1FDE-5C5BFC767C6D}"/>
              </a:ext>
            </a:extLst>
          </p:cNvPr>
          <p:cNvSpPr txBox="1"/>
          <p:nvPr/>
        </p:nvSpPr>
        <p:spPr>
          <a:xfrm>
            <a:off x="8096886" y="670208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8/26(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26" name="내용 개체 틀 20">
            <a:extLst>
              <a:ext uri="{FF2B5EF4-FFF2-40B4-BE49-F238E27FC236}">
                <a16:creationId xmlns:a16="http://schemas.microsoft.com/office/drawing/2014/main" id="{7EC97573-1A6E-6FA6-7ADA-1F6D66E7C417}"/>
              </a:ext>
            </a:extLst>
          </p:cNvPr>
          <p:cNvSpPr txBox="1">
            <a:spLocks/>
          </p:cNvSpPr>
          <p:nvPr/>
        </p:nvSpPr>
        <p:spPr>
          <a:xfrm>
            <a:off x="8726867" y="500931"/>
            <a:ext cx="9601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/>
                <a:cs typeface="Malgun Gothic Semilight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/>
                <a:cs typeface="Malgun Gothic Semilight"/>
              </a:rPr>
              <a:t>김효정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LG스마트체 Regular"/>
                <a:cs typeface="Malgun Gothic Semilight"/>
              </a:rPr>
              <a:t>A</a:t>
            </a:r>
            <a:endParaRPr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150675E5-DB60-8A02-49D1-75D8D421E073}"/>
              </a:ext>
            </a:extLst>
          </p:cNvPr>
          <p:cNvSpPr/>
          <p:nvPr/>
        </p:nvSpPr>
        <p:spPr bwMode="auto">
          <a:xfrm>
            <a:off x="7814394" y="2686982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25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D59909E7-45D0-C29C-F117-7D853B6E84C0}"/>
              </a:ext>
            </a:extLst>
          </p:cNvPr>
          <p:cNvSpPr txBox="1"/>
          <p:nvPr/>
        </p:nvSpPr>
        <p:spPr>
          <a:xfrm>
            <a:off x="6020168" y="1262419"/>
            <a:ext cx="277458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*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통신사양 </a:t>
            </a:r>
            <a:r>
              <a:rPr lang="ko-KR" altLang="en-US" sz="800" err="1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부정합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항목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(2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건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 :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이미지 파일명 형식</a:t>
            </a:r>
            <a:r>
              <a:rPr lang="en-US" altLang="ko-KR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, Lot ID </a:t>
            </a:r>
            <a:r>
              <a:rPr lang="ko-KR" altLang="en-US" sz="800">
                <a:solidFill>
                  <a:srgbClr val="00B050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형식</a:t>
            </a:r>
          </a:p>
        </p:txBody>
      </p:sp>
      <p:graphicFrame>
        <p:nvGraphicFramePr>
          <p:cNvPr id="3" name="개체 2">
            <a:extLst>
              <a:ext uri="{FF2B5EF4-FFF2-40B4-BE49-F238E27FC236}">
                <a16:creationId xmlns:a16="http://schemas.microsoft.com/office/drawing/2014/main" id="{BCBF7647-DC8C-4888-9E08-4E49CCA52AB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860320" y="3425644"/>
          <a:ext cx="986735" cy="3313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3" imgW="6120000" imgH="1944000" progId="Package">
                  <p:embed/>
                </p:oleObj>
              </mc:Choice>
              <mc:Fallback>
                <p:oleObj name="포장기 셸 개체" showAsIcon="1" r:id="rId3" imgW="6120000" imgH="1944000" progId="Package">
                  <p:embed/>
                  <p:pic>
                    <p:nvPicPr>
                      <p:cNvPr id="3" name="개체 2">
                        <a:extLst>
                          <a:ext uri="{FF2B5EF4-FFF2-40B4-BE49-F238E27FC236}">
                            <a16:creationId xmlns:a16="http://schemas.microsoft.com/office/drawing/2014/main" id="{BCBF7647-DC8C-4888-9E08-4E49CCA52AB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860320" y="3425644"/>
                        <a:ext cx="986735" cy="33134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9" name="타원 128">
            <a:extLst>
              <a:ext uri="{FF2B5EF4-FFF2-40B4-BE49-F238E27FC236}">
                <a16:creationId xmlns:a16="http://schemas.microsoft.com/office/drawing/2014/main" id="{EF448904-F5A2-4244-955F-0872DB52A84A}"/>
              </a:ext>
            </a:extLst>
          </p:cNvPr>
          <p:cNvSpPr/>
          <p:nvPr/>
        </p:nvSpPr>
        <p:spPr bwMode="auto">
          <a:xfrm>
            <a:off x="7814394" y="3595273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25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81CF78F4-C9FF-4455-B9A4-A9DE0D58B9C4}"/>
              </a:ext>
            </a:extLst>
          </p:cNvPr>
          <p:cNvSpPr/>
          <p:nvPr/>
        </p:nvSpPr>
        <p:spPr bwMode="auto">
          <a:xfrm>
            <a:off x="8381971" y="3754381"/>
            <a:ext cx="133889" cy="15400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3600" tIns="46800" rIns="93600" bIns="46800" numCol="1" rtlCol="0" anchor="ctr" anchorCtr="0" compatLnSpc="1">
            <a:prstTxWarp prst="textNoShape">
              <a:avLst/>
            </a:prstTxWarp>
          </a:bodyPr>
          <a:lstStyle/>
          <a:p>
            <a:pPr algn="ctr" defTabSz="762000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8/6</a:t>
            </a:r>
            <a:endParaRPr kumimoji="1" lang="ko-KR" altLang="en-US" sz="80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6226106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17367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원통형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)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계측기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SPC+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구축</a:t>
            </a:r>
          </a:p>
        </p:txBody>
      </p:sp>
      <p:sp>
        <p:nvSpPr>
          <p:cNvPr id="10" name="제목 1">
            <a:extLst>
              <a:ext uri="{FF2B5EF4-FFF2-40B4-BE49-F238E27FC236}">
                <a16:creationId xmlns:a16="http://schemas.microsoft.com/office/drawing/2014/main" id="{8C708E1D-C856-4EE0-B8B6-32C65CCF387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DCAF1A13-033D-413B-BE1D-DA653BD7A693}"/>
              </a:ext>
            </a:extLst>
          </p:cNvPr>
          <p:cNvSpPr txBox="1">
            <a:spLocks/>
          </p:cNvSpPr>
          <p:nvPr/>
        </p:nvSpPr>
        <p:spPr>
          <a:xfrm>
            <a:off x="5646988" y="676228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DX-#16,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5893517-86E9-4E03-FAFD-0F3CB762320B}"/>
              </a:ext>
            </a:extLst>
          </p:cNvPr>
          <p:cNvSpPr txBox="1"/>
          <p:nvPr/>
        </p:nvSpPr>
        <p:spPr>
          <a:xfrm>
            <a:off x="8000706" y="670208"/>
            <a:ext cx="168636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12/16 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A64C56B6-DE82-6A5E-819A-597D6164825D}"/>
              </a:ext>
            </a:extLst>
          </p:cNvPr>
          <p:cNvSpPr txBox="1">
            <a:spLocks/>
          </p:cNvSpPr>
          <p:nvPr/>
        </p:nvSpPr>
        <p:spPr>
          <a:xfrm>
            <a:off x="8726867" y="500931"/>
            <a:ext cx="96019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김태원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34E6D9-3A04-E9A6-39B2-B795FF0E9BB7}"/>
              </a:ext>
            </a:extLst>
          </p:cNvPr>
          <p:cNvGraphicFramePr>
            <a:graphicFrameLocks noGrp="1"/>
          </p:cNvGraphicFramePr>
          <p:nvPr/>
        </p:nvGraphicFramePr>
        <p:xfrm>
          <a:off x="1600732" y="1899812"/>
          <a:ext cx="3413910" cy="1530076"/>
        </p:xfrm>
        <a:graphic>
          <a:graphicData uri="http://schemas.openxmlformats.org/drawingml/2006/table">
            <a:tbl>
              <a:tblPr/>
              <a:tblGrid>
                <a:gridCol w="346880">
                  <a:extLst>
                    <a:ext uri="{9D8B030D-6E8A-4147-A177-3AD203B41FA5}">
                      <a16:colId xmlns:a16="http://schemas.microsoft.com/office/drawing/2014/main" val="1406613808"/>
                    </a:ext>
                  </a:extLst>
                </a:gridCol>
                <a:gridCol w="817124">
                  <a:extLst>
                    <a:ext uri="{9D8B030D-6E8A-4147-A177-3AD203B41FA5}">
                      <a16:colId xmlns:a16="http://schemas.microsoft.com/office/drawing/2014/main" val="3851126968"/>
                    </a:ext>
                  </a:extLst>
                </a:gridCol>
                <a:gridCol w="319901">
                  <a:extLst>
                    <a:ext uri="{9D8B030D-6E8A-4147-A177-3AD203B41FA5}">
                      <a16:colId xmlns:a16="http://schemas.microsoft.com/office/drawing/2014/main" val="2350231828"/>
                    </a:ext>
                  </a:extLst>
                </a:gridCol>
                <a:gridCol w="319901">
                  <a:extLst>
                    <a:ext uri="{9D8B030D-6E8A-4147-A177-3AD203B41FA5}">
                      <a16:colId xmlns:a16="http://schemas.microsoft.com/office/drawing/2014/main" val="2376704765"/>
                    </a:ext>
                  </a:extLst>
                </a:gridCol>
                <a:gridCol w="319901">
                  <a:extLst>
                    <a:ext uri="{9D8B030D-6E8A-4147-A177-3AD203B41FA5}">
                      <a16:colId xmlns:a16="http://schemas.microsoft.com/office/drawing/2014/main" val="1426393479"/>
                    </a:ext>
                  </a:extLst>
                </a:gridCol>
                <a:gridCol w="319901">
                  <a:extLst>
                    <a:ext uri="{9D8B030D-6E8A-4147-A177-3AD203B41FA5}">
                      <a16:colId xmlns:a16="http://schemas.microsoft.com/office/drawing/2014/main" val="2846594703"/>
                    </a:ext>
                  </a:extLst>
                </a:gridCol>
                <a:gridCol w="323434">
                  <a:extLst>
                    <a:ext uri="{9D8B030D-6E8A-4147-A177-3AD203B41FA5}">
                      <a16:colId xmlns:a16="http://schemas.microsoft.com/office/drawing/2014/main" val="2424280200"/>
                    </a:ext>
                  </a:extLst>
                </a:gridCol>
                <a:gridCol w="323434">
                  <a:extLst>
                    <a:ext uri="{9D8B030D-6E8A-4147-A177-3AD203B41FA5}">
                      <a16:colId xmlns:a16="http://schemas.microsoft.com/office/drawing/2014/main" val="1856433550"/>
                    </a:ext>
                  </a:extLst>
                </a:gridCol>
                <a:gridCol w="323434">
                  <a:extLst>
                    <a:ext uri="{9D8B030D-6E8A-4147-A177-3AD203B41FA5}">
                      <a16:colId xmlns:a16="http://schemas.microsoft.com/office/drawing/2014/main" val="1247688724"/>
                    </a:ext>
                  </a:extLst>
                </a:gridCol>
              </a:tblGrid>
              <a:tr h="12916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개발 및 테스트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적용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27632889"/>
                  </a:ext>
                </a:extLst>
              </a:tr>
              <a:tr h="1291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요건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정의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테스트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Open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97224351"/>
                  </a:ext>
                </a:extLst>
              </a:tr>
              <a:tr h="13539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ESOC1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ESOC2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404057"/>
                  </a:ext>
                </a:extLst>
              </a:tr>
              <a:tr h="22255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Phase1</a:t>
                      </a: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계측정보 수집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(DC)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b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(7/4)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(9/23)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(10/28)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(11/26)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577995"/>
                  </a:ext>
                </a:extLst>
              </a:tr>
              <a:tr h="227194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Data/Image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b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(8/8)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◐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5699658"/>
                  </a:ext>
                </a:extLst>
              </a:tr>
              <a:tr h="222553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Phase2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실시간 모니터링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(~10/28)</a:t>
                      </a:r>
                      <a:endParaRPr lang="ko-KR" altLang="en-US" baseline="0">
                        <a:solidFill>
                          <a:srgbClr val="0000FF"/>
                        </a:solidFill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(12/17)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(2/24)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(1/21)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7846558"/>
                  </a:ext>
                </a:extLst>
              </a:tr>
              <a:tr h="2225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 이력조회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(~10/28)</a:t>
                      </a:r>
                      <a:endParaRPr lang="ko-KR" altLang="en-US" sz="7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166158915"/>
                  </a:ext>
                </a:extLst>
              </a:tr>
              <a:tr h="2415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 Spec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다운로드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78492380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B518B72B-DBB4-74AD-A89E-D801D785B73E}"/>
              </a:ext>
            </a:extLst>
          </p:cNvPr>
          <p:cNvGraphicFramePr>
            <a:graphicFrameLocks noGrp="1"/>
          </p:cNvGraphicFramePr>
          <p:nvPr/>
        </p:nvGraphicFramePr>
        <p:xfrm>
          <a:off x="1633286" y="4908209"/>
          <a:ext cx="6698199" cy="1083016"/>
        </p:xfrm>
        <a:graphic>
          <a:graphicData uri="http://schemas.openxmlformats.org/drawingml/2006/table">
            <a:tbl>
              <a:tblPr/>
              <a:tblGrid>
                <a:gridCol w="1006843">
                  <a:extLst>
                    <a:ext uri="{9D8B030D-6E8A-4147-A177-3AD203B41FA5}">
                      <a16:colId xmlns:a16="http://schemas.microsoft.com/office/drawing/2014/main" val="1443331970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4270178724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2658531014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4216546204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2605549656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180291221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3046051891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1432390610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1530981055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12497215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919656486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2744280180"/>
                    </a:ext>
                  </a:extLst>
                </a:gridCol>
                <a:gridCol w="451189">
                  <a:extLst>
                    <a:ext uri="{9D8B030D-6E8A-4147-A177-3AD203B41FA5}">
                      <a16:colId xmlns:a16="http://schemas.microsoft.com/office/drawing/2014/main" val="882855709"/>
                    </a:ext>
                  </a:extLst>
                </a:gridCol>
                <a:gridCol w="1711367">
                  <a:extLst>
                    <a:ext uri="{9D8B030D-6E8A-4147-A177-3AD203B41FA5}">
                      <a16:colId xmlns:a16="http://schemas.microsoft.com/office/drawing/2014/main" val="2765365211"/>
                    </a:ext>
                  </a:extLst>
                </a:gridCol>
              </a:tblGrid>
              <a:tr h="15775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36000" marR="36000" marT="6155" marB="2954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테스트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3976913"/>
                  </a:ext>
                </a:extLst>
              </a:tr>
              <a:tr h="1201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진척률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진척률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진척률</a:t>
                      </a:r>
                      <a:endParaRPr lang="ko-KR" alt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863023"/>
                  </a:ext>
                </a:extLst>
              </a:tr>
              <a:tr h="13538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계측정보 수집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(DC)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 완료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108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45587"/>
                  </a:ext>
                </a:extLst>
              </a:tr>
              <a:tr h="12818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Data/Image</a:t>
                      </a:r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조회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완료된 화면은 테스트서버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(9082)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배포 완료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108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2499440"/>
                  </a:ext>
                </a:extLst>
              </a:tr>
              <a:tr h="13538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실시간 모니터링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분석</a:t>
                      </a:r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설계 진행중</a:t>
                      </a:r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319526"/>
                  </a:ext>
                </a:extLst>
              </a:tr>
              <a:tr h="13538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이력조회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설계 진행 중</a:t>
                      </a:r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25933"/>
                  </a:ext>
                </a:extLst>
              </a:tr>
              <a:tr h="13538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 Spec </a:t>
                      </a:r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다운로드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자동차</a:t>
                      </a:r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/ESS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기준 개발 완료</a:t>
                      </a:r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단위테스트 완료</a:t>
                      </a:r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72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0446848"/>
                  </a:ext>
                </a:extLst>
              </a:tr>
              <a:tr h="13538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이상감지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추가요건 분석</a:t>
                      </a:r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설계 중</a:t>
                      </a:r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0985326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3358809-8944-762D-59C9-4B580FD5C406}"/>
              </a:ext>
            </a:extLst>
          </p:cNvPr>
          <p:cNvGraphicFramePr>
            <a:graphicFrameLocks noGrp="1"/>
          </p:cNvGraphicFramePr>
          <p:nvPr/>
        </p:nvGraphicFramePr>
        <p:xfrm>
          <a:off x="108656" y="866775"/>
          <a:ext cx="9562020" cy="5950440"/>
        </p:xfrm>
        <a:graphic>
          <a:graphicData uri="http://schemas.openxmlformats.org/drawingml/2006/table">
            <a:tbl>
              <a:tblPr/>
              <a:tblGrid>
                <a:gridCol w="5713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57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16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31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00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수집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(W51)</a:t>
                      </a:r>
                      <a:r>
                        <a:rPr lang="ko-KR" altLang="en-US" sz="1000" b="0" baseline="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원통형 계측기 데이터 수집 대응 중이며</a:t>
                      </a:r>
                      <a:r>
                        <a:rPr lang="en-US" altLang="ko-KR" sz="1000" b="0" baseline="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1000" b="0" baseline="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정기 회의를 통한</a:t>
                      </a:r>
                      <a:r>
                        <a:rPr lang="en-US" altLang="ko-KR" sz="1000" b="0" baseline="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1000" b="0" baseline="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원통형 계측기 실시간 모니터링 및 화면 표준화 요건 구체화 중입니다</a:t>
                      </a:r>
                      <a:r>
                        <a:rPr lang="en-US" altLang="ko-KR" sz="1000" b="0" baseline="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구축 목적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원통형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Vision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검사기에 이어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Non-Vision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수집을 통한 스마트 팩토리 기반 구축 및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실시간 이상감지 기능 제공하고자 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 및 현황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baseline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현황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1) Data/Image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조회 화면 요건 정의 및 개발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 공정의 경우 작성된 통신사양서 기반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Data/Image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조회 화면 작성 완료 및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CNS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(6/19)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-.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와인더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 공정의 경우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주차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(7/9)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차 개발자 회의 진행 하였으며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8/7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현업 요청에 따른 최종 요건 확정 회의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.(8/28)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-. OC1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공장 대상으로 전극 공정에 대한 시스템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Open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우선 진행할 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(9/23)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활성화는 최종 확정된 요건 기반 개발 배포 완료했습니다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.(10/28)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2)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실시간 모니터링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이력조회 화면 요건 정의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실시간 모니터링 및 계측기 이력조회 요건 정의 완료하였으며 요건 구체화 관련 개발자 주간 정기회의 진행중에 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매주 수요일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원통형 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Pattern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기준 불량률 집계 및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Trend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화면 정의의 경우 원통형 전극검사기술팀과 내용 협의 및 정의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.(12/4)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Lot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별 공정능력 실시간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Trend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화면 반영 관련 생산공정운영팀 의견 취합 내용 기반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요건정의하였으며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구체내용 논의 및 확정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.(~12/17)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원통형 실시간 모니터링 개발과 더불어 각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제품류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장비유형 별 화면이 다수 개발되어 화면 수 정리 및 통합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표준화 진행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3)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개통 대응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전극 공정의 경우 개통 지속 중이며 대응 및 모니터링 지속하고 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-.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활성화의 경우 기존 검사기 유형으로 추가하여 데이터 수집 진행되고 있는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TM/3D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계측기에 대한 개통 우선 진행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        (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와인더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설비 이슈로 인한 일정 연기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12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주까지 개통 진행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–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원통형 선행검사기술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확인 내용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2.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설계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테스트 상세 진척 현황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b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1)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실시간 모니터링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이력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조회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검사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 데이터 및 </a:t>
                      </a:r>
                      <a:r>
                        <a:rPr kumimoji="0"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제품류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통합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김승진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김태원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김효정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1DB71C2-A5DA-F437-6550-4F9F6027235B}"/>
              </a:ext>
            </a:extLst>
          </p:cNvPr>
          <p:cNvGraphicFramePr>
            <a:graphicFrameLocks noGrp="1"/>
          </p:cNvGraphicFramePr>
          <p:nvPr/>
        </p:nvGraphicFramePr>
        <p:xfrm>
          <a:off x="1600732" y="1899811"/>
          <a:ext cx="3413910" cy="1552639"/>
        </p:xfrm>
        <a:graphic>
          <a:graphicData uri="http://schemas.openxmlformats.org/drawingml/2006/table">
            <a:tbl>
              <a:tblPr/>
              <a:tblGrid>
                <a:gridCol w="346880">
                  <a:extLst>
                    <a:ext uri="{9D8B030D-6E8A-4147-A177-3AD203B41FA5}">
                      <a16:colId xmlns:a16="http://schemas.microsoft.com/office/drawing/2014/main" val="1406613808"/>
                    </a:ext>
                  </a:extLst>
                </a:gridCol>
                <a:gridCol w="817124">
                  <a:extLst>
                    <a:ext uri="{9D8B030D-6E8A-4147-A177-3AD203B41FA5}">
                      <a16:colId xmlns:a16="http://schemas.microsoft.com/office/drawing/2014/main" val="3851126968"/>
                    </a:ext>
                  </a:extLst>
                </a:gridCol>
                <a:gridCol w="319901">
                  <a:extLst>
                    <a:ext uri="{9D8B030D-6E8A-4147-A177-3AD203B41FA5}">
                      <a16:colId xmlns:a16="http://schemas.microsoft.com/office/drawing/2014/main" val="2350231828"/>
                    </a:ext>
                  </a:extLst>
                </a:gridCol>
                <a:gridCol w="319901">
                  <a:extLst>
                    <a:ext uri="{9D8B030D-6E8A-4147-A177-3AD203B41FA5}">
                      <a16:colId xmlns:a16="http://schemas.microsoft.com/office/drawing/2014/main" val="2376704765"/>
                    </a:ext>
                  </a:extLst>
                </a:gridCol>
                <a:gridCol w="319901">
                  <a:extLst>
                    <a:ext uri="{9D8B030D-6E8A-4147-A177-3AD203B41FA5}">
                      <a16:colId xmlns:a16="http://schemas.microsoft.com/office/drawing/2014/main" val="1426393479"/>
                    </a:ext>
                  </a:extLst>
                </a:gridCol>
                <a:gridCol w="319901">
                  <a:extLst>
                    <a:ext uri="{9D8B030D-6E8A-4147-A177-3AD203B41FA5}">
                      <a16:colId xmlns:a16="http://schemas.microsoft.com/office/drawing/2014/main" val="2846594703"/>
                    </a:ext>
                  </a:extLst>
                </a:gridCol>
                <a:gridCol w="323434">
                  <a:extLst>
                    <a:ext uri="{9D8B030D-6E8A-4147-A177-3AD203B41FA5}">
                      <a16:colId xmlns:a16="http://schemas.microsoft.com/office/drawing/2014/main" val="2424280200"/>
                    </a:ext>
                  </a:extLst>
                </a:gridCol>
                <a:gridCol w="323434">
                  <a:extLst>
                    <a:ext uri="{9D8B030D-6E8A-4147-A177-3AD203B41FA5}">
                      <a16:colId xmlns:a16="http://schemas.microsoft.com/office/drawing/2014/main" val="1856433550"/>
                    </a:ext>
                  </a:extLst>
                </a:gridCol>
                <a:gridCol w="323434">
                  <a:extLst>
                    <a:ext uri="{9D8B030D-6E8A-4147-A177-3AD203B41FA5}">
                      <a16:colId xmlns:a16="http://schemas.microsoft.com/office/drawing/2014/main" val="1247688724"/>
                    </a:ext>
                  </a:extLst>
                </a:gridCol>
              </a:tblGrid>
              <a:tr h="13106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개발 및 테스트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 적용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27632889"/>
                  </a:ext>
                </a:extLst>
              </a:tr>
              <a:tr h="131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요건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정의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테스트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Open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97224351"/>
                  </a:ext>
                </a:extLst>
              </a:tr>
              <a:tr h="1373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ESOC1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ESOC2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404057"/>
                  </a:ext>
                </a:extLst>
              </a:tr>
              <a:tr h="22583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Phase1</a:t>
                      </a: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계측정보 수집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(DC)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b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(7/4)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(9/23)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(10/28)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(11/26)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577995"/>
                  </a:ext>
                </a:extLst>
              </a:tr>
              <a:tr h="230544">
                <a:tc v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Data/Image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조회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b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(8/8)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5699658"/>
                  </a:ext>
                </a:extLst>
              </a:tr>
              <a:tr h="225835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Phase2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실시간 모니터링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(10/28)</a:t>
                      </a:r>
                      <a:endParaRPr lang="ko-KR" altLang="en-US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◐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  <a:endParaRPr lang="ko-KR" altLang="en-US" baseline="0">
                        <a:latin typeface="Arial Narrow" panose="020B0606020202030204" pitchFamily="34" charset="0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(12/17)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(2/24)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(1/21)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7846558"/>
                  </a:ext>
                </a:extLst>
              </a:tr>
              <a:tr h="225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계측기 이력조회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lang="en-US" altLang="ko-KR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(10/28)</a:t>
                      </a:r>
                      <a:endParaRPr lang="ko-KR" altLang="en-US" sz="7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◐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166158915"/>
                  </a:ext>
                </a:extLst>
              </a:tr>
              <a:tr h="245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SPC Spec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다운로드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○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78492380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C80C8A95-F32C-D25C-350C-6927F730A2C3}"/>
              </a:ext>
            </a:extLst>
          </p:cNvPr>
          <p:cNvGraphicFramePr>
            <a:graphicFrameLocks noGrp="1"/>
          </p:cNvGraphicFramePr>
          <p:nvPr/>
        </p:nvGraphicFramePr>
        <p:xfrm>
          <a:off x="1637559" y="5556624"/>
          <a:ext cx="6698199" cy="1082104"/>
        </p:xfrm>
        <a:graphic>
          <a:graphicData uri="http://schemas.openxmlformats.org/drawingml/2006/table">
            <a:tbl>
              <a:tblPr/>
              <a:tblGrid>
                <a:gridCol w="1006843">
                  <a:extLst>
                    <a:ext uri="{9D8B030D-6E8A-4147-A177-3AD203B41FA5}">
                      <a16:colId xmlns:a16="http://schemas.microsoft.com/office/drawing/2014/main" val="1443331970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4270178724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2658531014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4216546204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2605549656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180291221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3046051891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1432390610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1530981055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12497215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919656486"/>
                    </a:ext>
                  </a:extLst>
                </a:gridCol>
                <a:gridCol w="320800">
                  <a:extLst>
                    <a:ext uri="{9D8B030D-6E8A-4147-A177-3AD203B41FA5}">
                      <a16:colId xmlns:a16="http://schemas.microsoft.com/office/drawing/2014/main" val="2744280180"/>
                    </a:ext>
                  </a:extLst>
                </a:gridCol>
                <a:gridCol w="451189">
                  <a:extLst>
                    <a:ext uri="{9D8B030D-6E8A-4147-A177-3AD203B41FA5}">
                      <a16:colId xmlns:a16="http://schemas.microsoft.com/office/drawing/2014/main" val="882855709"/>
                    </a:ext>
                  </a:extLst>
                </a:gridCol>
                <a:gridCol w="1711367">
                  <a:extLst>
                    <a:ext uri="{9D8B030D-6E8A-4147-A177-3AD203B41FA5}">
                      <a16:colId xmlns:a16="http://schemas.microsoft.com/office/drawing/2014/main" val="2765365211"/>
                    </a:ext>
                  </a:extLst>
                </a:gridCol>
              </a:tblGrid>
              <a:tr h="12734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36000" marR="36000" marT="6155" marB="2954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테스트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36000" marR="36000" marT="6155" marB="29544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3976913"/>
                  </a:ext>
                </a:extLst>
              </a:tr>
              <a:tr h="969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진척률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진척률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단위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진척률</a:t>
                      </a:r>
                      <a:endParaRPr lang="ko-KR" alt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36000" marT="6155" marB="72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863023"/>
                  </a:ext>
                </a:extLst>
              </a:tr>
              <a:tr h="10928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계측정보 수집</a:t>
                      </a:r>
                      <a:r>
                        <a:rPr lang="en-US" altLang="ko-KR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(DC)</a:t>
                      </a:r>
                      <a:endParaRPr lang="en-US" sz="8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 완료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108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45587"/>
                  </a:ext>
                </a:extLst>
              </a:tr>
              <a:tr h="10347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Data/Image</a:t>
                      </a:r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조회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98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108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완료된 화면은 테스트서버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(9082)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배포 완료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108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2499440"/>
                  </a:ext>
                </a:extLst>
              </a:tr>
              <a:tr h="10928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실시간 모니터링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82%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진행중</a:t>
                      </a:r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319526"/>
                  </a:ext>
                </a:extLst>
              </a:tr>
              <a:tr h="10928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이력조회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29%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102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진행중</a:t>
                      </a:r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25933"/>
                  </a:ext>
                </a:extLst>
              </a:tr>
              <a:tr h="10928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SPC Spec </a:t>
                      </a:r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다운로드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자동차</a:t>
                      </a:r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/ESS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기준 개발 완료</a:t>
                      </a:r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단위테스트 완료</a:t>
                      </a:r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72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0446848"/>
                  </a:ext>
                </a:extLst>
              </a:tr>
              <a:tr h="109289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계측기 이상감지</a:t>
                      </a:r>
                      <a:endParaRPr 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6155" marB="7200" anchor="ctr" anchorCtr="1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 anchor="ctr" anchorCtr="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개발자 단위테스트 완료</a:t>
                      </a:r>
                      <a:endParaRPr lang="en-US" altLang="ko-KR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72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0985326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E3C3DD51-8DC6-D275-3C7A-6BD450900543}"/>
              </a:ext>
            </a:extLst>
          </p:cNvPr>
          <p:cNvGraphicFramePr>
            <a:graphicFrameLocks noGrp="1"/>
          </p:cNvGraphicFramePr>
          <p:nvPr/>
        </p:nvGraphicFramePr>
        <p:xfrm>
          <a:off x="5073809" y="1899813"/>
          <a:ext cx="3345765" cy="1552637"/>
        </p:xfrm>
        <a:graphic>
          <a:graphicData uri="http://schemas.openxmlformats.org/drawingml/2006/table">
            <a:tbl>
              <a:tblPr/>
              <a:tblGrid>
                <a:gridCol w="487350">
                  <a:extLst>
                    <a:ext uri="{9D8B030D-6E8A-4147-A177-3AD203B41FA5}">
                      <a16:colId xmlns:a16="http://schemas.microsoft.com/office/drawing/2014/main" val="2164694494"/>
                    </a:ext>
                  </a:extLst>
                </a:gridCol>
                <a:gridCol w="487350">
                  <a:extLst>
                    <a:ext uri="{9D8B030D-6E8A-4147-A177-3AD203B41FA5}">
                      <a16:colId xmlns:a16="http://schemas.microsoft.com/office/drawing/2014/main" val="3454068858"/>
                    </a:ext>
                  </a:extLst>
                </a:gridCol>
                <a:gridCol w="474213">
                  <a:extLst>
                    <a:ext uri="{9D8B030D-6E8A-4147-A177-3AD203B41FA5}">
                      <a16:colId xmlns:a16="http://schemas.microsoft.com/office/drawing/2014/main" val="2891784320"/>
                    </a:ext>
                  </a:extLst>
                </a:gridCol>
                <a:gridCol w="474213">
                  <a:extLst>
                    <a:ext uri="{9D8B030D-6E8A-4147-A177-3AD203B41FA5}">
                      <a16:colId xmlns:a16="http://schemas.microsoft.com/office/drawing/2014/main" val="2242833276"/>
                    </a:ext>
                  </a:extLst>
                </a:gridCol>
                <a:gridCol w="474213">
                  <a:extLst>
                    <a:ext uri="{9D8B030D-6E8A-4147-A177-3AD203B41FA5}">
                      <a16:colId xmlns:a16="http://schemas.microsoft.com/office/drawing/2014/main" val="30546195"/>
                    </a:ext>
                  </a:extLst>
                </a:gridCol>
                <a:gridCol w="474213">
                  <a:extLst>
                    <a:ext uri="{9D8B030D-6E8A-4147-A177-3AD203B41FA5}">
                      <a16:colId xmlns:a16="http://schemas.microsoft.com/office/drawing/2014/main" val="1567832815"/>
                    </a:ext>
                  </a:extLst>
                </a:gridCol>
                <a:gridCol w="474213">
                  <a:extLst>
                    <a:ext uri="{9D8B030D-6E8A-4147-A177-3AD203B41FA5}">
                      <a16:colId xmlns:a16="http://schemas.microsoft.com/office/drawing/2014/main" val="1383299135"/>
                    </a:ext>
                  </a:extLst>
                </a:gridCol>
              </a:tblGrid>
              <a:tr h="190676"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검사기 개통 및 적합률 현황</a:t>
                      </a: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054577"/>
                  </a:ext>
                </a:extLst>
              </a:tr>
              <a:tr h="1906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전극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와인더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조립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합계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6385236"/>
                  </a:ext>
                </a:extLst>
              </a:tr>
              <a:tr h="190676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</a:t>
                      </a: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개통일정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’25.9~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’25.12~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6707273"/>
                  </a:ext>
                </a:extLst>
              </a:tr>
              <a:tr h="190676">
                <a:tc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개통현황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40/69(-)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0/38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1/80</a:t>
                      </a:r>
                      <a:endParaRPr lang="ko-KR" altLang="en-US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0/16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40/203</a:t>
                      </a:r>
                      <a:endParaRPr lang="ko-KR" altLang="en-US" sz="700" b="1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827671"/>
                  </a:ext>
                </a:extLst>
              </a:tr>
              <a:tr h="190676">
                <a:tc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적합률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99.56%</a:t>
                      </a:r>
                    </a:p>
                    <a:p>
                      <a:pPr algn="ctr" fontAlgn="ctr"/>
                      <a:r>
                        <a:rPr lang="en-US" altLang="ko-KR" sz="7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(0.14%</a:t>
                      </a:r>
                      <a:r>
                        <a:rPr lang="ko-KR" altLang="en-US" sz="7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-%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40.63%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(-)</a:t>
                      </a:r>
                      <a:endParaRPr lang="ko-KR" altLang="en-US" sz="700" b="0" i="0" u="none" strike="noStrike" baseline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-%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99.56%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(0.14%</a:t>
                      </a:r>
                      <a:r>
                        <a:rPr lang="ko-KR" altLang="en-US" sz="700" b="1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▼</a:t>
                      </a:r>
                      <a:r>
                        <a:rPr lang="en-US" altLang="ko-KR" sz="700" b="1" i="0" u="none" strike="noStrike" baseline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545754"/>
                  </a:ext>
                </a:extLst>
              </a:tr>
              <a:tr h="190676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</a:p>
                  </a:txBody>
                  <a:tcPr marL="4545" marR="4545" marT="454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개통일정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’25.11~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6407230"/>
                  </a:ext>
                </a:extLst>
              </a:tr>
              <a:tr h="190676">
                <a:tc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개통현황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0/62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/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0/62</a:t>
                      </a:r>
                      <a:endParaRPr lang="ko-KR" altLang="en-US" sz="7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270063"/>
                  </a:ext>
                </a:extLst>
              </a:tr>
              <a:tr h="190676">
                <a:tc vMerge="1">
                  <a:txBody>
                    <a:bodyPr/>
                    <a:lstStyle/>
                    <a:p>
                      <a:pPr algn="ctr" fontAlgn="ctr"/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적합률</a:t>
                      </a:r>
                      <a:endParaRPr lang="en-US" sz="7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-%</a:t>
                      </a:r>
                      <a:endParaRPr lang="ko-KR" altLang="en-US" sz="7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-%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47923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79C03302-9F8E-20EB-F356-EDD9833ADD77}"/>
              </a:ext>
            </a:extLst>
          </p:cNvPr>
          <p:cNvSpPr txBox="1"/>
          <p:nvPr/>
        </p:nvSpPr>
        <p:spPr>
          <a:xfrm>
            <a:off x="3944971" y="2588858"/>
            <a:ext cx="518808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전극 </a:t>
            </a:r>
            <a:r>
              <a:rPr lang="en-US" altLang="ko-KR" sz="6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Open</a:t>
            </a:r>
            <a:endParaRPr lang="ko-KR" altLang="en-US" sz="600">
              <a:solidFill>
                <a:srgbClr val="008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B556786-6CBD-546A-060D-1F60B0355C02}"/>
              </a:ext>
            </a:extLst>
          </p:cNvPr>
          <p:cNvSpPr txBox="1"/>
          <p:nvPr/>
        </p:nvSpPr>
        <p:spPr>
          <a:xfrm>
            <a:off x="3287596" y="2588858"/>
            <a:ext cx="85928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조립</a:t>
            </a:r>
            <a:r>
              <a:rPr lang="en-US" altLang="ko-KR" sz="6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/</a:t>
            </a:r>
            <a:r>
              <a:rPr lang="ko-KR" altLang="en-US" sz="600">
                <a:solidFill>
                  <a:srgbClr val="008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활성화 진행중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A142490-D42B-4558-6881-F6D574337590}"/>
              </a:ext>
            </a:extLst>
          </p:cNvPr>
          <p:cNvSpPr txBox="1"/>
          <p:nvPr/>
        </p:nvSpPr>
        <p:spPr>
          <a:xfrm>
            <a:off x="6455953" y="3556495"/>
            <a:ext cx="256794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7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개통 집계 </a:t>
            </a:r>
            <a:r>
              <a:rPr lang="en-US" altLang="ko-KR" sz="7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- 1216. 10:00, </a:t>
            </a:r>
            <a:r>
              <a:rPr lang="ko-KR" altLang="en-US" sz="7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적합률 집계 </a:t>
            </a:r>
            <a:r>
              <a:rPr lang="en-US" altLang="ko-KR" sz="700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: 12.10. ~ 12.17)</a:t>
            </a:r>
            <a:endParaRPr lang="ko-KR" altLang="en-US" sz="700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344531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75652"/>
          <a:ext cx="9697616" cy="5756543"/>
        </p:xfrm>
        <a:graphic>
          <a:graphicData uri="http://schemas.openxmlformats.org/drawingml/2006/table">
            <a:tbl>
              <a:tblPr/>
              <a:tblGrid>
                <a:gridCol w="5407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04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254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ko-KR" altLang="en-US" sz="900" dirty="0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1403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신규법인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SPC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확산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>
                          <a:latin typeface="+mj-ea"/>
                          <a:ea typeface="+mj-ea"/>
                        </a:rPr>
                        <a:t>확산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법인별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정합성 검증 외 특이사항 없습니다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스마트체 Regular"/>
                        </a:rPr>
                        <a:t>샘플</a:t>
                      </a:r>
                      <a:endParaRPr lang="en-US" altLang="ko-KR" sz="10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  <a:endParaRPr lang="en-US" altLang="ko-KR" sz="10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추승식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박홍규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김승진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김태원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김효정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64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ESHD</a:t>
                      </a:r>
                      <a:endParaRPr lang="ko-KR" altLang="en-US" sz="10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1) SPC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시스템은 모듈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(’24.12.09),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(‘25.02.19),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(’25.03.03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),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활성화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’25.03.12)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 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순차적으로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오픈 완료하였습니다.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2)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금주 검사기 개통 관련하여 진행사항 및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83250040"/>
                  </a:ext>
                </a:extLst>
              </a:tr>
              <a:tr h="4732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ESST</a:t>
                      </a:r>
                      <a:endParaRPr lang="ko-KR" altLang="en-US" sz="1000" baseline="0">
                        <a:solidFill>
                          <a:schemeClr val="tx1"/>
                        </a:solidFill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SPC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시스템은 조립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(’25.03.17),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(’25.03.24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),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활성화(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’25.04.21)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 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순차적으로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오픈 완료하였습니다.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 검사기 개통 및 정합률 검증 진행중입니다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3)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eIoT I/F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진행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완료하였습니다.(4/25)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561889921"/>
                  </a:ext>
                </a:extLst>
              </a:tr>
              <a:tr h="4720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>
                          <a:latin typeface="Arial Narrow"/>
                          <a:ea typeface="LG스마트체 Regular"/>
                        </a:rPr>
                        <a:t>ESMIL</a:t>
                      </a:r>
                      <a:endParaRPr lang="ko-KR" altLang="en-US" sz="1000" baseline="0"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SPC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시스템은 전극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(’25.03.19),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조립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(‘25.03.21),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활성화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(‘25.04.21)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순차적으로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오픈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금주 활성화 검사기 개통 시작되었으며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조립도 계속해서 개통 및 정합률 검증 진행중입니다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활성화 실링 검사기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4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대 추가되어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개통 및 정합률 관련 체크 진행중입니다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 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31403017"/>
                  </a:ext>
                </a:extLst>
              </a:tr>
              <a:tr h="61200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>
                          <a:latin typeface="Arial Narrow"/>
                          <a:ea typeface="LG스마트체 Regular"/>
                        </a:rPr>
                        <a:t>ESHG</a:t>
                      </a:r>
                      <a:endParaRPr lang="ko-KR" altLang="en-US" sz="1000" baseline="0"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1) SPC 시스템은 조립(’25.06.23), 전극/활성화(’25.07.14)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순차적으로 오픈 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.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2) eIoT I/F 테스트 완료하였습니다.(7/30)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3)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셀추적 메시지에 대한 정합률 검증 완료 및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AZS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분리막 비전 MMD2 기준정보 등록 완료하였습니다. (8/26)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4)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전극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조립 검사기 개통 진행 중이며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전극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조립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/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활성화 정합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률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</a:rPr>
                        <a:t> 검증 진행 중입니다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rgbClr val="1414FE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2054281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530868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신규법인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SPC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확산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094084" y="661330"/>
            <a:ext cx="16751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12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15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845892" y="492053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추승식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6F4E44C-BA76-4E9C-94DC-40D538B2B5E8}"/>
              </a:ext>
            </a:extLst>
          </p:cNvPr>
          <p:cNvSpPr txBox="1"/>
          <p:nvPr/>
        </p:nvSpPr>
        <p:spPr>
          <a:xfrm>
            <a:off x="1154831" y="4402120"/>
            <a:ext cx="8822190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   1)</a:t>
            </a:r>
            <a:r>
              <a:rPr lang="en-US" altLang="ko-KR" sz="700" err="1">
                <a:solidFill>
                  <a:srgbClr val="006600"/>
                </a:solidFill>
                <a:latin typeface="Arial Narrow"/>
                <a:ea typeface="LG스마트체 Regular"/>
              </a:rPr>
              <a:t>응용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 Setup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: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WEB/WAS/AP/</a:t>
            </a:r>
            <a:r>
              <a:rPr lang="ko-KR" sz="700">
                <a:solidFill>
                  <a:srgbClr val="006600"/>
                </a:solidFill>
                <a:latin typeface="Arial Narrow"/>
                <a:ea typeface="LG스마트체 Regular"/>
              </a:rPr>
              <a:t>DB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/LOG</a:t>
            </a:r>
            <a:r>
              <a:rPr lang="ko-KR" sz="700">
                <a:solidFill>
                  <a:srgbClr val="006600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서버 서비스 구성 및 시스템 기준정보 셋업 작업 진행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.     2)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응용 테스트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: </a:t>
            </a:r>
            <a:r>
              <a:rPr lang="ko-KR" sz="700">
                <a:solidFill>
                  <a:srgbClr val="006600"/>
                </a:solidFill>
                <a:latin typeface="Arial Narrow"/>
                <a:ea typeface="LG스마트체 Regular"/>
              </a:rPr>
              <a:t>인프라 가용성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테스트 및 데이터 수집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/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 UI 서비스 등의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 Application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테스트 작업 진행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.</a:t>
            </a:r>
            <a:br>
              <a:rPr lang="en-US" altLang="ko-KR" sz="700"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   3)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I/F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테스트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: MMD2/MES/EDC 등 타 </a:t>
            </a:r>
            <a:r>
              <a:rPr lang="en-US" altLang="ko-KR" sz="700" err="1">
                <a:solidFill>
                  <a:srgbClr val="006600"/>
                </a:solidFill>
                <a:latin typeface="Arial Narrow"/>
                <a:ea typeface="LG스마트체 Regular"/>
              </a:rPr>
              <a:t>시스템과의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 I/F </a:t>
            </a:r>
            <a:r>
              <a:rPr lang="en-US" altLang="ko-KR" sz="700" err="1">
                <a:solidFill>
                  <a:srgbClr val="006600"/>
                </a:solidFill>
                <a:latin typeface="Arial Narrow"/>
                <a:ea typeface="LG스마트체 Regular"/>
              </a:rPr>
              <a:t>테스트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 </a:t>
            </a:r>
            <a:r>
              <a:rPr lang="en-US" altLang="ko-KR" sz="700" err="1">
                <a:solidFill>
                  <a:srgbClr val="006600"/>
                </a:solidFill>
                <a:latin typeface="Arial Narrow"/>
                <a:ea typeface="LG스마트체 Regular"/>
              </a:rPr>
              <a:t>작업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진행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. 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     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4)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오픈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: Sample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생산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2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주전 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Release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하며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, 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검사기와의 연동 및 정합성 검증 진행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. (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법인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, 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생산지원 등 관련 부서에 </a:t>
            </a:r>
            <a:r>
              <a:rPr lang="ko-KR" altLang="en-US" sz="700" err="1">
                <a:solidFill>
                  <a:srgbClr val="006600"/>
                </a:solidFill>
                <a:latin typeface="Arial Narrow"/>
                <a:ea typeface="LG스마트체 Regular"/>
              </a:rPr>
              <a:t>요청시</a:t>
            </a:r>
            <a:r>
              <a:rPr lang="ko-KR" altLang="en-US" sz="700">
                <a:solidFill>
                  <a:srgbClr val="006600"/>
                </a:solidFill>
                <a:latin typeface="Arial Narrow"/>
                <a:ea typeface="LG스마트체 Regular"/>
              </a:rPr>
              <a:t> 오픈 일정 변경</a:t>
            </a:r>
            <a:r>
              <a:rPr lang="en-US" altLang="ko-KR" sz="700">
                <a:solidFill>
                  <a:srgbClr val="006600"/>
                </a:solidFill>
                <a:latin typeface="Arial Narrow"/>
                <a:ea typeface="LG스마트체 Regular"/>
              </a:rPr>
              <a:t>)</a:t>
            </a:r>
            <a:endParaRPr lang="en-US" altLang="ko-KR" sz="700">
              <a:solidFill>
                <a:srgbClr val="006600"/>
              </a:solidFill>
              <a:latin typeface="Arial Narrow"/>
              <a:ea typeface="LG스마트체 Regular"/>
              <a:cs typeface="Arial"/>
            </a:endParaRPr>
          </a:p>
        </p:txBody>
      </p:sp>
      <p:sp>
        <p:nvSpPr>
          <p:cNvPr id="12" name="제목 1">
            <a:extLst>
              <a:ext uri="{FF2B5EF4-FFF2-40B4-BE49-F238E27FC236}">
                <a16:creationId xmlns:a16="http://schemas.microsoft.com/office/drawing/2014/main" id="{5706B472-D3AD-4379-B8C4-00621B2DC5D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0" name="내용 개체 틀 20">
            <a:extLst>
              <a:ext uri="{FF2B5EF4-FFF2-40B4-BE49-F238E27FC236}">
                <a16:creationId xmlns:a16="http://schemas.microsoft.com/office/drawing/2014/main" id="{A2FCD768-4D58-4F24-898F-2662808748FB}"/>
              </a:ext>
            </a:extLst>
          </p:cNvPr>
          <p:cNvSpPr txBox="1">
            <a:spLocks/>
          </p:cNvSpPr>
          <p:nvPr/>
        </p:nvSpPr>
        <p:spPr>
          <a:xfrm>
            <a:off x="5815663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DX-#2,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 dirty="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3345AB8-DCE4-48BF-8862-E388F79527A3}"/>
              </a:ext>
            </a:extLst>
          </p:cNvPr>
          <p:cNvGraphicFramePr>
            <a:graphicFrameLocks noGrp="1"/>
          </p:cNvGraphicFramePr>
          <p:nvPr/>
        </p:nvGraphicFramePr>
        <p:xfrm>
          <a:off x="1259656" y="1438183"/>
          <a:ext cx="7377620" cy="2963936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759005">
                  <a:extLst>
                    <a:ext uri="{9D8B030D-6E8A-4147-A177-3AD203B41FA5}">
                      <a16:colId xmlns:a16="http://schemas.microsoft.com/office/drawing/2014/main" val="3227555854"/>
                    </a:ext>
                  </a:extLst>
                </a:gridCol>
                <a:gridCol w="759005">
                  <a:extLst>
                    <a:ext uri="{9D8B030D-6E8A-4147-A177-3AD203B41FA5}">
                      <a16:colId xmlns:a16="http://schemas.microsoft.com/office/drawing/2014/main" val="3482304693"/>
                    </a:ext>
                  </a:extLst>
                </a:gridCol>
                <a:gridCol w="841805">
                  <a:extLst>
                    <a:ext uri="{9D8B030D-6E8A-4147-A177-3AD203B41FA5}">
                      <a16:colId xmlns:a16="http://schemas.microsoft.com/office/drawing/2014/main" val="772471920"/>
                    </a:ext>
                  </a:extLst>
                </a:gridCol>
                <a:gridCol w="841805">
                  <a:extLst>
                    <a:ext uri="{9D8B030D-6E8A-4147-A177-3AD203B41FA5}">
                      <a16:colId xmlns:a16="http://schemas.microsoft.com/office/drawing/2014/main" val="871766091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val="2783402250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val="1556984856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val="143698900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202018794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3939096441"/>
                    </a:ext>
                  </a:extLst>
                </a:gridCol>
              </a:tblGrid>
              <a:tr h="162584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구분</a:t>
                      </a:r>
                      <a:endParaRPr lang="ko-KR" altLang="en-US" sz="900" b="1" i="0" u="none" strike="noStrike" dirty="0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대상</a:t>
                      </a:r>
                      <a:endParaRPr lang="ko-KR" altLang="en-US" sz="900" b="1" i="0" u="none" strike="noStrike" dirty="0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샘플</a:t>
                      </a:r>
                      <a:endParaRPr lang="en-US" altLang="ko-KR" sz="900" b="1" i="0" u="none" strike="noStrike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Open</a:t>
                      </a:r>
                      <a:endParaRPr lang="en-US" altLang="ko-KR" sz="900" b="1" i="0" u="none" strike="noStrike" dirty="0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진척현황</a:t>
                      </a:r>
                      <a:endParaRPr lang="af-ZA" altLang="ko-KR" sz="900" b="1" i="0" u="none" strike="noStrike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endParaRPr lang="ko-KR" altLang="en-US" sz="8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endParaRPr lang="ko-KR" altLang="en-US" sz="8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49709"/>
                  </a:ext>
                </a:extLst>
              </a:tr>
              <a:tr h="169605"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ko-KR" altLang="en-US" sz="8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en-US" altLang="ko-KR" sz="8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응용 </a:t>
                      </a:r>
                      <a:r>
                        <a:rPr lang="af-ZA" sz="900" b="1" i="0" u="none" strike="noStrike" kern="120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Setup</a:t>
                      </a:r>
                      <a:endParaRPr lang="af-ZA" altLang="ko-KR" sz="900" b="1" i="0" u="none" strike="noStrike" err="1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응용 테스트</a:t>
                      </a:r>
                      <a:endParaRPr lang="ko-KR" altLang="en-US" sz="900" b="1" i="0" u="none" strike="noStrike" dirty="0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I/F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테스트</a:t>
                      </a:r>
                      <a:endParaRPr lang="ko-KR" altLang="en-US" sz="900" b="1" i="0" u="none" strike="noStrike" dirty="0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검사기 개통</a:t>
                      </a:r>
                      <a:endParaRPr lang="ko-KR" altLang="en-US" sz="900" b="1" i="0" u="none" strike="noStrike" dirty="0"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900" b="1" i="0" u="none" strike="noStrike"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정합성 검증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5218023"/>
                  </a:ext>
                </a:extLst>
              </a:tr>
              <a:tr h="187923">
                <a:tc rowSpan="4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50" b="1" i="0" u="none" strike="noStrike" dirty="0">
                          <a:effectLst/>
                          <a:latin typeface="Arial Narrow"/>
                          <a:ea typeface="LG스마트체 Regular"/>
                        </a:rPr>
                        <a:t> ESHD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전극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'25.03.03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 kern="1200" spc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'25.02.19 (</a:t>
                      </a:r>
                      <a:r>
                        <a:rPr lang="ko-KR" altLang="en-US" sz="900" b="1" i="0" u="none" strike="noStrike" kern="1200" spc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1" i="0" u="none" strike="noStrike" kern="1200" spc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1" i="0" u="none" strike="noStrike" kern="1200" spc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kern="1200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kern="1200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0" i="0" u="none" strike="noStrike" kern="1200" noProof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1" i="0" u="none" strike="noStrike" kern="1200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 (33/33)</a:t>
                      </a:r>
                      <a:endParaRPr lang="en-US" altLang="ko-KR" sz="900" b="1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88.4% (587/664)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8291"/>
                  </a:ext>
                </a:extLst>
              </a:tr>
              <a:tr h="187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조립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'25.03.25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 kern="1200" spc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'25.03.03 (</a:t>
                      </a:r>
                      <a:r>
                        <a:rPr lang="ko-KR" altLang="en-US" sz="900" b="1" i="0" u="none" strike="noStrike" kern="1200" spc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1" i="0" u="none" strike="noStrike" kern="1200" spc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1" i="0" u="none" strike="noStrike" kern="1200" spc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kern="1200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1" noProof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1" i="0" u="none" strike="noStrike" kern="1200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 (57/57)</a:t>
                      </a:r>
                      <a:endParaRPr lang="en-US" altLang="ko-KR" sz="900" b="1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86.1% (884/1,026)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3606195"/>
                  </a:ext>
                </a:extLst>
              </a:tr>
              <a:tr h="187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활성화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'25.03.27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'25.03.12 (</a:t>
                      </a:r>
                      <a:r>
                        <a:rPr lang="ko-KR" alt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完</a:t>
                      </a: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1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Arial Narrow"/>
                        </a:rPr>
                        <a:t>100%</a:t>
                      </a:r>
                      <a:endParaRPr lang="en-US" sz="900" b="1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 (6/6)</a:t>
                      </a:r>
                      <a:endParaRPr lang="en-US" sz="900" b="1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98.1% (106/108)</a:t>
                      </a:r>
                      <a:endParaRPr kumimoji="0" lang="en-US" sz="900" b="1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9836456"/>
                  </a:ext>
                </a:extLst>
              </a:tr>
              <a:tr h="187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모듈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'24.12.23</a:t>
                      </a:r>
                      <a:endParaRPr lang="en-US" sz="900" b="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'24.12.09 (</a:t>
                      </a:r>
                      <a:r>
                        <a:rPr lang="ko-KR" altLang="en-US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1" i="0" u="none" strike="noStrike" kern="1200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  <a:endParaRPr lang="en-US" altLang="ko-KR" sz="900" b="1" i="0" u="none" strike="noStrike" dirty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 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89.2% (755/846)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2449470"/>
                  </a:ext>
                </a:extLst>
              </a:tr>
              <a:tr h="187923">
                <a:tc rowSpan="4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50" b="1" i="0" u="none" strike="noStrike">
                          <a:effectLst/>
                          <a:latin typeface="Arial Narrow"/>
                          <a:ea typeface="LG스마트체 Regular"/>
                        </a:rPr>
                        <a:t>ESST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전극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'25.04.30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'25.03.24 (</a:t>
                      </a:r>
                      <a:r>
                        <a:rPr lang="ko-KR" alt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 (35/35)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93.1% (648/696)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9703444"/>
                  </a:ext>
                </a:extLst>
              </a:tr>
              <a:tr h="187923"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en-US" altLang="ko-KR" sz="800" b="0" i="0" u="none" strike="noStrike"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'25.06.04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'25.03.17 (</a:t>
                      </a:r>
                      <a:r>
                        <a:rPr lang="ko-KR" altLang="en-US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)</a:t>
                      </a:r>
                      <a:endParaRPr lang="en-US" sz="90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altLang="ko-KR" sz="900" b="1" i="0" u="none" strike="noStrike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dirty="0"/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 (86/86)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99.2% (1,535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/1,548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3690638"/>
                  </a:ext>
                </a:extLst>
              </a:tr>
              <a:tr h="187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활성화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'25.06.09</a:t>
                      </a:r>
                      <a:endParaRPr lang="en-US" sz="900" b="0" i="0" u="none" strike="noStrike" noProof="0">
                        <a:solidFill>
                          <a:schemeClr val="tx1"/>
                        </a:solidFill>
                        <a:latin typeface="Arial Narrow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Arial Narrow"/>
                        </a:rPr>
                        <a:t>'25.04.21 (</a:t>
                      </a:r>
                      <a:r>
                        <a:rPr lang="ko-KR" alt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Arial Narrow"/>
                        </a:rPr>
                        <a:t>完</a:t>
                      </a: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Arial Narrow"/>
                        </a:rPr>
                        <a:t>)</a:t>
                      </a:r>
                      <a:endParaRPr lang="en-US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0" i="0" u="none" strike="noStrike" noProof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0" i="0" u="none" strike="noStrike" noProof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kern="1200" noProof="0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1" i="0" u="none" strike="noStrike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 (2/2)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97.2% (35/36)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008812"/>
                  </a:ext>
                </a:extLst>
              </a:tr>
              <a:tr h="187923"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en-US" altLang="ko-KR" sz="800" b="0" i="0" u="none" strike="noStrike"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모듈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'24.02.26</a:t>
                      </a:r>
                      <a:endParaRPr lang="en-US" sz="90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'24.02.12 (</a:t>
                      </a:r>
                      <a:r>
                        <a:rPr lang="ko-KR" altLang="en-US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) 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1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1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900" b="1" i="0" u="none" strike="noStrike" noProof="0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1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Light"/>
                          <a:cs typeface="+mn-cs"/>
                        </a:rPr>
                        <a:t>100%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"/>
                        <a:ea typeface="LG스마트체 Light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Light"/>
                          <a:cs typeface="+mn-cs"/>
                        </a:rPr>
                        <a:t>100%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/>
                        <a:ea typeface="LG스마트체 Light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6142"/>
                  </a:ext>
                </a:extLst>
              </a:tr>
              <a:tr h="187923">
                <a:tc rowSpan="3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50" b="1" i="0" u="none" strike="noStrike">
                          <a:effectLst/>
                          <a:latin typeface="Arial Narrow"/>
                          <a:ea typeface="LG스마트체 Regular"/>
                        </a:rPr>
                        <a:t>ESMI</a:t>
                      </a:r>
                    </a:p>
                    <a:p>
                      <a:pPr marL="0" algn="ctr" rtl="0" eaLnBrk="1" fontAlgn="ctr" latinLnBrk="1" hangingPunct="1"/>
                      <a:r>
                        <a:rPr lang="en-US" altLang="ko-KR" sz="950" b="1" i="0" u="none" strike="noStrike">
                          <a:effectLst/>
                          <a:latin typeface="Arial Narrow"/>
                          <a:ea typeface="LG스마트체 Regular"/>
                        </a:rPr>
                        <a:t>Lansing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전극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'25.04.15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'25.03.19 (</a:t>
                      </a:r>
                      <a:r>
                        <a:rPr lang="ko-KR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 sz="900" b="0" i="0" u="none" strike="noStrike" noProof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1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 (35/35)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96.5% (672/696)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9575111"/>
                  </a:ext>
                </a:extLst>
              </a:tr>
              <a:tr h="187923"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en-US" altLang="ko-KR" sz="800" b="0" i="0" u="none" strike="noStrike"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'25.04.30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'25.03.21 (</a:t>
                      </a:r>
                      <a:r>
                        <a:rPr lang="ko-KR" alt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完</a:t>
                      </a: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0" i="0" u="none" strike="noStrike" noProof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 dirty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1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</a:t>
                      </a:r>
                      <a:r>
                        <a:rPr lang="en-US" sz="900" b="1" i="0" u="none" strike="noStrike" kern="120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 (61/61)</a:t>
                      </a:r>
                      <a:endParaRPr lang="en-US" altLang="ko-KR" sz="900" b="1" i="0" u="none" strike="noStrike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99.8% (1,096/1,098)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90825"/>
                  </a:ext>
                </a:extLst>
              </a:tr>
              <a:tr h="187923"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en-US" altLang="ko-KR" sz="950" b="1" i="0" u="none" strike="noStrike"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활성화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'25.05.15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'25.04.21 (</a:t>
                      </a:r>
                      <a:r>
                        <a:rPr lang="ko-KR" alt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完</a:t>
                      </a: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  <a:endParaRPr lang="en-US" sz="900" b="0" i="0" u="none" strike="noStrike" noProof="0"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Arial Narrow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100%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Arial Narrow"/>
                        </a:rPr>
                        <a:t>100%</a:t>
                      </a:r>
                      <a:endParaRPr lang="en-US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00" b="1" i="0" u="none" strike="noStrike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  <a:ea typeface="LG스마트체 Regular"/>
                        </a:rPr>
                        <a:t>100% (6/6)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79.6% (86/108)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1531018"/>
                  </a:ext>
                </a:extLst>
              </a:tr>
              <a:tr h="188198">
                <a:tc rowSpan="3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altLang="ko-KR" sz="950" b="1" i="0" u="none" strike="noStrike" dirty="0">
                          <a:effectLst/>
                          <a:latin typeface="Arial Narrow"/>
                          <a:ea typeface="LG스마트체 Regular"/>
                        </a:rPr>
                        <a:t>ESHG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전극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'25.08.14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'25.07.14 (</a:t>
                      </a:r>
                      <a:r>
                        <a:rPr lang="ko-KR" alt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完</a:t>
                      </a:r>
                      <a:r>
                        <a:rPr lang="en-US" altLang="ko-KR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 sz="90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97.8% (44/45)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79.5% (773/972)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6707174"/>
                  </a:ext>
                </a:extLst>
              </a:tr>
              <a:tr h="188198"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en-US" altLang="ko-KR" sz="800" b="0" i="0" u="none" strike="noStrike"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조립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'25.07.31</a:t>
                      </a:r>
                      <a:endParaRPr lang="en-US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'25.06.23 (</a:t>
                      </a:r>
                      <a:r>
                        <a:rPr lang="ko-KR" alt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完</a:t>
                      </a:r>
                      <a:r>
                        <a:rPr lang="en-US" altLang="ko-KR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 sz="90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 (61</a:t>
                      </a:r>
                      <a:r>
                        <a:rPr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/61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79.5% (873/1,098)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3177106"/>
                  </a:ext>
                </a:extLst>
              </a:tr>
              <a:tr h="188198">
                <a:tc vMerge="1">
                  <a:txBody>
                    <a:bodyPr/>
                    <a:lstStyle/>
                    <a:p>
                      <a:pPr marL="0" algn="ctr" rtl="0" eaLnBrk="1" fontAlgn="ctr" latinLnBrk="1" hangingPunct="1"/>
                      <a:endParaRPr lang="en-US" altLang="ko-KR" sz="950" b="1" i="0" u="none" strike="noStrike"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900" b="1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활성화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900" b="1" i="0" u="none" strike="noStrike" noProof="0">
                          <a:solidFill>
                            <a:schemeClr val="tx1"/>
                          </a:solidFill>
                          <a:effectLst/>
                          <a:latin typeface="Arial Narrow"/>
                        </a:rPr>
                        <a:t>'25.07.31</a:t>
                      </a:r>
                      <a:endParaRPr lang="en-US" altLang="ko-KR" sz="900">
                        <a:solidFill>
                          <a:schemeClr val="tx1"/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'25.07.14 (</a:t>
                      </a:r>
                      <a:r>
                        <a:rPr lang="ko-KR" altLang="en-US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完</a:t>
                      </a:r>
                      <a:r>
                        <a:rPr lang="en-US" altLang="ko-KR" sz="900" b="1" i="0" u="none" strike="noStrike" noProof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/>
                        </a:rPr>
                        <a:t>)</a:t>
                      </a:r>
                      <a:endParaRPr lang="en-US" altLang="ko-KR" sz="90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%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 (6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/6)</a:t>
                      </a:r>
                      <a:endParaRPr kumimoji="0"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92.6% (100/108)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34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097696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89AA66-821C-D63F-670E-8D7F548722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87D8C23D-3EB2-75A2-438C-59E195E043FA}"/>
              </a:ext>
            </a:extLst>
          </p:cNvPr>
          <p:cNvGraphicFramePr>
            <a:graphicFrameLocks noGrp="1"/>
          </p:cNvGraphicFramePr>
          <p:nvPr/>
        </p:nvGraphicFramePr>
        <p:xfrm>
          <a:off x="71611" y="895161"/>
          <a:ext cx="9697612" cy="5699060"/>
        </p:xfrm>
        <a:graphic>
          <a:graphicData uri="http://schemas.openxmlformats.org/drawingml/2006/table">
            <a:tbl>
              <a:tblPr/>
              <a:tblGrid>
                <a:gridCol w="5407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80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163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340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6498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SPC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증설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627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ESNJ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SUS CAN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운영서버 수집된 검사 데이터 및 이미지 기준으로 적합 검증 진행중이며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적합대상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900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 중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381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 진행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(42.3%)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진행되었습니다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SUS CAN EGL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PJT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진행 중이며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데이터수집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(DC),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정합성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(INSP_VAL), Data/Image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조회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(UI)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개발 완료 되어 배포 적용하였습니다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(7/24)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Sus Can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기준정보 등록 및 외관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치수 표준 검사항목 등록하였습니다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(8/29)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실시간 모니터링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관리도 개발 진행중이며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9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월말 적용 완료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ESNJ SUS CAN 1-2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 금주부터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ZZS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검사기를 시작으로 업체별 개통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Test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진행중입니다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(9/8~)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운영서버 수집된 검사 데이터 및 이미지 기준으로 적합 검증 진행중이며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적합대상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900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 중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381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 진행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(42.3%)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진행되었습니다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검사기 개통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  17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종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60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 대상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중국 현지 업체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금주는 조립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활성화 검사기 적합률 검증 외 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스마트체 Regular"/>
                        </a:rPr>
                        <a:t>샘플</a:t>
                      </a:r>
                      <a:endParaRPr lang="en-US" altLang="ko-KR" sz="1000" b="0" i="0" u="none" strike="noStrike" baseline="0" dirty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rgbClr val="1414FE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  <a:endParaRPr lang="en-US" altLang="ko-KR" sz="1000" b="0" i="0" u="none" strike="noStrike" baseline="0" dirty="0">
                        <a:solidFill>
                          <a:srgbClr val="1414FE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추승식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김승진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김태원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김효정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AC6CED16-943D-F744-AA46-8D920EDDFEF8}"/>
              </a:ext>
            </a:extLst>
          </p:cNvPr>
          <p:cNvSpPr txBox="1">
            <a:spLocks/>
          </p:cNvSpPr>
          <p:nvPr/>
        </p:nvSpPr>
        <p:spPr>
          <a:xfrm>
            <a:off x="90900" y="630486"/>
            <a:ext cx="860813" cy="21544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SPC </a:t>
            </a:r>
            <a:r>
              <a:rPr kumimoji="0" lang="en-US" altLang="ko-KR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증설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9AB36338-E3EE-969B-ECFF-C869B016E429}"/>
              </a:ext>
            </a:extLst>
          </p:cNvPr>
          <p:cNvSpPr txBox="1">
            <a:spLocks/>
          </p:cNvSpPr>
          <p:nvPr/>
        </p:nvSpPr>
        <p:spPr>
          <a:xfrm>
            <a:off x="8845892" y="492053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추승식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2" name="제목 1">
            <a:extLst>
              <a:ext uri="{FF2B5EF4-FFF2-40B4-BE49-F238E27FC236}">
                <a16:creationId xmlns:a16="http://schemas.microsoft.com/office/drawing/2014/main" id="{96BD98A8-1EB3-23DC-F6B0-E680ADEDF6E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A36D594-3575-4E02-8B12-3DD61EA071AF}"/>
              </a:ext>
            </a:extLst>
          </p:cNvPr>
          <p:cNvSpPr txBox="1"/>
          <p:nvPr/>
        </p:nvSpPr>
        <p:spPr>
          <a:xfrm>
            <a:off x="8094084" y="661330"/>
            <a:ext cx="16751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15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2A700DA-CC90-4424-B0F5-DB189996B4EA}"/>
              </a:ext>
            </a:extLst>
          </p:cNvPr>
          <p:cNvGraphicFramePr>
            <a:graphicFrameLocks noGrp="1"/>
          </p:cNvGraphicFramePr>
          <p:nvPr/>
        </p:nvGraphicFramePr>
        <p:xfrm>
          <a:off x="1671217" y="2401369"/>
          <a:ext cx="3975202" cy="107736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14632">
                  <a:extLst>
                    <a:ext uri="{9D8B030D-6E8A-4147-A177-3AD203B41FA5}">
                      <a16:colId xmlns:a16="http://schemas.microsoft.com/office/drawing/2014/main" val="2899342561"/>
                    </a:ext>
                  </a:extLst>
                </a:gridCol>
                <a:gridCol w="841793">
                  <a:extLst>
                    <a:ext uri="{9D8B030D-6E8A-4147-A177-3AD203B41FA5}">
                      <a16:colId xmlns:a16="http://schemas.microsoft.com/office/drawing/2014/main" val="3531037804"/>
                    </a:ext>
                  </a:extLst>
                </a:gridCol>
                <a:gridCol w="635035">
                  <a:extLst>
                    <a:ext uri="{9D8B030D-6E8A-4147-A177-3AD203B41FA5}">
                      <a16:colId xmlns:a16="http://schemas.microsoft.com/office/drawing/2014/main" val="739324182"/>
                    </a:ext>
                  </a:extLst>
                </a:gridCol>
                <a:gridCol w="592699">
                  <a:extLst>
                    <a:ext uri="{9D8B030D-6E8A-4147-A177-3AD203B41FA5}">
                      <a16:colId xmlns:a16="http://schemas.microsoft.com/office/drawing/2014/main" val="851945989"/>
                    </a:ext>
                  </a:extLst>
                </a:gridCol>
                <a:gridCol w="598344">
                  <a:extLst>
                    <a:ext uri="{9D8B030D-6E8A-4147-A177-3AD203B41FA5}">
                      <a16:colId xmlns:a16="http://schemas.microsoft.com/office/drawing/2014/main" val="284588243"/>
                    </a:ext>
                  </a:extLst>
                </a:gridCol>
                <a:gridCol w="592699">
                  <a:extLst>
                    <a:ext uri="{9D8B030D-6E8A-4147-A177-3AD203B41FA5}">
                      <a16:colId xmlns:a16="http://schemas.microsoft.com/office/drawing/2014/main" val="2308164719"/>
                    </a:ext>
                  </a:extLst>
                </a:gridCol>
              </a:tblGrid>
              <a:tr h="11042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동</a:t>
                      </a:r>
                      <a:endParaRPr lang="ko-KR" altLang="en-US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라인</a:t>
                      </a:r>
                      <a:endParaRPr lang="ko-KR" altLang="en-US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검사기 수</a:t>
                      </a:r>
                      <a:endParaRPr lang="ko-KR" altLang="en-US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Total</a:t>
                      </a:r>
                      <a:endParaRPr lang="en-US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45449075"/>
                  </a:ext>
                </a:extLst>
              </a:tr>
              <a:tr h="1477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개통</a:t>
                      </a:r>
                      <a:r>
                        <a:rPr lang="en-US" altLang="ko-KR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검증 대상</a:t>
                      </a:r>
                      <a:endParaRPr lang="ko-KR" altLang="en-US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실적</a:t>
                      </a:r>
                      <a:endParaRPr lang="ko-KR" altLang="en-US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u="none" strike="noStrike" dirty="0" err="1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진척률</a:t>
                      </a:r>
                      <a:r>
                        <a:rPr lang="ko-KR" altLang="en-US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en-US" altLang="ko-KR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(%)</a:t>
                      </a:r>
                      <a:endParaRPr lang="en-US" altLang="ko-KR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0938909"/>
                  </a:ext>
                </a:extLst>
              </a:tr>
              <a:tr h="110424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[M8]NJ6_A</a:t>
                      </a:r>
                      <a:endParaRPr lang="en-US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EGL1#</a:t>
                      </a:r>
                      <a:endParaRPr lang="en-US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27</a:t>
                      </a:r>
                      <a:endParaRPr lang="en-US" altLang="ko-KR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405</a:t>
                      </a:r>
                      <a:endParaRPr lang="en-US" altLang="ko-KR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51.6%</a:t>
                      </a:r>
                      <a:endParaRPr lang="en-US" altLang="ko-KR" sz="700" b="1" i="0" u="none" strike="noStrike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031797"/>
                  </a:ext>
                </a:extLst>
              </a:tr>
              <a:tr h="1104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EGL2#</a:t>
                      </a:r>
                      <a:endParaRPr lang="en-US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27</a:t>
                      </a:r>
                      <a:endParaRPr lang="en-US" altLang="ko-KR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405</a:t>
                      </a:r>
                      <a:endParaRPr lang="en-US" altLang="ko-KR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24.7%</a:t>
                      </a:r>
                      <a:endParaRPr lang="en-US" altLang="ko-KR" sz="700" b="1" i="0" u="none" strike="noStrike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1283887"/>
                  </a:ext>
                </a:extLst>
              </a:tr>
              <a:tr h="1104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Plug EGL1# </a:t>
                      </a:r>
                      <a:endParaRPr lang="en-US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76.7%</a:t>
                      </a:r>
                      <a:endParaRPr lang="en-US" altLang="ko-KR" sz="700" b="1" i="0" u="none" strike="noStrike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2774993"/>
                  </a:ext>
                </a:extLst>
              </a:tr>
              <a:tr h="1104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Plug EGL2# </a:t>
                      </a:r>
                      <a:endParaRPr lang="en-US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76.7%</a:t>
                      </a:r>
                      <a:endParaRPr lang="en-US" altLang="ko-KR" sz="700" b="1" i="0" u="none" strike="noStrike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6390611"/>
                  </a:ext>
                </a:extLst>
              </a:tr>
              <a:tr h="1104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Form DEV #01</a:t>
                      </a:r>
                      <a:endParaRPr lang="en-US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en-US" altLang="ko-KR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15</a:t>
                      </a:r>
                      <a:endParaRPr lang="en-US" altLang="ko-KR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93.3%</a:t>
                      </a:r>
                      <a:endParaRPr lang="en-US" altLang="ko-KR" sz="700" b="1" i="0" u="none" strike="noStrike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3414436"/>
                  </a:ext>
                </a:extLst>
              </a:tr>
              <a:tr h="1104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Form DEV #02</a:t>
                      </a:r>
                      <a:endParaRPr lang="en-US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en-US" altLang="ko-KR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15</a:t>
                      </a:r>
                      <a:endParaRPr lang="en-US" altLang="ko-KR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u="none" strike="noStrike" dirty="0">
                          <a:ln>
                            <a:noFill/>
                          </a:ln>
                          <a:effectLst/>
                          <a:latin typeface="+mj-ea"/>
                          <a:ea typeface="+mj-ea"/>
                        </a:rPr>
                        <a:t>73.3%</a:t>
                      </a:r>
                      <a:endParaRPr lang="en-US" altLang="ko-KR" sz="7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072070"/>
                  </a:ext>
                </a:extLst>
              </a:tr>
              <a:tr h="110424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합계</a:t>
                      </a:r>
                      <a:endParaRPr lang="en-US" sz="7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42.3%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951029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D603E59-53D9-33DC-8A73-977904EC1C83}"/>
              </a:ext>
            </a:extLst>
          </p:cNvPr>
          <p:cNvGraphicFramePr>
            <a:graphicFrameLocks noGrp="1"/>
          </p:cNvGraphicFramePr>
          <p:nvPr/>
        </p:nvGraphicFramePr>
        <p:xfrm>
          <a:off x="1285724" y="3790890"/>
          <a:ext cx="8176251" cy="220378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8485">
                  <a:extLst>
                    <a:ext uri="{9D8B030D-6E8A-4147-A177-3AD203B41FA5}">
                      <a16:colId xmlns:a16="http://schemas.microsoft.com/office/drawing/2014/main" val="411834105"/>
                    </a:ext>
                  </a:extLst>
                </a:gridCol>
                <a:gridCol w="593766">
                  <a:extLst>
                    <a:ext uri="{9D8B030D-6E8A-4147-A177-3AD203B41FA5}">
                      <a16:colId xmlns:a16="http://schemas.microsoft.com/office/drawing/2014/main" val="13265420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39536093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61950806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9764349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91427447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334995459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94987221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74534251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13627741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05987128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12993855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59610513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92697829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781697555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96141676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80764365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48018331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094530860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1812873712"/>
                    </a:ext>
                  </a:extLst>
                </a:gridCol>
              </a:tblGrid>
              <a:tr h="248345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ZZS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TWF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Sepa </a:t>
                      </a:r>
                    </a:p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Sealing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Cell Insertion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Flange </a:t>
                      </a:r>
                    </a:p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Welding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Plug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Welding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Flange </a:t>
                      </a:r>
                    </a:p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Cutting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합계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508713"/>
                  </a:ext>
                </a:extLst>
              </a:tr>
              <a:tr h="133874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업체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YS / 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LEAD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CY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YS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UW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NF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9815830"/>
                  </a:ext>
                </a:extLst>
              </a:tr>
              <a:tr h="350250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검사기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Electrode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Cathode</a:t>
                      </a:r>
                    </a:p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Electrode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Anode</a:t>
                      </a:r>
                    </a:p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Electrode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Blanking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Cathode</a:t>
                      </a:r>
                    </a:p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Blanking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Anode</a:t>
                      </a:r>
                    </a:p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Blanking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ZZS</a:t>
                      </a:r>
                      <a:b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Stack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AOI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Taping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AOI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Welding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AOI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AOI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Plug </a:t>
                      </a:r>
                    </a:p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Welding</a:t>
                      </a:r>
                    </a:p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(3D)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Plug 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Welding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(Top)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Plug 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Welding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(Side)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Flange</a:t>
                      </a:r>
                    </a:p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Cutting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0230996"/>
                  </a:ext>
                </a:extLst>
              </a:tr>
              <a:tr h="133874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대수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5302098"/>
                  </a:ext>
                </a:extLst>
              </a:tr>
              <a:tr h="133874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개통수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30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419480"/>
                  </a:ext>
                </a:extLst>
              </a:tr>
              <a:tr h="133874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개통률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50%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25%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50%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8842021"/>
                  </a:ext>
                </a:extLst>
              </a:tr>
              <a:tr h="133874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적합률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33%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33%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33%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30%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97%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87%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93%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83%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41%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6372034"/>
                  </a:ext>
                </a:extLst>
              </a:tr>
              <a:tr h="133874"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개통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rtl="0" fontAlgn="ctr"/>
                      <a:r>
                        <a:rPr lang="en-US" sz="8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JSON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 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 (17/17)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7327980"/>
                  </a:ext>
                </a:extLst>
              </a:tr>
              <a:tr h="242621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JSON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샘플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100% (17/17)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4110749"/>
                  </a:ext>
                </a:extLst>
              </a:tr>
              <a:tr h="13387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Ping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테스트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 (17/17)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73225"/>
                  </a:ext>
                </a:extLst>
              </a:tr>
              <a:tr h="133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Solace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전송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82% (14/17)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8451520"/>
                  </a:ext>
                </a:extLst>
              </a:tr>
              <a:tr h="1338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DB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수집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82% (14/17)</a:t>
                      </a:r>
                      <a:endPara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5656854"/>
                  </a:ext>
                </a:extLst>
              </a:tr>
              <a:tr h="125871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이미지 전송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OK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77% (13/17)</a:t>
                      </a:r>
                      <a:endParaRPr lang="en-US" altLang="ko-KR" sz="800" b="1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1485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408640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25730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검사 이미지 재판정 시스템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(</a:t>
            </a:r>
            <a:r>
              <a:rPr lang="en-US" altLang="ko-KR" sz="1400" b="1">
                <a:solidFill>
                  <a:prstClr val="black"/>
                </a:solidFill>
                <a:latin typeface="Arial Narrow" panose="020B0606020202030204" pitchFamily="34" charset="0"/>
                <a:ea typeface="+mj-ea"/>
                <a:cs typeface="Malgun Gothic Semilight" panose="020B0502040204020203" pitchFamily="50" charset="-127"/>
              </a:rPr>
              <a:t>IRS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)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 구축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확산 </a:t>
            </a: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AD13EBAF-CF19-4CA5-9443-8E67AD0BCF7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061BA9D-43A8-45A3-924F-0D9D50B62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702209" y="3061608"/>
            <a:ext cx="9906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ko-KR" altLang="en-US"/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2E829F73-A248-40AD-B7A6-D21BCFADF892}"/>
              </a:ext>
            </a:extLst>
          </p:cNvPr>
          <p:cNvSpPr txBox="1">
            <a:spLocks/>
          </p:cNvSpPr>
          <p:nvPr/>
        </p:nvSpPr>
        <p:spPr>
          <a:xfrm>
            <a:off x="5644298" y="58407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DX-#3,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BA73605-4D31-D9D7-E1FA-05AF464FA3A6}"/>
              </a:ext>
            </a:extLst>
          </p:cNvPr>
          <p:cNvSpPr txBox="1"/>
          <p:nvPr/>
        </p:nvSpPr>
        <p:spPr>
          <a:xfrm>
            <a:off x="8000706" y="572550"/>
            <a:ext cx="168636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j-lt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 dirty="0">
                <a:latin typeface="+mj-lt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12/16 (</a:t>
            </a:r>
            <a:r>
              <a:rPr lang="ko-KR" altLang="en-US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lang="en-US" altLang="ko-KR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10</a:t>
            </a:r>
            <a:r>
              <a:rPr lang="ko-KR" altLang="en-US" dirty="0">
                <a:latin typeface="+mj-lt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8F87A137-F301-6866-B919-2DD7EE6B483F}"/>
              </a:ext>
            </a:extLst>
          </p:cNvPr>
          <p:cNvSpPr txBox="1">
            <a:spLocks/>
          </p:cNvSpPr>
          <p:nvPr/>
        </p:nvSpPr>
        <p:spPr>
          <a:xfrm>
            <a:off x="8726867" y="403273"/>
            <a:ext cx="96019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김태원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378A4D3-ACA8-AFF9-06EE-B7DB729E95EB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54517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93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517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이미지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재판정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시스템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(IRS)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확산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전사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(51W)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IRS 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정기배포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건에 대한 배포 및 모니터링 진행 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HG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 일정에 맞추어 프로젝트 준비 진행중에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1.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원통형 검사 이미지 재판정 시스템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(IRS)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구축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확산</a:t>
                      </a: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구축 목적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현업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Needs(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소형양산품질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를 반영하여 이슈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발생시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선별 및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BMPD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발생 시 품질 변동 확인을 위한 이미지 재검사 시스템으로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Concept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확정하였으며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2170/4680 15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종 검사기를 대상으로 구축 진행 중입니다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원통형 이미지 재판정 확산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(NJ – 8/27 Open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- NJ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잔여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18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개 라인에 대한 확산전개 진행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(9/30)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활성화 배출 연동 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오창 원통형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IRS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MP2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라인 확산 대응 완료하였으며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(10/17), MQ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컬럼 추가 작업 이후 활성화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MES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배출 연동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(10/21)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2.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자동차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/ESS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검사 이미지 재판정 신규 법인 확산</a:t>
                      </a: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구축 목적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알고리즘 기반 상시 전수 검사 체계를 구축하여 불량 유출을 방지하기 위한 시스템으로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Site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단계별 운영 및 확산전개 진행중에 있습니다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현황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- HD : IRS WEB DFS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연결이 끊어지지 않는 현상으로 인해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IRS WEB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접속 불가 현상 발생으로 인한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HD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법인 이미지 다운로드 방식 변경 진행 중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          -.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11/28 : IRS Web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서버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IIS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가상 디렉토리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NFS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접근 방식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 Network Mount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방식으로 변경 모니터링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             -. 12/2 : FTP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연결 방식 전환 소스 변경 관련 개발 완료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및 성능 검토 진행중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, NFS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방식의 경우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SMB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  <a:sym typeface="Wingdings" panose="05000000000000000000" pitchFamily="2" charset="2"/>
                        </a:rPr>
                        <a:t>설정 변경 후 모니터링 진행중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- HG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2/4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오픈 일정에 맞추어 프로젝트 진행 착수 하였으며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IRS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신규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VM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점검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기준정보 점검 진행 예정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- WA 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동일 데이터에 대한 배출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/Hold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프로시져 중복 실행으로 인한 데이터 정합성 오류 내용 확인 및 조치 필요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(~12/18)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   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’25.10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김태원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김효정</a:t>
                      </a:r>
                      <a:r>
                        <a:rPr lang="en-US" altLang="ko-KR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7C24DE3A-9486-E2F4-892B-9F04D3374164}"/>
              </a:ext>
            </a:extLst>
          </p:cNvPr>
          <p:cNvGraphicFramePr>
            <a:graphicFrameLocks noGrp="1"/>
          </p:cNvGraphicFramePr>
          <p:nvPr/>
        </p:nvGraphicFramePr>
        <p:xfrm>
          <a:off x="1511030" y="1607227"/>
          <a:ext cx="7090427" cy="1290578"/>
        </p:xfrm>
        <a:graphic>
          <a:graphicData uri="http://schemas.openxmlformats.org/drawingml/2006/table">
            <a:tbl>
              <a:tblPr/>
              <a:tblGrid>
                <a:gridCol w="633602">
                  <a:extLst>
                    <a:ext uri="{9D8B030D-6E8A-4147-A177-3AD203B41FA5}">
                      <a16:colId xmlns:a16="http://schemas.microsoft.com/office/drawing/2014/main" val="1503965537"/>
                    </a:ext>
                  </a:extLst>
                </a:gridCol>
                <a:gridCol w="798095">
                  <a:extLst>
                    <a:ext uri="{9D8B030D-6E8A-4147-A177-3AD203B41FA5}">
                      <a16:colId xmlns:a16="http://schemas.microsoft.com/office/drawing/2014/main" val="3608598191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3440950580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1514511400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1240030478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1358415369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2621650101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3607542330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2069683400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1284198339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3316002131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57768835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326414446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3732501551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1412033262"/>
                    </a:ext>
                  </a:extLst>
                </a:gridCol>
                <a:gridCol w="404195">
                  <a:extLst>
                    <a:ext uri="{9D8B030D-6E8A-4147-A177-3AD203B41FA5}">
                      <a16:colId xmlns:a16="http://schemas.microsoft.com/office/drawing/2014/main" val="1046907400"/>
                    </a:ext>
                  </a:extLst>
                </a:gridCol>
              </a:tblGrid>
              <a:tr h="17143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</a:t>
                      </a:r>
                      <a:endParaRPr lang="ko-KR" altLang="en-US" sz="10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NA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NJ</a:t>
                      </a:r>
                      <a:endParaRPr lang="ko-KR" altLang="en-US" sz="10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MIL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AZ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564925"/>
                  </a:ext>
                </a:extLst>
              </a:tr>
              <a:tr h="25151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원통형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2170 2</a:t>
                      </a:r>
                      <a:r>
                        <a:rPr lang="ko-KR" altLang="en-US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’24.12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kumimoji="0"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’25.08</a:t>
                      </a:r>
                      <a:endParaRPr kumimoji="0"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○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’26.2Q.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607489"/>
                  </a:ext>
                </a:extLst>
              </a:tr>
              <a:tr h="2515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5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2170 6</a:t>
                      </a:r>
                      <a:r>
                        <a:rPr lang="ko-KR" altLang="en-US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종</a:t>
                      </a:r>
                      <a:endParaRPr lang="en-US" altLang="ko-KR" sz="10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46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Φ</a:t>
                      </a:r>
                      <a:r>
                        <a:rPr lang="en-US" altLang="ko-KR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7</a:t>
                      </a:r>
                      <a:r>
                        <a:rPr lang="ko-KR" altLang="en-US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’25.04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aseline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aseline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9420970"/>
                  </a:ext>
                </a:extLst>
              </a:tr>
              <a:tr h="20474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자동차</a:t>
                      </a:r>
                      <a:r>
                        <a:rPr lang="en-US" altLang="ko-KR" sz="10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/ESS</a:t>
                      </a:r>
                      <a:endParaRPr lang="ko-KR" altLang="en-US" sz="10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PKG</a:t>
                      </a:r>
                      <a:endParaRPr lang="ko-KR" altLang="en-US" sz="10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◐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’26.02.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6361232"/>
                  </a:ext>
                </a:extLst>
              </a:tr>
              <a:tr h="2515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5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STK/FOL</a:t>
                      </a:r>
                      <a:endParaRPr lang="ko-KR" altLang="en-US" sz="10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’25.02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08172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AC00038C-B5C7-F6CD-3EEF-315F807C6FC4}"/>
              </a:ext>
            </a:extLst>
          </p:cNvPr>
          <p:cNvSpPr txBox="1"/>
          <p:nvPr/>
        </p:nvSpPr>
        <p:spPr>
          <a:xfrm>
            <a:off x="6272213" y="2863788"/>
            <a:ext cx="246744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/>
              <a:t>● </a:t>
            </a:r>
            <a:r>
              <a:rPr lang="en-US" altLang="ko-KR" sz="900"/>
              <a:t>:</a:t>
            </a:r>
            <a:r>
              <a:rPr lang="ko-KR" altLang="en-US" sz="900"/>
              <a:t> </a:t>
            </a:r>
            <a:r>
              <a:rPr lang="ko-KR" altLang="en-US" sz="900" err="1"/>
              <a:t>운영중</a:t>
            </a:r>
            <a:r>
              <a:rPr lang="en-US" altLang="ko-KR" sz="900"/>
              <a:t>, </a:t>
            </a:r>
            <a:r>
              <a:rPr lang="ko-KR" altLang="en-US" sz="900"/>
              <a:t>◐ </a:t>
            </a:r>
            <a:r>
              <a:rPr lang="en-US" altLang="ko-KR" sz="900"/>
              <a:t>: </a:t>
            </a:r>
            <a:r>
              <a:rPr lang="ko-KR" altLang="en-US" sz="900" err="1"/>
              <a:t>구축중</a:t>
            </a:r>
            <a:r>
              <a:rPr lang="en-US" altLang="ko-KR" sz="900"/>
              <a:t>, </a:t>
            </a:r>
            <a:r>
              <a:rPr lang="ko-KR" altLang="en-US" sz="900"/>
              <a:t>○ </a:t>
            </a:r>
            <a:r>
              <a:rPr lang="en-US" altLang="ko-KR" sz="900"/>
              <a:t>:</a:t>
            </a:r>
            <a:r>
              <a:rPr lang="ko-KR" altLang="en-US" sz="900"/>
              <a:t> 구축예정</a:t>
            </a:r>
            <a:r>
              <a:rPr lang="en-US" altLang="ko-KR" sz="900"/>
              <a:t>, - : </a:t>
            </a:r>
            <a:r>
              <a:rPr lang="ko-KR" altLang="en-US" sz="900"/>
              <a:t>비대상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2296A98-54B5-9220-8D69-DA7BCEF87656}"/>
              </a:ext>
            </a:extLst>
          </p:cNvPr>
          <p:cNvGraphicFramePr>
            <a:graphicFrameLocks noGrp="1"/>
          </p:cNvGraphicFramePr>
          <p:nvPr/>
        </p:nvGraphicFramePr>
        <p:xfrm>
          <a:off x="1612630" y="5679804"/>
          <a:ext cx="3327669" cy="78345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1697">
                  <a:extLst>
                    <a:ext uri="{9D8B030D-6E8A-4147-A177-3AD203B41FA5}">
                      <a16:colId xmlns:a16="http://schemas.microsoft.com/office/drawing/2014/main" val="682904292"/>
                    </a:ext>
                  </a:extLst>
                </a:gridCol>
                <a:gridCol w="431697">
                  <a:extLst>
                    <a:ext uri="{9D8B030D-6E8A-4147-A177-3AD203B41FA5}">
                      <a16:colId xmlns:a16="http://schemas.microsoft.com/office/drawing/2014/main" val="780643931"/>
                    </a:ext>
                  </a:extLst>
                </a:gridCol>
                <a:gridCol w="492855">
                  <a:extLst>
                    <a:ext uri="{9D8B030D-6E8A-4147-A177-3AD203B41FA5}">
                      <a16:colId xmlns:a16="http://schemas.microsoft.com/office/drawing/2014/main" val="2018946150"/>
                    </a:ext>
                  </a:extLst>
                </a:gridCol>
                <a:gridCol w="492855">
                  <a:extLst>
                    <a:ext uri="{9D8B030D-6E8A-4147-A177-3AD203B41FA5}">
                      <a16:colId xmlns:a16="http://schemas.microsoft.com/office/drawing/2014/main" val="4135952293"/>
                    </a:ext>
                  </a:extLst>
                </a:gridCol>
                <a:gridCol w="492855">
                  <a:extLst>
                    <a:ext uri="{9D8B030D-6E8A-4147-A177-3AD203B41FA5}">
                      <a16:colId xmlns:a16="http://schemas.microsoft.com/office/drawing/2014/main" val="613660328"/>
                    </a:ext>
                  </a:extLst>
                </a:gridCol>
                <a:gridCol w="492855">
                  <a:extLst>
                    <a:ext uri="{9D8B030D-6E8A-4147-A177-3AD203B41FA5}">
                      <a16:colId xmlns:a16="http://schemas.microsoft.com/office/drawing/2014/main" val="3687324148"/>
                    </a:ext>
                  </a:extLst>
                </a:gridCol>
                <a:gridCol w="492855">
                  <a:extLst>
                    <a:ext uri="{9D8B030D-6E8A-4147-A177-3AD203B41FA5}">
                      <a16:colId xmlns:a16="http://schemas.microsoft.com/office/drawing/2014/main" val="4189979918"/>
                    </a:ext>
                  </a:extLst>
                </a:gridCol>
              </a:tblGrid>
              <a:tr h="21891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  <a:endParaRPr lang="ko-KR" altLang="en-US" sz="800" b="1" baseline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ESMIL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ESHD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ESST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ESHG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ESAZ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0556167"/>
                  </a:ext>
                </a:extLst>
              </a:tr>
              <a:tr h="1555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Open</a:t>
                      </a:r>
                      <a:endParaRPr 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27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endParaRPr 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09</a:t>
                      </a:r>
                      <a:r>
                        <a:rPr lang="ko-KR" altLang="en-US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 </a:t>
                      </a:r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</a:t>
                      </a:r>
                      <a:r>
                        <a:rPr lang="ko-KR" altLang="en-US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09</a:t>
                      </a:r>
                      <a:r>
                        <a:rPr lang="ko-KR" altLang="en-US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 </a:t>
                      </a:r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30</a:t>
                      </a:r>
                      <a:r>
                        <a:rPr lang="ko-KR" altLang="en-US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</a:t>
                      </a:r>
                      <a:endParaRPr lang="ko-KR" altLang="en-US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26.2Q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9060867"/>
                  </a:ext>
                </a:extLst>
              </a:tr>
              <a:tr h="23949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u="none" strike="noStrike" baseline="0"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출장 기간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8/18~8/29</a:t>
                      </a:r>
                      <a:endParaRPr lang="ko-KR" altLang="en-US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9/5~9/14 </a:t>
                      </a:r>
                    </a:p>
                    <a:p>
                      <a:pPr algn="ctr" rtl="0" fontAlgn="ctr"/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(9/15~ :</a:t>
                      </a:r>
                      <a:r>
                        <a:rPr lang="ko-KR" altLang="en-US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원격대응</a:t>
                      </a:r>
                      <a:r>
                        <a:rPr lang="en-US" altLang="ko-KR" sz="80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10/31~11/15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1/23~2/12</a:t>
                      </a:r>
                      <a:endParaRPr lang="en-US" altLang="ko-KR" sz="8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23289"/>
                  </a:ext>
                </a:extLst>
              </a:tr>
              <a:tr h="15559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출장 인원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김태원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김효정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김태원</a:t>
                      </a:r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 baseline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3927649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08F91CF-7F52-69BD-E4C5-A3EE0BC2FF58}"/>
              </a:ext>
            </a:extLst>
          </p:cNvPr>
          <p:cNvSpPr txBox="1"/>
          <p:nvPr/>
        </p:nvSpPr>
        <p:spPr>
          <a:xfrm>
            <a:off x="4883190" y="5488288"/>
            <a:ext cx="378370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*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상기 건 外 </a:t>
            </a:r>
            <a:r>
              <a:rPr lang="en-US" altLang="ko-KR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IRS </a:t>
            </a:r>
            <a:r>
              <a:rPr lang="ko-KR" altLang="en-US" sz="800" b="1">
                <a:latin typeface="Arial Narrow" panose="020B0606020202030204" pitchFamily="34" charset="0"/>
                <a:ea typeface="LG스마트체 Regular" panose="020B0600000101010101" pitchFamily="50" charset="-127"/>
              </a:rPr>
              <a:t>시스템 확산 관련 예가 검토 진행 내역</a:t>
            </a:r>
            <a:endParaRPr lang="en-US" altLang="ko-KR" sz="800" b="1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1.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자동차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/ESS Phase3 (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이슈선별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/BMPD) 4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 법인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(WA/MI/NB/OC)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예가 품질 전달 완료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(6/27)</a:t>
            </a:r>
          </a:p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2.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원통형 인도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JV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예가 검토 완료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(7/4)</a:t>
            </a:r>
          </a:p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3. ESWA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원통형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IRS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예가 검토 완료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(7/8)</a:t>
            </a:r>
          </a:p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4. ESGM2 IRS Phase2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예가 검토 완료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(7/10)</a:t>
            </a:r>
          </a:p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5. ESAZ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원통형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IRS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증설 예가 반영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,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필요시 제외 후 별도 진행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6. AI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연구원 과제 알고리즘 모델 학습 관련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UI/UX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개발 예가 산정 및 전달 완료</a:t>
            </a:r>
            <a:endParaRPr lang="en-US" altLang="ko-KR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  7.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각형 제품류에 대한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IRS 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 예가 검토 진행 완료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47483C-305A-08A1-19CA-04E54C8D3405}"/>
              </a:ext>
            </a:extLst>
          </p:cNvPr>
          <p:cNvSpPr txBox="1"/>
          <p:nvPr/>
        </p:nvSpPr>
        <p:spPr>
          <a:xfrm>
            <a:off x="1511030" y="5488288"/>
            <a:ext cx="157631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b="1">
                <a:latin typeface="+mj-ea"/>
                <a:ea typeface="+mj-ea"/>
              </a:rPr>
              <a:t>[</a:t>
            </a:r>
            <a:r>
              <a:rPr lang="ko-KR" altLang="en-US" sz="900" b="1" err="1">
                <a:latin typeface="+mj-ea"/>
                <a:ea typeface="+mj-ea"/>
              </a:rPr>
              <a:t>법인별</a:t>
            </a:r>
            <a:r>
              <a:rPr lang="ko-KR" altLang="en-US" sz="900" b="1">
                <a:latin typeface="+mj-ea"/>
                <a:ea typeface="+mj-ea"/>
              </a:rPr>
              <a:t> 출장 대응 일정</a:t>
            </a:r>
            <a:r>
              <a:rPr lang="en-US" altLang="ko-KR" sz="900" b="1">
                <a:latin typeface="+mj-ea"/>
                <a:ea typeface="+mj-ea"/>
              </a:rPr>
              <a:t>]</a:t>
            </a:r>
            <a:endParaRPr lang="ko-KR" altLang="en-US" sz="900" b="1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786384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제목 1">
            <a:extLst>
              <a:ext uri="{FF2B5EF4-FFF2-40B4-BE49-F238E27FC236}">
                <a16:creationId xmlns:a16="http://schemas.microsoft.com/office/drawing/2014/main" id="{33463036-9273-403C-B574-F3B0ABCB999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0A6B9B1-2049-4F02-8BC7-789DACC7CF8E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29843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IRS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–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 정기배포</a:t>
            </a:r>
          </a:p>
        </p:txBody>
      </p:sp>
      <p:sp>
        <p:nvSpPr>
          <p:cNvPr id="100" name="내용 개체 틀 20">
            <a:extLst>
              <a:ext uri="{FF2B5EF4-FFF2-40B4-BE49-F238E27FC236}">
                <a16:creationId xmlns:a16="http://schemas.microsoft.com/office/drawing/2014/main" id="{CF1E0A5A-A136-439C-BD89-AB581D19EC28}"/>
              </a:ext>
            </a:extLst>
          </p:cNvPr>
          <p:cNvSpPr txBox="1">
            <a:spLocks/>
          </p:cNvSpPr>
          <p:nvPr/>
        </p:nvSpPr>
        <p:spPr>
          <a:xfrm>
            <a:off x="5765745" y="58407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DX-#3,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101" name="내용 개체 틀 20">
            <a:extLst>
              <a:ext uri="{FF2B5EF4-FFF2-40B4-BE49-F238E27FC236}">
                <a16:creationId xmlns:a16="http://schemas.microsoft.com/office/drawing/2014/main" id="{CCE57AEB-F20A-4A9F-9615-A03C8C322118}"/>
              </a:ext>
            </a:extLst>
          </p:cNvPr>
          <p:cNvSpPr txBox="1">
            <a:spLocks/>
          </p:cNvSpPr>
          <p:nvPr/>
        </p:nvSpPr>
        <p:spPr>
          <a:xfrm>
            <a:off x="8776889" y="403273"/>
            <a:ext cx="93936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김태원</a:t>
            </a:r>
            <a:r>
              <a:rPr lang="en-US" altLang="ko-KR" sz="1100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E1E7E7A8-1A8B-4651-9067-51777F63F650}"/>
              </a:ext>
            </a:extLst>
          </p:cNvPr>
          <p:cNvSpPr txBox="1"/>
          <p:nvPr/>
        </p:nvSpPr>
        <p:spPr>
          <a:xfrm>
            <a:off x="8061950" y="572550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lang="ko-KR" altLang="en-US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lang="en-US" altLang="ko-KR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10</a:t>
            </a:r>
            <a:r>
              <a:rPr lang="ko-KR" altLang="en-US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2AB13001-29A4-DAAE-23BA-3929334A62E7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6232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IRS -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정기배포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전사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(51W)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12/9 IRS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정기배포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건 모니터링 결과 특이사항 없으며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Roll Back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JPC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건에 대해 차기 정기배포 진행 예정입니다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.(1/20)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IRS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주 간격으로 정기배포를 통해 기능개선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기능오류 등의 개발 건을 운영에 적용하고 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IRS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이미지 재검사 룸 판정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기능에 대한 내용을 포함하고 있으며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배포통제 시스템을 통해 관리하고 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[12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9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 배포 진행 항목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김태원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김효정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5" name="Group 986">
            <a:extLst>
              <a:ext uri="{FF2B5EF4-FFF2-40B4-BE49-F238E27FC236}">
                <a16:creationId xmlns:a16="http://schemas.microsoft.com/office/drawing/2014/main" id="{D3B33250-9CCB-1ED4-EFB3-98B552130EB6}"/>
              </a:ext>
            </a:extLst>
          </p:cNvPr>
          <p:cNvGraphicFramePr>
            <a:graphicFrameLocks noGrp="1"/>
          </p:cNvGraphicFramePr>
          <p:nvPr/>
        </p:nvGraphicFramePr>
        <p:xfrm>
          <a:off x="1639743" y="2192451"/>
          <a:ext cx="7051677" cy="956892"/>
        </p:xfrm>
        <a:graphic>
          <a:graphicData uri="http://schemas.openxmlformats.org/drawingml/2006/table">
            <a:tbl>
              <a:tblPr/>
              <a:tblGrid>
                <a:gridCol w="422791">
                  <a:extLst>
                    <a:ext uri="{9D8B030D-6E8A-4147-A177-3AD203B41FA5}">
                      <a16:colId xmlns:a16="http://schemas.microsoft.com/office/drawing/2014/main" val="977375500"/>
                    </a:ext>
                  </a:extLst>
                </a:gridCol>
                <a:gridCol w="553042">
                  <a:extLst>
                    <a:ext uri="{9D8B030D-6E8A-4147-A177-3AD203B41FA5}">
                      <a16:colId xmlns:a16="http://schemas.microsoft.com/office/drawing/2014/main" val="3551264532"/>
                    </a:ext>
                  </a:extLst>
                </a:gridCol>
                <a:gridCol w="553042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553042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553042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553042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553042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553042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553042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  <a:gridCol w="534887">
                  <a:extLst>
                    <a:ext uri="{9D8B030D-6E8A-4147-A177-3AD203B41FA5}">
                      <a16:colId xmlns:a16="http://schemas.microsoft.com/office/drawing/2014/main" val="3383282952"/>
                    </a:ext>
                  </a:extLst>
                </a:gridCol>
                <a:gridCol w="539689">
                  <a:extLst>
                    <a:ext uri="{9D8B030D-6E8A-4147-A177-3AD203B41FA5}">
                      <a16:colId xmlns:a16="http://schemas.microsoft.com/office/drawing/2014/main" val="1298559629"/>
                    </a:ext>
                  </a:extLst>
                </a:gridCol>
                <a:gridCol w="564987">
                  <a:extLst>
                    <a:ext uri="{9D8B030D-6E8A-4147-A177-3AD203B41FA5}">
                      <a16:colId xmlns:a16="http://schemas.microsoft.com/office/drawing/2014/main" val="2772226814"/>
                    </a:ext>
                  </a:extLst>
                </a:gridCol>
                <a:gridCol w="564987">
                  <a:extLst>
                    <a:ext uri="{9D8B030D-6E8A-4147-A177-3AD203B41FA5}">
                      <a16:colId xmlns:a16="http://schemas.microsoft.com/office/drawing/2014/main" val="1265908635"/>
                    </a:ext>
                  </a:extLst>
                </a:gridCol>
              </a:tblGrid>
              <a:tr h="13429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구분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1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25</a:t>
                      </a:r>
                      <a:r>
                        <a:rPr kumimoji="1" lang="ko-KR" altLang="en-US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34295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3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60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60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406614"/>
                  </a:ext>
                </a:extLst>
              </a:tr>
            </a:tbl>
          </a:graphicData>
        </a:graphic>
      </p:graphicFrame>
      <p:sp>
        <p:nvSpPr>
          <p:cNvPr id="36" name="모서리가 둥근 직사각형 164">
            <a:extLst>
              <a:ext uri="{FF2B5EF4-FFF2-40B4-BE49-F238E27FC236}">
                <a16:creationId xmlns:a16="http://schemas.microsoft.com/office/drawing/2014/main" id="{050CEE31-6E74-E44C-ECC7-DE4A89FDC6AD}"/>
              </a:ext>
            </a:extLst>
          </p:cNvPr>
          <p:cNvSpPr/>
          <p:nvPr/>
        </p:nvSpPr>
        <p:spPr>
          <a:xfrm>
            <a:off x="1643207" y="2507371"/>
            <a:ext cx="393945" cy="607491"/>
          </a:xfrm>
          <a:prstGeom prst="roundRect">
            <a:avLst/>
          </a:prstGeom>
          <a:solidFill>
            <a:schemeClr val="tx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36000" rIns="0" bIns="0" anchor="ctr" anchorCtr="1"/>
          <a:lstStyle/>
          <a:p>
            <a:pPr marL="0" marR="0" lvl="0" indent="0" algn="ctr" defTabSz="1022350" rtl="0" eaLnBrk="1" fontAlgn="base" latinLnBrk="0" hangingPunct="1"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>
                <a:solidFill>
                  <a:prstClr val="white"/>
                </a:solidFill>
                <a:latin typeface="+mj-ea"/>
                <a:ea typeface="+mj-ea"/>
                <a:cs typeface="Arial" pitchFamily="34" charset="0"/>
              </a:rPr>
              <a:t>배포</a:t>
            </a:r>
            <a:endParaRPr kumimoji="1" lang="en-US" altLang="ko-KR" sz="800" b="1" kern="0">
              <a:solidFill>
                <a:prstClr val="white"/>
              </a:solidFill>
              <a:latin typeface="+mj-ea"/>
              <a:ea typeface="+mj-ea"/>
              <a:cs typeface="Arial" pitchFamily="34" charset="0"/>
            </a:endParaRPr>
          </a:p>
          <a:p>
            <a:pPr marL="0" marR="0" lvl="0" indent="0" algn="ctr" defTabSz="1022350" rtl="0" eaLnBrk="1" fontAlgn="base" latinLnBrk="0" hangingPunct="1"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>
                <a:solidFill>
                  <a:prstClr val="white"/>
                </a:solidFill>
                <a:latin typeface="+mj-ea"/>
                <a:ea typeface="+mj-ea"/>
                <a:cs typeface="Arial" pitchFamily="34" charset="0"/>
              </a:rPr>
              <a:t>일자</a:t>
            </a:r>
            <a:endParaRPr kumimoji="1" lang="en-US" altLang="ko-KR" sz="800" b="1" kern="0">
              <a:solidFill>
                <a:prstClr val="white"/>
              </a:solidFill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37" name="Oval 113">
            <a:extLst>
              <a:ext uri="{FF2B5EF4-FFF2-40B4-BE49-F238E27FC236}">
                <a16:creationId xmlns:a16="http://schemas.microsoft.com/office/drawing/2014/main" id="{FEEB614C-EF78-FB79-7B95-A52AF9F1D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039" y="251285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21</a:t>
            </a:r>
          </a:p>
        </p:txBody>
      </p:sp>
      <p:sp>
        <p:nvSpPr>
          <p:cNvPr id="38" name="모서리가 둥근 직사각형 87">
            <a:extLst>
              <a:ext uri="{FF2B5EF4-FFF2-40B4-BE49-F238E27FC236}">
                <a16:creationId xmlns:a16="http://schemas.microsoft.com/office/drawing/2014/main" id="{ABBD06E3-4F94-2762-66DF-1B1A604D1945}"/>
              </a:ext>
            </a:extLst>
          </p:cNvPr>
          <p:cNvSpPr/>
          <p:nvPr/>
        </p:nvSpPr>
        <p:spPr>
          <a:xfrm>
            <a:off x="2206862" y="2528159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39" name="Oval 113">
            <a:extLst>
              <a:ext uri="{FF2B5EF4-FFF2-40B4-BE49-F238E27FC236}">
                <a16:creationId xmlns:a16="http://schemas.microsoft.com/office/drawing/2014/main" id="{73229C3C-ABE9-C9F4-6CC6-C1C1E0647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1912" y="250804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18</a:t>
            </a:r>
          </a:p>
        </p:txBody>
      </p:sp>
      <p:sp>
        <p:nvSpPr>
          <p:cNvPr id="40" name="모서리가 둥근 직사각형 87">
            <a:extLst>
              <a:ext uri="{FF2B5EF4-FFF2-40B4-BE49-F238E27FC236}">
                <a16:creationId xmlns:a16="http://schemas.microsoft.com/office/drawing/2014/main" id="{6151D879-3E90-E001-E1A2-E4B336F3DEE9}"/>
              </a:ext>
            </a:extLst>
          </p:cNvPr>
          <p:cNvSpPr/>
          <p:nvPr/>
        </p:nvSpPr>
        <p:spPr>
          <a:xfrm>
            <a:off x="2771735" y="252334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41" name="Oval 113">
            <a:extLst>
              <a:ext uri="{FF2B5EF4-FFF2-40B4-BE49-F238E27FC236}">
                <a16:creationId xmlns:a16="http://schemas.microsoft.com/office/drawing/2014/main" id="{3E4A0F91-E18F-8C1F-E466-A61876AC0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9237" y="251609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</a:t>
            </a: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</a:t>
            </a:r>
          </a:p>
        </p:txBody>
      </p:sp>
      <p:sp>
        <p:nvSpPr>
          <p:cNvPr id="42" name="모서리가 둥근 직사각형 87">
            <a:extLst>
              <a:ext uri="{FF2B5EF4-FFF2-40B4-BE49-F238E27FC236}">
                <a16:creationId xmlns:a16="http://schemas.microsoft.com/office/drawing/2014/main" id="{5DFAC8F4-20EA-5513-845B-9E5EF1FD297D}"/>
              </a:ext>
            </a:extLst>
          </p:cNvPr>
          <p:cNvSpPr/>
          <p:nvPr/>
        </p:nvSpPr>
        <p:spPr>
          <a:xfrm>
            <a:off x="3319060" y="253140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43" name="Oval 113">
            <a:extLst>
              <a:ext uri="{FF2B5EF4-FFF2-40B4-BE49-F238E27FC236}">
                <a16:creationId xmlns:a16="http://schemas.microsoft.com/office/drawing/2014/main" id="{504194DD-5898-98B7-B560-0EDDDE9EF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1912" y="267558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24</a:t>
            </a:r>
          </a:p>
        </p:txBody>
      </p:sp>
      <p:sp>
        <p:nvSpPr>
          <p:cNvPr id="44" name="모서리가 둥근 직사각형 87">
            <a:extLst>
              <a:ext uri="{FF2B5EF4-FFF2-40B4-BE49-F238E27FC236}">
                <a16:creationId xmlns:a16="http://schemas.microsoft.com/office/drawing/2014/main" id="{1A73F89B-8FAE-95C5-D26B-B85D820CD9AF}"/>
              </a:ext>
            </a:extLst>
          </p:cNvPr>
          <p:cNvSpPr/>
          <p:nvPr/>
        </p:nvSpPr>
        <p:spPr>
          <a:xfrm>
            <a:off x="2771735" y="2690892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45" name="Oval 113">
            <a:extLst>
              <a:ext uri="{FF2B5EF4-FFF2-40B4-BE49-F238E27FC236}">
                <a16:creationId xmlns:a16="http://schemas.microsoft.com/office/drawing/2014/main" id="{84B27AF3-AC2C-A260-2394-929D300D0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9899" y="267558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18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46" name="모서리가 둥근 직사각형 87">
            <a:extLst>
              <a:ext uri="{FF2B5EF4-FFF2-40B4-BE49-F238E27FC236}">
                <a16:creationId xmlns:a16="http://schemas.microsoft.com/office/drawing/2014/main" id="{B32140C3-4137-0DF4-83C9-869CF435C342}"/>
              </a:ext>
            </a:extLst>
          </p:cNvPr>
          <p:cNvSpPr/>
          <p:nvPr/>
        </p:nvSpPr>
        <p:spPr>
          <a:xfrm>
            <a:off x="3319722" y="2690892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47" name="Oval 113">
            <a:extLst>
              <a:ext uri="{FF2B5EF4-FFF2-40B4-BE49-F238E27FC236}">
                <a16:creationId xmlns:a16="http://schemas.microsoft.com/office/drawing/2014/main" id="{E035FCE2-1C7D-96AD-893C-1763A4C0B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3715" y="251934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</a:t>
            </a:r>
          </a:p>
        </p:txBody>
      </p:sp>
      <p:sp>
        <p:nvSpPr>
          <p:cNvPr id="48" name="모서리가 둥근 직사각형 87">
            <a:extLst>
              <a:ext uri="{FF2B5EF4-FFF2-40B4-BE49-F238E27FC236}">
                <a16:creationId xmlns:a16="http://schemas.microsoft.com/office/drawing/2014/main" id="{0428CCA0-A138-C6BC-886F-2092E854A34B}"/>
              </a:ext>
            </a:extLst>
          </p:cNvPr>
          <p:cNvSpPr/>
          <p:nvPr/>
        </p:nvSpPr>
        <p:spPr>
          <a:xfrm>
            <a:off x="3873538" y="2534649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49" name="Oval 113">
            <a:extLst>
              <a:ext uri="{FF2B5EF4-FFF2-40B4-BE49-F238E27FC236}">
                <a16:creationId xmlns:a16="http://schemas.microsoft.com/office/drawing/2014/main" id="{6878DAF4-BB9E-C0AF-E138-B5B20FE9A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60" y="267822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21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50" name="모서리가 둥근 직사각형 87">
            <a:extLst>
              <a:ext uri="{FF2B5EF4-FFF2-40B4-BE49-F238E27FC236}">
                <a16:creationId xmlns:a16="http://schemas.microsoft.com/office/drawing/2014/main" id="{7249ABD2-3097-0E1B-E6A1-0C6021D4F5E9}"/>
              </a:ext>
            </a:extLst>
          </p:cNvPr>
          <p:cNvSpPr/>
          <p:nvPr/>
        </p:nvSpPr>
        <p:spPr>
          <a:xfrm>
            <a:off x="3879523" y="2686695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51" name="Oval 113">
            <a:extLst>
              <a:ext uri="{FF2B5EF4-FFF2-40B4-BE49-F238E27FC236}">
                <a16:creationId xmlns:a16="http://schemas.microsoft.com/office/drawing/2014/main" id="{40394AB9-12F5-D464-B2DE-CF74A906F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60" y="283622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23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52" name="모서리가 둥근 직사각형 87">
            <a:extLst>
              <a:ext uri="{FF2B5EF4-FFF2-40B4-BE49-F238E27FC236}">
                <a16:creationId xmlns:a16="http://schemas.microsoft.com/office/drawing/2014/main" id="{39FFDA4B-722D-91EC-75E8-E5325C780C63}"/>
              </a:ext>
            </a:extLst>
          </p:cNvPr>
          <p:cNvSpPr/>
          <p:nvPr/>
        </p:nvSpPr>
        <p:spPr>
          <a:xfrm>
            <a:off x="3879523" y="2844690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PJT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배포</a:t>
            </a:r>
          </a:p>
        </p:txBody>
      </p:sp>
      <p:sp>
        <p:nvSpPr>
          <p:cNvPr id="53" name="Oval 113">
            <a:extLst>
              <a:ext uri="{FF2B5EF4-FFF2-40B4-BE49-F238E27FC236}">
                <a16:creationId xmlns:a16="http://schemas.microsoft.com/office/drawing/2014/main" id="{2763FD52-C130-0191-00F3-A45D4E962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970" y="267189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20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54" name="모서리가 둥근 직사각형 87">
            <a:extLst>
              <a:ext uri="{FF2B5EF4-FFF2-40B4-BE49-F238E27FC236}">
                <a16:creationId xmlns:a16="http://schemas.microsoft.com/office/drawing/2014/main" id="{2C2F9A0B-492F-4222-F356-811B0E88A534}"/>
              </a:ext>
            </a:extLst>
          </p:cNvPr>
          <p:cNvSpPr/>
          <p:nvPr/>
        </p:nvSpPr>
        <p:spPr>
          <a:xfrm>
            <a:off x="4418793" y="2687198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62" name="Oval 113">
            <a:extLst>
              <a:ext uri="{FF2B5EF4-FFF2-40B4-BE49-F238E27FC236}">
                <a16:creationId xmlns:a16="http://schemas.microsoft.com/office/drawing/2014/main" id="{89DAB007-32D2-CE8F-66CF-00746A9DF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5361" y="251934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13</a:t>
            </a:r>
          </a:p>
        </p:txBody>
      </p:sp>
      <p:sp>
        <p:nvSpPr>
          <p:cNvPr id="79" name="모서리가 둥근 직사각형 87">
            <a:extLst>
              <a:ext uri="{FF2B5EF4-FFF2-40B4-BE49-F238E27FC236}">
                <a16:creationId xmlns:a16="http://schemas.microsoft.com/office/drawing/2014/main" id="{F02FCE99-661D-83D5-C97F-F7230E133145}"/>
              </a:ext>
            </a:extLst>
          </p:cNvPr>
          <p:cNvSpPr/>
          <p:nvPr/>
        </p:nvSpPr>
        <p:spPr>
          <a:xfrm>
            <a:off x="4425184" y="2534649"/>
            <a:ext cx="396000" cy="108000"/>
          </a:xfrm>
          <a:prstGeom prst="roundRect">
            <a:avLst/>
          </a:prstGeom>
          <a:solidFill>
            <a:srgbClr val="7F7F7F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05" name="Oval 113">
            <a:extLst>
              <a:ext uri="{FF2B5EF4-FFF2-40B4-BE49-F238E27FC236}">
                <a16:creationId xmlns:a16="http://schemas.microsoft.com/office/drawing/2014/main" id="{249A1668-2C0E-FCE8-BE5A-A0631B7CF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5913" y="251833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10</a:t>
            </a:r>
          </a:p>
        </p:txBody>
      </p:sp>
      <p:sp>
        <p:nvSpPr>
          <p:cNvPr id="106" name="모서리가 둥근 직사각형 87">
            <a:extLst>
              <a:ext uri="{FF2B5EF4-FFF2-40B4-BE49-F238E27FC236}">
                <a16:creationId xmlns:a16="http://schemas.microsoft.com/office/drawing/2014/main" id="{AD90009D-FCD4-0264-699F-96DEDD70AAC1}"/>
              </a:ext>
            </a:extLst>
          </p:cNvPr>
          <p:cNvSpPr/>
          <p:nvPr/>
        </p:nvSpPr>
        <p:spPr>
          <a:xfrm>
            <a:off x="4985736" y="253363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07" name="Oval 113">
            <a:extLst>
              <a:ext uri="{FF2B5EF4-FFF2-40B4-BE49-F238E27FC236}">
                <a16:creationId xmlns:a16="http://schemas.microsoft.com/office/drawing/2014/main" id="{5C026C5B-5A02-03E3-8A02-46E7A894C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0090" y="268008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17</a:t>
            </a:r>
          </a:p>
        </p:txBody>
      </p:sp>
      <p:sp>
        <p:nvSpPr>
          <p:cNvPr id="108" name="모서리가 둥근 직사각형 87">
            <a:extLst>
              <a:ext uri="{FF2B5EF4-FFF2-40B4-BE49-F238E27FC236}">
                <a16:creationId xmlns:a16="http://schemas.microsoft.com/office/drawing/2014/main" id="{89B01E2F-9EC9-2D30-AE60-DAA6C7718C4E}"/>
              </a:ext>
            </a:extLst>
          </p:cNvPr>
          <p:cNvSpPr/>
          <p:nvPr/>
        </p:nvSpPr>
        <p:spPr>
          <a:xfrm>
            <a:off x="4979913" y="2695395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09" name="Oval 113">
            <a:extLst>
              <a:ext uri="{FF2B5EF4-FFF2-40B4-BE49-F238E27FC236}">
                <a16:creationId xmlns:a16="http://schemas.microsoft.com/office/drawing/2014/main" id="{08A9E0C4-EE27-3D14-FABD-37960A1C7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5913" y="251609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15</a:t>
            </a:r>
          </a:p>
        </p:txBody>
      </p:sp>
      <p:sp>
        <p:nvSpPr>
          <p:cNvPr id="110" name="모서리가 둥근 직사각형 87">
            <a:extLst>
              <a:ext uri="{FF2B5EF4-FFF2-40B4-BE49-F238E27FC236}">
                <a16:creationId xmlns:a16="http://schemas.microsoft.com/office/drawing/2014/main" id="{3466C4ED-AE97-1DE0-43F6-C4476B2B30D1}"/>
              </a:ext>
            </a:extLst>
          </p:cNvPr>
          <p:cNvSpPr/>
          <p:nvPr/>
        </p:nvSpPr>
        <p:spPr>
          <a:xfrm>
            <a:off x="5525736" y="253140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11" name="Oval 113">
            <a:extLst>
              <a:ext uri="{FF2B5EF4-FFF2-40B4-BE49-F238E27FC236}">
                <a16:creationId xmlns:a16="http://schemas.microsoft.com/office/drawing/2014/main" id="{B8E671CD-5BCE-2418-2FFC-1B7892C7D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5913" y="268031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21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12" name="모서리가 둥근 직사각형 87">
            <a:extLst>
              <a:ext uri="{FF2B5EF4-FFF2-40B4-BE49-F238E27FC236}">
                <a16:creationId xmlns:a16="http://schemas.microsoft.com/office/drawing/2014/main" id="{20CA613E-8B68-CF79-6CB6-CBC53ECB5FFA}"/>
              </a:ext>
            </a:extLst>
          </p:cNvPr>
          <p:cNvSpPr/>
          <p:nvPr/>
        </p:nvSpPr>
        <p:spPr>
          <a:xfrm>
            <a:off x="5525736" y="2695618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13" name="Oval 113">
            <a:extLst>
              <a:ext uri="{FF2B5EF4-FFF2-40B4-BE49-F238E27FC236}">
                <a16:creationId xmlns:a16="http://schemas.microsoft.com/office/drawing/2014/main" id="{352C2E9A-E569-E88C-00E5-45FBD875F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0090" y="252120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5</a:t>
            </a:r>
          </a:p>
        </p:txBody>
      </p:sp>
      <p:sp>
        <p:nvSpPr>
          <p:cNvPr id="114" name="모서리가 둥근 직사각형 87">
            <a:extLst>
              <a:ext uri="{FF2B5EF4-FFF2-40B4-BE49-F238E27FC236}">
                <a16:creationId xmlns:a16="http://schemas.microsoft.com/office/drawing/2014/main" id="{D96E8187-F289-A67E-1F4F-83614E183983}"/>
              </a:ext>
            </a:extLst>
          </p:cNvPr>
          <p:cNvSpPr/>
          <p:nvPr/>
        </p:nvSpPr>
        <p:spPr>
          <a:xfrm>
            <a:off x="6059913" y="2536510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15" name="Oval 113">
            <a:extLst>
              <a:ext uri="{FF2B5EF4-FFF2-40B4-BE49-F238E27FC236}">
                <a16:creationId xmlns:a16="http://schemas.microsoft.com/office/drawing/2014/main" id="{EE51ACE7-79FB-7E4C-4C3B-D734D7F95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7782" y="2684757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12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16" name="모서리가 둥근 직사각형 87">
            <a:extLst>
              <a:ext uri="{FF2B5EF4-FFF2-40B4-BE49-F238E27FC236}">
                <a16:creationId xmlns:a16="http://schemas.microsoft.com/office/drawing/2014/main" id="{2CB829F8-F9A2-7ED6-DE00-745B4244718F}"/>
              </a:ext>
            </a:extLst>
          </p:cNvPr>
          <p:cNvSpPr/>
          <p:nvPr/>
        </p:nvSpPr>
        <p:spPr>
          <a:xfrm>
            <a:off x="6057605" y="2700063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17" name="Oval 113">
            <a:extLst>
              <a:ext uri="{FF2B5EF4-FFF2-40B4-BE49-F238E27FC236}">
                <a16:creationId xmlns:a16="http://schemas.microsoft.com/office/drawing/2014/main" id="{7453C5DF-6F80-0992-156E-AF9F8543A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4441" y="283632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20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18" name="모서리가 둥근 직사각형 87">
            <a:extLst>
              <a:ext uri="{FF2B5EF4-FFF2-40B4-BE49-F238E27FC236}">
                <a16:creationId xmlns:a16="http://schemas.microsoft.com/office/drawing/2014/main" id="{4E46DB5B-CCE5-E068-898C-8B00742F1DDA}"/>
              </a:ext>
            </a:extLst>
          </p:cNvPr>
          <p:cNvSpPr/>
          <p:nvPr/>
        </p:nvSpPr>
        <p:spPr>
          <a:xfrm>
            <a:off x="6064264" y="285163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19" name="Oval 113">
            <a:extLst>
              <a:ext uri="{FF2B5EF4-FFF2-40B4-BE49-F238E27FC236}">
                <a16:creationId xmlns:a16="http://schemas.microsoft.com/office/drawing/2014/main" id="{1E2BA2E6-579B-6A01-9B9F-97A8DEFFD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4441" y="297276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26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20" name="모서리가 둥근 직사각형 87">
            <a:extLst>
              <a:ext uri="{FF2B5EF4-FFF2-40B4-BE49-F238E27FC236}">
                <a16:creationId xmlns:a16="http://schemas.microsoft.com/office/drawing/2014/main" id="{B2A244A3-D831-6A99-85EA-A9FD46A52C65}"/>
              </a:ext>
            </a:extLst>
          </p:cNvPr>
          <p:cNvSpPr/>
          <p:nvPr/>
        </p:nvSpPr>
        <p:spPr>
          <a:xfrm>
            <a:off x="6064264" y="2988069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21" name="Oval 113">
            <a:extLst>
              <a:ext uri="{FF2B5EF4-FFF2-40B4-BE49-F238E27FC236}">
                <a16:creationId xmlns:a16="http://schemas.microsoft.com/office/drawing/2014/main" id="{9C1D47B3-149E-B1FA-90AE-83B627C1F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4819" y="2527367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17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22" name="모서리가 둥근 직사각형 87">
            <a:extLst>
              <a:ext uri="{FF2B5EF4-FFF2-40B4-BE49-F238E27FC236}">
                <a16:creationId xmlns:a16="http://schemas.microsoft.com/office/drawing/2014/main" id="{5817F4D5-CCD3-D40F-E16C-3DC6D9979863}"/>
              </a:ext>
            </a:extLst>
          </p:cNvPr>
          <p:cNvSpPr/>
          <p:nvPr/>
        </p:nvSpPr>
        <p:spPr>
          <a:xfrm>
            <a:off x="6614642" y="2542673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23" name="Oval 113">
            <a:extLst>
              <a:ext uri="{FF2B5EF4-FFF2-40B4-BE49-F238E27FC236}">
                <a16:creationId xmlns:a16="http://schemas.microsoft.com/office/drawing/2014/main" id="{1C704F75-AE42-9916-6433-C837635B3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6829" y="25254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21</a:t>
            </a:r>
          </a:p>
        </p:txBody>
      </p:sp>
      <p:sp>
        <p:nvSpPr>
          <p:cNvPr id="124" name="모서리가 둥근 직사각형 87">
            <a:extLst>
              <a:ext uri="{FF2B5EF4-FFF2-40B4-BE49-F238E27FC236}">
                <a16:creationId xmlns:a16="http://schemas.microsoft.com/office/drawing/2014/main" id="{75F9192A-A10D-E653-7B06-EFA2D454E01F}"/>
              </a:ext>
            </a:extLst>
          </p:cNvPr>
          <p:cNvSpPr/>
          <p:nvPr/>
        </p:nvSpPr>
        <p:spPr>
          <a:xfrm>
            <a:off x="7156652" y="2540789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25" name="Oval 113">
            <a:extLst>
              <a:ext uri="{FF2B5EF4-FFF2-40B4-BE49-F238E27FC236}">
                <a16:creationId xmlns:a16="http://schemas.microsoft.com/office/drawing/2014/main" id="{D423D538-86C1-6395-0BD0-6EE27C3AE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7745" y="25254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18</a:t>
            </a:r>
          </a:p>
        </p:txBody>
      </p:sp>
      <p:sp>
        <p:nvSpPr>
          <p:cNvPr id="126" name="모서리가 둥근 직사각형 87">
            <a:extLst>
              <a:ext uri="{FF2B5EF4-FFF2-40B4-BE49-F238E27FC236}">
                <a16:creationId xmlns:a16="http://schemas.microsoft.com/office/drawing/2014/main" id="{3FF8B709-49A4-D671-4A85-EC7A7CF79F2C}"/>
              </a:ext>
            </a:extLst>
          </p:cNvPr>
          <p:cNvSpPr/>
          <p:nvPr/>
        </p:nvSpPr>
        <p:spPr>
          <a:xfrm>
            <a:off x="7707568" y="2540789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27" name="Oval 113">
            <a:extLst>
              <a:ext uri="{FF2B5EF4-FFF2-40B4-BE49-F238E27FC236}">
                <a16:creationId xmlns:a16="http://schemas.microsoft.com/office/drawing/2014/main" id="{740070BB-AEF8-70A2-C133-74388A38D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5010" y="253457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4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28" name="모서리가 둥근 직사각형 87">
            <a:extLst>
              <a:ext uri="{FF2B5EF4-FFF2-40B4-BE49-F238E27FC236}">
                <a16:creationId xmlns:a16="http://schemas.microsoft.com/office/drawing/2014/main" id="{3A1A9A43-F93F-A1B6-0F8D-62DEC7405755}"/>
              </a:ext>
            </a:extLst>
          </p:cNvPr>
          <p:cNvSpPr/>
          <p:nvPr/>
        </p:nvSpPr>
        <p:spPr>
          <a:xfrm>
            <a:off x="8274833" y="254987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29" name="Oval 113">
            <a:extLst>
              <a:ext uri="{FF2B5EF4-FFF2-40B4-BE49-F238E27FC236}">
                <a16:creationId xmlns:a16="http://schemas.microsoft.com/office/drawing/2014/main" id="{E125E4F6-937A-3516-4FD0-69903379E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8435" y="269258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9</a:t>
            </a:r>
          </a:p>
        </p:txBody>
      </p:sp>
      <p:sp>
        <p:nvSpPr>
          <p:cNvPr id="130" name="모서리가 둥근 직사각형 87">
            <a:extLst>
              <a:ext uri="{FF2B5EF4-FFF2-40B4-BE49-F238E27FC236}">
                <a16:creationId xmlns:a16="http://schemas.microsoft.com/office/drawing/2014/main" id="{4AFBB1A8-54ED-4E2E-4759-05CA30344ABF}"/>
              </a:ext>
            </a:extLst>
          </p:cNvPr>
          <p:cNvSpPr/>
          <p:nvPr/>
        </p:nvSpPr>
        <p:spPr>
          <a:xfrm>
            <a:off x="8278258" y="2707892"/>
            <a:ext cx="396000" cy="108000"/>
          </a:xfrm>
          <a:prstGeom prst="roundRect">
            <a:avLst/>
          </a:prstGeom>
          <a:solidFill>
            <a:srgbClr val="00B05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정기배포</a:t>
            </a:r>
          </a:p>
        </p:txBody>
      </p:sp>
      <p:graphicFrame>
        <p:nvGraphicFramePr>
          <p:cNvPr id="131" name="표 130">
            <a:extLst>
              <a:ext uri="{FF2B5EF4-FFF2-40B4-BE49-F238E27FC236}">
                <a16:creationId xmlns:a16="http://schemas.microsoft.com/office/drawing/2014/main" id="{123FB5AD-9959-1578-E8CB-7A123A0B9109}"/>
              </a:ext>
            </a:extLst>
          </p:cNvPr>
          <p:cNvGraphicFramePr>
            <a:graphicFrameLocks noGrp="1"/>
          </p:cNvGraphicFramePr>
          <p:nvPr/>
        </p:nvGraphicFramePr>
        <p:xfrm>
          <a:off x="1675463" y="3767002"/>
          <a:ext cx="6936336" cy="1171266"/>
        </p:xfrm>
        <a:graphic>
          <a:graphicData uri="http://schemas.openxmlformats.org/drawingml/2006/table">
            <a:tbl>
              <a:tblPr/>
              <a:tblGrid>
                <a:gridCol w="480671">
                  <a:extLst>
                    <a:ext uri="{9D8B030D-6E8A-4147-A177-3AD203B41FA5}">
                      <a16:colId xmlns:a16="http://schemas.microsoft.com/office/drawing/2014/main" val="1653938032"/>
                    </a:ext>
                  </a:extLst>
                </a:gridCol>
                <a:gridCol w="5041869">
                  <a:extLst>
                    <a:ext uri="{9D8B030D-6E8A-4147-A177-3AD203B41FA5}">
                      <a16:colId xmlns:a16="http://schemas.microsoft.com/office/drawing/2014/main" val="3012352888"/>
                    </a:ext>
                  </a:extLst>
                </a:gridCol>
                <a:gridCol w="690703">
                  <a:extLst>
                    <a:ext uri="{9D8B030D-6E8A-4147-A177-3AD203B41FA5}">
                      <a16:colId xmlns:a16="http://schemas.microsoft.com/office/drawing/2014/main" val="1663949275"/>
                    </a:ext>
                  </a:extLst>
                </a:gridCol>
                <a:gridCol w="723093">
                  <a:extLst>
                    <a:ext uri="{9D8B030D-6E8A-4147-A177-3AD203B41FA5}">
                      <a16:colId xmlns:a16="http://schemas.microsoft.com/office/drawing/2014/main" val="292142836"/>
                    </a:ext>
                  </a:extLst>
                </a:gridCol>
              </a:tblGrid>
              <a:tr h="19521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번호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내용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9863501"/>
                  </a:ext>
                </a:extLst>
              </a:tr>
              <a:tr h="19521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sng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[IRS-10124] DAVINCI </a:t>
                      </a:r>
                      <a:r>
                        <a:rPr lang="ko-KR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역복제 이미지</a:t>
                      </a:r>
                      <a:r>
                        <a:rPr lang="en-US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 IRS/JPC </a:t>
                      </a:r>
                      <a:r>
                        <a:rPr lang="ko-KR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수집 대응</a:t>
                      </a:r>
                      <a:endParaRPr lang="ko-KR" sz="900" strike="sng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공통</a:t>
                      </a:r>
                      <a:endParaRPr lang="ko-KR" sz="900" strike="sng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기능개선</a:t>
                      </a:r>
                      <a:endParaRPr lang="ko-KR" sz="900" strike="sng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1435994"/>
                  </a:ext>
                </a:extLst>
              </a:tr>
              <a:tr h="19521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900" strike="sng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[IRS-10119] JPC </a:t>
                      </a:r>
                      <a:r>
                        <a:rPr lang="ko-KR" sz="900" strike="sng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전체선택 기능 추가</a:t>
                      </a:r>
                      <a:endParaRPr lang="ko-KR" sz="900" strike="sngStrike" baseline="0" dirty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자동차</a:t>
                      </a:r>
                      <a:r>
                        <a:rPr lang="en-US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 JPC</a:t>
                      </a:r>
                      <a:endParaRPr lang="ko-KR" sz="900" strike="sng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strike="sng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기능개선</a:t>
                      </a:r>
                      <a:endParaRPr lang="ko-KR" sz="900" strike="sngStrike" baseline="0" dirty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168978"/>
                  </a:ext>
                </a:extLst>
              </a:tr>
              <a:tr h="19521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900" strike="sng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[IRS-10129] JPC </a:t>
                      </a:r>
                      <a:r>
                        <a:rPr lang="ko-KR" sz="900" strike="sng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다국어 아이콘 이니셜로 변경</a:t>
                      </a:r>
                      <a:endParaRPr lang="ko-KR" sz="900" strike="sngStrike" baseline="0" dirty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공통</a:t>
                      </a:r>
                      <a:r>
                        <a:rPr lang="en-US" altLang="ko-KR" sz="900" strike="sng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 JPC</a:t>
                      </a:r>
                      <a:endParaRPr lang="ko-KR" sz="900" strike="sngStrike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900" strike="sng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기능</a:t>
                      </a:r>
                      <a:r>
                        <a:rPr lang="ko-KR" sz="900" strike="sng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개선</a:t>
                      </a:r>
                      <a:endParaRPr lang="ko-KR" sz="900" strike="sngStrike" baseline="0" dirty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9352211"/>
                  </a:ext>
                </a:extLst>
              </a:tr>
              <a:tr h="19521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900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[IRS-10120] </a:t>
                      </a:r>
                      <a:r>
                        <a:rPr lang="ko-KR" sz="900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이미지 재검사 현황조회 메뉴에서 생산 일자 구분 없이 조회하는 조건 추가</a:t>
                      </a:r>
                      <a:endParaRPr lang="ko-KR" sz="900" baseline="0" dirty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원통형</a:t>
                      </a:r>
                      <a:r>
                        <a:rPr lang="en-US" sz="900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 IRS</a:t>
                      </a:r>
                      <a:endParaRPr lang="ko-KR" sz="900" baseline="0" dirty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기능개선</a:t>
                      </a:r>
                      <a:endParaRPr lang="ko-KR" sz="900" baseline="0" dirty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197554"/>
                  </a:ext>
                </a:extLst>
              </a:tr>
              <a:tr h="19521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3952" marR="3952" marT="3952" marB="0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9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[IRS-10125] </a:t>
                      </a:r>
                      <a:r>
                        <a:rPr lang="ko-KR" sz="9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이미지 재검사 시스템</a:t>
                      </a:r>
                      <a:r>
                        <a:rPr lang="en-US" sz="9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 web </a:t>
                      </a:r>
                      <a:r>
                        <a:rPr lang="ko-KR" sz="9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화면의 조회 기능 개선</a:t>
                      </a:r>
                      <a:endParaRPr lang="ko-KR" sz="900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원통형</a:t>
                      </a:r>
                      <a:r>
                        <a:rPr lang="en-US" sz="900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 IRS</a:t>
                      </a:r>
                      <a:endParaRPr lang="ko-KR" sz="900" baseline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900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굴림" panose="020B0600000101010101" pitchFamily="50" charset="-127"/>
                        </a:rPr>
                        <a:t>기능개선</a:t>
                      </a:r>
                      <a:endParaRPr lang="ko-KR" sz="900" baseline="0" dirty="0"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굴림" panose="020B0600000101010101" pitchFamily="50" charset="-127"/>
                      </a:endParaRPr>
                    </a:p>
                  </a:txBody>
                  <a:tcPr marL="9525" marR="9525" marT="9525" marB="9525" anchor="ctr">
                    <a:lnL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647455"/>
                  </a:ext>
                </a:extLst>
              </a:tr>
            </a:tbl>
          </a:graphicData>
        </a:graphic>
      </p:graphicFrame>
      <p:sp>
        <p:nvSpPr>
          <p:cNvPr id="132" name="TextBox 131">
            <a:extLst>
              <a:ext uri="{FF2B5EF4-FFF2-40B4-BE49-F238E27FC236}">
                <a16:creationId xmlns:a16="http://schemas.microsoft.com/office/drawing/2014/main" id="{544BFFFD-659C-A22A-C486-F90624936AEC}"/>
              </a:ext>
            </a:extLst>
          </p:cNvPr>
          <p:cNvSpPr txBox="1"/>
          <p:nvPr/>
        </p:nvSpPr>
        <p:spPr>
          <a:xfrm>
            <a:off x="5176321" y="3551560"/>
            <a:ext cx="348362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(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총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5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건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– 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기능개선 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: 5</a:t>
            </a:r>
            <a:r>
              <a:rPr lang="ko-KR" altLang="en-US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건</a:t>
            </a:r>
            <a:r>
              <a:rPr lang="en-US" altLang="ko-KR" sz="800"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endParaRPr lang="ko-KR" altLang="en-US" sz="80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6266857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69341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Virtual CT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확산 전개 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114923" y="652452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12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/16(</a:t>
            </a:r>
            <a:r>
              <a:rPr lang="ko-KR" altLang="en-US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15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845892" y="483175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추승식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E87F13E6-D3E2-453C-B897-FA09FC1AEA6D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63753" cy="5919044"/>
        </p:xfrm>
        <a:graphic>
          <a:graphicData uri="http://schemas.openxmlformats.org/drawingml/2006/table">
            <a:tbl>
              <a:tblPr/>
              <a:tblGrid>
                <a:gridCol w="6502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4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8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9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9956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374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 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6251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Virtual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CT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확산전개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26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 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ESWA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자공정 전환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(VM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타입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관련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 및 잔여 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(22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) VM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설정 진행중입니다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(~12/23)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ESMI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호기 양산 일정에 맞춰 정합성 검증 및 모니터링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(12/17~)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</a:b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목적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  - A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/C Overhang 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전수 검사 및 불량 유출 방지를 위한 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VCT </a:t>
                      </a:r>
                      <a:r>
                        <a:rPr lang="ko-KR" altLang="en-US" sz="900" b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수평전개를 하고자 함</a:t>
                      </a:r>
                      <a:r>
                        <a:rPr lang="en-US" altLang="ko-KR" sz="900" b="0">
                          <a:solidFill>
                            <a:srgbClr val="000000"/>
                          </a:solidFill>
                          <a:latin typeface="+mn-lt"/>
                          <a:ea typeface="+mn-ea"/>
                        </a:rPr>
                        <a:t>. 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컨셉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 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라미 공정의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AC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값과 스태킹 공정의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CPOS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값을 재조합 후 계산하여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Overhang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불량의 여부를 판정하여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NG/Hold Cell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정보를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MES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에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I/F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 I/F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정보 기준으로 정의된 활성화 공정에서 등급 부여 및 배출하고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현장에 있는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CT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검사기에서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Overhang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불량 재검사 후 최종 불량 여부를 판정하고자 합니다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 1) ESWA VCT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기능은 구축 완료하여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VCT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데이터 수집 및 판정 진행중입니다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2) ESWA V-CT NG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및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Hold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율은 빠른 시일내에 양산 가능한 수준으로 개선 진행하라고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CQO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께서 말씀하셨습니다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(NB 0.5%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수준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: NG 0.3%, Hold 0.2%)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4) 4,5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ESS JF2S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모델 구축 진행 검토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(7/18)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PKG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배출 타입 셋팅 진행중이나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VM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컨셉도 재검토중이라 확인하면서 대응중입니다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.(9/12)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5) PKG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배출 적용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(11, 17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중이며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NG/HOLD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배출셀에 대한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결과 조립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MES I/F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적용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(8/21)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6) ESWA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법인 요청으로 전체 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STK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배출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(VM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타입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형 전환 관련하여 인프라 비용과 구축 인건비 산정하였습니다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(STK 70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대 기준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VM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전환 인건비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28MM)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순위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대 우선 적용 예정이며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법인에 요청에 따라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25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월 완료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Target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으로 검토중입니다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순위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ESS 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대 적용 완료하였고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, 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라인 및 잔여 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(22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) VM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설정 진행중입니다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(~12/23)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 ‘24.12</a:t>
                      </a:r>
                      <a:br>
                        <a:rPr lang="en-US" altLang="ko-KR" sz="1000" b="0" i="0" u="none" strike="sng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완료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추승식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967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900" b="0" i="0" u="none" strike="sng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 라인</a:t>
                      </a:r>
                      <a:br>
                        <a:rPr lang="en-US" altLang="ko-KR" sz="900" b="0" i="0" u="none" strike="sng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 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 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1) ESMI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ESS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3,4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구축 완료하였고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5-1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호기부터 순차적으로 구축 진행중입니다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2)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법인 요청에 따른 투자 예가 산출 후 투자 심의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(0.5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억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8/8)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→ 요청사항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STK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재작업기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적용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이설 설비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5-6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호기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구축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사후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V-CT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판정 구축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3) ESS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검사 데이터 적재 지연 등으로 발생하는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HOLD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수량 감소를 위한 판정 지연 요청을 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차 평가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(8/18)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완료 후 원복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    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5-1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호기 판정 지연 적용하였으며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120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초 후 판정 진행하고 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나머지 호기는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hold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발생 수량 확인 후 적용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(8/20)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4) ESMI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랜섬웨어 이슈로 인하여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서버 복구 완료하였으며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특이사항 없습니다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(11/9) 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5) 5-4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호기 양산 일정에 맞춰 정합성 검증 및 모니터링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. (12/17~)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Malgun Gothic Semilight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’25.3Q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885625198"/>
                  </a:ext>
                </a:extLst>
              </a:tr>
              <a:tr h="608044"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Lansing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5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개 라인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 1)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구축대상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개 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(STK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라인당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총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구성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‘25.09 / 2~5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’26.1Q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2)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VCT VM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Spec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관련 인프라팀과 협의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(7/7)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완료 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VM 3EA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공통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VM 2EA 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총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5EA)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할당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(7/11)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3) 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라인 구축 관련하여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설정 완료하였으며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현재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DTC PLC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작업 인원 철수로 인해서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Test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일정 조율 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(10/17)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‘25.4Q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498276"/>
                  </a:ext>
                </a:extLst>
              </a:tr>
              <a:tr h="350684"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확산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 1) ESST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4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개 라인 기준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컨셉 및 도입 시기 검토중입니다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2) ESHD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ESS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조립 라인 기준으로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VCT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도입 관련하여 투자비 반영하였습니다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(’26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1Q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예정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 3) ESGM2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: VCT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구축 관련하여 법인 투자비 반영 후 진행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. (’26.2Q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예정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Malgun Gothic Semilight"/>
                        </a:rPr>
                        <a:t>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0164482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57C9A085-BDA6-4E1A-A87B-308A5311F0EE}"/>
              </a:ext>
            </a:extLst>
          </p:cNvPr>
          <p:cNvGraphicFramePr>
            <a:graphicFrameLocks noGrp="1"/>
          </p:cNvGraphicFramePr>
          <p:nvPr/>
        </p:nvGraphicFramePr>
        <p:xfrm>
          <a:off x="1412314" y="3822236"/>
          <a:ext cx="7246122" cy="601693"/>
        </p:xfrm>
        <a:graphic>
          <a:graphicData uri="http://schemas.openxmlformats.org/drawingml/2006/table">
            <a:tbl>
              <a:tblPr/>
              <a:tblGrid>
                <a:gridCol w="698422">
                  <a:extLst>
                    <a:ext uri="{9D8B030D-6E8A-4147-A177-3AD203B41FA5}">
                      <a16:colId xmlns:a16="http://schemas.microsoft.com/office/drawing/2014/main" val="3851126968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2350231828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2376704765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1426393479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2846594703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514767240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89924420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2210701245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960556825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2772508999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314099810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669164908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1990652161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318078882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4144798385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522851485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146923359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3536917781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4091802564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3131194411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67404054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1000344773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4275720977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2716495329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2522707309"/>
                    </a:ext>
                  </a:extLst>
                </a:gridCol>
                <a:gridCol w="261908">
                  <a:extLst>
                    <a:ext uri="{9D8B030D-6E8A-4147-A177-3AD203B41FA5}">
                      <a16:colId xmlns:a16="http://schemas.microsoft.com/office/drawing/2014/main" val="1161335960"/>
                    </a:ext>
                  </a:extLst>
                </a:gridCol>
              </a:tblGrid>
              <a:tr h="10016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(Normal)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(ESS)</a:t>
                      </a:r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7632889"/>
                  </a:ext>
                </a:extLst>
              </a:tr>
              <a:tr h="1116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1-1</a:t>
                      </a:r>
                      <a:endParaRPr lang="ko-KR" alt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1-2</a:t>
                      </a:r>
                      <a:endParaRPr lang="ko-KR" alt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1-3</a:t>
                      </a:r>
                      <a:endParaRPr lang="ko-KR" alt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1-4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1-5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2-1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2-2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2-3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2-4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3-1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3-2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3-3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3-4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3-5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4-1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4-2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4-3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4-4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4-5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4-6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5-1</a:t>
                      </a:r>
                      <a:endParaRPr lang="en-US" sz="800" b="1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5-2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5-3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5-4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5-5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7224351"/>
                  </a:ext>
                </a:extLst>
              </a:tr>
              <a:tr h="1725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VCT VM </a:t>
                      </a:r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셋팅</a:t>
                      </a:r>
                      <a:endParaRPr lang="en-US" altLang="ko-KR" sz="800" b="1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577995"/>
                  </a:ext>
                </a:extLst>
              </a:tr>
              <a:tr h="1761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 검증</a:t>
                      </a: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en-US" altLang="ko-KR" sz="7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baseline="0">
                          <a:solidFill>
                            <a:srgbClr val="0000FF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/>
                          <a:ea typeface="LG스마트체 Regular"/>
                        </a:rPr>
                        <a:t>-</a:t>
                      </a:r>
                      <a:endParaRPr lang="ko-KR" altLang="en-US" sz="7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4545" marR="4545" marT="45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5699658"/>
                  </a:ext>
                </a:extLst>
              </a:tr>
            </a:tbl>
          </a:graphicData>
        </a:graphic>
      </p:graphicFrame>
      <p:sp>
        <p:nvSpPr>
          <p:cNvPr id="2" name="내용 개체 틀 20">
            <a:extLst>
              <a:ext uri="{FF2B5EF4-FFF2-40B4-BE49-F238E27FC236}">
                <a16:creationId xmlns:a16="http://schemas.microsoft.com/office/drawing/2014/main" id="{6A276927-528E-5499-DBCB-AED74AE447CF}"/>
              </a:ext>
            </a:extLst>
          </p:cNvPr>
          <p:cNvSpPr txBox="1">
            <a:spLocks/>
          </p:cNvSpPr>
          <p:nvPr/>
        </p:nvSpPr>
        <p:spPr>
          <a:xfrm>
            <a:off x="5824541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DX-#4,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 dirty="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317007541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50361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Virtual CT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고도화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kern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defRPr>
            </a:lvl1pPr>
          </a:lstStyle>
          <a:p>
            <a:r>
              <a:rPr lang="en-US" altLang="ko-KR">
                <a:latin typeface="+mj-lt"/>
                <a:ea typeface="LG스마트체 Regular" panose="020B0600000101010101" pitchFamily="50" charset="-127"/>
              </a:rPr>
              <a:t>1. </a:t>
            </a:r>
            <a:r>
              <a:rPr lang="ko-KR" altLang="en-US">
                <a:latin typeface="+mj-lt"/>
                <a:ea typeface="LG스마트체 Regular" panose="020B0600000101010101" pitchFamily="50" charset="-127"/>
              </a:rPr>
              <a:t>과제 진행 현황</a:t>
            </a:r>
            <a:r>
              <a:rPr lang="en-US" altLang="ko-KR"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공정검사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</a:rPr>
              <a:t>DX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팀</a:t>
            </a:r>
            <a:endParaRPr lang="ko-KR" altLang="en-US"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99B4FFA-3CB7-2B3E-9904-4820961DAB12}"/>
              </a:ext>
            </a:extLst>
          </p:cNvPr>
          <p:cNvSpPr txBox="1"/>
          <p:nvPr/>
        </p:nvSpPr>
        <p:spPr>
          <a:xfrm>
            <a:off x="8032766" y="670208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12/16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15</a:t>
            </a: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021220A9-BCD0-DA94-CAEA-70CED4973AC2}"/>
              </a:ext>
            </a:extLst>
          </p:cNvPr>
          <p:cNvSpPr txBox="1">
            <a:spLocks/>
          </p:cNvSpPr>
          <p:nvPr/>
        </p:nvSpPr>
        <p:spPr>
          <a:xfrm>
            <a:off x="8744499" y="500931"/>
            <a:ext cx="942567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추승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식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4" name="표 1">
            <a:extLst>
              <a:ext uri="{FF2B5EF4-FFF2-40B4-BE49-F238E27FC236}">
                <a16:creationId xmlns:a16="http://schemas.microsoft.com/office/drawing/2014/main" id="{2BA08E91-2D74-5AEB-FDAB-E2B6E47D5FD7}"/>
              </a:ext>
            </a:extLst>
          </p:cNvPr>
          <p:cNvGraphicFramePr>
            <a:graphicFrameLocks noGrp="1"/>
          </p:cNvGraphicFramePr>
          <p:nvPr/>
        </p:nvGraphicFramePr>
        <p:xfrm>
          <a:off x="122467" y="864195"/>
          <a:ext cx="9438145" cy="5820690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8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59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9629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VCT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고도화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(ESNJ)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kern="1200" baseline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en-US" altLang="ko-KR" sz="1000" b="0" kern="1200" baseline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W51)</a:t>
                      </a:r>
                      <a:r>
                        <a:rPr lang="ko-KR" altLang="en-US" sz="1000" b="0" kern="1200" baseline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는 프로젝트 완료보고 하였으며</a:t>
                      </a:r>
                      <a:r>
                        <a:rPr lang="en-US" altLang="ko-KR" sz="1000" b="0" kern="1200" baseline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kern="1200" baseline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배포 및 이상여부 확인 후 마무리 예정입니다</a:t>
                      </a:r>
                      <a:r>
                        <a:rPr lang="en-US" altLang="ko-KR" sz="1000" b="0" kern="1200" baseline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lang="en-US" altLang="ko-KR" sz="1000" b="0" kern="1200" baseline="0">
                          <a:solidFill>
                            <a:srgbClr val="0000FF"/>
                          </a:solidFill>
                          <a:latin typeface="Arial Narrow"/>
                          <a:ea typeface="LG스마트체 Regular"/>
                          <a:cs typeface="Malgun Gothic Semilight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구축 목적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자동차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/ESS Overhang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불량 판정을 진행하는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V-CT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성능 및 기능 개선을 통해 현업의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Needs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를 반영하고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판정에 대한 고도화를 하고자 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1. V-CT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고도화 관련 계약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(9/16)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2.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Malgun Gothic Semilight"/>
                        </a:rPr>
                        <a:t>판정 고도화 및 성능 개선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Malgun Gothic Semilight"/>
                        </a:rPr>
                        <a:t>&amp;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Malgun Gothic Semilight"/>
                        </a:rPr>
                        <a:t>표준화 분석/설계 완료하였습니다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Malgun Gothic Semilight"/>
                        </a:rPr>
                        <a:t>. (9/30)</a:t>
                      </a:r>
                      <a:b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Malgun Gothic Semilight"/>
                        </a:rPr>
                      </a:b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3.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판정 고도화 및 성능 개선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/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표준화 개발 완료하였으며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금주 조립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VCT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최종판정 기능개발 외 배포 적용 완료하였습니다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. (11/25)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4. VCT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최종판정 기능 개발은 완료되었으며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해당 기능은 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VM</a:t>
                      </a:r>
                      <a:r>
                        <a:rPr lang="ko-KR" altLang="en-US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별 적용이 필요하기 때문에 법인과 협의 후 적용 예정입니다</a:t>
                      </a:r>
                      <a: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. </a:t>
                      </a:r>
                      <a:br>
                        <a:rPr lang="en-US" altLang="ko-KR" sz="1000" b="0" kern="1200" baseline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1000" b="0" kern="1200" baseline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 </a:t>
                      </a:r>
                      <a:br>
                        <a:rPr lang="en-US" altLang="ko-KR" sz="1000" b="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/>
                        </a:rPr>
                      </a:b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추승식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80E1FEB2-6202-2134-7275-CFAB40DB43B7}"/>
              </a:ext>
            </a:extLst>
          </p:cNvPr>
          <p:cNvGraphicFramePr>
            <a:graphicFrameLocks noGrp="1"/>
          </p:cNvGraphicFramePr>
          <p:nvPr/>
        </p:nvGraphicFramePr>
        <p:xfrm>
          <a:off x="1538015" y="2115951"/>
          <a:ext cx="6991622" cy="2520000"/>
        </p:xfrm>
        <a:graphic>
          <a:graphicData uri="http://schemas.openxmlformats.org/drawingml/2006/table">
            <a:tbl>
              <a:tblPr/>
              <a:tblGrid>
                <a:gridCol w="542068">
                  <a:extLst>
                    <a:ext uri="{9D8B030D-6E8A-4147-A177-3AD203B41FA5}">
                      <a16:colId xmlns:a16="http://schemas.microsoft.com/office/drawing/2014/main" val="1321708174"/>
                    </a:ext>
                  </a:extLst>
                </a:gridCol>
                <a:gridCol w="1053734">
                  <a:extLst>
                    <a:ext uri="{9D8B030D-6E8A-4147-A177-3AD203B41FA5}">
                      <a16:colId xmlns:a16="http://schemas.microsoft.com/office/drawing/2014/main" val="222725115"/>
                    </a:ext>
                  </a:extLst>
                </a:gridCol>
                <a:gridCol w="1079164">
                  <a:extLst>
                    <a:ext uri="{9D8B030D-6E8A-4147-A177-3AD203B41FA5}">
                      <a16:colId xmlns:a16="http://schemas.microsoft.com/office/drawing/2014/main" val="984918428"/>
                    </a:ext>
                  </a:extLst>
                </a:gridCol>
                <a:gridCol w="1079164">
                  <a:extLst>
                    <a:ext uri="{9D8B030D-6E8A-4147-A177-3AD203B41FA5}">
                      <a16:colId xmlns:a16="http://schemas.microsoft.com/office/drawing/2014/main" val="2700089666"/>
                    </a:ext>
                  </a:extLst>
                </a:gridCol>
                <a:gridCol w="1079164">
                  <a:extLst>
                    <a:ext uri="{9D8B030D-6E8A-4147-A177-3AD203B41FA5}">
                      <a16:colId xmlns:a16="http://schemas.microsoft.com/office/drawing/2014/main" val="3927457904"/>
                    </a:ext>
                  </a:extLst>
                </a:gridCol>
                <a:gridCol w="1079164">
                  <a:extLst>
                    <a:ext uri="{9D8B030D-6E8A-4147-A177-3AD203B41FA5}">
                      <a16:colId xmlns:a16="http://schemas.microsoft.com/office/drawing/2014/main" val="3063556838"/>
                    </a:ext>
                  </a:extLst>
                </a:gridCol>
                <a:gridCol w="1079164">
                  <a:extLst>
                    <a:ext uri="{9D8B030D-6E8A-4147-A177-3AD203B41FA5}">
                      <a16:colId xmlns:a16="http://schemas.microsoft.com/office/drawing/2014/main" val="2244956555"/>
                    </a:ext>
                  </a:extLst>
                </a:gridCol>
              </a:tblGrid>
              <a:tr h="252000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항목</a:t>
                      </a:r>
                      <a:endParaRPr 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2025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3255103"/>
                  </a:ext>
                </a:extLst>
              </a:tr>
              <a:tr h="252000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1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sz="900" b="1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4103353"/>
                  </a:ext>
                </a:extLst>
              </a:tr>
              <a:tr h="252000">
                <a:tc rowSpan="8">
                  <a:txBody>
                    <a:bodyPr/>
                    <a:lstStyle/>
                    <a:p>
                      <a:pPr algn="ctr"/>
                      <a:r>
                        <a:rPr lang="en-US" altLang="ko-KR" sz="900" b="1">
                          <a:latin typeface="+mn-lt"/>
                          <a:ea typeface="LG스마트체 Regular" panose="020B0600000101010101" pitchFamily="50" charset="-127"/>
                        </a:rPr>
                        <a:t>VCT</a:t>
                      </a:r>
                      <a:endParaRPr lang="ko-KR" altLang="en-US" sz="900" b="0"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판정 고도화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92255173"/>
                  </a:ext>
                </a:extLst>
              </a:tr>
              <a:tr h="252000">
                <a:tc vMerge="1">
                  <a:txBody>
                    <a:bodyPr/>
                    <a:lstStyle/>
                    <a:p>
                      <a:pPr algn="ctr"/>
                      <a:endParaRPr lang="en-US" altLang="ko-KR" sz="10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25868400"/>
                  </a:ext>
                </a:extLst>
              </a:tr>
              <a:tr h="252000">
                <a:tc vMerge="1">
                  <a:txBody>
                    <a:bodyPr/>
                    <a:lstStyle/>
                    <a:p>
                      <a:pPr algn="ctr"/>
                      <a:endParaRPr lang="en-US" altLang="ko-KR" sz="10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8365933"/>
                  </a:ext>
                </a:extLst>
              </a:tr>
              <a:tr h="252000">
                <a:tc vMerge="1">
                  <a:txBody>
                    <a:bodyPr/>
                    <a:lstStyle/>
                    <a:p>
                      <a:pPr algn="ctr"/>
                      <a:endParaRPr lang="en-US" altLang="ko-KR" sz="1000" b="1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9721597"/>
                  </a:ext>
                </a:extLst>
              </a:tr>
              <a:tr h="252000">
                <a:tc vMerge="1">
                  <a:txBody>
                    <a:bodyPr/>
                    <a:lstStyle/>
                    <a:p>
                      <a:pPr algn="ctr"/>
                      <a:endParaRPr lang="ko-KR" altLang="en-US" sz="1000" b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baseline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3406595"/>
                  </a:ext>
                </a:extLst>
              </a:tr>
              <a:tr h="252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28464579"/>
                  </a:ext>
                </a:extLst>
              </a:tr>
              <a:tr h="252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 pitchFamily="50" charset="-127"/>
                          <a:cs typeface="+mn-cs"/>
                        </a:rPr>
                        <a:t>성능 개선 및 표준화</a:t>
                      </a: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7021674"/>
                  </a:ext>
                </a:extLst>
              </a:tr>
              <a:tr h="252000">
                <a:tc vMerge="1">
                  <a:txBody>
                    <a:bodyPr/>
                    <a:lstStyle/>
                    <a:p>
                      <a:pPr algn="ctr"/>
                      <a:endParaRPr lang="ko-KR" altLang="en-US" sz="800" b="0"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6466" marR="6466" marT="6466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5001166"/>
                  </a:ext>
                </a:extLst>
              </a:tr>
            </a:tbl>
          </a:graphicData>
        </a:graphic>
      </p:graphicFrame>
      <p:sp>
        <p:nvSpPr>
          <p:cNvPr id="48" name="모서리가 둥근 직사각형 87">
            <a:extLst>
              <a:ext uri="{FF2B5EF4-FFF2-40B4-BE49-F238E27FC236}">
                <a16:creationId xmlns:a16="http://schemas.microsoft.com/office/drawing/2014/main" id="{559B07F8-2605-4018-9C1A-180D109A7101}"/>
              </a:ext>
            </a:extLst>
          </p:cNvPr>
          <p:cNvSpPr/>
          <p:nvPr/>
        </p:nvSpPr>
        <p:spPr>
          <a:xfrm>
            <a:off x="4420032" y="2683825"/>
            <a:ext cx="1512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fontAlgn="ctr"/>
            <a:r>
              <a:rPr lang="ko-KR" altLang="en-US" sz="80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모델</a:t>
            </a:r>
            <a:r>
              <a:rPr lang="en-US" altLang="ko-KR" sz="80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(PJT) </a:t>
            </a:r>
            <a:r>
              <a:rPr lang="ko-KR" altLang="en-US" sz="80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변경 시 </a:t>
            </a:r>
            <a:r>
              <a:rPr lang="en-US" altLang="ko-KR" sz="80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Spec</a:t>
            </a:r>
            <a:r>
              <a:rPr lang="ko-KR" altLang="en-US" sz="80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자동 변경</a:t>
            </a:r>
          </a:p>
        </p:txBody>
      </p:sp>
      <p:sp>
        <p:nvSpPr>
          <p:cNvPr id="49" name="Oval 113">
            <a:extLst>
              <a:ext uri="{FF2B5EF4-FFF2-40B4-BE49-F238E27FC236}">
                <a16:creationId xmlns:a16="http://schemas.microsoft.com/office/drawing/2014/main" id="{D75B6F0F-08E2-433F-9C03-EE6A20D85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2032" y="266633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17</a:t>
            </a:r>
          </a:p>
        </p:txBody>
      </p:sp>
      <p:sp>
        <p:nvSpPr>
          <p:cNvPr id="50" name="모서리가 둥근 직사각형 87">
            <a:extLst>
              <a:ext uri="{FF2B5EF4-FFF2-40B4-BE49-F238E27FC236}">
                <a16:creationId xmlns:a16="http://schemas.microsoft.com/office/drawing/2014/main" id="{6003123E-9E4C-4428-844F-F261F31B7FFA}"/>
              </a:ext>
            </a:extLst>
          </p:cNvPr>
          <p:cNvSpPr/>
          <p:nvPr/>
        </p:nvSpPr>
        <p:spPr>
          <a:xfrm>
            <a:off x="5242014" y="2937505"/>
            <a:ext cx="900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활성화 배출 재판정</a:t>
            </a:r>
          </a:p>
        </p:txBody>
      </p:sp>
      <p:sp>
        <p:nvSpPr>
          <p:cNvPr id="51" name="Oval 113">
            <a:extLst>
              <a:ext uri="{FF2B5EF4-FFF2-40B4-BE49-F238E27FC236}">
                <a16:creationId xmlns:a16="http://schemas.microsoft.com/office/drawing/2014/main" id="{460533F4-D6C7-418D-B3A9-589A5A92F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7813" y="291674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24</a:t>
            </a:r>
          </a:p>
        </p:txBody>
      </p:sp>
      <p:sp>
        <p:nvSpPr>
          <p:cNvPr id="52" name="모서리가 둥근 직사각형 87">
            <a:extLst>
              <a:ext uri="{FF2B5EF4-FFF2-40B4-BE49-F238E27FC236}">
                <a16:creationId xmlns:a16="http://schemas.microsoft.com/office/drawing/2014/main" id="{82F469EE-48FE-4E98-895F-47CD7ACEAE4A}"/>
              </a:ext>
            </a:extLst>
          </p:cNvPr>
          <p:cNvSpPr/>
          <p:nvPr/>
        </p:nvSpPr>
        <p:spPr>
          <a:xfrm>
            <a:off x="5069578" y="3188169"/>
            <a:ext cx="1728000" cy="108000"/>
          </a:xfrm>
          <a:prstGeom prst="round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조립 </a:t>
            </a:r>
            <a:r>
              <a:rPr kumimoji="1" lang="en-US" altLang="ko-KR" sz="700" b="1" kern="0" dirty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VCT </a:t>
            </a:r>
            <a:r>
              <a:rPr kumimoji="1" lang="ko-KR" altLang="en-US" sz="700" b="1" kern="0" dirty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최종판정 기능 개발</a:t>
            </a:r>
          </a:p>
        </p:txBody>
      </p:sp>
      <p:sp>
        <p:nvSpPr>
          <p:cNvPr id="53" name="Oval 113">
            <a:extLst>
              <a:ext uri="{FF2B5EF4-FFF2-40B4-BE49-F238E27FC236}">
                <a16:creationId xmlns:a16="http://schemas.microsoft.com/office/drawing/2014/main" id="{36E62133-D9B7-4922-82AC-E27B19FF7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33" y="317679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20</a:t>
            </a:r>
          </a:p>
        </p:txBody>
      </p:sp>
      <p:sp>
        <p:nvSpPr>
          <p:cNvPr id="54" name="모서리가 둥근 직사각형 87">
            <a:extLst>
              <a:ext uri="{FF2B5EF4-FFF2-40B4-BE49-F238E27FC236}">
                <a16:creationId xmlns:a16="http://schemas.microsoft.com/office/drawing/2014/main" id="{64BBFD5E-4728-4A49-B865-4ADB851133B8}"/>
              </a:ext>
            </a:extLst>
          </p:cNvPr>
          <p:cNvSpPr/>
          <p:nvPr/>
        </p:nvSpPr>
        <p:spPr>
          <a:xfrm>
            <a:off x="5998070" y="3439424"/>
            <a:ext cx="756000" cy="108000"/>
          </a:xfrm>
          <a:prstGeom prst="round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판정 조회 정보 추가 </a:t>
            </a:r>
          </a:p>
        </p:txBody>
      </p:sp>
      <p:sp>
        <p:nvSpPr>
          <p:cNvPr id="55" name="Oval 113">
            <a:extLst>
              <a:ext uri="{FF2B5EF4-FFF2-40B4-BE49-F238E27FC236}">
                <a16:creationId xmlns:a16="http://schemas.microsoft.com/office/drawing/2014/main" id="{F644784B-0593-425C-A769-0713535E5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766" y="342142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15</a:t>
            </a:r>
          </a:p>
        </p:txBody>
      </p:sp>
      <p:sp>
        <p:nvSpPr>
          <p:cNvPr id="56" name="모서리가 둥근 직사각형 87">
            <a:extLst>
              <a:ext uri="{FF2B5EF4-FFF2-40B4-BE49-F238E27FC236}">
                <a16:creationId xmlns:a16="http://schemas.microsoft.com/office/drawing/2014/main" id="{71A9A14F-AE25-4271-B00B-BFD381D2B62C}"/>
              </a:ext>
            </a:extLst>
          </p:cNvPr>
          <p:cNvSpPr/>
          <p:nvPr/>
        </p:nvSpPr>
        <p:spPr>
          <a:xfrm>
            <a:off x="5996306" y="3697684"/>
            <a:ext cx="756000" cy="108000"/>
          </a:xfrm>
          <a:prstGeom prst="round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판정 로직 이력 관리 </a:t>
            </a:r>
          </a:p>
        </p:txBody>
      </p:sp>
      <p:sp>
        <p:nvSpPr>
          <p:cNvPr id="57" name="Oval 113">
            <a:extLst>
              <a:ext uri="{FF2B5EF4-FFF2-40B4-BE49-F238E27FC236}">
                <a16:creationId xmlns:a16="http://schemas.microsoft.com/office/drawing/2014/main" id="{F55E58E0-9C4D-49EA-BD9E-2BCC2569C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766" y="367330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15</a:t>
            </a:r>
          </a:p>
        </p:txBody>
      </p:sp>
      <p:sp>
        <p:nvSpPr>
          <p:cNvPr id="58" name="모서리가 둥근 직사각형 87">
            <a:extLst>
              <a:ext uri="{FF2B5EF4-FFF2-40B4-BE49-F238E27FC236}">
                <a16:creationId xmlns:a16="http://schemas.microsoft.com/office/drawing/2014/main" id="{0611A3FE-B2A9-4638-8A94-CCD8C7DB82F4}"/>
              </a:ext>
            </a:extLst>
          </p:cNvPr>
          <p:cNvSpPr/>
          <p:nvPr/>
        </p:nvSpPr>
        <p:spPr>
          <a:xfrm>
            <a:off x="6163105" y="3953832"/>
            <a:ext cx="756000" cy="108000"/>
          </a:xfrm>
          <a:prstGeom prst="round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VCT </a:t>
            </a: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사후 판정 집계 </a:t>
            </a:r>
          </a:p>
        </p:txBody>
      </p:sp>
      <p:sp>
        <p:nvSpPr>
          <p:cNvPr id="59" name="Oval 113">
            <a:extLst>
              <a:ext uri="{FF2B5EF4-FFF2-40B4-BE49-F238E27FC236}">
                <a16:creationId xmlns:a16="http://schemas.microsoft.com/office/drawing/2014/main" id="{59B08DF2-11E4-4AF6-A6F0-4DA7A7AD97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398" y="394206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22</a:t>
            </a:r>
          </a:p>
        </p:txBody>
      </p:sp>
      <p:sp>
        <p:nvSpPr>
          <p:cNvPr id="60" name="모서리가 둥근 직사각형 87">
            <a:extLst>
              <a:ext uri="{FF2B5EF4-FFF2-40B4-BE49-F238E27FC236}">
                <a16:creationId xmlns:a16="http://schemas.microsoft.com/office/drawing/2014/main" id="{21E83367-2041-40DF-8287-5A49663896AC}"/>
              </a:ext>
            </a:extLst>
          </p:cNvPr>
          <p:cNvSpPr/>
          <p:nvPr/>
        </p:nvSpPr>
        <p:spPr>
          <a:xfrm>
            <a:off x="4540572" y="4206256"/>
            <a:ext cx="2376000" cy="108000"/>
          </a:xfrm>
          <a:prstGeom prst="round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Data </a:t>
            </a: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보관방식 표준화 </a:t>
            </a:r>
          </a:p>
        </p:txBody>
      </p:sp>
      <p:sp>
        <p:nvSpPr>
          <p:cNvPr id="61" name="Oval 113">
            <a:extLst>
              <a:ext uri="{FF2B5EF4-FFF2-40B4-BE49-F238E27FC236}">
                <a16:creationId xmlns:a16="http://schemas.microsoft.com/office/drawing/2014/main" id="{A8015997-F8D9-4B11-A8E5-2AF006F3F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572" y="418550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17</a:t>
            </a:r>
          </a:p>
        </p:txBody>
      </p:sp>
      <p:sp>
        <p:nvSpPr>
          <p:cNvPr id="65" name="모서리가 둥근 직사각형 87">
            <a:extLst>
              <a:ext uri="{FF2B5EF4-FFF2-40B4-BE49-F238E27FC236}">
                <a16:creationId xmlns:a16="http://schemas.microsoft.com/office/drawing/2014/main" id="{3628BC81-6324-4D6A-B01C-AE643BC4DFA1}"/>
              </a:ext>
            </a:extLst>
          </p:cNvPr>
          <p:cNvSpPr/>
          <p:nvPr/>
        </p:nvSpPr>
        <p:spPr>
          <a:xfrm>
            <a:off x="4296958" y="4465868"/>
            <a:ext cx="2844000" cy="108000"/>
          </a:xfrm>
          <a:prstGeom prst="round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VCT</a:t>
            </a: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성능</a:t>
            </a:r>
            <a: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기능개선</a:t>
            </a:r>
          </a:p>
        </p:txBody>
      </p:sp>
      <p:sp>
        <p:nvSpPr>
          <p:cNvPr id="66" name="Oval 113">
            <a:extLst>
              <a:ext uri="{FF2B5EF4-FFF2-40B4-BE49-F238E27FC236}">
                <a16:creationId xmlns:a16="http://schemas.microsoft.com/office/drawing/2014/main" id="{604823FE-45F0-46F5-83C1-80D788871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0958" y="444786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21</a:t>
            </a:r>
          </a:p>
        </p:txBody>
      </p:sp>
      <p:sp>
        <p:nvSpPr>
          <p:cNvPr id="67" name="모서리가 둥근 직사각형 87">
            <a:extLst>
              <a:ext uri="{FF2B5EF4-FFF2-40B4-BE49-F238E27FC236}">
                <a16:creationId xmlns:a16="http://schemas.microsoft.com/office/drawing/2014/main" id="{85AACCBE-46F0-4FDC-80D4-24D625790A0D}"/>
              </a:ext>
            </a:extLst>
          </p:cNvPr>
          <p:cNvSpPr/>
          <p:nvPr/>
        </p:nvSpPr>
        <p:spPr>
          <a:xfrm>
            <a:off x="7209155" y="2233637"/>
            <a:ext cx="396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진행중</a:t>
            </a:r>
          </a:p>
        </p:txBody>
      </p:sp>
      <p:sp>
        <p:nvSpPr>
          <p:cNvPr id="68" name="모서리가 둥근 직사각형 87">
            <a:extLst>
              <a:ext uri="{FF2B5EF4-FFF2-40B4-BE49-F238E27FC236}">
                <a16:creationId xmlns:a16="http://schemas.microsoft.com/office/drawing/2014/main" id="{D7029568-B17A-4A1D-9D05-8305064A46BD}"/>
              </a:ext>
            </a:extLst>
          </p:cNvPr>
          <p:cNvSpPr/>
          <p:nvPr/>
        </p:nvSpPr>
        <p:spPr>
          <a:xfrm>
            <a:off x="8048238" y="2228542"/>
            <a:ext cx="396000" cy="10800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ysClr val="windowText" lastClr="000000"/>
                </a:solidFill>
                <a:latin typeface="+mn-ea"/>
                <a:cs typeface="Arial"/>
              </a:rPr>
              <a:t>예정</a:t>
            </a:r>
          </a:p>
        </p:txBody>
      </p:sp>
      <p:sp>
        <p:nvSpPr>
          <p:cNvPr id="69" name="모서리가 둥근 직사각형 87">
            <a:extLst>
              <a:ext uri="{FF2B5EF4-FFF2-40B4-BE49-F238E27FC236}">
                <a16:creationId xmlns:a16="http://schemas.microsoft.com/office/drawing/2014/main" id="{9825FCD9-01C2-4906-AA98-192A69CA087A}"/>
              </a:ext>
            </a:extLst>
          </p:cNvPr>
          <p:cNvSpPr/>
          <p:nvPr/>
        </p:nvSpPr>
        <p:spPr>
          <a:xfrm>
            <a:off x="7628697" y="2233637"/>
            <a:ext cx="396000" cy="10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완료</a:t>
            </a:r>
          </a:p>
        </p:txBody>
      </p:sp>
      <p:graphicFrame>
        <p:nvGraphicFramePr>
          <p:cNvPr id="6" name="표 3">
            <a:extLst>
              <a:ext uri="{FF2B5EF4-FFF2-40B4-BE49-F238E27FC236}">
                <a16:creationId xmlns:a16="http://schemas.microsoft.com/office/drawing/2014/main" id="{D5947C42-40FF-5ADE-2EE4-8FA302D53883}"/>
              </a:ext>
            </a:extLst>
          </p:cNvPr>
          <p:cNvGraphicFramePr>
            <a:graphicFrameLocks noGrp="1"/>
          </p:cNvGraphicFramePr>
          <p:nvPr/>
        </p:nvGraphicFramePr>
        <p:xfrm>
          <a:off x="1538015" y="5693631"/>
          <a:ext cx="6991621" cy="6747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88121">
                  <a:extLst>
                    <a:ext uri="{9D8B030D-6E8A-4147-A177-3AD203B41FA5}">
                      <a16:colId xmlns:a16="http://schemas.microsoft.com/office/drawing/2014/main" val="3042033024"/>
                    </a:ext>
                  </a:extLst>
                </a:gridCol>
                <a:gridCol w="1080700">
                  <a:extLst>
                    <a:ext uri="{9D8B030D-6E8A-4147-A177-3AD203B41FA5}">
                      <a16:colId xmlns:a16="http://schemas.microsoft.com/office/drawing/2014/main" val="2998497398"/>
                    </a:ext>
                  </a:extLst>
                </a:gridCol>
                <a:gridCol w="1080700">
                  <a:extLst>
                    <a:ext uri="{9D8B030D-6E8A-4147-A177-3AD203B41FA5}">
                      <a16:colId xmlns:a16="http://schemas.microsoft.com/office/drawing/2014/main" val="1387175064"/>
                    </a:ext>
                  </a:extLst>
                </a:gridCol>
                <a:gridCol w="986804">
                  <a:extLst>
                    <a:ext uri="{9D8B030D-6E8A-4147-A177-3AD203B41FA5}">
                      <a16:colId xmlns:a16="http://schemas.microsoft.com/office/drawing/2014/main" val="1255822071"/>
                    </a:ext>
                  </a:extLst>
                </a:gridCol>
                <a:gridCol w="1174596">
                  <a:extLst>
                    <a:ext uri="{9D8B030D-6E8A-4147-A177-3AD203B41FA5}">
                      <a16:colId xmlns:a16="http://schemas.microsoft.com/office/drawing/2014/main" val="3507646051"/>
                    </a:ext>
                  </a:extLst>
                </a:gridCol>
                <a:gridCol w="1080700">
                  <a:extLst>
                    <a:ext uri="{9D8B030D-6E8A-4147-A177-3AD203B41FA5}">
                      <a16:colId xmlns:a16="http://schemas.microsoft.com/office/drawing/2014/main" val="1147132441"/>
                    </a:ext>
                  </a:extLst>
                </a:gridCol>
              </a:tblGrid>
              <a:tr h="19800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항목명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요건정의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설계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개발</a:t>
                      </a:r>
                      <a:endParaRPr lang="ko-KR" altLang="en-US" sz="800" b="1">
                        <a:solidFill>
                          <a:srgbClr val="006600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테스트</a:t>
                      </a:r>
                      <a:endParaRPr lang="ko-KR" altLang="en-US" sz="800" b="0" i="1">
                        <a:solidFill>
                          <a:schemeClr val="bg1">
                            <a:lumMod val="50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155186"/>
                  </a:ext>
                </a:extLst>
              </a:tr>
              <a:tr h="238391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  <a:cs typeface="Arial"/>
                        </a:rPr>
                        <a:t>판정 고도화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100% (9/5)</a:t>
                      </a:r>
                      <a:endParaRPr lang="ko-KR" altLang="en-US" sz="800" b="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100% (9/26)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100% (~11/21)</a:t>
                      </a:r>
                      <a:endParaRPr lang="ko-KR" altLang="en-US" sz="800" b="1" i="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85% (~11/21)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85% (</a:t>
                      </a:r>
                      <a:r>
                        <a:rPr lang="ko-KR" altLang="en-US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수시</a:t>
                      </a: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-VM</a:t>
                      </a:r>
                      <a:r>
                        <a:rPr lang="ko-KR" altLang="en-US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형</a:t>
                      </a: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0073025"/>
                  </a:ext>
                </a:extLst>
              </a:tr>
              <a:tr h="2383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Arial Narrow"/>
                          <a:ea typeface="LG스마트체 Regular"/>
                          <a:cs typeface="Arial"/>
                        </a:rPr>
                        <a:t>성능 개선 및 표준화</a:t>
                      </a:r>
                      <a:endParaRPr lang="ko-KR" altLang="en-US" sz="800" b="0">
                        <a:latin typeface="Arial Narrow"/>
                        <a:ea typeface="LG스마트체 Regular"/>
                        <a:cs typeface="Arial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100%(9/5)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(9/30)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(~10/31)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(~11/06)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kern="1200" dirty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 (11/25)</a:t>
                      </a:r>
                      <a:endParaRPr lang="ko-KR" altLang="en-US" sz="800" b="1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623452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5E22DF0C-BA82-C475-9ADD-0257784FD08E}"/>
              </a:ext>
            </a:extLst>
          </p:cNvPr>
          <p:cNvSpPr txBox="1">
            <a:spLocks/>
          </p:cNvSpPr>
          <p:nvPr/>
        </p:nvSpPr>
        <p:spPr>
          <a:xfrm>
            <a:off x="5692014" y="670566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DX-#4,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 dirty="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89503859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50361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Virtual CT</a:t>
            </a:r>
            <a:r>
              <a:rPr lang="ko-KR" altLang="en-US" sz="1400" b="1">
                <a:solidFill>
                  <a:prstClr val="black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고도화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kern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defRPr>
            </a:lvl1pPr>
          </a:lstStyle>
          <a:p>
            <a:r>
              <a:rPr lang="en-US" altLang="ko-KR">
                <a:latin typeface="+mj-lt"/>
                <a:ea typeface="LG스마트체 Regular" panose="020B0600000101010101" pitchFamily="50" charset="-127"/>
              </a:rPr>
              <a:t>1. </a:t>
            </a:r>
            <a:r>
              <a:rPr lang="ko-KR" altLang="en-US">
                <a:latin typeface="+mj-lt"/>
                <a:ea typeface="LG스마트체 Regular" panose="020B0600000101010101" pitchFamily="50" charset="-127"/>
              </a:rPr>
              <a:t>과제 진행 현황</a:t>
            </a:r>
            <a:r>
              <a:rPr lang="en-US" altLang="ko-KR">
                <a:latin typeface="+mj-lt"/>
                <a:ea typeface="LG스마트체 Regular" panose="020B0600000101010101" pitchFamily="50" charset="-127"/>
              </a:rPr>
              <a:t>_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공정검사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</a:rPr>
              <a:t>DX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</a:rPr>
              <a:t>팀</a:t>
            </a:r>
            <a:endParaRPr lang="ko-KR" altLang="en-US"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99B4FFA-3CB7-2B3E-9904-4820961DAB12}"/>
              </a:ext>
            </a:extLst>
          </p:cNvPr>
          <p:cNvSpPr txBox="1"/>
          <p:nvPr/>
        </p:nvSpPr>
        <p:spPr>
          <a:xfrm>
            <a:off x="8032766" y="670208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11/26(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15</a:t>
            </a:r>
            <a:r>
              <a:rPr lang="ko-KR" altLang="en-US" dirty="0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021220A9-BCD0-DA94-CAEA-70CED4973AC2}"/>
              </a:ext>
            </a:extLst>
          </p:cNvPr>
          <p:cNvSpPr txBox="1">
            <a:spLocks/>
          </p:cNvSpPr>
          <p:nvPr/>
        </p:nvSpPr>
        <p:spPr>
          <a:xfrm>
            <a:off x="8744499" y="500931"/>
            <a:ext cx="942567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추승</a:t>
            </a:r>
            <a:r>
              <a:rPr lang="ko-KR" altLang="en-US" sz="1100" dirty="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식</a:t>
            </a:r>
            <a:r>
              <a:rPr lang="en-US" altLang="ko-KR" sz="11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4" name="표 1">
            <a:extLst>
              <a:ext uri="{FF2B5EF4-FFF2-40B4-BE49-F238E27FC236}">
                <a16:creationId xmlns:a16="http://schemas.microsoft.com/office/drawing/2014/main" id="{2BA08E91-2D74-5AEB-FDAB-E2B6E47D5FD7}"/>
              </a:ext>
            </a:extLst>
          </p:cNvPr>
          <p:cNvGraphicFramePr>
            <a:graphicFrameLocks noGrp="1"/>
          </p:cNvGraphicFramePr>
          <p:nvPr/>
        </p:nvGraphicFramePr>
        <p:xfrm>
          <a:off x="122467" y="864195"/>
          <a:ext cx="9644176" cy="5904720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59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(W48)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9629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VCT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고도화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ESMI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(ESNJ)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판정고도화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endParaRPr lang="en-US" altLang="ko-KR" sz="1000" b="0" kern="1200" baseline="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성능개선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및 표준화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진행현황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 STK VCT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최종판정 기능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개발은 완료되었으며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해당 기능은 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VM</a:t>
                      </a:r>
                      <a:r>
                        <a:rPr lang="ko-KR" altLang="en-US" sz="10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별 적용이 필요하기 때문에 법인과 협의 후 적용 예정입니다</a:t>
                      </a:r>
                      <a:r>
                        <a:rPr lang="en-US" altLang="ko-KR" sz="1000" b="0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  <a:endParaRPr lang="en-US" altLang="ko-KR" sz="10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2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2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2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anose="020B0604020202020204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12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anose="020B0604020202020204" pitchFamily="34" charset="0"/>
                        </a:rPr>
                      </a:b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en-US" altLang="ko-KR" sz="1000" b="0" kern="1200" baseline="0" dirty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1000" b="0" kern="1200" baseline="0" dirty="0">
                          <a:solidFill>
                            <a:srgbClr val="0000FF"/>
                          </a:solidFill>
                          <a:latin typeface="+mj-ea"/>
                          <a:ea typeface="+mn-ea"/>
                          <a:cs typeface="Malgun Gothic Semilight"/>
                        </a:rPr>
                        <a:t> 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추승식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B6F1F13D-D509-12F6-CB19-33CFADC1AE1A}"/>
              </a:ext>
            </a:extLst>
          </p:cNvPr>
          <p:cNvSpPr txBox="1">
            <a:spLocks/>
          </p:cNvSpPr>
          <p:nvPr/>
        </p:nvSpPr>
        <p:spPr>
          <a:xfrm>
            <a:off x="5692014" y="670566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DX-#4,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 dirty="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43F1FF8-7B15-3BBC-FA1F-6CCD3A6B8873}"/>
              </a:ext>
            </a:extLst>
          </p:cNvPr>
          <p:cNvGraphicFramePr>
            <a:graphicFrameLocks noGrp="1"/>
          </p:cNvGraphicFramePr>
          <p:nvPr/>
        </p:nvGraphicFramePr>
        <p:xfrm>
          <a:off x="1498356" y="1284158"/>
          <a:ext cx="7060346" cy="1619296"/>
        </p:xfrm>
        <a:graphic>
          <a:graphicData uri="http://schemas.openxmlformats.org/drawingml/2006/table">
            <a:tbl>
              <a:tblPr/>
              <a:tblGrid>
                <a:gridCol w="1442436">
                  <a:extLst>
                    <a:ext uri="{9D8B030D-6E8A-4147-A177-3AD203B41FA5}">
                      <a16:colId xmlns:a16="http://schemas.microsoft.com/office/drawing/2014/main" val="222725115"/>
                    </a:ext>
                  </a:extLst>
                </a:gridCol>
                <a:gridCol w="2808955">
                  <a:extLst>
                    <a:ext uri="{9D8B030D-6E8A-4147-A177-3AD203B41FA5}">
                      <a16:colId xmlns:a16="http://schemas.microsoft.com/office/drawing/2014/main" val="984918428"/>
                    </a:ext>
                  </a:extLst>
                </a:gridCol>
                <a:gridCol w="2808955">
                  <a:extLst>
                    <a:ext uri="{9D8B030D-6E8A-4147-A177-3AD203B41FA5}">
                      <a16:colId xmlns:a16="http://schemas.microsoft.com/office/drawing/2014/main" val="3063556838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As-Was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As-Is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4103353"/>
                  </a:ext>
                </a:extLst>
              </a:tr>
              <a:tr h="21286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변경시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 변경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생산 모델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변경시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작업자가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Spec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을 수동 변경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anose="020B0604020202020204" pitchFamily="34" charset="0"/>
                        </a:rPr>
                        <a:t>생산 모델이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anose="020B0604020202020204" pitchFamily="34" charset="0"/>
                        </a:rPr>
                        <a:t>변경시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anose="020B0604020202020204" pitchFamily="34" charset="0"/>
                        </a:rPr>
                        <a:t> 해당 모델에 맞게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anose="020B0604020202020204" pitchFamily="34" charset="0"/>
                        </a:rPr>
                        <a:t>Spec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anose="020B0604020202020204" pitchFamily="34" charset="0"/>
                        </a:rPr>
                        <a:t>이 자동 변경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2255173"/>
                  </a:ext>
                </a:extLst>
              </a:tr>
              <a:tr h="21286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 배출 재판정 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VCT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판정시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검사데이터 </a:t>
                      </a:r>
                      <a:r>
                        <a:rPr lang="ko-KR" altLang="en-US" sz="9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없을경우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Hold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로 활성화 배출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HOLD </a:t>
                      </a:r>
                      <a:r>
                        <a:rPr kumimoji="1"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판정  </a:t>
                      </a:r>
                      <a:r>
                        <a:rPr kumimoji="1"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kumimoji="1"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후 재판정 하여 </a:t>
                      </a:r>
                      <a:r>
                        <a:rPr kumimoji="1"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OK</a:t>
                      </a:r>
                      <a:r>
                        <a:rPr kumimoji="1"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판정 시 </a:t>
                      </a:r>
                      <a:r>
                        <a:rPr kumimoji="1"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Release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8638796"/>
                  </a:ext>
                </a:extLst>
              </a:tr>
              <a:tr h="302996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STK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VCT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최종판정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 / STK</a:t>
                      </a:r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모노셀</a:t>
                      </a:r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</a:t>
                      </a:r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가 다를 경우</a:t>
                      </a:r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STK </a:t>
                      </a:r>
                      <a:r>
                        <a:rPr lang="ko-KR" altLang="en-US" sz="9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모노셀</a:t>
                      </a:r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기준 판정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LAM / STK </a:t>
                      </a:r>
                      <a:r>
                        <a:rPr lang="ko-KR" altLang="en-US" sz="9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모노셀</a:t>
                      </a:r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ID  </a:t>
                      </a:r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  각각 판정 후 판정 순위 룰에 따름</a:t>
                      </a:r>
                      <a:endParaRPr lang="en-US" altLang="ko-KR" sz="9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(NG&gt;HOLD&gt;OK)</a:t>
                      </a:r>
                      <a:endParaRPr lang="ko-KR" altLang="en-US" sz="9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2444858"/>
                  </a:ext>
                </a:extLst>
              </a:tr>
              <a:tr h="21286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판정 조회 화면 추가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</a:t>
                      </a:r>
                      <a:endParaRPr lang="ko-KR" altLang="en-US" sz="9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PJT </a:t>
                      </a:r>
                      <a:r>
                        <a:rPr lang="ko-KR" altLang="en-US" sz="900" b="0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명 및 </a:t>
                      </a:r>
                      <a:r>
                        <a:rPr lang="en-US" altLang="ko-KR" sz="900" b="0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Stacking </a:t>
                      </a:r>
                      <a:r>
                        <a:rPr lang="ko-KR" altLang="en-US" sz="900" b="0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관련 설비 유닛 정보 추가</a:t>
                      </a:r>
                      <a:endParaRPr lang="en-US" altLang="ko-KR" sz="900" b="0" baseline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5985619"/>
                  </a:ext>
                </a:extLst>
              </a:tr>
              <a:tr h="21286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판정 로직 이력 관리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VCT </a:t>
                      </a:r>
                      <a:r>
                        <a:rPr lang="ko-KR" altLang="en-US" sz="900" b="0" baseline="0" dirty="0" err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판정로직</a:t>
                      </a:r>
                      <a:r>
                        <a:rPr lang="ko-KR" altLang="en-US" sz="900" b="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최종 </a:t>
                      </a:r>
                      <a:r>
                        <a:rPr lang="ko-KR" altLang="en-US" sz="900" b="0" baseline="0" dirty="0" err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수정자</a:t>
                      </a:r>
                      <a:r>
                        <a:rPr lang="en-US" altLang="ko-KR" sz="900" b="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수정일만 관리 </a:t>
                      </a:r>
                      <a:endParaRPr lang="ko-KR" altLang="en-US" sz="9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baseline="0" dirty="0" err="1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판정로직</a:t>
                      </a:r>
                      <a:r>
                        <a:rPr lang="ko-KR" altLang="en-US" sz="900" b="0" baseline="0" dirty="0">
                          <a:solidFill>
                            <a:srgbClr val="000000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수정에 대한 전체 이력 관리 </a:t>
                      </a:r>
                      <a:endParaRPr lang="ko-KR" altLang="en-US" sz="900" b="0" i="0" u="none" strike="noStrike" baseline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8110309"/>
                  </a:ext>
                </a:extLst>
              </a:tr>
              <a:tr h="21286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STK VCT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사후 판정 집계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최초 판정 결과만 반영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사후 판정 </a:t>
                      </a:r>
                      <a:r>
                        <a:rPr lang="ko-KR" altLang="en-US" sz="9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진행시</a:t>
                      </a:r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이력 저장 및 사후 판정 결과 반영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218498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0F5EB5D-DB74-959B-0134-F7E11D3EDDDC}"/>
              </a:ext>
            </a:extLst>
          </p:cNvPr>
          <p:cNvGraphicFramePr>
            <a:graphicFrameLocks noGrp="1"/>
          </p:cNvGraphicFramePr>
          <p:nvPr/>
        </p:nvGraphicFramePr>
        <p:xfrm>
          <a:off x="1512855" y="3101381"/>
          <a:ext cx="7092000" cy="1662380"/>
        </p:xfrm>
        <a:graphic>
          <a:graphicData uri="http://schemas.openxmlformats.org/drawingml/2006/table">
            <a:tbl>
              <a:tblPr/>
              <a:tblGrid>
                <a:gridCol w="1188000">
                  <a:extLst>
                    <a:ext uri="{9D8B030D-6E8A-4147-A177-3AD203B41FA5}">
                      <a16:colId xmlns:a16="http://schemas.microsoft.com/office/drawing/2014/main" val="222725115"/>
                    </a:ext>
                  </a:extLst>
                </a:gridCol>
                <a:gridCol w="2866177">
                  <a:extLst>
                    <a:ext uri="{9D8B030D-6E8A-4147-A177-3AD203B41FA5}">
                      <a16:colId xmlns:a16="http://schemas.microsoft.com/office/drawing/2014/main" val="984918428"/>
                    </a:ext>
                  </a:extLst>
                </a:gridCol>
                <a:gridCol w="3037823">
                  <a:extLst>
                    <a:ext uri="{9D8B030D-6E8A-4147-A177-3AD203B41FA5}">
                      <a16:colId xmlns:a16="http://schemas.microsoft.com/office/drawing/2014/main" val="3063556838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As-Was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As-Is</a:t>
                      </a:r>
                    </a:p>
                  </a:txBody>
                  <a:tcPr marL="6466" marR="6466" marT="646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4103353"/>
                  </a:ext>
                </a:extLst>
              </a:tr>
              <a:tr h="69038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보관방식 표준화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일반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Table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구조</a:t>
                      </a:r>
                    </a:p>
                  </a:txBody>
                  <a:tcPr marL="6466" marR="6466" marT="6466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일별 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Partition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구조 </a:t>
                      </a:r>
                    </a:p>
                  </a:txBody>
                  <a:tcPr marL="6466" marR="6466" marT="6466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2255173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VCT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성능 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기능개선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이중 저장</a:t>
                      </a:r>
                      <a:r>
                        <a:rPr kumimoji="1"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kumimoji="1" lang="ko-KR" altLang="en-US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및 처리로 인해  </a:t>
                      </a:r>
                      <a:r>
                        <a:rPr kumimoji="1" lang="en-US" altLang="ko-KR" sz="8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DB </a:t>
                      </a:r>
                      <a:r>
                        <a:rPr kumimoji="1" lang="ko-KR" altLang="en-US" sz="8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리소스</a:t>
                      </a:r>
                      <a:r>
                        <a:rPr kumimoji="1" lang="en-US" altLang="ko-KR" sz="8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(CPU/</a:t>
                      </a:r>
                      <a:r>
                        <a:rPr kumimoji="1" lang="ko-KR" altLang="en-US" sz="8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메모리</a:t>
                      </a:r>
                      <a:r>
                        <a:rPr kumimoji="1" lang="en-US" altLang="ko-KR" sz="8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kumimoji="1" lang="ko-KR" altLang="en-US" sz="8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사용량 증가</a:t>
                      </a:r>
                      <a:endParaRPr lang="ko-KR" altLang="en-US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466" marR="6466" marT="6466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처리 방식 개선을 통해 성능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기능개선</a:t>
                      </a:r>
                    </a:p>
                  </a:txBody>
                  <a:tcPr marL="6466" marR="6466" marT="6466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8638796"/>
                  </a:ext>
                </a:extLst>
              </a:tr>
            </a:tbl>
          </a:graphicData>
        </a:graphic>
      </p:graphicFrame>
      <p:graphicFrame>
        <p:nvGraphicFramePr>
          <p:cNvPr id="13" name="표 3">
            <a:extLst>
              <a:ext uri="{FF2B5EF4-FFF2-40B4-BE49-F238E27FC236}">
                <a16:creationId xmlns:a16="http://schemas.microsoft.com/office/drawing/2014/main" id="{E532F36F-3C3B-5334-2BB9-BDFF2245EDCA}"/>
              </a:ext>
            </a:extLst>
          </p:cNvPr>
          <p:cNvGraphicFramePr>
            <a:graphicFrameLocks noGrp="1"/>
          </p:cNvGraphicFramePr>
          <p:nvPr/>
        </p:nvGraphicFramePr>
        <p:xfrm>
          <a:off x="1579450" y="5112375"/>
          <a:ext cx="6979252" cy="1656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3252">
                  <a:extLst>
                    <a:ext uri="{9D8B030D-6E8A-4147-A177-3AD203B41FA5}">
                      <a16:colId xmlns:a16="http://schemas.microsoft.com/office/drawing/2014/main" val="304203302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2998497398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138717506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1255822071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3507646051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1147132441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요건 명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요건 정의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분석</a:t>
                      </a:r>
                      <a:r>
                        <a:rPr lang="en-US" altLang="ko-KR" sz="9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설계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</a:t>
                      </a:r>
                      <a:endParaRPr lang="ko-KR" altLang="en-US" sz="900" b="1" baseline="0" dirty="0">
                        <a:solidFill>
                          <a:srgbClr val="006600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baseline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테스트</a:t>
                      </a:r>
                      <a:endParaRPr lang="ko-KR" altLang="en-US" sz="900" b="0" i="1" baseline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1" kern="120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155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변경시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자동 변경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121211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 배출 재판정 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100%(5/5)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100%(5/5)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100%(5/5)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100%(5/5)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100%(5/5)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9553704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STK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VCT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최종판정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0%(0/4)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1726617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판정 조회 화면 추가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34155134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판정 로직 이력 관리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100%(2/2)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100%(2/2)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100%(2/2)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100%(2/2)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100%(2/2)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4507195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STK VCT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사후 판정 집계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100%(3/3)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100%(3/3)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100%(3/3)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100%(3/3)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100%(3/3)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3621653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Data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보관방식 표준화</a:t>
                      </a:r>
                    </a:p>
                  </a:txBody>
                  <a:tcPr marL="3600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100%(4/4)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086760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VCT </a:t>
                      </a:r>
                      <a:r>
                        <a:rPr lang="ko-KR" altLang="en-US" sz="900" b="0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성능 기능</a:t>
                      </a:r>
                      <a:r>
                        <a:rPr lang="en-US" altLang="ko-KR" sz="900" b="0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baseline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개선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100%(12/12)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100%(12/12)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100%(12/12)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100%(12/12)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100%(12/12)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415788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52305D-DEEC-1F19-3589-593A55E552AD}"/>
              </a:ext>
            </a:extLst>
          </p:cNvPr>
          <p:cNvSpPr/>
          <p:nvPr/>
        </p:nvSpPr>
        <p:spPr>
          <a:xfrm>
            <a:off x="3884081" y="3502382"/>
            <a:ext cx="1647835" cy="739503"/>
          </a:xfrm>
          <a:prstGeom prst="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lIns="0" rIns="0" rtlCol="0" anchor="t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1. 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데이터 </a:t>
            </a:r>
            <a:r>
              <a:rPr kumimoji="1" lang="ko-KR" altLang="en-US" sz="800" b="1" dirty="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조회시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전체 데이터를  </a:t>
            </a: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Scan</a:t>
            </a:r>
            <a:b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2. 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보관주기 이후 데이터 관리 어려움</a:t>
            </a:r>
            <a:b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 (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해당 날짜 </a:t>
            </a: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Delete)</a:t>
            </a:r>
            <a:b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3. SPC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와 보관 주기 상이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7" name="원통형 16">
            <a:extLst>
              <a:ext uri="{FF2B5EF4-FFF2-40B4-BE49-F238E27FC236}">
                <a16:creationId xmlns:a16="http://schemas.microsoft.com/office/drawing/2014/main" id="{2E18F214-EE02-43D0-5B58-65C5F169D8FF}"/>
              </a:ext>
            </a:extLst>
          </p:cNvPr>
          <p:cNvSpPr/>
          <p:nvPr/>
        </p:nvSpPr>
        <p:spPr>
          <a:xfrm>
            <a:off x="2758633" y="3577419"/>
            <a:ext cx="917682" cy="400611"/>
          </a:xfrm>
          <a:prstGeom prst="can">
            <a:avLst>
              <a:gd name="adj" fmla="val 12554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판정 결과 </a:t>
            </a:r>
            <a:r>
              <a:rPr kumimoji="1" lang="en-US" altLang="ko-KR" sz="8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70</a:t>
            </a:r>
            <a:r>
              <a:rPr kumimoji="1" lang="ko-KR" altLang="en-US" sz="8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보관</a:t>
            </a:r>
            <a:endParaRPr kumimoji="1" lang="en-US" altLang="ko-KR" sz="800" b="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 err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셀묶음</a:t>
            </a:r>
            <a:r>
              <a:rPr kumimoji="1" lang="ko-KR" altLang="en-US" sz="8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정보 </a:t>
            </a:r>
            <a:r>
              <a:rPr kumimoji="1" lang="en-US" altLang="ko-KR" sz="8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</a:t>
            </a:r>
            <a:r>
              <a:rPr kumimoji="1" lang="ko-KR" altLang="en-US" sz="8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 보관</a:t>
            </a:r>
          </a:p>
        </p:txBody>
      </p:sp>
      <p:sp>
        <p:nvSpPr>
          <p:cNvPr id="18" name="오른쪽 중괄호 17">
            <a:extLst>
              <a:ext uri="{FF2B5EF4-FFF2-40B4-BE49-F238E27FC236}">
                <a16:creationId xmlns:a16="http://schemas.microsoft.com/office/drawing/2014/main" id="{C84AFB66-FA7B-827D-CEC2-7B1A07A2FE6D}"/>
              </a:ext>
            </a:extLst>
          </p:cNvPr>
          <p:cNvSpPr/>
          <p:nvPr/>
        </p:nvSpPr>
        <p:spPr>
          <a:xfrm>
            <a:off x="3687375" y="3588657"/>
            <a:ext cx="108000" cy="399059"/>
          </a:xfrm>
          <a:prstGeom prst="rightBrace">
            <a:avLst/>
          </a:prstGeom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ko-KR" altLang="en-US" sz="8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19" name="원통형 18">
            <a:extLst>
              <a:ext uri="{FF2B5EF4-FFF2-40B4-BE49-F238E27FC236}">
                <a16:creationId xmlns:a16="http://schemas.microsoft.com/office/drawing/2014/main" id="{D88C8975-A21E-62EB-2139-A574A2860A9A}"/>
              </a:ext>
            </a:extLst>
          </p:cNvPr>
          <p:cNvSpPr/>
          <p:nvPr/>
        </p:nvSpPr>
        <p:spPr>
          <a:xfrm>
            <a:off x="5739683" y="3904879"/>
            <a:ext cx="1044000" cy="116538"/>
          </a:xfrm>
          <a:prstGeom prst="can">
            <a:avLst>
              <a:gd name="adj" fmla="val 49740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2025-06-01</a:t>
            </a:r>
            <a:endParaRPr kumimoji="1" lang="ko-KR" altLang="en-US" sz="800" b="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0" name="원통형 19">
            <a:extLst>
              <a:ext uri="{FF2B5EF4-FFF2-40B4-BE49-F238E27FC236}">
                <a16:creationId xmlns:a16="http://schemas.microsoft.com/office/drawing/2014/main" id="{A025DCFA-9AC9-9D7E-B2B4-4ACBF99A7C26}"/>
              </a:ext>
            </a:extLst>
          </p:cNvPr>
          <p:cNvSpPr/>
          <p:nvPr/>
        </p:nvSpPr>
        <p:spPr>
          <a:xfrm>
            <a:off x="5739683" y="3652943"/>
            <a:ext cx="1044000" cy="116538"/>
          </a:xfrm>
          <a:prstGeom prst="can">
            <a:avLst>
              <a:gd name="adj" fmla="val 49740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2025-07-29</a:t>
            </a:r>
            <a:endParaRPr kumimoji="1" lang="ko-KR" altLang="en-US" sz="800" b="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1" name="원통형 20">
            <a:extLst>
              <a:ext uri="{FF2B5EF4-FFF2-40B4-BE49-F238E27FC236}">
                <a16:creationId xmlns:a16="http://schemas.microsoft.com/office/drawing/2014/main" id="{12C240E2-9F40-21BF-41EF-9CE257AF33C1}"/>
              </a:ext>
            </a:extLst>
          </p:cNvPr>
          <p:cNvSpPr/>
          <p:nvPr/>
        </p:nvSpPr>
        <p:spPr>
          <a:xfrm>
            <a:off x="5739683" y="3530784"/>
            <a:ext cx="1044000" cy="116538"/>
          </a:xfrm>
          <a:prstGeom prst="can">
            <a:avLst>
              <a:gd name="adj" fmla="val 49740"/>
            </a:avLst>
          </a:prstGeom>
          <a:solidFill>
            <a:srgbClr val="FFFFFF">
              <a:lumMod val="95000"/>
            </a:srgbClr>
          </a:solidFill>
          <a:ln w="317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800" b="1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2025-07-30</a:t>
            </a:r>
            <a:endParaRPr kumimoji="1" lang="ko-KR" altLang="en-US" sz="800" b="1" dirty="0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44A43C9-577F-AC5C-632A-BFBE7E7A8C62}"/>
              </a:ext>
            </a:extLst>
          </p:cNvPr>
          <p:cNvSpPr/>
          <p:nvPr/>
        </p:nvSpPr>
        <p:spPr bwMode="auto">
          <a:xfrm>
            <a:off x="5774826" y="3850821"/>
            <a:ext cx="1027905" cy="45719"/>
          </a:xfrm>
          <a:prstGeom prst="rect">
            <a:avLst/>
          </a:pr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36000" rIns="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defTabSz="957263"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kumimoji="1" lang="ko-KR" altLang="en-US" sz="3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endParaRPr kumimoji="1" lang="en-US" altLang="ko-KR" sz="300" b="1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defTabSz="957263" fontAlgn="base" latinLnBrk="0">
              <a:spcBef>
                <a:spcPct val="20000"/>
              </a:spcBef>
              <a:spcAft>
                <a:spcPct val="0"/>
              </a:spcAft>
            </a:pPr>
            <a:r>
              <a:rPr kumimoji="1" lang="ko-KR" altLang="en-US" sz="3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  <a:endParaRPr kumimoji="1" lang="en-US" altLang="ko-KR" sz="300" b="1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  <a:p>
            <a:pPr algn="ctr" defTabSz="957263" fontAlgn="base" latinLnBrk="0">
              <a:spcBef>
                <a:spcPct val="20000"/>
              </a:spcBef>
              <a:spcAft>
                <a:spcPct val="0"/>
              </a:spcAft>
            </a:pPr>
            <a:r>
              <a:rPr kumimoji="1" lang="ko-KR" altLang="en-US" sz="300" b="1" dirty="0">
                <a:latin typeface="Arial Narrow" panose="020B0606020202030204" pitchFamily="34" charset="0"/>
                <a:ea typeface="LG스마트체 Regular" panose="020B0600000101010101" pitchFamily="50" charset="-127"/>
              </a:rPr>
              <a:t>●</a:t>
            </a:r>
          </a:p>
          <a:p>
            <a:pPr algn="ctr" defTabSz="957263"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endParaRPr kumimoji="1" lang="ko-KR" altLang="en-US" sz="300" b="1" dirty="0"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3" name="오른쪽 중괄호 22">
            <a:extLst>
              <a:ext uri="{FF2B5EF4-FFF2-40B4-BE49-F238E27FC236}">
                <a16:creationId xmlns:a16="http://schemas.microsoft.com/office/drawing/2014/main" id="{BD9EC70E-8587-ED89-7852-E1EE3EEDC251}"/>
              </a:ext>
            </a:extLst>
          </p:cNvPr>
          <p:cNvSpPr/>
          <p:nvPr/>
        </p:nvSpPr>
        <p:spPr>
          <a:xfrm>
            <a:off x="6873240" y="3571956"/>
            <a:ext cx="134640" cy="406073"/>
          </a:xfrm>
          <a:prstGeom prst="rightBrace">
            <a:avLst/>
          </a:prstGeom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ko-KR" altLang="en-US" sz="800" b="1">
              <a:solidFill>
                <a:srgbClr val="000000"/>
              </a:solidFill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993E27E-8243-B622-838D-8C5ED330307B}"/>
              </a:ext>
            </a:extLst>
          </p:cNvPr>
          <p:cNvSpPr/>
          <p:nvPr/>
        </p:nvSpPr>
        <p:spPr>
          <a:xfrm>
            <a:off x="7078389" y="3491607"/>
            <a:ext cx="2493787" cy="692908"/>
          </a:xfrm>
          <a:prstGeom prst="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lIns="0" rIns="0" rtlCol="0" anchor="t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1. </a:t>
            </a:r>
            <a:r>
              <a:rPr kumimoji="1" lang="ko-KR" altLang="en-US" sz="800" b="1" dirty="0" err="1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조회시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해당 날짜 데이터만 </a:t>
            </a: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Scan </a:t>
            </a:r>
          </a:p>
          <a:p>
            <a:pPr marL="0" marR="0" lvl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2. 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보관주기 이후 데이터 삭제 관리 용이</a:t>
            </a:r>
            <a:b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    (Partition Drop)</a:t>
            </a:r>
            <a:b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3. SPC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와 보관주기 동일 </a:t>
            </a: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(60</a:t>
            </a:r>
            <a:r>
              <a:rPr kumimoji="1" lang="ko-KR" altLang="en-US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일</a:t>
            </a:r>
            <a: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)</a:t>
            </a:r>
            <a:br>
              <a:rPr kumimoji="1" lang="en-US" altLang="ko-KR" sz="800" b="1" dirty="0">
                <a:solidFill>
                  <a:schemeClr val="tx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</a:b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EAE7F451-FD4A-68B9-B191-07FCE221DFD9}"/>
              </a:ext>
            </a:extLst>
          </p:cNvPr>
          <p:cNvSpPr/>
          <p:nvPr/>
        </p:nvSpPr>
        <p:spPr>
          <a:xfrm>
            <a:off x="2770825" y="4329777"/>
            <a:ext cx="539044" cy="180000"/>
          </a:xfrm>
          <a:prstGeom prst="ellipse">
            <a:avLst/>
          </a:prstGeom>
          <a:solidFill>
            <a:srgbClr val="FFFFFF">
              <a:lumMod val="95000"/>
            </a:srgbClr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lIns="36000" rIns="36000"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판정 </a:t>
            </a:r>
            <a:r>
              <a:rPr kumimoji="1" lang="en-US" altLang="ko-KR" sz="7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API</a:t>
            </a:r>
          </a:p>
        </p:txBody>
      </p:sp>
      <p:sp>
        <p:nvSpPr>
          <p:cNvPr id="44" name="TextBox 366">
            <a:extLst>
              <a:ext uri="{FF2B5EF4-FFF2-40B4-BE49-F238E27FC236}">
                <a16:creationId xmlns:a16="http://schemas.microsoft.com/office/drawing/2014/main" id="{DCECFB88-02FC-8667-7031-D10D2E900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5167" y="4262072"/>
            <a:ext cx="784206" cy="180000"/>
          </a:xfrm>
          <a:prstGeom prst="rect">
            <a:avLst/>
          </a:prstGeom>
          <a:solidFill>
            <a:srgbClr val="FFFFFF">
              <a:lumMod val="95000"/>
            </a:srgbClr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wrap="none" lIns="36000" rIns="36000" rtlCol="0" anchor="ctr">
            <a:noAutofit/>
          </a:bodyPr>
          <a:lstStyle>
            <a:defPPr>
              <a:defRPr lang="ko-KR"/>
            </a:defPPr>
            <a:lvl1pPr marR="0" lvl="0" indent="0" algn="ctr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10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ko-KR" altLang="en-US" sz="700" dirty="0"/>
              <a:t>임시 테이블</a:t>
            </a:r>
            <a:r>
              <a:rPr lang="en-US" altLang="ko-KR" sz="700" dirty="0"/>
              <a:t>(CLOB)</a:t>
            </a:r>
          </a:p>
        </p:txBody>
      </p:sp>
      <p:sp>
        <p:nvSpPr>
          <p:cNvPr id="45" name="TextBox 366">
            <a:extLst>
              <a:ext uri="{FF2B5EF4-FFF2-40B4-BE49-F238E27FC236}">
                <a16:creationId xmlns:a16="http://schemas.microsoft.com/office/drawing/2014/main" id="{990E8290-BB5A-3556-3292-7141E69DB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5167" y="4553829"/>
            <a:ext cx="784206" cy="180000"/>
          </a:xfrm>
          <a:prstGeom prst="rect">
            <a:avLst/>
          </a:prstGeom>
          <a:solidFill>
            <a:srgbClr val="FFFFFF">
              <a:lumMod val="95000"/>
            </a:srgbClr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wrap="none" lIns="36000" rIns="36000" rtlCol="0" anchor="ctr">
            <a:noAutofit/>
          </a:bodyPr>
          <a:lstStyle>
            <a:defPPr>
              <a:defRPr lang="ko-KR"/>
            </a:defPPr>
            <a:lvl1pPr marR="0" lvl="0" indent="0" algn="ctr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10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ko-KR" altLang="en-US" sz="700" dirty="0"/>
              <a:t>판정 로직 이력 </a:t>
            </a:r>
            <a:r>
              <a:rPr lang="en-US" altLang="ko-KR" sz="700" dirty="0"/>
              <a:t>Table</a:t>
            </a: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DF767C35-F534-C366-8A9A-E6013CC6637B}"/>
              </a:ext>
            </a:extLst>
          </p:cNvPr>
          <p:cNvSpPr/>
          <p:nvPr/>
        </p:nvSpPr>
        <p:spPr>
          <a:xfrm>
            <a:off x="3418985" y="4329777"/>
            <a:ext cx="539044" cy="180000"/>
          </a:xfrm>
          <a:prstGeom prst="ellipse">
            <a:avLst/>
          </a:prstGeom>
          <a:solidFill>
            <a:srgbClr val="FFFFFF">
              <a:lumMod val="95000"/>
            </a:srgbClr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lIns="36000" rIns="36000"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DC</a:t>
            </a:r>
          </a:p>
        </p:txBody>
      </p:sp>
      <p:cxnSp>
        <p:nvCxnSpPr>
          <p:cNvPr id="74" name="연결선: 꺾임 73">
            <a:extLst>
              <a:ext uri="{FF2B5EF4-FFF2-40B4-BE49-F238E27FC236}">
                <a16:creationId xmlns:a16="http://schemas.microsoft.com/office/drawing/2014/main" id="{E70D9659-1E2A-993E-779B-8D5EFB49A0FD}"/>
              </a:ext>
            </a:extLst>
          </p:cNvPr>
          <p:cNvCxnSpPr>
            <a:cxnSpLocks/>
            <a:stCxn id="42" idx="4"/>
            <a:endCxn id="70" idx="4"/>
          </p:cNvCxnSpPr>
          <p:nvPr/>
        </p:nvCxnSpPr>
        <p:spPr>
          <a:xfrm rot="16200000" flipH="1">
            <a:off x="3364427" y="4185697"/>
            <a:ext cx="12700" cy="648160"/>
          </a:xfrm>
          <a:prstGeom prst="bentConnector3">
            <a:avLst>
              <a:gd name="adj1" fmla="val 1032000"/>
            </a:avLst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구부러짐 173">
            <a:extLst>
              <a:ext uri="{FF2B5EF4-FFF2-40B4-BE49-F238E27FC236}">
                <a16:creationId xmlns:a16="http://schemas.microsoft.com/office/drawing/2014/main" id="{041D66F9-9326-1EC6-6986-E08F256F65A7}"/>
              </a:ext>
            </a:extLst>
          </p:cNvPr>
          <p:cNvCxnSpPr>
            <a:cxnSpLocks/>
            <a:stCxn id="44" idx="1"/>
            <a:endCxn id="70" idx="6"/>
          </p:cNvCxnSpPr>
          <p:nvPr/>
        </p:nvCxnSpPr>
        <p:spPr>
          <a:xfrm flipH="1">
            <a:off x="3958029" y="4352072"/>
            <a:ext cx="357138" cy="67705"/>
          </a:xfrm>
          <a:prstGeom prst="straightConnector1">
            <a:avLst/>
          </a:prstGeom>
          <a:solidFill>
            <a:srgbClr val="FFFFFF">
              <a:lumMod val="95000"/>
            </a:srgbClr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  <a:headEnd type="triangle"/>
          </a:ln>
          <a:effectLst/>
        </p:spPr>
      </p:cxnSp>
      <p:cxnSp>
        <p:nvCxnSpPr>
          <p:cNvPr id="83" name="연결선: 꺾임 82">
            <a:extLst>
              <a:ext uri="{FF2B5EF4-FFF2-40B4-BE49-F238E27FC236}">
                <a16:creationId xmlns:a16="http://schemas.microsoft.com/office/drawing/2014/main" id="{411E53EA-26E5-3353-4BF4-1B4E5D9B69BC}"/>
              </a:ext>
            </a:extLst>
          </p:cNvPr>
          <p:cNvCxnSpPr>
            <a:cxnSpLocks/>
            <a:stCxn id="44" idx="3"/>
            <a:endCxn id="45" idx="3"/>
          </p:cNvCxnSpPr>
          <p:nvPr/>
        </p:nvCxnSpPr>
        <p:spPr>
          <a:xfrm>
            <a:off x="5099373" y="4352072"/>
            <a:ext cx="12700" cy="291757"/>
          </a:xfrm>
          <a:prstGeom prst="bentConnector3">
            <a:avLst>
              <a:gd name="adj1" fmla="val 1800000"/>
            </a:avLst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타원 86">
            <a:extLst>
              <a:ext uri="{FF2B5EF4-FFF2-40B4-BE49-F238E27FC236}">
                <a16:creationId xmlns:a16="http://schemas.microsoft.com/office/drawing/2014/main" id="{F5A47D7D-DEA2-9F05-E08E-C2E63F2683B2}"/>
              </a:ext>
            </a:extLst>
          </p:cNvPr>
          <p:cNvSpPr/>
          <p:nvPr/>
        </p:nvSpPr>
        <p:spPr>
          <a:xfrm>
            <a:off x="5635722" y="4411956"/>
            <a:ext cx="539044" cy="180000"/>
          </a:xfrm>
          <a:prstGeom prst="ellipse">
            <a:avLst/>
          </a:prstGeom>
          <a:solidFill>
            <a:srgbClr val="FFFFFF">
              <a:lumMod val="95000"/>
            </a:srgbClr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lIns="36000" rIns="36000"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판정 </a:t>
            </a:r>
            <a:r>
              <a:rPr kumimoji="1" lang="en-US" altLang="ko-KR" sz="7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API</a:t>
            </a:r>
          </a:p>
        </p:txBody>
      </p:sp>
      <p:sp>
        <p:nvSpPr>
          <p:cNvPr id="88" name="TextBox 366">
            <a:extLst>
              <a:ext uri="{FF2B5EF4-FFF2-40B4-BE49-F238E27FC236}">
                <a16:creationId xmlns:a16="http://schemas.microsoft.com/office/drawing/2014/main" id="{F0D7773F-A3C8-50E6-C648-257C968B1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4735" y="4411956"/>
            <a:ext cx="784206" cy="180000"/>
          </a:xfrm>
          <a:prstGeom prst="rect">
            <a:avLst/>
          </a:prstGeom>
          <a:solidFill>
            <a:srgbClr val="FFFFFF">
              <a:lumMod val="95000"/>
            </a:srgbClr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wrap="none" lIns="36000" rIns="36000" rtlCol="0" anchor="ctr">
            <a:noAutofit/>
          </a:bodyPr>
          <a:lstStyle>
            <a:defPPr>
              <a:defRPr lang="ko-KR"/>
            </a:defPPr>
            <a:lvl1pPr marR="0" lvl="0" indent="0" algn="ctr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1" sz="10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ko-KR" altLang="en-US" sz="700" dirty="0"/>
              <a:t>판정 로직 이력 </a:t>
            </a:r>
            <a:r>
              <a:rPr lang="en-US" altLang="ko-KR" sz="700" dirty="0"/>
              <a:t>Table</a:t>
            </a: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F646FBCE-CF8F-E55B-74DD-8A8F245F8010}"/>
              </a:ext>
            </a:extLst>
          </p:cNvPr>
          <p:cNvSpPr/>
          <p:nvPr/>
        </p:nvSpPr>
        <p:spPr>
          <a:xfrm>
            <a:off x="6636659" y="4411956"/>
            <a:ext cx="539044" cy="180000"/>
          </a:xfrm>
          <a:prstGeom prst="ellipse">
            <a:avLst/>
          </a:prstGeom>
          <a:solidFill>
            <a:srgbClr val="FFFFFF">
              <a:lumMod val="95000"/>
            </a:srgbClr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</a:ln>
          <a:effectLst/>
        </p:spPr>
        <p:txBody>
          <a:bodyPr lIns="36000" rIns="36000"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DC</a:t>
            </a:r>
          </a:p>
        </p:txBody>
      </p:sp>
      <p:cxnSp>
        <p:nvCxnSpPr>
          <p:cNvPr id="91" name="연결선: 구부러짐 173">
            <a:extLst>
              <a:ext uri="{FF2B5EF4-FFF2-40B4-BE49-F238E27FC236}">
                <a16:creationId xmlns:a16="http://schemas.microsoft.com/office/drawing/2014/main" id="{F50E81BC-9146-47A5-2D05-5A9D10D7E515}"/>
              </a:ext>
            </a:extLst>
          </p:cNvPr>
          <p:cNvCxnSpPr>
            <a:cxnSpLocks/>
            <a:stCxn id="89" idx="2"/>
          </p:cNvCxnSpPr>
          <p:nvPr/>
        </p:nvCxnSpPr>
        <p:spPr>
          <a:xfrm flipH="1">
            <a:off x="6182386" y="4501956"/>
            <a:ext cx="454273" cy="0"/>
          </a:xfrm>
          <a:prstGeom prst="straightConnector1">
            <a:avLst/>
          </a:prstGeom>
          <a:solidFill>
            <a:srgbClr val="FFFFFF">
              <a:lumMod val="95000"/>
            </a:srgbClr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  <a:headEnd type="triangle"/>
          </a:ln>
          <a:effectLst/>
        </p:spPr>
      </p:cxnSp>
      <p:cxnSp>
        <p:nvCxnSpPr>
          <p:cNvPr id="94" name="연결선: 구부러짐 173">
            <a:extLst>
              <a:ext uri="{FF2B5EF4-FFF2-40B4-BE49-F238E27FC236}">
                <a16:creationId xmlns:a16="http://schemas.microsoft.com/office/drawing/2014/main" id="{0E5E57B6-608C-B4DC-2FC3-84BD0806FAA9}"/>
              </a:ext>
            </a:extLst>
          </p:cNvPr>
          <p:cNvCxnSpPr>
            <a:cxnSpLocks/>
            <a:stCxn id="88" idx="1"/>
            <a:endCxn id="89" idx="6"/>
          </p:cNvCxnSpPr>
          <p:nvPr/>
        </p:nvCxnSpPr>
        <p:spPr>
          <a:xfrm flipH="1">
            <a:off x="7175703" y="4501956"/>
            <a:ext cx="439032" cy="0"/>
          </a:xfrm>
          <a:prstGeom prst="straightConnector1">
            <a:avLst/>
          </a:prstGeom>
          <a:solidFill>
            <a:srgbClr val="FFFFFF">
              <a:lumMod val="95000"/>
            </a:srgbClr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  <a:head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75914524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80471"/>
          <a:ext cx="9644176" cy="5782800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(W46)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79911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원통형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 비전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(ESAZ)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이미지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포맷 변경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ESAZ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(W46)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구축목적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기존 검사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JPG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이미지 확장자를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Webp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로 전환하는 목적은 파일크기를 최적화하여 데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이터 전송의 효율성을 높이고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DFS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의 서버부하의 감소와 저장용량의 효율성을 개선 할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Webp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는 동일한 품질에서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JPG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보다 더 작은 크기를 제공하며 로딩속도를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개선함으로써 사용자에게 빠르고 효율적인 서비스를 제공합니다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이미지 재검사에 필요한 주요 검사기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종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IRS 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대상검사기 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종 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+ 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 검사기 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종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대해서는 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WebP 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압축률 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85%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를 선정하며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 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나머지 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Vision 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이미지에 대해서는 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WebP 50% 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압축률을 표준으로 선정하였습니다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전극검사기술팀 현행확장자 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jpg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유지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)(3/20)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 설비대상으로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변환에 대해 시뮬레이션 진행 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(~5/5)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.(ESAZ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성능이 유사한 검사기대상으로 진행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-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ESAZ,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전극은 검사기 위치별로  반영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In-line CT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종 추가 반영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X -Ray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종 추가반영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라인으로 구분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←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법인요청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차 제안서 작성 후 하기 사유로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차 리뷰 진행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차 제안서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: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인프라 투자비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JPG 81.7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 →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WebP 61.6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20.1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 ↓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AZ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추가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 X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초기 컨셉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3X4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2X3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비교 차이확인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요청으로  검토하였습니다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.(~5/19)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현재기준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IRS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대상 검사기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종은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 85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포맷 저장합니다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IRS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비대상 검사기는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종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WebP 50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포맷 저장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IRS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대상으로 변경시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필요시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WebP 85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전환하는 조건으로 확인하였습니다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품질검사정보팀 조윤정님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IRS 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종 외 추가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종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(Total 11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종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 85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저장을 전제로 서버 용량 산출 된 상태입니다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IRS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비대상 → 대상 전환시에도 서버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Capa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관점에서는 무리 없이 대응가능합니다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- 2x3,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시리즈 기준 투자비 예상 저감 검토결과입니다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JPG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Wepb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2.1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 절감 가능하며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GCP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비용은 매년 평균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6.22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 절감 가능합니다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추가적으로 원통형검사기술담당에서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AgentPC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없이 검사기단 자체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S/W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개선 검토 진행 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(~6/E)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문제없을 경우 해당 건 비용절감 가능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,6/5)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AZ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라인증설 계획 변경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(6/10)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검토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시리즈 전극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2170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 추가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(2x4),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 추가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(2x5) ,JPG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392T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증대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760T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증대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.(2170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조립라인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 미확정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원통형전극검사기술팀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,6/17)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- 2x3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으로 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CDO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투심 진행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(6/26)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후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생산센터 투심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(7/15)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社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X-Ray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이물검사기 확정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GCP Image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보관 기간에 대한 케이스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Xray15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그외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Xray15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그외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별  예가 검토하였으며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원통형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선행검사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P,IT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인프라팀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,9/8)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검토결과는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X-Ray15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그외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년으로 보관시 누적비용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13.63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 X-Ray15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그외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년으로는 누적비용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25.03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이미지용량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79.74T,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갯수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0.14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ea 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개월기준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)(9/16) AZ.PI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팀 공유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비용부분수용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비교시 매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년평균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천만원차이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,9/26)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하였고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검사정보통합모니터링 분과의에서  최종 보관 기간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기준 수용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(X-Ray15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그외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10/16, w/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원통형선행검사기술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sng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’25.5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sng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박홍규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21081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원통형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 검사 비전</a:t>
            </a:r>
            <a:r>
              <a:rPr lang="en-US" altLang="ko-KR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(ESAZ)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 이미지 포맷 변경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032766" y="665860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>
                <a:latin typeface="+mj-lt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+mj-lt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11/12(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15</a:t>
            </a:r>
            <a:r>
              <a:rPr lang="ko-KR" altLang="en-US">
                <a:latin typeface="+mj-lt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763736" y="496583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박홍규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AD13EBAF-CF19-4CA5-9443-8E67AD0BCF7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03E95094-10E1-49F5-9756-020197BC2D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73741" y="1511179"/>
            <a:ext cx="2841932" cy="1025457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F456C39-64BE-4E87-B1B5-F37C764BC10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14063" y="4516180"/>
            <a:ext cx="2152288" cy="941114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EEACD989-6C7A-41B1-B49C-973FCF7DBE9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31979" y="4546662"/>
            <a:ext cx="2059200" cy="910632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98A33209-8D03-4E47-9B0F-811D2E97AFC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59246" y="4542756"/>
            <a:ext cx="2059200" cy="941114"/>
          </a:xfrm>
          <a:prstGeom prst="rect">
            <a:avLst/>
          </a:prstGeom>
        </p:spPr>
      </p:pic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BD057675-C2F8-43E6-A757-467754D20D57}"/>
              </a:ext>
            </a:extLst>
          </p:cNvPr>
          <p:cNvSpPr txBox="1">
            <a:spLocks/>
          </p:cNvSpPr>
          <p:nvPr/>
        </p:nvSpPr>
        <p:spPr>
          <a:xfrm>
            <a:off x="5773741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DX-#18,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A2035D5-1FBB-4E58-9A33-4A58C3FC1EC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86800" y="6115584"/>
            <a:ext cx="1219199" cy="7000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927970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935200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(W49)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48148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파우치형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검사 비전이미지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포맷 변경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공통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(W50)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특이사항없습니다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구축목적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 검사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JPG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이미지 확장자를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전환하는 목적은 파일크기를 최적화하여 데이터 전송의 효율성을 높이고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DFS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 서버부하의 감소와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저장용량의 효율성을 개선 할 수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Webp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동일한 품질에서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JPG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보다 더 작은 크기를 제공하며 로딩속도를 개선할 수 있어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DFS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인프라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투자 비용과 이미지 아카이빙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(GCP)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비용을 저감할 수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검토 케이스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 증설 법인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검사기에서 원본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(BMP)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→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WebP(85% / 50%)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변환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 양산 법인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서버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(DFS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or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Cloud)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JPG(70%)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WebP(90%)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변환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*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신규법인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(ESMIL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각형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                                                                                        *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기존양산법인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Site)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파우치형 신규 증설법인인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MIL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각형은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이미지 재판정 리스크 사고 대응 케이스가 없기에 모든 검사기를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 85%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선정하였습니다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 공장의 경우 이미지재판정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사고이슈 대응 검사기에 대해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Webp85%,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그 외 검사는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Webp50%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선정하였습니다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MIL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각형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VM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BMP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Webp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전환  진행 케이스에 대해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네트워크 부하량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(Capa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대응 목적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측정을 위해 용량산정하였으며 비용 검토 요청하였습니다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또한 인프라 산정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VM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서버 예상 스펙 산정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검토하였습니다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공정검사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,IT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인프라팀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 양산 법인들은 서버에서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JPG70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 90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 대해 전극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 정리 중에 있으며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원통형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Pack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 검토가 필요하기에 요청 중입니다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 법인 별 파우치형 비용산정을 위한 용량산정 및 취합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파우치형계측검사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공정검사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DX,~5/19)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비용산정결과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(IT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인프라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,~5/23)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진행하였습니다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또한 서버에서 이미지변환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(JPG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을 위한 응용단 개발비 산정 검토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pl-PL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GM1,GM2,HD,HM,MI,NA,NB,WA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및 원통형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(OC,NJ)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비용산정을 위한 용량산정 및 취합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비용산정 완료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기존라인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 검사기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(AgentPC) : BMP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WebP), DFS: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JPG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WebP, [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신규라인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MIL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각형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]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 검사기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(AgentPC):BMP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WebP, VM:BMP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  WebP), DFS: JPG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WebP,Cloud:JPG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ebP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.(~5/26, CPO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보고자료 활용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AgentPC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장애 발생 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JPG,Webp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혼재 해서 들어 올 경우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SPC+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파일존재여부에 대해 자체 검증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,40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분주기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후 교정하고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1kb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미만인 파일이 존재할 경우 삭제합니다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같은 이름으로 확장자만 다를 경우는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jpg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삭제하기로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.(7/7)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신규증설 라인에는 기본사양으로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 85%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를 적용하고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양산라인은 효율화 검토된 검사기 대상으로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WebP 85%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변경을 북미 법인 우선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(MI,HD)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으로 진행함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(6/12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자동차생산센터장님 지침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에 따라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 법인 의사 확인 후 대표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Site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선정 및 적용 진행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파우치형 검사이미지포맷변경 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Task)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Webp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변환 테스트 진행합니다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:12/8~12/12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대상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:OC1 Pilot 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NND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w/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전극검사기술팀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sng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’25.5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’25.7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박홍규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김승진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81647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파우치형 </a:t>
            </a:r>
            <a:r>
              <a:rPr lang="ko-KR" altLang="en-US" sz="1400" b="1">
                <a:solidFill>
                  <a:prstClr val="black"/>
                </a:solidFill>
                <a:latin typeface="+mj-ea"/>
                <a:ea typeface="+mj-ea"/>
                <a:cs typeface="Malgun Gothic Semilight" panose="020B0502040204020203" pitchFamily="50" charset="-127"/>
              </a:rPr>
              <a:t>검사 비전 이미지 포맷 변경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096886" y="665860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>
                <a:latin typeface="+mj-lt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>
                <a:latin typeface="+mj-lt"/>
                <a:ea typeface="LG스마트체 Regular" panose="020B0600000101010101" pitchFamily="50" charset="-127"/>
                <a:cs typeface="Malgun Gothic Semilight"/>
              </a:rPr>
              <a:t>: 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12/3(</a:t>
            </a:r>
            <a:r>
              <a:rPr lang="ko-KR" altLang="en-US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lang="en-US" altLang="ko-KR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15</a:t>
            </a:r>
            <a:r>
              <a:rPr lang="ko-KR" altLang="en-US">
                <a:latin typeface="+mj-lt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763736" y="496583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박홍규</a:t>
            </a:r>
            <a:r>
              <a:rPr lang="en-US" altLang="ko-KR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AD13EBAF-CF19-4CA5-9443-8E67AD0BCF7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511A74CB-3F85-4985-B7ED-34A920066D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31055" y="2560376"/>
            <a:ext cx="3548945" cy="1542520"/>
          </a:xfrm>
          <a:prstGeom prst="rect">
            <a:avLst/>
          </a:prstGeom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87E515B7-5863-46AB-9AD6-7466F32BC0F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1600" y="2568627"/>
            <a:ext cx="3463747" cy="1542519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3368801F-E5EF-4446-BE58-4F0BE75131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53009" y="5509015"/>
            <a:ext cx="1452991" cy="334431"/>
          </a:xfrm>
          <a:prstGeom prst="rect">
            <a:avLst/>
          </a:prstGeom>
        </p:spPr>
      </p:pic>
      <p:sp>
        <p:nvSpPr>
          <p:cNvPr id="10" name="내용 개체 틀 20">
            <a:extLst>
              <a:ext uri="{FF2B5EF4-FFF2-40B4-BE49-F238E27FC236}">
                <a16:creationId xmlns:a16="http://schemas.microsoft.com/office/drawing/2014/main" id="{59D9F25C-3322-4326-90AA-4160165D97E6}"/>
              </a:ext>
            </a:extLst>
          </p:cNvPr>
          <p:cNvSpPr txBox="1">
            <a:spLocks/>
          </p:cNvSpPr>
          <p:nvPr/>
        </p:nvSpPr>
        <p:spPr>
          <a:xfrm>
            <a:off x="5773741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DX-#19,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</p:spTree>
    <p:extLst>
      <p:ext uri="{BB962C8B-B14F-4D97-AF65-F5344CB8AC3E}">
        <p14:creationId xmlns:p14="http://schemas.microsoft.com/office/powerpoint/2010/main" val="174622246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859000"/>
        </p:xfrm>
        <a:graphic>
          <a:graphicData uri="http://schemas.openxmlformats.org/drawingml/2006/table">
            <a:tbl>
              <a:tblPr/>
              <a:tblGrid>
                <a:gridCol w="5762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23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3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(W37)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48148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Malgun Gothic Semilight" panose="020B0502040204020203" pitchFamily="50" charset="-127"/>
                        </a:rPr>
                        <a:t>검사 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Malgun Gothic Semilight" panose="020B0502040204020203" pitchFamily="50" charset="-127"/>
                        </a:rPr>
                        <a:t>PC </a:t>
                      </a:r>
                      <a:r>
                        <a:rPr kumimoji="0" lang="en-US" altLang="ko-KR" sz="10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Malgun Gothic Semilight" panose="020B0502040204020203" pitchFamily="50" charset="-127"/>
                        </a:rPr>
                        <a:t>VM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Malgun Gothic Semilight" panose="020B0502040204020203" pitchFamily="50" charset="-127"/>
                        </a:rPr>
                        <a:t>전환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공통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(37W)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은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원본 →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WebP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이미지 변환용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Agent PC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VM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으로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전환하는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검증 결과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240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Core VM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서버 활용 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7,875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분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(1134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만개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일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BMP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→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WebP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변환 대응이 가능한 것으로 확인되었습니다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. ESMIL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각형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(1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억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300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만개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일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대응을 위한 인프라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VM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서버 및 저장소 추가비용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426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억 및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검사기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~VM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간의 네트워크 증설 비용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77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억 증가로이미지 변환용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에이전트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PC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는 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VM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전환이 어려울 것으로 예상됩니다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.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sym typeface="Wingdings" panose="05000000000000000000" pitchFamily="2" charset="2"/>
                        </a:rPr>
                        <a:t> </a:t>
                      </a:r>
                      <a:br>
                        <a:rPr lang="en-US" altLang="ko-KR" sz="100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</a:b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구축목적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lvl="0" eaLnBrk="0" latinLnBrk="0" hangingPunct="0">
                        <a:spcBef>
                          <a:spcPts val="600"/>
                        </a:spcBef>
                        <a:defRPr/>
                      </a:pPr>
                      <a:r>
                        <a:rPr lang="ko-KR" altLang="en-US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검사기 </a:t>
                      </a:r>
                      <a:r>
                        <a:rPr lang="en-US" altLang="ko-KR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PC </a:t>
                      </a:r>
                      <a:r>
                        <a:rPr lang="ko-KR" altLang="en-US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→ </a:t>
                      </a:r>
                      <a:r>
                        <a:rPr lang="en-US" altLang="ko-KR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VM </a:t>
                      </a:r>
                      <a:r>
                        <a:rPr lang="ko-KR" altLang="en-US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전환을 통하여 라인 내 </a:t>
                      </a:r>
                      <a:r>
                        <a:rPr lang="en-US" altLang="ko-KR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PC</a:t>
                      </a:r>
                      <a:r>
                        <a:rPr lang="ko-KR" altLang="en-US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저감을 위하여 검사기별 </a:t>
                      </a:r>
                      <a:r>
                        <a:rPr lang="en-US" altLang="ko-KR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PC </a:t>
                      </a:r>
                      <a:r>
                        <a:rPr lang="ko-KR" altLang="en-US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구성 현황을 조사 및 </a:t>
                      </a:r>
                      <a:r>
                        <a:rPr lang="en-US" altLang="ko-KR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PC </a:t>
                      </a:r>
                      <a:r>
                        <a:rPr lang="ko-KR" altLang="en-US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유형별 </a:t>
                      </a:r>
                      <a:r>
                        <a:rPr lang="en-US" altLang="ko-KR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VM </a:t>
                      </a:r>
                      <a:r>
                        <a:rPr lang="ko-KR" altLang="en-US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전환 가능 여부를 검토하고 있습니다</a:t>
                      </a:r>
                      <a:r>
                        <a:rPr lang="en-US" altLang="ko-KR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검토 케이스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 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구성 현황</a:t>
                      </a: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 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유형별 역할</a:t>
                      </a: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진행사항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r>
                        <a:rPr lang="en-US" altLang="ko-KR" sz="1000">
                          <a:latin typeface="+mn-lt"/>
                          <a:ea typeface="+mn-ea"/>
                        </a:rPr>
                        <a:t> -. </a:t>
                      </a:r>
                      <a:r>
                        <a:rPr lang="ko-KR" altLang="en-US" sz="1000">
                          <a:latin typeface="+mn-lt"/>
                          <a:ea typeface="+mn-ea"/>
                        </a:rPr>
                        <a:t>원통형</a:t>
                      </a:r>
                      <a:r>
                        <a:rPr lang="en-US" altLang="ko-KR" sz="100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latin typeface="+mn-lt"/>
                          <a:ea typeface="+mn-ea"/>
                        </a:rPr>
                        <a:t>파우치형 검사기술과 함께 검사기 </a:t>
                      </a:r>
                      <a:r>
                        <a:rPr lang="en-US" altLang="ko-KR" sz="1000">
                          <a:latin typeface="+mn-lt"/>
                          <a:ea typeface="+mn-ea"/>
                        </a:rPr>
                        <a:t>PC</a:t>
                      </a:r>
                      <a:r>
                        <a:rPr lang="ko-KR" altLang="en-US" sz="1000"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>
                          <a:latin typeface="+mn-lt"/>
                          <a:ea typeface="+mn-ea"/>
                        </a:rPr>
                        <a:t>VM</a:t>
                      </a:r>
                      <a:r>
                        <a:rPr lang="ko-KR" altLang="en-US" sz="1000">
                          <a:latin typeface="+mn-lt"/>
                          <a:ea typeface="+mn-ea"/>
                        </a:rPr>
                        <a:t> 전환 검토를 위하여 각 검사기</a:t>
                      </a:r>
                      <a:r>
                        <a:rPr lang="en-US" altLang="ko-KR" sz="100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>
                          <a:latin typeface="+mn-lt"/>
                          <a:ea typeface="+mn-ea"/>
                        </a:rPr>
                        <a:t>계측기 구성과 </a:t>
                      </a:r>
                      <a:r>
                        <a:rPr lang="en-US" altLang="ko-KR" sz="1000">
                          <a:latin typeface="+mn-lt"/>
                          <a:ea typeface="+mn-ea"/>
                        </a:rPr>
                        <a:t>PC </a:t>
                      </a:r>
                      <a:r>
                        <a:rPr lang="ko-KR" altLang="en-US" sz="1000">
                          <a:latin typeface="+mn-lt"/>
                          <a:ea typeface="+mn-ea"/>
                        </a:rPr>
                        <a:t>역할</a:t>
                      </a:r>
                      <a:r>
                        <a:rPr lang="en-US" altLang="ko-KR" sz="1000"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>
                          <a:latin typeface="+mn-lt"/>
                          <a:ea typeface="+mn-ea"/>
                        </a:rPr>
                        <a:t>현황을 조사하고 있습니다</a:t>
                      </a:r>
                      <a:r>
                        <a:rPr lang="en-US" altLang="ko-KR" sz="1000">
                          <a:latin typeface="+mn-lt"/>
                          <a:ea typeface="+mn-ea"/>
                        </a:rPr>
                        <a:t>.(~5/9)</a:t>
                      </a:r>
                    </a:p>
                    <a:p>
                      <a:r>
                        <a:rPr lang="en-US" altLang="ko-KR" sz="100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역할별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PC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검토 결과 별도 인터페이스가 필요 없는 원본 →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WebP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이미지 변환용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Agent PC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를 최우선 검토 진행 중입니다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  <a:b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-. GM1 VM Sever 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대를 할당하여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BMP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원본 이미지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(200Mb/Cell)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WebP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이미지 변환 부하 테스트를 통하여 네트워크 부하 검증 예정입니다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.(~5/20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-. GM1 VM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테스트 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CPU 20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코어를 최적으로 사용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사용률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75%)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하는 조건을 특정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(*Process 3ea, 8Thread)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</a:p>
                    <a:p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 CPU 20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코어 증가 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BMP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원본 이미지 처리개수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656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장씩 비례적으로 상승하는 결과를 도출하였습니다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sng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’25.5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en-US" altLang="ko-KR" sz="1000" b="0" i="0" u="none" strike="noStrike" kern="1200" baseline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김승진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박홍규 </a:t>
                      </a:r>
                      <a:r>
                        <a:rPr lang="en-US" altLang="ko-KR" sz="1000" b="0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043829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■ 검사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PC VM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Malgun Gothic Semilight" panose="020B0502040204020203" pitchFamily="50" charset="-127"/>
              </a:rPr>
              <a:t>전환 검토 건</a:t>
            </a:r>
            <a:endParaRPr lang="ko-KR" altLang="en-US" sz="1400" b="1">
              <a:solidFill>
                <a:prstClr val="black"/>
              </a:solidFill>
              <a:latin typeface="+mj-ea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AD13EBAF-CF19-4CA5-9443-8E67AD0BCF7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5CC1985-64CD-4B82-882A-31E9C654E9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02929" y="2131900"/>
            <a:ext cx="6259946" cy="2125260"/>
          </a:xfrm>
          <a:prstGeom prst="rect">
            <a:avLst/>
          </a:prstGeom>
        </p:spPr>
      </p:pic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49264BEA-8938-40AC-8ECF-0EB6A8F375A3}"/>
              </a:ext>
            </a:extLst>
          </p:cNvPr>
          <p:cNvGraphicFramePr>
            <a:graphicFrameLocks noGrp="1"/>
          </p:cNvGraphicFramePr>
          <p:nvPr/>
        </p:nvGraphicFramePr>
        <p:xfrm>
          <a:off x="1502929" y="4398229"/>
          <a:ext cx="7679500" cy="1369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1275">
                  <a:extLst>
                    <a:ext uri="{9D8B030D-6E8A-4147-A177-3AD203B41FA5}">
                      <a16:colId xmlns:a16="http://schemas.microsoft.com/office/drawing/2014/main" val="1575617486"/>
                    </a:ext>
                  </a:extLst>
                </a:gridCol>
                <a:gridCol w="1431188">
                  <a:extLst>
                    <a:ext uri="{9D8B030D-6E8A-4147-A177-3AD203B41FA5}">
                      <a16:colId xmlns:a16="http://schemas.microsoft.com/office/drawing/2014/main" val="2829969577"/>
                    </a:ext>
                  </a:extLst>
                </a:gridCol>
                <a:gridCol w="1397850">
                  <a:extLst>
                    <a:ext uri="{9D8B030D-6E8A-4147-A177-3AD203B41FA5}">
                      <a16:colId xmlns:a16="http://schemas.microsoft.com/office/drawing/2014/main" val="3728391193"/>
                    </a:ext>
                  </a:extLst>
                </a:gridCol>
                <a:gridCol w="1515325">
                  <a:extLst>
                    <a:ext uri="{9D8B030D-6E8A-4147-A177-3AD203B41FA5}">
                      <a16:colId xmlns:a16="http://schemas.microsoft.com/office/drawing/2014/main" val="4193591954"/>
                    </a:ext>
                  </a:extLst>
                </a:gridCol>
                <a:gridCol w="1488338">
                  <a:extLst>
                    <a:ext uri="{9D8B030D-6E8A-4147-A177-3AD203B41FA5}">
                      <a16:colId xmlns:a16="http://schemas.microsoft.com/office/drawing/2014/main" val="1898222107"/>
                    </a:ext>
                  </a:extLst>
                </a:gridCol>
                <a:gridCol w="1515524">
                  <a:extLst>
                    <a:ext uri="{9D8B030D-6E8A-4147-A177-3AD203B41FA5}">
                      <a16:colId xmlns:a16="http://schemas.microsoft.com/office/drawing/2014/main" val="576094061"/>
                    </a:ext>
                  </a:extLst>
                </a:gridCol>
              </a:tblGrid>
              <a:tr h="8451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①검사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PC</a:t>
                      </a:r>
                      <a:endParaRPr lang="ko-KR" altLang="en-US" sz="8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② 에이전트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PC(WebP 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변환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③ 모니터링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PC</a:t>
                      </a:r>
                      <a:endParaRPr lang="ko-KR" altLang="en-US" sz="8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④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Master PC</a:t>
                      </a:r>
                      <a:endParaRPr lang="ko-KR" altLang="en-US" sz="8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⑤ 에이전트 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PC(</a:t>
                      </a:r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계측기</a:t>
                      </a:r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5861235"/>
                  </a:ext>
                </a:extLst>
              </a:tr>
              <a:tr h="29362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용도</a:t>
                      </a: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검사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S/W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운영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Cell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추적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Data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수집</a:t>
                      </a:r>
                      <a:b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설비 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PLC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연동 역할</a:t>
                      </a: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SPC(DFS)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검사 데이터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이미지 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전송을 위한 중계 역할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검사기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BMP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→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WebP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변환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검사 데이터 통계 및 시각화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PC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와인더 검사기 데이터 수집 및 </a:t>
                      </a:r>
                      <a:r>
                        <a:rPr lang="ko-KR" altLang="en-US" sz="8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양불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판정 활용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코터 비전 검사기 데이터 통합 및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SPC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데이터 및 이미지 전송 역할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 SPC(DFS)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검사 데이터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이미지를 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전송하기 위한 중계 역할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자동차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/ESS,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원통형 계측기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(PC)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9842896"/>
                  </a:ext>
                </a:extLst>
              </a:tr>
              <a:tr h="1489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핵심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구성품</a:t>
                      </a: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그래픽카드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이더넷카드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IO Board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그래픽카드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이더넷카드</a:t>
                      </a: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이더넷 카드</a:t>
                      </a: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이더넷카드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광통신</a:t>
                      </a: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이더넷카드</a:t>
                      </a: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338635"/>
                  </a:ext>
                </a:extLst>
              </a:tr>
              <a:tr h="2936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VM</a:t>
                      </a:r>
                    </a:p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8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800" b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Risk</a:t>
                      </a:r>
                      <a:endParaRPr lang="ko-KR" altLang="en-US" sz="8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" marR="3600" marT="3600" marB="36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영상 이미지 용량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:200MB↑/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이미지처리 시간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:200ms↓/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셀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광학계 구성품과 인터페이스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4.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셀추적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PLC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연동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 WebP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변환이미지 용량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: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200MB↑/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셀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시각화된 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화면이 필요로 하나 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10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초 이내 처리 필요함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하위 비전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PC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연동을 위한 광통신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인터페이스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(Top, Back,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미스매치 비전 연계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1.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광학계 구성품과 인터페이스</a:t>
                      </a:r>
                      <a:b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</a:b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2. </a:t>
                      </a:r>
                      <a:r>
                        <a:rPr lang="ko-KR" altLang="en-US" sz="80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셀추적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</a:t>
                      </a:r>
                      <a:r>
                        <a:rPr lang="en-US" altLang="ko-KR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PLC </a:t>
                      </a:r>
                      <a:r>
                        <a:rPr lang="ko-KR" altLang="en-US" sz="8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연동</a:t>
                      </a:r>
                      <a:endParaRPr lang="en-US" altLang="ko-KR" sz="80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" marR="3600" marT="3600" marB="36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82393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3ADCD5C-E64B-4BAB-9841-AA47D448E66C}"/>
              </a:ext>
            </a:extLst>
          </p:cNvPr>
          <p:cNvSpPr txBox="1"/>
          <p:nvPr/>
        </p:nvSpPr>
        <p:spPr>
          <a:xfrm>
            <a:off x="7762875" y="6072015"/>
            <a:ext cx="1858670" cy="123111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>
                <a:solidFill>
                  <a:srgbClr val="00B050"/>
                </a:solidFill>
              </a:rPr>
              <a:t> *</a:t>
            </a:r>
            <a:r>
              <a:rPr lang="ko-KR" altLang="en-US" sz="800">
                <a:solidFill>
                  <a:srgbClr val="00B050"/>
                </a:solidFill>
              </a:rPr>
              <a:t>동시처리개수 </a:t>
            </a:r>
            <a:r>
              <a:rPr lang="en-US" altLang="ko-KR" sz="800">
                <a:solidFill>
                  <a:srgbClr val="00B050"/>
                </a:solidFill>
              </a:rPr>
              <a:t>= Process X Thread </a:t>
            </a:r>
            <a:r>
              <a:rPr lang="ko-KR" altLang="en-US" sz="800">
                <a:solidFill>
                  <a:srgbClr val="00B050"/>
                </a:solidFill>
              </a:rPr>
              <a:t>개수</a:t>
            </a:r>
            <a:r>
              <a:rPr lang="en-US" altLang="ko-KR" sz="800">
                <a:solidFill>
                  <a:srgbClr val="00B050"/>
                </a:solidFill>
              </a:rPr>
              <a:t> </a:t>
            </a:r>
            <a:r>
              <a:rPr lang="ko-KR" altLang="en-US" sz="800">
                <a:solidFill>
                  <a:srgbClr val="00B050"/>
                </a:solidFill>
              </a:rPr>
              <a:t> 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7861FE58-0470-4006-A9A8-BB5950880251}"/>
              </a:ext>
            </a:extLst>
          </p:cNvPr>
          <p:cNvSpPr txBox="1">
            <a:spLocks/>
          </p:cNvSpPr>
          <p:nvPr/>
        </p:nvSpPr>
        <p:spPr>
          <a:xfrm>
            <a:off x="5773741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DX-#20,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AD5BAF8-D655-789A-CA89-5F061B560E35}"/>
              </a:ext>
            </a:extLst>
          </p:cNvPr>
          <p:cNvSpPr txBox="1"/>
          <p:nvPr/>
        </p:nvSpPr>
        <p:spPr>
          <a:xfrm>
            <a:off x="8135359" y="670208"/>
            <a:ext cx="155170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>
                <a:latin typeface="+mj-lt"/>
                <a:ea typeface="LG스마트체 Regular"/>
                <a:cs typeface="Malgun Gothic Semilight"/>
              </a:rPr>
              <a:t>업데이트 시간 </a:t>
            </a:r>
            <a:r>
              <a:rPr lang="en-US" altLang="ko-KR">
                <a:latin typeface="+mj-lt"/>
                <a:ea typeface="LG스마트체 Regular"/>
                <a:cs typeface="Malgun Gothic Semilight"/>
              </a:rPr>
              <a:t>: 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9/9(</a:t>
            </a:r>
            <a:r>
              <a:rPr lang="ko-KR" altLang="en-US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>
                <a:latin typeface="+mj-lt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6AA9169D-6F49-2677-3B33-23EF8D2F1091}"/>
              </a:ext>
            </a:extLst>
          </p:cNvPr>
          <p:cNvSpPr txBox="1">
            <a:spLocks/>
          </p:cNvSpPr>
          <p:nvPr/>
        </p:nvSpPr>
        <p:spPr>
          <a:xfrm>
            <a:off x="8742898" y="500931"/>
            <a:ext cx="944168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+mj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김승진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003212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874185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SPC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 –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테스트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DB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동기화 시스템 구축</a:t>
            </a:r>
          </a:p>
        </p:txBody>
      </p:sp>
      <p:sp>
        <p:nvSpPr>
          <p:cNvPr id="15" name="제목 1">
            <a:extLst>
              <a:ext uri="{FF2B5EF4-FFF2-40B4-BE49-F238E27FC236}">
                <a16:creationId xmlns:a16="http://schemas.microsoft.com/office/drawing/2014/main" id="{33463036-9273-403C-B574-F3B0ABCB999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454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graphicFrame>
        <p:nvGraphicFramePr>
          <p:cNvPr id="14" name="표 1">
            <a:extLst>
              <a:ext uri="{FF2B5EF4-FFF2-40B4-BE49-F238E27FC236}">
                <a16:creationId xmlns:a16="http://schemas.microsoft.com/office/drawing/2014/main" id="{AD9889F5-E3C8-4C1E-90AD-D170FC5C6E5F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W51)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-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동기화 시스템구축 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전사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(W51)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테스트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동기화 구축 과제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응용 개발 완료하였고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테스트 진행 중으로 일정 준수하고 있습니다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endParaRPr kumimoji="0" lang="en-US" sz="1000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kumimoji="0" lang="en-US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시스템 운영 배포 전 테스트 데이터를 생성하는 업무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Loss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절감하고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개발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DB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스키마 정합성 향상시키기 위한 프로젝트입니다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운영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에서 테스트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DB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로 데이터를 이관하는 수작업을 시스템에서 쉽게 수행할 수 있게 하여 테스트 데이터 생성을 위한 업무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Loss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절감하겠습니다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en-US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sz="1000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kumimoji="0" lang="en-US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프로젝트 착수하여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완료 목표이며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ETL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스케줄러를 관리하기 위한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VM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을 별도로 구축하여 전법인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DB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동기화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테스트 데이터 생성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대시보드 등의 기능을 적용할 예정입니다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en-US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dirty="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kumimoji="0" lang="en-US" sz="10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13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집행품의 완료 후 프로젝트 계약 확정하여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16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계약금 검수 완료 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스케줄러를 관리하기 위한 서버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(VM)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생성 작업을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17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완료하였고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11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28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ETL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셋업을 완료하였습니다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응용 개발 완료하였고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테스트 진행률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60%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로 일정 준수하고 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12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일까지 검수 완료하도록 하겠습니다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이재균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6" name="Group 986">
            <a:extLst>
              <a:ext uri="{FF2B5EF4-FFF2-40B4-BE49-F238E27FC236}">
                <a16:creationId xmlns:a16="http://schemas.microsoft.com/office/drawing/2014/main" id="{9F89E654-AB97-4251-B3E8-759A08C97CEB}"/>
              </a:ext>
            </a:extLst>
          </p:cNvPr>
          <p:cNvGraphicFramePr>
            <a:graphicFrameLocks noGrp="1"/>
          </p:cNvGraphicFramePr>
          <p:nvPr/>
        </p:nvGraphicFramePr>
        <p:xfrm>
          <a:off x="1943268" y="2859644"/>
          <a:ext cx="6694732" cy="1189313"/>
        </p:xfrm>
        <a:graphic>
          <a:graphicData uri="http://schemas.openxmlformats.org/drawingml/2006/table">
            <a:tbl>
              <a:tblPr/>
              <a:tblGrid>
                <a:gridCol w="1673683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1673683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1673683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1673683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224902"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‘25</a:t>
                      </a:r>
                      <a:r>
                        <a:rPr kumimoji="1" lang="ko-KR" altLang="en-US" sz="1000" b="0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2249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395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4">
            <a:extLst>
              <a:ext uri="{FF2B5EF4-FFF2-40B4-BE49-F238E27FC236}">
                <a16:creationId xmlns:a16="http://schemas.microsoft.com/office/drawing/2014/main" id="{73FA3A75-DEF8-4FF2-925F-8E707184F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248" y="2853516"/>
            <a:ext cx="283910" cy="118931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일정</a:t>
            </a:r>
            <a:endParaRPr kumimoji="1" lang="en-US" altLang="ko-KR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38" name="모서리가 둥근 직사각형 87">
            <a:extLst>
              <a:ext uri="{FF2B5EF4-FFF2-40B4-BE49-F238E27FC236}">
                <a16:creationId xmlns:a16="http://schemas.microsoft.com/office/drawing/2014/main" id="{3049335F-4641-4912-BBD2-EE482D617BAF}"/>
              </a:ext>
            </a:extLst>
          </p:cNvPr>
          <p:cNvSpPr/>
          <p:nvPr/>
        </p:nvSpPr>
        <p:spPr>
          <a:xfrm>
            <a:off x="3752002" y="3546706"/>
            <a:ext cx="4733208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DB </a:t>
            </a: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동기화</a:t>
            </a:r>
          </a:p>
        </p:txBody>
      </p:sp>
      <p:sp>
        <p:nvSpPr>
          <p:cNvPr id="41" name="모서리가 둥근 직사각형 87">
            <a:extLst>
              <a:ext uri="{FF2B5EF4-FFF2-40B4-BE49-F238E27FC236}">
                <a16:creationId xmlns:a16="http://schemas.microsoft.com/office/drawing/2014/main" id="{93D1FE0F-022B-43F2-B3F3-CEC8DB6ADCEB}"/>
              </a:ext>
            </a:extLst>
          </p:cNvPr>
          <p:cNvSpPr/>
          <p:nvPr/>
        </p:nvSpPr>
        <p:spPr>
          <a:xfrm>
            <a:off x="7518522" y="2730551"/>
            <a:ext cx="54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진행중</a:t>
            </a:r>
          </a:p>
        </p:txBody>
      </p:sp>
      <p:sp>
        <p:nvSpPr>
          <p:cNvPr id="42" name="모서리가 둥근 직사각형 87">
            <a:extLst>
              <a:ext uri="{FF2B5EF4-FFF2-40B4-BE49-F238E27FC236}">
                <a16:creationId xmlns:a16="http://schemas.microsoft.com/office/drawing/2014/main" id="{A36B5682-AD68-4DC0-92CA-6128492D79F6}"/>
              </a:ext>
            </a:extLst>
          </p:cNvPr>
          <p:cNvSpPr/>
          <p:nvPr/>
        </p:nvSpPr>
        <p:spPr>
          <a:xfrm>
            <a:off x="8098000" y="2725456"/>
            <a:ext cx="540000" cy="108000"/>
          </a:xfrm>
          <a:prstGeom prst="roundRect">
            <a:avLst/>
          </a:prstGeom>
          <a:pattFill prst="wdUpDiag">
            <a:fgClr>
              <a:srgbClr val="FFFF00"/>
            </a:fgClr>
            <a:bgClr>
              <a:schemeClr val="bg1"/>
            </a:bgClr>
          </a:patt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예정</a:t>
            </a:r>
          </a:p>
        </p:txBody>
      </p:sp>
      <p:sp>
        <p:nvSpPr>
          <p:cNvPr id="26" name="Oval 113">
            <a:extLst>
              <a:ext uri="{FF2B5EF4-FFF2-40B4-BE49-F238E27FC236}">
                <a16:creationId xmlns:a16="http://schemas.microsoft.com/office/drawing/2014/main" id="{7C1EF3E9-D462-4C05-B604-647EFD600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3180" y="3536598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LG스마트체 Regular"/>
                <a:ea typeface="LG스마트체 Regular"/>
                <a:cs typeface="Arial" pitchFamily="34" charset="0"/>
              </a:rPr>
              <a:t>26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Arial" pitchFamily="34" charset="0"/>
            </a:endParaRPr>
          </a:p>
        </p:txBody>
      </p:sp>
      <p:graphicFrame>
        <p:nvGraphicFramePr>
          <p:cNvPr id="3" name="표 3">
            <a:extLst>
              <a:ext uri="{FF2B5EF4-FFF2-40B4-BE49-F238E27FC236}">
                <a16:creationId xmlns:a16="http://schemas.microsoft.com/office/drawing/2014/main" id="{574B5F5D-3446-E570-BA05-EF32AC92F774}"/>
              </a:ext>
            </a:extLst>
          </p:cNvPr>
          <p:cNvGraphicFramePr>
            <a:graphicFrameLocks noGrp="1"/>
          </p:cNvGraphicFramePr>
          <p:nvPr/>
        </p:nvGraphicFramePr>
        <p:xfrm>
          <a:off x="1623309" y="5132014"/>
          <a:ext cx="7059899" cy="50237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85873">
                  <a:extLst>
                    <a:ext uri="{9D8B030D-6E8A-4147-A177-3AD203B41FA5}">
                      <a16:colId xmlns:a16="http://schemas.microsoft.com/office/drawing/2014/main" val="3042033024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2400593333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2998497398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1387175064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1255822071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3507646051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1147132441"/>
                    </a:ext>
                  </a:extLst>
                </a:gridCol>
              </a:tblGrid>
              <a:tr h="2076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latin typeface="+mj-ea"/>
                          <a:ea typeface="+mj-ea"/>
                        </a:rPr>
                        <a:t>PJT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명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투자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요건정의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800" b="1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설계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개발</a:t>
                      </a:r>
                      <a:endParaRPr lang="ko-KR" altLang="en-US" sz="800" b="1">
                        <a:solidFill>
                          <a:srgbClr val="006600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테스트</a:t>
                      </a:r>
                      <a:endParaRPr lang="ko-KR" altLang="en-US" sz="800" b="0" i="1">
                        <a:solidFill>
                          <a:schemeClr val="bg1">
                            <a:lumMod val="50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155186"/>
                  </a:ext>
                </a:extLst>
              </a:tr>
              <a:tr h="2947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latin typeface="+mj-ea"/>
                          <a:ea typeface="+mj-ea"/>
                        </a:rPr>
                        <a:t>SPC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테스트 </a:t>
                      </a:r>
                      <a:r>
                        <a:rPr lang="en-US" altLang="ko-KR" sz="800" b="0">
                          <a:latin typeface="+mj-ea"/>
                          <a:ea typeface="+mj-ea"/>
                        </a:rPr>
                        <a:t>DB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동기화 시스템 구축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계약완료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60%(2/3)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0%(0/3)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0%(0/3)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58925486"/>
                  </a:ext>
                </a:extLst>
              </a:tr>
            </a:tbl>
          </a:graphicData>
        </a:graphic>
      </p:graphicFrame>
      <p:sp>
        <p:nvSpPr>
          <p:cNvPr id="2" name="모서리가 둥근 직사각형 87">
            <a:extLst>
              <a:ext uri="{FF2B5EF4-FFF2-40B4-BE49-F238E27FC236}">
                <a16:creationId xmlns:a16="http://schemas.microsoft.com/office/drawing/2014/main" id="{1FFEB739-08DB-81B7-524C-8873C64ED2B9}"/>
              </a:ext>
            </a:extLst>
          </p:cNvPr>
          <p:cNvSpPr/>
          <p:nvPr/>
        </p:nvSpPr>
        <p:spPr>
          <a:xfrm>
            <a:off x="3752002" y="3709317"/>
            <a:ext cx="421073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테스트 데이터 생성</a:t>
            </a:r>
          </a:p>
        </p:txBody>
      </p:sp>
      <p:sp>
        <p:nvSpPr>
          <p:cNvPr id="4" name="모서리가 둥근 직사각형 87">
            <a:extLst>
              <a:ext uri="{FF2B5EF4-FFF2-40B4-BE49-F238E27FC236}">
                <a16:creationId xmlns:a16="http://schemas.microsoft.com/office/drawing/2014/main" id="{28A1F250-2354-8EEC-6AB9-AFDCCA164F73}"/>
              </a:ext>
            </a:extLst>
          </p:cNvPr>
          <p:cNvSpPr/>
          <p:nvPr/>
        </p:nvSpPr>
        <p:spPr>
          <a:xfrm>
            <a:off x="3752001" y="3867053"/>
            <a:ext cx="4210729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Web</a:t>
            </a: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 </a:t>
            </a: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UI </a:t>
            </a: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추가</a:t>
            </a:r>
          </a:p>
        </p:txBody>
      </p:sp>
      <p:sp>
        <p:nvSpPr>
          <p:cNvPr id="6" name="Oval 113">
            <a:extLst>
              <a:ext uri="{FF2B5EF4-FFF2-40B4-BE49-F238E27FC236}">
                <a16:creationId xmlns:a16="http://schemas.microsoft.com/office/drawing/2014/main" id="{1F326206-F4C4-5734-BE5F-B6D2FE700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2943" y="3689720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LG스마트체 Regular"/>
                <a:ea typeface="LG스마트체 Regular"/>
                <a:cs typeface="Arial" pitchFamily="34" charset="0"/>
              </a:rPr>
              <a:t>16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Arial" pitchFamily="34" charset="0"/>
            </a:endParaRPr>
          </a:p>
        </p:txBody>
      </p:sp>
      <p:sp>
        <p:nvSpPr>
          <p:cNvPr id="7" name="Oval 113">
            <a:extLst>
              <a:ext uri="{FF2B5EF4-FFF2-40B4-BE49-F238E27FC236}">
                <a16:creationId xmlns:a16="http://schemas.microsoft.com/office/drawing/2014/main" id="{ADF721CE-B15D-358A-9B27-E4D12070A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2943" y="3866117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LG스마트체 Regular"/>
                <a:ea typeface="LG스마트체 Regular"/>
                <a:cs typeface="Arial" pitchFamily="34" charset="0"/>
              </a:rPr>
              <a:t>16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Arial" pitchFamily="34" charset="0"/>
            </a:endParaRPr>
          </a:p>
        </p:txBody>
      </p:sp>
      <p:sp>
        <p:nvSpPr>
          <p:cNvPr id="8" name="모서리가 둥근 직사각형 87">
            <a:extLst>
              <a:ext uri="{FF2B5EF4-FFF2-40B4-BE49-F238E27FC236}">
                <a16:creationId xmlns:a16="http://schemas.microsoft.com/office/drawing/2014/main" id="{3B6EACDA-ABE3-F60A-9CBB-7818D66FDFAE}"/>
              </a:ext>
            </a:extLst>
          </p:cNvPr>
          <p:cNvSpPr/>
          <p:nvPr/>
        </p:nvSpPr>
        <p:spPr>
          <a:xfrm>
            <a:off x="2048642" y="3375943"/>
            <a:ext cx="165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요건 정의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B3B1B09-0AA9-7DC8-CD3B-2252C96654FB}"/>
              </a:ext>
            </a:extLst>
          </p:cNvPr>
          <p:cNvSpPr txBox="1"/>
          <p:nvPr/>
        </p:nvSpPr>
        <p:spPr>
          <a:xfrm>
            <a:off x="8061950" y="661330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15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31F50CBF-3105-B8AD-68B2-59D490D2DBE8}"/>
              </a:ext>
            </a:extLst>
          </p:cNvPr>
          <p:cNvSpPr txBox="1">
            <a:spLocks/>
          </p:cNvSpPr>
          <p:nvPr/>
        </p:nvSpPr>
        <p:spPr>
          <a:xfrm>
            <a:off x="8772081" y="492053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이재균</a:t>
            </a:r>
            <a:r>
              <a:rPr lang="en-US" altLang="ko-KR" sz="1100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 panose="020B0502040204020203" pitchFamily="50" charset="-127"/>
            </a:endParaRPr>
          </a:p>
        </p:txBody>
      </p:sp>
      <p:sp>
        <p:nvSpPr>
          <p:cNvPr id="13" name="모서리가 둥근 직사각형 87">
            <a:extLst>
              <a:ext uri="{FF2B5EF4-FFF2-40B4-BE49-F238E27FC236}">
                <a16:creationId xmlns:a16="http://schemas.microsoft.com/office/drawing/2014/main" id="{0D03D4C7-8475-4226-E6CE-C4F1A6865576}"/>
              </a:ext>
            </a:extLst>
          </p:cNvPr>
          <p:cNvSpPr/>
          <p:nvPr/>
        </p:nvSpPr>
        <p:spPr>
          <a:xfrm>
            <a:off x="3752001" y="3375943"/>
            <a:ext cx="291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VM </a:t>
            </a: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및 </a:t>
            </a: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ETL </a:t>
            </a: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셋업</a:t>
            </a:r>
          </a:p>
        </p:txBody>
      </p:sp>
      <p:sp>
        <p:nvSpPr>
          <p:cNvPr id="18" name="Oval 113">
            <a:extLst>
              <a:ext uri="{FF2B5EF4-FFF2-40B4-BE49-F238E27FC236}">
                <a16:creationId xmlns:a16="http://schemas.microsoft.com/office/drawing/2014/main" id="{4F0FCEBB-B406-5B2D-6AC8-2E8508709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213" y="3363454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Arial" pitchFamily="34" charset="0"/>
              </a:rPr>
              <a:t>21</a:t>
            </a:r>
          </a:p>
        </p:txBody>
      </p:sp>
    </p:spTree>
    <p:extLst>
      <p:ext uri="{BB962C8B-B14F-4D97-AF65-F5344CB8AC3E}">
        <p14:creationId xmlns:p14="http://schemas.microsoft.com/office/powerpoint/2010/main" val="117333359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4335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SPC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 –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시스템 운영 일상 점검 개선</a:t>
            </a:r>
          </a:p>
        </p:txBody>
      </p:sp>
      <p:sp>
        <p:nvSpPr>
          <p:cNvPr id="15" name="제목 1">
            <a:extLst>
              <a:ext uri="{FF2B5EF4-FFF2-40B4-BE49-F238E27FC236}">
                <a16:creationId xmlns:a16="http://schemas.microsoft.com/office/drawing/2014/main" id="{33463036-9273-403C-B574-F3B0ABCB999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454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graphicFrame>
        <p:nvGraphicFramePr>
          <p:cNvPr id="14" name="표 1">
            <a:extLst>
              <a:ext uri="{FF2B5EF4-FFF2-40B4-BE49-F238E27FC236}">
                <a16:creationId xmlns:a16="http://schemas.microsoft.com/office/drawing/2014/main" id="{AD9889F5-E3C8-4C1E-90AD-D170FC5C6E5F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-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시스템 운영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일상 점검 개선 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전사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(W51)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운영 적용 예정으로 배포 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일까지 모니터링 진행하겠습니다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kumimoji="0"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SPC+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배치 지연과 솔라스 서비스 상태를 모니터링하여 기능이 동작하지 않는 현상을 감지할 수 있도록 개선하고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운영 서버 변경 작업 시 결재 프로세스를 추가하여 오작업이 발생하지 않도록 검증 절차를 강화하는 것을 목표로 하고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endParaRPr kumimoji="0" lang="en-US" sz="100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kumimoji="0"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월까지 요건 정의 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부터 분석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설계 착수하여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적용 완료하겠습니다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SPC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시스템 운영 업무 효율성을 높이기 위해 배치 지연 모니터링 및 알람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QA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솔라스 상태 모니터링 및 알람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운영 변경 작업 프로세스 개선 기능을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월까지 순차 적용할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kumimoji="0" lang="en-US" sz="1000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운영을 위한 기능 개선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건에 대한 요건 정의를 완료하여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CSR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공수 검토 후 승인 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‘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배치 지연 모니터링 및 알람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’, ‘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운영 변경 작업 프로세스 개선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기능을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운영에 적용 완료하였습니다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QA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솔라스 상태 모니터링 및 알람 기능은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16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적용 예정으로 배포 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일까지 모니터링 진행하겠습니다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dirty="0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이재균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6" name="Group 986">
            <a:extLst>
              <a:ext uri="{FF2B5EF4-FFF2-40B4-BE49-F238E27FC236}">
                <a16:creationId xmlns:a16="http://schemas.microsoft.com/office/drawing/2014/main" id="{9F89E654-AB97-4251-B3E8-759A08C97CEB}"/>
              </a:ext>
            </a:extLst>
          </p:cNvPr>
          <p:cNvGraphicFramePr>
            <a:graphicFrameLocks noGrp="1"/>
          </p:cNvGraphicFramePr>
          <p:nvPr/>
        </p:nvGraphicFramePr>
        <p:xfrm>
          <a:off x="1943269" y="2812018"/>
          <a:ext cx="6749873" cy="921564"/>
        </p:xfrm>
        <a:graphic>
          <a:graphicData uri="http://schemas.openxmlformats.org/drawingml/2006/table">
            <a:tbl>
              <a:tblPr/>
              <a:tblGrid>
                <a:gridCol w="519221">
                  <a:extLst>
                    <a:ext uri="{9D8B030D-6E8A-4147-A177-3AD203B41FA5}">
                      <a16:colId xmlns:a16="http://schemas.microsoft.com/office/drawing/2014/main" val="2081513557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559865207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1365114739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3551264532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1742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’24</a:t>
                      </a:r>
                      <a:r>
                        <a:rPr kumimoji="1" lang="ko-KR" altLang="en-US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1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‘25</a:t>
                      </a:r>
                      <a:r>
                        <a:rPr kumimoji="1" lang="ko-KR" altLang="en-US" sz="1000" b="0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742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3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02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kern="1200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4">
            <a:extLst>
              <a:ext uri="{FF2B5EF4-FFF2-40B4-BE49-F238E27FC236}">
                <a16:creationId xmlns:a16="http://schemas.microsoft.com/office/drawing/2014/main" id="{73FA3A75-DEF8-4FF2-925F-8E707184F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248" y="2805891"/>
            <a:ext cx="283910" cy="92156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일정</a:t>
            </a:r>
            <a:endParaRPr kumimoji="1" lang="en-US" altLang="ko-KR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38" name="모서리가 둥근 직사각형 87">
            <a:extLst>
              <a:ext uri="{FF2B5EF4-FFF2-40B4-BE49-F238E27FC236}">
                <a16:creationId xmlns:a16="http://schemas.microsoft.com/office/drawing/2014/main" id="{3049335F-4641-4912-BBD2-EE482D617BAF}"/>
              </a:ext>
            </a:extLst>
          </p:cNvPr>
          <p:cNvSpPr/>
          <p:nvPr/>
        </p:nvSpPr>
        <p:spPr>
          <a:xfrm>
            <a:off x="7008198" y="3232380"/>
            <a:ext cx="162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kern="0" dirty="0">
                <a:solidFill>
                  <a:prstClr val="white"/>
                </a:solidFill>
                <a:latin typeface="LG스마트체 Regular"/>
                <a:ea typeface="LG스마트체 Regular"/>
                <a:cs typeface="Arial"/>
              </a:rPr>
              <a:t>배치 지연 모니터링 및 알람</a:t>
            </a:r>
            <a:endParaRPr kumimoji="1" lang="ko-KR" altLang="en-US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Arial"/>
            </a:endParaRPr>
          </a:p>
        </p:txBody>
      </p:sp>
      <p:sp>
        <p:nvSpPr>
          <p:cNvPr id="41" name="모서리가 둥근 직사각형 87">
            <a:extLst>
              <a:ext uri="{FF2B5EF4-FFF2-40B4-BE49-F238E27FC236}">
                <a16:creationId xmlns:a16="http://schemas.microsoft.com/office/drawing/2014/main" id="{93D1FE0F-022B-43F2-B3F3-CEC8DB6ADCEB}"/>
              </a:ext>
            </a:extLst>
          </p:cNvPr>
          <p:cNvSpPr/>
          <p:nvPr/>
        </p:nvSpPr>
        <p:spPr>
          <a:xfrm>
            <a:off x="7518522" y="2682926"/>
            <a:ext cx="54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진행중</a:t>
            </a:r>
          </a:p>
        </p:txBody>
      </p:sp>
      <p:sp>
        <p:nvSpPr>
          <p:cNvPr id="42" name="모서리가 둥근 직사각형 87">
            <a:extLst>
              <a:ext uri="{FF2B5EF4-FFF2-40B4-BE49-F238E27FC236}">
                <a16:creationId xmlns:a16="http://schemas.microsoft.com/office/drawing/2014/main" id="{A36B5682-AD68-4DC0-92CA-6128492D79F6}"/>
              </a:ext>
            </a:extLst>
          </p:cNvPr>
          <p:cNvSpPr/>
          <p:nvPr/>
        </p:nvSpPr>
        <p:spPr>
          <a:xfrm>
            <a:off x="8098000" y="2677831"/>
            <a:ext cx="540000" cy="108000"/>
          </a:xfrm>
          <a:prstGeom prst="roundRect">
            <a:avLst/>
          </a:prstGeom>
          <a:pattFill prst="wdUpDiag">
            <a:fgClr>
              <a:srgbClr val="FFFF00"/>
            </a:fgClr>
            <a:bgClr>
              <a:schemeClr val="bg1"/>
            </a:bgClr>
          </a:patt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예정</a:t>
            </a:r>
          </a:p>
        </p:txBody>
      </p:sp>
      <p:sp>
        <p:nvSpPr>
          <p:cNvPr id="26" name="Oval 113">
            <a:extLst>
              <a:ext uri="{FF2B5EF4-FFF2-40B4-BE49-F238E27FC236}">
                <a16:creationId xmlns:a16="http://schemas.microsoft.com/office/drawing/2014/main" id="{7C1EF3E9-D462-4C05-B604-647EFD600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1605" y="3222272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LG스마트체 Regular"/>
                <a:ea typeface="LG스마트체 Regular"/>
                <a:cs typeface="Arial" pitchFamily="34" charset="0"/>
              </a:rPr>
              <a:t>16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Arial" pitchFamily="34" charset="0"/>
            </a:endParaRPr>
          </a:p>
        </p:txBody>
      </p:sp>
      <p:graphicFrame>
        <p:nvGraphicFramePr>
          <p:cNvPr id="3" name="표 3">
            <a:extLst>
              <a:ext uri="{FF2B5EF4-FFF2-40B4-BE49-F238E27FC236}">
                <a16:creationId xmlns:a16="http://schemas.microsoft.com/office/drawing/2014/main" id="{574B5F5D-3446-E570-BA05-EF32AC92F774}"/>
              </a:ext>
            </a:extLst>
          </p:cNvPr>
          <p:cNvGraphicFramePr>
            <a:graphicFrameLocks noGrp="1"/>
          </p:cNvGraphicFramePr>
          <p:nvPr/>
        </p:nvGraphicFramePr>
        <p:xfrm>
          <a:off x="1623307" y="4552521"/>
          <a:ext cx="7069835" cy="1158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33550">
                  <a:extLst>
                    <a:ext uri="{9D8B030D-6E8A-4147-A177-3AD203B41FA5}">
                      <a16:colId xmlns:a16="http://schemas.microsoft.com/office/drawing/2014/main" val="3042033024"/>
                    </a:ext>
                  </a:extLst>
                </a:gridCol>
                <a:gridCol w="1027257">
                  <a:extLst>
                    <a:ext uri="{9D8B030D-6E8A-4147-A177-3AD203B41FA5}">
                      <a16:colId xmlns:a16="http://schemas.microsoft.com/office/drawing/2014/main" val="2998497398"/>
                    </a:ext>
                  </a:extLst>
                </a:gridCol>
                <a:gridCol w="1027257">
                  <a:extLst>
                    <a:ext uri="{9D8B030D-6E8A-4147-A177-3AD203B41FA5}">
                      <a16:colId xmlns:a16="http://schemas.microsoft.com/office/drawing/2014/main" val="1387175064"/>
                    </a:ext>
                  </a:extLst>
                </a:gridCol>
                <a:gridCol w="1027257">
                  <a:extLst>
                    <a:ext uri="{9D8B030D-6E8A-4147-A177-3AD203B41FA5}">
                      <a16:colId xmlns:a16="http://schemas.microsoft.com/office/drawing/2014/main" val="1255822071"/>
                    </a:ext>
                  </a:extLst>
                </a:gridCol>
                <a:gridCol w="1027257">
                  <a:extLst>
                    <a:ext uri="{9D8B030D-6E8A-4147-A177-3AD203B41FA5}">
                      <a16:colId xmlns:a16="http://schemas.microsoft.com/office/drawing/2014/main" val="3507646051"/>
                    </a:ext>
                  </a:extLst>
                </a:gridCol>
                <a:gridCol w="1027257">
                  <a:extLst>
                    <a:ext uri="{9D8B030D-6E8A-4147-A177-3AD203B41FA5}">
                      <a16:colId xmlns:a16="http://schemas.microsoft.com/office/drawing/2014/main" val="1147132441"/>
                    </a:ext>
                  </a:extLst>
                </a:gridCol>
              </a:tblGrid>
              <a:tr h="2076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요건명</a:t>
                      </a:r>
                      <a:endParaRPr lang="ko-KR" altLang="en-US" sz="800" b="1" dirty="0"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1">
                          <a:latin typeface="+mj-ea"/>
                          <a:ea typeface="+mj-ea"/>
                        </a:rPr>
                        <a:t>요건정의</a:t>
                      </a:r>
                      <a:endParaRPr lang="ko-KR" altLang="en-US" sz="800" b="1" dirty="0"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800" b="1"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800" b="1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설계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개발</a:t>
                      </a:r>
                      <a:endParaRPr lang="ko-KR" altLang="en-US" sz="800" b="1">
                        <a:solidFill>
                          <a:srgbClr val="006600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테스트</a:t>
                      </a:r>
                      <a:endParaRPr lang="ko-KR" altLang="en-US" sz="800" b="0" i="1">
                        <a:solidFill>
                          <a:schemeClr val="bg1">
                            <a:lumMod val="50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155186"/>
                  </a:ext>
                </a:extLst>
              </a:tr>
              <a:tr h="3610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배치 지연 모니터링 및 알람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100%(6/6)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100%(6/6)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100%(6/6)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100%(5/5)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100%(5/5)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12121148"/>
                  </a:ext>
                </a:extLst>
              </a:tr>
              <a:tr h="2947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QA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솔라스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상태 모니터링 및 알람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%(</a:t>
                      </a: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11/11)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100%(11/11)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100%(6/6)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100%(3/3)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0%(0/0)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955370480"/>
                  </a:ext>
                </a:extLst>
              </a:tr>
              <a:tr h="29476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운영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변경 작업 프로세스 개선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100%(11/11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100%(11/11)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100%(26/26)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100%(21/21)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100%(21/21)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172661749"/>
                  </a:ext>
                </a:extLst>
              </a:tr>
            </a:tbl>
          </a:graphicData>
        </a:graphic>
      </p:graphicFrame>
      <p:sp>
        <p:nvSpPr>
          <p:cNvPr id="2" name="모서리가 둥근 직사각형 87">
            <a:extLst>
              <a:ext uri="{FF2B5EF4-FFF2-40B4-BE49-F238E27FC236}">
                <a16:creationId xmlns:a16="http://schemas.microsoft.com/office/drawing/2014/main" id="{D89152CC-0DF0-5EA8-6BD6-91340384F342}"/>
              </a:ext>
            </a:extLst>
          </p:cNvPr>
          <p:cNvSpPr/>
          <p:nvPr/>
        </p:nvSpPr>
        <p:spPr>
          <a:xfrm>
            <a:off x="7018000" y="3389727"/>
            <a:ext cx="162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white"/>
                </a:solidFill>
                <a:latin typeface="LG스마트체 Regular"/>
                <a:ea typeface="LG스마트체 Regular"/>
                <a:cs typeface="Arial"/>
              </a:rPr>
              <a:t>QA </a:t>
            </a:r>
            <a:r>
              <a:rPr kumimoji="1" lang="ko-KR" altLang="en-US" sz="700" b="1" kern="0" dirty="0" err="1">
                <a:solidFill>
                  <a:prstClr val="white"/>
                </a:solidFill>
                <a:latin typeface="LG스마트체 Regular"/>
                <a:ea typeface="LG스마트체 Regular"/>
                <a:cs typeface="Arial"/>
              </a:rPr>
              <a:t>솔라스</a:t>
            </a:r>
            <a:r>
              <a:rPr kumimoji="1" lang="ko-KR" altLang="en-US" sz="700" b="1" kern="0" dirty="0">
                <a:solidFill>
                  <a:prstClr val="white"/>
                </a:solidFill>
                <a:latin typeface="LG스마트체 Regular"/>
                <a:ea typeface="LG스마트체 Regular"/>
                <a:cs typeface="Arial"/>
              </a:rPr>
              <a:t> 상태 모니터링 및 알람</a:t>
            </a:r>
            <a:endParaRPr kumimoji="1" lang="ko-KR" altLang="en-US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Arial"/>
            </a:endParaRPr>
          </a:p>
        </p:txBody>
      </p:sp>
      <p:sp>
        <p:nvSpPr>
          <p:cNvPr id="4" name="모서리가 둥근 직사각형 87">
            <a:extLst>
              <a:ext uri="{FF2B5EF4-FFF2-40B4-BE49-F238E27FC236}">
                <a16:creationId xmlns:a16="http://schemas.microsoft.com/office/drawing/2014/main" id="{EA6F67AE-04EB-AE6B-7E8D-F2ED86C9EF45}"/>
              </a:ext>
            </a:extLst>
          </p:cNvPr>
          <p:cNvSpPr/>
          <p:nvPr/>
        </p:nvSpPr>
        <p:spPr>
          <a:xfrm>
            <a:off x="7018000" y="3553299"/>
            <a:ext cx="162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kern="0" dirty="0">
                <a:solidFill>
                  <a:prstClr val="white"/>
                </a:solidFill>
                <a:latin typeface="LG스마트체 Regular"/>
                <a:ea typeface="LG스마트체 Regular"/>
                <a:cs typeface="Arial"/>
              </a:rPr>
              <a:t>운영 변경 작업 프로세스 개선</a:t>
            </a:r>
            <a:endParaRPr kumimoji="1" lang="ko-KR" altLang="en-US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Arial"/>
            </a:endParaRPr>
          </a:p>
        </p:txBody>
      </p:sp>
      <p:sp>
        <p:nvSpPr>
          <p:cNvPr id="6" name="Oval 113">
            <a:extLst>
              <a:ext uri="{FF2B5EF4-FFF2-40B4-BE49-F238E27FC236}">
                <a16:creationId xmlns:a16="http://schemas.microsoft.com/office/drawing/2014/main" id="{922A607F-082C-5F4D-4500-0F43620B6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0979" y="3393850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LG스마트체 Regular"/>
                <a:ea typeface="LG스마트체 Regular"/>
                <a:cs typeface="Arial" pitchFamily="34" charset="0"/>
              </a:rPr>
              <a:t>16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Arial" pitchFamily="34" charset="0"/>
            </a:endParaRPr>
          </a:p>
        </p:txBody>
      </p:sp>
      <p:sp>
        <p:nvSpPr>
          <p:cNvPr id="7" name="Oval 113">
            <a:extLst>
              <a:ext uri="{FF2B5EF4-FFF2-40B4-BE49-F238E27FC236}">
                <a16:creationId xmlns:a16="http://schemas.microsoft.com/office/drawing/2014/main" id="{13672852-D38F-2733-9CDC-253AB31F1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0352" y="3546588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LG스마트체 Regular"/>
                <a:ea typeface="LG스마트체 Regular"/>
                <a:cs typeface="Arial" pitchFamily="34" charset="0"/>
              </a:rPr>
              <a:t>16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5E6B8B0-7146-20B4-C89C-EDB29CEC49E9}"/>
              </a:ext>
            </a:extLst>
          </p:cNvPr>
          <p:cNvSpPr txBox="1"/>
          <p:nvPr/>
        </p:nvSpPr>
        <p:spPr>
          <a:xfrm>
            <a:off x="8061950" y="661330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15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48BBFCD0-36DE-A23C-001A-417170087688}"/>
              </a:ext>
            </a:extLst>
          </p:cNvPr>
          <p:cNvSpPr txBox="1">
            <a:spLocks/>
          </p:cNvSpPr>
          <p:nvPr/>
        </p:nvSpPr>
        <p:spPr>
          <a:xfrm>
            <a:off x="8772081" y="492053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이재균</a:t>
            </a:r>
            <a:r>
              <a:rPr lang="en-US" altLang="ko-KR" sz="1100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6908995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제목 1">
            <a:extLst>
              <a:ext uri="{FF2B5EF4-FFF2-40B4-BE49-F238E27FC236}">
                <a16:creationId xmlns:a16="http://schemas.microsoft.com/office/drawing/2014/main" id="{33463036-9273-403C-B574-F3B0ABCB999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454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7" name="내용 개체 틀 20">
            <a:extLst>
              <a:ext uri="{FF2B5EF4-FFF2-40B4-BE49-F238E27FC236}">
                <a16:creationId xmlns:a16="http://schemas.microsoft.com/office/drawing/2014/main" id="{A60D31AF-35A1-4010-A605-84EBCB290A0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69597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SPC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 -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관리도 고도화</a:t>
            </a:r>
          </a:p>
        </p:txBody>
      </p:sp>
      <p:sp>
        <p:nvSpPr>
          <p:cNvPr id="28" name="내용 개체 틀 20">
            <a:extLst>
              <a:ext uri="{FF2B5EF4-FFF2-40B4-BE49-F238E27FC236}">
                <a16:creationId xmlns:a16="http://schemas.microsoft.com/office/drawing/2014/main" id="{4571CD36-3C01-4A14-A469-785516177253}"/>
              </a:ext>
            </a:extLst>
          </p:cNvPr>
          <p:cNvSpPr txBox="1">
            <a:spLocks/>
          </p:cNvSpPr>
          <p:nvPr/>
        </p:nvSpPr>
        <p:spPr>
          <a:xfrm>
            <a:off x="5693732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DX-#5,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31" name="표 1">
            <a:extLst>
              <a:ext uri="{FF2B5EF4-FFF2-40B4-BE49-F238E27FC236}">
                <a16:creationId xmlns:a16="http://schemas.microsoft.com/office/drawing/2014/main" id="{23424BE3-B6B5-4CA0-A1E4-01DD3AECF428}"/>
              </a:ext>
            </a:extLst>
          </p:cNvPr>
          <p:cNvGraphicFramePr>
            <a:graphicFrameLocks noGrp="1"/>
          </p:cNvGraphicFramePr>
          <p:nvPr/>
        </p:nvGraphicFramePr>
        <p:xfrm>
          <a:off x="11488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-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관리도 고도화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전사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 요건 적용 예정이며 배포 후 모니터링 진행하겠습니다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관리도 기능을 고도화 하여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CTQ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이상감지 활용성을 높이고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사용자 편의성을 개선하기 위한 과제입니다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관리도 이상감지 리드타임을 단축하여 현장에서 보다 빠른 조치를 가능하게 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계측기 수집 데이터를 연계를 통해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CTQ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이상감지 대상을 확대하는 것을 목표로 하고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하반기 관리도 고도화 프로젝트로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월부터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월까지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 요건을 적용할 예정이고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24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월부터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월까지 계측기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 프로젝트를 통해 계측기 데이터를 관리도와 연계할 계획입니다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그리고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초까지 공정능력 고도화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 요건을 개발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적용할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1. 25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하반기 관리도 고도화 프로젝트는 일정 준수하고 있으며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28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 요건을 추가로 운영 적용 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‘Machine/Unit/Assembly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단위 관리도 생성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’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기능을 위한 설비 기준정보 셋업을 진행하였고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유관 부서에 가이드 완료했습니다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10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건 중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건 적용 완료하여 적용률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70%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로 일정 준수하고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 요건 개발 완료하여 테스트 중으로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 요건 적용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 중도금 처리를 위한 산출물 검토 결과 특이사항 없으며 결재 진행중입니다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원통형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EV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계측기 프로젝트 관리도 연계 기능은 설계 완료하여 개발 중으로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말까지 개발 완료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-. Slitter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공정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Lot ID(MES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완공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Lot ID 10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자리에서 슬리팅 레인 제외한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대응 가능하도록 개발하였습니다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-. Slitter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공정 계측 데이터 수집 시작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(11/25)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이후 통합 테스트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-.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개발 진행률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60%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로 일정 준수하고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’25.12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이재균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이유경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조성우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CDDBD46D-EFC9-4A24-B9C8-49F6BC17732C}"/>
              </a:ext>
            </a:extLst>
          </p:cNvPr>
          <p:cNvSpPr txBox="1"/>
          <p:nvPr/>
        </p:nvSpPr>
        <p:spPr>
          <a:xfrm>
            <a:off x="8061950" y="661330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15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33" name="내용 개체 틀 20">
            <a:extLst>
              <a:ext uri="{FF2B5EF4-FFF2-40B4-BE49-F238E27FC236}">
                <a16:creationId xmlns:a16="http://schemas.microsoft.com/office/drawing/2014/main" id="{38D04515-C182-4F85-80E0-B7B2D4D02633}"/>
              </a:ext>
            </a:extLst>
          </p:cNvPr>
          <p:cNvSpPr txBox="1">
            <a:spLocks/>
          </p:cNvSpPr>
          <p:nvPr/>
        </p:nvSpPr>
        <p:spPr>
          <a:xfrm>
            <a:off x="8772081" y="492053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이재균</a:t>
            </a:r>
            <a:r>
              <a:rPr lang="en-US" altLang="ko-KR" sz="110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 panose="020B0502040204020203" pitchFamily="50" charset="-127"/>
            </a:endParaRPr>
          </a:p>
        </p:txBody>
      </p:sp>
      <p:graphicFrame>
        <p:nvGraphicFramePr>
          <p:cNvPr id="29" name="표 3">
            <a:extLst>
              <a:ext uri="{FF2B5EF4-FFF2-40B4-BE49-F238E27FC236}">
                <a16:creationId xmlns:a16="http://schemas.microsoft.com/office/drawing/2014/main" id="{07FCEC2C-8FF8-4206-8A6C-D58AD549C4F5}"/>
              </a:ext>
            </a:extLst>
          </p:cNvPr>
          <p:cNvGraphicFramePr>
            <a:graphicFrameLocks noGrp="1"/>
          </p:cNvGraphicFramePr>
          <p:nvPr/>
        </p:nvGraphicFramePr>
        <p:xfrm>
          <a:off x="1623309" y="5752316"/>
          <a:ext cx="7059899" cy="7971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85873">
                  <a:extLst>
                    <a:ext uri="{9D8B030D-6E8A-4147-A177-3AD203B41FA5}">
                      <a16:colId xmlns:a16="http://schemas.microsoft.com/office/drawing/2014/main" val="3042033024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2400593333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2998497398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1387175064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1255822071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3507646051"/>
                    </a:ext>
                  </a:extLst>
                </a:gridCol>
                <a:gridCol w="895671">
                  <a:extLst>
                    <a:ext uri="{9D8B030D-6E8A-4147-A177-3AD203B41FA5}">
                      <a16:colId xmlns:a16="http://schemas.microsoft.com/office/drawing/2014/main" val="1147132441"/>
                    </a:ext>
                  </a:extLst>
                </a:gridCol>
              </a:tblGrid>
              <a:tr h="2076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latin typeface="+mj-ea"/>
                          <a:ea typeface="+mj-ea"/>
                        </a:rPr>
                        <a:t>PJT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명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투자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요건정의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800" b="1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설계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개발</a:t>
                      </a:r>
                      <a:endParaRPr lang="ko-KR" altLang="en-US" sz="800" b="1">
                        <a:solidFill>
                          <a:srgbClr val="006600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테스트</a:t>
                      </a:r>
                      <a:endParaRPr lang="ko-KR" altLang="en-US" sz="800" b="0" i="1">
                        <a:solidFill>
                          <a:schemeClr val="bg1">
                            <a:lumMod val="50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155186"/>
                  </a:ext>
                </a:extLst>
              </a:tr>
              <a:tr h="29476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latin typeface="+mj-ea"/>
                          <a:ea typeface="+mj-ea"/>
                        </a:rPr>
                        <a:t>25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b="0">
                          <a:latin typeface="+mj-ea"/>
                          <a:ea typeface="+mj-ea"/>
                        </a:rPr>
                        <a:t>SPC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관리도 고도화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계약완료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100%(10/10) 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90%(9/10)</a:t>
                      </a:r>
                      <a:endParaRPr lang="ko-KR" altLang="en-US" sz="800" b="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90%(9/10)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90%(9/10)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70%(7/10)</a:t>
                      </a:r>
                      <a:endParaRPr lang="en-US"/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58925486"/>
                  </a:ext>
                </a:extLst>
              </a:tr>
              <a:tr h="29476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원통형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EV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계측기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-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관리도 연계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계약완료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100%(25/25)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100%(25/25)</a:t>
                      </a:r>
                      <a:endParaRPr lang="ko-KR" altLang="en-US" sz="800" b="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60%(15/25)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0%(0/25)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0%(0/25)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6767101"/>
                  </a:ext>
                </a:extLst>
              </a:tr>
            </a:tbl>
          </a:graphicData>
        </a:graphic>
      </p:graphicFrame>
      <p:graphicFrame>
        <p:nvGraphicFramePr>
          <p:cNvPr id="30" name="Group 986">
            <a:extLst>
              <a:ext uri="{FF2B5EF4-FFF2-40B4-BE49-F238E27FC236}">
                <a16:creationId xmlns:a16="http://schemas.microsoft.com/office/drawing/2014/main" id="{A26D18D1-6411-4FC7-889A-77478A8ECF47}"/>
              </a:ext>
            </a:extLst>
          </p:cNvPr>
          <p:cNvGraphicFramePr>
            <a:graphicFrameLocks noGrp="1"/>
          </p:cNvGraphicFramePr>
          <p:nvPr/>
        </p:nvGraphicFramePr>
        <p:xfrm>
          <a:off x="1943269" y="2893601"/>
          <a:ext cx="6749873" cy="1024800"/>
        </p:xfrm>
        <a:graphic>
          <a:graphicData uri="http://schemas.openxmlformats.org/drawingml/2006/table">
            <a:tbl>
              <a:tblPr/>
              <a:tblGrid>
                <a:gridCol w="519221">
                  <a:extLst>
                    <a:ext uri="{9D8B030D-6E8A-4147-A177-3AD203B41FA5}">
                      <a16:colId xmlns:a16="http://schemas.microsoft.com/office/drawing/2014/main" val="2081513557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559865207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1365114739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3551264532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519221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1475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’24</a:t>
                      </a:r>
                      <a:r>
                        <a:rPr kumimoji="1" lang="ko-KR" altLang="en-US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1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‘25</a:t>
                      </a:r>
                      <a:r>
                        <a:rPr kumimoji="1" lang="ko-KR" altLang="en-US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4785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3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kern="1200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4" name="Rectangle 4">
            <a:extLst>
              <a:ext uri="{FF2B5EF4-FFF2-40B4-BE49-F238E27FC236}">
                <a16:creationId xmlns:a16="http://schemas.microsoft.com/office/drawing/2014/main" id="{64BC3CC2-10D7-4FA8-A51A-A86DBB548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248" y="2887474"/>
            <a:ext cx="283910" cy="1045325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일정</a:t>
            </a:r>
            <a:endParaRPr kumimoji="1" lang="en-US" altLang="ko-KR" sz="12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57" name="모서리가 둥근 직사각형 87">
            <a:extLst>
              <a:ext uri="{FF2B5EF4-FFF2-40B4-BE49-F238E27FC236}">
                <a16:creationId xmlns:a16="http://schemas.microsoft.com/office/drawing/2014/main" id="{5514427A-BDAE-48A8-857A-63D6E76E0CD7}"/>
              </a:ext>
            </a:extLst>
          </p:cNvPr>
          <p:cNvSpPr/>
          <p:nvPr/>
        </p:nvSpPr>
        <p:spPr>
          <a:xfrm>
            <a:off x="7518522" y="2764508"/>
            <a:ext cx="54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진행중</a:t>
            </a:r>
          </a:p>
        </p:txBody>
      </p:sp>
      <p:sp>
        <p:nvSpPr>
          <p:cNvPr id="58" name="모서리가 둥근 직사각형 87">
            <a:extLst>
              <a:ext uri="{FF2B5EF4-FFF2-40B4-BE49-F238E27FC236}">
                <a16:creationId xmlns:a16="http://schemas.microsoft.com/office/drawing/2014/main" id="{44C2AD41-B285-4B7D-A1D4-65BD3FBE66C5}"/>
              </a:ext>
            </a:extLst>
          </p:cNvPr>
          <p:cNvSpPr/>
          <p:nvPr/>
        </p:nvSpPr>
        <p:spPr>
          <a:xfrm>
            <a:off x="8098000" y="2759413"/>
            <a:ext cx="540000" cy="108000"/>
          </a:xfrm>
          <a:prstGeom prst="roundRect">
            <a:avLst/>
          </a:prstGeom>
          <a:pattFill prst="wdUpDiag">
            <a:fgClr>
              <a:srgbClr val="FFFF00"/>
            </a:fgClr>
            <a:bgClr>
              <a:schemeClr val="bg1"/>
            </a:bgClr>
          </a:patt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ysClr val="windowText" lastClr="000000"/>
                </a:solidFill>
                <a:latin typeface="+mn-ea"/>
                <a:cs typeface="Arial"/>
              </a:rPr>
              <a:t>예정</a:t>
            </a:r>
          </a:p>
        </p:txBody>
      </p:sp>
      <p:sp>
        <p:nvSpPr>
          <p:cNvPr id="44" name="모서리가 둥근 직사각형 87">
            <a:extLst>
              <a:ext uri="{FF2B5EF4-FFF2-40B4-BE49-F238E27FC236}">
                <a16:creationId xmlns:a16="http://schemas.microsoft.com/office/drawing/2014/main" id="{6713BB09-3A76-4B26-8E8F-2B6A180FEE25}"/>
              </a:ext>
            </a:extLst>
          </p:cNvPr>
          <p:cNvSpPr/>
          <p:nvPr/>
        </p:nvSpPr>
        <p:spPr>
          <a:xfrm>
            <a:off x="1943995" y="3258187"/>
            <a:ext cx="3600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24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년 하반기 관리도 고도화       </a:t>
            </a:r>
          </a:p>
        </p:txBody>
      </p:sp>
      <p:sp>
        <p:nvSpPr>
          <p:cNvPr id="45" name="모서리가 둥근 직사각형 87">
            <a:extLst>
              <a:ext uri="{FF2B5EF4-FFF2-40B4-BE49-F238E27FC236}">
                <a16:creationId xmlns:a16="http://schemas.microsoft.com/office/drawing/2014/main" id="{FC2065D1-30D0-4449-B7B0-E464FFC15A23}"/>
              </a:ext>
            </a:extLst>
          </p:cNvPr>
          <p:cNvSpPr/>
          <p:nvPr/>
        </p:nvSpPr>
        <p:spPr>
          <a:xfrm>
            <a:off x="1943995" y="3477886"/>
            <a:ext cx="3060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계측기 </a:t>
            </a: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SPC 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모니터링 </a:t>
            </a: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– 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관리도 연계</a:t>
            </a:r>
          </a:p>
        </p:txBody>
      </p:sp>
      <p:sp>
        <p:nvSpPr>
          <p:cNvPr id="46" name="Oval 113">
            <a:extLst>
              <a:ext uri="{FF2B5EF4-FFF2-40B4-BE49-F238E27FC236}">
                <a16:creationId xmlns:a16="http://schemas.microsoft.com/office/drawing/2014/main" id="{968B15C5-39AC-49DF-8C1A-96A078E59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5460" y="345988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n-ea"/>
                <a:cs typeface="Arial" pitchFamily="34" charset="0"/>
              </a:rPr>
              <a:t>31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Arial" pitchFamily="34" charset="0"/>
            </a:endParaRPr>
          </a:p>
        </p:txBody>
      </p:sp>
      <p:sp>
        <p:nvSpPr>
          <p:cNvPr id="47" name="모서리가 둥근 직사각형 87">
            <a:extLst>
              <a:ext uri="{FF2B5EF4-FFF2-40B4-BE49-F238E27FC236}">
                <a16:creationId xmlns:a16="http://schemas.microsoft.com/office/drawing/2014/main" id="{B6D1A10A-E015-490D-B480-113DAC433ECD}"/>
              </a:ext>
            </a:extLst>
          </p:cNvPr>
          <p:cNvSpPr/>
          <p:nvPr/>
        </p:nvSpPr>
        <p:spPr>
          <a:xfrm>
            <a:off x="2137957" y="3694203"/>
            <a:ext cx="1980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공정능력 고도화</a:t>
            </a:r>
          </a:p>
        </p:txBody>
      </p:sp>
      <p:sp>
        <p:nvSpPr>
          <p:cNvPr id="49" name="모서리가 둥근 직사각형 87">
            <a:extLst>
              <a:ext uri="{FF2B5EF4-FFF2-40B4-BE49-F238E27FC236}">
                <a16:creationId xmlns:a16="http://schemas.microsoft.com/office/drawing/2014/main" id="{868FD706-B3F1-42D9-B0E2-8A72DA40667F}"/>
              </a:ext>
            </a:extLst>
          </p:cNvPr>
          <p:cNvSpPr/>
          <p:nvPr/>
        </p:nvSpPr>
        <p:spPr>
          <a:xfrm>
            <a:off x="5085711" y="3477886"/>
            <a:ext cx="1008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계측기 연계 법인 확산</a:t>
            </a:r>
          </a:p>
        </p:txBody>
      </p:sp>
      <p:sp>
        <p:nvSpPr>
          <p:cNvPr id="50" name="Oval 113">
            <a:extLst>
              <a:ext uri="{FF2B5EF4-FFF2-40B4-BE49-F238E27FC236}">
                <a16:creationId xmlns:a16="http://schemas.microsoft.com/office/drawing/2014/main" id="{F58F0944-280A-40A7-9B4B-2D00BAE335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1711" y="345988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n-ea"/>
                <a:cs typeface="Arial" pitchFamily="34" charset="0"/>
              </a:rPr>
              <a:t>31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Arial" pitchFamily="34" charset="0"/>
            </a:endParaRPr>
          </a:p>
        </p:txBody>
      </p:sp>
      <p:sp>
        <p:nvSpPr>
          <p:cNvPr id="51" name="Oval 113">
            <a:extLst>
              <a:ext uri="{FF2B5EF4-FFF2-40B4-BE49-F238E27FC236}">
                <a16:creationId xmlns:a16="http://schemas.microsoft.com/office/drawing/2014/main" id="{90F4DE53-E2A5-475E-9236-9F83693FB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224" y="368083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n-ea"/>
                <a:cs typeface="Arial" pitchFamily="34" charset="0"/>
              </a:rPr>
              <a:t>8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Arial" pitchFamily="34" charset="0"/>
            </a:endParaRPr>
          </a:p>
        </p:txBody>
      </p:sp>
      <p:sp>
        <p:nvSpPr>
          <p:cNvPr id="52" name="모서리가 둥근 직사각형 87">
            <a:extLst>
              <a:ext uri="{FF2B5EF4-FFF2-40B4-BE49-F238E27FC236}">
                <a16:creationId xmlns:a16="http://schemas.microsoft.com/office/drawing/2014/main" id="{DC77C466-D463-4B6B-AC76-7ECFADCB9624}"/>
              </a:ext>
            </a:extLst>
          </p:cNvPr>
          <p:cNvSpPr/>
          <p:nvPr/>
        </p:nvSpPr>
        <p:spPr>
          <a:xfrm>
            <a:off x="5576477" y="3250282"/>
            <a:ext cx="3096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25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년 </a:t>
            </a: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SPC 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관리도 고도화</a:t>
            </a:r>
          </a:p>
        </p:txBody>
      </p:sp>
      <p:sp>
        <p:nvSpPr>
          <p:cNvPr id="53" name="모서리가 둥근 직사각형 87">
            <a:extLst>
              <a:ext uri="{FF2B5EF4-FFF2-40B4-BE49-F238E27FC236}">
                <a16:creationId xmlns:a16="http://schemas.microsoft.com/office/drawing/2014/main" id="{7E4C0E07-4E09-428D-B85D-8E72A28C3E7A}"/>
              </a:ext>
            </a:extLst>
          </p:cNvPr>
          <p:cNvSpPr/>
          <p:nvPr/>
        </p:nvSpPr>
        <p:spPr>
          <a:xfrm>
            <a:off x="5070522" y="3713950"/>
            <a:ext cx="360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원통형</a:t>
            </a: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EV 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계측기 </a:t>
            </a: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- 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소형 설비 알람 및 </a:t>
            </a:r>
            <a:r>
              <a:rPr kumimoji="1" lang="ko-KR" altLang="en-US" sz="700" b="1" kern="0" err="1">
                <a:solidFill>
                  <a:schemeClr val="bg1"/>
                </a:solidFill>
                <a:latin typeface="+mn-ea"/>
                <a:cs typeface="Arial"/>
              </a:rPr>
              <a:t>인터락</a:t>
            </a:r>
            <a:r>
              <a:rPr kumimoji="1" lang="en-US" altLang="ko-KR" sz="700" b="1" kern="0">
                <a:solidFill>
                  <a:schemeClr val="bg1"/>
                </a:solidFill>
                <a:latin typeface="+mn-ea"/>
                <a:cs typeface="Arial"/>
              </a:rPr>
              <a:t>, </a:t>
            </a: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관리도 연계</a:t>
            </a:r>
          </a:p>
        </p:txBody>
      </p:sp>
      <p:sp>
        <p:nvSpPr>
          <p:cNvPr id="62" name="Oval 113">
            <a:extLst>
              <a:ext uri="{FF2B5EF4-FFF2-40B4-BE49-F238E27FC236}">
                <a16:creationId xmlns:a16="http://schemas.microsoft.com/office/drawing/2014/main" id="{86CB9A6D-F71B-49D9-9E7A-1C86F5742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5057" y="3237287"/>
            <a:ext cx="152790" cy="132977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n-ea"/>
                <a:cs typeface="Arial" pitchFamily="34" charset="0"/>
              </a:rPr>
              <a:t>30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Arial" pitchFamily="34" charset="0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D4CAABB-D4A7-4D2A-919E-152405DD09FE}"/>
              </a:ext>
            </a:extLst>
          </p:cNvPr>
          <p:cNvSpPr/>
          <p:nvPr/>
        </p:nvSpPr>
        <p:spPr>
          <a:xfrm>
            <a:off x="6027394" y="3801269"/>
            <a:ext cx="1606530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600" kern="0">
                <a:solidFill>
                  <a:sysClr val="windowText" lastClr="000000"/>
                </a:solidFill>
                <a:latin typeface="+mn-ea"/>
                <a:cs typeface="Arial"/>
              </a:rPr>
              <a:t>OC1 25</a:t>
            </a:r>
            <a:r>
              <a:rPr kumimoji="1" lang="ko-KR" altLang="en-US" sz="600" kern="0">
                <a:solidFill>
                  <a:sysClr val="windowText" lastClr="000000"/>
                </a:solidFill>
                <a:latin typeface="+mn-ea"/>
                <a:cs typeface="Arial"/>
              </a:rPr>
              <a:t>년</a:t>
            </a:r>
            <a:r>
              <a:rPr kumimoji="1" lang="en-US" altLang="ko-KR" sz="600" kern="0">
                <a:solidFill>
                  <a:sysClr val="windowText" lastClr="000000"/>
                </a:solidFill>
                <a:latin typeface="+mn-ea"/>
                <a:cs typeface="Arial"/>
              </a:rPr>
              <a:t>12</a:t>
            </a:r>
            <a:r>
              <a:rPr kumimoji="1" lang="ko-KR" altLang="en-US" sz="600" kern="0">
                <a:solidFill>
                  <a:sysClr val="windowText" lastClr="000000"/>
                </a:solidFill>
                <a:latin typeface="+mn-ea"/>
                <a:cs typeface="Arial"/>
              </a:rPr>
              <a:t>월</a:t>
            </a:r>
            <a:r>
              <a:rPr kumimoji="1" lang="en-US" altLang="ko-KR" sz="600" kern="0">
                <a:solidFill>
                  <a:sysClr val="windowText" lastClr="000000"/>
                </a:solidFill>
                <a:latin typeface="+mn-ea"/>
                <a:cs typeface="Arial"/>
              </a:rPr>
              <a:t>, NJ 26</a:t>
            </a:r>
            <a:r>
              <a:rPr kumimoji="1" lang="ko-KR" altLang="en-US" sz="600" kern="0">
                <a:solidFill>
                  <a:sysClr val="windowText" lastClr="000000"/>
                </a:solidFill>
                <a:latin typeface="+mn-ea"/>
                <a:cs typeface="Arial"/>
              </a:rPr>
              <a:t>년</a:t>
            </a:r>
            <a:r>
              <a:rPr kumimoji="1" lang="en-US" altLang="ko-KR" sz="600" kern="0">
                <a:solidFill>
                  <a:sysClr val="windowText" lastClr="000000"/>
                </a:solidFill>
                <a:latin typeface="+mn-ea"/>
                <a:cs typeface="Arial"/>
              </a:rPr>
              <a:t>1</a:t>
            </a:r>
            <a:r>
              <a:rPr kumimoji="1" lang="ko-KR" altLang="en-US" sz="600" kern="0">
                <a:solidFill>
                  <a:sysClr val="windowText" lastClr="000000"/>
                </a:solidFill>
                <a:latin typeface="+mn-ea"/>
                <a:cs typeface="Arial"/>
              </a:rPr>
              <a:t>월</a:t>
            </a:r>
            <a:r>
              <a:rPr kumimoji="1" lang="en-US" altLang="ko-KR" sz="600" kern="0">
                <a:solidFill>
                  <a:sysClr val="windowText" lastClr="000000"/>
                </a:solidFill>
                <a:latin typeface="+mn-ea"/>
                <a:cs typeface="Arial"/>
              </a:rPr>
              <a:t>, OC2 26</a:t>
            </a:r>
            <a:r>
              <a:rPr kumimoji="1" lang="ko-KR" altLang="en-US" sz="600" kern="0">
                <a:solidFill>
                  <a:sysClr val="windowText" lastClr="000000"/>
                </a:solidFill>
                <a:latin typeface="+mn-ea"/>
                <a:cs typeface="Arial"/>
              </a:rPr>
              <a:t>년</a:t>
            </a:r>
            <a:r>
              <a:rPr kumimoji="1" lang="en-US" altLang="ko-KR" sz="600" kern="0">
                <a:solidFill>
                  <a:sysClr val="windowText" lastClr="000000"/>
                </a:solidFill>
                <a:latin typeface="+mn-ea"/>
                <a:cs typeface="Arial"/>
              </a:rPr>
              <a:t>2</a:t>
            </a:r>
            <a:r>
              <a:rPr kumimoji="1" lang="ko-KR" altLang="en-US" sz="600" kern="0">
                <a:solidFill>
                  <a:sysClr val="windowText" lastClr="000000"/>
                </a:solidFill>
                <a:latin typeface="+mn-ea"/>
                <a:cs typeface="Arial"/>
              </a:rPr>
              <a:t>월</a:t>
            </a:r>
            <a:endParaRPr lang="ko-KR" altLang="en-US" sz="1400"/>
          </a:p>
        </p:txBody>
      </p:sp>
      <p:graphicFrame>
        <p:nvGraphicFramePr>
          <p:cNvPr id="64" name="개체 63">
            <a:extLst>
              <a:ext uri="{FF2B5EF4-FFF2-40B4-BE49-F238E27FC236}">
                <a16:creationId xmlns:a16="http://schemas.microsoft.com/office/drawing/2014/main" id="{5A4207E6-7E9A-443C-99AB-0980C53D0AE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503466" y="5805405"/>
          <a:ext cx="1111614" cy="30354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3" imgW="7128000" imgH="1944000" progId="Package">
                  <p:embed/>
                </p:oleObj>
              </mc:Choice>
              <mc:Fallback>
                <p:oleObj name="포장기 셸 개체" showAsIcon="1" r:id="rId3" imgW="7128000" imgH="1944000" progId="Package">
                  <p:embed/>
                  <p:pic>
                    <p:nvPicPr>
                      <p:cNvPr id="64" name="개체 63">
                        <a:extLst>
                          <a:ext uri="{FF2B5EF4-FFF2-40B4-BE49-F238E27FC236}">
                            <a16:creationId xmlns:a16="http://schemas.microsoft.com/office/drawing/2014/main" id="{5A4207E6-7E9A-443C-99AB-0980C53D0AE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8503466" y="5805405"/>
                        <a:ext cx="1111614" cy="30354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59971596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- </a:t>
                      </a:r>
                      <a:b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시스템 연계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전사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확산을 위한 공수 산정하여 품질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팀 전달 완료하였고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QMS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I/F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상태 모니터링 중으로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 PDS (Process Design System,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공정설계 시스템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 제품 품질과 양산성 확보를 위해 공정조건 및 공정관리계획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(Control Plan)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을 확정 및 변경관리 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확정 및 변경 사항을 유관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실행시스템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(RMS, SPC, QMS)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 배포 및 관리하는 시스템 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기존에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QMS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에서 사용하는 관리항목만 포함하였고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이번 고도화를 통해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Vision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검사 항목까지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PDS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통해 관리할 수 있게 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 OCAP (Out of Control Action Plan,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이상발생처리 시스템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소형 생산 법인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OCAP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시스템 확산을 통하여 공정 이상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발생시 정의된 조치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Process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기반으로 시스템의 조치 충실도를 확보하며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공정 이상의 미조치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지연 조치를 예방하여 공정 이상으로 인한 품질 이슈의 확산을 방지하고자 하는 것이 목표입니다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 MI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 확산 일정은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MI/MIL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이슈 발생으로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이후로 변경되었습니다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26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년 확산 예정인 북미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 법인 확산 공수 산정하여 품질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팀 전달하였습니다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 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0.29M/M)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 FDC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(eIoT-&gt; FDC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FDC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시스템 개선을 위해 전환 일정이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월로 변경되었습니다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3. QMS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연계는 분석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설계 및 개발 완료하여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적용 완료하였고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일부터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I/F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상태 모니터링 중으로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이재균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이유경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조성우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B716BA27-ED5E-4486-939C-63A4A15A4DCB}"/>
              </a:ext>
            </a:extLst>
          </p:cNvPr>
          <p:cNvSpPr txBox="1">
            <a:spLocks/>
          </p:cNvSpPr>
          <p:nvPr/>
        </p:nvSpPr>
        <p:spPr>
          <a:xfrm>
            <a:off x="8772081" y="492053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이재균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 panose="020B0502040204020203" pitchFamily="50" charset="-127"/>
            </a:endParaRPr>
          </a:p>
        </p:txBody>
      </p:sp>
      <p:sp>
        <p:nvSpPr>
          <p:cNvPr id="22" name="내용 개체 틀 20">
            <a:extLst>
              <a:ext uri="{FF2B5EF4-FFF2-40B4-BE49-F238E27FC236}">
                <a16:creationId xmlns:a16="http://schemas.microsoft.com/office/drawing/2014/main" id="{9CAA9231-EF61-472B-81DC-EDD5ACD9E41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54369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SPC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 –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시스템 연계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4" name="제목 1">
            <a:extLst>
              <a:ext uri="{FF2B5EF4-FFF2-40B4-BE49-F238E27FC236}">
                <a16:creationId xmlns:a16="http://schemas.microsoft.com/office/drawing/2014/main" id="{8FFBC6EB-0ECA-4857-B548-8A3F9E6DECB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28526CF-0FAD-443E-B261-39A28FAC79E5}"/>
              </a:ext>
            </a:extLst>
          </p:cNvPr>
          <p:cNvSpPr txBox="1"/>
          <p:nvPr/>
        </p:nvSpPr>
        <p:spPr>
          <a:xfrm>
            <a:off x="8061950" y="661330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lang="en-US" altLang="ko-KR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lang="ko-KR" altLang="en-US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lang="en-US" altLang="ko-KR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15</a:t>
            </a:r>
            <a:r>
              <a:rPr lang="ko-KR" altLang="en-US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graphicFrame>
        <p:nvGraphicFramePr>
          <p:cNvPr id="6" name="개체 5">
            <a:extLst>
              <a:ext uri="{FF2B5EF4-FFF2-40B4-BE49-F238E27FC236}">
                <a16:creationId xmlns:a16="http://schemas.microsoft.com/office/drawing/2014/main" id="{0134D2E6-7A2F-4D6E-8119-23DE130054C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409363" y="4598987"/>
          <a:ext cx="1058863" cy="30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3" imgW="1058760" imgH="304560" progId="Package">
                  <p:embed/>
                </p:oleObj>
              </mc:Choice>
              <mc:Fallback>
                <p:oleObj name="포장기 셸 개체" showAsIcon="1" r:id="rId3" imgW="1058760" imgH="304560" progId="Package">
                  <p:embed/>
                  <p:pic>
                    <p:nvPicPr>
                      <p:cNvPr id="6" name="개체 5">
                        <a:extLst>
                          <a:ext uri="{FF2B5EF4-FFF2-40B4-BE49-F238E27FC236}">
                            <a16:creationId xmlns:a16="http://schemas.microsoft.com/office/drawing/2014/main" id="{0134D2E6-7A2F-4D6E-8119-23DE130054C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8409363" y="4598987"/>
                        <a:ext cx="1058863" cy="3048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0" name="내용 개체 틀 20">
            <a:extLst>
              <a:ext uri="{FF2B5EF4-FFF2-40B4-BE49-F238E27FC236}">
                <a16:creationId xmlns:a16="http://schemas.microsoft.com/office/drawing/2014/main" id="{2B8B99E8-4BD4-44F6-8A9A-F3E06619F21B}"/>
              </a:ext>
            </a:extLst>
          </p:cNvPr>
          <p:cNvSpPr txBox="1">
            <a:spLocks/>
          </p:cNvSpPr>
          <p:nvPr/>
        </p:nvSpPr>
        <p:spPr>
          <a:xfrm>
            <a:off x="5696721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DX-#6,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C22E647-E42B-E8A3-292D-3731C52F5204}"/>
              </a:ext>
            </a:extLst>
          </p:cNvPr>
          <p:cNvGraphicFramePr>
            <a:graphicFrameLocks noGrp="1"/>
          </p:cNvGraphicFramePr>
          <p:nvPr/>
        </p:nvGraphicFramePr>
        <p:xfrm>
          <a:off x="1651720" y="5413914"/>
          <a:ext cx="6995684" cy="1158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81354">
                  <a:extLst>
                    <a:ext uri="{9D8B030D-6E8A-4147-A177-3AD203B41FA5}">
                      <a16:colId xmlns:a16="http://schemas.microsoft.com/office/drawing/2014/main" val="683902549"/>
                    </a:ext>
                  </a:extLst>
                </a:gridCol>
                <a:gridCol w="1122866">
                  <a:extLst>
                    <a:ext uri="{9D8B030D-6E8A-4147-A177-3AD203B41FA5}">
                      <a16:colId xmlns:a16="http://schemas.microsoft.com/office/drawing/2014/main" val="55321602"/>
                    </a:ext>
                  </a:extLst>
                </a:gridCol>
                <a:gridCol w="1122866">
                  <a:extLst>
                    <a:ext uri="{9D8B030D-6E8A-4147-A177-3AD203B41FA5}">
                      <a16:colId xmlns:a16="http://schemas.microsoft.com/office/drawing/2014/main" val="2771124224"/>
                    </a:ext>
                  </a:extLst>
                </a:gridCol>
                <a:gridCol w="1122866">
                  <a:extLst>
                    <a:ext uri="{9D8B030D-6E8A-4147-A177-3AD203B41FA5}">
                      <a16:colId xmlns:a16="http://schemas.microsoft.com/office/drawing/2014/main" val="3208765541"/>
                    </a:ext>
                  </a:extLst>
                </a:gridCol>
                <a:gridCol w="1122866">
                  <a:extLst>
                    <a:ext uri="{9D8B030D-6E8A-4147-A177-3AD203B41FA5}">
                      <a16:colId xmlns:a16="http://schemas.microsoft.com/office/drawing/2014/main" val="3744466180"/>
                    </a:ext>
                  </a:extLst>
                </a:gridCol>
                <a:gridCol w="1122866">
                  <a:extLst>
                    <a:ext uri="{9D8B030D-6E8A-4147-A177-3AD203B41FA5}">
                      <a16:colId xmlns:a16="http://schemas.microsoft.com/office/drawing/2014/main" val="4072182426"/>
                    </a:ext>
                  </a:extLst>
                </a:gridCol>
              </a:tblGrid>
              <a:tr h="16581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항목명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요건정의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ko-KR" altLang="en-US" sz="800" b="0" i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테스트​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4351326"/>
                  </a:ext>
                </a:extLst>
              </a:tr>
              <a:tr h="18950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PDS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연계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</a:p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(Vision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검사 항목 연계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  <a:endParaRPr lang="en-US" altLang="ko-KR" sz="800" b="0" i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kern="1200" noProof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9</a:t>
                      </a:r>
                      <a:r>
                        <a:rPr lang="ko-KR" altLang="en-US" sz="800" b="1" i="0" u="none" strike="noStrike" kern="1200" noProof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b="1" i="0" u="none" strike="noStrike" kern="1200" noProof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15</a:t>
                      </a:r>
                      <a:r>
                        <a:rPr lang="ko-KR" altLang="en-US" sz="800" b="1" i="0" u="none" strike="noStrike" kern="1200" noProof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일</a:t>
                      </a:r>
                      <a:br>
                        <a:rPr lang="en-US" altLang="ko-KR" sz="800" b="1" i="0" u="none" strike="noStrike" kern="1200" noProof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800" b="1" i="0" u="none" strike="noStrike" kern="1200" noProof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(ESHM)</a:t>
                      </a:r>
                      <a:endParaRPr lang="en-US" altLang="ko-KR" sz="800" b="1" i="0" u="none" strike="noStrike" kern="1200" noProof="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75749226"/>
                  </a:ext>
                </a:extLst>
              </a:tr>
              <a:tr h="16581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OCAP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연계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60182889"/>
                  </a:ext>
                </a:extLst>
              </a:tr>
              <a:tr h="18950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FDC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연계</a:t>
                      </a:r>
                      <a:b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</a:b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(</a:t>
                      </a:r>
                      <a:r>
                        <a:rPr lang="en-US" altLang="ko-KR" sz="800" b="0" err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eIoT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-&gt; FDC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전환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)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9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월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30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일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(FDC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전환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12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월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72118609"/>
                  </a:ext>
                </a:extLst>
              </a:tr>
              <a:tr h="18950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QMS 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연계</a:t>
                      </a:r>
                      <a:endParaRPr lang="en-US" altLang="ko-KR" sz="800" b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algn="ctr" latinLnBrk="1"/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제품 초기 안정화 관리</a:t>
                      </a:r>
                      <a:r>
                        <a:rPr lang="en-US" altLang="ko-KR" sz="800" b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)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완료</a:t>
                      </a:r>
                      <a:endParaRPr lang="ko-KR" altLang="en-US" sz="800" b="0" i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월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일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12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월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15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일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26412103"/>
                  </a:ext>
                </a:extLst>
              </a:tr>
            </a:tbl>
          </a:graphicData>
        </a:graphic>
      </p:graphicFrame>
      <p:graphicFrame>
        <p:nvGraphicFramePr>
          <p:cNvPr id="4" name="Group 986">
            <a:extLst>
              <a:ext uri="{FF2B5EF4-FFF2-40B4-BE49-F238E27FC236}">
                <a16:creationId xmlns:a16="http://schemas.microsoft.com/office/drawing/2014/main" id="{CC8EFA22-C6C9-2D39-2CFB-D616D0991343}"/>
              </a:ext>
            </a:extLst>
          </p:cNvPr>
          <p:cNvGraphicFramePr>
            <a:graphicFrameLocks noGrp="1"/>
          </p:cNvGraphicFramePr>
          <p:nvPr/>
        </p:nvGraphicFramePr>
        <p:xfrm>
          <a:off x="1952506" y="2994630"/>
          <a:ext cx="6694896" cy="1463070"/>
        </p:xfrm>
        <a:graphic>
          <a:graphicData uri="http://schemas.openxmlformats.org/drawingml/2006/table">
            <a:tbl>
              <a:tblPr/>
              <a:tblGrid>
                <a:gridCol w="514992">
                  <a:extLst>
                    <a:ext uri="{9D8B030D-6E8A-4147-A177-3AD203B41FA5}">
                      <a16:colId xmlns:a16="http://schemas.microsoft.com/office/drawing/2014/main" val="2081513557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559865207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1365114739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3551264532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17835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’24</a:t>
                      </a:r>
                      <a:r>
                        <a:rPr kumimoji="1" lang="ko-KR" altLang="en-US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1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‘25</a:t>
                      </a:r>
                      <a:r>
                        <a:rPr kumimoji="1" lang="ko-KR" altLang="en-US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6211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3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260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kern="1200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FAB81A5F-25CB-52BB-EDE2-442AAB35B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2484" y="2988504"/>
            <a:ext cx="283910" cy="1463070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일정</a:t>
            </a:r>
            <a:endParaRPr kumimoji="1" lang="en-US" altLang="ko-KR" sz="12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7" name="모서리가 둥근 직사각형 87">
            <a:extLst>
              <a:ext uri="{FF2B5EF4-FFF2-40B4-BE49-F238E27FC236}">
                <a16:creationId xmlns:a16="http://schemas.microsoft.com/office/drawing/2014/main" id="{7AA94DBF-A176-490C-E43B-5843EB0E3337}"/>
              </a:ext>
            </a:extLst>
          </p:cNvPr>
          <p:cNvSpPr/>
          <p:nvPr/>
        </p:nvSpPr>
        <p:spPr>
          <a:xfrm>
            <a:off x="1967739" y="3476890"/>
            <a:ext cx="330961" cy="91827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t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5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FMCS </a:t>
            </a:r>
            <a:r>
              <a:rPr kumimoji="1" lang="ko-KR" altLang="en-US" sz="5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구축</a:t>
            </a:r>
            <a:endParaRPr kumimoji="1" lang="en-US" altLang="ko-KR" sz="5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8" name="Oval 113">
            <a:extLst>
              <a:ext uri="{FF2B5EF4-FFF2-40B4-BE49-F238E27FC236}">
                <a16:creationId xmlns:a16="http://schemas.microsoft.com/office/drawing/2014/main" id="{7A259F55-8ECB-4381-A611-3EA2DFE54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699" y="34508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23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66198A6-6D1B-E970-934C-C6C0FCE7DD25}"/>
              </a:ext>
            </a:extLst>
          </p:cNvPr>
          <p:cNvSpPr txBox="1"/>
          <p:nvPr/>
        </p:nvSpPr>
        <p:spPr>
          <a:xfrm>
            <a:off x="2138044" y="3298679"/>
            <a:ext cx="4892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>
                <a:latin typeface="+mn-ea"/>
              </a:rPr>
              <a:t>HD </a:t>
            </a:r>
            <a:r>
              <a:rPr lang="ko-KR" altLang="en-US" sz="700" b="1">
                <a:latin typeface="+mn-ea"/>
              </a:rPr>
              <a:t>오픈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7F1750C7-98AB-7B18-3FC9-619500347F03}"/>
              </a:ext>
            </a:extLst>
          </p:cNvPr>
          <p:cNvGrpSpPr/>
          <p:nvPr/>
        </p:nvGrpSpPr>
        <p:grpSpPr>
          <a:xfrm>
            <a:off x="1967739" y="3541036"/>
            <a:ext cx="6661461" cy="291189"/>
            <a:chOff x="1958503" y="3267598"/>
            <a:chExt cx="6661461" cy="291189"/>
          </a:xfrm>
        </p:grpSpPr>
        <p:sp>
          <p:nvSpPr>
            <p:cNvPr id="11" name="모서리가 둥근 직사각형 87">
              <a:extLst>
                <a:ext uri="{FF2B5EF4-FFF2-40B4-BE49-F238E27FC236}">
                  <a16:creationId xmlns:a16="http://schemas.microsoft.com/office/drawing/2014/main" id="{5FA4F425-41F4-47AD-394C-03DC22DD534A}"/>
                </a:ext>
              </a:extLst>
            </p:cNvPr>
            <p:cNvSpPr/>
            <p:nvPr/>
          </p:nvSpPr>
          <p:spPr>
            <a:xfrm>
              <a:off x="1958503" y="3438688"/>
              <a:ext cx="760007" cy="91827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defTabSz="1022350" fontAlgn="base" latinLnBrk="0">
                <a:spcBef>
                  <a:spcPct val="50000"/>
                </a:spcBef>
                <a:spcAft>
                  <a:spcPct val="0"/>
                </a:spcAft>
              </a:pPr>
              <a:r>
                <a:rPr kumimoji="1" lang="en-US" altLang="ko-KR" sz="700" b="1" kern="0">
                  <a:solidFill>
                    <a:schemeClr val="bg1"/>
                  </a:solidFill>
                  <a:latin typeface="+mj-ea"/>
                  <a:ea typeface="+mj-ea"/>
                  <a:cs typeface="Arial"/>
                </a:rPr>
                <a:t> New ERP </a:t>
              </a:r>
              <a:r>
                <a:rPr kumimoji="1" lang="ko-KR" altLang="en-US" sz="700" b="1" kern="0">
                  <a:solidFill>
                    <a:schemeClr val="bg1"/>
                  </a:solidFill>
                  <a:latin typeface="+mj-ea"/>
                  <a:ea typeface="+mj-ea"/>
                  <a:cs typeface="Arial"/>
                </a:rPr>
                <a:t>구축</a:t>
              </a:r>
            </a:p>
          </p:txBody>
        </p:sp>
        <p:sp>
          <p:nvSpPr>
            <p:cNvPr id="12" name="Oval 113">
              <a:extLst>
                <a:ext uri="{FF2B5EF4-FFF2-40B4-BE49-F238E27FC236}">
                  <a16:creationId xmlns:a16="http://schemas.microsoft.com/office/drawing/2014/main" id="{DE815E32-71D5-9CC9-AAA0-C387EFEAE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560" y="34126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ea"/>
                  <a:ea typeface="+mj-ea"/>
                  <a:cs typeface="Arial" pitchFamily="34" charset="0"/>
                </a:rPr>
                <a:t>2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27A160C-8966-B76E-771A-2E64DC3E0CCE}"/>
                </a:ext>
              </a:extLst>
            </p:cNvPr>
            <p:cNvSpPr txBox="1"/>
            <p:nvPr/>
          </p:nvSpPr>
          <p:spPr>
            <a:xfrm>
              <a:off x="2548554" y="3270773"/>
              <a:ext cx="675185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b="1">
                  <a:latin typeface="+mn-ea"/>
                </a:rPr>
                <a:t>HQ/WA </a:t>
              </a:r>
              <a:r>
                <a:rPr lang="ko-KR" altLang="en-US" sz="700" b="1">
                  <a:latin typeface="+mn-ea"/>
                </a:rPr>
                <a:t>오픈</a:t>
              </a:r>
            </a:p>
          </p:txBody>
        </p:sp>
        <p:sp>
          <p:nvSpPr>
            <p:cNvPr id="15" name="모서리가 둥근 직사각형 87">
              <a:extLst>
                <a:ext uri="{FF2B5EF4-FFF2-40B4-BE49-F238E27FC236}">
                  <a16:creationId xmlns:a16="http://schemas.microsoft.com/office/drawing/2014/main" id="{89D9A5CF-1D5D-BD5F-7469-8576B3C196B0}"/>
                </a:ext>
              </a:extLst>
            </p:cNvPr>
            <p:cNvSpPr/>
            <p:nvPr/>
          </p:nvSpPr>
          <p:spPr>
            <a:xfrm>
              <a:off x="2866559" y="3438688"/>
              <a:ext cx="5753405" cy="91827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defTabSz="1022350" fontAlgn="base" latinLnBrk="0">
                <a:spcBef>
                  <a:spcPct val="50000"/>
                </a:spcBef>
                <a:spcAft>
                  <a:spcPct val="0"/>
                </a:spcAft>
              </a:pPr>
              <a:r>
                <a:rPr kumimoji="1" lang="en-US" altLang="ko-KR" sz="700" b="1" kern="0">
                  <a:solidFill>
                    <a:schemeClr val="bg1"/>
                  </a:solidFill>
                  <a:latin typeface="+mj-ea"/>
                  <a:ea typeface="+mj-ea"/>
                  <a:cs typeface="Arial"/>
                </a:rPr>
                <a:t> New ERP Roll-In</a:t>
              </a:r>
              <a:endPara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endParaRPr>
            </a:p>
          </p:txBody>
        </p:sp>
        <p:sp>
          <p:nvSpPr>
            <p:cNvPr id="16" name="Oval 113">
              <a:extLst>
                <a:ext uri="{FF2B5EF4-FFF2-40B4-BE49-F238E27FC236}">
                  <a16:creationId xmlns:a16="http://schemas.microsoft.com/office/drawing/2014/main" id="{771159CD-D6E7-C7D1-A59A-C80435212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3576" y="3412601"/>
              <a:ext cx="139988" cy="14618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kern="0">
                  <a:solidFill>
                    <a:prstClr val="black"/>
                  </a:solidFill>
                  <a:latin typeface="+mj-ea"/>
                  <a:ea typeface="+mj-ea"/>
                  <a:cs typeface="Arial" pitchFamily="34" charset="0"/>
                </a:rPr>
                <a:t>1</a:t>
              </a:r>
              <a:endPara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086C1BE-CD8C-7B1E-0C3F-F040569FD23C}"/>
                </a:ext>
              </a:extLst>
            </p:cNvPr>
            <p:cNvSpPr txBox="1"/>
            <p:nvPr/>
          </p:nvSpPr>
          <p:spPr>
            <a:xfrm>
              <a:off x="5354963" y="3277123"/>
              <a:ext cx="92525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700" b="1">
                  <a:latin typeface="+mn-ea"/>
                </a:rPr>
                <a:t>북미 </a:t>
              </a:r>
              <a:r>
                <a:rPr lang="en-US" altLang="ko-KR" sz="700" b="1">
                  <a:latin typeface="+mn-ea"/>
                </a:rPr>
                <a:t>(MI,ST,HD,HG)</a:t>
              </a:r>
            </a:p>
          </p:txBody>
        </p:sp>
        <p:sp>
          <p:nvSpPr>
            <p:cNvPr id="18" name="Oval 113">
              <a:extLst>
                <a:ext uri="{FF2B5EF4-FFF2-40B4-BE49-F238E27FC236}">
                  <a16:creationId xmlns:a16="http://schemas.microsoft.com/office/drawing/2014/main" id="{181F6FF1-8083-7A23-7D09-06F96DEB5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9921" y="34126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223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ea"/>
                  <a:ea typeface="+mj-ea"/>
                  <a:cs typeface="Arial" pitchFamily="34" charset="0"/>
                </a:rPr>
                <a:t>6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5659A55-93C4-4F1D-22DF-5F2786EF6E5F}"/>
                </a:ext>
              </a:extLst>
            </p:cNvPr>
            <p:cNvSpPr txBox="1"/>
            <p:nvPr/>
          </p:nvSpPr>
          <p:spPr>
            <a:xfrm>
              <a:off x="6959819" y="3267598"/>
              <a:ext cx="808235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700" b="1">
                  <a:latin typeface="+mn-ea"/>
                </a:rPr>
                <a:t>중국 </a:t>
              </a:r>
              <a:r>
                <a:rPr lang="en-US" altLang="ko-KR" sz="700" b="1">
                  <a:latin typeface="+mn-ea"/>
                </a:rPr>
                <a:t>(NA,NB,NJ)</a:t>
              </a:r>
            </a:p>
          </p:txBody>
        </p:sp>
      </p:grpSp>
      <p:sp>
        <p:nvSpPr>
          <p:cNvPr id="20" name="모서리가 둥근 직사각형 87">
            <a:extLst>
              <a:ext uri="{FF2B5EF4-FFF2-40B4-BE49-F238E27FC236}">
                <a16:creationId xmlns:a16="http://schemas.microsoft.com/office/drawing/2014/main" id="{2603B7D1-D112-3D3D-3246-45DFA1C83A28}"/>
              </a:ext>
            </a:extLst>
          </p:cNvPr>
          <p:cNvSpPr/>
          <p:nvPr/>
        </p:nvSpPr>
        <p:spPr>
          <a:xfrm>
            <a:off x="4546600" y="4167602"/>
            <a:ext cx="3056708" cy="101303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OCAP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확산 및 고도화</a:t>
            </a:r>
          </a:p>
        </p:txBody>
      </p:sp>
      <p:sp>
        <p:nvSpPr>
          <p:cNvPr id="21" name="Oval 113">
            <a:extLst>
              <a:ext uri="{FF2B5EF4-FFF2-40B4-BE49-F238E27FC236}">
                <a16:creationId xmlns:a16="http://schemas.microsoft.com/office/drawing/2014/main" id="{6368C6C4-3C38-ED2B-B23E-B7BB55172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8226" y="414715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6</a:t>
            </a: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/E</a:t>
            </a:r>
          </a:p>
        </p:txBody>
      </p:sp>
      <p:sp>
        <p:nvSpPr>
          <p:cNvPr id="23" name="Oval 113">
            <a:extLst>
              <a:ext uri="{FF2B5EF4-FFF2-40B4-BE49-F238E27FC236}">
                <a16:creationId xmlns:a16="http://schemas.microsoft.com/office/drawing/2014/main" id="{AB795197-9EBB-8C63-7F07-7353D5BFE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5374" y="414177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9/E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41C112F-688F-3B43-018C-269DDCD6793C}"/>
              </a:ext>
            </a:extLst>
          </p:cNvPr>
          <p:cNvSpPr txBox="1"/>
          <p:nvPr/>
        </p:nvSpPr>
        <p:spPr>
          <a:xfrm>
            <a:off x="5304013" y="3997155"/>
            <a:ext cx="341383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b="1">
                <a:latin typeface="+mn-ea"/>
              </a:rPr>
              <a:t>OC</a:t>
            </a:r>
            <a:endParaRPr lang="ko-KR" altLang="en-US" sz="700" b="1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AFF433FB-0F95-EC7E-7B73-102D3DFC965C}"/>
              </a:ext>
            </a:extLst>
          </p:cNvPr>
          <p:cNvSpPr txBox="1"/>
          <p:nvPr/>
        </p:nvSpPr>
        <p:spPr>
          <a:xfrm>
            <a:off x="6850004" y="4016205"/>
            <a:ext cx="341383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b="1">
                <a:latin typeface="+mn-ea"/>
              </a:rPr>
              <a:t>NJ</a:t>
            </a:r>
            <a:endParaRPr lang="ko-KR" altLang="en-US" sz="700" b="1">
              <a:latin typeface="+mn-ea"/>
            </a:endParaRPr>
          </a:p>
        </p:txBody>
      </p:sp>
      <p:sp>
        <p:nvSpPr>
          <p:cNvPr id="28" name="모서리가 둥근 직사각형 87">
            <a:extLst>
              <a:ext uri="{FF2B5EF4-FFF2-40B4-BE49-F238E27FC236}">
                <a16:creationId xmlns:a16="http://schemas.microsoft.com/office/drawing/2014/main" id="{C7250671-7B53-FE30-259A-4A1D4D8D086F}"/>
              </a:ext>
            </a:extLst>
          </p:cNvPr>
          <p:cNvSpPr/>
          <p:nvPr/>
        </p:nvSpPr>
        <p:spPr>
          <a:xfrm>
            <a:off x="2447700" y="3476890"/>
            <a:ext cx="1357288" cy="91827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t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6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FMCS </a:t>
            </a:r>
            <a:r>
              <a:rPr kumimoji="1" lang="ko-KR" altLang="en-US" sz="6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고도화 및 확산</a:t>
            </a:r>
            <a:endParaRPr kumimoji="1" lang="en-US" altLang="ko-KR" sz="6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29" name="Oval 113">
            <a:extLst>
              <a:ext uri="{FF2B5EF4-FFF2-40B4-BE49-F238E27FC236}">
                <a16:creationId xmlns:a16="http://schemas.microsoft.com/office/drawing/2014/main" id="{096CDC3A-E2BD-9EAE-1B9D-89B1A0D44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7624" y="34508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10</a:t>
            </a:r>
          </a:p>
        </p:txBody>
      </p:sp>
      <p:sp>
        <p:nvSpPr>
          <p:cNvPr id="30" name="Oval 113">
            <a:extLst>
              <a:ext uri="{FF2B5EF4-FFF2-40B4-BE49-F238E27FC236}">
                <a16:creationId xmlns:a16="http://schemas.microsoft.com/office/drawing/2014/main" id="{BFE91296-3C35-548D-39B1-CB35BD822B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4180" y="34508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B4CF0D9-F449-0A28-0438-A8822459B009}"/>
              </a:ext>
            </a:extLst>
          </p:cNvPr>
          <p:cNvSpPr txBox="1"/>
          <p:nvPr/>
        </p:nvSpPr>
        <p:spPr>
          <a:xfrm>
            <a:off x="2796378" y="3298679"/>
            <a:ext cx="100860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>
                <a:latin typeface="+mn-ea"/>
              </a:rPr>
              <a:t>MI 2</a:t>
            </a:r>
            <a:r>
              <a:rPr lang="ko-KR" altLang="en-US" sz="700" b="1">
                <a:latin typeface="+mn-ea"/>
              </a:rPr>
              <a:t>동</a:t>
            </a:r>
            <a:r>
              <a:rPr lang="en-US" altLang="ko-KR" sz="700" b="1">
                <a:latin typeface="+mn-ea"/>
              </a:rPr>
              <a:t>(</a:t>
            </a:r>
            <a:r>
              <a:rPr lang="ko-KR" altLang="en-US" sz="700" b="1">
                <a:latin typeface="+mn-ea"/>
              </a:rPr>
              <a:t>조립</a:t>
            </a:r>
            <a:r>
              <a:rPr lang="en-US" altLang="ko-KR" sz="700" b="1">
                <a:latin typeface="+mn-ea"/>
              </a:rPr>
              <a:t>,</a:t>
            </a:r>
            <a:r>
              <a:rPr lang="ko-KR" altLang="en-US" sz="700" b="1">
                <a:latin typeface="+mn-ea"/>
              </a:rPr>
              <a:t>활성화</a:t>
            </a:r>
            <a:r>
              <a:rPr lang="en-US" altLang="ko-KR" sz="700" b="1">
                <a:latin typeface="+mn-ea"/>
              </a:rPr>
              <a:t>)</a:t>
            </a:r>
            <a:endParaRPr lang="ko-KR" altLang="en-US" sz="700" b="1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9D20078-256D-9660-3362-162C5EFABA1A}"/>
              </a:ext>
            </a:extLst>
          </p:cNvPr>
          <p:cNvSpPr txBox="1"/>
          <p:nvPr/>
        </p:nvSpPr>
        <p:spPr>
          <a:xfrm>
            <a:off x="3557588" y="3298679"/>
            <a:ext cx="66075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>
                <a:latin typeface="+mn-ea"/>
              </a:rPr>
              <a:t>MI 2</a:t>
            </a:r>
            <a:r>
              <a:rPr lang="ko-KR" altLang="en-US" sz="700" b="1">
                <a:latin typeface="+mn-ea"/>
              </a:rPr>
              <a:t>동</a:t>
            </a:r>
            <a:r>
              <a:rPr lang="en-US" altLang="ko-KR" sz="700" b="1">
                <a:latin typeface="+mn-ea"/>
              </a:rPr>
              <a:t>(</a:t>
            </a:r>
            <a:r>
              <a:rPr lang="ko-KR" altLang="en-US" sz="700" b="1">
                <a:latin typeface="+mn-ea"/>
              </a:rPr>
              <a:t>전극</a:t>
            </a:r>
            <a:r>
              <a:rPr lang="en-US" altLang="ko-KR" sz="700" b="1">
                <a:latin typeface="+mn-ea"/>
              </a:rPr>
              <a:t>)</a:t>
            </a:r>
            <a:endParaRPr lang="ko-KR" altLang="en-US" sz="700" b="1">
              <a:latin typeface="+mn-ea"/>
            </a:endParaRPr>
          </a:p>
        </p:txBody>
      </p:sp>
      <p:sp>
        <p:nvSpPr>
          <p:cNvPr id="33" name="모서리가 둥근 직사각형 87">
            <a:extLst>
              <a:ext uri="{FF2B5EF4-FFF2-40B4-BE49-F238E27FC236}">
                <a16:creationId xmlns:a16="http://schemas.microsoft.com/office/drawing/2014/main" id="{F892C91B-C09F-2885-6A93-947BAB02080E}"/>
              </a:ext>
            </a:extLst>
          </p:cNvPr>
          <p:cNvSpPr/>
          <p:nvPr/>
        </p:nvSpPr>
        <p:spPr>
          <a:xfrm>
            <a:off x="1977676" y="3945240"/>
            <a:ext cx="2844000" cy="91827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24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년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PDS 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고도화 및 확산</a:t>
            </a:r>
          </a:p>
        </p:txBody>
      </p:sp>
      <p:sp>
        <p:nvSpPr>
          <p:cNvPr id="34" name="Oval 113">
            <a:extLst>
              <a:ext uri="{FF2B5EF4-FFF2-40B4-BE49-F238E27FC236}">
                <a16:creationId xmlns:a16="http://schemas.microsoft.com/office/drawing/2014/main" id="{61FD9430-CDFA-1626-2052-56E5E4F73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6995" y="391915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19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B7D0B87-4CD7-AEAF-670F-56E3CF201DFA}"/>
              </a:ext>
            </a:extLst>
          </p:cNvPr>
          <p:cNvSpPr txBox="1"/>
          <p:nvPr/>
        </p:nvSpPr>
        <p:spPr>
          <a:xfrm>
            <a:off x="3509300" y="3774898"/>
            <a:ext cx="55816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>
                <a:latin typeface="+mn-ea"/>
              </a:rPr>
              <a:t>GM1 </a:t>
            </a:r>
            <a:r>
              <a:rPr lang="ko-KR" altLang="en-US" sz="700" b="1">
                <a:latin typeface="+mn-ea"/>
              </a:rPr>
              <a:t>배포</a:t>
            </a:r>
          </a:p>
        </p:txBody>
      </p:sp>
      <p:sp>
        <p:nvSpPr>
          <p:cNvPr id="36" name="모서리가 둥근 직사각형 87">
            <a:extLst>
              <a:ext uri="{FF2B5EF4-FFF2-40B4-BE49-F238E27FC236}">
                <a16:creationId xmlns:a16="http://schemas.microsoft.com/office/drawing/2014/main" id="{A43DE5ED-F3FB-E777-86D8-B565CA36F3A4}"/>
              </a:ext>
            </a:extLst>
          </p:cNvPr>
          <p:cNvSpPr/>
          <p:nvPr/>
        </p:nvSpPr>
        <p:spPr>
          <a:xfrm>
            <a:off x="4885868" y="3945240"/>
            <a:ext cx="3744000" cy="89201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PDS 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고도화 및 확산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(Vision 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검사 항목 연계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)</a:t>
            </a:r>
            <a:endParaRPr kumimoji="1" lang="ko-KR" altLang="en-US" sz="7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37" name="Oval 113">
            <a:extLst>
              <a:ext uri="{FF2B5EF4-FFF2-40B4-BE49-F238E27FC236}">
                <a16:creationId xmlns:a16="http://schemas.microsoft.com/office/drawing/2014/main" id="{B235488E-415F-0F6B-17E3-029F7F081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7226" y="391915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163D15C-8DD6-E1F2-979D-E3B0E73D946F}"/>
              </a:ext>
            </a:extLst>
          </p:cNvPr>
          <p:cNvSpPr txBox="1"/>
          <p:nvPr/>
        </p:nvSpPr>
        <p:spPr>
          <a:xfrm>
            <a:off x="4523731" y="3774898"/>
            <a:ext cx="57099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>
                <a:latin typeface="+mn-ea"/>
              </a:rPr>
              <a:t>MI2, GM2</a:t>
            </a:r>
          </a:p>
        </p:txBody>
      </p:sp>
      <p:sp>
        <p:nvSpPr>
          <p:cNvPr id="39" name="Oval 113">
            <a:extLst>
              <a:ext uri="{FF2B5EF4-FFF2-40B4-BE49-F238E27FC236}">
                <a16:creationId xmlns:a16="http://schemas.microsoft.com/office/drawing/2014/main" id="{FCE695E5-E74F-63CE-7723-B4CD615E0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8021" y="391915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26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F71D255-27A7-825B-BD48-0E530DE5E641}"/>
              </a:ext>
            </a:extLst>
          </p:cNvPr>
          <p:cNvSpPr txBox="1"/>
          <p:nvPr/>
        </p:nvSpPr>
        <p:spPr>
          <a:xfrm>
            <a:off x="6787957" y="3774898"/>
            <a:ext cx="32412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>
                <a:latin typeface="+mn-ea"/>
              </a:rPr>
              <a:t>HM</a:t>
            </a:r>
          </a:p>
        </p:txBody>
      </p:sp>
      <p:sp>
        <p:nvSpPr>
          <p:cNvPr id="49" name="모서리가 둥근 직사각형 87">
            <a:extLst>
              <a:ext uri="{FF2B5EF4-FFF2-40B4-BE49-F238E27FC236}">
                <a16:creationId xmlns:a16="http://schemas.microsoft.com/office/drawing/2014/main" id="{F2F26C04-0FB5-5176-92FA-08095E6334F3}"/>
              </a:ext>
            </a:extLst>
          </p:cNvPr>
          <p:cNvSpPr/>
          <p:nvPr/>
        </p:nvSpPr>
        <p:spPr>
          <a:xfrm>
            <a:off x="6991167" y="3435531"/>
            <a:ext cx="1620000" cy="101303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QMS 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연계 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(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제품 초기 안정화 관리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)</a:t>
            </a:r>
            <a:endParaRPr kumimoji="1" lang="ko-KR" altLang="en-US" sz="7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50" name="Oval 113">
            <a:extLst>
              <a:ext uri="{FF2B5EF4-FFF2-40B4-BE49-F238E27FC236}">
                <a16:creationId xmlns:a16="http://schemas.microsoft.com/office/drawing/2014/main" id="{0F377315-DBB7-F41D-0122-591E683DE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99010" y="342442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31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51" name="모서리가 둥근 직사각형 87">
            <a:extLst>
              <a:ext uri="{FF2B5EF4-FFF2-40B4-BE49-F238E27FC236}">
                <a16:creationId xmlns:a16="http://schemas.microsoft.com/office/drawing/2014/main" id="{BCF0AFD1-E16F-7BCB-2DBE-FEB300DE25F2}"/>
              </a:ext>
            </a:extLst>
          </p:cNvPr>
          <p:cNvSpPr/>
          <p:nvPr/>
        </p:nvSpPr>
        <p:spPr>
          <a:xfrm>
            <a:off x="5333817" y="4359456"/>
            <a:ext cx="3240000" cy="101303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FDC 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연계 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(</a:t>
            </a:r>
            <a:r>
              <a:rPr kumimoji="1" lang="en-US" altLang="ko-KR" sz="700" b="1" kern="0" err="1">
                <a:solidFill>
                  <a:schemeClr val="bg1"/>
                </a:solidFill>
                <a:latin typeface="+mj-ea"/>
                <a:ea typeface="+mj-ea"/>
                <a:cs typeface="Arial"/>
              </a:rPr>
              <a:t>eIoT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-&gt; FDC 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전환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)</a:t>
            </a:r>
            <a:endParaRPr kumimoji="1" lang="ko-KR" altLang="en-US" sz="7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52" name="Oval 113">
            <a:extLst>
              <a:ext uri="{FF2B5EF4-FFF2-40B4-BE49-F238E27FC236}">
                <a16:creationId xmlns:a16="http://schemas.microsoft.com/office/drawing/2014/main" id="{51D95D29-63DB-F7A3-D01E-BB079DCC9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29024" y="4348347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19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2B7FBC8-3F10-94B7-9ACD-30EE86488D0F}"/>
              </a:ext>
            </a:extLst>
          </p:cNvPr>
          <p:cNvSpPr txBox="1"/>
          <p:nvPr/>
        </p:nvSpPr>
        <p:spPr>
          <a:xfrm>
            <a:off x="8355923" y="4214147"/>
            <a:ext cx="30328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>
                <a:latin typeface="+mn-ea"/>
              </a:rPr>
              <a:t>OC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96E0121-C747-1172-8A0C-D312FFB5ED39}"/>
              </a:ext>
            </a:extLst>
          </p:cNvPr>
          <p:cNvSpPr txBox="1"/>
          <p:nvPr/>
        </p:nvSpPr>
        <p:spPr>
          <a:xfrm>
            <a:off x="8196379" y="3774898"/>
            <a:ext cx="44755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>
                <a:latin typeface="+mn-ea"/>
              </a:rPr>
              <a:t>HD, ST</a:t>
            </a:r>
          </a:p>
        </p:txBody>
      </p:sp>
      <p:sp>
        <p:nvSpPr>
          <p:cNvPr id="48" name="Oval 113">
            <a:extLst>
              <a:ext uri="{FF2B5EF4-FFF2-40B4-BE49-F238E27FC236}">
                <a16:creationId xmlns:a16="http://schemas.microsoft.com/office/drawing/2014/main" id="{E57D5250-3C15-4E47-92BB-D614A7AAFA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7884" y="391915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0033492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36228" y="868851"/>
          <a:ext cx="9569038" cy="561516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0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7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(W51)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3076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SPC -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n-ea"/>
                        </a:rPr>
                        <a:t>관리도 운영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전사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LG스마트체 Regular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W51)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Pack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MES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데이터 처리 로직 개선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Winder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형 교환 이상감지 자동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On/Off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로직 개선 중에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있으며 이외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SPC+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를 통해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CTQ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를 관리할 수 있도록 기준정보 등록 및 기능 사용에 대한 문의 응대부터 신규 기능 적용을 통한 업무 효율화를 지원하고자 함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진행 과제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1. CTQ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관리를 위한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운영 지원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 1)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문의응대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총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건에 대한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CTQ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연계 및 기능 문의에 대해 응대하였습니다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2) Pack MES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데이터 처리 로직 개선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사용자의 니즈에 따라 메인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하위 설비 중 선택하여 관리도 생성이 가능하도록 로직 개선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요건정의서 작성 후 논의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(11/27)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CNS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설계 중에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(~12/17)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-. MMD2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신규 컬럼 추가 및 인터페이스 적용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(12/9)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SPC+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 컬럼 처리 로직 적용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(12/16)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 컬럼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메인 설비 사용 여부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 따른 설비 처리 로직 분기 완료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(~1/13)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3) Winder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형 교환 이상감지 자동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On/Off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로직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과거제품 이상감지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Off,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신규제품 이상감지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 전환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개선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-. Winder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Vision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검사데이터의 제품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ID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가 완공 제품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(J/R) ID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가 아닌 투입 자재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음극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Pancake)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제품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ID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형태로 수신되어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완공 제품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ID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기준인 기존 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형 교환 로직으로는 대응이 불가하였습니다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투입 자재 제품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ID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로도 형 교환 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이상감지 자동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On/Off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로직 동작 하도록 개선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투입 자재 제품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ID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 방안에 대한 요건정의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(12/4)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후 설계 중에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(~12/19)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로직 개발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테스트 후 운영 배포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(~1/13)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‘25.12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’26.1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</a:rPr>
                        <a:t>‘26.1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이재균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이상오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이유경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조성우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LG스마트체 Regular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54369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SPC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–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 관리도 운영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B155A4F-98EC-4E5C-AA82-EBDCA8C61DEC}"/>
              </a:ext>
            </a:extLst>
          </p:cNvPr>
          <p:cNvSpPr txBox="1"/>
          <p:nvPr/>
        </p:nvSpPr>
        <p:spPr>
          <a:xfrm>
            <a:off x="8061950" y="65245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15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82777469-075C-4F1A-937D-464821D233AD}"/>
              </a:ext>
            </a:extLst>
          </p:cNvPr>
          <p:cNvSpPr txBox="1">
            <a:spLocks/>
          </p:cNvSpPr>
          <p:nvPr/>
        </p:nvSpPr>
        <p:spPr>
          <a:xfrm>
            <a:off x="8792919" y="483174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이유경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2" name="내용 개체 틀 20">
            <a:extLst>
              <a:ext uri="{FF2B5EF4-FFF2-40B4-BE49-F238E27FC236}">
                <a16:creationId xmlns:a16="http://schemas.microsoft.com/office/drawing/2014/main" id="{0D1E6ADD-93D1-4C62-80DE-E0B2DAC539B2}"/>
              </a:ext>
            </a:extLst>
          </p:cNvPr>
          <p:cNvSpPr txBox="1">
            <a:spLocks/>
          </p:cNvSpPr>
          <p:nvPr/>
        </p:nvSpPr>
        <p:spPr>
          <a:xfrm>
            <a:off x="5795045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DX-#7,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F5A5BA4-4ECC-48E0-8AD5-CF0ABE7C6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9676" y="1875941"/>
            <a:ext cx="283910" cy="999073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일정</a:t>
            </a:r>
            <a:endParaRPr kumimoji="1" lang="en-US" altLang="ko-KR" sz="12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35" name="모서리가 둥근 직사각형 87">
            <a:extLst>
              <a:ext uri="{FF2B5EF4-FFF2-40B4-BE49-F238E27FC236}">
                <a16:creationId xmlns:a16="http://schemas.microsoft.com/office/drawing/2014/main" id="{88FA51D8-5C21-463D-8312-102618E17746}"/>
              </a:ext>
            </a:extLst>
          </p:cNvPr>
          <p:cNvSpPr/>
          <p:nvPr/>
        </p:nvSpPr>
        <p:spPr>
          <a:xfrm>
            <a:off x="1769845" y="2416398"/>
            <a:ext cx="503641" cy="252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ts val="5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공정 능력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  <a:p>
            <a:pPr marL="0" marR="0" lvl="0" indent="0" algn="ctr" defTabSz="1022350" rtl="0" eaLnBrk="1" fontAlgn="base" latinLnBrk="0" hangingPunct="1">
              <a:lnSpc>
                <a:spcPts val="5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산출 로직 수립</a:t>
            </a:r>
          </a:p>
        </p:txBody>
      </p:sp>
      <p:graphicFrame>
        <p:nvGraphicFramePr>
          <p:cNvPr id="36" name="Group 986">
            <a:extLst>
              <a:ext uri="{FF2B5EF4-FFF2-40B4-BE49-F238E27FC236}">
                <a16:creationId xmlns:a16="http://schemas.microsoft.com/office/drawing/2014/main" id="{7A9D5366-EA73-4691-8BC2-6907662E61BF}"/>
              </a:ext>
            </a:extLst>
          </p:cNvPr>
          <p:cNvGraphicFramePr>
            <a:graphicFrameLocks noGrp="1"/>
          </p:cNvGraphicFramePr>
          <p:nvPr/>
        </p:nvGraphicFramePr>
        <p:xfrm>
          <a:off x="1769698" y="1882069"/>
          <a:ext cx="6694896" cy="999073"/>
        </p:xfrm>
        <a:graphic>
          <a:graphicData uri="http://schemas.openxmlformats.org/drawingml/2006/table">
            <a:tbl>
              <a:tblPr/>
              <a:tblGrid>
                <a:gridCol w="514992">
                  <a:extLst>
                    <a:ext uri="{9D8B030D-6E8A-4147-A177-3AD203B41FA5}">
                      <a16:colId xmlns:a16="http://schemas.microsoft.com/office/drawing/2014/main" val="2081513557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559865207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1365114739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3551264532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514992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163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’24</a:t>
                      </a:r>
                      <a:r>
                        <a:rPr kumimoji="1" lang="ko-KR" altLang="en-US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1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’25</a:t>
                      </a:r>
                      <a:r>
                        <a:rPr kumimoji="1" lang="ko-KR" altLang="en-US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63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3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730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Arial" pitchFamily="34" charset="0"/>
                        </a:rPr>
                        <a:t> </a:t>
                      </a: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kern="1200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7" name="모서리가 둥근 직사각형 87">
            <a:extLst>
              <a:ext uri="{FF2B5EF4-FFF2-40B4-BE49-F238E27FC236}">
                <a16:creationId xmlns:a16="http://schemas.microsoft.com/office/drawing/2014/main" id="{58F4A63C-9A22-4D4C-9A74-986705A1795B}"/>
              </a:ext>
            </a:extLst>
          </p:cNvPr>
          <p:cNvSpPr/>
          <p:nvPr/>
        </p:nvSpPr>
        <p:spPr>
          <a:xfrm>
            <a:off x="1769845" y="2243961"/>
            <a:ext cx="6624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CTQ</a:t>
            </a: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관리를 위한 </a:t>
            </a: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SPC </a:t>
            </a: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운영 지원</a:t>
            </a:r>
          </a:p>
        </p:txBody>
      </p:sp>
      <p:sp>
        <p:nvSpPr>
          <p:cNvPr id="38" name="Oval 113">
            <a:extLst>
              <a:ext uri="{FF2B5EF4-FFF2-40B4-BE49-F238E27FC236}">
                <a16:creationId xmlns:a16="http://schemas.microsoft.com/office/drawing/2014/main" id="{AB124C2E-3DA2-4BD8-8557-EB1C23043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409" y="222596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rPr>
              <a:t>31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185688CF-996B-4851-ACB2-99DE7FB241A5}"/>
              </a:ext>
            </a:extLst>
          </p:cNvPr>
          <p:cNvSpPr/>
          <p:nvPr/>
        </p:nvSpPr>
        <p:spPr>
          <a:xfrm>
            <a:off x="2247803" y="2434676"/>
            <a:ext cx="55015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(12/15)</a:t>
            </a:r>
          </a:p>
        </p:txBody>
      </p:sp>
      <p:sp>
        <p:nvSpPr>
          <p:cNvPr id="40" name="모서리가 둥근 직사각형 87">
            <a:extLst>
              <a:ext uri="{FF2B5EF4-FFF2-40B4-BE49-F238E27FC236}">
                <a16:creationId xmlns:a16="http://schemas.microsoft.com/office/drawing/2014/main" id="{E040F865-D389-408D-9C08-5FF09AE5D12C}"/>
              </a:ext>
            </a:extLst>
          </p:cNvPr>
          <p:cNvSpPr/>
          <p:nvPr/>
        </p:nvSpPr>
        <p:spPr>
          <a:xfrm>
            <a:off x="1769845" y="2743324"/>
            <a:ext cx="1296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계수형 </a:t>
            </a: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Simulation </a:t>
            </a: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기능 적용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90FD13A0-FE1A-477F-A02A-814213A04326}"/>
              </a:ext>
            </a:extLst>
          </p:cNvPr>
          <p:cNvSpPr/>
          <p:nvPr/>
        </p:nvSpPr>
        <p:spPr>
          <a:xfrm>
            <a:off x="3030713" y="2689602"/>
            <a:ext cx="50366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完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(2/11)</a:t>
            </a:r>
          </a:p>
        </p:txBody>
      </p:sp>
      <p:sp>
        <p:nvSpPr>
          <p:cNvPr id="24" name="모서리가 둥근 직사각형 87">
            <a:extLst>
              <a:ext uri="{FF2B5EF4-FFF2-40B4-BE49-F238E27FC236}">
                <a16:creationId xmlns:a16="http://schemas.microsoft.com/office/drawing/2014/main" id="{0FB2F273-CA5A-46D9-BC20-7518212B6B42}"/>
              </a:ext>
            </a:extLst>
          </p:cNvPr>
          <p:cNvSpPr/>
          <p:nvPr/>
        </p:nvSpPr>
        <p:spPr>
          <a:xfrm>
            <a:off x="3415072" y="2416398"/>
            <a:ext cx="926334" cy="252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ts val="5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ESHD/ESMIL/ESST</a:t>
            </a:r>
          </a:p>
          <a:p>
            <a:pPr marL="0" marR="0" lvl="0" indent="0" algn="ctr" defTabSz="1022350" rtl="0" eaLnBrk="1" fontAlgn="base" latinLnBrk="0" hangingPunct="1">
              <a:lnSpc>
                <a:spcPts val="5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사용자 교육</a:t>
            </a:r>
            <a:r>
              <a:rPr kumimoji="1" lang="en-US" altLang="ko-KR" sz="700" b="1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700" b="1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및 </a:t>
            </a:r>
            <a:r>
              <a:rPr kumimoji="1" lang="en-US" altLang="ko-KR" sz="700" b="1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CTQ </a:t>
            </a:r>
            <a:r>
              <a:rPr kumimoji="1" lang="ko-KR" altLang="en-US" sz="700" b="1" kern="0">
                <a:solidFill>
                  <a:prstClr val="whit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등록</a:t>
            </a:r>
            <a:endParaRPr kumimoji="1" lang="ko-KR" altLang="en-US" sz="7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40AD855-8CBF-417E-ACCB-E5FCBB9B68F6}"/>
              </a:ext>
            </a:extLst>
          </p:cNvPr>
          <p:cNvSpPr/>
          <p:nvPr/>
        </p:nvSpPr>
        <p:spPr>
          <a:xfrm>
            <a:off x="4292066" y="2434676"/>
            <a:ext cx="74090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(3/20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~</a:t>
            </a: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4/25)</a:t>
            </a:r>
          </a:p>
        </p:txBody>
      </p:sp>
      <p:sp>
        <p:nvSpPr>
          <p:cNvPr id="27" name="모서리가 둥근 직사각형 87">
            <a:extLst>
              <a:ext uri="{FF2B5EF4-FFF2-40B4-BE49-F238E27FC236}">
                <a16:creationId xmlns:a16="http://schemas.microsoft.com/office/drawing/2014/main" id="{2B156BE6-4090-4097-9A28-21A9EF81A1AE}"/>
              </a:ext>
            </a:extLst>
          </p:cNvPr>
          <p:cNvSpPr/>
          <p:nvPr/>
        </p:nvSpPr>
        <p:spPr>
          <a:xfrm>
            <a:off x="3825841" y="2743324"/>
            <a:ext cx="1026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영문 교육동영상 리뉴얼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1428A0E-8F2B-4144-954B-C94C768C3EAF}"/>
              </a:ext>
            </a:extLst>
          </p:cNvPr>
          <p:cNvSpPr/>
          <p:nvPr/>
        </p:nvSpPr>
        <p:spPr>
          <a:xfrm>
            <a:off x="4802316" y="2689602"/>
            <a:ext cx="50366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完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(5/30)</a:t>
            </a:r>
          </a:p>
        </p:txBody>
      </p:sp>
      <p:sp>
        <p:nvSpPr>
          <p:cNvPr id="23" name="모서리가 둥근 직사각형 87">
            <a:extLst>
              <a:ext uri="{FF2B5EF4-FFF2-40B4-BE49-F238E27FC236}">
                <a16:creationId xmlns:a16="http://schemas.microsoft.com/office/drawing/2014/main" id="{A542781D-C22D-456C-A079-3D1EA9260EFB}"/>
              </a:ext>
            </a:extLst>
          </p:cNvPr>
          <p:cNvSpPr/>
          <p:nvPr/>
        </p:nvSpPr>
        <p:spPr>
          <a:xfrm>
            <a:off x="5903829" y="2635881"/>
            <a:ext cx="1004397" cy="215443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연속 이상발생</a:t>
            </a:r>
            <a:b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상위자 알람 전송</a:t>
            </a:r>
          </a:p>
        </p:txBody>
      </p:sp>
      <p:sp>
        <p:nvSpPr>
          <p:cNvPr id="29" name="모서리가 둥근 직사각형 87">
            <a:extLst>
              <a:ext uri="{FF2B5EF4-FFF2-40B4-BE49-F238E27FC236}">
                <a16:creationId xmlns:a16="http://schemas.microsoft.com/office/drawing/2014/main" id="{ED210865-B60F-4198-823F-A5697475CB1E}"/>
              </a:ext>
            </a:extLst>
          </p:cNvPr>
          <p:cNvSpPr/>
          <p:nvPr/>
        </p:nvSpPr>
        <p:spPr>
          <a:xfrm>
            <a:off x="5183972" y="2451454"/>
            <a:ext cx="223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소형 설비 알람</a:t>
            </a:r>
            <a: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</a:t>
            </a: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인터락</a:t>
            </a:r>
            <a: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 </a:t>
            </a: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적용</a:t>
            </a:r>
          </a:p>
        </p:txBody>
      </p:sp>
      <p:sp>
        <p:nvSpPr>
          <p:cNvPr id="32" name="모서리가 둥근 직사각형 87">
            <a:extLst>
              <a:ext uri="{FF2B5EF4-FFF2-40B4-BE49-F238E27FC236}">
                <a16:creationId xmlns:a16="http://schemas.microsoft.com/office/drawing/2014/main" id="{EEC80CBA-814F-4859-8B62-816D2EE32B76}"/>
              </a:ext>
            </a:extLst>
          </p:cNvPr>
          <p:cNvSpPr/>
          <p:nvPr/>
        </p:nvSpPr>
        <p:spPr>
          <a:xfrm>
            <a:off x="5344120" y="2635881"/>
            <a:ext cx="533598" cy="215443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ESHG </a:t>
            </a: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사용자</a:t>
            </a:r>
            <a:b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</a:b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교육</a:t>
            </a:r>
            <a:r>
              <a:rPr kumimoji="1" lang="en-US" altLang="ko-KR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/CTQ </a:t>
            </a:r>
            <a:r>
              <a:rPr kumimoji="1" lang="ko-KR" altLang="en-US" sz="700" b="1" kern="0">
                <a:solidFill>
                  <a:schemeClr val="bg1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/>
              </a:rPr>
              <a:t>등록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7D18069-B3E2-49F0-BC08-D0FF63E78916}"/>
              </a:ext>
            </a:extLst>
          </p:cNvPr>
          <p:cNvSpPr/>
          <p:nvPr/>
        </p:nvSpPr>
        <p:spPr>
          <a:xfrm>
            <a:off x="5294594" y="2826709"/>
            <a:ext cx="67037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完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(7/17~8/1)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8C71310-9BB6-4419-B8F5-F5A28FB4FC66}"/>
              </a:ext>
            </a:extLst>
          </p:cNvPr>
          <p:cNvSpPr/>
          <p:nvPr/>
        </p:nvSpPr>
        <p:spPr>
          <a:xfrm>
            <a:off x="6860449" y="2643117"/>
            <a:ext cx="50366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完</a:t>
            </a:r>
            <a:r>
              <a:rPr lang="en-US" altLang="ko-KR" sz="800" b="1">
                <a:solidFill>
                  <a:srgbClr val="006600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(9/30)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FD751AC-A515-82E1-42B6-80EB8EB7925E}"/>
              </a:ext>
            </a:extLst>
          </p:cNvPr>
          <p:cNvSpPr/>
          <p:nvPr/>
        </p:nvSpPr>
        <p:spPr>
          <a:xfrm>
            <a:off x="7407366" y="2397732"/>
            <a:ext cx="55015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完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(10/26)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29D722A-ABAD-E065-1B2E-F57E98E8E32D}"/>
              </a:ext>
            </a:extLst>
          </p:cNvPr>
          <p:cNvGraphicFramePr>
            <a:graphicFrameLocks noGrp="1"/>
          </p:cNvGraphicFramePr>
          <p:nvPr/>
        </p:nvGraphicFramePr>
        <p:xfrm>
          <a:off x="1671042" y="3599732"/>
          <a:ext cx="6661451" cy="1036992"/>
        </p:xfrm>
        <a:graphic>
          <a:graphicData uri="http://schemas.openxmlformats.org/drawingml/2006/table">
            <a:tbl>
              <a:tblPr/>
              <a:tblGrid>
                <a:gridCol w="623013">
                  <a:extLst>
                    <a:ext uri="{9D8B030D-6E8A-4147-A177-3AD203B41FA5}">
                      <a16:colId xmlns:a16="http://schemas.microsoft.com/office/drawing/2014/main" val="1308712090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2869744161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944559710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957880834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2085537567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3979599636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3393224572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406379991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609612194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3085152170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4280577236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3193342340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2823810099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3550434013"/>
                    </a:ext>
                  </a:extLst>
                </a:gridCol>
                <a:gridCol w="431317">
                  <a:extLst>
                    <a:ext uri="{9D8B030D-6E8A-4147-A177-3AD203B41FA5}">
                      <a16:colId xmlns:a16="http://schemas.microsoft.com/office/drawing/2014/main" val="604300571"/>
                    </a:ext>
                  </a:extLst>
                </a:gridCol>
              </a:tblGrid>
              <a:tr h="15941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주차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상태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NJ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NA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NB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HM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WA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MI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GM1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GM2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HD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ST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MIL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총합계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469669"/>
                  </a:ext>
                </a:extLst>
              </a:tr>
              <a:tr h="15941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W50</a:t>
                      </a:r>
                    </a:p>
                  </a:txBody>
                  <a:tcPr marL="8778" marR="8778" marT="8778" marB="42134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954518"/>
                  </a:ext>
                </a:extLst>
              </a:tr>
              <a:tr h="1594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287588"/>
                  </a:ext>
                </a:extLst>
              </a:tr>
              <a:tr h="15941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누적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합계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328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41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39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854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394604"/>
                  </a:ext>
                </a:extLst>
              </a:tr>
              <a:tr h="1594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328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41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61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39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854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9712076"/>
                  </a:ext>
                </a:extLst>
              </a:tr>
              <a:tr h="15941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완료율</a:t>
                      </a:r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78" marR="8778" marT="8778" marB="42134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76326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1405794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75919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W51)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OCAP –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시스템 확산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전사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SPC Lot Hold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기능 소형 전극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 확산 테스트 진행 중 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OCAP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시스템 확산을 통하여 공정 이상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발생시 정의된 조치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Process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기반으로 시스템의 조치 충실도를 확보하며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공정 이상의 미조치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지연 조치를 예방하여 공정 이상으로 인한 품질 이슈의 확산을 방지하고자 하는 것이 목표입니다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OCAP (Out of Control Action Plan,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이상발생처리 시스템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공정 이상 발생시 시스템이 조치 절차 및 내용을 가이드하여 정의된 조치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Process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따라가면 공정 이상이 조치되게함으로써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조치 미숙으로 인한 미조치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지연 조치를 예방하게 함을 통해 품질 이상의 확산을 조기 차단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자공정 품질 확보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조치 인원의 숙련도에 따른 조치 수준의 차이를 없애 공정 이상의 조치 충실도가 확보되도록 하게하는 시스템입니다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(OC Roll-In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및 고도화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-. OC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 소형 대상으로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OCAP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시스템 오픈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(6/30)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소형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생산공정운영팀에서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OCAP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항목 선정 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(8/12)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고도화 요건 개발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테스트 완료하여 운영 적용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(9/4)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(NJ Roll-In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및 고도화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-. NJ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 소형 대상으로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OCAP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시스템 오픈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(9/29)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고도화 요건 개발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테스트 완료하여 운영 적용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10/29, 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-. SPC Lot Hold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기능 소형 전극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 확산 테스트 진행 중 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(12/10 ~ 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변화관리 요건 개발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테스트 완료하여 운영 적용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(12/10)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이재균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2" name="내용 개체 틀 20">
            <a:extLst>
              <a:ext uri="{FF2B5EF4-FFF2-40B4-BE49-F238E27FC236}">
                <a16:creationId xmlns:a16="http://schemas.microsoft.com/office/drawing/2014/main" id="{9CAA9231-EF61-472B-81DC-EDD5ACD9E41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665521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OCAP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 – 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시스템 확산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4" name="제목 1">
            <a:extLst>
              <a:ext uri="{FF2B5EF4-FFF2-40B4-BE49-F238E27FC236}">
                <a16:creationId xmlns:a16="http://schemas.microsoft.com/office/drawing/2014/main" id="{8FFBC6EB-0ECA-4857-B548-8A3F9E6DECBC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AF63CB5-BE2B-4EFC-8067-629C2BF35BA3}"/>
              </a:ext>
            </a:extLst>
          </p:cNvPr>
          <p:cNvSpPr txBox="1"/>
          <p:nvPr/>
        </p:nvSpPr>
        <p:spPr>
          <a:xfrm>
            <a:off x="8061950" y="64357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15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CDE7BDD2-DDB9-4EE3-B7F2-BD41310D4822}"/>
              </a:ext>
            </a:extLst>
          </p:cNvPr>
          <p:cNvSpPr txBox="1">
            <a:spLocks/>
          </p:cNvSpPr>
          <p:nvPr/>
        </p:nvSpPr>
        <p:spPr>
          <a:xfrm>
            <a:off x="8792920" y="474294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이상오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02B2AA82-E2D7-43E2-B593-7B435882E018}"/>
              </a:ext>
            </a:extLst>
          </p:cNvPr>
          <p:cNvSpPr txBox="1">
            <a:spLocks/>
          </p:cNvSpPr>
          <p:nvPr/>
        </p:nvSpPr>
        <p:spPr>
          <a:xfrm>
            <a:off x="5735411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DX-#13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1F1EBEF-62BB-4233-8D6B-C7B1F47FCF90}"/>
              </a:ext>
            </a:extLst>
          </p:cNvPr>
          <p:cNvSpPr/>
          <p:nvPr/>
        </p:nvSpPr>
        <p:spPr>
          <a:xfrm>
            <a:off x="5570573" y="4683482"/>
            <a:ext cx="3102378" cy="5078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900">
                <a:solidFill>
                  <a:srgbClr val="006600"/>
                </a:solidFill>
                <a:latin typeface="+mn-ea"/>
              </a:rPr>
              <a:t>※ OCAP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항목</a:t>
            </a:r>
            <a:endParaRPr lang="en-US" altLang="ko-KR" sz="900">
              <a:solidFill>
                <a:srgbClr val="006600"/>
              </a:solidFill>
              <a:latin typeface="+mn-ea"/>
            </a:endParaRPr>
          </a:p>
          <a:p>
            <a:r>
              <a:rPr lang="en-US" altLang="ko-KR" sz="900">
                <a:solidFill>
                  <a:srgbClr val="006600"/>
                </a:solidFill>
                <a:latin typeface="+mn-ea"/>
              </a:rPr>
              <a:t>1)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전극 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: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COT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(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로딩 평균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),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ROL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(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두께 평균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),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 SLT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(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표면불량률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)</a:t>
            </a:r>
          </a:p>
          <a:p>
            <a:r>
              <a:rPr lang="en-US" altLang="ko-KR" sz="900">
                <a:solidFill>
                  <a:srgbClr val="006600"/>
                </a:solidFill>
                <a:latin typeface="+mn-ea"/>
              </a:rPr>
              <a:t>2)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조립 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: ASB(CTW </a:t>
            </a:r>
            <a:r>
              <a:rPr lang="ko-KR" altLang="en-US" sz="900">
                <a:solidFill>
                  <a:srgbClr val="006600"/>
                </a:solidFill>
                <a:latin typeface="+mn-ea"/>
              </a:rPr>
              <a:t>용접 불량</a:t>
            </a:r>
            <a:r>
              <a:rPr lang="en-US" altLang="ko-KR" sz="900">
                <a:solidFill>
                  <a:srgbClr val="006600"/>
                </a:solidFill>
                <a:latin typeface="+mn-ea"/>
              </a:rPr>
              <a:t>)</a:t>
            </a:r>
            <a:endParaRPr lang="ko-KR" altLang="en-US" sz="900">
              <a:solidFill>
                <a:srgbClr val="006600"/>
              </a:solidFill>
              <a:latin typeface="+mn-ea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3F7261F8-D306-4FAF-AE84-299DEF719E6D}"/>
              </a:ext>
            </a:extLst>
          </p:cNvPr>
          <p:cNvGraphicFramePr>
            <a:graphicFrameLocks noGrp="1"/>
          </p:cNvGraphicFramePr>
          <p:nvPr/>
        </p:nvGraphicFramePr>
        <p:xfrm>
          <a:off x="1642486" y="5879259"/>
          <a:ext cx="7004913" cy="7199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72743">
                  <a:extLst>
                    <a:ext uri="{9D8B030D-6E8A-4147-A177-3AD203B41FA5}">
                      <a16:colId xmlns:a16="http://schemas.microsoft.com/office/drawing/2014/main" val="3958763625"/>
                    </a:ext>
                  </a:extLst>
                </a:gridCol>
                <a:gridCol w="888695">
                  <a:extLst>
                    <a:ext uri="{9D8B030D-6E8A-4147-A177-3AD203B41FA5}">
                      <a16:colId xmlns:a16="http://schemas.microsoft.com/office/drawing/2014/main" val="150579517"/>
                    </a:ext>
                  </a:extLst>
                </a:gridCol>
                <a:gridCol w="888695">
                  <a:extLst>
                    <a:ext uri="{9D8B030D-6E8A-4147-A177-3AD203B41FA5}">
                      <a16:colId xmlns:a16="http://schemas.microsoft.com/office/drawing/2014/main" val="1032696639"/>
                    </a:ext>
                  </a:extLst>
                </a:gridCol>
                <a:gridCol w="888695">
                  <a:extLst>
                    <a:ext uri="{9D8B030D-6E8A-4147-A177-3AD203B41FA5}">
                      <a16:colId xmlns:a16="http://schemas.microsoft.com/office/drawing/2014/main" val="3661905458"/>
                    </a:ext>
                  </a:extLst>
                </a:gridCol>
                <a:gridCol w="888695">
                  <a:extLst>
                    <a:ext uri="{9D8B030D-6E8A-4147-A177-3AD203B41FA5}">
                      <a16:colId xmlns:a16="http://schemas.microsoft.com/office/drawing/2014/main" val="1269601100"/>
                    </a:ext>
                  </a:extLst>
                </a:gridCol>
                <a:gridCol w="888695">
                  <a:extLst>
                    <a:ext uri="{9D8B030D-6E8A-4147-A177-3AD203B41FA5}">
                      <a16:colId xmlns:a16="http://schemas.microsoft.com/office/drawing/2014/main" val="4170836760"/>
                    </a:ext>
                  </a:extLst>
                </a:gridCol>
                <a:gridCol w="888695">
                  <a:extLst>
                    <a:ext uri="{9D8B030D-6E8A-4147-A177-3AD203B41FA5}">
                      <a16:colId xmlns:a16="http://schemas.microsoft.com/office/drawing/2014/main" val="646166302"/>
                    </a:ext>
                  </a:extLst>
                </a:gridCol>
              </a:tblGrid>
              <a:tr h="1875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latin typeface="+mj-ea"/>
                          <a:ea typeface="+mj-ea"/>
                        </a:rPr>
                        <a:t>PJT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명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투자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요건정의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800" b="1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1">
                          <a:latin typeface="+mj-ea"/>
                          <a:ea typeface="+mj-ea"/>
                        </a:rPr>
                        <a:t>설계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개발</a:t>
                      </a:r>
                      <a:endParaRPr lang="ko-KR" altLang="en-US" sz="800" b="1">
                        <a:solidFill>
                          <a:srgbClr val="006600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테스트</a:t>
                      </a:r>
                      <a:endParaRPr lang="ko-KR" altLang="en-US" sz="800" b="0" i="1">
                        <a:solidFill>
                          <a:schemeClr val="bg1">
                            <a:lumMod val="50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64254"/>
                  </a:ext>
                </a:extLst>
              </a:tr>
              <a:tr h="26624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latin typeface="+mj-ea"/>
                          <a:ea typeface="+mj-ea"/>
                        </a:rPr>
                        <a:t>OCAP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소형</a:t>
                      </a:r>
                      <a:r>
                        <a:rPr lang="en-US" altLang="ko-KR" sz="800" b="0">
                          <a:latin typeface="+mj-ea"/>
                          <a:ea typeface="+mj-ea"/>
                        </a:rPr>
                        <a:t>(OC) Roll-In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및 고도화</a:t>
                      </a:r>
                    </a:p>
                  </a:txBody>
                  <a:tcPr marL="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i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계약완료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847118"/>
                  </a:ext>
                </a:extLst>
              </a:tr>
              <a:tr h="26624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OCAP 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소형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(NJ) Roll-In 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및 고도화</a:t>
                      </a:r>
                    </a:p>
                  </a:txBody>
                  <a:tcPr marL="0" marR="36000" marT="0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i="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계약완료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 dirty="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+mj-ea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79725627"/>
                  </a:ext>
                </a:extLst>
              </a:tr>
            </a:tbl>
          </a:graphicData>
        </a:graphic>
      </p:graphicFrame>
      <p:sp>
        <p:nvSpPr>
          <p:cNvPr id="45" name="모서리가 둥근 직사각형 87">
            <a:extLst>
              <a:ext uri="{FF2B5EF4-FFF2-40B4-BE49-F238E27FC236}">
                <a16:creationId xmlns:a16="http://schemas.microsoft.com/office/drawing/2014/main" id="{7B193CE6-5056-4B11-B62E-6024C9708187}"/>
              </a:ext>
            </a:extLst>
          </p:cNvPr>
          <p:cNvSpPr/>
          <p:nvPr/>
        </p:nvSpPr>
        <p:spPr>
          <a:xfrm>
            <a:off x="7528570" y="2824802"/>
            <a:ext cx="54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n-ea"/>
                <a:cs typeface="Arial"/>
              </a:rPr>
              <a:t>진행중</a:t>
            </a:r>
          </a:p>
        </p:txBody>
      </p:sp>
      <p:sp>
        <p:nvSpPr>
          <p:cNvPr id="46" name="모서리가 둥근 직사각형 87">
            <a:extLst>
              <a:ext uri="{FF2B5EF4-FFF2-40B4-BE49-F238E27FC236}">
                <a16:creationId xmlns:a16="http://schemas.microsoft.com/office/drawing/2014/main" id="{BBAEFBBF-E4C2-4A11-AD85-4F0F3984F769}"/>
              </a:ext>
            </a:extLst>
          </p:cNvPr>
          <p:cNvSpPr/>
          <p:nvPr/>
        </p:nvSpPr>
        <p:spPr>
          <a:xfrm>
            <a:off x="8108048" y="2819707"/>
            <a:ext cx="540000" cy="108000"/>
          </a:xfrm>
          <a:prstGeom prst="roundRect">
            <a:avLst/>
          </a:prstGeom>
          <a:pattFill prst="wdUpDiag">
            <a:fgClr>
              <a:srgbClr val="FFFF00"/>
            </a:fgClr>
            <a:bgClr>
              <a:schemeClr val="bg1"/>
            </a:bgClr>
          </a:patt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ysClr val="windowText" lastClr="000000"/>
                </a:solidFill>
                <a:latin typeface="+mn-ea"/>
                <a:cs typeface="Arial"/>
              </a:rPr>
              <a:t>예정</a:t>
            </a:r>
          </a:p>
        </p:txBody>
      </p:sp>
      <p:sp>
        <p:nvSpPr>
          <p:cNvPr id="47" name="모서리가 둥근 직사각형 87">
            <a:extLst>
              <a:ext uri="{FF2B5EF4-FFF2-40B4-BE49-F238E27FC236}">
                <a16:creationId xmlns:a16="http://schemas.microsoft.com/office/drawing/2014/main" id="{AEB7503C-9339-47D3-8033-1536B96F5F5B}"/>
              </a:ext>
            </a:extLst>
          </p:cNvPr>
          <p:cNvSpPr/>
          <p:nvPr/>
        </p:nvSpPr>
        <p:spPr>
          <a:xfrm>
            <a:off x="6949092" y="2824802"/>
            <a:ext cx="540000" cy="108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n-ea"/>
                <a:cs typeface="Arial"/>
              </a:rPr>
              <a:t>완료</a:t>
            </a:r>
          </a:p>
        </p:txBody>
      </p:sp>
      <p:graphicFrame>
        <p:nvGraphicFramePr>
          <p:cNvPr id="2" name="Group 986">
            <a:extLst>
              <a:ext uri="{FF2B5EF4-FFF2-40B4-BE49-F238E27FC236}">
                <a16:creationId xmlns:a16="http://schemas.microsoft.com/office/drawing/2014/main" id="{A775356B-8E7B-3DB4-5328-65908749AC56}"/>
              </a:ext>
            </a:extLst>
          </p:cNvPr>
          <p:cNvGraphicFramePr>
            <a:graphicFrameLocks noGrp="1"/>
          </p:cNvGraphicFramePr>
          <p:nvPr/>
        </p:nvGraphicFramePr>
        <p:xfrm>
          <a:off x="1952506" y="2966624"/>
          <a:ext cx="6694893" cy="1293989"/>
        </p:xfrm>
        <a:graphic>
          <a:graphicData uri="http://schemas.openxmlformats.org/drawingml/2006/table">
            <a:tbl>
              <a:tblPr/>
              <a:tblGrid>
                <a:gridCol w="743877">
                  <a:extLst>
                    <a:ext uri="{9D8B030D-6E8A-4147-A177-3AD203B41FA5}">
                      <a16:colId xmlns:a16="http://schemas.microsoft.com/office/drawing/2014/main" val="1365114739"/>
                    </a:ext>
                  </a:extLst>
                </a:gridCol>
                <a:gridCol w="743877">
                  <a:extLst>
                    <a:ext uri="{9D8B030D-6E8A-4147-A177-3AD203B41FA5}">
                      <a16:colId xmlns:a16="http://schemas.microsoft.com/office/drawing/2014/main" val="3551264532"/>
                    </a:ext>
                  </a:extLst>
                </a:gridCol>
                <a:gridCol w="743877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743877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743877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743877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743877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743877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743877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22604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6794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kern="1200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Rectangle 4">
            <a:extLst>
              <a:ext uri="{FF2B5EF4-FFF2-40B4-BE49-F238E27FC236}">
                <a16:creationId xmlns:a16="http://schemas.microsoft.com/office/drawing/2014/main" id="{BA6A0AD9-8352-A891-6021-D248D8178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2484" y="2966623"/>
            <a:ext cx="283910" cy="1293989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일정</a:t>
            </a:r>
            <a:endParaRPr kumimoji="1" lang="en-US" altLang="ko-KR" sz="12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  <a:cs typeface="+mn-cs"/>
            </a:endParaRPr>
          </a:p>
        </p:txBody>
      </p:sp>
      <p:sp>
        <p:nvSpPr>
          <p:cNvPr id="5" name="모서리가 둥근 직사각형 87">
            <a:extLst>
              <a:ext uri="{FF2B5EF4-FFF2-40B4-BE49-F238E27FC236}">
                <a16:creationId xmlns:a16="http://schemas.microsoft.com/office/drawing/2014/main" id="{0EEB549B-E52A-2EDC-7D88-D6AA89A7BB6A}"/>
              </a:ext>
            </a:extLst>
          </p:cNvPr>
          <p:cNvSpPr/>
          <p:nvPr/>
        </p:nvSpPr>
        <p:spPr>
          <a:xfrm>
            <a:off x="1952506" y="3352262"/>
            <a:ext cx="738000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투자심의</a:t>
            </a:r>
          </a:p>
        </p:txBody>
      </p:sp>
      <p:sp>
        <p:nvSpPr>
          <p:cNvPr id="6" name="모서리가 둥근 직사각형 87">
            <a:extLst>
              <a:ext uri="{FF2B5EF4-FFF2-40B4-BE49-F238E27FC236}">
                <a16:creationId xmlns:a16="http://schemas.microsoft.com/office/drawing/2014/main" id="{CD2A5F93-35A3-F7FB-279E-33BDB1EAC36C}"/>
              </a:ext>
            </a:extLst>
          </p:cNvPr>
          <p:cNvSpPr/>
          <p:nvPr/>
        </p:nvSpPr>
        <p:spPr>
          <a:xfrm>
            <a:off x="2697706" y="3352262"/>
            <a:ext cx="1008000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latin typeface="+mj-ea"/>
                <a:ea typeface="+mj-ea"/>
                <a:cs typeface="Arial"/>
              </a:rPr>
              <a:t>Set-up </a:t>
            </a:r>
            <a:r>
              <a:rPr kumimoji="1" lang="ko-KR" altLang="en-US" sz="700" b="1" kern="0">
                <a:latin typeface="+mj-ea"/>
                <a:ea typeface="+mj-ea"/>
                <a:cs typeface="Arial"/>
              </a:rPr>
              <a:t>점검 </a:t>
            </a:r>
            <a:r>
              <a:rPr kumimoji="1" lang="en-US" altLang="ko-KR" sz="700" b="1" kern="0">
                <a:latin typeface="+mj-ea"/>
                <a:ea typeface="+mj-ea"/>
                <a:cs typeface="Arial"/>
              </a:rPr>
              <a:t>(Infra, Appl.)</a:t>
            </a:r>
            <a:endParaRPr kumimoji="1" lang="ko-KR" altLang="en-US" sz="700" b="1" kern="0">
              <a:latin typeface="+mj-ea"/>
              <a:ea typeface="+mj-ea"/>
              <a:cs typeface="Arial"/>
            </a:endParaRPr>
          </a:p>
        </p:txBody>
      </p:sp>
      <p:sp>
        <p:nvSpPr>
          <p:cNvPr id="7" name="모서리가 둥근 직사각형 87">
            <a:extLst>
              <a:ext uri="{FF2B5EF4-FFF2-40B4-BE49-F238E27FC236}">
                <a16:creationId xmlns:a16="http://schemas.microsoft.com/office/drawing/2014/main" id="{A37E8959-A7BB-EE5D-FA1A-8E9EA0B628A8}"/>
              </a:ext>
            </a:extLst>
          </p:cNvPr>
          <p:cNvSpPr/>
          <p:nvPr/>
        </p:nvSpPr>
        <p:spPr>
          <a:xfrm>
            <a:off x="3241729" y="3524030"/>
            <a:ext cx="576000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latin typeface="+mj-ea"/>
                <a:ea typeface="+mj-ea"/>
                <a:cs typeface="Arial"/>
              </a:rPr>
              <a:t>Data </a:t>
            </a:r>
            <a:r>
              <a:rPr kumimoji="1" lang="ko-KR" altLang="en-US" sz="700" b="1" kern="0">
                <a:latin typeface="+mj-ea"/>
                <a:ea typeface="+mj-ea"/>
                <a:cs typeface="Arial"/>
              </a:rPr>
              <a:t>정비</a:t>
            </a:r>
          </a:p>
        </p:txBody>
      </p:sp>
      <p:sp>
        <p:nvSpPr>
          <p:cNvPr id="8" name="모서리가 둥근 직사각형 87">
            <a:extLst>
              <a:ext uri="{FF2B5EF4-FFF2-40B4-BE49-F238E27FC236}">
                <a16:creationId xmlns:a16="http://schemas.microsoft.com/office/drawing/2014/main" id="{442049AD-7728-3FCD-A749-89828B968815}"/>
              </a:ext>
            </a:extLst>
          </p:cNvPr>
          <p:cNvSpPr/>
          <p:nvPr/>
        </p:nvSpPr>
        <p:spPr>
          <a:xfrm>
            <a:off x="3816765" y="3524030"/>
            <a:ext cx="360000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통합</a:t>
            </a:r>
            <a:r>
              <a:rPr kumimoji="1" lang="en-US" altLang="ko-KR" sz="700" b="1" kern="0">
                <a:latin typeface="+mj-ea"/>
                <a:ea typeface="+mj-ea"/>
                <a:cs typeface="Arial"/>
              </a:rPr>
              <a:t>/</a:t>
            </a:r>
            <a:r>
              <a:rPr kumimoji="1" lang="ko-KR" altLang="en-US" sz="700" b="1" kern="0">
                <a:latin typeface="+mj-ea"/>
                <a:ea typeface="+mj-ea"/>
                <a:cs typeface="Arial"/>
              </a:rPr>
              <a:t>연계</a:t>
            </a:r>
            <a:endParaRPr kumimoji="1" lang="en-US" altLang="ko-KR" sz="700" b="1" kern="0">
              <a:latin typeface="+mj-ea"/>
              <a:ea typeface="+mj-ea"/>
              <a:cs typeface="Arial"/>
            </a:endParaRPr>
          </a:p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테스트</a:t>
            </a:r>
          </a:p>
        </p:txBody>
      </p:sp>
      <p:sp>
        <p:nvSpPr>
          <p:cNvPr id="9" name="모서리가 둥근 직사각형 87">
            <a:extLst>
              <a:ext uri="{FF2B5EF4-FFF2-40B4-BE49-F238E27FC236}">
                <a16:creationId xmlns:a16="http://schemas.microsoft.com/office/drawing/2014/main" id="{7ECBA9D9-FA17-C88E-A0C6-4849883B7910}"/>
              </a:ext>
            </a:extLst>
          </p:cNvPr>
          <p:cNvSpPr/>
          <p:nvPr/>
        </p:nvSpPr>
        <p:spPr>
          <a:xfrm>
            <a:off x="4176765" y="3352262"/>
            <a:ext cx="745200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latin typeface="+mj-ea"/>
                <a:ea typeface="+mj-ea"/>
                <a:cs typeface="Arial"/>
              </a:rPr>
              <a:t>Open </a:t>
            </a:r>
            <a:r>
              <a:rPr kumimoji="1" lang="ko-KR" altLang="en-US" sz="700" b="1" kern="0">
                <a:latin typeface="+mj-ea"/>
                <a:ea typeface="+mj-ea"/>
                <a:cs typeface="Arial"/>
              </a:rPr>
              <a:t>및 안정화</a:t>
            </a:r>
          </a:p>
        </p:txBody>
      </p:sp>
      <p:sp>
        <p:nvSpPr>
          <p:cNvPr id="10" name="모서리가 둥근 직사각형 87">
            <a:extLst>
              <a:ext uri="{FF2B5EF4-FFF2-40B4-BE49-F238E27FC236}">
                <a16:creationId xmlns:a16="http://schemas.microsoft.com/office/drawing/2014/main" id="{4672A28B-8ADC-00B0-67C1-7D47A9293DDA}"/>
              </a:ext>
            </a:extLst>
          </p:cNvPr>
          <p:cNvSpPr/>
          <p:nvPr/>
        </p:nvSpPr>
        <p:spPr>
          <a:xfrm>
            <a:off x="4816454" y="3524030"/>
            <a:ext cx="864000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기능 고도화</a:t>
            </a:r>
          </a:p>
        </p:txBody>
      </p:sp>
      <p:sp>
        <p:nvSpPr>
          <p:cNvPr id="11" name="모서리가 둥근 직사각형 87">
            <a:extLst>
              <a:ext uri="{FF2B5EF4-FFF2-40B4-BE49-F238E27FC236}">
                <a16:creationId xmlns:a16="http://schemas.microsoft.com/office/drawing/2014/main" id="{D52D4C43-3FB8-B79D-038D-3FF4BABBA86A}"/>
              </a:ext>
            </a:extLst>
          </p:cNvPr>
          <p:cNvSpPr/>
          <p:nvPr/>
        </p:nvSpPr>
        <p:spPr>
          <a:xfrm>
            <a:off x="5672011" y="3352262"/>
            <a:ext cx="2879521" cy="153296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OCAP 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조치 절차 적용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364561B-D50F-6F33-B341-02E46BD67130}"/>
              </a:ext>
            </a:extLst>
          </p:cNvPr>
          <p:cNvSpPr/>
          <p:nvPr/>
        </p:nvSpPr>
        <p:spPr>
          <a:xfrm>
            <a:off x="1876312" y="3138969"/>
            <a:ext cx="1829394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900" u="sng">
                <a:latin typeface="+mn-ea"/>
              </a:rPr>
              <a:t>OCAP </a:t>
            </a:r>
            <a:r>
              <a:rPr lang="ko-KR" altLang="en-US" sz="900" u="sng">
                <a:latin typeface="+mn-ea"/>
              </a:rPr>
              <a:t>소형</a:t>
            </a:r>
            <a:r>
              <a:rPr lang="en-US" altLang="ko-KR" sz="900" u="sng">
                <a:latin typeface="+mn-ea"/>
              </a:rPr>
              <a:t>(OC)</a:t>
            </a:r>
            <a:r>
              <a:rPr lang="ko-KR" altLang="en-US" sz="900" u="sng">
                <a:latin typeface="+mn-ea"/>
              </a:rPr>
              <a:t> </a:t>
            </a:r>
            <a:r>
              <a:rPr lang="en-US" altLang="ko-KR" sz="900" u="sng">
                <a:latin typeface="+mn-ea"/>
              </a:rPr>
              <a:t>Roll-In</a:t>
            </a:r>
            <a:r>
              <a:rPr lang="ko-KR" altLang="en-US" sz="900" u="sng">
                <a:latin typeface="+mn-ea"/>
              </a:rPr>
              <a:t> 및 고도화</a:t>
            </a:r>
          </a:p>
        </p:txBody>
      </p:sp>
      <p:sp>
        <p:nvSpPr>
          <p:cNvPr id="13" name="모서리가 둥근 직사각형 87">
            <a:extLst>
              <a:ext uri="{FF2B5EF4-FFF2-40B4-BE49-F238E27FC236}">
                <a16:creationId xmlns:a16="http://schemas.microsoft.com/office/drawing/2014/main" id="{F4E6B6A4-55B0-73DF-C5D0-2A059A0F4647}"/>
              </a:ext>
            </a:extLst>
          </p:cNvPr>
          <p:cNvSpPr/>
          <p:nvPr/>
        </p:nvSpPr>
        <p:spPr>
          <a:xfrm>
            <a:off x="4921849" y="3878512"/>
            <a:ext cx="738000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투자심의</a:t>
            </a:r>
          </a:p>
        </p:txBody>
      </p:sp>
      <p:sp>
        <p:nvSpPr>
          <p:cNvPr id="14" name="모서리가 둥근 직사각형 87">
            <a:extLst>
              <a:ext uri="{FF2B5EF4-FFF2-40B4-BE49-F238E27FC236}">
                <a16:creationId xmlns:a16="http://schemas.microsoft.com/office/drawing/2014/main" id="{D21330FC-88CB-EB59-7F2A-51FE8E51EE73}"/>
              </a:ext>
            </a:extLst>
          </p:cNvPr>
          <p:cNvSpPr/>
          <p:nvPr/>
        </p:nvSpPr>
        <p:spPr>
          <a:xfrm>
            <a:off x="5667050" y="3878512"/>
            <a:ext cx="479027" cy="153296"/>
          </a:xfrm>
          <a:prstGeom prst="roundRect">
            <a:avLst/>
          </a:prstGeom>
          <a:solidFill>
            <a:srgbClr val="F2F2F2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latin typeface="+mj-ea"/>
                <a:ea typeface="+mj-ea"/>
                <a:cs typeface="Arial"/>
              </a:rPr>
              <a:t>Set-up </a:t>
            </a:r>
            <a:r>
              <a:rPr kumimoji="1" lang="ko-KR" altLang="en-US" sz="700" b="1" kern="0">
                <a:latin typeface="+mj-ea"/>
                <a:ea typeface="+mj-ea"/>
                <a:cs typeface="Arial"/>
              </a:rPr>
              <a:t>점검</a:t>
            </a:r>
            <a:endParaRPr kumimoji="1" lang="en-US" altLang="ko-KR" sz="700" b="1" kern="0">
              <a:latin typeface="+mj-ea"/>
              <a:ea typeface="+mj-ea"/>
              <a:cs typeface="Arial"/>
            </a:endParaRPr>
          </a:p>
        </p:txBody>
      </p:sp>
      <p:sp>
        <p:nvSpPr>
          <p:cNvPr id="15" name="모서리가 둥근 직사각형 87">
            <a:extLst>
              <a:ext uri="{FF2B5EF4-FFF2-40B4-BE49-F238E27FC236}">
                <a16:creationId xmlns:a16="http://schemas.microsoft.com/office/drawing/2014/main" id="{3C418D42-6A9B-92B5-30C4-D90E8CA7B7A5}"/>
              </a:ext>
            </a:extLst>
          </p:cNvPr>
          <p:cNvSpPr/>
          <p:nvPr/>
        </p:nvSpPr>
        <p:spPr>
          <a:xfrm>
            <a:off x="5860931" y="4050280"/>
            <a:ext cx="273730" cy="153296"/>
          </a:xfrm>
          <a:prstGeom prst="roundRect">
            <a:avLst/>
          </a:prstGeom>
          <a:solidFill>
            <a:srgbClr val="F2F2F2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latin typeface="+mj-ea"/>
                <a:ea typeface="+mj-ea"/>
                <a:cs typeface="Arial"/>
              </a:rPr>
              <a:t>Data</a:t>
            </a:r>
            <a:r>
              <a:rPr kumimoji="1" lang="ko-KR" altLang="en-US" sz="700" b="1" kern="0">
                <a:latin typeface="+mj-ea"/>
                <a:ea typeface="+mj-ea"/>
                <a:cs typeface="Arial"/>
              </a:rPr>
              <a:t>정비</a:t>
            </a:r>
          </a:p>
        </p:txBody>
      </p:sp>
      <p:sp>
        <p:nvSpPr>
          <p:cNvPr id="18" name="모서리가 둥근 직사각형 87">
            <a:extLst>
              <a:ext uri="{FF2B5EF4-FFF2-40B4-BE49-F238E27FC236}">
                <a16:creationId xmlns:a16="http://schemas.microsoft.com/office/drawing/2014/main" id="{4F3D540C-CEB3-494B-45DF-E0647F2E95AE}"/>
              </a:ext>
            </a:extLst>
          </p:cNvPr>
          <p:cNvSpPr/>
          <p:nvPr/>
        </p:nvSpPr>
        <p:spPr>
          <a:xfrm>
            <a:off x="6198855" y="4050280"/>
            <a:ext cx="171081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통합</a:t>
            </a:r>
            <a:r>
              <a:rPr kumimoji="1" lang="en-US" altLang="ko-KR" sz="700" b="1" kern="0">
                <a:latin typeface="+mj-ea"/>
                <a:ea typeface="+mj-ea"/>
                <a:cs typeface="Arial"/>
              </a:rPr>
              <a:t>/</a:t>
            </a:r>
            <a:r>
              <a:rPr kumimoji="1" lang="ko-KR" altLang="en-US" sz="700" b="1" kern="0">
                <a:latin typeface="+mj-ea"/>
                <a:ea typeface="+mj-ea"/>
                <a:cs typeface="Arial"/>
              </a:rPr>
              <a:t>연계</a:t>
            </a:r>
            <a:endParaRPr kumimoji="1" lang="en-US" altLang="ko-KR" sz="700" b="1" kern="0">
              <a:latin typeface="+mj-ea"/>
              <a:ea typeface="+mj-ea"/>
              <a:cs typeface="Arial"/>
            </a:endParaRPr>
          </a:p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테스트</a:t>
            </a:r>
          </a:p>
        </p:txBody>
      </p:sp>
      <p:sp>
        <p:nvSpPr>
          <p:cNvPr id="19" name="모서리가 둥근 직사각형 87">
            <a:extLst>
              <a:ext uri="{FF2B5EF4-FFF2-40B4-BE49-F238E27FC236}">
                <a16:creationId xmlns:a16="http://schemas.microsoft.com/office/drawing/2014/main" id="{73BEC103-C7A2-E571-575A-24AC90C6FCC2}"/>
              </a:ext>
            </a:extLst>
          </p:cNvPr>
          <p:cNvSpPr/>
          <p:nvPr/>
        </p:nvSpPr>
        <p:spPr>
          <a:xfrm>
            <a:off x="6369936" y="3878512"/>
            <a:ext cx="354138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latin typeface="+mj-ea"/>
                <a:ea typeface="+mj-ea"/>
                <a:cs typeface="Arial"/>
              </a:rPr>
              <a:t>Open </a:t>
            </a:r>
          </a:p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및 안정화</a:t>
            </a:r>
          </a:p>
        </p:txBody>
      </p:sp>
      <p:sp>
        <p:nvSpPr>
          <p:cNvPr id="23" name="모서리가 둥근 직사각형 87">
            <a:extLst>
              <a:ext uri="{FF2B5EF4-FFF2-40B4-BE49-F238E27FC236}">
                <a16:creationId xmlns:a16="http://schemas.microsoft.com/office/drawing/2014/main" id="{D76131B0-9F00-1D36-B555-C707309974B4}"/>
              </a:ext>
            </a:extLst>
          </p:cNvPr>
          <p:cNvSpPr/>
          <p:nvPr/>
        </p:nvSpPr>
        <p:spPr>
          <a:xfrm>
            <a:off x="6697166" y="4050280"/>
            <a:ext cx="821356" cy="15329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j-ea"/>
                <a:ea typeface="+mj-ea"/>
                <a:cs typeface="Arial"/>
              </a:rPr>
              <a:t>기능 고도화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922B9A59-92C8-1845-74DD-5A814BF79195}"/>
              </a:ext>
            </a:extLst>
          </p:cNvPr>
          <p:cNvSpPr/>
          <p:nvPr/>
        </p:nvSpPr>
        <p:spPr>
          <a:xfrm>
            <a:off x="4845655" y="3665219"/>
            <a:ext cx="3102378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900" u="sng">
                <a:latin typeface="+mn-ea"/>
              </a:rPr>
              <a:t>OCAP </a:t>
            </a:r>
            <a:r>
              <a:rPr lang="ko-KR" altLang="en-US" sz="900" u="sng">
                <a:latin typeface="+mn-ea"/>
              </a:rPr>
              <a:t>소형</a:t>
            </a:r>
            <a:r>
              <a:rPr lang="en-US" altLang="ko-KR" sz="900" u="sng">
                <a:latin typeface="+mn-ea"/>
              </a:rPr>
              <a:t>(NJ)</a:t>
            </a:r>
            <a:r>
              <a:rPr lang="ko-KR" altLang="en-US" sz="900" u="sng">
                <a:latin typeface="+mn-ea"/>
              </a:rPr>
              <a:t> </a:t>
            </a:r>
            <a:r>
              <a:rPr lang="en-US" altLang="ko-KR" sz="900" u="sng">
                <a:latin typeface="+mn-ea"/>
              </a:rPr>
              <a:t>Roll-In</a:t>
            </a:r>
            <a:r>
              <a:rPr lang="ko-KR" altLang="en-US" sz="900" u="sng">
                <a:latin typeface="+mn-ea"/>
              </a:rPr>
              <a:t> 및 고도화</a:t>
            </a:r>
          </a:p>
        </p:txBody>
      </p:sp>
      <p:sp>
        <p:nvSpPr>
          <p:cNvPr id="26" name="모서리가 둥근 직사각형 87">
            <a:extLst>
              <a:ext uri="{FF2B5EF4-FFF2-40B4-BE49-F238E27FC236}">
                <a16:creationId xmlns:a16="http://schemas.microsoft.com/office/drawing/2014/main" id="{3A7515DA-2220-0AA1-8052-9B357ABF5632}"/>
              </a:ext>
            </a:extLst>
          </p:cNvPr>
          <p:cNvSpPr/>
          <p:nvPr/>
        </p:nvSpPr>
        <p:spPr>
          <a:xfrm>
            <a:off x="7521082" y="3878512"/>
            <a:ext cx="1030451" cy="153296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Lot Hold 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기능 확산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009A40E7-F15C-2FB5-D26A-2B364917FA50}"/>
              </a:ext>
            </a:extLst>
          </p:cNvPr>
          <p:cNvSpPr/>
          <p:nvPr/>
        </p:nvSpPr>
        <p:spPr>
          <a:xfrm>
            <a:off x="6037125" y="5319985"/>
            <a:ext cx="3102378" cy="5078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900" dirty="0">
                <a:solidFill>
                  <a:srgbClr val="006600"/>
                </a:solidFill>
                <a:latin typeface="+mn-ea"/>
              </a:rPr>
              <a:t>※ </a:t>
            </a:r>
            <a:r>
              <a:rPr lang="ko-KR" altLang="en-US" sz="900" dirty="0">
                <a:solidFill>
                  <a:srgbClr val="006600"/>
                </a:solidFill>
                <a:latin typeface="+mn-ea"/>
              </a:rPr>
              <a:t>테스트 일정</a:t>
            </a:r>
            <a:endParaRPr lang="en-US" altLang="ko-KR" sz="900" dirty="0">
              <a:solidFill>
                <a:srgbClr val="006600"/>
              </a:solidFill>
              <a:latin typeface="+mn-ea"/>
            </a:endParaRPr>
          </a:p>
          <a:p>
            <a:r>
              <a:rPr lang="en-US" altLang="ko-KR" sz="900" dirty="0">
                <a:solidFill>
                  <a:srgbClr val="006600"/>
                </a:solidFill>
                <a:latin typeface="+mn-ea"/>
              </a:rPr>
              <a:t>1) </a:t>
            </a:r>
            <a:r>
              <a:rPr lang="ko-KR" altLang="en-US" sz="900" dirty="0">
                <a:solidFill>
                  <a:srgbClr val="006600"/>
                </a:solidFill>
                <a:latin typeface="+mn-ea"/>
              </a:rPr>
              <a:t>전극 </a:t>
            </a:r>
            <a:r>
              <a:rPr lang="en-US" altLang="ko-KR" sz="900" dirty="0">
                <a:solidFill>
                  <a:srgbClr val="006600"/>
                </a:solidFill>
                <a:latin typeface="+mn-ea"/>
              </a:rPr>
              <a:t>: OC (12/12 </a:t>
            </a:r>
            <a:r>
              <a:rPr lang="ko-KR" altLang="en-US" sz="900" dirty="0">
                <a:solidFill>
                  <a:srgbClr val="006600"/>
                </a:solidFill>
                <a:latin typeface="+mn-ea"/>
              </a:rPr>
              <a:t>完</a:t>
            </a:r>
            <a:r>
              <a:rPr lang="en-US" altLang="ko-KR" sz="900" dirty="0">
                <a:solidFill>
                  <a:srgbClr val="006600"/>
                </a:solidFill>
                <a:latin typeface="+mn-ea"/>
              </a:rPr>
              <a:t>), NJ (12/17 </a:t>
            </a:r>
            <a:r>
              <a:rPr lang="ko-KR" altLang="en-US" sz="900" dirty="0">
                <a:solidFill>
                  <a:srgbClr val="006600"/>
                </a:solidFill>
                <a:latin typeface="+mn-ea"/>
              </a:rPr>
              <a:t>예정</a:t>
            </a:r>
            <a:r>
              <a:rPr lang="en-US" altLang="ko-KR" sz="900" dirty="0">
                <a:solidFill>
                  <a:srgbClr val="006600"/>
                </a:solidFill>
                <a:latin typeface="+mn-ea"/>
              </a:rPr>
              <a:t>)</a:t>
            </a:r>
          </a:p>
          <a:p>
            <a:r>
              <a:rPr lang="en-US" altLang="ko-KR" sz="900" dirty="0">
                <a:solidFill>
                  <a:srgbClr val="006600"/>
                </a:solidFill>
                <a:latin typeface="+mn-ea"/>
              </a:rPr>
              <a:t>2) </a:t>
            </a:r>
            <a:r>
              <a:rPr lang="ko-KR" altLang="en-US" sz="900" dirty="0">
                <a:solidFill>
                  <a:srgbClr val="006600"/>
                </a:solidFill>
                <a:latin typeface="+mn-ea"/>
              </a:rPr>
              <a:t>조립 </a:t>
            </a:r>
            <a:r>
              <a:rPr lang="en-US" altLang="ko-KR" sz="900" dirty="0">
                <a:solidFill>
                  <a:srgbClr val="006600"/>
                </a:solidFill>
                <a:latin typeface="+mn-ea"/>
              </a:rPr>
              <a:t>: MQ </a:t>
            </a:r>
            <a:r>
              <a:rPr lang="ko-KR" altLang="en-US" sz="900" dirty="0">
                <a:solidFill>
                  <a:srgbClr val="006600"/>
                </a:solidFill>
                <a:latin typeface="+mn-ea"/>
              </a:rPr>
              <a:t>개통 중</a:t>
            </a:r>
          </a:p>
        </p:txBody>
      </p:sp>
    </p:spTree>
    <p:extLst>
      <p:ext uri="{BB962C8B-B14F-4D97-AF65-F5344CB8AC3E}">
        <p14:creationId xmlns:p14="http://schemas.microsoft.com/office/powerpoint/2010/main" val="306752617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표 1">
            <a:extLst>
              <a:ext uri="{FF2B5EF4-FFF2-40B4-BE49-F238E27FC236}">
                <a16:creationId xmlns:a16="http://schemas.microsoft.com/office/drawing/2014/main" id="{AACE9BD4-9656-4708-AF80-A4148A1980F9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SPC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셀추적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기능 이관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 panose="020B0600000101010101" pitchFamily="50" charset="-127"/>
                        </a:rPr>
                        <a:t>ESNA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(W51)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프로젝트 완료 후 완료보고 예정입니다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추가로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다빈치에서 기존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EDC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대신 신규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SPC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셀추적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데이터로 추적정보 사용자 서비스 전환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확인 완료하였습니다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 panose="020B0600000101010101" pitchFamily="50" charset="-127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ESNB, ESWA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에 구축된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셀추적을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ESMI, ESNA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법인에 확산 적용합니다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[11/26] NA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MI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셀추적데이터 송수신 불가한 설비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(ECS PC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OFF/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부동 중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를 제외하고 각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58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대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, 52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대를 대상으로 운영 검증 완료하였습니다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. (11/25)</a:t>
                      </a:r>
                    </a:p>
                    <a:p>
                      <a:pPr marL="36195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NA MI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셀추적데이터 다빈치 인터페이스 전환을 준비하고 있으며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기존 타법인 다빈치 셀추적데이터와 비교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분석 후 수정 필요한 부분 업데이트 중입니다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.(11/20~)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→ 아래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건 업데이트 적용 완료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(12/02)</a:t>
                      </a:r>
                    </a:p>
                    <a:p>
                      <a:pPr marL="0" marR="0" lvl="0" indent="3619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수정필요 내용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노칭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엔코더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정보 적재 관련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/ PKG Cell ID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보고 유닛 기준정보 등록 관련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/ MI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복원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Cell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정렬조건 수정반영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358775" marR="0" lvl="0" indent="-3587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[12/10] PKG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내부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추적로직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개선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(12/04)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을 마지막으로 모든 잔여 수정 건 적용 완료하였고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금주 중 다빈치에서 기존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EDC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대신 신규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SPC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셀추적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데이터로 사용자 서비스 전환 예정되어 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(12/15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전환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완료 확인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358775" marR="0" lvl="0" indent="-35877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[12/15]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다빈치 검사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Data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조회에서 복원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Cell ID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데이터를 참조할 때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EDC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및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셀추적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 데이터를 모두를 참조하여 전법인 범용적 사용이 가능한 로직으로 보완적용 요청하였으며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다빈치에서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월 중 반영 예정입니다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3619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  <a:p>
                      <a:pPr marL="0" marR="0" lvl="0" indent="3619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  <a:p>
                      <a:pPr marL="353695" marR="0" lvl="0" indent="762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 panose="020B0600000101010101" pitchFamily="50" charset="-127"/>
                        </a:rPr>
                        <a:t>박정우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 panose="020B0600000101010101" pitchFamily="50" charset="-127"/>
                        </a:rPr>
                        <a:t>이주민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80221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SPC 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셀추적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기능 이관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(ESMI, ESNA)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kern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graphicFrame>
        <p:nvGraphicFramePr>
          <p:cNvPr id="47" name="Group 986">
            <a:extLst>
              <a:ext uri="{FF2B5EF4-FFF2-40B4-BE49-F238E27FC236}">
                <a16:creationId xmlns:a16="http://schemas.microsoft.com/office/drawing/2014/main" id="{D79E330F-83B7-42DA-9210-748663DD951D}"/>
              </a:ext>
            </a:extLst>
          </p:cNvPr>
          <p:cNvGraphicFramePr>
            <a:graphicFrameLocks noGrp="1"/>
          </p:cNvGraphicFramePr>
          <p:nvPr/>
        </p:nvGraphicFramePr>
        <p:xfrm>
          <a:off x="1932116" y="2240134"/>
          <a:ext cx="6693211" cy="1280232"/>
        </p:xfrm>
        <a:graphic>
          <a:graphicData uri="http://schemas.openxmlformats.org/drawingml/2006/table">
            <a:tbl>
              <a:tblPr/>
              <a:tblGrid>
                <a:gridCol w="956173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956173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179623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7962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월</a:t>
                      </a:r>
                      <a:endParaRPr kumimoji="1" lang="ko-KR" altLang="en-US" sz="1000" b="0" i="0" u="none" strike="noStrike" kern="1200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월</a:t>
                      </a:r>
                      <a:endParaRPr kumimoji="1" lang="ko-KR" altLang="en-US" sz="1000" b="0" i="0" u="none" strike="noStrike" kern="1200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0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2098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8" name="Rectangle 4">
            <a:extLst>
              <a:ext uri="{FF2B5EF4-FFF2-40B4-BE49-F238E27FC236}">
                <a16:creationId xmlns:a16="http://schemas.microsoft.com/office/drawing/2014/main" id="{46C50348-FE61-4B60-A9BB-B32A92714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5934" y="2233785"/>
            <a:ext cx="283910" cy="1286582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Light"/>
                <a:ea typeface="LG스마트체 Light"/>
                <a:cs typeface="+mn-cs"/>
              </a:rPr>
              <a:t>일정</a:t>
            </a:r>
            <a:endParaRPr kumimoji="1" lang="en-US" altLang="ko-KR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Light"/>
              <a:ea typeface="LG스마트체 Light"/>
              <a:cs typeface="+mn-cs"/>
            </a:endParaRPr>
          </a:p>
        </p:txBody>
      </p:sp>
      <p:sp>
        <p:nvSpPr>
          <p:cNvPr id="54" name="모서리가 둥근 직사각형 87">
            <a:extLst>
              <a:ext uri="{FF2B5EF4-FFF2-40B4-BE49-F238E27FC236}">
                <a16:creationId xmlns:a16="http://schemas.microsoft.com/office/drawing/2014/main" id="{B20D304A-4567-429C-98D2-07A24FF2FA37}"/>
              </a:ext>
            </a:extLst>
          </p:cNvPr>
          <p:cNvSpPr/>
          <p:nvPr/>
        </p:nvSpPr>
        <p:spPr>
          <a:xfrm>
            <a:off x="3343458" y="2635619"/>
            <a:ext cx="949778" cy="108000"/>
          </a:xfrm>
          <a:prstGeom prst="roundRect">
            <a:avLst/>
          </a:prstGeom>
          <a:noFill/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MI </a:t>
            </a:r>
            <a:r>
              <a:rPr kumimoji="1" lang="ko-KR" altLang="en-US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수집</a:t>
            </a:r>
            <a:r>
              <a:rPr kumimoji="1" lang="en-US" altLang="ko-KR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/</a:t>
            </a:r>
            <a:r>
              <a:rPr kumimoji="1" lang="ko-KR" altLang="en-US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기준정보</a:t>
            </a:r>
            <a:r>
              <a:rPr kumimoji="1" lang="en-US" altLang="ko-KR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 Set Up</a:t>
            </a:r>
            <a:endParaRPr kumimoji="1" lang="ko-KR" altLang="en-US" sz="700" b="1" kern="0">
              <a:solidFill>
                <a:prstClr val="black"/>
              </a:solidFill>
              <a:latin typeface="LG스마트체 Light"/>
              <a:ea typeface="LG스마트체 Light"/>
              <a:cs typeface="Arial"/>
            </a:endParaRPr>
          </a:p>
        </p:txBody>
      </p:sp>
      <p:sp>
        <p:nvSpPr>
          <p:cNvPr id="68" name="모서리가 둥근 직사각형 87">
            <a:extLst>
              <a:ext uri="{FF2B5EF4-FFF2-40B4-BE49-F238E27FC236}">
                <a16:creationId xmlns:a16="http://schemas.microsoft.com/office/drawing/2014/main" id="{67A06859-ED37-4268-8CCE-662D0F055805}"/>
              </a:ext>
            </a:extLst>
          </p:cNvPr>
          <p:cNvSpPr/>
          <p:nvPr/>
        </p:nvSpPr>
        <p:spPr>
          <a:xfrm>
            <a:off x="8022271" y="2085491"/>
            <a:ext cx="54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Light"/>
                <a:ea typeface="LG스마트체 Light"/>
                <a:cs typeface="Arial"/>
              </a:rPr>
              <a:t>진행중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3EBAD7C-230E-4033-834D-416D60AAC3B8}"/>
              </a:ext>
            </a:extLst>
          </p:cNvPr>
          <p:cNvSpPr txBox="1"/>
          <p:nvPr/>
        </p:nvSpPr>
        <p:spPr>
          <a:xfrm>
            <a:off x="8061950" y="64357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23" name="내용 개체 틀 20">
            <a:extLst>
              <a:ext uri="{FF2B5EF4-FFF2-40B4-BE49-F238E27FC236}">
                <a16:creationId xmlns:a16="http://schemas.microsoft.com/office/drawing/2014/main" id="{CEFE93CE-8CAE-4054-BED1-6EA593DA763E}"/>
              </a:ext>
            </a:extLst>
          </p:cNvPr>
          <p:cNvSpPr txBox="1">
            <a:spLocks/>
          </p:cNvSpPr>
          <p:nvPr/>
        </p:nvSpPr>
        <p:spPr>
          <a:xfrm>
            <a:off x="8792919" y="474294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이주민</a:t>
            </a:r>
            <a:r>
              <a:rPr lang="en-US" altLang="ko-KR" sz="11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B8E44B46-6E6C-4429-9258-3637D026D805}"/>
              </a:ext>
            </a:extLst>
          </p:cNvPr>
          <p:cNvSpPr txBox="1">
            <a:spLocks/>
          </p:cNvSpPr>
          <p:nvPr/>
        </p:nvSpPr>
        <p:spPr>
          <a:xfrm>
            <a:off x="5620354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DX-#17,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DD4E3951-BE0B-4795-BE8E-1890F4CF46FC}"/>
              </a:ext>
            </a:extLst>
          </p:cNvPr>
          <p:cNvCxnSpPr>
            <a:cxnSpLocks/>
          </p:cNvCxnSpPr>
          <p:nvPr/>
        </p:nvCxnSpPr>
        <p:spPr>
          <a:xfrm>
            <a:off x="5748416" y="2603067"/>
            <a:ext cx="0" cy="917299"/>
          </a:xfrm>
          <a:prstGeom prst="line">
            <a:avLst/>
          </a:prstGeom>
          <a:ln w="6350">
            <a:solidFill>
              <a:srgbClr val="0033CC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5DF246D5-C08C-4DE3-9FDA-E3CCC0C066FF}"/>
              </a:ext>
            </a:extLst>
          </p:cNvPr>
          <p:cNvSpPr txBox="1"/>
          <p:nvPr/>
        </p:nvSpPr>
        <p:spPr>
          <a:xfrm>
            <a:off x="5329636" y="2593558"/>
            <a:ext cx="84830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b="1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ESMI </a:t>
            </a:r>
            <a:r>
              <a:rPr lang="ko-KR" altLang="en-US" sz="700" b="1" err="1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셀추적</a:t>
            </a:r>
            <a:r>
              <a:rPr lang="ko-KR" altLang="en-US" sz="700" b="1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 오픈 </a:t>
            </a:r>
            <a:endParaRPr lang="en-US" altLang="ko-KR" sz="700" b="1">
              <a:solidFill>
                <a:srgbClr val="0000FF"/>
              </a:solidFill>
              <a:highlight>
                <a:srgbClr val="FFFF00"/>
              </a:highlight>
              <a:latin typeface="+mn-ea"/>
            </a:endParaRPr>
          </a:p>
          <a:p>
            <a:pPr algn="ctr"/>
            <a:r>
              <a:rPr lang="en-US" altLang="ko-KR" sz="700" b="1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(9/30</a:t>
            </a:r>
            <a:r>
              <a:rPr lang="en-US" altLang="ko-KR" sz="700" b="1" dirty="0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 </a:t>
            </a:r>
            <a:r>
              <a:rPr lang="ko-KR" altLang="en-US" sz="700" b="1" dirty="0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완료</a:t>
            </a:r>
            <a:r>
              <a:rPr lang="en-US" altLang="ko-KR" sz="700" b="1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)</a:t>
            </a:r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4995A3E1-76EE-460A-B479-D7DB8AD909E0}"/>
              </a:ext>
            </a:extLst>
          </p:cNvPr>
          <p:cNvCxnSpPr>
            <a:cxnSpLocks/>
          </p:cNvCxnSpPr>
          <p:nvPr/>
        </p:nvCxnSpPr>
        <p:spPr>
          <a:xfrm>
            <a:off x="6702608" y="2598017"/>
            <a:ext cx="0" cy="928699"/>
          </a:xfrm>
          <a:prstGeom prst="line">
            <a:avLst/>
          </a:prstGeom>
          <a:ln w="6350">
            <a:solidFill>
              <a:srgbClr val="0033CC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모서리가 둥근 직사각형 87">
            <a:extLst>
              <a:ext uri="{FF2B5EF4-FFF2-40B4-BE49-F238E27FC236}">
                <a16:creationId xmlns:a16="http://schemas.microsoft.com/office/drawing/2014/main" id="{A00F7A68-07B8-4500-B048-2C0A1E4FF494}"/>
              </a:ext>
            </a:extLst>
          </p:cNvPr>
          <p:cNvSpPr/>
          <p:nvPr/>
        </p:nvSpPr>
        <p:spPr>
          <a:xfrm>
            <a:off x="4014745" y="2762319"/>
            <a:ext cx="949778" cy="108000"/>
          </a:xfrm>
          <a:prstGeom prst="roundRect">
            <a:avLst/>
          </a:prstGeom>
          <a:noFill/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MI </a:t>
            </a:r>
            <a:r>
              <a:rPr kumimoji="1" lang="ko-KR" altLang="en-US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정합성 검증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E21D812-A1A5-4412-91FE-EECDFC04C4DE}"/>
              </a:ext>
            </a:extLst>
          </p:cNvPr>
          <p:cNvSpPr/>
          <p:nvPr/>
        </p:nvSpPr>
        <p:spPr>
          <a:xfrm>
            <a:off x="5596428" y="4953745"/>
            <a:ext cx="307327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※ </a:t>
            </a:r>
            <a:r>
              <a:rPr lang="ko-KR" altLang="en-US" sz="700" dirty="0">
                <a:solidFill>
                  <a:srgbClr val="339933"/>
                </a:solidFill>
                <a:latin typeface="Arial Narrow (본문)"/>
              </a:rPr>
              <a:t>정합성 및 운영 검증은 </a:t>
            </a:r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ECS PC OFF </a:t>
            </a:r>
            <a:r>
              <a:rPr lang="ko-KR" altLang="en-US" sz="700" dirty="0">
                <a:solidFill>
                  <a:srgbClr val="339933"/>
                </a:solidFill>
                <a:latin typeface="Arial Narrow (본문)"/>
              </a:rPr>
              <a:t>혹은 부동설비를 제외하고 진행하였습니다</a:t>
            </a:r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.</a:t>
            </a:r>
          </a:p>
          <a:p>
            <a:pPr algn="r"/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(</a:t>
            </a:r>
            <a:r>
              <a:rPr lang="ko-KR" altLang="en-US" sz="700" dirty="0">
                <a:solidFill>
                  <a:srgbClr val="339933"/>
                </a:solidFill>
                <a:latin typeface="Arial Narrow (본문)"/>
              </a:rPr>
              <a:t>검증 설비 대수 </a:t>
            </a:r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: ESMI</a:t>
            </a:r>
            <a:r>
              <a:rPr lang="ko-KR" altLang="en-US" sz="700" dirty="0">
                <a:solidFill>
                  <a:srgbClr val="339933"/>
                </a:solidFill>
                <a:latin typeface="Arial Narrow (본문)"/>
              </a:rPr>
              <a:t> </a:t>
            </a:r>
            <a:r>
              <a:rPr lang="en-US" altLang="ko-KR" sz="700" strike="sngStrike" dirty="0">
                <a:solidFill>
                  <a:srgbClr val="339933"/>
                </a:solidFill>
                <a:latin typeface="Arial Narrow (본문)"/>
              </a:rPr>
              <a:t>56 </a:t>
            </a:r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&gt;58 </a:t>
            </a:r>
            <a:r>
              <a:rPr lang="ko-KR" altLang="en-US" sz="700" dirty="0">
                <a:solidFill>
                  <a:srgbClr val="339933"/>
                </a:solidFill>
                <a:latin typeface="Arial Narrow (본문)"/>
              </a:rPr>
              <a:t>대</a:t>
            </a:r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 /  ESNA </a:t>
            </a:r>
            <a:r>
              <a:rPr lang="en-US" altLang="ko-KR" sz="700" strike="sngStrike" dirty="0">
                <a:solidFill>
                  <a:srgbClr val="339933"/>
                </a:solidFill>
                <a:latin typeface="Arial Narrow (본문)"/>
              </a:rPr>
              <a:t>50 </a:t>
            </a:r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&gt;52 </a:t>
            </a:r>
            <a:r>
              <a:rPr lang="ko-KR" altLang="en-US" sz="700" dirty="0">
                <a:solidFill>
                  <a:srgbClr val="339933"/>
                </a:solidFill>
                <a:latin typeface="Arial Narrow (본문)"/>
              </a:rPr>
              <a:t>대</a:t>
            </a:r>
            <a:r>
              <a:rPr lang="en-US" altLang="ko-KR" sz="700" dirty="0">
                <a:solidFill>
                  <a:srgbClr val="339933"/>
                </a:solidFill>
                <a:latin typeface="Arial Narrow (본문)"/>
              </a:rPr>
              <a:t>)</a:t>
            </a:r>
            <a:endParaRPr lang="ko-KR" altLang="en-US" sz="700" dirty="0">
              <a:solidFill>
                <a:srgbClr val="339933"/>
              </a:solidFill>
              <a:latin typeface="Arial Narrow (본문)"/>
            </a:endParaRPr>
          </a:p>
        </p:txBody>
      </p:sp>
      <p:sp>
        <p:nvSpPr>
          <p:cNvPr id="28" name="모서리가 둥근 직사각형 87">
            <a:extLst>
              <a:ext uri="{FF2B5EF4-FFF2-40B4-BE49-F238E27FC236}">
                <a16:creationId xmlns:a16="http://schemas.microsoft.com/office/drawing/2014/main" id="{148136B0-3D4A-4FCA-87D9-B37097A1649B}"/>
              </a:ext>
            </a:extLst>
          </p:cNvPr>
          <p:cNvSpPr/>
          <p:nvPr/>
        </p:nvSpPr>
        <p:spPr>
          <a:xfrm>
            <a:off x="5009583" y="3045309"/>
            <a:ext cx="735757" cy="108000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NA </a:t>
            </a:r>
            <a:r>
              <a:rPr kumimoji="1" lang="ko-KR" altLang="en-US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정합성 검증</a:t>
            </a:r>
          </a:p>
        </p:txBody>
      </p:sp>
      <p:sp>
        <p:nvSpPr>
          <p:cNvPr id="27" name="모서리가 둥근 직사각형 87">
            <a:extLst>
              <a:ext uri="{FF2B5EF4-FFF2-40B4-BE49-F238E27FC236}">
                <a16:creationId xmlns:a16="http://schemas.microsoft.com/office/drawing/2014/main" id="{F86D1D34-895E-47F9-B26E-7F566428646A}"/>
              </a:ext>
            </a:extLst>
          </p:cNvPr>
          <p:cNvSpPr/>
          <p:nvPr/>
        </p:nvSpPr>
        <p:spPr>
          <a:xfrm>
            <a:off x="4665741" y="2895569"/>
            <a:ext cx="949779" cy="108000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NA</a:t>
            </a:r>
            <a:r>
              <a:rPr kumimoji="1" lang="ko-KR" altLang="en-US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 수집</a:t>
            </a:r>
            <a:r>
              <a:rPr kumimoji="1" lang="en-US" altLang="ko-KR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/</a:t>
            </a:r>
            <a:r>
              <a:rPr kumimoji="1" lang="ko-KR" altLang="en-US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기준정보 </a:t>
            </a:r>
            <a:r>
              <a:rPr kumimoji="1" lang="en-US" altLang="ko-KR" sz="700" b="1" kern="0">
                <a:solidFill>
                  <a:prstClr val="black"/>
                </a:solidFill>
                <a:latin typeface="LG스마트체 Light"/>
                <a:ea typeface="LG스마트체 Light"/>
                <a:cs typeface="Arial"/>
              </a:rPr>
              <a:t>Set Up</a:t>
            </a:r>
          </a:p>
        </p:txBody>
      </p:sp>
      <p:sp>
        <p:nvSpPr>
          <p:cNvPr id="25" name="모서리가 둥근 직사각형 87">
            <a:extLst>
              <a:ext uri="{FF2B5EF4-FFF2-40B4-BE49-F238E27FC236}">
                <a16:creationId xmlns:a16="http://schemas.microsoft.com/office/drawing/2014/main" id="{0E679EF4-F6FC-4B1D-89AE-36100B415CC5}"/>
              </a:ext>
            </a:extLst>
          </p:cNvPr>
          <p:cNvSpPr/>
          <p:nvPr/>
        </p:nvSpPr>
        <p:spPr>
          <a:xfrm>
            <a:off x="7411495" y="2085491"/>
            <a:ext cx="540000" cy="108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latin typeface="+mn-ea"/>
                <a:cs typeface="Arial"/>
              </a:rPr>
              <a:t>완료</a:t>
            </a:r>
          </a:p>
        </p:txBody>
      </p:sp>
      <p:graphicFrame>
        <p:nvGraphicFramePr>
          <p:cNvPr id="31" name="표 3">
            <a:extLst>
              <a:ext uri="{FF2B5EF4-FFF2-40B4-BE49-F238E27FC236}">
                <a16:creationId xmlns:a16="http://schemas.microsoft.com/office/drawing/2014/main" id="{8EA3D3D9-6418-48E5-A7A6-FD85A1B6A686}"/>
              </a:ext>
            </a:extLst>
          </p:cNvPr>
          <p:cNvGraphicFramePr>
            <a:graphicFrameLocks noGrp="1"/>
          </p:cNvGraphicFramePr>
          <p:nvPr/>
        </p:nvGraphicFramePr>
        <p:xfrm>
          <a:off x="1645785" y="5252541"/>
          <a:ext cx="6924902" cy="12183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44902">
                  <a:extLst>
                    <a:ext uri="{9D8B030D-6E8A-4147-A177-3AD203B41FA5}">
                      <a16:colId xmlns:a16="http://schemas.microsoft.com/office/drawing/2014/main" val="304203302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40059333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998497398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38717506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255822071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3507646051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373875733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147132441"/>
                    </a:ext>
                  </a:extLst>
                </a:gridCol>
              </a:tblGrid>
              <a:tr h="22640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</a:rPr>
                        <a:t>PJT</a:t>
                      </a:r>
                      <a:r>
                        <a:rPr lang="ko-KR" altLang="en-US" sz="800" b="1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</a:rPr>
                        <a:t>명</a:t>
                      </a:r>
                      <a:endParaRPr lang="ko-KR" altLang="en-US" sz="800" b="1" dirty="0">
                        <a:solidFill>
                          <a:sysClr val="windowText" lastClr="000000"/>
                        </a:solidFill>
                        <a:latin typeface="Arial Narrow (본문)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</a:rPr>
                        <a:t>투자</a:t>
                      </a: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</a:rPr>
                        <a:t>요건정의</a:t>
                      </a: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</a:rPr>
                        <a:t>Set Up</a:t>
                      </a:r>
                      <a:endParaRPr lang="ko-KR" altLang="en-US" sz="800" b="1">
                        <a:solidFill>
                          <a:sysClr val="windowText" lastClr="000000"/>
                        </a:solidFill>
                        <a:latin typeface="Arial Narrow (본문)"/>
                        <a:ea typeface="+mj-ea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</a:rPr>
                        <a:t>기준정보 등록</a:t>
                      </a: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</a:rPr>
                        <a:t>정합성 검증</a:t>
                      </a:r>
                      <a:endParaRPr lang="ko-KR" altLang="en-US" sz="800" b="0" i="1">
                        <a:solidFill>
                          <a:sysClr val="windowText" lastClr="000000"/>
                        </a:solidFill>
                        <a:latin typeface="Arial Narrow (본문)"/>
                        <a:ea typeface="+mj-ea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800" b="1" kern="1200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사용자 오픈</a:t>
                      </a: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>
                          <a:solidFill>
                            <a:sysClr val="windowText" lastClr="000000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운영 검증</a:t>
                      </a: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155186"/>
                  </a:ext>
                </a:extLst>
              </a:tr>
              <a:tr h="3067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>
                          <a:latin typeface="Arial Narrow (본문)"/>
                          <a:ea typeface="+mj-ea"/>
                        </a:rPr>
                        <a:t>ESMI SPC 셀추적 이관</a:t>
                      </a:r>
                      <a:endParaRPr lang="en-US" altLang="ko-KR" sz="800" b="0" dirty="0">
                        <a:latin typeface="Arial Narrow (본문)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i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</a:rPr>
                        <a:t>계약완료</a:t>
                      </a:r>
                      <a:endParaRPr lang="ko-KR" altLang="en-US" sz="800" i="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</a:t>
                      </a:r>
                      <a:endParaRPr lang="ko-KR" altLang="en-US" sz="800" b="0" i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 [71/71]</a:t>
                      </a:r>
                      <a:b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</a:b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(~7/22)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 [71/71]</a:t>
                      </a:r>
                      <a:b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</a:b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(~8/5)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 [58/58]</a:t>
                      </a:r>
                      <a:b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</a:b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(11/25)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완료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(9/30)</a:t>
                      </a: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 [58/58]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​</a:t>
                      </a:r>
                      <a:b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</a:b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(11/25)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​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0073025"/>
                  </a:ext>
                </a:extLst>
              </a:tr>
              <a:tr h="30674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800" b="0" kern="1200" noProof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ESNA</a:t>
                      </a:r>
                      <a:r>
                        <a:rPr lang="en-US" altLang="ko-KR" sz="800" b="0" kern="1200" noProof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 SPC </a:t>
                      </a:r>
                      <a:r>
                        <a:rPr lang="en-US" sz="800" b="0" kern="1200" noProof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셀추적 이관</a:t>
                      </a:r>
                      <a:endParaRPr lang="en-US" altLang="ko-KR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i="0" kern="1200">
                        <a:solidFill>
                          <a:schemeClr val="tx1"/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 [72/72]</a:t>
                      </a:r>
                      <a:endParaRPr lang="ko-KR" altLang="en-US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(~8/21)</a:t>
                      </a:r>
                      <a:endParaRPr lang="ko-KR" altLang="en-US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 [72/72]</a:t>
                      </a:r>
                      <a:endParaRPr lang="ko-KR" altLang="en-US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(~8/21)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 [52/52]</a:t>
                      </a:r>
                      <a:endParaRPr lang="ko-KR" altLang="en-US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(~10/13)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완료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(10/30)</a:t>
                      </a: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 [52/52]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​</a:t>
                      </a:r>
                    </a:p>
                    <a:p>
                      <a:pPr algn="ctr" rtl="0" fontAlgn="base"/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(11/25)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​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58925486"/>
                  </a:ext>
                </a:extLst>
              </a:tr>
              <a:tr h="32134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셀복원 시 검사데이터 </a:t>
                      </a:r>
                      <a:endParaRPr lang="en-US" altLang="ko-KR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참조 기능 개발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i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100%</a:t>
                      </a:r>
                      <a:endParaRPr lang="ko-KR" altLang="en-US" sz="800" b="0" i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-</a:t>
                      </a:r>
                      <a:endParaRPr lang="ko-KR" altLang="en-US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분석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/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설계 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: 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Arial Narrow (본문)"/>
                          <a:ea typeface="+mn-ea"/>
                          <a:cs typeface="+mn-cs"/>
                        </a:rPr>
                        <a:t>100% </a:t>
                      </a:r>
                      <a:endParaRPr lang="en-US" altLang="ko-KR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(~8/14)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개발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/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테스트 </a:t>
                      </a: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: </a:t>
                      </a:r>
                      <a:r>
                        <a:rPr lang="ko-KR" altLang="en-US" sz="800" b="0" kern="1200">
                          <a:solidFill>
                            <a:schemeClr val="tx1"/>
                          </a:solidFill>
                          <a:latin typeface="Arial Narrow (본문)"/>
                          <a:ea typeface="+mn-ea"/>
                          <a:cs typeface="+mn-cs"/>
                        </a:rPr>
                        <a:t>100% </a:t>
                      </a:r>
                      <a:endParaRPr lang="en-US" altLang="ko-KR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(~9/5)</a:t>
                      </a:r>
                      <a:endParaRPr lang="ko-KR" altLang="en-US" sz="800" b="0" kern="120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0">
                      <a:noFill/>
                    </a:lnTlToBr>
                    <a:lnBlToTr w="0">
                      <a:noFill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운영적용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 Narrow (본문)"/>
                          <a:ea typeface="+mj-ea"/>
                          <a:cs typeface="+mn-cs"/>
                        </a:rPr>
                        <a:t>(9/9)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Arial Narrow (본문)"/>
                        <a:ea typeface="+mj-ea"/>
                        <a:cs typeface="+mn-cs"/>
                      </a:endParaRPr>
                    </a:p>
                  </a:txBody>
                  <a:tcPr marL="0" marR="36000" marT="0" marB="0" anchor="ctr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420594716"/>
                  </a:ext>
                </a:extLst>
              </a:tr>
            </a:tbl>
          </a:graphicData>
        </a:graphic>
      </p:graphicFrame>
      <p:sp>
        <p:nvSpPr>
          <p:cNvPr id="69" name="모서리가 둥근 직사각형 87">
            <a:extLst>
              <a:ext uri="{FF2B5EF4-FFF2-40B4-BE49-F238E27FC236}">
                <a16:creationId xmlns:a16="http://schemas.microsoft.com/office/drawing/2014/main" id="{1C06A907-0EDB-4E75-BE3C-AF44FBA0CB0C}"/>
              </a:ext>
            </a:extLst>
          </p:cNvPr>
          <p:cNvSpPr/>
          <p:nvPr/>
        </p:nvSpPr>
        <p:spPr>
          <a:xfrm>
            <a:off x="5123883" y="3194879"/>
            <a:ext cx="2965069" cy="108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latin typeface="+mn-ea"/>
                <a:cs typeface="Arial"/>
              </a:rPr>
              <a:t>MI </a:t>
            </a:r>
            <a:r>
              <a:rPr kumimoji="1" lang="ko-KR" altLang="en-US" sz="700" b="1" kern="0">
                <a:latin typeface="+mn-ea"/>
                <a:cs typeface="Arial"/>
              </a:rPr>
              <a:t>운영 검증</a:t>
            </a:r>
            <a:endParaRPr kumimoji="1" lang="en-US" altLang="ko-KR" sz="700" b="1" kern="0">
              <a:latin typeface="+mn-ea"/>
              <a:cs typeface="Arial"/>
            </a:endParaRPr>
          </a:p>
        </p:txBody>
      </p:sp>
      <p:sp>
        <p:nvSpPr>
          <p:cNvPr id="24" name="모서리가 둥근 직사각형 87">
            <a:extLst>
              <a:ext uri="{FF2B5EF4-FFF2-40B4-BE49-F238E27FC236}">
                <a16:creationId xmlns:a16="http://schemas.microsoft.com/office/drawing/2014/main" id="{1A574311-F927-4B49-996F-74331CC6F4BB}"/>
              </a:ext>
            </a:extLst>
          </p:cNvPr>
          <p:cNvSpPr/>
          <p:nvPr/>
        </p:nvSpPr>
        <p:spPr>
          <a:xfrm>
            <a:off x="5123883" y="3348092"/>
            <a:ext cx="2965069" cy="108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 dirty="0">
                <a:latin typeface="+mn-ea"/>
                <a:cs typeface="Arial"/>
              </a:rPr>
              <a:t>NA</a:t>
            </a:r>
            <a:r>
              <a:rPr kumimoji="1" lang="ko-KR" altLang="en-US" sz="700" b="1" kern="0" dirty="0">
                <a:latin typeface="+mn-ea"/>
                <a:cs typeface="Arial"/>
              </a:rPr>
              <a:t> 운영 검증</a:t>
            </a:r>
            <a:endParaRPr kumimoji="1" lang="en-US" altLang="ko-KR" sz="700" b="1" kern="0" dirty="0">
              <a:latin typeface="+mn-ea"/>
              <a:cs typeface="Arial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AC9FF99-6F83-442A-8985-F49058A685CA}"/>
              </a:ext>
            </a:extLst>
          </p:cNvPr>
          <p:cNvSpPr txBox="1"/>
          <p:nvPr/>
        </p:nvSpPr>
        <p:spPr>
          <a:xfrm>
            <a:off x="6286773" y="2593558"/>
            <a:ext cx="87556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b="1" dirty="0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ESNA </a:t>
            </a:r>
            <a:r>
              <a:rPr lang="ko-KR" altLang="en-US" sz="700" b="1" dirty="0" err="1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셀추적</a:t>
            </a:r>
            <a:r>
              <a:rPr lang="ko-KR" altLang="en-US" sz="700" b="1" dirty="0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 오픈 </a:t>
            </a:r>
            <a:endParaRPr lang="en-US" altLang="ko-KR" sz="700" b="1" dirty="0">
              <a:solidFill>
                <a:srgbClr val="0000FF"/>
              </a:solidFill>
              <a:highlight>
                <a:srgbClr val="FFFF00"/>
              </a:highlight>
              <a:latin typeface="+mn-ea"/>
            </a:endParaRPr>
          </a:p>
          <a:p>
            <a:pPr algn="ctr"/>
            <a:r>
              <a:rPr lang="en-US" altLang="ko-KR" sz="700" b="1" dirty="0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(10/30 </a:t>
            </a:r>
            <a:r>
              <a:rPr lang="ko-KR" altLang="en-US" sz="700" b="1" dirty="0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완료</a:t>
            </a:r>
            <a:r>
              <a:rPr lang="en-US" altLang="ko-KR" sz="700" b="1" dirty="0">
                <a:solidFill>
                  <a:srgbClr val="0000FF"/>
                </a:solidFill>
                <a:highlight>
                  <a:srgbClr val="FFFF00"/>
                </a:highlight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64795123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34742112-A229-4773-BC2F-4C6E0957C3EF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543692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SPC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 </a:t>
            </a:r>
            <a:r>
              <a:rPr lang="en-US" altLang="ko-KR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–</a:t>
            </a:r>
            <a:r>
              <a:rPr lang="ko-KR" altLang="en-US" sz="1400" b="1">
                <a:solidFill>
                  <a:prstClr val="black"/>
                </a:solidFill>
                <a:latin typeface="LG스마트체 Regular"/>
                <a:cs typeface="Malgun Gothic Semilight" panose="020B0502040204020203" pitchFamily="50" charset="-127"/>
              </a:rPr>
              <a:t> 시스템 배포</a:t>
            </a:r>
            <a:endParaRPr lang="ko-KR" altLang="en-US" sz="1400" b="1">
              <a:solidFill>
                <a:prstClr val="black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454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  <a:endParaRPr kumimoji="1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AA6A7E3-DE38-4BE7-A79F-DD19FFE23D81}"/>
              </a:ext>
            </a:extLst>
          </p:cNvPr>
          <p:cNvSpPr txBox="1"/>
          <p:nvPr/>
        </p:nvSpPr>
        <p:spPr>
          <a:xfrm>
            <a:off x="8061950" y="63994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75" name="내용 개체 틀 20">
            <a:extLst>
              <a:ext uri="{FF2B5EF4-FFF2-40B4-BE49-F238E27FC236}">
                <a16:creationId xmlns:a16="http://schemas.microsoft.com/office/drawing/2014/main" id="{63690C05-45AC-4499-BA88-04D9C5972A17}"/>
              </a:ext>
            </a:extLst>
          </p:cNvPr>
          <p:cNvSpPr txBox="1">
            <a:spLocks/>
          </p:cNvSpPr>
          <p:nvPr/>
        </p:nvSpPr>
        <p:spPr>
          <a:xfrm>
            <a:off x="8792920" y="470664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박정우</a:t>
            </a:r>
            <a:r>
              <a:rPr lang="en-US" altLang="ko-KR" sz="110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73" name="내용 개체 틀 20">
            <a:extLst>
              <a:ext uri="{FF2B5EF4-FFF2-40B4-BE49-F238E27FC236}">
                <a16:creationId xmlns:a16="http://schemas.microsoft.com/office/drawing/2014/main" id="{EA3E2120-EB27-4FF2-B64C-B6A9162451D1}"/>
              </a:ext>
            </a:extLst>
          </p:cNvPr>
          <p:cNvSpPr txBox="1">
            <a:spLocks/>
          </p:cNvSpPr>
          <p:nvPr/>
        </p:nvSpPr>
        <p:spPr>
          <a:xfrm>
            <a:off x="5620354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DX-#12,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E970377-8FBD-1EB0-B115-FF992294CE58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SPC -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시스템 배포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전사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(W51)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정기배포 대상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건을 테스트 완료하였고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16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 배포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SPC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주 간격으로 정기배포를 통해 기능개선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기능오류 등의 개발 건을 운영에 적용하고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검사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계측정보 수집 및 모니터링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관리도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셀추적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롤맵 기능을 포함하며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배포통제 시스템을 통해 관리하고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[12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 정기배포 진행 항목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추승식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김승진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이상오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이재균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박홍규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박정우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이유경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이주민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김태원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조성우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김효정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7" name="Group 986">
            <a:extLst>
              <a:ext uri="{FF2B5EF4-FFF2-40B4-BE49-F238E27FC236}">
                <a16:creationId xmlns:a16="http://schemas.microsoft.com/office/drawing/2014/main" id="{70FE01BA-4E80-8232-C77E-A05AF93A0E1F}"/>
              </a:ext>
            </a:extLst>
          </p:cNvPr>
          <p:cNvGraphicFramePr>
            <a:graphicFrameLocks noGrp="1"/>
          </p:cNvGraphicFramePr>
          <p:nvPr/>
        </p:nvGraphicFramePr>
        <p:xfrm>
          <a:off x="1639743" y="2204646"/>
          <a:ext cx="7040099" cy="894154"/>
        </p:xfrm>
        <a:graphic>
          <a:graphicData uri="http://schemas.openxmlformats.org/drawingml/2006/table">
            <a:tbl>
              <a:tblPr/>
              <a:tblGrid>
                <a:gridCol w="420671">
                  <a:extLst>
                    <a:ext uri="{9D8B030D-6E8A-4147-A177-3AD203B41FA5}">
                      <a16:colId xmlns:a16="http://schemas.microsoft.com/office/drawing/2014/main" val="977375500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3383282952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1298559629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2772226814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1265908635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1911429909"/>
                    </a:ext>
                  </a:extLst>
                </a:gridCol>
                <a:gridCol w="551619">
                  <a:extLst>
                    <a:ext uri="{9D8B030D-6E8A-4147-A177-3AD203B41FA5}">
                      <a16:colId xmlns:a16="http://schemas.microsoft.com/office/drawing/2014/main" val="3725394018"/>
                    </a:ext>
                  </a:extLst>
                </a:gridCol>
              </a:tblGrid>
              <a:tr h="123819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구분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25</a:t>
                      </a:r>
                      <a:r>
                        <a:rPr kumimoji="1" lang="ko-KR" altLang="en-US" sz="800" b="0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26</a:t>
                      </a:r>
                      <a:r>
                        <a:rPr kumimoji="1" lang="ko-KR" altLang="en-US" sz="800" b="0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23819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1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3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800" b="0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631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0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406614"/>
                  </a:ext>
                </a:extLst>
              </a:tr>
            </a:tbl>
          </a:graphicData>
        </a:graphic>
      </p:graphicFrame>
      <p:sp>
        <p:nvSpPr>
          <p:cNvPr id="62" name="모서리가 둥근 직사각형 164">
            <a:extLst>
              <a:ext uri="{FF2B5EF4-FFF2-40B4-BE49-F238E27FC236}">
                <a16:creationId xmlns:a16="http://schemas.microsoft.com/office/drawing/2014/main" id="{DEE68EF4-C1B0-8484-E430-1204209CE66D}"/>
              </a:ext>
            </a:extLst>
          </p:cNvPr>
          <p:cNvSpPr/>
          <p:nvPr/>
        </p:nvSpPr>
        <p:spPr>
          <a:xfrm>
            <a:off x="1649903" y="2470154"/>
            <a:ext cx="393945" cy="607491"/>
          </a:xfrm>
          <a:prstGeom prst="roundRect">
            <a:avLst/>
          </a:prstGeom>
          <a:solidFill>
            <a:schemeClr val="tx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36000" rIns="0" bIns="0" anchor="ctr" anchorCtr="1"/>
          <a:lstStyle/>
          <a:p>
            <a:pPr marL="0" marR="0" lvl="0" indent="0" algn="ctr" defTabSz="1022350" rtl="0" eaLnBrk="1" fontAlgn="base" latinLnBrk="0" hangingPunct="1"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>
                <a:solidFill>
                  <a:prstClr val="white"/>
                </a:solidFill>
                <a:latin typeface="+mj-ea"/>
                <a:ea typeface="+mj-ea"/>
                <a:cs typeface="Arial" pitchFamily="34" charset="0"/>
              </a:rPr>
              <a:t>배포</a:t>
            </a:r>
            <a:endParaRPr kumimoji="1" lang="en-US" altLang="ko-KR" sz="800" b="1" kern="0">
              <a:solidFill>
                <a:prstClr val="white"/>
              </a:solidFill>
              <a:latin typeface="+mj-ea"/>
              <a:ea typeface="+mj-ea"/>
              <a:cs typeface="Arial" pitchFamily="34" charset="0"/>
            </a:endParaRPr>
          </a:p>
          <a:p>
            <a:pPr marL="0" marR="0" lvl="0" indent="0" algn="ctr" defTabSz="1022350" rtl="0" eaLnBrk="1" fontAlgn="base" latinLnBrk="0" hangingPunct="1"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>
                <a:solidFill>
                  <a:prstClr val="white"/>
                </a:solidFill>
                <a:latin typeface="+mj-ea"/>
                <a:ea typeface="+mj-ea"/>
                <a:cs typeface="Arial" pitchFamily="34" charset="0"/>
              </a:rPr>
              <a:t>일자</a:t>
            </a:r>
            <a:endParaRPr kumimoji="1" lang="en-US" altLang="ko-KR" sz="800" b="1" kern="0">
              <a:solidFill>
                <a:prstClr val="white"/>
              </a:solidFill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63" name="Oval 113">
            <a:extLst>
              <a:ext uri="{FF2B5EF4-FFF2-40B4-BE49-F238E27FC236}">
                <a16:creationId xmlns:a16="http://schemas.microsoft.com/office/drawing/2014/main" id="{04E527F8-D3CD-7E9A-E12E-DE04C5B01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4008" y="246234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8</a:t>
            </a:r>
          </a:p>
        </p:txBody>
      </p:sp>
      <p:sp>
        <p:nvSpPr>
          <p:cNvPr id="65" name="모서리가 둥근 직사각형 87">
            <a:extLst>
              <a:ext uri="{FF2B5EF4-FFF2-40B4-BE49-F238E27FC236}">
                <a16:creationId xmlns:a16="http://schemas.microsoft.com/office/drawing/2014/main" id="{B6C37D61-48CD-3113-7343-9072EF0022BC}"/>
              </a:ext>
            </a:extLst>
          </p:cNvPr>
          <p:cNvSpPr/>
          <p:nvPr/>
        </p:nvSpPr>
        <p:spPr>
          <a:xfrm>
            <a:off x="2203831" y="2477648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66" name="모서리가 둥근 직사각형 87">
            <a:extLst>
              <a:ext uri="{FF2B5EF4-FFF2-40B4-BE49-F238E27FC236}">
                <a16:creationId xmlns:a16="http://schemas.microsoft.com/office/drawing/2014/main" id="{73888F3B-17E8-C79C-91CA-AC328B735D56}"/>
              </a:ext>
            </a:extLst>
          </p:cNvPr>
          <p:cNvSpPr/>
          <p:nvPr/>
        </p:nvSpPr>
        <p:spPr>
          <a:xfrm>
            <a:off x="2203831" y="262270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67" name="모서리가 둥근 직사각형 87">
            <a:extLst>
              <a:ext uri="{FF2B5EF4-FFF2-40B4-BE49-F238E27FC236}">
                <a16:creationId xmlns:a16="http://schemas.microsoft.com/office/drawing/2014/main" id="{D4DB1D01-C0D3-D93F-42F1-C23E85A6B49F}"/>
              </a:ext>
            </a:extLst>
          </p:cNvPr>
          <p:cNvSpPr/>
          <p:nvPr/>
        </p:nvSpPr>
        <p:spPr>
          <a:xfrm>
            <a:off x="2739829" y="2477648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68" name="Oval 113">
            <a:extLst>
              <a:ext uri="{FF2B5EF4-FFF2-40B4-BE49-F238E27FC236}">
                <a16:creationId xmlns:a16="http://schemas.microsoft.com/office/drawing/2014/main" id="{D27CF888-6B64-FF47-3C66-D4FDC56C8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4008" y="275354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29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69" name="모서리가 둥근 직사각형 87">
            <a:extLst>
              <a:ext uri="{FF2B5EF4-FFF2-40B4-BE49-F238E27FC236}">
                <a16:creationId xmlns:a16="http://schemas.microsoft.com/office/drawing/2014/main" id="{F652B66E-ECA7-C9D3-E7EF-73B36DBE21B5}"/>
              </a:ext>
            </a:extLst>
          </p:cNvPr>
          <p:cNvSpPr/>
          <p:nvPr/>
        </p:nvSpPr>
        <p:spPr>
          <a:xfrm>
            <a:off x="2203831" y="2768852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70" name="Oval 113">
            <a:extLst>
              <a:ext uri="{FF2B5EF4-FFF2-40B4-BE49-F238E27FC236}">
                <a16:creationId xmlns:a16="http://schemas.microsoft.com/office/drawing/2014/main" id="{47F0B8EC-D0B0-5612-121C-0DB2A7AFB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6608" y="2609805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24</a:t>
            </a:r>
          </a:p>
        </p:txBody>
      </p:sp>
      <p:sp>
        <p:nvSpPr>
          <p:cNvPr id="71" name="Oval 113">
            <a:extLst>
              <a:ext uri="{FF2B5EF4-FFF2-40B4-BE49-F238E27FC236}">
                <a16:creationId xmlns:a16="http://schemas.microsoft.com/office/drawing/2014/main" id="{A3735FCE-AA03-EAE5-E234-B14CE81A1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006" y="275417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19</a:t>
            </a:r>
          </a:p>
        </p:txBody>
      </p:sp>
      <p:sp>
        <p:nvSpPr>
          <p:cNvPr id="72" name="모서리가 둥근 직사각형 87">
            <a:extLst>
              <a:ext uri="{FF2B5EF4-FFF2-40B4-BE49-F238E27FC236}">
                <a16:creationId xmlns:a16="http://schemas.microsoft.com/office/drawing/2014/main" id="{ABF74FF7-7C05-D040-E2E2-242EA7736A59}"/>
              </a:ext>
            </a:extLst>
          </p:cNvPr>
          <p:cNvSpPr/>
          <p:nvPr/>
        </p:nvSpPr>
        <p:spPr>
          <a:xfrm>
            <a:off x="2739829" y="2769482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76" name="Oval 113">
            <a:extLst>
              <a:ext uri="{FF2B5EF4-FFF2-40B4-BE49-F238E27FC236}">
                <a16:creationId xmlns:a16="http://schemas.microsoft.com/office/drawing/2014/main" id="{80686053-EA08-E897-E4A0-19AB5FB4E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5648" y="2462172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7</a:t>
            </a:r>
          </a:p>
        </p:txBody>
      </p:sp>
      <p:sp>
        <p:nvSpPr>
          <p:cNvPr id="77" name="모서리가 둥근 직사각형 87">
            <a:extLst>
              <a:ext uri="{FF2B5EF4-FFF2-40B4-BE49-F238E27FC236}">
                <a16:creationId xmlns:a16="http://schemas.microsoft.com/office/drawing/2014/main" id="{87A8A635-2E38-E11E-43E4-DF684AF2ED5D}"/>
              </a:ext>
            </a:extLst>
          </p:cNvPr>
          <p:cNvSpPr/>
          <p:nvPr/>
        </p:nvSpPr>
        <p:spPr>
          <a:xfrm>
            <a:off x="2739829" y="262508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78" name="Oval 113">
            <a:extLst>
              <a:ext uri="{FF2B5EF4-FFF2-40B4-BE49-F238E27FC236}">
                <a16:creationId xmlns:a16="http://schemas.microsoft.com/office/drawing/2014/main" id="{7535D01B-C454-6B24-84F4-A8A24D0AC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5648" y="2609605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13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79" name="모서리가 둥근 직사각형 87">
            <a:extLst>
              <a:ext uri="{FF2B5EF4-FFF2-40B4-BE49-F238E27FC236}">
                <a16:creationId xmlns:a16="http://schemas.microsoft.com/office/drawing/2014/main" id="{A8658974-92EA-AF09-8632-0457357C810C}"/>
              </a:ext>
            </a:extLst>
          </p:cNvPr>
          <p:cNvSpPr/>
          <p:nvPr/>
        </p:nvSpPr>
        <p:spPr>
          <a:xfrm>
            <a:off x="2739829" y="292645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80" name="Oval 113">
            <a:extLst>
              <a:ext uri="{FF2B5EF4-FFF2-40B4-BE49-F238E27FC236}">
                <a16:creationId xmlns:a16="http://schemas.microsoft.com/office/drawing/2014/main" id="{A6D36E7A-A405-A942-BBB2-F5D8589C7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5648" y="2910978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26</a:t>
            </a:r>
          </a:p>
        </p:txBody>
      </p:sp>
      <p:sp>
        <p:nvSpPr>
          <p:cNvPr id="81" name="Oval 113">
            <a:extLst>
              <a:ext uri="{FF2B5EF4-FFF2-40B4-BE49-F238E27FC236}">
                <a16:creationId xmlns:a16="http://schemas.microsoft.com/office/drawing/2014/main" id="{16893488-0315-4442-44CC-169BB3F4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2179" y="260814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9</a:t>
            </a:r>
          </a:p>
        </p:txBody>
      </p:sp>
      <p:sp>
        <p:nvSpPr>
          <p:cNvPr id="82" name="모서리가 둥근 직사각형 87">
            <a:extLst>
              <a:ext uri="{FF2B5EF4-FFF2-40B4-BE49-F238E27FC236}">
                <a16:creationId xmlns:a16="http://schemas.microsoft.com/office/drawing/2014/main" id="{262B4536-5FFA-2586-607D-8773C36DCAC1}"/>
              </a:ext>
            </a:extLst>
          </p:cNvPr>
          <p:cNvSpPr/>
          <p:nvPr/>
        </p:nvSpPr>
        <p:spPr>
          <a:xfrm>
            <a:off x="3292002" y="2623448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83" name="모서리가 둥근 직사각형 87">
            <a:extLst>
              <a:ext uri="{FF2B5EF4-FFF2-40B4-BE49-F238E27FC236}">
                <a16:creationId xmlns:a16="http://schemas.microsoft.com/office/drawing/2014/main" id="{DAD0DA6B-D5A3-665B-2675-40F3F720AE82}"/>
              </a:ext>
            </a:extLst>
          </p:cNvPr>
          <p:cNvSpPr/>
          <p:nvPr/>
        </p:nvSpPr>
        <p:spPr>
          <a:xfrm>
            <a:off x="3292002" y="276850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84" name="모서리가 둥근 직사각형 87">
            <a:extLst>
              <a:ext uri="{FF2B5EF4-FFF2-40B4-BE49-F238E27FC236}">
                <a16:creationId xmlns:a16="http://schemas.microsoft.com/office/drawing/2014/main" id="{B713F07A-D72C-F736-DD33-E6DFA82AEB3B}"/>
              </a:ext>
            </a:extLst>
          </p:cNvPr>
          <p:cNvSpPr/>
          <p:nvPr/>
        </p:nvSpPr>
        <p:spPr>
          <a:xfrm>
            <a:off x="3847267" y="262270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85" name="모서리가 둥근 직사각형 87">
            <a:extLst>
              <a:ext uri="{FF2B5EF4-FFF2-40B4-BE49-F238E27FC236}">
                <a16:creationId xmlns:a16="http://schemas.microsoft.com/office/drawing/2014/main" id="{FD39D966-C813-F464-391E-5F7FDD6FBEB2}"/>
              </a:ext>
            </a:extLst>
          </p:cNvPr>
          <p:cNvSpPr/>
          <p:nvPr/>
        </p:nvSpPr>
        <p:spPr>
          <a:xfrm>
            <a:off x="3292002" y="2477648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86" name="Oval 113">
            <a:extLst>
              <a:ext uri="{FF2B5EF4-FFF2-40B4-BE49-F238E27FC236}">
                <a16:creationId xmlns:a16="http://schemas.microsoft.com/office/drawing/2014/main" id="{758CF710-0AA6-BF4E-015A-C526512BD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7821" y="2462172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</a:t>
            </a:r>
          </a:p>
        </p:txBody>
      </p:sp>
      <p:sp>
        <p:nvSpPr>
          <p:cNvPr id="87" name="Oval 113">
            <a:extLst>
              <a:ext uri="{FF2B5EF4-FFF2-40B4-BE49-F238E27FC236}">
                <a16:creationId xmlns:a16="http://schemas.microsoft.com/office/drawing/2014/main" id="{5E286289-4A8B-1CE1-8C8F-AE46F22FF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2179" y="291114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30</a:t>
            </a:r>
          </a:p>
        </p:txBody>
      </p:sp>
      <p:sp>
        <p:nvSpPr>
          <p:cNvPr id="88" name="모서리가 둥근 직사각형 87">
            <a:extLst>
              <a:ext uri="{FF2B5EF4-FFF2-40B4-BE49-F238E27FC236}">
                <a16:creationId xmlns:a16="http://schemas.microsoft.com/office/drawing/2014/main" id="{726BC9E2-E8FE-7241-2864-14B987D2A481}"/>
              </a:ext>
            </a:extLst>
          </p:cNvPr>
          <p:cNvSpPr/>
          <p:nvPr/>
        </p:nvSpPr>
        <p:spPr>
          <a:xfrm>
            <a:off x="3292002" y="292645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89" name="Oval 113">
            <a:extLst>
              <a:ext uri="{FF2B5EF4-FFF2-40B4-BE49-F238E27FC236}">
                <a16:creationId xmlns:a16="http://schemas.microsoft.com/office/drawing/2014/main" id="{A9455172-E2B4-C8E0-C9B4-0E3BB7A04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7821" y="2754681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23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90" name="모서리가 둥근 직사각형 87">
            <a:extLst>
              <a:ext uri="{FF2B5EF4-FFF2-40B4-BE49-F238E27FC236}">
                <a16:creationId xmlns:a16="http://schemas.microsoft.com/office/drawing/2014/main" id="{62894542-5ADE-6C26-5E8F-830D3CFC426E}"/>
              </a:ext>
            </a:extLst>
          </p:cNvPr>
          <p:cNvSpPr/>
          <p:nvPr/>
        </p:nvSpPr>
        <p:spPr>
          <a:xfrm>
            <a:off x="3853617" y="2477648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91" name="Oval 113">
            <a:extLst>
              <a:ext uri="{FF2B5EF4-FFF2-40B4-BE49-F238E27FC236}">
                <a16:creationId xmlns:a16="http://schemas.microsoft.com/office/drawing/2014/main" id="{523BC1BF-1F99-F103-8D97-8A84A2EE1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9436" y="2462172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16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92" name="모서리가 둥근 직사각형 87">
            <a:extLst>
              <a:ext uri="{FF2B5EF4-FFF2-40B4-BE49-F238E27FC236}">
                <a16:creationId xmlns:a16="http://schemas.microsoft.com/office/drawing/2014/main" id="{6565A2E7-1F63-AA92-EAC9-27C5B68E447D}"/>
              </a:ext>
            </a:extLst>
          </p:cNvPr>
          <p:cNvSpPr/>
          <p:nvPr/>
        </p:nvSpPr>
        <p:spPr>
          <a:xfrm>
            <a:off x="4399440" y="247998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93" name="모서리가 둥근 직사각형 87">
            <a:extLst>
              <a:ext uri="{FF2B5EF4-FFF2-40B4-BE49-F238E27FC236}">
                <a16:creationId xmlns:a16="http://schemas.microsoft.com/office/drawing/2014/main" id="{E1E47EB8-19E8-5624-EBE7-EE584125B353}"/>
              </a:ext>
            </a:extLst>
          </p:cNvPr>
          <p:cNvSpPr/>
          <p:nvPr/>
        </p:nvSpPr>
        <p:spPr>
          <a:xfrm>
            <a:off x="4955069" y="2789200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94" name="Oval 113">
            <a:extLst>
              <a:ext uri="{FF2B5EF4-FFF2-40B4-BE49-F238E27FC236}">
                <a16:creationId xmlns:a16="http://schemas.microsoft.com/office/drawing/2014/main" id="{8A3967BC-199C-C75B-8E44-60DF30691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7444" y="274653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28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95" name="모서리가 둥근 직사각형 87">
            <a:extLst>
              <a:ext uri="{FF2B5EF4-FFF2-40B4-BE49-F238E27FC236}">
                <a16:creationId xmlns:a16="http://schemas.microsoft.com/office/drawing/2014/main" id="{24F0B3E4-06B3-81B8-6DD8-64AA779DB0A9}"/>
              </a:ext>
            </a:extLst>
          </p:cNvPr>
          <p:cNvSpPr/>
          <p:nvPr/>
        </p:nvSpPr>
        <p:spPr>
          <a:xfrm>
            <a:off x="3847267" y="276184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96" name="Oval 113">
            <a:extLst>
              <a:ext uri="{FF2B5EF4-FFF2-40B4-BE49-F238E27FC236}">
                <a16:creationId xmlns:a16="http://schemas.microsoft.com/office/drawing/2014/main" id="{75D3E38D-DC9B-F870-1464-36B63C6DE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9436" y="2608084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21</a:t>
            </a:r>
          </a:p>
        </p:txBody>
      </p:sp>
      <p:sp>
        <p:nvSpPr>
          <p:cNvPr id="97" name="Oval 113">
            <a:extLst>
              <a:ext uri="{FF2B5EF4-FFF2-40B4-BE49-F238E27FC236}">
                <a16:creationId xmlns:a16="http://schemas.microsoft.com/office/drawing/2014/main" id="{D3A8F1EA-2714-277E-9E7E-8BC407709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9617" y="261186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25</a:t>
            </a:r>
          </a:p>
        </p:txBody>
      </p:sp>
      <p:sp>
        <p:nvSpPr>
          <p:cNvPr id="98" name="모서리가 둥근 직사각형 87">
            <a:extLst>
              <a:ext uri="{FF2B5EF4-FFF2-40B4-BE49-F238E27FC236}">
                <a16:creationId xmlns:a16="http://schemas.microsoft.com/office/drawing/2014/main" id="{EB6CDA05-7A88-C7FA-44FD-7C4877CB0C62}"/>
              </a:ext>
            </a:extLst>
          </p:cNvPr>
          <p:cNvSpPr/>
          <p:nvPr/>
        </p:nvSpPr>
        <p:spPr>
          <a:xfrm>
            <a:off x="4399440" y="2627170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99" name="Oval 113">
            <a:extLst>
              <a:ext uri="{FF2B5EF4-FFF2-40B4-BE49-F238E27FC236}">
                <a16:creationId xmlns:a16="http://schemas.microsoft.com/office/drawing/2014/main" id="{AA2913C8-0996-219F-0C10-5565998CC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3252" y="2462172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12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00" name="모서리가 둥근 직사각형 87">
            <a:extLst>
              <a:ext uri="{FF2B5EF4-FFF2-40B4-BE49-F238E27FC236}">
                <a16:creationId xmlns:a16="http://schemas.microsoft.com/office/drawing/2014/main" id="{E5F90A23-55E4-7A73-3EDF-35312B86CF33}"/>
              </a:ext>
            </a:extLst>
          </p:cNvPr>
          <p:cNvSpPr/>
          <p:nvPr/>
        </p:nvSpPr>
        <p:spPr>
          <a:xfrm>
            <a:off x="4952042" y="247998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01" name="Oval 113">
            <a:extLst>
              <a:ext uri="{FF2B5EF4-FFF2-40B4-BE49-F238E27FC236}">
                <a16:creationId xmlns:a16="http://schemas.microsoft.com/office/drawing/2014/main" id="{C0183E95-481B-389A-8664-C8215D4AA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854" y="2462172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02" name="모서리가 둥근 직사각형 87">
            <a:extLst>
              <a:ext uri="{FF2B5EF4-FFF2-40B4-BE49-F238E27FC236}">
                <a16:creationId xmlns:a16="http://schemas.microsoft.com/office/drawing/2014/main" id="{5A6DB174-C618-35CC-9403-FA7DF2BBE552}"/>
              </a:ext>
            </a:extLst>
          </p:cNvPr>
          <p:cNvSpPr/>
          <p:nvPr/>
        </p:nvSpPr>
        <p:spPr>
          <a:xfrm>
            <a:off x="4952042" y="2628209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03" name="Oval 113">
            <a:extLst>
              <a:ext uri="{FF2B5EF4-FFF2-40B4-BE49-F238E27FC236}">
                <a16:creationId xmlns:a16="http://schemas.microsoft.com/office/drawing/2014/main" id="{78DEEAD6-89A7-E1F6-8EC1-C98CABA92F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854" y="2610400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4</a:t>
            </a:r>
          </a:p>
        </p:txBody>
      </p:sp>
      <p:sp>
        <p:nvSpPr>
          <p:cNvPr id="104" name="Oval 113">
            <a:extLst>
              <a:ext uri="{FF2B5EF4-FFF2-40B4-BE49-F238E27FC236}">
                <a16:creationId xmlns:a16="http://schemas.microsoft.com/office/drawing/2014/main" id="{06118957-51AC-8106-F559-1776740FD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246" y="292439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16</a:t>
            </a:r>
          </a:p>
        </p:txBody>
      </p:sp>
      <p:sp>
        <p:nvSpPr>
          <p:cNvPr id="105" name="모서리가 둥근 직사각형 87">
            <a:extLst>
              <a:ext uri="{FF2B5EF4-FFF2-40B4-BE49-F238E27FC236}">
                <a16:creationId xmlns:a16="http://schemas.microsoft.com/office/drawing/2014/main" id="{B209FE42-DA78-4D1B-EBB8-EC174F7BEC58}"/>
              </a:ext>
            </a:extLst>
          </p:cNvPr>
          <p:cNvSpPr/>
          <p:nvPr/>
        </p:nvSpPr>
        <p:spPr>
          <a:xfrm>
            <a:off x="4955069" y="2939705"/>
            <a:ext cx="396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06" name="Oval 113">
            <a:extLst>
              <a:ext uri="{FF2B5EF4-FFF2-40B4-BE49-F238E27FC236}">
                <a16:creationId xmlns:a16="http://schemas.microsoft.com/office/drawing/2014/main" id="{2D457A3A-D50D-AE72-8BC5-08777AC8D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854" y="2768120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8</a:t>
            </a:r>
          </a:p>
        </p:txBody>
      </p:sp>
      <p:graphicFrame>
        <p:nvGraphicFramePr>
          <p:cNvPr id="107" name="표 106">
            <a:extLst>
              <a:ext uri="{FF2B5EF4-FFF2-40B4-BE49-F238E27FC236}">
                <a16:creationId xmlns:a16="http://schemas.microsoft.com/office/drawing/2014/main" id="{CF578277-DD45-28F1-69A7-192C66F315CD}"/>
              </a:ext>
            </a:extLst>
          </p:cNvPr>
          <p:cNvGraphicFramePr>
            <a:graphicFrameLocks noGrp="1"/>
          </p:cNvGraphicFramePr>
          <p:nvPr/>
        </p:nvGraphicFramePr>
        <p:xfrm>
          <a:off x="1628168" y="3440068"/>
          <a:ext cx="7051674" cy="2586568"/>
        </p:xfrm>
        <a:graphic>
          <a:graphicData uri="http://schemas.openxmlformats.org/drawingml/2006/table">
            <a:tbl>
              <a:tblPr/>
              <a:tblGrid>
                <a:gridCol w="212207">
                  <a:extLst>
                    <a:ext uri="{9D8B030D-6E8A-4147-A177-3AD203B41FA5}">
                      <a16:colId xmlns:a16="http://schemas.microsoft.com/office/drawing/2014/main" val="1098650934"/>
                    </a:ext>
                  </a:extLst>
                </a:gridCol>
                <a:gridCol w="2088895">
                  <a:extLst>
                    <a:ext uri="{9D8B030D-6E8A-4147-A177-3AD203B41FA5}">
                      <a16:colId xmlns:a16="http://schemas.microsoft.com/office/drawing/2014/main" val="2000499173"/>
                    </a:ext>
                  </a:extLst>
                </a:gridCol>
                <a:gridCol w="486613">
                  <a:extLst>
                    <a:ext uri="{9D8B030D-6E8A-4147-A177-3AD203B41FA5}">
                      <a16:colId xmlns:a16="http://schemas.microsoft.com/office/drawing/2014/main" val="3597598566"/>
                    </a:ext>
                  </a:extLst>
                </a:gridCol>
                <a:gridCol w="747793">
                  <a:extLst>
                    <a:ext uri="{9D8B030D-6E8A-4147-A177-3AD203B41FA5}">
                      <a16:colId xmlns:a16="http://schemas.microsoft.com/office/drawing/2014/main" val="706828168"/>
                    </a:ext>
                  </a:extLst>
                </a:gridCol>
                <a:gridCol w="212765">
                  <a:extLst>
                    <a:ext uri="{9D8B030D-6E8A-4147-A177-3AD203B41FA5}">
                      <a16:colId xmlns:a16="http://schemas.microsoft.com/office/drawing/2014/main" val="580341901"/>
                    </a:ext>
                  </a:extLst>
                </a:gridCol>
                <a:gridCol w="2072402">
                  <a:extLst>
                    <a:ext uri="{9D8B030D-6E8A-4147-A177-3AD203B41FA5}">
                      <a16:colId xmlns:a16="http://schemas.microsoft.com/office/drawing/2014/main" val="361029255"/>
                    </a:ext>
                  </a:extLst>
                </a:gridCol>
                <a:gridCol w="491391">
                  <a:extLst>
                    <a:ext uri="{9D8B030D-6E8A-4147-A177-3AD203B41FA5}">
                      <a16:colId xmlns:a16="http://schemas.microsoft.com/office/drawing/2014/main" val="3281218340"/>
                    </a:ext>
                  </a:extLst>
                </a:gridCol>
                <a:gridCol w="739608">
                  <a:extLst>
                    <a:ext uri="{9D8B030D-6E8A-4147-A177-3AD203B41FA5}">
                      <a16:colId xmlns:a16="http://schemas.microsoft.com/office/drawing/2014/main" val="32028174"/>
                    </a:ext>
                  </a:extLst>
                </a:gridCol>
              </a:tblGrid>
              <a:tr h="16677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번호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제목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기능명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번호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제목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기능명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404319"/>
                  </a:ext>
                </a:extLst>
              </a:tr>
              <a:tr h="23167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원통형 조립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활성화 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Cell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다중조회 기능 개선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검사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Data/Image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불량률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Chart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불량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Lot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 오류 수정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기능오류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관리도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416642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Defect Simulation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알람 관련 과거 양식 </a:t>
                      </a:r>
                      <a:r>
                        <a:rPr lang="ko-KR" altLang="en-US" sz="800" dirty="0" err="1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메일링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 배제 작업 진행	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프로젝트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실시간 모니터링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MR Chart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이상감지 오류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기능오류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관리도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8693279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AZS Inspection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복원 개발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Cell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추적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공초점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Data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조회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공초점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DEFECT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현황 메뉴에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공초점메뉴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불러오도록 쿼리 수정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기능오류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검사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Data/Image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5940877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관리도 고도화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프로젝트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관리도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14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코터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공정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Lane No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추가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기능개선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 err="1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RollMap</a:t>
                      </a:r>
                      <a:endParaRPr lang="ko-KR" altLang="en-US" sz="800" dirty="0">
                        <a:solidFill>
                          <a:srgbClr val="1F2533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9042953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VCT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고도화  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- VCT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최종판정 기능 개발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프로젝트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15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FDC-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eIoT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전환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 SPC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롤맵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UI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개선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프로젝트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 err="1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RollMap</a:t>
                      </a:r>
                      <a:endParaRPr lang="ko-KR" altLang="en-US" sz="800" dirty="0">
                        <a:solidFill>
                          <a:srgbClr val="1F2533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0571761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SPC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소형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DEFECT simulation SUMMARY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화면 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SPEC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이상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기능오류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실시간 모니터링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FDC-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eIoT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전환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 Solace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큐 적체 개선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프로젝트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공통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9876294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공정검사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DX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팀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]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일상점검 자동화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공통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SPC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데이터셋 변경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기능개선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MMD2</a:t>
                      </a:r>
                      <a:endParaRPr lang="ko-KR" altLang="en-US" sz="800" dirty="0">
                        <a:solidFill>
                          <a:srgbClr val="1F2533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6172900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공정검사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DX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팀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] QA </a:t>
                      </a:r>
                      <a:r>
                        <a:rPr lang="ko-KR" altLang="en-US" sz="800" dirty="0" err="1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솔라스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Alive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상태 모니터링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기능개선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공통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18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관리도 고도화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이상감지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Rule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프로젝트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관리도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1800402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VCT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고도화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 DB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형 판정 프로시저 오류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개선건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프로젝트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VCT</a:t>
                      </a:r>
                      <a:endParaRPr lang="ko-KR" altLang="en-US" sz="800" dirty="0">
                        <a:solidFill>
                          <a:srgbClr val="1F2533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19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배치 재처리 기능 적용 필요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- DB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변경 작업 대응 제거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(2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편의성개선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Help</a:t>
                      </a:r>
                      <a:endParaRPr lang="ko-KR" altLang="en-US" sz="800" dirty="0">
                        <a:solidFill>
                          <a:srgbClr val="1F2533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3059949"/>
                  </a:ext>
                </a:extLst>
              </a:tr>
              <a:tr h="24223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Legacy Pack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데이터 처리 프로시저 수정 및 </a:t>
                      </a:r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MMD2 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신규 컬럼 추가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기능개선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SPC</a:t>
                      </a:r>
                      <a:r>
                        <a:rPr lang="ko-KR" altLang="en-US" sz="800" dirty="0">
                          <a:solidFill>
                            <a:srgbClr val="1F2533"/>
                          </a:solidFill>
                          <a:effectLst/>
                          <a:latin typeface="+mn-lt"/>
                          <a:ea typeface="+mn-ea"/>
                        </a:rPr>
                        <a:t>관리도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ko-KR" altLang="en-US" sz="800" dirty="0">
                        <a:solidFill>
                          <a:srgbClr val="1F2533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298763"/>
                  </a:ext>
                </a:extLst>
              </a:tr>
            </a:tbl>
          </a:graphicData>
        </a:graphic>
      </p:graphicFrame>
      <p:sp>
        <p:nvSpPr>
          <p:cNvPr id="108" name="Oval 113">
            <a:extLst>
              <a:ext uri="{FF2B5EF4-FFF2-40B4-BE49-F238E27FC236}">
                <a16:creationId xmlns:a16="http://schemas.microsoft.com/office/drawing/2014/main" id="{031FE6F4-2EE9-B8B6-F1C4-FAAEF0F8A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4750" y="246234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13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09" name="모서리가 둥근 직사각형 87">
            <a:extLst>
              <a:ext uri="{FF2B5EF4-FFF2-40B4-BE49-F238E27FC236}">
                <a16:creationId xmlns:a16="http://schemas.microsoft.com/office/drawing/2014/main" id="{B728E509-F65E-9AEB-5628-C717E6567455}"/>
              </a:ext>
            </a:extLst>
          </p:cNvPr>
          <p:cNvSpPr/>
          <p:nvPr/>
        </p:nvSpPr>
        <p:spPr>
          <a:xfrm>
            <a:off x="5514573" y="2477648"/>
            <a:ext cx="396000" cy="108000"/>
          </a:xfrm>
          <a:prstGeom prst="roundRect">
            <a:avLst/>
          </a:prstGeom>
          <a:solidFill>
            <a:srgbClr val="FFFFCC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10" name="Oval 113">
            <a:extLst>
              <a:ext uri="{FF2B5EF4-FFF2-40B4-BE49-F238E27FC236}">
                <a16:creationId xmlns:a16="http://schemas.microsoft.com/office/drawing/2014/main" id="{C22F7D3C-97F4-784B-5E87-A9520867B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568" y="246234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3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11" name="모서리가 둥근 직사각형 87">
            <a:extLst>
              <a:ext uri="{FF2B5EF4-FFF2-40B4-BE49-F238E27FC236}">
                <a16:creationId xmlns:a16="http://schemas.microsoft.com/office/drawing/2014/main" id="{63E53BA8-8F10-8FEC-3283-51E285B18DDF}"/>
              </a:ext>
            </a:extLst>
          </p:cNvPr>
          <p:cNvSpPr/>
          <p:nvPr/>
        </p:nvSpPr>
        <p:spPr>
          <a:xfrm>
            <a:off x="6071391" y="2477648"/>
            <a:ext cx="396000" cy="108000"/>
          </a:xfrm>
          <a:prstGeom prst="roundRect">
            <a:avLst/>
          </a:prstGeom>
          <a:solidFill>
            <a:srgbClr val="FFFFCC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12" name="Oval 113">
            <a:extLst>
              <a:ext uri="{FF2B5EF4-FFF2-40B4-BE49-F238E27FC236}">
                <a16:creationId xmlns:a16="http://schemas.microsoft.com/office/drawing/2014/main" id="{12CF984F-4338-BEC6-B12A-B9FD14BD5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9529" y="246234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4</a:t>
            </a:r>
          </a:p>
        </p:txBody>
      </p:sp>
      <p:sp>
        <p:nvSpPr>
          <p:cNvPr id="113" name="모서리가 둥근 직사각형 87">
            <a:extLst>
              <a:ext uri="{FF2B5EF4-FFF2-40B4-BE49-F238E27FC236}">
                <a16:creationId xmlns:a16="http://schemas.microsoft.com/office/drawing/2014/main" id="{ABF74D72-E606-6AF8-37E4-C36671AA91CF}"/>
              </a:ext>
            </a:extLst>
          </p:cNvPr>
          <p:cNvSpPr/>
          <p:nvPr/>
        </p:nvSpPr>
        <p:spPr>
          <a:xfrm>
            <a:off x="6619352" y="2477648"/>
            <a:ext cx="396000" cy="108000"/>
          </a:xfrm>
          <a:prstGeom prst="roundRect">
            <a:avLst/>
          </a:prstGeom>
          <a:solidFill>
            <a:srgbClr val="FFFFCC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4D86A89B-C76D-10D8-01B6-D3400C731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5951" y="246234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14</a:t>
            </a:r>
          </a:p>
        </p:txBody>
      </p:sp>
      <p:sp>
        <p:nvSpPr>
          <p:cNvPr id="115" name="모서리가 둥근 직사각형 87">
            <a:extLst>
              <a:ext uri="{FF2B5EF4-FFF2-40B4-BE49-F238E27FC236}">
                <a16:creationId xmlns:a16="http://schemas.microsoft.com/office/drawing/2014/main" id="{5DD50C72-AC2C-4E9C-5851-597058C6A37F}"/>
              </a:ext>
            </a:extLst>
          </p:cNvPr>
          <p:cNvSpPr/>
          <p:nvPr/>
        </p:nvSpPr>
        <p:spPr>
          <a:xfrm>
            <a:off x="7175774" y="2477648"/>
            <a:ext cx="396000" cy="108000"/>
          </a:xfrm>
          <a:prstGeom prst="roundRect">
            <a:avLst/>
          </a:prstGeom>
          <a:solidFill>
            <a:srgbClr val="FFFFCC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16" name="Oval 113">
            <a:extLst>
              <a:ext uri="{FF2B5EF4-FFF2-40B4-BE49-F238E27FC236}">
                <a16:creationId xmlns:a16="http://schemas.microsoft.com/office/drawing/2014/main" id="{1E348E2C-BFBE-4543-87B8-1E7F3A668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9529" y="260740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24</a:t>
            </a:r>
          </a:p>
        </p:txBody>
      </p:sp>
      <p:sp>
        <p:nvSpPr>
          <p:cNvPr id="117" name="모서리가 둥근 직사각형 87">
            <a:extLst>
              <a:ext uri="{FF2B5EF4-FFF2-40B4-BE49-F238E27FC236}">
                <a16:creationId xmlns:a16="http://schemas.microsoft.com/office/drawing/2014/main" id="{67B4227C-A4A2-232D-D848-29A49B0E156F}"/>
              </a:ext>
            </a:extLst>
          </p:cNvPr>
          <p:cNvSpPr/>
          <p:nvPr/>
        </p:nvSpPr>
        <p:spPr>
          <a:xfrm>
            <a:off x="6619352" y="2622706"/>
            <a:ext cx="396000" cy="108000"/>
          </a:xfrm>
          <a:prstGeom prst="roundRect">
            <a:avLst/>
          </a:prstGeom>
          <a:solidFill>
            <a:srgbClr val="FFFFCC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18" name="Oval 113">
            <a:extLst>
              <a:ext uri="{FF2B5EF4-FFF2-40B4-BE49-F238E27FC236}">
                <a16:creationId xmlns:a16="http://schemas.microsoft.com/office/drawing/2014/main" id="{BE7589BA-B33B-8129-ECC2-DBDF26E97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519" y="246234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12</a:t>
            </a:r>
          </a:p>
        </p:txBody>
      </p:sp>
      <p:sp>
        <p:nvSpPr>
          <p:cNvPr id="119" name="모서리가 둥근 직사각형 87">
            <a:extLst>
              <a:ext uri="{FF2B5EF4-FFF2-40B4-BE49-F238E27FC236}">
                <a16:creationId xmlns:a16="http://schemas.microsoft.com/office/drawing/2014/main" id="{FB13D03C-43F2-54D2-91F5-B862114201D9}"/>
              </a:ext>
            </a:extLst>
          </p:cNvPr>
          <p:cNvSpPr/>
          <p:nvPr/>
        </p:nvSpPr>
        <p:spPr>
          <a:xfrm>
            <a:off x="7720342" y="2477648"/>
            <a:ext cx="396000" cy="108000"/>
          </a:xfrm>
          <a:prstGeom prst="roundRect">
            <a:avLst/>
          </a:prstGeom>
          <a:solidFill>
            <a:srgbClr val="FFFFCC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20" name="Oval 113">
            <a:extLst>
              <a:ext uri="{FF2B5EF4-FFF2-40B4-BE49-F238E27FC236}">
                <a16:creationId xmlns:a16="http://schemas.microsoft.com/office/drawing/2014/main" id="{13947079-2C2A-2636-2F11-8469C3750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3121" y="246234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9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21" name="모서리가 둥근 직사각형 87">
            <a:extLst>
              <a:ext uri="{FF2B5EF4-FFF2-40B4-BE49-F238E27FC236}">
                <a16:creationId xmlns:a16="http://schemas.microsoft.com/office/drawing/2014/main" id="{B2EE548C-6DEC-35C9-6874-D048CB522016}"/>
              </a:ext>
            </a:extLst>
          </p:cNvPr>
          <p:cNvSpPr/>
          <p:nvPr/>
        </p:nvSpPr>
        <p:spPr>
          <a:xfrm>
            <a:off x="8272944" y="2477648"/>
            <a:ext cx="396000" cy="108000"/>
          </a:xfrm>
          <a:prstGeom prst="roundRect">
            <a:avLst/>
          </a:prstGeom>
          <a:solidFill>
            <a:srgbClr val="FFFFCC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</p:spTree>
    <p:extLst>
      <p:ext uri="{BB962C8B-B14F-4D97-AF65-F5344CB8AC3E}">
        <p14:creationId xmlns:p14="http://schemas.microsoft.com/office/powerpoint/2010/main" val="1161295054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76503"/>
          <a:ext cx="9725078" cy="58764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508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2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5200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>
                          <a:latin typeface="+mn-lt"/>
                          <a:ea typeface="+mn-ea"/>
                        </a:rPr>
                        <a:t>신</a:t>
                      </a:r>
                      <a:r>
                        <a:rPr lang="en-US" altLang="ko-KR" sz="1000" b="0"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 b="0">
                          <a:latin typeface="+mn-lt"/>
                          <a:ea typeface="+mn-ea"/>
                        </a:rPr>
                        <a:t>증설라인</a:t>
                      </a:r>
                      <a:endParaRPr lang="en-US" altLang="ko-KR" sz="1000" b="0">
                        <a:solidFill>
                          <a:prstClr val="black"/>
                        </a:solidFill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err="1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셀추적</a:t>
                      </a:r>
                      <a:r>
                        <a:rPr lang="ko-KR" altLang="en-US" sz="1000" b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 구축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SWP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NFF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MP2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OC5 AR TT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마더라인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듀얼라인 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ESNJ Alberta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ESNJ ZZS 2.0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 Lansing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ESHG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(W51)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법인별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일정에 맞추어 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증설라인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구축 진행 중입니다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구축 목적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증설라인 샘플일정에 맞춰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시스템을 구축함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(SPC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 EDC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설비데이터수집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266700" lvl="0" indent="-171450" algn="l" defTabSz="914400" rtl="0" eaLnBrk="1" latinLnBrk="1" hangingPunct="1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OC 2</a:t>
                      </a:r>
                      <a:r>
                        <a:rPr lang="ko-KR" altLang="en-US" sz="9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공장 원통형 </a:t>
                      </a: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46xx (</a:t>
                      </a:r>
                      <a:r>
                        <a:rPr lang="ko-KR" altLang="en-US" sz="900" b="1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듀얼라인</a:t>
                      </a: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</a:p>
                    <a:p>
                      <a:pPr marL="95250" lvl="0" indent="171450" algn="l" defTabSz="914400" rtl="0" eaLnBrk="1" latinLnBrk="1" hangingPunct="1">
                        <a:buFont typeface="Arial" panose="020B0604020202020204" pitchFamily="34" charset="0"/>
                        <a:buNone/>
                        <a:defRPr/>
                      </a:pP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와인더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설비데이터 수집용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VM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서버 세팅 완료하였으며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와인더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셋업 일정에 맞추어 수집항목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EDC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등록 예정입니다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(~11/28)</a:t>
                      </a:r>
                    </a:p>
                    <a:p>
                      <a:pPr marL="268288" lvl="0" indent="-1588" algn="l" defTabSz="914400" rtl="0" eaLnBrk="1" latinLnBrk="1" hangingPunct="1">
                        <a:buFont typeface="Arial" panose="020B0604020202020204" pitchFamily="34" charset="0"/>
                        <a:buNone/>
                        <a:defRPr/>
                      </a:pP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Winder Lot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생산이력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MES I/F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적용 완료하였으며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(12/01), </a:t>
                      </a:r>
                      <a:r>
                        <a:rPr lang="en-US" altLang="ko-KR" sz="9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Ass’y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ECS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개발 및 모델링 중 입니다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(~12/10)</a:t>
                      </a:r>
                      <a:b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JRS~LFW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설비가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FAT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지연으로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12/14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 입고 예정이며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이에 따라 프로젝트 기간을 연장하여 대응하겠습니다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(~’26.02)</a:t>
                      </a:r>
                    </a:p>
                    <a:p>
                      <a:pPr marL="266700" lvl="0" indent="-171450" algn="l" defTabSz="914400" rtl="0" eaLnBrk="1" latinLnBrk="1" hangingPunct="1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</a:rPr>
                        <a:t>OC5 AR TT Pilot</a:t>
                      </a:r>
                      <a:endParaRPr lang="en-US" altLang="ko-KR" sz="9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266700" lvl="0" indent="0" algn="l" defTabSz="914400" rtl="0" eaLnBrk="1" latinLnBrk="1" hangingPunct="1">
                        <a:buFont typeface="Arial" panose="020B0604020202020204" pitchFamily="34" charset="0"/>
                        <a:buNone/>
                        <a:defRPr/>
                      </a:pP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다빈치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I/F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데이터에서 일반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AZS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와 각형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AZS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구분처리를 위한 구분자가 필요하여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SPC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셀추적테이블에 각형 전용구분자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(Sub Facility Code : AZS_TT)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를 </a:t>
                      </a:r>
                      <a:r>
                        <a:rPr lang="ko-KR" altLang="en-US" sz="9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추가적용하였습니다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(11/25)</a:t>
                      </a:r>
                    </a:p>
                    <a:p>
                      <a:pPr marL="268288" lvl="0" indent="-1588" algn="l" defTabSz="914400" rtl="0" eaLnBrk="1" latinLnBrk="1" hangingPunct="1">
                        <a:buFontTx/>
                        <a:buChar char="-"/>
                        <a:defRPr/>
                      </a:pP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AZS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공정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Cassette In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Out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위치의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Cell List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가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Cell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인식률 화면에 조회되지 않는 현상이 있어 </a:t>
                      </a:r>
                      <a:r>
                        <a:rPr lang="ko-KR" altLang="en-US" sz="9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유저쿼리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분기처리 요청하여 조치 완료하였습니다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(12/02)</a:t>
                      </a:r>
                      <a:b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샘플 전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DTC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테스트데이터 생성을 요청하여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PKG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내에서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3-stack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추적이 정상적으로 되는지 확인하고 일부 개선점을 확인하였습니다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(12/09)</a:t>
                      </a:r>
                    </a:p>
                    <a:p>
                      <a:pPr marL="268288" lvl="0" indent="-1588" algn="l" defTabSz="914400" rtl="0" eaLnBrk="1" latinLnBrk="1" hangingPunct="1">
                        <a:buFontTx/>
                        <a:buChar char="-"/>
                        <a:defRPr/>
                      </a:pPr>
                      <a:r>
                        <a:rPr lang="ko-KR" altLang="en-US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변경된 샘플일정 </a:t>
                      </a:r>
                      <a:r>
                        <a:rPr lang="en-US" altLang="ko-KR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12/17</a:t>
                      </a:r>
                      <a:r>
                        <a:rPr lang="ko-KR" altLang="en-US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에 맞추어 셀별 </a:t>
                      </a:r>
                      <a:r>
                        <a:rPr lang="en-US" altLang="ko-KR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NG </a:t>
                      </a:r>
                      <a:r>
                        <a:rPr lang="ko-KR" altLang="en-US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정보보고 및 </a:t>
                      </a:r>
                      <a:r>
                        <a:rPr lang="en-US" altLang="ko-KR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PKG </a:t>
                      </a:r>
                      <a:r>
                        <a:rPr lang="ko-KR" altLang="en-US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데이터 등 </a:t>
                      </a:r>
                      <a:r>
                        <a:rPr lang="ko-KR" altLang="en-US" sz="900" b="0" kern="1200" dirty="0" err="1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lang="ko-KR" altLang="en-US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데이터 점검 진행중입니다</a:t>
                      </a:r>
                      <a:r>
                        <a:rPr lang="en-US" altLang="ko-KR" sz="900" b="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 (~12/19) 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ESHG</a:t>
                      </a:r>
                      <a:endParaRPr lang="en-US" altLang="ko-KR" sz="900" b="1" kern="1200" dirty="0">
                        <a:solidFill>
                          <a:srgbClr val="0000F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95250" marR="0" lvl="0" indent="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AZS inspection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순차복원 로직 적용 예정이며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(12/16),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과거 </a:t>
                      </a:r>
                      <a:r>
                        <a:rPr kumimoji="0" lang="ko-KR" altLang="en-US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미인식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ID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복원소급 적용반영에 따른 다빈치 표준화테이블 영향도 검토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중에 있습니다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9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ESMI/MSMIL</a:t>
                      </a:r>
                    </a:p>
                    <a:p>
                      <a:pPr marL="95250" marR="0" lvl="0" indent="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MI/MIL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EDC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복구 후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SPC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샘플링데이터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I/F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테스트 완료하였으며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(11/14),  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전송 누락된 구간의 메시지를 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SPC</a:t>
                      </a:r>
                      <a:r>
                        <a:rPr lang="ko-KR" altLang="en-US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로 재전송 완료 후 모니터링 중입니다</a:t>
                      </a:r>
                      <a:r>
                        <a:rPr lang="en-US" altLang="ko-KR" sz="9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 (~11/21) </a:t>
                      </a:r>
                    </a:p>
                    <a:p>
                      <a:pPr marL="266700" marR="0" lvl="0" indent="-17145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kumimoji="0" lang="ko-KR" altLang="en-US" sz="9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기타</a:t>
                      </a:r>
                      <a:endParaRPr kumimoji="0" lang="en-US" altLang="ko-KR" sz="9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95250" marR="0" lvl="0" indent="176213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EDC/ECS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메신저 전송 알람을 </a:t>
                      </a:r>
                      <a:r>
                        <a:rPr kumimoji="0" lang="ko-KR" altLang="en-US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구메신저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→ </a:t>
                      </a:r>
                      <a:r>
                        <a:rPr kumimoji="0" lang="ko-KR" altLang="en-US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신규메신저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en-US" altLang="ko-KR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mTalk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전법인 전환  예정이고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전환 시 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SMS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전송기능 반영하겠습니다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(~12/16) 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박정우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이주민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635063" cy="215444"/>
          </a:xfrm>
          <a:prstGeom prst="rect">
            <a:avLst/>
          </a:prstGeom>
        </p:spPr>
        <p:txBody>
          <a:bodyPr wrap="none" lIns="0" tIns="0" rIns="0" bIns="0">
            <a:no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■ </a:t>
            </a:r>
            <a:r>
              <a:rPr lang="ko-KR" altLang="en-US" sz="1400" b="1">
                <a:latin typeface="+mj-ea"/>
              </a:rPr>
              <a:t>신</a:t>
            </a:r>
            <a:r>
              <a:rPr lang="en-US" altLang="ko-KR" sz="1400" b="1">
                <a:latin typeface="+mj-ea"/>
              </a:rPr>
              <a:t>/</a:t>
            </a:r>
            <a:r>
              <a:rPr lang="ko-KR" altLang="en-US" sz="1400" b="1">
                <a:latin typeface="+mj-ea"/>
              </a:rPr>
              <a:t>증설라인</a:t>
            </a:r>
            <a:r>
              <a:rPr lang="ko-KR" altLang="en-US" sz="1400" b="1">
                <a:solidFill>
                  <a:prstClr val="black"/>
                </a:solidFill>
                <a:latin typeface="+mj-ea"/>
                <a:cs typeface="Malgun Gothic Semilight" panose="020B0502040204020203" pitchFamily="50" charset="-127"/>
              </a:rPr>
              <a:t> 셀추적 구축</a:t>
            </a:r>
            <a:endParaRPr lang="en-US" altLang="ko-KR" sz="1400" b="1">
              <a:latin typeface="+mj-ea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454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8061950" y="670208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solidFill>
                  <a:schemeClr val="tx1"/>
                </a:solidFill>
                <a:latin typeface="+mj-lt"/>
                <a:ea typeface="+mj-ea"/>
                <a:cs typeface="Malgun Gothic Semilight"/>
              </a:rPr>
              <a:t>업데이트 시간 </a:t>
            </a:r>
            <a:r>
              <a:rPr lang="en-US" altLang="ko-KR" dirty="0">
                <a:solidFill>
                  <a:schemeClr val="tx1"/>
                </a:solidFill>
                <a:latin typeface="+mj-lt"/>
                <a:ea typeface="+mj-ea"/>
                <a:cs typeface="Malgun Gothic Semilight"/>
              </a:rPr>
              <a:t>: 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12/16(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 10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시</a:t>
            </a:r>
            <a:endParaRPr lang="ko-KR" altLang="en-US" dirty="0">
              <a:solidFill>
                <a:schemeClr val="tx1"/>
              </a:solidFill>
              <a:latin typeface="+mj-lt"/>
              <a:ea typeface="+mj-ea"/>
              <a:cs typeface="Malgun Gothic Semilight"/>
            </a:endParaRP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792919" y="500931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이주민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33" name="내용 개체 틀 20">
            <a:extLst>
              <a:ext uri="{FF2B5EF4-FFF2-40B4-BE49-F238E27FC236}">
                <a16:creationId xmlns:a16="http://schemas.microsoft.com/office/drawing/2014/main" id="{224AFF77-19FF-47EC-83D0-50CE9B426628}"/>
              </a:ext>
            </a:extLst>
          </p:cNvPr>
          <p:cNvSpPr txBox="1">
            <a:spLocks/>
          </p:cNvSpPr>
          <p:nvPr/>
        </p:nvSpPr>
        <p:spPr>
          <a:xfrm>
            <a:off x="5620354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DX-#8,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34" name="Group 986">
            <a:extLst>
              <a:ext uri="{FF2B5EF4-FFF2-40B4-BE49-F238E27FC236}">
                <a16:creationId xmlns:a16="http://schemas.microsoft.com/office/drawing/2014/main" id="{33901926-F1E8-4801-A21B-AD1370793F71}"/>
              </a:ext>
            </a:extLst>
          </p:cNvPr>
          <p:cNvGraphicFramePr>
            <a:graphicFrameLocks noGrp="1"/>
          </p:cNvGraphicFramePr>
          <p:nvPr/>
        </p:nvGraphicFramePr>
        <p:xfrm>
          <a:off x="1637014" y="1967318"/>
          <a:ext cx="7365600" cy="2249032"/>
        </p:xfrm>
        <a:graphic>
          <a:graphicData uri="http://schemas.openxmlformats.org/drawingml/2006/table">
            <a:tbl>
              <a:tblPr/>
              <a:tblGrid>
                <a:gridCol w="324000">
                  <a:extLst>
                    <a:ext uri="{9D8B030D-6E8A-4147-A177-3AD203B41FA5}">
                      <a16:colId xmlns:a16="http://schemas.microsoft.com/office/drawing/2014/main" val="977375500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1365114739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3551264532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3383282952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1298559629"/>
                    </a:ext>
                  </a:extLst>
                </a:gridCol>
                <a:gridCol w="586800">
                  <a:extLst>
                    <a:ext uri="{9D8B030D-6E8A-4147-A177-3AD203B41FA5}">
                      <a16:colId xmlns:a16="http://schemas.microsoft.com/office/drawing/2014/main" val="4197682393"/>
                    </a:ext>
                  </a:extLst>
                </a:gridCol>
              </a:tblGrid>
              <a:tr h="18574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구분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1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’25</a:t>
                      </a:r>
                      <a:r>
                        <a:rPr kumimoji="1" lang="ko-KR" altLang="en-US" sz="900" b="1" i="0" u="none" strike="noStrike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8574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1</a:t>
                      </a:r>
                      <a:r>
                        <a:rPr kumimoji="1" lang="ko-KR" altLang="en-US" sz="900" b="1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3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9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900" b="1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900" b="1" i="0" u="none" strike="noStrike" kern="1200" cap="none" spc="-7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775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kern="1200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900" b="1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1740372"/>
                  </a:ext>
                </a:extLst>
              </a:tr>
            </a:tbl>
          </a:graphicData>
        </a:graphic>
      </p:graphicFrame>
      <p:sp>
        <p:nvSpPr>
          <p:cNvPr id="35" name="모서리가 둥근 직사각형 87">
            <a:extLst>
              <a:ext uri="{FF2B5EF4-FFF2-40B4-BE49-F238E27FC236}">
                <a16:creationId xmlns:a16="http://schemas.microsoft.com/office/drawing/2014/main" id="{ED4C1B32-9076-4DF3-90A2-463802235DFC}"/>
              </a:ext>
            </a:extLst>
          </p:cNvPr>
          <p:cNvSpPr/>
          <p:nvPr/>
        </p:nvSpPr>
        <p:spPr>
          <a:xfrm>
            <a:off x="2028915" y="3950548"/>
            <a:ext cx="2016000" cy="104964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MI 2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동 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(ESS)</a:t>
            </a:r>
            <a:endParaRPr kumimoji="1" lang="ko-KR" altLang="en-US" sz="7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36" name="모서리가 둥근 직사각형 87">
            <a:extLst>
              <a:ext uri="{FF2B5EF4-FFF2-40B4-BE49-F238E27FC236}">
                <a16:creationId xmlns:a16="http://schemas.microsoft.com/office/drawing/2014/main" id="{1ACE8E8C-8E7F-4B9F-AC36-C3C66361AA42}"/>
              </a:ext>
            </a:extLst>
          </p:cNvPr>
          <p:cNvSpPr/>
          <p:nvPr/>
        </p:nvSpPr>
        <p:spPr>
          <a:xfrm>
            <a:off x="2034260" y="3436934"/>
            <a:ext cx="1713894" cy="105428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HD </a:t>
            </a:r>
            <a:r>
              <a:rPr kumimoji="1" lang="ko-KR" altLang="en-US" sz="700" b="1" kern="0" err="1">
                <a:solidFill>
                  <a:schemeClr val="bg1"/>
                </a:solidFill>
                <a:latin typeface="+mj-ea"/>
                <a:ea typeface="+mj-ea"/>
                <a:cs typeface="Arial"/>
              </a:rPr>
              <a:t>셀추적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구축                     </a:t>
            </a:r>
          </a:p>
        </p:txBody>
      </p:sp>
      <p:sp>
        <p:nvSpPr>
          <p:cNvPr id="38" name="Oval 113">
            <a:extLst>
              <a:ext uri="{FF2B5EF4-FFF2-40B4-BE49-F238E27FC236}">
                <a16:creationId xmlns:a16="http://schemas.microsoft.com/office/drawing/2014/main" id="{4AAFE851-9C0D-4403-9858-33D09D54B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102" y="3414888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20</a:t>
            </a:r>
          </a:p>
        </p:txBody>
      </p:sp>
      <p:sp>
        <p:nvSpPr>
          <p:cNvPr id="40" name="모서리가 둥근 직사각형 87">
            <a:extLst>
              <a:ext uri="{FF2B5EF4-FFF2-40B4-BE49-F238E27FC236}">
                <a16:creationId xmlns:a16="http://schemas.microsoft.com/office/drawing/2014/main" id="{BFA35C08-A584-410C-A33B-6D9882DC4F91}"/>
              </a:ext>
            </a:extLst>
          </p:cNvPr>
          <p:cNvSpPr/>
          <p:nvPr/>
        </p:nvSpPr>
        <p:spPr>
          <a:xfrm>
            <a:off x="2031795" y="3786182"/>
            <a:ext cx="2304000" cy="104964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MI Lansing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                          </a:t>
            </a:r>
          </a:p>
        </p:txBody>
      </p:sp>
      <p:sp>
        <p:nvSpPr>
          <p:cNvPr id="41" name="Oval 113">
            <a:extLst>
              <a:ext uri="{FF2B5EF4-FFF2-40B4-BE49-F238E27FC236}">
                <a16:creationId xmlns:a16="http://schemas.microsoft.com/office/drawing/2014/main" id="{301635E1-633A-4405-80CB-BED87299F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0763" y="3763904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25</a:t>
            </a:r>
          </a:p>
        </p:txBody>
      </p:sp>
      <p:sp>
        <p:nvSpPr>
          <p:cNvPr id="42" name="모서리가 둥근 직사각형 87">
            <a:extLst>
              <a:ext uri="{FF2B5EF4-FFF2-40B4-BE49-F238E27FC236}">
                <a16:creationId xmlns:a16="http://schemas.microsoft.com/office/drawing/2014/main" id="{6F4AD524-C039-4976-9F60-665E29AF1CC6}"/>
              </a:ext>
            </a:extLst>
          </p:cNvPr>
          <p:cNvSpPr/>
          <p:nvPr/>
        </p:nvSpPr>
        <p:spPr>
          <a:xfrm>
            <a:off x="4355144" y="4097373"/>
            <a:ext cx="2293213" cy="105428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HG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</a:t>
            </a:r>
            <a:r>
              <a:rPr kumimoji="1" lang="ko-KR" altLang="en-US" sz="700" b="1" kern="0" err="1">
                <a:solidFill>
                  <a:schemeClr val="bg1"/>
                </a:solidFill>
                <a:latin typeface="+mj-ea"/>
                <a:ea typeface="+mj-ea"/>
                <a:cs typeface="Arial"/>
              </a:rPr>
              <a:t>셀추적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구축</a:t>
            </a:r>
          </a:p>
        </p:txBody>
      </p:sp>
      <p:sp>
        <p:nvSpPr>
          <p:cNvPr id="43" name="Oval 113">
            <a:extLst>
              <a:ext uri="{FF2B5EF4-FFF2-40B4-BE49-F238E27FC236}">
                <a16:creationId xmlns:a16="http://schemas.microsoft.com/office/drawing/2014/main" id="{CBDDC52D-82CA-4F37-9FFC-A44D815E8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674" y="4075535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31</a:t>
            </a:r>
          </a:p>
        </p:txBody>
      </p:sp>
      <p:sp>
        <p:nvSpPr>
          <p:cNvPr id="44" name="모서리가 둥근 직사각형 87">
            <a:extLst>
              <a:ext uri="{FF2B5EF4-FFF2-40B4-BE49-F238E27FC236}">
                <a16:creationId xmlns:a16="http://schemas.microsoft.com/office/drawing/2014/main" id="{2D42C953-C007-41CB-923F-1BE55AA39705}"/>
              </a:ext>
            </a:extLst>
          </p:cNvPr>
          <p:cNvSpPr/>
          <p:nvPr/>
        </p:nvSpPr>
        <p:spPr>
          <a:xfrm>
            <a:off x="2032144" y="2412432"/>
            <a:ext cx="2290630" cy="105428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OC2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공장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SWP</a:t>
            </a:r>
            <a:endParaRPr kumimoji="1" lang="ko-KR" altLang="en-US" sz="7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45" name="Oval 113">
            <a:extLst>
              <a:ext uri="{FF2B5EF4-FFF2-40B4-BE49-F238E27FC236}">
                <a16:creationId xmlns:a16="http://schemas.microsoft.com/office/drawing/2014/main" id="{AA83DA55-769F-464B-A1B4-01462C276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6085" y="2386928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7</a:t>
            </a:r>
          </a:p>
        </p:txBody>
      </p:sp>
      <p:sp>
        <p:nvSpPr>
          <p:cNvPr id="46" name="모서리가 둥근 직사각형 124">
            <a:extLst>
              <a:ext uri="{FF2B5EF4-FFF2-40B4-BE49-F238E27FC236}">
                <a16:creationId xmlns:a16="http://schemas.microsoft.com/office/drawing/2014/main" id="{735685C3-0EC1-436F-97DB-43153F3C6F89}"/>
              </a:ext>
            </a:extLst>
          </p:cNvPr>
          <p:cNvSpPr/>
          <p:nvPr/>
        </p:nvSpPr>
        <p:spPr>
          <a:xfrm>
            <a:off x="1670307" y="2370188"/>
            <a:ext cx="269070" cy="635735"/>
          </a:xfrm>
          <a:prstGeom prst="roundRect">
            <a:avLst/>
          </a:prstGeom>
          <a:solidFill>
            <a:schemeClr val="tx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 err="1">
                <a:solidFill>
                  <a:prstClr val="white"/>
                </a:solidFill>
                <a:latin typeface="Arial Narrow" panose="020B0606020202030204" pitchFamily="34" charset="0"/>
                <a:ea typeface="+mj-ea"/>
                <a:cs typeface="Arial" pitchFamily="34" charset="0"/>
              </a:rPr>
              <a:t>오창</a:t>
            </a:r>
            <a:endParaRPr kumimoji="1" lang="en-US" altLang="ko-KR" sz="800" b="1" kern="0">
              <a:solidFill>
                <a:prstClr val="white"/>
              </a:solidFill>
              <a:latin typeface="Arial Narrow" panose="020B0606020202030204" pitchFamily="34" charset="0"/>
              <a:ea typeface="+mj-ea"/>
              <a:cs typeface="Arial" pitchFamily="34" charset="0"/>
            </a:endParaRPr>
          </a:p>
        </p:txBody>
      </p:sp>
      <p:sp>
        <p:nvSpPr>
          <p:cNvPr id="47" name="모서리가 둥근 직사각형 124">
            <a:extLst>
              <a:ext uri="{FF2B5EF4-FFF2-40B4-BE49-F238E27FC236}">
                <a16:creationId xmlns:a16="http://schemas.microsoft.com/office/drawing/2014/main" id="{BA93296C-144C-43B7-8EBE-C7AC0BA580A7}"/>
              </a:ext>
            </a:extLst>
          </p:cNvPr>
          <p:cNvSpPr/>
          <p:nvPr/>
        </p:nvSpPr>
        <p:spPr>
          <a:xfrm>
            <a:off x="1670307" y="3422156"/>
            <a:ext cx="269070" cy="733801"/>
          </a:xfrm>
          <a:prstGeom prst="roundRect">
            <a:avLst/>
          </a:prstGeom>
          <a:solidFill>
            <a:schemeClr val="tx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>
                <a:solidFill>
                  <a:prstClr val="white"/>
                </a:solidFill>
                <a:latin typeface="Arial Narrow" panose="020B0606020202030204" pitchFamily="34" charset="0"/>
                <a:ea typeface="+mj-ea"/>
                <a:cs typeface="Arial" pitchFamily="34" charset="0"/>
              </a:rPr>
              <a:t>북미</a:t>
            </a:r>
            <a:endParaRPr kumimoji="1" lang="en-US" altLang="ko-KR" sz="800" b="1" kern="0">
              <a:solidFill>
                <a:prstClr val="white"/>
              </a:solidFill>
              <a:latin typeface="Arial Narrow" panose="020B0606020202030204" pitchFamily="34" charset="0"/>
              <a:ea typeface="+mj-ea"/>
              <a:cs typeface="Arial" pitchFamily="34" charset="0"/>
            </a:endParaRPr>
          </a:p>
        </p:txBody>
      </p:sp>
      <p:sp>
        <p:nvSpPr>
          <p:cNvPr id="48" name="Oval 113">
            <a:extLst>
              <a:ext uri="{FF2B5EF4-FFF2-40B4-BE49-F238E27FC236}">
                <a16:creationId xmlns:a16="http://schemas.microsoft.com/office/drawing/2014/main" id="{38D6C0A9-9087-44A1-AB08-D1EF70400F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6710" y="392519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24</a:t>
            </a:r>
          </a:p>
        </p:txBody>
      </p:sp>
      <p:sp>
        <p:nvSpPr>
          <p:cNvPr id="49" name="Oval 113">
            <a:extLst>
              <a:ext uri="{FF2B5EF4-FFF2-40B4-BE49-F238E27FC236}">
                <a16:creationId xmlns:a16="http://schemas.microsoft.com/office/drawing/2014/main" id="{D8F10F2F-1688-4095-B387-93460C8C0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5073" y="1785869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endParaRPr kumimoji="1" lang="en-US" altLang="ko-KR" sz="800" b="1" kern="0">
              <a:latin typeface="Arial Narrow" panose="020B0606020202030204" pitchFamily="34" charset="0"/>
              <a:ea typeface="+mj-ea"/>
              <a:cs typeface="Arial"/>
            </a:endParaRPr>
          </a:p>
        </p:txBody>
      </p:sp>
      <p:sp>
        <p:nvSpPr>
          <p:cNvPr id="50" name="Oval 113">
            <a:extLst>
              <a:ext uri="{FF2B5EF4-FFF2-40B4-BE49-F238E27FC236}">
                <a16:creationId xmlns:a16="http://schemas.microsoft.com/office/drawing/2014/main" id="{8AA8E3FF-8E55-451C-8663-47D9ED36E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0873" y="1785869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endParaRPr kumimoji="1" lang="en-US" altLang="ko-KR" sz="800" b="1" kern="0">
              <a:latin typeface="Arial Narrow" panose="020B0606020202030204" pitchFamily="34" charset="0"/>
              <a:ea typeface="+mj-ea"/>
              <a:cs typeface="Arial"/>
            </a:endParaRPr>
          </a:p>
        </p:txBody>
      </p:sp>
      <p:sp>
        <p:nvSpPr>
          <p:cNvPr id="51" name="Text Box 5386">
            <a:extLst>
              <a:ext uri="{FF2B5EF4-FFF2-40B4-BE49-F238E27FC236}">
                <a16:creationId xmlns:a16="http://schemas.microsoft.com/office/drawing/2014/main" id="{2D133879-AAB4-4C68-B11E-CE95454B1B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6303" y="1800978"/>
            <a:ext cx="48571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 anchorCtr="0">
            <a:noAutofit/>
          </a:bodyPr>
          <a:lstStyle>
            <a:defPPr>
              <a:defRPr lang="ko-KR"/>
            </a:defPPr>
            <a:lvl1pPr algn="ctr" eaLnBrk="1" hangingPunct="1">
              <a:defRPr sz="800">
                <a:solidFill>
                  <a:prstClr val="black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 Unicode MS" panose="020B0604020202020204" pitchFamily="50" charset="-127"/>
              </a:defRPr>
            </a:lvl1pPr>
            <a:lvl2pPr marL="742950" indent="-285750" eaLnBrk="0" hangingPunct="0">
              <a:defRPr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9pPr>
          </a:lstStyle>
          <a:p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시스템 오픈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2" name="Text Box 5386">
            <a:extLst>
              <a:ext uri="{FF2B5EF4-FFF2-40B4-BE49-F238E27FC236}">
                <a16:creationId xmlns:a16="http://schemas.microsoft.com/office/drawing/2014/main" id="{17E06F75-73EF-4BCD-A721-244031254F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1187" y="1800978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 anchorCtr="0">
            <a:noAutofit/>
          </a:bodyPr>
          <a:lstStyle>
            <a:defPPr>
              <a:defRPr lang="ko-KR"/>
            </a:defPPr>
            <a:lvl1pPr algn="ctr" eaLnBrk="1" hangingPunct="1">
              <a:defRPr sz="800">
                <a:solidFill>
                  <a:prstClr val="black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 Unicode MS" panose="020B0604020202020204" pitchFamily="50" charset="-127"/>
              </a:defRPr>
            </a:lvl1pPr>
            <a:lvl2pPr marL="742950" indent="-285750" eaLnBrk="0" hangingPunct="0">
              <a:defRPr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9pPr>
          </a:lstStyle>
          <a:p>
            <a:r>
              <a:rPr lang="ko-KR" altLang="en-US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샘플</a:t>
            </a:r>
            <a:endParaRPr lang="en-US" altLang="ko-KR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4" name="Oval 113">
            <a:extLst>
              <a:ext uri="{FF2B5EF4-FFF2-40B4-BE49-F238E27FC236}">
                <a16:creationId xmlns:a16="http://schemas.microsoft.com/office/drawing/2014/main" id="{886E684B-EE98-446C-8FA3-E471AB262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3613" y="341833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16</a:t>
            </a:r>
          </a:p>
        </p:txBody>
      </p:sp>
      <p:sp>
        <p:nvSpPr>
          <p:cNvPr id="55" name="Oval 113">
            <a:extLst>
              <a:ext uri="{FF2B5EF4-FFF2-40B4-BE49-F238E27FC236}">
                <a16:creationId xmlns:a16="http://schemas.microsoft.com/office/drawing/2014/main" id="{AAFC4AE9-DE5D-4BF3-A276-E71C091E9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3534" y="376390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30</a:t>
            </a:r>
          </a:p>
        </p:txBody>
      </p:sp>
      <p:sp>
        <p:nvSpPr>
          <p:cNvPr id="56" name="Oval 113">
            <a:extLst>
              <a:ext uri="{FF2B5EF4-FFF2-40B4-BE49-F238E27FC236}">
                <a16:creationId xmlns:a16="http://schemas.microsoft.com/office/drawing/2014/main" id="{0C8697D1-81A0-4830-94EC-C6438711CC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8785" y="238101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15</a:t>
            </a:r>
          </a:p>
        </p:txBody>
      </p:sp>
      <p:sp>
        <p:nvSpPr>
          <p:cNvPr id="58" name="Rectangle 154">
            <a:extLst>
              <a:ext uri="{FF2B5EF4-FFF2-40B4-BE49-F238E27FC236}">
                <a16:creationId xmlns:a16="http://schemas.microsoft.com/office/drawing/2014/main" id="{68767357-C4F7-48F7-B951-159F7743EE07}"/>
              </a:ext>
            </a:extLst>
          </p:cNvPr>
          <p:cNvSpPr>
            <a:spLocks noChangeArrowheads="1"/>
          </p:cNvSpPr>
          <p:nvPr/>
        </p:nvSpPr>
        <p:spPr bwMode="gray">
          <a:xfrm>
            <a:off x="8611935" y="2052502"/>
            <a:ext cx="252000" cy="99323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18000" tIns="0" rIns="18000" bIns="0">
            <a:spAutoFit/>
          </a:bodyPr>
          <a:lstStyle/>
          <a:p>
            <a:pPr algn="ctr" eaLnBrk="0" latinLnBrk="0" hangingPunct="0">
              <a:lnSpc>
                <a:spcPct val="80000"/>
              </a:lnSpc>
              <a:spcBef>
                <a:spcPct val="20000"/>
              </a:spcBef>
            </a:pPr>
            <a:r>
              <a:rPr lang="en-US" altLang="ko-KR" sz="800" dirty="0">
                <a:ea typeface="+mn-ea"/>
              </a:rPr>
              <a:t>12/16</a:t>
            </a:r>
          </a:p>
        </p:txBody>
      </p:sp>
      <p:sp>
        <p:nvSpPr>
          <p:cNvPr id="59" name="Oval 113">
            <a:extLst>
              <a:ext uri="{FF2B5EF4-FFF2-40B4-BE49-F238E27FC236}">
                <a16:creationId xmlns:a16="http://schemas.microsoft.com/office/drawing/2014/main" id="{BD8F4385-D900-4DA2-A846-A44461E79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4943" y="3925194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6</a:t>
            </a:r>
          </a:p>
        </p:txBody>
      </p:sp>
      <p:sp>
        <p:nvSpPr>
          <p:cNvPr id="60" name="모서리가 둥근 직사각형 87">
            <a:extLst>
              <a:ext uri="{FF2B5EF4-FFF2-40B4-BE49-F238E27FC236}">
                <a16:creationId xmlns:a16="http://schemas.microsoft.com/office/drawing/2014/main" id="{70222DC1-F34F-47D9-8003-03DCC8A8C806}"/>
              </a:ext>
            </a:extLst>
          </p:cNvPr>
          <p:cNvSpPr/>
          <p:nvPr/>
        </p:nvSpPr>
        <p:spPr>
          <a:xfrm>
            <a:off x="4049678" y="2580587"/>
            <a:ext cx="259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OC5 AR TT PILOT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                                   </a:t>
            </a:r>
          </a:p>
        </p:txBody>
      </p:sp>
      <p:sp>
        <p:nvSpPr>
          <p:cNvPr id="63" name="모서리가 둥근 직사각형 87">
            <a:extLst>
              <a:ext uri="{FF2B5EF4-FFF2-40B4-BE49-F238E27FC236}">
                <a16:creationId xmlns:a16="http://schemas.microsoft.com/office/drawing/2014/main" id="{0BE8AA9C-D937-495D-BF40-805E00CE3BEA}"/>
              </a:ext>
            </a:extLst>
          </p:cNvPr>
          <p:cNvSpPr/>
          <p:nvPr/>
        </p:nvSpPr>
        <p:spPr>
          <a:xfrm>
            <a:off x="4380208" y="2414926"/>
            <a:ext cx="2268151" cy="105428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OC9 NFF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MP2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                                      </a:t>
            </a:r>
          </a:p>
        </p:txBody>
      </p:sp>
      <p:sp>
        <p:nvSpPr>
          <p:cNvPr id="65" name="Oval 113">
            <a:extLst>
              <a:ext uri="{FF2B5EF4-FFF2-40B4-BE49-F238E27FC236}">
                <a16:creationId xmlns:a16="http://schemas.microsoft.com/office/drawing/2014/main" id="{6A25805A-E2CC-445B-B95F-186A09A71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5807" y="2394440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13</a:t>
            </a:r>
          </a:p>
        </p:txBody>
      </p:sp>
      <p:sp>
        <p:nvSpPr>
          <p:cNvPr id="66" name="Oval 113">
            <a:extLst>
              <a:ext uri="{FF2B5EF4-FFF2-40B4-BE49-F238E27FC236}">
                <a16:creationId xmlns:a16="http://schemas.microsoft.com/office/drawing/2014/main" id="{AAACBAEC-19AE-409C-98BC-1D844974F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520" y="239444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</a:t>
            </a:r>
          </a:p>
        </p:txBody>
      </p:sp>
      <p:sp>
        <p:nvSpPr>
          <p:cNvPr id="67" name="모서리가 둥근 직사각형 124">
            <a:extLst>
              <a:ext uri="{FF2B5EF4-FFF2-40B4-BE49-F238E27FC236}">
                <a16:creationId xmlns:a16="http://schemas.microsoft.com/office/drawing/2014/main" id="{472D3929-5E30-4390-9331-F0FFC5A3107D}"/>
              </a:ext>
            </a:extLst>
          </p:cNvPr>
          <p:cNvSpPr/>
          <p:nvPr/>
        </p:nvSpPr>
        <p:spPr>
          <a:xfrm>
            <a:off x="1670307" y="3050511"/>
            <a:ext cx="269070" cy="338655"/>
          </a:xfrm>
          <a:prstGeom prst="roundRect">
            <a:avLst/>
          </a:prstGeom>
          <a:solidFill>
            <a:schemeClr val="tx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>
                <a:solidFill>
                  <a:prstClr val="white"/>
                </a:solidFill>
                <a:latin typeface="Arial Narrow" panose="020B0606020202030204" pitchFamily="34" charset="0"/>
                <a:ea typeface="+mj-ea"/>
                <a:cs typeface="Arial" pitchFamily="34" charset="0"/>
              </a:rPr>
              <a:t>중국</a:t>
            </a:r>
            <a:endParaRPr kumimoji="1" lang="en-US" altLang="ko-KR" sz="800" b="1" kern="0">
              <a:solidFill>
                <a:prstClr val="white"/>
              </a:solidFill>
              <a:latin typeface="Arial Narrow" panose="020B0606020202030204" pitchFamily="34" charset="0"/>
              <a:ea typeface="+mj-ea"/>
              <a:cs typeface="Arial" pitchFamily="34" charset="0"/>
            </a:endParaRPr>
          </a:p>
        </p:txBody>
      </p:sp>
      <p:sp>
        <p:nvSpPr>
          <p:cNvPr id="74" name="모서리가 둥근 직사각형 87">
            <a:extLst>
              <a:ext uri="{FF2B5EF4-FFF2-40B4-BE49-F238E27FC236}">
                <a16:creationId xmlns:a16="http://schemas.microsoft.com/office/drawing/2014/main" id="{7737C60D-F445-4945-A1E0-08C69614867D}"/>
              </a:ext>
            </a:extLst>
          </p:cNvPr>
          <p:cNvSpPr/>
          <p:nvPr/>
        </p:nvSpPr>
        <p:spPr>
          <a:xfrm>
            <a:off x="3566439" y="3067716"/>
            <a:ext cx="1951432" cy="105428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algn="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NJ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ALBERTA</a:t>
            </a:r>
            <a:endParaRPr kumimoji="1" lang="ko-KR" altLang="en-US" sz="7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75" name="Oval 113">
            <a:extLst>
              <a:ext uri="{FF2B5EF4-FFF2-40B4-BE49-F238E27FC236}">
                <a16:creationId xmlns:a16="http://schemas.microsoft.com/office/drawing/2014/main" id="{545BAA16-8266-44B8-AEFC-137D86B5C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2960" y="3048289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15</a:t>
            </a:r>
          </a:p>
        </p:txBody>
      </p:sp>
      <p:sp>
        <p:nvSpPr>
          <p:cNvPr id="76" name="Oval 113">
            <a:extLst>
              <a:ext uri="{FF2B5EF4-FFF2-40B4-BE49-F238E27FC236}">
                <a16:creationId xmlns:a16="http://schemas.microsoft.com/office/drawing/2014/main" id="{7B70EAFC-0C43-447D-97AE-E85AF9167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1858" y="304828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15</a:t>
            </a:r>
          </a:p>
        </p:txBody>
      </p:sp>
      <p:sp>
        <p:nvSpPr>
          <p:cNvPr id="77" name="모서리가 둥근 직사각형 87">
            <a:extLst>
              <a:ext uri="{FF2B5EF4-FFF2-40B4-BE49-F238E27FC236}">
                <a16:creationId xmlns:a16="http://schemas.microsoft.com/office/drawing/2014/main" id="{AABF4BD1-CF3C-4E48-BF47-CD35F98C32E1}"/>
              </a:ext>
            </a:extLst>
          </p:cNvPr>
          <p:cNvSpPr/>
          <p:nvPr/>
        </p:nvSpPr>
        <p:spPr>
          <a:xfrm>
            <a:off x="3566439" y="3245386"/>
            <a:ext cx="1951432" cy="105428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algn="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NJ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ZZS 2.0</a:t>
            </a:r>
            <a:endParaRPr kumimoji="1" lang="ko-KR" altLang="en-US" sz="7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78" name="Oval 113">
            <a:extLst>
              <a:ext uri="{FF2B5EF4-FFF2-40B4-BE49-F238E27FC236}">
                <a16:creationId xmlns:a16="http://schemas.microsoft.com/office/drawing/2014/main" id="{DD737C4D-813E-4E3C-A0F9-840358574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2960" y="3225959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15</a:t>
            </a:r>
          </a:p>
        </p:txBody>
      </p:sp>
      <p:sp>
        <p:nvSpPr>
          <p:cNvPr id="79" name="Oval 113">
            <a:extLst>
              <a:ext uri="{FF2B5EF4-FFF2-40B4-BE49-F238E27FC236}">
                <a16:creationId xmlns:a16="http://schemas.microsoft.com/office/drawing/2014/main" id="{EF3F9418-D1B2-4B73-92BD-B2143CCBD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1858" y="322595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15</a:t>
            </a: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04FD46D5-61AE-401A-A9E7-B000B361C4D8}"/>
              </a:ext>
            </a:extLst>
          </p:cNvPr>
          <p:cNvCxnSpPr>
            <a:cxnSpLocks/>
          </p:cNvCxnSpPr>
          <p:nvPr/>
        </p:nvCxnSpPr>
        <p:spPr>
          <a:xfrm>
            <a:off x="8770831" y="2171030"/>
            <a:ext cx="0" cy="2064708"/>
          </a:xfrm>
          <a:prstGeom prst="line">
            <a:avLst/>
          </a:prstGeom>
          <a:ln w="12700">
            <a:solidFill>
              <a:srgbClr val="FF0000">
                <a:alpha val="96000"/>
              </a:srgbClr>
            </a:solidFill>
            <a:prstDash val="dash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모서리가 둥근 직사각형 87">
            <a:extLst>
              <a:ext uri="{FF2B5EF4-FFF2-40B4-BE49-F238E27FC236}">
                <a16:creationId xmlns:a16="http://schemas.microsoft.com/office/drawing/2014/main" id="{7A00456A-E717-4060-B273-A11289D3473B}"/>
              </a:ext>
            </a:extLst>
          </p:cNvPr>
          <p:cNvSpPr/>
          <p:nvPr/>
        </p:nvSpPr>
        <p:spPr>
          <a:xfrm>
            <a:off x="2038350" y="3619439"/>
            <a:ext cx="576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ST </a:t>
            </a:r>
            <a:r>
              <a:rPr kumimoji="1" lang="ko-KR" altLang="en-US" sz="700" b="1" kern="0" err="1">
                <a:solidFill>
                  <a:schemeClr val="bg1"/>
                </a:solidFill>
                <a:latin typeface="+mj-ea"/>
                <a:ea typeface="+mj-ea"/>
                <a:cs typeface="Arial"/>
              </a:rPr>
              <a:t>셀추적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구축                                                                           </a:t>
            </a:r>
          </a:p>
        </p:txBody>
      </p:sp>
      <p:sp>
        <p:nvSpPr>
          <p:cNvPr id="68" name="모서리가 둥근 직사각형 87">
            <a:extLst>
              <a:ext uri="{FF2B5EF4-FFF2-40B4-BE49-F238E27FC236}">
                <a16:creationId xmlns:a16="http://schemas.microsoft.com/office/drawing/2014/main" id="{18D78B1F-1AFE-4FC3-BC87-D52AC86FD289}"/>
              </a:ext>
            </a:extLst>
          </p:cNvPr>
          <p:cNvSpPr/>
          <p:nvPr/>
        </p:nvSpPr>
        <p:spPr>
          <a:xfrm>
            <a:off x="4132785" y="3950548"/>
            <a:ext cx="1951432" cy="104964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algn="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MI 1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동 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2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호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(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구 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7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호</a:t>
            </a: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)</a:t>
            </a:r>
            <a:endParaRPr kumimoji="1" lang="ko-KR" altLang="en-US" sz="700" b="1" kern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69" name="Oval 113">
            <a:extLst>
              <a:ext uri="{FF2B5EF4-FFF2-40B4-BE49-F238E27FC236}">
                <a16:creationId xmlns:a16="http://schemas.microsoft.com/office/drawing/2014/main" id="{312BDD47-98E0-4400-848F-D248D902E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3017" y="392519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2</a:t>
            </a:r>
          </a:p>
        </p:txBody>
      </p:sp>
      <p:sp>
        <p:nvSpPr>
          <p:cNvPr id="83" name="모서리가 둥근 직사각형 87">
            <a:extLst>
              <a:ext uri="{FF2B5EF4-FFF2-40B4-BE49-F238E27FC236}">
                <a16:creationId xmlns:a16="http://schemas.microsoft.com/office/drawing/2014/main" id="{7E7E96CA-1F12-4940-B040-A83942099E04}"/>
              </a:ext>
            </a:extLst>
          </p:cNvPr>
          <p:cNvSpPr/>
          <p:nvPr/>
        </p:nvSpPr>
        <p:spPr>
          <a:xfrm>
            <a:off x="4380208" y="2750407"/>
            <a:ext cx="2268151" cy="105428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10800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OC10 </a:t>
            </a:r>
            <a:r>
              <a:rPr kumimoji="1" lang="ko-KR" altLang="en-US" sz="700" b="1" kern="0" err="1">
                <a:solidFill>
                  <a:schemeClr val="bg1"/>
                </a:solidFill>
                <a:latin typeface="+mj-ea"/>
                <a:ea typeface="+mj-ea"/>
                <a:cs typeface="Arial"/>
              </a:rPr>
              <a:t>마더라인</a:t>
            </a: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                                       </a:t>
            </a:r>
          </a:p>
        </p:txBody>
      </p:sp>
      <p:sp>
        <p:nvSpPr>
          <p:cNvPr id="84" name="Oval 113">
            <a:extLst>
              <a:ext uri="{FF2B5EF4-FFF2-40B4-BE49-F238E27FC236}">
                <a16:creationId xmlns:a16="http://schemas.microsoft.com/office/drawing/2014/main" id="{F0332543-7396-472E-83D4-7564A529D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97" y="2729921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</a:t>
            </a:r>
          </a:p>
        </p:txBody>
      </p:sp>
      <p:sp>
        <p:nvSpPr>
          <p:cNvPr id="85" name="Oval 113">
            <a:extLst>
              <a:ext uri="{FF2B5EF4-FFF2-40B4-BE49-F238E27FC236}">
                <a16:creationId xmlns:a16="http://schemas.microsoft.com/office/drawing/2014/main" id="{1A8EE44A-C924-4CEF-9832-CD377E332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4547" y="272992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600" b="1" kern="0">
                <a:latin typeface="Arial Narrow" panose="020B0606020202030204" pitchFamily="34" charset="0"/>
                <a:ea typeface="+mj-ea"/>
                <a:cs typeface="Arial"/>
              </a:rPr>
              <a:t>TBD</a:t>
            </a:r>
          </a:p>
        </p:txBody>
      </p:sp>
      <p:sp>
        <p:nvSpPr>
          <p:cNvPr id="71" name="Oval 113">
            <a:extLst>
              <a:ext uri="{FF2B5EF4-FFF2-40B4-BE49-F238E27FC236}">
                <a16:creationId xmlns:a16="http://schemas.microsoft.com/office/drawing/2014/main" id="{F4397D12-696D-4075-86C3-3C43DE2E4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7660" y="359973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</a:t>
            </a:r>
          </a:p>
        </p:txBody>
      </p:sp>
      <p:sp>
        <p:nvSpPr>
          <p:cNvPr id="72" name="Text Box 5386">
            <a:extLst>
              <a:ext uri="{FF2B5EF4-FFF2-40B4-BE49-F238E27FC236}">
                <a16:creationId xmlns:a16="http://schemas.microsoft.com/office/drawing/2014/main" id="{885BB704-7255-485F-BD50-ADB2DCAD7C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0925" y="3750988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 anchorCtr="0">
            <a:noAutofit/>
          </a:bodyPr>
          <a:lstStyle>
            <a:defPPr>
              <a:defRPr lang="ko-KR"/>
            </a:defPPr>
            <a:lvl1pPr algn="ctr" eaLnBrk="1" hangingPunct="1">
              <a:defRPr sz="800">
                <a:solidFill>
                  <a:prstClr val="black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 Unicode MS" panose="020B0604020202020204" pitchFamily="50" charset="-127"/>
              </a:defRPr>
            </a:lvl1pPr>
            <a:lvl2pPr marL="742950" indent="-285750" eaLnBrk="0" hangingPunct="0">
              <a:defRPr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9pPr>
          </a:lstStyle>
          <a:p>
            <a:r>
              <a:rPr lang="en-US" altLang="ko-KR">
                <a:latin typeface="+mj-lt"/>
                <a:ea typeface="LG스마트체 Regular" panose="020B0600000101010101" pitchFamily="50" charset="-127"/>
              </a:rPr>
              <a:t>ESS</a:t>
            </a:r>
            <a:r>
              <a:rPr lang="ko-KR" altLang="en-US">
                <a:latin typeface="+mj-lt"/>
                <a:ea typeface="LG스마트체 Regular" panose="020B0600000101010101" pitchFamily="50" charset="-127"/>
              </a:rPr>
              <a:t>샘플</a:t>
            </a:r>
            <a:endParaRPr lang="en-US" altLang="ko-KR">
              <a:latin typeface="+mj-lt"/>
              <a:ea typeface="LG스마트체 Regular" panose="020B0600000101010101" pitchFamily="50" charset="-127"/>
            </a:endParaRPr>
          </a:p>
        </p:txBody>
      </p:sp>
      <p:sp>
        <p:nvSpPr>
          <p:cNvPr id="39" name="Oval 113">
            <a:extLst>
              <a:ext uri="{FF2B5EF4-FFF2-40B4-BE49-F238E27FC236}">
                <a16:creationId xmlns:a16="http://schemas.microsoft.com/office/drawing/2014/main" id="{320A9333-57B3-44E3-97AD-7A23B00A7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7054" y="3599730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15</a:t>
            </a:r>
          </a:p>
        </p:txBody>
      </p:sp>
      <p:sp>
        <p:nvSpPr>
          <p:cNvPr id="73" name="Oval 113">
            <a:extLst>
              <a:ext uri="{FF2B5EF4-FFF2-40B4-BE49-F238E27FC236}">
                <a16:creationId xmlns:a16="http://schemas.microsoft.com/office/drawing/2014/main" id="{155DB61B-CF2F-4569-A850-B667A4EE8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6780" y="4082417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23</a:t>
            </a:r>
          </a:p>
        </p:txBody>
      </p:sp>
      <p:sp>
        <p:nvSpPr>
          <p:cNvPr id="82" name="Oval 113">
            <a:extLst>
              <a:ext uri="{FF2B5EF4-FFF2-40B4-BE49-F238E27FC236}">
                <a16:creationId xmlns:a16="http://schemas.microsoft.com/office/drawing/2014/main" id="{83367748-AA8C-447D-A3EA-F36587280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97" y="2558344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</a:t>
            </a:r>
          </a:p>
        </p:txBody>
      </p:sp>
      <p:sp>
        <p:nvSpPr>
          <p:cNvPr id="86" name="Oval 113">
            <a:extLst>
              <a:ext uri="{FF2B5EF4-FFF2-40B4-BE49-F238E27FC236}">
                <a16:creationId xmlns:a16="http://schemas.microsoft.com/office/drawing/2014/main" id="{596F3D01-DAEC-4567-8729-1922A21495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4281" y="255834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>
                <a:latin typeface="Arial Narrow" panose="020B0606020202030204" pitchFamily="34" charset="0"/>
                <a:ea typeface="+mj-ea"/>
                <a:cs typeface="Arial"/>
              </a:rPr>
              <a:t>15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3B3BE9-1E32-4879-BAD8-A589E2CBED1B}"/>
              </a:ext>
            </a:extLst>
          </p:cNvPr>
          <p:cNvSpPr txBox="1"/>
          <p:nvPr/>
        </p:nvSpPr>
        <p:spPr>
          <a:xfrm>
            <a:off x="6076601" y="2852035"/>
            <a:ext cx="736952" cy="1538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">
                <a:solidFill>
                  <a:srgbClr val="006600"/>
                </a:solidFill>
              </a:rPr>
              <a:t>샘플일정 </a:t>
            </a:r>
            <a:r>
              <a:rPr lang="en-US" altLang="ko-KR" sz="400">
                <a:solidFill>
                  <a:srgbClr val="006600"/>
                </a:solidFill>
              </a:rPr>
              <a:t>‘26</a:t>
            </a:r>
            <a:r>
              <a:rPr lang="ko-KR" altLang="en-US" sz="400">
                <a:solidFill>
                  <a:srgbClr val="006600"/>
                </a:solidFill>
              </a:rPr>
              <a:t>으로 연기됨</a:t>
            </a:r>
          </a:p>
        </p:txBody>
      </p:sp>
      <p:sp>
        <p:nvSpPr>
          <p:cNvPr id="61" name="모서리가 둥근 직사각형 87">
            <a:extLst>
              <a:ext uri="{FF2B5EF4-FFF2-40B4-BE49-F238E27FC236}">
                <a16:creationId xmlns:a16="http://schemas.microsoft.com/office/drawing/2014/main" id="{B49AEA85-31EC-45C0-8C28-07969199FF4E}"/>
              </a:ext>
            </a:extLst>
          </p:cNvPr>
          <p:cNvSpPr/>
          <p:nvPr/>
        </p:nvSpPr>
        <p:spPr>
          <a:xfrm>
            <a:off x="6074335" y="2891930"/>
            <a:ext cx="2293213" cy="105428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OC2</a:t>
            </a:r>
            <a:r>
              <a:rPr kumimoji="1" lang="ko-KR" altLang="en-US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공장 셀추적 구축 </a:t>
            </a:r>
            <a:r>
              <a:rPr kumimoji="1" lang="en-US" altLang="ko-KR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(3</a:t>
            </a:r>
            <a:r>
              <a:rPr kumimoji="1" lang="ko-KR" altLang="en-US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호 국내 대응</a:t>
            </a:r>
            <a:r>
              <a:rPr kumimoji="1" lang="en-US" altLang="ko-KR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/26</a:t>
            </a:r>
            <a:r>
              <a:rPr kumimoji="1" lang="ko-KR" altLang="en-US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년 </a:t>
            </a:r>
            <a:r>
              <a:rPr kumimoji="1" lang="en-US" altLang="ko-KR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WA</a:t>
            </a:r>
            <a:r>
              <a:rPr kumimoji="1" lang="ko-KR" altLang="en-US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이설예정</a:t>
            </a:r>
            <a:r>
              <a:rPr kumimoji="1" lang="en-US" altLang="ko-KR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)</a:t>
            </a:r>
            <a:endParaRPr kumimoji="1" lang="ko-KR" altLang="en-US" sz="700" b="1" kern="0" dirty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  <p:sp>
        <p:nvSpPr>
          <p:cNvPr id="62" name="Oval 113">
            <a:extLst>
              <a:ext uri="{FF2B5EF4-FFF2-40B4-BE49-F238E27FC236}">
                <a16:creationId xmlns:a16="http://schemas.microsoft.com/office/drawing/2014/main" id="{A009A75F-F62F-4576-9896-8577B95C8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6538" y="2878404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1</a:t>
            </a:r>
          </a:p>
        </p:txBody>
      </p:sp>
      <p:sp>
        <p:nvSpPr>
          <p:cNvPr id="17" name="모서리가 둥근 직사각형 87">
            <a:extLst>
              <a:ext uri="{FF2B5EF4-FFF2-40B4-BE49-F238E27FC236}">
                <a16:creationId xmlns:a16="http://schemas.microsoft.com/office/drawing/2014/main" id="{97888459-CF91-15BD-51BB-0E1971DD4B0C}"/>
              </a:ext>
            </a:extLst>
          </p:cNvPr>
          <p:cNvSpPr/>
          <p:nvPr/>
        </p:nvSpPr>
        <p:spPr>
          <a:xfrm>
            <a:off x="8425636" y="3813817"/>
            <a:ext cx="576000" cy="104964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108000" tIns="0" rIns="0" bIns="0" anchor="ctr"/>
          <a:lstStyle/>
          <a:p>
            <a:pPr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MIL ESS</a:t>
            </a:r>
            <a:endParaRPr kumimoji="1" lang="ko-KR" altLang="en-US" sz="700" b="1" kern="0" dirty="0">
              <a:solidFill>
                <a:schemeClr val="bg1"/>
              </a:solidFill>
              <a:latin typeface="+mj-ea"/>
              <a:ea typeface="+mj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419150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4145844" cy="215444"/>
          </a:xfrm>
          <a:prstGeom prst="rect">
            <a:avLst/>
          </a:prstGeom>
        </p:spPr>
        <p:txBody>
          <a:bodyPr wrap="none" lIns="0" tIns="0" rIns="0" bIns="0">
            <a:no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■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cs typeface="Malgun Gothic Semilight" panose="020B0502040204020203" pitchFamily="50" charset="-127"/>
              </a:rPr>
              <a:t>신규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cs typeface="Malgun Gothic Semilight" panose="020B0502040204020203" pitchFamily="50" charset="-127"/>
              </a:rPr>
              <a:t>PKG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cs typeface="Malgun Gothic Semilight" panose="020B0502040204020203" pitchFamily="50" charset="-127"/>
              </a:rPr>
              <a:t>비전 데이터 수집</a:t>
            </a:r>
            <a:endParaRPr lang="en-US" altLang="ko-KR" sz="1400" b="1">
              <a:latin typeface="+mj-ea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1454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0" name="내용 개체 틀 20">
            <a:extLst>
              <a:ext uri="{FF2B5EF4-FFF2-40B4-BE49-F238E27FC236}">
                <a16:creationId xmlns:a16="http://schemas.microsoft.com/office/drawing/2014/main" id="{6B1F6983-AF8E-481D-981B-F5692C0C7F9C}"/>
              </a:ext>
            </a:extLst>
          </p:cNvPr>
          <p:cNvSpPr txBox="1">
            <a:spLocks/>
          </p:cNvSpPr>
          <p:nvPr/>
        </p:nvSpPr>
        <p:spPr>
          <a:xfrm>
            <a:off x="5691374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DX-#11,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35" name="표 1">
            <a:extLst>
              <a:ext uri="{FF2B5EF4-FFF2-40B4-BE49-F238E27FC236}">
                <a16:creationId xmlns:a16="http://schemas.microsoft.com/office/drawing/2014/main" id="{270027ED-72F0-4FD4-A2E5-8BFD39BFACC9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76503"/>
          <a:ext cx="9644176" cy="57828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</a:rPr>
                        <a:t>(W50)</a:t>
                      </a:r>
                      <a:endParaRPr lang="en-US" altLang="ko-KR" sz="1000" b="1" i="0" u="none" strike="noStrike" baseline="0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신규 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PKG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비전 데이터 수집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ESGM1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(W50)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수집 적용 완료 후 특이사항 없어 과제 종료하겠습니다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구축 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SPC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투자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대상이 아니었던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PKG pouch / lead align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 데이터를 필요에 따라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USB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가져와 분석하고 있음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이를 자동으로 다빈치로 수집해 달라는 요청에 따라 가장 적은 비용으로 간단하게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needs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를 만족할 수 있는 방법을 모색함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SPC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대신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EDC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를 통해 이미지 없이 데이터만 수집하고 다빈치로 데이터 전송하여 조회서비스 제공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법인에서 검사기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FA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망 포설 투자하고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ECS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CSV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수집을 위한 파싱 개발 및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EDC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신규테이블 생성하여 수집</a:t>
                      </a: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[02/28] ESGM1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공정기술 및 검사기술 담당자와 미팅을 통해 다음과 같이 요건을 확인하였습니다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 대상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PKG Pouch/Lead align vision –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라인당 검사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 4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대씩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10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 라인 총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대상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 조건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이미지수집 불필요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ID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연계 불필요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실시간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조회 불필요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다빈치에서 조회만 가능하면 됨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(USB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가져오지 않도록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다빈치 조회를 위해 최소한의 검사기 구분이 가능하도록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EM no.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를 추가 보고 가능한지 확인요청 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[03/07] EDC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에서 수집할 데이터의 샘플 형식을 다빈치와 공유하였고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EDC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 원본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CSV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파일 형태 그대로의 테이블로 수집하면 다빈치가 가져가는 것으로 논의하였습니다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CSV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파일에 컬럼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명이 변경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추가되면 감지할 수 있도록 알람 기능을 추가 개발할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합의한 내용 바탕으로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CSR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등록하였고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ECS/EDC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수집개발 검토를 시작하였습니다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[03/13]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검사기에서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EM no.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컬럼 추가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가능함을 확인하였고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개발을 위한 샘플데이터를 추가로 요청하여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2~3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일치 검사데이터 파일을 전달받기로 합의하였습니다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[03/21]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 개발을 위한 추가 샘플파일을 전달받았으나 기존 샘플과 내용이 달라진 부분이 있어 개발 요건을 다시 확인하고 있으며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법인에서 네트워크 포설 및 검사기 개조 일정을 문의 중입니다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[03/28]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법인에서 투자발주시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CNS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직접 계약을 통해 수집 개발 비용 정산이 가능한 것으로 확인하였습니다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현재 검사기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들 위치마다 포설을 위한 견적 준비단계이며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4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말 까지 법인에서 포설 완료 및 검사기 개조 완료를 목표로 진행하는 것으로 확인하였고 이에 맞춰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EDC/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다빈치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수집은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월까지 완료 목표로 수정하였습니다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[04/24]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개발된 프로그램 배포 완료하였고 법인에서 포설 대기 중 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union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 포설이 지연되고 있어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말 포설 완료 예상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26670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[07/29] 40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 검사기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FA IP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할당 정보 공유 받았습니다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[09/05]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검사기에서 수정 샘플파일을 받아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EDC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 여부 사전 확인 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법인에서 통신개통 및 테스트 호기 선정 대기 중입니다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[10/27] PKG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2-1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호가 테스트호기로 선정되었습니다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Lead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비전에 원격접속세팅 완료되어 접속했고 수집테스트 예정입니다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(~10/31)</a:t>
                      </a:r>
                    </a:p>
                    <a:p>
                      <a:pPr marL="266700" marR="0" lvl="0" indent="-17145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[11/04]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수집테스트를 통해 일부 문제 개선 완료하였고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Pouch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비전도 테스트를 위한 원격접속정보 요청하였습니다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[11/11] PKG 2-1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 테스트 완료 이후 타 호기 검사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셋팅을 위한 매뉴얼을 작성하여 배포하였습니다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[11/19]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법인에서 잔여 호기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셋팅 진척에 따라 확산 적용하였으며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데이터 수집된 호기 기준으로 다빈치 조회 여부 확인 중입니다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266700" marR="0" lvl="0" indent="-17145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[12/04]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모든 호기 수집 적용 현황을 법인에 공유하였고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몇몇 기 협의된 양식에 맞지 않는 검사기 데이터 항목을 피드백 하였습니다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sng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‘25.12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박정우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김승진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이주민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7D771C1F-D578-4633-9BB8-ED7D2DE70ECB}"/>
              </a:ext>
            </a:extLst>
          </p:cNvPr>
          <p:cNvSpPr txBox="1"/>
          <p:nvPr/>
        </p:nvSpPr>
        <p:spPr>
          <a:xfrm>
            <a:off x="8061950" y="670208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solidFill>
                  <a:schemeClr val="tx1"/>
                </a:solidFill>
                <a:latin typeface="+mj-lt"/>
                <a:ea typeface="+mj-ea"/>
                <a:cs typeface="Malgun Gothic Semilight"/>
              </a:rPr>
              <a:t>업데이트 시간 </a:t>
            </a:r>
            <a:r>
              <a:rPr lang="en-US" altLang="ko-KR" dirty="0">
                <a:solidFill>
                  <a:schemeClr val="tx1"/>
                </a:solidFill>
                <a:latin typeface="+mj-lt"/>
                <a:ea typeface="+mj-ea"/>
                <a:cs typeface="Malgun Gothic Semilight"/>
              </a:rPr>
              <a:t>: 12/10(</a:t>
            </a:r>
            <a:r>
              <a:rPr lang="ko-KR" altLang="en-US" dirty="0">
                <a:solidFill>
                  <a:schemeClr val="tx1"/>
                </a:solidFill>
                <a:latin typeface="+mj-lt"/>
                <a:ea typeface="+mj-ea"/>
                <a:cs typeface="Malgun Gothic Semilight"/>
              </a:rPr>
              <a:t>수</a:t>
            </a:r>
            <a:r>
              <a:rPr lang="en-US" altLang="ko-KR" dirty="0">
                <a:solidFill>
                  <a:schemeClr val="tx1"/>
                </a:solidFill>
                <a:latin typeface="+mj-lt"/>
                <a:ea typeface="+mj-ea"/>
                <a:cs typeface="Malgun Gothic Semilight"/>
              </a:rPr>
              <a:t>) 15</a:t>
            </a:r>
            <a:r>
              <a:rPr lang="ko-KR" altLang="en-US" dirty="0">
                <a:solidFill>
                  <a:schemeClr val="tx1"/>
                </a:solidFill>
                <a:latin typeface="+mj-lt"/>
                <a:ea typeface="+mj-ea"/>
                <a:cs typeface="Malgun Gothic Semilight"/>
              </a:rPr>
              <a:t>시</a:t>
            </a:r>
          </a:p>
        </p:txBody>
      </p:sp>
      <p:sp>
        <p:nvSpPr>
          <p:cNvPr id="31" name="내용 개체 틀 20">
            <a:extLst>
              <a:ext uri="{FF2B5EF4-FFF2-40B4-BE49-F238E27FC236}">
                <a16:creationId xmlns:a16="http://schemas.microsoft.com/office/drawing/2014/main" id="{2B412D84-7987-484D-9890-0759E31E3E5C}"/>
              </a:ext>
            </a:extLst>
          </p:cNvPr>
          <p:cNvSpPr txBox="1">
            <a:spLocks/>
          </p:cNvSpPr>
          <p:nvPr/>
        </p:nvSpPr>
        <p:spPr>
          <a:xfrm>
            <a:off x="8792920" y="500931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박정우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j-ea"/>
              <a:cs typeface="Malgun Gothic Semilight" panose="020B0502040204020203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1674E6B-43E4-4117-AE1E-33A3933499A3}"/>
              </a:ext>
            </a:extLst>
          </p:cNvPr>
          <p:cNvSpPr/>
          <p:nvPr/>
        </p:nvSpPr>
        <p:spPr>
          <a:xfrm>
            <a:off x="3545268" y="2765147"/>
            <a:ext cx="409071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 algn="ctr" fontAlgn="base">
              <a:spcAft>
                <a:spcPct val="0"/>
              </a:spcAft>
              <a:defRPr/>
            </a:pPr>
            <a:r>
              <a:rPr lang="ko-KR" altLang="en-US" sz="8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신규 </a:t>
            </a:r>
            <a:r>
              <a:rPr lang="en-US" altLang="ko-KR" sz="800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FA</a:t>
            </a:r>
            <a:r>
              <a:rPr lang="ko-KR" altLang="en-US" sz="800" err="1">
                <a:latin typeface="LG스마트체 Regular" panose="020B0600000101010101" pitchFamily="50" charset="-127"/>
                <a:ea typeface="LG스마트체 Regular" panose="020B0600000101010101" pitchFamily="50" charset="-127"/>
                <a:sym typeface="Wingdings" pitchFamily="2" charset="2"/>
              </a:rPr>
              <a:t>포설</a:t>
            </a:r>
            <a:endParaRPr lang="en-US" altLang="ko-KR" sz="800">
              <a:latin typeface="LG스마트체 Regular" panose="020B0600000101010101" pitchFamily="50" charset="-127"/>
              <a:ea typeface="LG스마트체 Regular" panose="020B0600000101010101" pitchFamily="50" charset="-127"/>
              <a:sym typeface="Wingdings" pitchFamily="2" charset="2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328EF114-A454-4891-99DA-A7A8F7C56805}"/>
              </a:ext>
            </a:extLst>
          </p:cNvPr>
          <p:cNvSpPr/>
          <p:nvPr/>
        </p:nvSpPr>
        <p:spPr>
          <a:xfrm>
            <a:off x="2742663" y="2579794"/>
            <a:ext cx="745764" cy="481848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/>
            </a:bgClr>
          </a:pattFill>
          <a:ln w="952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LG스마트체 Regular" panose="020B0600000101010101" pitchFamily="50" charset="-127"/>
                <a:cs typeface="Arial" panose="020B0604020202020204" pitchFamily="34" charset="0"/>
              </a:rPr>
              <a:t>VISION PC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9965B02-D485-4916-A3A6-DBA04BD0A150}"/>
              </a:ext>
            </a:extLst>
          </p:cNvPr>
          <p:cNvSpPr/>
          <p:nvPr/>
        </p:nvSpPr>
        <p:spPr>
          <a:xfrm>
            <a:off x="3988602" y="2579794"/>
            <a:ext cx="745764" cy="481848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/>
            </a:bgClr>
          </a:pattFill>
          <a:ln w="952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LG스마트체 Regular" panose="020B0600000101010101" pitchFamily="50" charset="-127"/>
                <a:cs typeface="Arial" panose="020B0604020202020204" pitchFamily="34" charset="0"/>
              </a:rPr>
              <a:t>ECS PC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790269D-A2A6-4165-9EB7-52376ED92612}"/>
              </a:ext>
            </a:extLst>
          </p:cNvPr>
          <p:cNvSpPr/>
          <p:nvPr/>
        </p:nvSpPr>
        <p:spPr>
          <a:xfrm>
            <a:off x="5069993" y="2579794"/>
            <a:ext cx="745764" cy="481848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/>
            </a:bgClr>
          </a:pattFill>
          <a:ln w="952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LG스마트체 Regular" panose="020B0600000101010101" pitchFamily="50" charset="-127"/>
                <a:cs typeface="Arial" panose="020B0604020202020204" pitchFamily="34" charset="0"/>
              </a:rPr>
              <a:t>EDC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19B0C60C-12BC-4639-A314-44E909F4D4D6}"/>
              </a:ext>
            </a:extLst>
          </p:cNvPr>
          <p:cNvSpPr/>
          <p:nvPr/>
        </p:nvSpPr>
        <p:spPr>
          <a:xfrm>
            <a:off x="6151385" y="2579794"/>
            <a:ext cx="745764" cy="481848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/>
            </a:bgClr>
          </a:pattFill>
          <a:ln w="952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b="1">
                <a:solidFill>
                  <a:schemeClr val="tx1"/>
                </a:solidFill>
                <a:ea typeface="LG스마트체 Regular" panose="020B0600000101010101" pitchFamily="50" charset="-127"/>
                <a:cs typeface="Arial" panose="020B0604020202020204" pitchFamily="34" charset="0"/>
              </a:rPr>
              <a:t>DAVINCI</a:t>
            </a:r>
            <a:endParaRPr kumimoji="0" lang="ko-KR" altLang="en-US" sz="9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id="{CE77EBA1-F7F8-4E7B-96E2-7EC87EF43EBD}"/>
              </a:ext>
            </a:extLst>
          </p:cNvPr>
          <p:cNvCxnSpPr>
            <a:cxnSpLocks/>
          </p:cNvCxnSpPr>
          <p:nvPr/>
        </p:nvCxnSpPr>
        <p:spPr>
          <a:xfrm>
            <a:off x="4519928" y="2883590"/>
            <a:ext cx="643986" cy="0"/>
          </a:xfrm>
          <a:prstGeom prst="straightConnector1">
            <a:avLst/>
          </a:prstGeom>
          <a:ln>
            <a:solidFill>
              <a:schemeClr val="tx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253B4D25-72EA-4F9A-9640-0AA0235925F0}"/>
              </a:ext>
            </a:extLst>
          </p:cNvPr>
          <p:cNvCxnSpPr>
            <a:cxnSpLocks/>
            <a:stCxn id="83" idx="3"/>
            <a:endCxn id="108" idx="1"/>
          </p:cNvCxnSpPr>
          <p:nvPr/>
        </p:nvCxnSpPr>
        <p:spPr>
          <a:xfrm>
            <a:off x="5721835" y="2883590"/>
            <a:ext cx="526717" cy="0"/>
          </a:xfrm>
          <a:prstGeom prst="straightConnector1">
            <a:avLst/>
          </a:prstGeom>
          <a:ln>
            <a:solidFill>
              <a:schemeClr val="tx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모서리가 둥근 직사각형 93">
            <a:extLst>
              <a:ext uri="{FF2B5EF4-FFF2-40B4-BE49-F238E27FC236}">
                <a16:creationId xmlns:a16="http://schemas.microsoft.com/office/drawing/2014/main" id="{71E1C86C-3F8B-4A1C-897C-A9ABE6E64B18}"/>
              </a:ext>
            </a:extLst>
          </p:cNvPr>
          <p:cNvSpPr/>
          <p:nvPr/>
        </p:nvSpPr>
        <p:spPr>
          <a:xfrm>
            <a:off x="5163914" y="2782731"/>
            <a:ext cx="557921" cy="20171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신규테이블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06" name="모서리가 둥근 직사각형 93">
            <a:extLst>
              <a:ext uri="{FF2B5EF4-FFF2-40B4-BE49-F238E27FC236}">
                <a16:creationId xmlns:a16="http://schemas.microsoft.com/office/drawing/2014/main" id="{34992870-B9D5-4A72-A9AD-79DCD754BD98}"/>
              </a:ext>
            </a:extLst>
          </p:cNvPr>
          <p:cNvSpPr/>
          <p:nvPr/>
        </p:nvSpPr>
        <p:spPr>
          <a:xfrm>
            <a:off x="2942332" y="2782731"/>
            <a:ext cx="346425" cy="20171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CSV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1D179DC1-99A8-4072-81AC-A31B56A106BC}"/>
              </a:ext>
            </a:extLst>
          </p:cNvPr>
          <p:cNvCxnSpPr>
            <a:cxnSpLocks/>
            <a:stCxn id="106" idx="3"/>
            <a:endCxn id="107" idx="1"/>
          </p:cNvCxnSpPr>
          <p:nvPr/>
        </p:nvCxnSpPr>
        <p:spPr>
          <a:xfrm>
            <a:off x="3288757" y="2883590"/>
            <a:ext cx="916239" cy="0"/>
          </a:xfrm>
          <a:prstGeom prst="straightConnector1">
            <a:avLst/>
          </a:prstGeom>
          <a:ln>
            <a:solidFill>
              <a:schemeClr val="tx1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모서리가 둥근 직사각형 93">
            <a:extLst>
              <a:ext uri="{FF2B5EF4-FFF2-40B4-BE49-F238E27FC236}">
                <a16:creationId xmlns:a16="http://schemas.microsoft.com/office/drawing/2014/main" id="{0060BECB-DB9C-4304-9729-C202BBC6E005}"/>
              </a:ext>
            </a:extLst>
          </p:cNvPr>
          <p:cNvSpPr/>
          <p:nvPr/>
        </p:nvSpPr>
        <p:spPr>
          <a:xfrm>
            <a:off x="4204996" y="2782731"/>
            <a:ext cx="314932" cy="20171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파싱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sp>
        <p:nvSpPr>
          <p:cNvPr id="108" name="모서리가 둥근 직사각형 93">
            <a:extLst>
              <a:ext uri="{FF2B5EF4-FFF2-40B4-BE49-F238E27FC236}">
                <a16:creationId xmlns:a16="http://schemas.microsoft.com/office/drawing/2014/main" id="{5D036618-78D2-40C9-ADA1-08FA825642EE}"/>
              </a:ext>
            </a:extLst>
          </p:cNvPr>
          <p:cNvSpPr/>
          <p:nvPr/>
        </p:nvSpPr>
        <p:spPr>
          <a:xfrm>
            <a:off x="6248552" y="2782731"/>
            <a:ext cx="557921" cy="201718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Arial" panose="020B0604020202020204" pitchFamily="34" charset="0"/>
              </a:rPr>
              <a:t>조회서비스</a:t>
            </a:r>
            <a:endParaRPr lang="en-US" altLang="ko-KR" sz="900">
              <a:solidFill>
                <a:schemeClr val="tx1"/>
              </a:solidFill>
              <a:latin typeface="Arial Narrow" panose="020B0606020202030204" pitchFamily="34" charset="0"/>
              <a:ea typeface="LG스마트체 Regular" panose="020B0600000101010101" pitchFamily="50" charset="-127"/>
              <a:cs typeface="Arial" panose="020B0604020202020204" pitchFamily="34" charset="0"/>
            </a:endParaRPr>
          </a:p>
        </p:txBody>
      </p:sp>
      <p:graphicFrame>
        <p:nvGraphicFramePr>
          <p:cNvPr id="3" name="개체 2">
            <a:hlinkClick r:id="" action="ppaction://ole?verb=0"/>
            <a:extLst>
              <a:ext uri="{FF2B5EF4-FFF2-40B4-BE49-F238E27FC236}">
                <a16:creationId xmlns:a16="http://schemas.microsoft.com/office/drawing/2014/main" id="{D7CB93CE-F1D7-4498-9982-DEEF6670F06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498102" y="3183968"/>
          <a:ext cx="679939" cy="57369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Presentation" showAsIcon="1" r:id="rId3" imgW="914400" imgH="771480" progId="PowerPoint.Show.12">
                  <p:embed/>
                </p:oleObj>
              </mc:Choice>
              <mc:Fallback>
                <p:oleObj name="Presentation" showAsIcon="1" r:id="rId3" imgW="914400" imgH="771480" progId="PowerPoint.Show.12">
                  <p:embed/>
                  <p:pic>
                    <p:nvPicPr>
                      <p:cNvPr id="3" name="개체 2">
                        <a:hlinkClick r:id="" action="ppaction://ole?verb=0"/>
                        <a:extLst>
                          <a:ext uri="{FF2B5EF4-FFF2-40B4-BE49-F238E27FC236}">
                            <a16:creationId xmlns:a16="http://schemas.microsoft.com/office/drawing/2014/main" id="{D7CB93CE-F1D7-4498-9982-DEEF6670F06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6498102" y="3183968"/>
                        <a:ext cx="679939" cy="573699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91713851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제목 1">
            <a:extLst>
              <a:ext uri="{FF2B5EF4-FFF2-40B4-BE49-F238E27FC236}">
                <a16:creationId xmlns:a16="http://schemas.microsoft.com/office/drawing/2014/main" id="{33463036-9273-403C-B574-F3B0ABCB999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10A6B9B1-2049-4F02-8BC7-789DACC7CF8E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50522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EDC</a:t>
            </a:r>
            <a:r>
              <a:rPr lang="ko-KR" altLang="en-US" sz="1400" b="1" dirty="0">
                <a:solidFill>
                  <a:prstClr val="black"/>
                </a:solidFill>
                <a:latin typeface="+mj-lt"/>
                <a:ea typeface="+mj-ea"/>
                <a:cs typeface="Malgun Gothic Semilight" panose="020B0502040204020203" pitchFamily="50" charset="-127"/>
              </a:rPr>
              <a:t> </a:t>
            </a:r>
            <a:r>
              <a:rPr lang="en-US" altLang="ko-KR" sz="1400" b="1" dirty="0">
                <a:solidFill>
                  <a:prstClr val="black"/>
                </a:solidFill>
                <a:latin typeface="+mj-lt"/>
                <a:ea typeface="+mj-ea"/>
                <a:cs typeface="Malgun Gothic Semilight" panose="020B0502040204020203" pitchFamily="50" charset="-127"/>
              </a:rPr>
              <a:t>–</a:t>
            </a:r>
            <a:r>
              <a:rPr lang="ko-KR" altLang="en-US" sz="1400" b="1" dirty="0">
                <a:solidFill>
                  <a:prstClr val="black"/>
                </a:solidFill>
                <a:latin typeface="+mj-lt"/>
                <a:ea typeface="+mj-ea"/>
                <a:cs typeface="Malgun Gothic Semilight" panose="020B0502040204020203" pitchFamily="50" charset="-127"/>
              </a:rPr>
              <a:t> 시스템 배포</a:t>
            </a:r>
          </a:p>
        </p:txBody>
      </p:sp>
      <p:graphicFrame>
        <p:nvGraphicFramePr>
          <p:cNvPr id="20" name="표 1">
            <a:extLst>
              <a:ext uri="{FF2B5EF4-FFF2-40B4-BE49-F238E27FC236}">
                <a16:creationId xmlns:a16="http://schemas.microsoft.com/office/drawing/2014/main" id="{659BBC43-AB98-4D2A-9BBD-0D12CCD0CB05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8176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금주 진행사항 </a:t>
                      </a:r>
                      <a:r>
                        <a:rPr lang="en-US" altLang="ko-KR" sz="10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(W51)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EDC 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-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정기배포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전사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배포대상 없으며 차기 배포일에 맞추어 준비하겠습니다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EDC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주 간격으로 정기배포를 통해 개발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개선 등 변경사항을 운영시스템에 적용하고 있고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필요에 따라 비정기배포를 추가 수행합니다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셀추적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로직 변경이나 신규 데이터 수집 및 모니터링 기능 개발 등이 포함되며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배포통제 시스템을 통해 관리하고 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5380038" algn="l"/>
                        </a:tabLst>
                        <a:defRPr/>
                      </a:pPr>
                      <a:endParaRPr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5380038" algn="l"/>
                        </a:tabLst>
                        <a:defRPr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‘25.12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j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j-ea"/>
                        </a:rPr>
                        <a:t>박정우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j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이주민S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9" name="TextBox 68">
            <a:extLst>
              <a:ext uri="{FF2B5EF4-FFF2-40B4-BE49-F238E27FC236}">
                <a16:creationId xmlns:a16="http://schemas.microsoft.com/office/drawing/2014/main" id="{39E8FC91-174E-4202-873E-7E42952AE445}"/>
              </a:ext>
            </a:extLst>
          </p:cNvPr>
          <p:cNvSpPr txBox="1"/>
          <p:nvPr/>
        </p:nvSpPr>
        <p:spPr>
          <a:xfrm>
            <a:off x="8061886" y="670208"/>
            <a:ext cx="1654364" cy="33855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latin typeface="+mj-lt"/>
                <a:ea typeface="+mj-ea"/>
                <a:cs typeface="Malgun Gothic Semilight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 dirty="0"/>
              <a:t>업데이트 시간 </a:t>
            </a:r>
            <a:r>
              <a:rPr lang="en-US" altLang="ko-KR" dirty="0"/>
              <a:t>: 12/16(</a:t>
            </a:r>
            <a:r>
              <a:rPr lang="ko-KR" altLang="en-US" dirty="0"/>
              <a:t>화</a:t>
            </a:r>
            <a:r>
              <a:rPr lang="en-US" altLang="ko-KR" dirty="0"/>
              <a:t>) 10</a:t>
            </a:r>
            <a:r>
              <a:rPr lang="ko-KR" altLang="en-US" dirty="0"/>
              <a:t>시</a:t>
            </a:r>
            <a:endParaRPr lang="en-US" altLang="ko-KR" dirty="0"/>
          </a:p>
          <a:p>
            <a:endParaRPr lang="ko-KR" altLang="en-US" dirty="0"/>
          </a:p>
        </p:txBody>
      </p:sp>
      <p:sp>
        <p:nvSpPr>
          <p:cNvPr id="70" name="내용 개체 틀 20">
            <a:extLst>
              <a:ext uri="{FF2B5EF4-FFF2-40B4-BE49-F238E27FC236}">
                <a16:creationId xmlns:a16="http://schemas.microsoft.com/office/drawing/2014/main" id="{DC4304C2-0402-4C99-AF9E-21233B19C559}"/>
              </a:ext>
            </a:extLst>
          </p:cNvPr>
          <p:cNvSpPr txBox="1">
            <a:spLocks/>
          </p:cNvSpPr>
          <p:nvPr/>
        </p:nvSpPr>
        <p:spPr>
          <a:xfrm>
            <a:off x="8792919" y="500931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작성자 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이주민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S</a:t>
            </a:r>
            <a:endParaRPr lang="ko-KR" altLang="en-US" sz="1100" dirty="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93" name="내용 개체 틀 20">
            <a:extLst>
              <a:ext uri="{FF2B5EF4-FFF2-40B4-BE49-F238E27FC236}">
                <a16:creationId xmlns:a16="http://schemas.microsoft.com/office/drawing/2014/main" id="{CB253239-7835-445D-852C-8E1AABB0EAC4}"/>
              </a:ext>
            </a:extLst>
          </p:cNvPr>
          <p:cNvSpPr txBox="1">
            <a:spLocks/>
          </p:cNvSpPr>
          <p:nvPr/>
        </p:nvSpPr>
        <p:spPr>
          <a:xfrm>
            <a:off x="5620354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DX-#14, </a:t>
            </a:r>
            <a:r>
              <a:rPr lang="ko-KR" altLang="en-US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 dirty="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 dirty="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 dirty="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graphicFrame>
        <p:nvGraphicFramePr>
          <p:cNvPr id="6" name="Group 986">
            <a:extLst>
              <a:ext uri="{FF2B5EF4-FFF2-40B4-BE49-F238E27FC236}">
                <a16:creationId xmlns:a16="http://schemas.microsoft.com/office/drawing/2014/main" id="{A2065C9F-3DB6-6428-439F-DB341C7908B4}"/>
              </a:ext>
            </a:extLst>
          </p:cNvPr>
          <p:cNvGraphicFramePr>
            <a:graphicFrameLocks noGrp="1"/>
          </p:cNvGraphicFramePr>
          <p:nvPr/>
        </p:nvGraphicFramePr>
        <p:xfrm>
          <a:off x="1628169" y="2241723"/>
          <a:ext cx="7051675" cy="1095906"/>
        </p:xfrm>
        <a:graphic>
          <a:graphicData uri="http://schemas.openxmlformats.org/drawingml/2006/table">
            <a:tbl>
              <a:tblPr/>
              <a:tblGrid>
                <a:gridCol w="422791">
                  <a:extLst>
                    <a:ext uri="{9D8B030D-6E8A-4147-A177-3AD203B41FA5}">
                      <a16:colId xmlns:a16="http://schemas.microsoft.com/office/drawing/2014/main" val="977375500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3551264532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3383282952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1298559629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2772226814"/>
                    </a:ext>
                  </a:extLst>
                </a:gridCol>
                <a:gridCol w="552407">
                  <a:extLst>
                    <a:ext uri="{9D8B030D-6E8A-4147-A177-3AD203B41FA5}">
                      <a16:colId xmlns:a16="http://schemas.microsoft.com/office/drawing/2014/main" val="1265908635"/>
                    </a:ext>
                  </a:extLst>
                </a:gridCol>
              </a:tblGrid>
              <a:tr h="13429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구분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gridSpan="1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25</a:t>
                      </a:r>
                      <a:r>
                        <a:rPr kumimoji="1" lang="ko-KR" altLang="en-US" sz="1000" b="1" i="0" u="none" strike="noStrike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년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134295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3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4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5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6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7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8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9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10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11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12</a:t>
                      </a:r>
                      <a:r>
                        <a:rPr kumimoji="1" lang="ko-KR" altLang="en-US" sz="1000" b="1" i="0" u="none" strike="noStrike" kern="1200" cap="none" spc="-7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itchFamily="34" charset="0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60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506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406614"/>
                  </a:ext>
                </a:extLst>
              </a:tr>
            </a:tbl>
          </a:graphicData>
        </a:graphic>
      </p:graphicFrame>
      <p:sp>
        <p:nvSpPr>
          <p:cNvPr id="23" name="모서리가 둥근 직사각형 164">
            <a:extLst>
              <a:ext uri="{FF2B5EF4-FFF2-40B4-BE49-F238E27FC236}">
                <a16:creationId xmlns:a16="http://schemas.microsoft.com/office/drawing/2014/main" id="{59ABB14B-8096-90E7-82CB-8870A395B32D}"/>
              </a:ext>
            </a:extLst>
          </p:cNvPr>
          <p:cNvSpPr/>
          <p:nvPr/>
        </p:nvSpPr>
        <p:spPr>
          <a:xfrm>
            <a:off x="1631633" y="2568217"/>
            <a:ext cx="393945" cy="607491"/>
          </a:xfrm>
          <a:prstGeom prst="roundRect">
            <a:avLst/>
          </a:prstGeom>
          <a:solidFill>
            <a:schemeClr val="tx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36000" rIns="0" bIns="0" anchor="ctr" anchorCtr="1"/>
          <a:lstStyle/>
          <a:p>
            <a:pPr marL="0" marR="0" lvl="0" indent="0" algn="ctr" defTabSz="1022350" rtl="0" eaLnBrk="1" fontAlgn="base" latinLnBrk="0" hangingPunct="1"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>
                <a:solidFill>
                  <a:prstClr val="white"/>
                </a:solidFill>
                <a:latin typeface="+mj-ea"/>
                <a:ea typeface="+mj-ea"/>
                <a:cs typeface="Arial" pitchFamily="34" charset="0"/>
              </a:rPr>
              <a:t>배포</a:t>
            </a:r>
            <a:endParaRPr kumimoji="1" lang="en-US" altLang="ko-KR" sz="800" b="1" kern="0">
              <a:solidFill>
                <a:prstClr val="white"/>
              </a:solidFill>
              <a:latin typeface="+mj-ea"/>
              <a:ea typeface="+mj-ea"/>
              <a:cs typeface="Arial" pitchFamily="34" charset="0"/>
            </a:endParaRPr>
          </a:p>
          <a:p>
            <a:pPr marL="0" marR="0" lvl="0" indent="0" algn="ctr" defTabSz="1022350" rtl="0" eaLnBrk="1" fontAlgn="base" latinLnBrk="0" hangingPunct="1"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>
                <a:solidFill>
                  <a:prstClr val="white"/>
                </a:solidFill>
                <a:latin typeface="+mj-ea"/>
                <a:ea typeface="+mj-ea"/>
                <a:cs typeface="Arial" pitchFamily="34" charset="0"/>
              </a:rPr>
              <a:t>일자</a:t>
            </a:r>
            <a:endParaRPr kumimoji="1" lang="en-US" altLang="ko-KR" sz="800" b="1" kern="0">
              <a:solidFill>
                <a:prstClr val="white"/>
              </a:solidFill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24" name="Oval 113">
            <a:extLst>
              <a:ext uri="{FF2B5EF4-FFF2-40B4-BE49-F238E27FC236}">
                <a16:creationId xmlns:a16="http://schemas.microsoft.com/office/drawing/2014/main" id="{E20DF309-5313-683B-CE8E-B1EB60130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3085" y="256212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9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25" name="모서리가 둥근 직사각형 87">
            <a:extLst>
              <a:ext uri="{FF2B5EF4-FFF2-40B4-BE49-F238E27FC236}">
                <a16:creationId xmlns:a16="http://schemas.microsoft.com/office/drawing/2014/main" id="{76D1E278-B057-838A-5AC0-A55746955C76}"/>
              </a:ext>
            </a:extLst>
          </p:cNvPr>
          <p:cNvSpPr/>
          <p:nvPr/>
        </p:nvSpPr>
        <p:spPr>
          <a:xfrm>
            <a:off x="2202908" y="257743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26" name="모서리가 둥근 직사각형 87">
            <a:extLst>
              <a:ext uri="{FF2B5EF4-FFF2-40B4-BE49-F238E27FC236}">
                <a16:creationId xmlns:a16="http://schemas.microsoft.com/office/drawing/2014/main" id="{91556B56-386D-C6E6-3291-E40C804E5F88}"/>
              </a:ext>
            </a:extLst>
          </p:cNvPr>
          <p:cNvSpPr/>
          <p:nvPr/>
        </p:nvSpPr>
        <p:spPr>
          <a:xfrm>
            <a:off x="2206084" y="2735967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29" name="모서리가 둥근 직사각형 87">
            <a:extLst>
              <a:ext uri="{FF2B5EF4-FFF2-40B4-BE49-F238E27FC236}">
                <a16:creationId xmlns:a16="http://schemas.microsoft.com/office/drawing/2014/main" id="{CF17678D-BEAA-9D1E-333C-F2DDEA1E9CFF}"/>
              </a:ext>
            </a:extLst>
          </p:cNvPr>
          <p:cNvSpPr/>
          <p:nvPr/>
        </p:nvSpPr>
        <p:spPr>
          <a:xfrm>
            <a:off x="2202908" y="289844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30" name="모서리가 둥근 직사각형 87">
            <a:extLst>
              <a:ext uri="{FF2B5EF4-FFF2-40B4-BE49-F238E27FC236}">
                <a16:creationId xmlns:a16="http://schemas.microsoft.com/office/drawing/2014/main" id="{4D7BBA65-7392-2488-251F-10048EEA73A3}"/>
              </a:ext>
            </a:extLst>
          </p:cNvPr>
          <p:cNvSpPr/>
          <p:nvPr/>
        </p:nvSpPr>
        <p:spPr>
          <a:xfrm>
            <a:off x="2206084" y="3056982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31" name="Oval 113">
            <a:extLst>
              <a:ext uri="{FF2B5EF4-FFF2-40B4-BE49-F238E27FC236}">
                <a16:creationId xmlns:a16="http://schemas.microsoft.com/office/drawing/2014/main" id="{CABF5906-AF2D-2035-1EDF-C4AB6DCF4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3085" y="304118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23</a:t>
            </a:r>
          </a:p>
        </p:txBody>
      </p:sp>
      <p:sp>
        <p:nvSpPr>
          <p:cNvPr id="32" name="Oval 113">
            <a:extLst>
              <a:ext uri="{FF2B5EF4-FFF2-40B4-BE49-F238E27FC236}">
                <a16:creationId xmlns:a16="http://schemas.microsoft.com/office/drawing/2014/main" id="{9CCE39CD-3485-CD1E-2D64-6BB1C601F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3085" y="2718745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16</a:t>
            </a:r>
          </a:p>
        </p:txBody>
      </p:sp>
      <p:sp>
        <p:nvSpPr>
          <p:cNvPr id="35" name="Oval 113">
            <a:extLst>
              <a:ext uri="{FF2B5EF4-FFF2-40B4-BE49-F238E27FC236}">
                <a16:creationId xmlns:a16="http://schemas.microsoft.com/office/drawing/2014/main" id="{7D24C223-0CD3-0BEF-2724-895127BB1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3085" y="2880330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21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36" name="Oval 113">
            <a:extLst>
              <a:ext uri="{FF2B5EF4-FFF2-40B4-BE49-F238E27FC236}">
                <a16:creationId xmlns:a16="http://schemas.microsoft.com/office/drawing/2014/main" id="{C8249B1B-3848-4933-4C49-572BA562B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7958" y="2557312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6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38" name="모서리가 둥근 직사각형 87">
            <a:extLst>
              <a:ext uri="{FF2B5EF4-FFF2-40B4-BE49-F238E27FC236}">
                <a16:creationId xmlns:a16="http://schemas.microsoft.com/office/drawing/2014/main" id="{8078052C-81FC-3860-23A9-B46DD04C545E}"/>
              </a:ext>
            </a:extLst>
          </p:cNvPr>
          <p:cNvSpPr/>
          <p:nvPr/>
        </p:nvSpPr>
        <p:spPr>
          <a:xfrm>
            <a:off x="2767781" y="2572618"/>
            <a:ext cx="396000" cy="108000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39" name="모서리가 둥근 직사각형 87">
            <a:extLst>
              <a:ext uri="{FF2B5EF4-FFF2-40B4-BE49-F238E27FC236}">
                <a16:creationId xmlns:a16="http://schemas.microsoft.com/office/drawing/2014/main" id="{E3FE78EA-34E7-8701-A336-90DEBB77F77E}"/>
              </a:ext>
            </a:extLst>
          </p:cNvPr>
          <p:cNvSpPr/>
          <p:nvPr/>
        </p:nvSpPr>
        <p:spPr>
          <a:xfrm>
            <a:off x="2767894" y="2735967"/>
            <a:ext cx="396000" cy="108000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40" name="Oval 113">
            <a:extLst>
              <a:ext uri="{FF2B5EF4-FFF2-40B4-BE49-F238E27FC236}">
                <a16:creationId xmlns:a16="http://schemas.microsoft.com/office/drawing/2014/main" id="{C0A118D1-2A99-DF8F-9000-DAF3B24F9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895" y="272016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20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41" name="Oval 113">
            <a:extLst>
              <a:ext uri="{FF2B5EF4-FFF2-40B4-BE49-F238E27FC236}">
                <a16:creationId xmlns:a16="http://schemas.microsoft.com/office/drawing/2014/main" id="{037C7384-2D86-602E-6509-A6CCECD20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9370" y="256839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6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42" name="모서리가 둥근 직사각형 87">
            <a:extLst>
              <a:ext uri="{FF2B5EF4-FFF2-40B4-BE49-F238E27FC236}">
                <a16:creationId xmlns:a16="http://schemas.microsoft.com/office/drawing/2014/main" id="{1D98D75C-5F27-F177-8A05-12B6DBC263D2}"/>
              </a:ext>
            </a:extLst>
          </p:cNvPr>
          <p:cNvSpPr/>
          <p:nvPr/>
        </p:nvSpPr>
        <p:spPr>
          <a:xfrm>
            <a:off x="3319193" y="2583699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44" name="모서리가 둥근 직사각형 87">
            <a:extLst>
              <a:ext uri="{FF2B5EF4-FFF2-40B4-BE49-F238E27FC236}">
                <a16:creationId xmlns:a16="http://schemas.microsoft.com/office/drawing/2014/main" id="{3FD97EC1-032D-ED9F-9830-FD7E5F1C17AE}"/>
              </a:ext>
            </a:extLst>
          </p:cNvPr>
          <p:cNvSpPr/>
          <p:nvPr/>
        </p:nvSpPr>
        <p:spPr>
          <a:xfrm>
            <a:off x="3322369" y="2735967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45" name="Oval 113">
            <a:extLst>
              <a:ext uri="{FF2B5EF4-FFF2-40B4-BE49-F238E27FC236}">
                <a16:creationId xmlns:a16="http://schemas.microsoft.com/office/drawing/2014/main" id="{F2055DE6-8D3D-59A6-C92B-6CF186306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9370" y="272016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20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46" name="Oval 113">
            <a:extLst>
              <a:ext uri="{FF2B5EF4-FFF2-40B4-BE49-F238E27FC236}">
                <a16:creationId xmlns:a16="http://schemas.microsoft.com/office/drawing/2014/main" id="{CC04ADA3-1B42-9096-1B77-C8BA676A0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666" y="256754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3</a:t>
            </a:r>
          </a:p>
        </p:txBody>
      </p:sp>
      <p:sp>
        <p:nvSpPr>
          <p:cNvPr id="47" name="모서리가 둥근 직사각형 87">
            <a:extLst>
              <a:ext uri="{FF2B5EF4-FFF2-40B4-BE49-F238E27FC236}">
                <a16:creationId xmlns:a16="http://schemas.microsoft.com/office/drawing/2014/main" id="{7DFFDC49-BECA-2821-00DA-5401547F29B8}"/>
              </a:ext>
            </a:extLst>
          </p:cNvPr>
          <p:cNvSpPr/>
          <p:nvPr/>
        </p:nvSpPr>
        <p:spPr>
          <a:xfrm>
            <a:off x="3872489" y="258285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48" name="모서리가 둥근 직사각형 87">
            <a:extLst>
              <a:ext uri="{FF2B5EF4-FFF2-40B4-BE49-F238E27FC236}">
                <a16:creationId xmlns:a16="http://schemas.microsoft.com/office/drawing/2014/main" id="{CA2ECBAC-70D0-8775-4993-7C163F30CB70}"/>
              </a:ext>
            </a:extLst>
          </p:cNvPr>
          <p:cNvSpPr/>
          <p:nvPr/>
        </p:nvSpPr>
        <p:spPr>
          <a:xfrm>
            <a:off x="3871241" y="273677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49" name="Oval 113">
            <a:extLst>
              <a:ext uri="{FF2B5EF4-FFF2-40B4-BE49-F238E27FC236}">
                <a16:creationId xmlns:a16="http://schemas.microsoft.com/office/drawing/2014/main" id="{13658FED-A314-76B7-46B8-F0EEE3FCD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8242" y="271885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17</a:t>
            </a:r>
          </a:p>
        </p:txBody>
      </p:sp>
      <p:sp>
        <p:nvSpPr>
          <p:cNvPr id="50" name="Oval 113">
            <a:extLst>
              <a:ext uri="{FF2B5EF4-FFF2-40B4-BE49-F238E27FC236}">
                <a16:creationId xmlns:a16="http://schemas.microsoft.com/office/drawing/2014/main" id="{95171403-97C9-8D41-D0EC-9231189F4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665" y="256754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8</a:t>
            </a:r>
          </a:p>
        </p:txBody>
      </p:sp>
      <p:sp>
        <p:nvSpPr>
          <p:cNvPr id="51" name="모서리가 둥근 직사각형 87">
            <a:extLst>
              <a:ext uri="{FF2B5EF4-FFF2-40B4-BE49-F238E27FC236}">
                <a16:creationId xmlns:a16="http://schemas.microsoft.com/office/drawing/2014/main" id="{A324E908-1780-8DEF-0791-F4F90A65318C}"/>
              </a:ext>
            </a:extLst>
          </p:cNvPr>
          <p:cNvSpPr/>
          <p:nvPr/>
        </p:nvSpPr>
        <p:spPr>
          <a:xfrm>
            <a:off x="4421488" y="258285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52" name="모서리가 둥근 직사각형 87">
            <a:extLst>
              <a:ext uri="{FF2B5EF4-FFF2-40B4-BE49-F238E27FC236}">
                <a16:creationId xmlns:a16="http://schemas.microsoft.com/office/drawing/2014/main" id="{2A5B8E86-7B57-EACB-6553-DBAE11FCBEBB}"/>
              </a:ext>
            </a:extLst>
          </p:cNvPr>
          <p:cNvSpPr/>
          <p:nvPr/>
        </p:nvSpPr>
        <p:spPr>
          <a:xfrm>
            <a:off x="4420240" y="273677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53" name="Oval 113">
            <a:extLst>
              <a:ext uri="{FF2B5EF4-FFF2-40B4-BE49-F238E27FC236}">
                <a16:creationId xmlns:a16="http://schemas.microsoft.com/office/drawing/2014/main" id="{8BF2DFA5-0432-F27B-0F4B-73F3DFE79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7241" y="271885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22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54" name="모서리가 둥근 직사각형 87">
            <a:extLst>
              <a:ext uri="{FF2B5EF4-FFF2-40B4-BE49-F238E27FC236}">
                <a16:creationId xmlns:a16="http://schemas.microsoft.com/office/drawing/2014/main" id="{3D76792E-9F2E-177B-EA1A-00082B67B715}"/>
              </a:ext>
            </a:extLst>
          </p:cNvPr>
          <p:cNvSpPr/>
          <p:nvPr/>
        </p:nvSpPr>
        <p:spPr>
          <a:xfrm>
            <a:off x="5520827" y="319902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55" name="Oval 113">
            <a:extLst>
              <a:ext uri="{FF2B5EF4-FFF2-40B4-BE49-F238E27FC236}">
                <a16:creationId xmlns:a16="http://schemas.microsoft.com/office/drawing/2014/main" id="{8161BA1F-61CA-2998-EF46-F78E5614F4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7828" y="318111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31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56" name="Oval 113">
            <a:extLst>
              <a:ext uri="{FF2B5EF4-FFF2-40B4-BE49-F238E27FC236}">
                <a16:creationId xmlns:a16="http://schemas.microsoft.com/office/drawing/2014/main" id="{9A046D05-F4CF-EB4E-806F-EB3B9A260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8980" y="256754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5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57" name="모서리가 둥근 직사각형 87">
            <a:extLst>
              <a:ext uri="{FF2B5EF4-FFF2-40B4-BE49-F238E27FC236}">
                <a16:creationId xmlns:a16="http://schemas.microsoft.com/office/drawing/2014/main" id="{354487CD-6A72-B0D3-8C3B-A0012AC73A22}"/>
              </a:ext>
            </a:extLst>
          </p:cNvPr>
          <p:cNvSpPr/>
          <p:nvPr/>
        </p:nvSpPr>
        <p:spPr>
          <a:xfrm>
            <a:off x="4968803" y="258285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58" name="모서리가 둥근 직사각형 87">
            <a:extLst>
              <a:ext uri="{FF2B5EF4-FFF2-40B4-BE49-F238E27FC236}">
                <a16:creationId xmlns:a16="http://schemas.microsoft.com/office/drawing/2014/main" id="{F285D06C-995A-DC8E-6C47-A13B581EBCF4}"/>
              </a:ext>
            </a:extLst>
          </p:cNvPr>
          <p:cNvSpPr/>
          <p:nvPr/>
        </p:nvSpPr>
        <p:spPr>
          <a:xfrm>
            <a:off x="4967555" y="289679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59" name="Oval 113">
            <a:extLst>
              <a:ext uri="{FF2B5EF4-FFF2-40B4-BE49-F238E27FC236}">
                <a16:creationId xmlns:a16="http://schemas.microsoft.com/office/drawing/2014/main" id="{65BE291B-EF0C-A7B6-AE5B-6D531BF6B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4556" y="287887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19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60" name="Oval 113">
            <a:extLst>
              <a:ext uri="{FF2B5EF4-FFF2-40B4-BE49-F238E27FC236}">
                <a16:creationId xmlns:a16="http://schemas.microsoft.com/office/drawing/2014/main" id="{3180988E-5E5D-1874-EB55-C46D4DBC0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3646" y="256754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3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63" name="모서리가 둥근 직사각형 87">
            <a:extLst>
              <a:ext uri="{FF2B5EF4-FFF2-40B4-BE49-F238E27FC236}">
                <a16:creationId xmlns:a16="http://schemas.microsoft.com/office/drawing/2014/main" id="{02FE29D9-3BAD-474C-5CDB-BB49823077DB}"/>
              </a:ext>
            </a:extLst>
          </p:cNvPr>
          <p:cNvSpPr/>
          <p:nvPr/>
        </p:nvSpPr>
        <p:spPr>
          <a:xfrm>
            <a:off x="5513469" y="258285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64" name="모서리가 둥근 직사각형 87">
            <a:extLst>
              <a:ext uri="{FF2B5EF4-FFF2-40B4-BE49-F238E27FC236}">
                <a16:creationId xmlns:a16="http://schemas.microsoft.com/office/drawing/2014/main" id="{904C0685-C351-7730-4E04-660F62E57472}"/>
              </a:ext>
            </a:extLst>
          </p:cNvPr>
          <p:cNvSpPr/>
          <p:nvPr/>
        </p:nvSpPr>
        <p:spPr>
          <a:xfrm>
            <a:off x="5512221" y="2881554"/>
            <a:ext cx="396000" cy="108000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65" name="Oval 113">
            <a:extLst>
              <a:ext uri="{FF2B5EF4-FFF2-40B4-BE49-F238E27FC236}">
                <a16:creationId xmlns:a16="http://schemas.microsoft.com/office/drawing/2014/main" id="{1D5B305E-3FC0-2055-6ABA-6C08680D9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222" y="286363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17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66" name="모서리가 둥근 직사각형 87">
            <a:extLst>
              <a:ext uri="{FF2B5EF4-FFF2-40B4-BE49-F238E27FC236}">
                <a16:creationId xmlns:a16="http://schemas.microsoft.com/office/drawing/2014/main" id="{9B5DF92B-A880-FF70-9741-B75813DF5175}"/>
              </a:ext>
            </a:extLst>
          </p:cNvPr>
          <p:cNvSpPr/>
          <p:nvPr/>
        </p:nvSpPr>
        <p:spPr>
          <a:xfrm>
            <a:off x="6057159" y="258285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67" name="모서리가 둥근 직사각형 87">
            <a:extLst>
              <a:ext uri="{FF2B5EF4-FFF2-40B4-BE49-F238E27FC236}">
                <a16:creationId xmlns:a16="http://schemas.microsoft.com/office/drawing/2014/main" id="{332E7200-16E9-EA0E-D2BD-6692E7DFA393}"/>
              </a:ext>
            </a:extLst>
          </p:cNvPr>
          <p:cNvSpPr/>
          <p:nvPr/>
        </p:nvSpPr>
        <p:spPr>
          <a:xfrm>
            <a:off x="6055911" y="273677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68" name="Oval 113">
            <a:extLst>
              <a:ext uri="{FF2B5EF4-FFF2-40B4-BE49-F238E27FC236}">
                <a16:creationId xmlns:a16="http://schemas.microsoft.com/office/drawing/2014/main" id="{3A7222B2-DC2C-EE27-7D27-C59D25FC8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3406" y="256754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11</a:t>
            </a:r>
          </a:p>
        </p:txBody>
      </p:sp>
      <p:sp>
        <p:nvSpPr>
          <p:cNvPr id="71" name="모서리가 둥근 직사각형 87">
            <a:extLst>
              <a:ext uri="{FF2B5EF4-FFF2-40B4-BE49-F238E27FC236}">
                <a16:creationId xmlns:a16="http://schemas.microsoft.com/office/drawing/2014/main" id="{14018E1C-3DA3-EDC9-0492-D98D20E60CD1}"/>
              </a:ext>
            </a:extLst>
          </p:cNvPr>
          <p:cNvSpPr/>
          <p:nvPr/>
        </p:nvSpPr>
        <p:spPr>
          <a:xfrm>
            <a:off x="6613229" y="258285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72" name="모서리가 둥근 직사각형 87">
            <a:extLst>
              <a:ext uri="{FF2B5EF4-FFF2-40B4-BE49-F238E27FC236}">
                <a16:creationId xmlns:a16="http://schemas.microsoft.com/office/drawing/2014/main" id="{E254695D-29EB-281E-ED65-7261C9003923}"/>
              </a:ext>
            </a:extLst>
          </p:cNvPr>
          <p:cNvSpPr/>
          <p:nvPr/>
        </p:nvSpPr>
        <p:spPr>
          <a:xfrm>
            <a:off x="6611981" y="273677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73" name="Oval 113">
            <a:extLst>
              <a:ext uri="{FF2B5EF4-FFF2-40B4-BE49-F238E27FC236}">
                <a16:creationId xmlns:a16="http://schemas.microsoft.com/office/drawing/2014/main" id="{1E7DD15D-5B5E-494E-4E42-4B082EBC6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8982" y="271885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25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78" name="모서리가 둥근 직사각형 87">
            <a:extLst>
              <a:ext uri="{FF2B5EF4-FFF2-40B4-BE49-F238E27FC236}">
                <a16:creationId xmlns:a16="http://schemas.microsoft.com/office/drawing/2014/main" id="{B231CBCD-9403-0D91-4198-ECBDE83CCCD2}"/>
              </a:ext>
            </a:extLst>
          </p:cNvPr>
          <p:cNvSpPr/>
          <p:nvPr/>
        </p:nvSpPr>
        <p:spPr>
          <a:xfrm>
            <a:off x="3873586" y="289254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79" name="Oval 113">
            <a:extLst>
              <a:ext uri="{FF2B5EF4-FFF2-40B4-BE49-F238E27FC236}">
                <a16:creationId xmlns:a16="http://schemas.microsoft.com/office/drawing/2014/main" id="{56C50575-0875-AB7B-DBFF-3419D5D2C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3763" y="2874428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/>
              </a:rPr>
              <a:t>24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80" name="모서리가 둥근 직사각형 87">
            <a:extLst>
              <a:ext uri="{FF2B5EF4-FFF2-40B4-BE49-F238E27FC236}">
                <a16:creationId xmlns:a16="http://schemas.microsoft.com/office/drawing/2014/main" id="{8DEF96BD-98F8-35C4-6EE2-8B8AA48EC004}"/>
              </a:ext>
            </a:extLst>
          </p:cNvPr>
          <p:cNvSpPr/>
          <p:nvPr/>
        </p:nvSpPr>
        <p:spPr>
          <a:xfrm>
            <a:off x="4970866" y="274014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81" name="Oval 113">
            <a:extLst>
              <a:ext uri="{FF2B5EF4-FFF2-40B4-BE49-F238E27FC236}">
                <a16:creationId xmlns:a16="http://schemas.microsoft.com/office/drawing/2014/main" id="{FE3173F4-6182-47B5-519D-5DFD85E08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043" y="2722028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/>
              </a:rPr>
              <a:t>24</a:t>
            </a:r>
            <a:endParaRPr kumimoji="1"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82" name="모서리가 둥근 직사각형 87">
            <a:extLst>
              <a:ext uri="{FF2B5EF4-FFF2-40B4-BE49-F238E27FC236}">
                <a16:creationId xmlns:a16="http://schemas.microsoft.com/office/drawing/2014/main" id="{A559D2D9-4923-6746-1E8D-ED5EEEAFE2E1}"/>
              </a:ext>
            </a:extLst>
          </p:cNvPr>
          <p:cNvSpPr/>
          <p:nvPr/>
        </p:nvSpPr>
        <p:spPr>
          <a:xfrm>
            <a:off x="5511886" y="3042180"/>
            <a:ext cx="396000" cy="108000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83" name="Oval 113">
            <a:extLst>
              <a:ext uri="{FF2B5EF4-FFF2-40B4-BE49-F238E27FC236}">
                <a16:creationId xmlns:a16="http://schemas.microsoft.com/office/drawing/2014/main" id="{4281F41E-9A15-BF22-F068-DB42ADCA6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063" y="3024064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/>
              </a:rPr>
              <a:t>24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84" name="모서리가 둥근 직사각형 87">
            <a:extLst>
              <a:ext uri="{FF2B5EF4-FFF2-40B4-BE49-F238E27FC236}">
                <a16:creationId xmlns:a16="http://schemas.microsoft.com/office/drawing/2014/main" id="{E42E9D17-59C1-D730-4C66-BEB93B42B7B8}"/>
              </a:ext>
            </a:extLst>
          </p:cNvPr>
          <p:cNvSpPr/>
          <p:nvPr/>
        </p:nvSpPr>
        <p:spPr>
          <a:xfrm>
            <a:off x="5513231" y="2734221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85" name="Oval 113">
            <a:extLst>
              <a:ext uri="{FF2B5EF4-FFF2-40B4-BE49-F238E27FC236}">
                <a16:creationId xmlns:a16="http://schemas.microsoft.com/office/drawing/2014/main" id="{87030B52-9403-F388-1243-600A8D249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3378" y="2716105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9</a:t>
            </a:r>
          </a:p>
        </p:txBody>
      </p:sp>
      <p:sp>
        <p:nvSpPr>
          <p:cNvPr id="86" name="Oval 113">
            <a:extLst>
              <a:ext uri="{FF2B5EF4-FFF2-40B4-BE49-F238E27FC236}">
                <a16:creationId xmlns:a16="http://schemas.microsoft.com/office/drawing/2014/main" id="{5ECCF418-A4A4-084B-BAD4-D99016C0B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6303" y="2582755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13</a:t>
            </a:r>
          </a:p>
        </p:txBody>
      </p:sp>
      <p:sp>
        <p:nvSpPr>
          <p:cNvPr id="87" name="모서리가 둥근 직사각형 87">
            <a:extLst>
              <a:ext uri="{FF2B5EF4-FFF2-40B4-BE49-F238E27FC236}">
                <a16:creationId xmlns:a16="http://schemas.microsoft.com/office/drawing/2014/main" id="{DD8387E1-286E-7055-96CE-DEF7D24C8B86}"/>
              </a:ext>
            </a:extLst>
          </p:cNvPr>
          <p:cNvSpPr/>
          <p:nvPr/>
        </p:nvSpPr>
        <p:spPr>
          <a:xfrm>
            <a:off x="6055911" y="2889174"/>
            <a:ext cx="396000" cy="108000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88" name="Oval 113">
            <a:extLst>
              <a:ext uri="{FF2B5EF4-FFF2-40B4-BE49-F238E27FC236}">
                <a16:creationId xmlns:a16="http://schemas.microsoft.com/office/drawing/2014/main" id="{5B737C69-FBD0-0646-6AC9-C043E280D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2912" y="2871259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28</a:t>
            </a:r>
          </a:p>
        </p:txBody>
      </p:sp>
      <p:sp>
        <p:nvSpPr>
          <p:cNvPr id="89" name="Oval 113">
            <a:extLst>
              <a:ext uri="{FF2B5EF4-FFF2-40B4-BE49-F238E27FC236}">
                <a16:creationId xmlns:a16="http://schemas.microsoft.com/office/drawing/2014/main" id="{94AE20E8-1637-94C1-8C4E-7ED818E54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6303" y="2735155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21</a:t>
            </a:r>
          </a:p>
        </p:txBody>
      </p:sp>
      <p:sp>
        <p:nvSpPr>
          <p:cNvPr id="90" name="Oval 113">
            <a:extLst>
              <a:ext uri="{FF2B5EF4-FFF2-40B4-BE49-F238E27FC236}">
                <a16:creationId xmlns:a16="http://schemas.microsoft.com/office/drawing/2014/main" id="{7E365B44-1E05-BFE4-1298-43CE0A131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9476" y="274644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600" b="1" kern="0">
                <a:solidFill>
                  <a:prstClr val="black"/>
                </a:solidFill>
                <a:latin typeface="+mj-ea"/>
                <a:ea typeface="+mj-ea"/>
                <a:cs typeface="Arial"/>
              </a:rPr>
              <a:t>16</a:t>
            </a:r>
            <a:endParaRPr lang="en-US" altLang="ko-KR" sz="6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/>
            </a:endParaRPr>
          </a:p>
        </p:txBody>
      </p:sp>
      <p:sp>
        <p:nvSpPr>
          <p:cNvPr id="91" name="모서리가 둥근 직사각형 87">
            <a:extLst>
              <a:ext uri="{FF2B5EF4-FFF2-40B4-BE49-F238E27FC236}">
                <a16:creationId xmlns:a16="http://schemas.microsoft.com/office/drawing/2014/main" id="{06529DFF-FB9A-4F41-E3AD-D0269A7F1D65}"/>
              </a:ext>
            </a:extLst>
          </p:cNvPr>
          <p:cNvSpPr/>
          <p:nvPr/>
        </p:nvSpPr>
        <p:spPr>
          <a:xfrm>
            <a:off x="7169299" y="276175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92" name="모서리가 둥근 직사각형 87">
            <a:extLst>
              <a:ext uri="{FF2B5EF4-FFF2-40B4-BE49-F238E27FC236}">
                <a16:creationId xmlns:a16="http://schemas.microsoft.com/office/drawing/2014/main" id="{545EDD1D-9D3F-C60F-F48E-21D0349F5EAE}"/>
              </a:ext>
            </a:extLst>
          </p:cNvPr>
          <p:cNvSpPr/>
          <p:nvPr/>
        </p:nvSpPr>
        <p:spPr>
          <a:xfrm>
            <a:off x="7175033" y="2588295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94" name="Oval 113">
            <a:extLst>
              <a:ext uri="{FF2B5EF4-FFF2-40B4-BE49-F238E27FC236}">
                <a16:creationId xmlns:a16="http://schemas.microsoft.com/office/drawing/2014/main" id="{F47E0893-E8F6-D5B3-A03F-FAE451C9E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5210" y="2570179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/>
              </a:rPr>
              <a:t>1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95" name="모서리가 둥근 직사각형 87">
            <a:extLst>
              <a:ext uri="{FF2B5EF4-FFF2-40B4-BE49-F238E27FC236}">
                <a16:creationId xmlns:a16="http://schemas.microsoft.com/office/drawing/2014/main" id="{BECACF87-9851-D0F4-3925-1557FDE4DB86}"/>
              </a:ext>
            </a:extLst>
          </p:cNvPr>
          <p:cNvSpPr/>
          <p:nvPr/>
        </p:nvSpPr>
        <p:spPr>
          <a:xfrm>
            <a:off x="7175033" y="2931195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97" name="Oval 113">
            <a:extLst>
              <a:ext uri="{FF2B5EF4-FFF2-40B4-BE49-F238E27FC236}">
                <a16:creationId xmlns:a16="http://schemas.microsoft.com/office/drawing/2014/main" id="{3F05BE22-53BE-07A4-365E-D3220FBE8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5210" y="2913079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/>
              </a:rPr>
              <a:t>21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98" name="Oval 113">
            <a:extLst>
              <a:ext uri="{FF2B5EF4-FFF2-40B4-BE49-F238E27FC236}">
                <a16:creationId xmlns:a16="http://schemas.microsoft.com/office/drawing/2014/main" id="{9228CBEC-3556-5C65-B134-C43EC6309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8970" y="257791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13</a:t>
            </a:r>
          </a:p>
        </p:txBody>
      </p:sp>
      <p:sp>
        <p:nvSpPr>
          <p:cNvPr id="99" name="모서리가 둥근 직사각형 87">
            <a:extLst>
              <a:ext uri="{FF2B5EF4-FFF2-40B4-BE49-F238E27FC236}">
                <a16:creationId xmlns:a16="http://schemas.microsoft.com/office/drawing/2014/main" id="{B62283CA-4C11-CDD1-0914-9AFA71C01AB8}"/>
              </a:ext>
            </a:extLst>
          </p:cNvPr>
          <p:cNvSpPr/>
          <p:nvPr/>
        </p:nvSpPr>
        <p:spPr>
          <a:xfrm>
            <a:off x="7738793" y="259322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00" name="모서리가 둥근 직사각형 87">
            <a:extLst>
              <a:ext uri="{FF2B5EF4-FFF2-40B4-BE49-F238E27FC236}">
                <a16:creationId xmlns:a16="http://schemas.microsoft.com/office/drawing/2014/main" id="{EAFD5368-EF66-CA38-D097-8B0336E45DED}"/>
              </a:ext>
            </a:extLst>
          </p:cNvPr>
          <p:cNvSpPr/>
          <p:nvPr/>
        </p:nvSpPr>
        <p:spPr>
          <a:xfrm>
            <a:off x="7741969" y="2876126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42" name="Oval 113">
            <a:extLst>
              <a:ext uri="{FF2B5EF4-FFF2-40B4-BE49-F238E27FC236}">
                <a16:creationId xmlns:a16="http://schemas.microsoft.com/office/drawing/2014/main" id="{AB283E46-C4D9-CD8F-D543-B3127743B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8970" y="286032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27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48" name="Oval 113">
            <a:extLst>
              <a:ext uri="{FF2B5EF4-FFF2-40B4-BE49-F238E27FC236}">
                <a16:creationId xmlns:a16="http://schemas.microsoft.com/office/drawing/2014/main" id="{142B44C5-6674-3D61-FA95-BA0286A98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1420" y="272269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 pitchFamily="34" charset="0"/>
              </a:rPr>
              <a:t>11</a:t>
            </a:r>
          </a:p>
        </p:txBody>
      </p:sp>
      <p:sp>
        <p:nvSpPr>
          <p:cNvPr id="149" name="모서리가 둥근 직사각형 87">
            <a:extLst>
              <a:ext uri="{FF2B5EF4-FFF2-40B4-BE49-F238E27FC236}">
                <a16:creationId xmlns:a16="http://schemas.microsoft.com/office/drawing/2014/main" id="{8903FAE2-5C6A-7FD3-1AB7-EF3A32E737A9}"/>
              </a:ext>
            </a:extLst>
          </p:cNvPr>
          <p:cNvSpPr/>
          <p:nvPr/>
        </p:nvSpPr>
        <p:spPr>
          <a:xfrm>
            <a:off x="8291243" y="273800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50" name="모서리가 둥근 직사각형 87">
            <a:extLst>
              <a:ext uri="{FF2B5EF4-FFF2-40B4-BE49-F238E27FC236}">
                <a16:creationId xmlns:a16="http://schemas.microsoft.com/office/drawing/2014/main" id="{E4253D68-12E7-D7B9-2C9F-C596DC302585}"/>
              </a:ext>
            </a:extLst>
          </p:cNvPr>
          <p:cNvSpPr/>
          <p:nvPr/>
        </p:nvSpPr>
        <p:spPr>
          <a:xfrm>
            <a:off x="8294419" y="2890272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정기배포</a:t>
            </a:r>
          </a:p>
        </p:txBody>
      </p:sp>
      <p:sp>
        <p:nvSpPr>
          <p:cNvPr id="151" name="Oval 113">
            <a:extLst>
              <a:ext uri="{FF2B5EF4-FFF2-40B4-BE49-F238E27FC236}">
                <a16:creationId xmlns:a16="http://schemas.microsoft.com/office/drawing/2014/main" id="{38ECF0F8-4BB2-1960-D770-C6EE1054C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1420" y="287447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700" b="1" kern="0" dirty="0">
                <a:solidFill>
                  <a:prstClr val="black"/>
                </a:solidFill>
                <a:latin typeface="+mj-ea"/>
                <a:ea typeface="+mj-ea"/>
                <a:cs typeface="Arial" pitchFamily="34" charset="0"/>
              </a:rPr>
              <a:t>24</a:t>
            </a:r>
            <a:endParaRPr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52" name="Oval 113">
            <a:extLst>
              <a:ext uri="{FF2B5EF4-FFF2-40B4-BE49-F238E27FC236}">
                <a16:creationId xmlns:a16="http://schemas.microsoft.com/office/drawing/2014/main" id="{B61491C9-50F8-A303-87CA-7C90EE08E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7491" y="2720242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  <a:cs typeface="Arial"/>
              </a:rPr>
              <a:t>20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53" name="모서리가 둥근 직사각형 87">
            <a:extLst>
              <a:ext uri="{FF2B5EF4-FFF2-40B4-BE49-F238E27FC236}">
                <a16:creationId xmlns:a16="http://schemas.microsoft.com/office/drawing/2014/main" id="{38D931DB-7DF6-ACD8-EAAB-0E3C7ADA553F}"/>
              </a:ext>
            </a:extLst>
          </p:cNvPr>
          <p:cNvSpPr/>
          <p:nvPr/>
        </p:nvSpPr>
        <p:spPr>
          <a:xfrm>
            <a:off x="7737983" y="273677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  <p:sp>
        <p:nvSpPr>
          <p:cNvPr id="154" name="Oval 113">
            <a:extLst>
              <a:ext uri="{FF2B5EF4-FFF2-40B4-BE49-F238E27FC236}">
                <a16:creationId xmlns:a16="http://schemas.microsoft.com/office/drawing/2014/main" id="{363E6EEB-FB29-3081-CFC4-4488ED8DA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6131" y="2575462"/>
            <a:ext cx="144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kern="0">
                <a:solidFill>
                  <a:prstClr val="black"/>
                </a:solidFill>
                <a:latin typeface="+mj-ea"/>
                <a:ea typeface="+mj-ea"/>
                <a:cs typeface="Arial"/>
              </a:rPr>
              <a:t>4</a:t>
            </a:r>
            <a:endParaRPr lang="en-US" altLang="ko-KR" sz="7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  <a:cs typeface="Arial" pitchFamily="34" charset="0"/>
            </a:endParaRPr>
          </a:p>
        </p:txBody>
      </p:sp>
      <p:sp>
        <p:nvSpPr>
          <p:cNvPr id="155" name="모서리가 둥근 직사각형 87">
            <a:extLst>
              <a:ext uri="{FF2B5EF4-FFF2-40B4-BE49-F238E27FC236}">
                <a16:creationId xmlns:a16="http://schemas.microsoft.com/office/drawing/2014/main" id="{92879B1B-0679-7BFF-A67A-8CD083BE24B9}"/>
              </a:ext>
            </a:extLst>
          </p:cNvPr>
          <p:cNvSpPr/>
          <p:nvPr/>
        </p:nvSpPr>
        <p:spPr>
          <a:xfrm>
            <a:off x="8286623" y="2591994"/>
            <a:ext cx="396000" cy="10800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ko-KR" altLang="en-US" sz="700" b="1" kern="0" dirty="0">
                <a:solidFill>
                  <a:schemeClr val="bg1"/>
                </a:solidFill>
                <a:latin typeface="+mj-ea"/>
                <a:ea typeface="+mj-ea"/>
                <a:cs typeface="Arial"/>
              </a:rPr>
              <a:t>비정기배포</a:t>
            </a:r>
          </a:p>
        </p:txBody>
      </p:sp>
    </p:spTree>
    <p:extLst>
      <p:ext uri="{BB962C8B-B14F-4D97-AF65-F5344CB8AC3E}">
        <p14:creationId xmlns:p14="http://schemas.microsoft.com/office/powerpoint/2010/main" val="71435553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제목 1">
            <a:extLst>
              <a:ext uri="{FF2B5EF4-FFF2-40B4-BE49-F238E27FC236}">
                <a16:creationId xmlns:a16="http://schemas.microsoft.com/office/drawing/2014/main" id="{33463036-9273-403C-B574-F3B0ABCB999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454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공정검사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graphicFrame>
        <p:nvGraphicFramePr>
          <p:cNvPr id="53" name="표 1">
            <a:extLst>
              <a:ext uri="{FF2B5EF4-FFF2-40B4-BE49-F238E27FC236}">
                <a16:creationId xmlns:a16="http://schemas.microsoft.com/office/drawing/2014/main" id="{C190CD93-F8D4-A3D0-E97F-82D1C4682128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37262" cy="576232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76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금주 진행사항 </a:t>
                      </a:r>
                      <a:r>
                        <a:rPr lang="en-US" altLang="ko-KR" sz="10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EDC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-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일상점검 자동화 및 알람 고도화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전사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(W51)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오창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및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GM1 GM2 ST HG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에서 운영 중이던 요건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건을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NJ NA NB WA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추가확산 완료하였으며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및 테스트 완료한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건을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오창에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최초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Open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endParaRPr lang="en-US" sz="1000" b="1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EDC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일상점검을 방식을 기존 ‘매뉴얼 점검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방식’에서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‘자동화 모니터링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방식’으로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변경하여 문제점을 신속하게 인지하여 전파하고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비업무시간에는 상암관제센터를 통하여 전달 및 대응할 수 있도록 자동화된 대응 체계를 구축하는 것을 목표로 하고 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endParaRPr lang="en-US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 계획</a:t>
                      </a: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endParaRPr lang="en-US" sz="1000" b="1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‘25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 요건 정의 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월부터 분석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설계 및 개발 착수하였습니다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오창을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대표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site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로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월까지 적용 완료하겠습니다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이후 기능 검증 및 모니터링 기간을 거친 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월부터 타법인 확산 예정입니다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sz="9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sz="9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sz="9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kumimoji="0" lang="en-US" sz="10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ECS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운영관리 요건 중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'ECS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프로그램 및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ECS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기준정보 파일 업데이트 시 마다 자동으로 해당 프로그램 및 파일들을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ECS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실시간 서버에 업로드하여 백업체계를 구축하는 내용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완료하였으며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(11/25),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테스트 진행 예정입니다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(~11/28)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DB, VM,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웹서버 현황수집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  MQ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지연 대상 수집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이상감지 전파 요건에 대하여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GM1, ST, HG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확산적용 완료하였습니다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(12/02)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상기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GM2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에도 확산 적용 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기타 개발 완료 건들도 금주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오창부터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배포 준비하고 있습니다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(~12/11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GM2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확산 적용한 요건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건에 대하여 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NJ NA NB WA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확산 적용하였으며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‘EDC 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수집 데이터 누락 감지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요건을 </a:t>
                      </a:r>
                      <a:r>
                        <a:rPr lang="ko-KR" altLang="en-US" sz="1000" b="0" i="0" u="none" strike="noStrike" kern="1200" baseline="0" noProof="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오창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(OC1, OC2)</a:t>
                      </a:r>
                      <a:r>
                        <a:rPr lang="ko-KR" altLang="en-US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적용 완료하였습니다</a:t>
                      </a:r>
                      <a:r>
                        <a:rPr lang="en-US" altLang="ko-KR" sz="10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(12/16)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dirty="0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박정우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P</a:t>
                      </a:r>
                    </a:p>
                    <a:p>
                      <a:pPr marL="0" lvl="0" algn="ctr" defTabSz="914400" rtl="0" eaLnBrk="1" latinLnBrk="1" hangingPunct="1"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이주민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  <a:cs typeface="+mn-cs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4" name="Group 986">
            <a:extLst>
              <a:ext uri="{FF2B5EF4-FFF2-40B4-BE49-F238E27FC236}">
                <a16:creationId xmlns:a16="http://schemas.microsoft.com/office/drawing/2014/main" id="{706CCCB7-B5FF-F216-4033-17A88E1127DF}"/>
              </a:ext>
            </a:extLst>
          </p:cNvPr>
          <p:cNvGraphicFramePr>
            <a:graphicFrameLocks noGrp="1"/>
          </p:cNvGraphicFramePr>
          <p:nvPr/>
        </p:nvGraphicFramePr>
        <p:xfrm>
          <a:off x="1943269" y="2660338"/>
          <a:ext cx="6588001" cy="1487366"/>
        </p:xfrm>
        <a:graphic>
          <a:graphicData uri="http://schemas.openxmlformats.org/drawingml/2006/table">
            <a:tbl>
              <a:tblPr/>
              <a:tblGrid>
                <a:gridCol w="941143">
                  <a:extLst>
                    <a:ext uri="{9D8B030D-6E8A-4147-A177-3AD203B41FA5}">
                      <a16:colId xmlns:a16="http://schemas.microsoft.com/office/drawing/2014/main" val="818714461"/>
                    </a:ext>
                  </a:extLst>
                </a:gridCol>
                <a:gridCol w="941143">
                  <a:extLst>
                    <a:ext uri="{9D8B030D-6E8A-4147-A177-3AD203B41FA5}">
                      <a16:colId xmlns:a16="http://schemas.microsoft.com/office/drawing/2014/main" val="1632565314"/>
                    </a:ext>
                  </a:extLst>
                </a:gridCol>
                <a:gridCol w="941143">
                  <a:extLst>
                    <a:ext uri="{9D8B030D-6E8A-4147-A177-3AD203B41FA5}">
                      <a16:colId xmlns:a16="http://schemas.microsoft.com/office/drawing/2014/main" val="295315409"/>
                    </a:ext>
                  </a:extLst>
                </a:gridCol>
                <a:gridCol w="941143">
                  <a:extLst>
                    <a:ext uri="{9D8B030D-6E8A-4147-A177-3AD203B41FA5}">
                      <a16:colId xmlns:a16="http://schemas.microsoft.com/office/drawing/2014/main" val="2396107501"/>
                    </a:ext>
                  </a:extLst>
                </a:gridCol>
                <a:gridCol w="941143">
                  <a:extLst>
                    <a:ext uri="{9D8B030D-6E8A-4147-A177-3AD203B41FA5}">
                      <a16:colId xmlns:a16="http://schemas.microsoft.com/office/drawing/2014/main" val="3056955755"/>
                    </a:ext>
                  </a:extLst>
                </a:gridCol>
                <a:gridCol w="941143">
                  <a:extLst>
                    <a:ext uri="{9D8B030D-6E8A-4147-A177-3AD203B41FA5}">
                      <a16:colId xmlns:a16="http://schemas.microsoft.com/office/drawing/2014/main" val="697415142"/>
                    </a:ext>
                  </a:extLst>
                </a:gridCol>
                <a:gridCol w="941143">
                  <a:extLst>
                    <a:ext uri="{9D8B030D-6E8A-4147-A177-3AD203B41FA5}">
                      <a16:colId xmlns:a16="http://schemas.microsoft.com/office/drawing/2014/main" val="2959626505"/>
                    </a:ext>
                  </a:extLst>
                </a:gridCol>
              </a:tblGrid>
              <a:tr h="191467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25</a:t>
                      </a:r>
                      <a:r>
                        <a:rPr lang="ko-KR" altLang="en-US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endParaRPr lang="ko-KR" altLang="en-US" sz="1000" b="1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1000" b="1" i="0" u="none" strike="noStrike" cap="none" spc="-7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459425"/>
                  </a:ext>
                </a:extLst>
              </a:tr>
              <a:tr h="21394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r>
                        <a:rPr lang="ko-KR" altLang="en-US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endParaRPr lang="ko-KR" altLang="en-US" sz="1000" b="1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r>
                        <a:rPr lang="ko-KR" altLang="en-US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ko-KR" altLang="en-US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endParaRPr lang="ko-KR" altLang="en-US" sz="1000" b="1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endParaRPr lang="ko-KR" altLang="en-US" sz="1000" b="1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r>
                        <a:rPr lang="ko-KR" altLang="en-US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endParaRPr lang="ko-KR" altLang="en-US" sz="1000" b="1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1" i="0" u="none" strike="noStrike" kern="1200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월</a:t>
                      </a:r>
                      <a:endParaRPr lang="ko-KR" altLang="en-US" sz="1000" b="1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19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spc="-7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5" name="Rectangle 4">
            <a:extLst>
              <a:ext uri="{FF2B5EF4-FFF2-40B4-BE49-F238E27FC236}">
                <a16:creationId xmlns:a16="http://schemas.microsoft.com/office/drawing/2014/main" id="{B668641D-D1E4-C3DB-A01B-6D791DDD3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248" y="2654212"/>
            <a:ext cx="283910" cy="1493492"/>
          </a:xfrm>
          <a:prstGeom prst="rect">
            <a:avLst/>
          </a:prstGeom>
          <a:solidFill>
            <a:sysClr val="window" lastClr="FFFFFF"/>
          </a:solidFill>
          <a:ln w="6350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일정</a:t>
            </a:r>
            <a:endParaRPr kumimoji="1" lang="en-US" altLang="ko-KR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56" name="모서리가 둥근 직사각형 87">
            <a:extLst>
              <a:ext uri="{FF2B5EF4-FFF2-40B4-BE49-F238E27FC236}">
                <a16:creationId xmlns:a16="http://schemas.microsoft.com/office/drawing/2014/main" id="{E274ADF7-68DA-532B-654A-8D2254EE0F1E}"/>
              </a:ext>
            </a:extLst>
          </p:cNvPr>
          <p:cNvSpPr/>
          <p:nvPr/>
        </p:nvSpPr>
        <p:spPr>
          <a:xfrm>
            <a:off x="4770458" y="3097595"/>
            <a:ext cx="376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DB,/VM/</a:t>
            </a: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웹 </a:t>
            </a:r>
            <a:r>
              <a:rPr kumimoji="1" lang="ko-KR" altLang="en-US" sz="700" b="1" kern="0" dirty="0">
                <a:solidFill>
                  <a:prstClr val="white"/>
                </a:solidFill>
                <a:latin typeface="LG스마트체 Regular"/>
                <a:ea typeface="LG스마트체 Regular"/>
                <a:cs typeface="Arial"/>
              </a:rPr>
              <a:t>현황 수집</a:t>
            </a:r>
            <a:endParaRPr kumimoji="1" lang="ko-KR" altLang="en-US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Arial"/>
            </a:endParaRPr>
          </a:p>
        </p:txBody>
      </p:sp>
      <p:sp>
        <p:nvSpPr>
          <p:cNvPr id="57" name="모서리가 둥근 직사각형 87">
            <a:extLst>
              <a:ext uri="{FF2B5EF4-FFF2-40B4-BE49-F238E27FC236}">
                <a16:creationId xmlns:a16="http://schemas.microsoft.com/office/drawing/2014/main" id="{62B321FB-B6A9-B869-EC61-7CBD5429FC39}"/>
              </a:ext>
            </a:extLst>
          </p:cNvPr>
          <p:cNvSpPr/>
          <p:nvPr/>
        </p:nvSpPr>
        <p:spPr>
          <a:xfrm>
            <a:off x="7998582" y="2531247"/>
            <a:ext cx="540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algn="ctr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진행중</a:t>
            </a:r>
          </a:p>
        </p:txBody>
      </p:sp>
      <p:graphicFrame>
        <p:nvGraphicFramePr>
          <p:cNvPr id="59" name="표 3">
            <a:extLst>
              <a:ext uri="{FF2B5EF4-FFF2-40B4-BE49-F238E27FC236}">
                <a16:creationId xmlns:a16="http://schemas.microsoft.com/office/drawing/2014/main" id="{D6C664FB-39B2-CDA9-8460-8EF96B53FB98}"/>
              </a:ext>
            </a:extLst>
          </p:cNvPr>
          <p:cNvGraphicFramePr>
            <a:graphicFrameLocks noGrp="1"/>
          </p:cNvGraphicFramePr>
          <p:nvPr/>
        </p:nvGraphicFramePr>
        <p:xfrm>
          <a:off x="1674438" y="5274182"/>
          <a:ext cx="6979252" cy="1305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3252">
                  <a:extLst>
                    <a:ext uri="{9D8B030D-6E8A-4147-A177-3AD203B41FA5}">
                      <a16:colId xmlns:a16="http://schemas.microsoft.com/office/drawing/2014/main" val="304203302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2998497398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138717506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1255822071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3507646051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1147132441"/>
                    </a:ext>
                  </a:extLst>
                </a:gridCol>
              </a:tblGrid>
              <a:tr h="13487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요건 명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요건 정의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설계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개발</a:t>
                      </a:r>
                      <a:endParaRPr lang="ko-KR" altLang="en-US" sz="800" b="1" dirty="0">
                        <a:solidFill>
                          <a:srgbClr val="006600"/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>
                          <a:latin typeface="+mj-ea"/>
                          <a:ea typeface="+mj-ea"/>
                        </a:rPr>
                        <a:t>테스트</a:t>
                      </a:r>
                      <a:endParaRPr lang="ko-KR" altLang="en-US" sz="800" b="0" i="1">
                        <a:solidFill>
                          <a:schemeClr val="bg1">
                            <a:lumMod val="50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+mn-cs"/>
                        </a:rPr>
                        <a:t>전체 법인 적용</a:t>
                      </a: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4155186"/>
                  </a:ext>
                </a:extLst>
              </a:tr>
              <a:tr h="142742">
                <a:tc>
                  <a:txBody>
                    <a:bodyPr/>
                    <a:lstStyle/>
                    <a:p>
                      <a:pPr marL="0" algn="ctr" defTabSz="914400" rtl="0" eaLnBrk="1" fontAlgn="base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DB, VM, </a:t>
                      </a: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웹서버 현황수집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71%(10/14)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12121148"/>
                  </a:ext>
                </a:extLst>
              </a:tr>
              <a:tr h="142742">
                <a:tc>
                  <a:txBody>
                    <a:bodyPr/>
                    <a:lstStyle/>
                    <a:p>
                      <a:pPr marL="0" algn="ctr" defTabSz="914400" rtl="0" eaLnBrk="1" fontAlgn="base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MQ </a:t>
                      </a: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지연 대상 수집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100%(1/1)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100%(1/1)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100%(1/1)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100%(1/1)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71%(10/14)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955370480"/>
                  </a:ext>
                </a:extLst>
              </a:tr>
              <a:tr h="142742">
                <a:tc>
                  <a:txBody>
                    <a:bodyPr/>
                    <a:lstStyle/>
                    <a:p>
                      <a:pPr marL="0" algn="ctr" defTabSz="914400" rtl="0" eaLnBrk="1" fontAlgn="base" latinLnBrk="1" hangingPunct="1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이상감지 전파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100%(2/2)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100%(2/2)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100%(2/2)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100%(2/2)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71%(10/14)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172661749"/>
                  </a:ext>
                </a:extLst>
              </a:tr>
              <a:tr h="228390">
                <a:tc>
                  <a:txBody>
                    <a:bodyPr/>
                    <a:lstStyle/>
                    <a:p>
                      <a:pPr marL="0" algn="ctr" defTabSz="914400" rtl="0" eaLnBrk="1" fontAlgn="base" latinLnBrk="1" hangingPunct="1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스케줄 처리 관리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100%(1/1)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100%(1/1)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0%(0/1)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 panose="020B0600000101010101" pitchFamily="50" charset="-127"/>
                        </a:rPr>
                        <a:t>​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T="42824" marB="42824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0%(0/1)</a:t>
                      </a:r>
                      <a:r>
                        <a:rPr lang="en-US" altLang="ko-KR" sz="800" b="0" i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 Smart_H Regular" panose="020B0600000101010101" pitchFamily="50" charset="-127"/>
                        </a:rPr>
                        <a:t>​</a:t>
                      </a:r>
                      <a:endParaRPr lang="en-US" altLang="ko-KR" sz="800" b="0" i="0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T="42824" marB="42824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0%(0/14)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341551345"/>
                  </a:ext>
                </a:extLst>
              </a:tr>
              <a:tr h="228390">
                <a:tc>
                  <a:txBody>
                    <a:bodyPr/>
                    <a:lstStyle/>
                    <a:p>
                      <a:pPr marL="0" algn="ctr" defTabSz="914400" rtl="0" eaLnBrk="1" fontAlgn="base" latinLnBrk="1" hangingPunct="1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수집 데이터 누락 감지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100%(1/1)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100%(1/1)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</a:rPr>
                        <a:t>100%(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</a:rPr>
                        <a:t>1/1</a:t>
                      </a:r>
                      <a:r>
                        <a:rPr 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</a:rPr>
                        <a:t>)</a:t>
                      </a:r>
                      <a:r>
                        <a:rPr lang="en-US" altLang="ko-KR" sz="800" b="0" i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LG Smart_H Regular" panose="020B0600000101010101" pitchFamily="50" charset="-127"/>
                        </a:rPr>
                        <a:t>​</a:t>
                      </a:r>
                      <a:endParaRPr lang="en-US" altLang="ko-KR" sz="800" b="0" i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T="42824" marB="42824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8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</a:t>
                      </a: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1/1</a:t>
                      </a:r>
                      <a:r>
                        <a:rPr lang="en-US" sz="8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en-US" altLang="ko-KR" sz="800" b="0" i="0" u="none" strike="noStrike" kern="120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​</a:t>
                      </a:r>
                      <a:endParaRPr lang="en-US" altLang="ko-KR" sz="800" b="0" i="0" u="none" strike="noStrike" kern="120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42824" marB="42824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14%(2/14)</a:t>
                      </a:r>
                      <a:endParaRPr lang="ko-KR" altLang="en-US" sz="8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362165351"/>
                  </a:ext>
                </a:extLst>
              </a:tr>
              <a:tr h="142742">
                <a:tc>
                  <a:txBody>
                    <a:bodyPr/>
                    <a:lstStyle/>
                    <a:p>
                      <a:pPr marL="0" algn="ctr" defTabSz="914400" rtl="0" eaLnBrk="1" fontAlgn="base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ECS </a:t>
                      </a: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알람 고도화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100%(6/6)</a:t>
                      </a:r>
                      <a:endParaRPr lang="ko-KR" altLang="en-US" sz="800" b="0" i="0" u="none" strike="noStrike" kern="120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0%(0/14)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08676012"/>
                  </a:ext>
                </a:extLst>
              </a:tr>
              <a:tr h="142742">
                <a:tc>
                  <a:txBody>
                    <a:bodyPr/>
                    <a:lstStyle/>
                    <a:p>
                      <a:pPr marL="0" algn="ctr" defTabSz="914400" rtl="0" eaLnBrk="1" fontAlgn="base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ECS </a:t>
                      </a: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운영관리</a:t>
                      </a:r>
                    </a:p>
                  </a:txBody>
                  <a:tcPr marL="0" marR="36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100%(3/3)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0%(0/14)</a:t>
                      </a:r>
                      <a:endParaRPr lang="ko-KR" altLang="en-US" sz="8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3600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41578869"/>
                  </a:ext>
                </a:extLst>
              </a:tr>
            </a:tbl>
          </a:graphicData>
        </a:graphic>
      </p:graphicFrame>
      <p:sp>
        <p:nvSpPr>
          <p:cNvPr id="60" name="모서리가 둥근 직사각형 87">
            <a:extLst>
              <a:ext uri="{FF2B5EF4-FFF2-40B4-BE49-F238E27FC236}">
                <a16:creationId xmlns:a16="http://schemas.microsoft.com/office/drawing/2014/main" id="{BC4893C9-E532-4D58-2B7F-5CE5CE825B9D}"/>
              </a:ext>
            </a:extLst>
          </p:cNvPr>
          <p:cNvSpPr/>
          <p:nvPr/>
        </p:nvSpPr>
        <p:spPr>
          <a:xfrm>
            <a:off x="4770458" y="3267112"/>
            <a:ext cx="376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MQ</a:t>
            </a:r>
            <a:r>
              <a:rPr kumimoji="1" lang="ko-KR" altLang="en-US" sz="700" b="1" kern="0" dirty="0">
                <a:solidFill>
                  <a:prstClr val="white"/>
                </a:solidFill>
                <a:latin typeface="LG스마트체 Regular"/>
                <a:ea typeface="LG스마트체 Regular"/>
                <a:cs typeface="Arial"/>
              </a:rPr>
              <a:t> 지연 대상 수집</a:t>
            </a:r>
            <a:endParaRPr kumimoji="1" lang="ko-KR" altLang="en-US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Arial"/>
            </a:endParaRPr>
          </a:p>
        </p:txBody>
      </p:sp>
      <p:sp>
        <p:nvSpPr>
          <p:cNvPr id="61" name="모서리가 둥근 직사각형 87">
            <a:extLst>
              <a:ext uri="{FF2B5EF4-FFF2-40B4-BE49-F238E27FC236}">
                <a16:creationId xmlns:a16="http://schemas.microsoft.com/office/drawing/2014/main" id="{28D065BD-887F-BAFA-94E4-3B3BD93459BF}"/>
              </a:ext>
            </a:extLst>
          </p:cNvPr>
          <p:cNvSpPr/>
          <p:nvPr/>
        </p:nvSpPr>
        <p:spPr>
          <a:xfrm>
            <a:off x="4770458" y="3421911"/>
            <a:ext cx="376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이상 감지 전파</a:t>
            </a:r>
          </a:p>
        </p:txBody>
      </p:sp>
      <p:sp>
        <p:nvSpPr>
          <p:cNvPr id="62" name="모서리가 둥근 직사각형 87">
            <a:extLst>
              <a:ext uri="{FF2B5EF4-FFF2-40B4-BE49-F238E27FC236}">
                <a16:creationId xmlns:a16="http://schemas.microsoft.com/office/drawing/2014/main" id="{3488994E-72AA-0054-761C-8A4CB256736E}"/>
              </a:ext>
            </a:extLst>
          </p:cNvPr>
          <p:cNvSpPr/>
          <p:nvPr/>
        </p:nvSpPr>
        <p:spPr>
          <a:xfrm>
            <a:off x="4770458" y="3574311"/>
            <a:ext cx="376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스케쥴 처리 관리</a:t>
            </a:r>
          </a:p>
        </p:txBody>
      </p:sp>
      <p:sp>
        <p:nvSpPr>
          <p:cNvPr id="63" name="모서리가 둥근 직사각형 87">
            <a:extLst>
              <a:ext uri="{FF2B5EF4-FFF2-40B4-BE49-F238E27FC236}">
                <a16:creationId xmlns:a16="http://schemas.microsoft.com/office/drawing/2014/main" id="{3BE05AE9-FC71-0767-A84F-7C97C6F796CD}"/>
              </a:ext>
            </a:extLst>
          </p:cNvPr>
          <p:cNvSpPr/>
          <p:nvPr/>
        </p:nvSpPr>
        <p:spPr>
          <a:xfrm>
            <a:off x="4770458" y="3726711"/>
            <a:ext cx="376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수집 데이터 누락 감지</a:t>
            </a:r>
          </a:p>
        </p:txBody>
      </p:sp>
      <p:sp>
        <p:nvSpPr>
          <p:cNvPr id="64" name="모서리가 둥근 직사각형 87">
            <a:extLst>
              <a:ext uri="{FF2B5EF4-FFF2-40B4-BE49-F238E27FC236}">
                <a16:creationId xmlns:a16="http://schemas.microsoft.com/office/drawing/2014/main" id="{5DFAF1DD-A6E0-1CAF-BEDE-4FAECF76F196}"/>
              </a:ext>
            </a:extLst>
          </p:cNvPr>
          <p:cNvSpPr/>
          <p:nvPr/>
        </p:nvSpPr>
        <p:spPr>
          <a:xfrm>
            <a:off x="4770458" y="3879111"/>
            <a:ext cx="376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ECS </a:t>
            </a: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알람 고도화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G스마트체 Regular"/>
              <a:ea typeface="LG스마트체 Regular"/>
              <a:cs typeface="Arial"/>
            </a:endParaRPr>
          </a:p>
        </p:txBody>
      </p:sp>
      <p:sp>
        <p:nvSpPr>
          <p:cNvPr id="65" name="모서리가 둥근 직사각형 87">
            <a:extLst>
              <a:ext uri="{FF2B5EF4-FFF2-40B4-BE49-F238E27FC236}">
                <a16:creationId xmlns:a16="http://schemas.microsoft.com/office/drawing/2014/main" id="{09181E2A-F1E6-CDCC-9F32-63033DF7C552}"/>
              </a:ext>
            </a:extLst>
          </p:cNvPr>
          <p:cNvSpPr/>
          <p:nvPr/>
        </p:nvSpPr>
        <p:spPr>
          <a:xfrm>
            <a:off x="4766102" y="4031511"/>
            <a:ext cx="3762000" cy="108000"/>
          </a:xfrm>
          <a:prstGeom prst="roundRect">
            <a:avLst/>
          </a:prstGeom>
          <a:solidFill>
            <a:srgbClr val="006600"/>
          </a:solidFill>
          <a:ln w="9525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0" marR="0" lvl="0" indent="0" defTabSz="102235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ECS </a:t>
            </a: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G스마트체 Regular"/>
                <a:ea typeface="LG스마트체 Regular"/>
                <a:cs typeface="Arial"/>
              </a:rPr>
              <a:t>운영 관리</a:t>
            </a:r>
          </a:p>
        </p:txBody>
      </p:sp>
      <p:sp>
        <p:nvSpPr>
          <p:cNvPr id="66" name="Oval 113">
            <a:extLst>
              <a:ext uri="{FF2B5EF4-FFF2-40B4-BE49-F238E27FC236}">
                <a16:creationId xmlns:a16="http://schemas.microsoft.com/office/drawing/2014/main" id="{9A15B877-C6FE-CCC5-AF00-2648E84A2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4390" y="2492939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endParaRPr kumimoji="1" lang="en-US" altLang="ko-KR" sz="800" b="1" kern="0">
              <a:latin typeface="Arial Narrow" panose="020B0606020202030204" pitchFamily="34" charset="0"/>
              <a:ea typeface="+mj-ea"/>
              <a:cs typeface="Arial"/>
            </a:endParaRPr>
          </a:p>
        </p:txBody>
      </p:sp>
      <p:sp>
        <p:nvSpPr>
          <p:cNvPr id="67" name="Oval 113">
            <a:extLst>
              <a:ext uri="{FF2B5EF4-FFF2-40B4-BE49-F238E27FC236}">
                <a16:creationId xmlns:a16="http://schemas.microsoft.com/office/drawing/2014/main" id="{485CE079-16A3-E59E-5D30-A2F4D50CD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7631" y="2492939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endParaRPr kumimoji="1" lang="en-US" altLang="ko-KR" sz="800" b="1" kern="0">
              <a:latin typeface="Arial Narrow" panose="020B0606020202030204" pitchFamily="34" charset="0"/>
              <a:ea typeface="+mj-ea"/>
              <a:cs typeface="Arial"/>
            </a:endParaRPr>
          </a:p>
        </p:txBody>
      </p:sp>
      <p:sp>
        <p:nvSpPr>
          <p:cNvPr id="68" name="Text Box 5386">
            <a:extLst>
              <a:ext uri="{FF2B5EF4-FFF2-40B4-BE49-F238E27FC236}">
                <a16:creationId xmlns:a16="http://schemas.microsoft.com/office/drawing/2014/main" id="{4DCC342B-6DAA-2BDF-2332-5E2EA03564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620" y="2508048"/>
            <a:ext cx="2160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 anchorCtr="0">
            <a:noAutofit/>
          </a:bodyPr>
          <a:lstStyle>
            <a:defPPr>
              <a:defRPr lang="ko-KR"/>
            </a:defPPr>
            <a:lvl1pPr algn="ctr" eaLnBrk="1" hangingPunct="1">
              <a:defRPr sz="800">
                <a:solidFill>
                  <a:prstClr val="black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 Unicode MS" panose="020B0604020202020204" pitchFamily="50" charset="-127"/>
              </a:defRPr>
            </a:lvl1pPr>
            <a:lvl2pPr marL="742950" indent="-285750" eaLnBrk="0" hangingPunct="0">
              <a:defRPr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9pPr>
          </a:lstStyle>
          <a:p>
            <a:r>
              <a:rPr lang="ko-KR" altLang="en-US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오픈</a:t>
            </a:r>
            <a:endParaRPr lang="en-US" altLang="ko-KR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9" name="Text Box 5386">
            <a:extLst>
              <a:ext uri="{FF2B5EF4-FFF2-40B4-BE49-F238E27FC236}">
                <a16:creationId xmlns:a16="http://schemas.microsoft.com/office/drawing/2014/main" id="{651E257B-05DB-5221-5E85-F6ADEE422D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7945" y="2508048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 anchorCtr="0">
            <a:noAutofit/>
          </a:bodyPr>
          <a:lstStyle>
            <a:defPPr>
              <a:defRPr lang="ko-KR"/>
            </a:defPPr>
            <a:lvl1pPr algn="ctr" eaLnBrk="1" hangingPunct="1">
              <a:defRPr sz="800">
                <a:solidFill>
                  <a:prstClr val="black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 Unicode MS" panose="020B0604020202020204" pitchFamily="50" charset="-127"/>
              </a:defRPr>
            </a:lvl1pPr>
            <a:lvl2pPr marL="742950" indent="-285750" eaLnBrk="0" hangingPunct="0">
              <a:defRPr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9pPr>
          </a:lstStyle>
          <a:p>
            <a:r>
              <a:rPr lang="ko-KR" altLang="en-US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확산</a:t>
            </a:r>
            <a:endParaRPr lang="en-US" altLang="ko-KR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0" name="Oval 113">
            <a:extLst>
              <a:ext uri="{FF2B5EF4-FFF2-40B4-BE49-F238E27FC236}">
                <a16:creationId xmlns:a16="http://schemas.microsoft.com/office/drawing/2014/main" id="{BDF7F5EE-EB19-1500-8DA7-6635ADCEF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0885" y="3061595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31</a:t>
            </a:r>
          </a:p>
        </p:txBody>
      </p:sp>
      <p:sp>
        <p:nvSpPr>
          <p:cNvPr id="71" name="Oval 113">
            <a:extLst>
              <a:ext uri="{FF2B5EF4-FFF2-40B4-BE49-F238E27FC236}">
                <a16:creationId xmlns:a16="http://schemas.microsoft.com/office/drawing/2014/main" id="{65F21856-798E-AA01-378B-3AF82386D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4239" y="3248249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31</a:t>
            </a:r>
          </a:p>
        </p:txBody>
      </p:sp>
      <p:sp>
        <p:nvSpPr>
          <p:cNvPr id="72" name="Oval 113">
            <a:extLst>
              <a:ext uri="{FF2B5EF4-FFF2-40B4-BE49-F238E27FC236}">
                <a16:creationId xmlns:a16="http://schemas.microsoft.com/office/drawing/2014/main" id="{100F30CC-E1A8-CBD5-2B6B-76B903E7B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3653" y="3410795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31</a:t>
            </a:r>
          </a:p>
        </p:txBody>
      </p:sp>
      <p:sp>
        <p:nvSpPr>
          <p:cNvPr id="73" name="Oval 113">
            <a:extLst>
              <a:ext uri="{FF2B5EF4-FFF2-40B4-BE49-F238E27FC236}">
                <a16:creationId xmlns:a16="http://schemas.microsoft.com/office/drawing/2014/main" id="{4D6A8694-BE9D-41DA-30F3-4E8E22064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0885" y="3858632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C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31</a:t>
            </a:r>
          </a:p>
        </p:txBody>
      </p:sp>
      <p:sp>
        <p:nvSpPr>
          <p:cNvPr id="74" name="Oval 113">
            <a:extLst>
              <a:ext uri="{FF2B5EF4-FFF2-40B4-BE49-F238E27FC236}">
                <a16:creationId xmlns:a16="http://schemas.microsoft.com/office/drawing/2014/main" id="{B70A70D6-135F-E30B-6BA1-F97C561DC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096" y="3073789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4</a:t>
            </a:r>
          </a:p>
        </p:txBody>
      </p:sp>
      <p:sp>
        <p:nvSpPr>
          <p:cNvPr id="83" name="Oval 113">
            <a:extLst>
              <a:ext uri="{FF2B5EF4-FFF2-40B4-BE49-F238E27FC236}">
                <a16:creationId xmlns:a16="http://schemas.microsoft.com/office/drawing/2014/main" id="{FAAF258B-1D9B-9613-2524-FA3D5D2DC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625" y="4027103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C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31</a:t>
            </a:r>
          </a:p>
        </p:txBody>
      </p:sp>
      <p:sp>
        <p:nvSpPr>
          <p:cNvPr id="84" name="Oval 113">
            <a:extLst>
              <a:ext uri="{FF2B5EF4-FFF2-40B4-BE49-F238E27FC236}">
                <a16:creationId xmlns:a16="http://schemas.microsoft.com/office/drawing/2014/main" id="{D072CAAC-A3CF-5426-2E8B-B9D277A29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0165" y="2497095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C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endParaRPr kumimoji="1" lang="en-US" altLang="ko-KR" sz="800" b="1" kern="0">
              <a:latin typeface="Arial Narrow" panose="020B0606020202030204" pitchFamily="34" charset="0"/>
              <a:ea typeface="+mj-ea"/>
              <a:cs typeface="Arial"/>
            </a:endParaRPr>
          </a:p>
        </p:txBody>
      </p:sp>
      <p:sp>
        <p:nvSpPr>
          <p:cNvPr id="85" name="Text Box 5386">
            <a:extLst>
              <a:ext uri="{FF2B5EF4-FFF2-40B4-BE49-F238E27FC236}">
                <a16:creationId xmlns:a16="http://schemas.microsoft.com/office/drawing/2014/main" id="{BEC4B70C-FCC8-8C92-12FF-0AAAE78BB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7522" y="2512204"/>
            <a:ext cx="3492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 anchorCtr="0">
            <a:noAutofit/>
          </a:bodyPr>
          <a:lstStyle>
            <a:defPPr>
              <a:defRPr lang="ko-KR"/>
            </a:defPPr>
            <a:lvl1pPr algn="ctr" eaLnBrk="1" hangingPunct="1">
              <a:defRPr sz="800">
                <a:solidFill>
                  <a:prstClr val="black"/>
                </a:solidFill>
                <a:latin typeface="LG스마트체 Light" panose="020B0600000101010101" pitchFamily="50" charset="-127"/>
                <a:ea typeface="LG스마트체 Light" panose="020B0600000101010101" pitchFamily="50" charset="-127"/>
                <a:cs typeface="Arial Unicode MS" panose="020B0604020202020204" pitchFamily="50" charset="-127"/>
              </a:defRPr>
            </a:lvl1pPr>
            <a:lvl2pPr marL="742950" indent="-285750" eaLnBrk="0" hangingPunct="0">
              <a:defRPr>
                <a:latin typeface="Arial" charset="0"/>
                <a:ea typeface="돋움" pitchFamily="50" charset="-127"/>
              </a:defRPr>
            </a:lvl2pPr>
            <a:lvl3pPr marL="1143000" indent="-228600" eaLnBrk="0" hangingPunct="0">
              <a:defRPr>
                <a:latin typeface="Arial" charset="0"/>
                <a:ea typeface="돋움" pitchFamily="50" charset="-127"/>
              </a:defRPr>
            </a:lvl3pPr>
            <a:lvl4pPr marL="1600200" indent="-228600" eaLnBrk="0" hangingPunct="0">
              <a:defRPr>
                <a:latin typeface="Arial" charset="0"/>
                <a:ea typeface="돋움" pitchFamily="50" charset="-127"/>
              </a:defRPr>
            </a:lvl4pPr>
            <a:lvl5pPr marL="2057400" indent="-228600" eaLnBrk="0" hangingPunct="0">
              <a:defRPr>
                <a:latin typeface="Arial" charset="0"/>
                <a:ea typeface="돋움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돋움" pitchFamily="50" charset="-127"/>
              </a:defRPr>
            </a:lvl9pPr>
          </a:lstStyle>
          <a:p>
            <a:r>
              <a:rPr lang="ko-KR" altLang="en-US" dirty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부분 오픈</a:t>
            </a:r>
            <a:endParaRPr lang="en-US" altLang="ko-KR" dirty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5F663A10-5E05-BEBA-B6D4-4F9106525047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779607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EDC-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일상점검 자동화 </a:t>
            </a:r>
            <a:r>
              <a:rPr lang="ko-KR" altLang="en-US" sz="1400" b="1" dirty="0">
                <a:solidFill>
                  <a:prstClr val="black"/>
                </a:solidFill>
                <a:latin typeface="Arial Narrow"/>
                <a:ea typeface="LG스마트체 Regular"/>
                <a:cs typeface="Malgun Gothic Semilight" panose="020B0502040204020203" pitchFamily="50" charset="-127"/>
              </a:rPr>
              <a:t>및 알람 고도화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00FCDE0-12D1-427A-37E3-2A0C3EE6DA16}"/>
              </a:ext>
            </a:extLst>
          </p:cNvPr>
          <p:cNvSpPr txBox="1"/>
          <p:nvPr/>
        </p:nvSpPr>
        <p:spPr>
          <a:xfrm>
            <a:off x="8061886" y="670208"/>
            <a:ext cx="1654364" cy="33855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latin typeface="+mj-lt"/>
                <a:ea typeface="+mj-ea"/>
                <a:cs typeface="Malgun Gothic Semilight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altLang="en-US" dirty="0"/>
              <a:t>업데이트 시간 </a:t>
            </a:r>
            <a:r>
              <a:rPr lang="en-US" altLang="ko-KR" dirty="0"/>
              <a:t>: 12/16(</a:t>
            </a:r>
            <a:r>
              <a:rPr lang="ko-KR" altLang="en-US" dirty="0"/>
              <a:t>화</a:t>
            </a:r>
            <a:r>
              <a:rPr lang="en-US" altLang="ko-KR" dirty="0"/>
              <a:t>) 10</a:t>
            </a:r>
            <a:r>
              <a:rPr lang="ko-KR" altLang="en-US" dirty="0"/>
              <a:t>시</a:t>
            </a:r>
            <a:endParaRPr lang="en-US" altLang="ko-KR" dirty="0"/>
          </a:p>
          <a:p>
            <a:endParaRPr lang="ko-KR" altLang="en-US" dirty="0"/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D7F19B88-1FF5-BE33-D27F-F7594CAE025A}"/>
              </a:ext>
            </a:extLst>
          </p:cNvPr>
          <p:cNvSpPr txBox="1">
            <a:spLocks/>
          </p:cNvSpPr>
          <p:nvPr/>
        </p:nvSpPr>
        <p:spPr>
          <a:xfrm>
            <a:off x="8792919" y="500931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작성자 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이주민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S</a:t>
            </a:r>
            <a:endParaRPr lang="ko-KR" altLang="en-US" sz="1100" dirty="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2" name="Rectangle 154">
            <a:extLst>
              <a:ext uri="{FF2B5EF4-FFF2-40B4-BE49-F238E27FC236}">
                <a16:creationId xmlns:a16="http://schemas.microsoft.com/office/drawing/2014/main" id="{82513BE7-B51D-9FAF-3DF3-BE5DA5BAD62D}"/>
              </a:ext>
            </a:extLst>
          </p:cNvPr>
          <p:cNvSpPr>
            <a:spLocks noChangeArrowheads="1"/>
          </p:cNvSpPr>
          <p:nvPr/>
        </p:nvSpPr>
        <p:spPr bwMode="gray">
          <a:xfrm>
            <a:off x="8026000" y="2681157"/>
            <a:ext cx="252000" cy="98489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18000" tIns="0" rIns="1800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0" latinLnBrk="0" hangingPunct="0">
              <a:lnSpc>
                <a:spcPct val="80000"/>
              </a:lnSpc>
              <a:spcBef>
                <a:spcPct val="20000"/>
              </a:spcBef>
            </a:pPr>
            <a:r>
              <a:rPr lang="en-US" altLang="ko-KR" sz="800" dirty="0"/>
              <a:t>12/16</a:t>
            </a:r>
            <a:endParaRPr lang="en-US" altLang="ko-KR" sz="800" dirty="0">
              <a:ea typeface="+mn-ea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4D47FB3D-5B01-95B7-EFF5-14BF83BD0960}"/>
              </a:ext>
            </a:extLst>
          </p:cNvPr>
          <p:cNvCxnSpPr>
            <a:cxnSpLocks/>
          </p:cNvCxnSpPr>
          <p:nvPr/>
        </p:nvCxnSpPr>
        <p:spPr>
          <a:xfrm>
            <a:off x="8143962" y="2771371"/>
            <a:ext cx="0" cy="1368000"/>
          </a:xfrm>
          <a:prstGeom prst="line">
            <a:avLst/>
          </a:prstGeom>
          <a:ln w="12700">
            <a:solidFill>
              <a:srgbClr val="FF0000">
                <a:alpha val="96000"/>
              </a:srgbClr>
            </a:solidFill>
            <a:prstDash val="dash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BE83F89-D3A4-14C4-1D10-50D64470425C}"/>
              </a:ext>
            </a:extLst>
          </p:cNvPr>
          <p:cNvGrpSpPr/>
          <p:nvPr/>
        </p:nvGrpSpPr>
        <p:grpSpPr>
          <a:xfrm>
            <a:off x="7850257" y="1691660"/>
            <a:ext cx="1096477" cy="637624"/>
            <a:chOff x="9497948" y="2004324"/>
            <a:chExt cx="1326734" cy="771525"/>
          </a:xfrm>
        </p:grpSpPr>
        <p:graphicFrame>
          <p:nvGraphicFramePr>
            <p:cNvPr id="20" name="개체 19">
              <a:hlinkClick r:id="" action="ppaction://ole?verb=0"/>
              <a:extLst>
                <a:ext uri="{FF2B5EF4-FFF2-40B4-BE49-F238E27FC236}">
                  <a16:creationId xmlns:a16="http://schemas.microsoft.com/office/drawing/2014/main" id="{1C7E6C69-BEE8-302B-5D0A-4FFA6CE86AB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9818942" y="2004324"/>
            <a:ext cx="380999" cy="7715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resentation" showAsIcon="1" r:id="rId3" imgW="380899" imgH="771525" progId="PowerPoint.Show.12">
                    <p:embed/>
                  </p:oleObj>
                </mc:Choice>
                <mc:Fallback>
                  <p:oleObj name="Presentation" showAsIcon="1" r:id="rId3" imgW="380899" imgH="771525" progId="PowerPoint.Show.12">
                    <p:embed/>
                    <p:pic>
                      <p:nvPicPr>
                        <p:cNvPr id="20" name="개체 19">
                          <a:hlinkClick r:id="" action="ppaction://ole?verb=0"/>
                          <a:extLst>
                            <a:ext uri="{FF2B5EF4-FFF2-40B4-BE49-F238E27FC236}">
                              <a16:creationId xmlns:a16="http://schemas.microsoft.com/office/drawing/2014/main" id="{1C7E6C69-BEE8-302B-5D0A-4FFA6CE86AB3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9818942" y="2004324"/>
                          <a:ext cx="380999" cy="77152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47DD095-F814-8E39-3CD3-BA009A9357C9}"/>
                </a:ext>
              </a:extLst>
            </p:cNvPr>
            <p:cNvSpPr txBox="1"/>
            <p:nvPr/>
          </p:nvSpPr>
          <p:spPr>
            <a:xfrm>
              <a:off x="9497948" y="2271025"/>
              <a:ext cx="1326734" cy="2048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00" b="1" dirty="0"/>
                <a:t>[EDC </a:t>
              </a:r>
              <a:r>
                <a:rPr lang="ko-KR" altLang="en-US" sz="500" b="1" dirty="0"/>
                <a:t>일상점검 자동화 구성도</a:t>
              </a:r>
              <a:r>
                <a:rPr lang="en-US" altLang="ko-KR" sz="500" b="1" dirty="0"/>
                <a:t>]</a:t>
              </a:r>
              <a:endParaRPr lang="ko-KR" altLang="en-US" sz="500" b="1" dirty="0"/>
            </a:p>
          </p:txBody>
        </p:sp>
      </p:grpSp>
      <p:sp>
        <p:nvSpPr>
          <p:cNvPr id="75" name="Oval 113">
            <a:extLst>
              <a:ext uri="{FF2B5EF4-FFF2-40B4-BE49-F238E27FC236}">
                <a16:creationId xmlns:a16="http://schemas.microsoft.com/office/drawing/2014/main" id="{B2E41BF3-16B5-F0C5-F076-7DE20E72A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4705" y="3236082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4</a:t>
            </a:r>
          </a:p>
        </p:txBody>
      </p:sp>
      <p:sp>
        <p:nvSpPr>
          <p:cNvPr id="76" name="Oval 113">
            <a:extLst>
              <a:ext uri="{FF2B5EF4-FFF2-40B4-BE49-F238E27FC236}">
                <a16:creationId xmlns:a16="http://schemas.microsoft.com/office/drawing/2014/main" id="{8E8AC8C4-98A6-115D-C792-77A17DF43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4705" y="3400958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4</a:t>
            </a:r>
          </a:p>
        </p:txBody>
      </p:sp>
      <p:sp>
        <p:nvSpPr>
          <p:cNvPr id="77" name="Oval 113">
            <a:extLst>
              <a:ext uri="{FF2B5EF4-FFF2-40B4-BE49-F238E27FC236}">
                <a16:creationId xmlns:a16="http://schemas.microsoft.com/office/drawing/2014/main" id="{6080B2A3-5F9D-AF60-2970-64205B92A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4705" y="3565602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4</a:t>
            </a:r>
          </a:p>
        </p:txBody>
      </p:sp>
      <p:sp>
        <p:nvSpPr>
          <p:cNvPr id="78" name="Oval 113">
            <a:extLst>
              <a:ext uri="{FF2B5EF4-FFF2-40B4-BE49-F238E27FC236}">
                <a16:creationId xmlns:a16="http://schemas.microsoft.com/office/drawing/2014/main" id="{635CF674-BA9B-6F94-1CC5-0F9CDA052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4705" y="3718002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4</a:t>
            </a:r>
          </a:p>
        </p:txBody>
      </p:sp>
      <p:sp>
        <p:nvSpPr>
          <p:cNvPr id="79" name="Oval 113">
            <a:extLst>
              <a:ext uri="{FF2B5EF4-FFF2-40B4-BE49-F238E27FC236}">
                <a16:creationId xmlns:a16="http://schemas.microsoft.com/office/drawing/2014/main" id="{55515CC6-D19C-9B69-CCC5-20EE305A3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4226" y="3854105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4</a:t>
            </a:r>
          </a:p>
        </p:txBody>
      </p:sp>
      <p:sp>
        <p:nvSpPr>
          <p:cNvPr id="80" name="Oval 113">
            <a:extLst>
              <a:ext uri="{FF2B5EF4-FFF2-40B4-BE49-F238E27FC236}">
                <a16:creationId xmlns:a16="http://schemas.microsoft.com/office/drawing/2014/main" id="{BAD8C402-2BE1-E42A-9E46-18284D53D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4226" y="4014820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4</a:t>
            </a:r>
          </a:p>
        </p:txBody>
      </p:sp>
      <p:sp>
        <p:nvSpPr>
          <p:cNvPr id="81" name="Oval 113">
            <a:extLst>
              <a:ext uri="{FF2B5EF4-FFF2-40B4-BE49-F238E27FC236}">
                <a16:creationId xmlns:a16="http://schemas.microsoft.com/office/drawing/2014/main" id="{FB822D61-D1A9-F07A-5A29-06E691F4D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4877" y="3563195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27</a:t>
            </a:r>
          </a:p>
        </p:txBody>
      </p:sp>
      <p:sp>
        <p:nvSpPr>
          <p:cNvPr id="82" name="Oval 113">
            <a:extLst>
              <a:ext uri="{FF2B5EF4-FFF2-40B4-BE49-F238E27FC236}">
                <a16:creationId xmlns:a16="http://schemas.microsoft.com/office/drawing/2014/main" id="{482113E2-9FB7-B926-33C4-71EC6B5CD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4877" y="3715717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27</a:t>
            </a:r>
          </a:p>
        </p:txBody>
      </p:sp>
      <p:sp>
        <p:nvSpPr>
          <p:cNvPr id="86" name="Oval 113">
            <a:extLst>
              <a:ext uri="{FF2B5EF4-FFF2-40B4-BE49-F238E27FC236}">
                <a16:creationId xmlns:a16="http://schemas.microsoft.com/office/drawing/2014/main" id="{E234A925-8D1B-26A5-4AE6-11B0D47F5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0419" y="4025026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27</a:t>
            </a:r>
          </a:p>
        </p:txBody>
      </p:sp>
      <p:sp>
        <p:nvSpPr>
          <p:cNvPr id="87" name="Oval 113">
            <a:extLst>
              <a:ext uri="{FF2B5EF4-FFF2-40B4-BE49-F238E27FC236}">
                <a16:creationId xmlns:a16="http://schemas.microsoft.com/office/drawing/2014/main" id="{1884EDFC-98B3-073F-C3A5-6257C04CD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61" y="3863843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17</a:t>
            </a:r>
          </a:p>
        </p:txBody>
      </p:sp>
      <p:sp>
        <p:nvSpPr>
          <p:cNvPr id="4" name="Oval 113">
            <a:extLst>
              <a:ext uri="{FF2B5EF4-FFF2-40B4-BE49-F238E27FC236}">
                <a16:creationId xmlns:a16="http://schemas.microsoft.com/office/drawing/2014/main" id="{448C630B-5A0C-6C2B-D5E1-BE906F305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5607" y="3400958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24</a:t>
            </a:r>
          </a:p>
        </p:txBody>
      </p:sp>
      <p:sp>
        <p:nvSpPr>
          <p:cNvPr id="5" name="Oval 113">
            <a:extLst>
              <a:ext uri="{FF2B5EF4-FFF2-40B4-BE49-F238E27FC236}">
                <a16:creationId xmlns:a16="http://schemas.microsoft.com/office/drawing/2014/main" id="{83ECD3A2-B72F-6F87-FCC9-3BF0BFE88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5615" y="3565602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0000FF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24</a:t>
            </a:r>
          </a:p>
        </p:txBody>
      </p:sp>
      <p:sp>
        <p:nvSpPr>
          <p:cNvPr id="6" name="Oval 113">
            <a:extLst>
              <a:ext uri="{FF2B5EF4-FFF2-40B4-BE49-F238E27FC236}">
                <a16:creationId xmlns:a16="http://schemas.microsoft.com/office/drawing/2014/main" id="{88C098E5-20B9-311F-D6D0-F080C88D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743" y="3400958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18</a:t>
            </a:r>
          </a:p>
        </p:txBody>
      </p:sp>
      <p:sp>
        <p:nvSpPr>
          <p:cNvPr id="10" name="Oval 113">
            <a:extLst>
              <a:ext uri="{FF2B5EF4-FFF2-40B4-BE49-F238E27FC236}">
                <a16:creationId xmlns:a16="http://schemas.microsoft.com/office/drawing/2014/main" id="{EA93DB47-6587-CDB7-ED10-EF3130A7B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6128" y="3565602"/>
            <a:ext cx="144000" cy="1440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FF000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 defTabSz="1022350" fontAlgn="base" latinLnBrk="0">
              <a:spcBef>
                <a:spcPct val="50000"/>
              </a:spcBef>
              <a:spcAft>
                <a:spcPct val="0"/>
              </a:spcAft>
            </a:pPr>
            <a:r>
              <a:rPr kumimoji="1" lang="en-US" altLang="ko-KR" sz="800" b="1" kern="0" dirty="0">
                <a:latin typeface="Arial Narrow" panose="020B0606020202030204" pitchFamily="34" charset="0"/>
                <a:ea typeface="+mj-ea"/>
                <a:cs typeface="Arial"/>
              </a:rPr>
              <a:t>11</a:t>
            </a:r>
          </a:p>
        </p:txBody>
      </p:sp>
    </p:spTree>
    <p:extLst>
      <p:ext uri="{BB962C8B-B14F-4D97-AF65-F5344CB8AC3E}">
        <p14:creationId xmlns:p14="http://schemas.microsoft.com/office/powerpoint/2010/main" val="307151318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AEC8AA90-1EE0-4AC9-A0DE-787CA1340BB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CF53A08E-2CC2-4C0C-97BD-374B4AE478D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3058530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■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+mj-ea"/>
                <a:cs typeface="Malgun Gothic Semilight" panose="020B0502040204020203" pitchFamily="50" charset="-127"/>
              </a:rPr>
              <a:t>원통형 비전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(DAP) </a:t>
            </a:r>
            <a:r>
              <a:rPr kumimoji="1" lang="ko-KR" altLang="en-US" sz="1400" b="1" spc="-50">
                <a:solidFill>
                  <a:prstClr val="black"/>
                </a:solidFill>
              </a:rPr>
              <a:t>시스템 아키텍처 표준화</a:t>
            </a:r>
            <a:endParaRPr kumimoji="1" lang="en-US" altLang="ko-KR" sz="1400" b="1" spc="-50">
              <a:solidFill>
                <a:prstClr val="black"/>
              </a:solidFill>
            </a:endParaRP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17CD803A-0F71-4652-B3D8-36DF62C4670A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9352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Malgun Gothic Semilight"/>
                        </a:rPr>
                        <a:t>원통형</a:t>
                      </a:r>
                      <a:endParaRPr kumimoji="1" lang="en-US" altLang="ko-KR" sz="1000" b="0" spc="-50">
                        <a:solidFill>
                          <a:prstClr val="black"/>
                        </a:solidFill>
                        <a:latin typeface="Arial Narrow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비전</a:t>
                      </a:r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(DAP)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시스템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 아키텍처 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표준화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ESAZ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ESWA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(W51)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원통형검사기술 인원대상으로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DAP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역량향상을 위해 교육 구체화 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’26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월중순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범위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의견수렴중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에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.(12/12)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원통형 검사에서의 다양한 딥러닝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모델의 개발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배포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관리프로세스 등을 체계화하고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효율화하여 딥러닝 모델 활용도를 높이고자 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. Non-Code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를 통한 모델 개발로 사용자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 접근성을 확보하고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, Code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를 통한 내재화된 모델  구축보 하고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pyTorch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통해 내재화를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통해 비용 절감하고자 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플랫폼 고도화를 통해 학습부터 배포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추론에 이르기까지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과정을 일원함으로써 지속적인 관리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고도화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신속하게 현장대응 하고자 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(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공통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)]</a:t>
                      </a: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- AZ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구축 후 사용성 여부를 검증하고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이후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OC,NJ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확산 계획하기로 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AZ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검증전까지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OC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비용반영은 안함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.(w/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원통형검사기술담당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8/13)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- DCS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는 전용서버없이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24Hr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주기로 유지보수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(2170, 1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개발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(NFF,2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으로 박필규그룹장님이 사전의사결정하셨습니다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또한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DCS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챔피언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IDR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에서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’26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DCS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운용시 효과성 입증 될 경우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추가 투자검토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(DCS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신규구축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DAP/DCS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신규구축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하기로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.(8/21)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라벨링개선을 위해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Labeling Tool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도입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(8/29)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일정계획은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분석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(~09/19), 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프로세스 및 화면 설계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(~10/17),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설계 리뷰 및 보완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(w/NFF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검사기술팀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~10/31),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(~11/30),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테스트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(~12/12)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입니다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개발 전 검사기술인원 대상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VOE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미팅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(10/23)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검토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결과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: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총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건 중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13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건 기존기능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5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건 반영예정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[~25.12], 3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건 추가검토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.(11/10)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Arial Narrow"/>
                          <a:ea typeface="LG스마트체 Regular"/>
                        </a:rPr>
                        <a:t>-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분석과제명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환경명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ex.TEMP000,250402_Test)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 달라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naming rule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표준화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(9/24)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및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H/W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자원확보를 위한 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회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OFF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적용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(11/7)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- X-Ray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이물 검사기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,CT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업체의 자체 딥러닝 모델로 추론 중이나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DAP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통한 학습 및 내재화를 위한 구성환경 검토 중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개발기간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2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개월예상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비용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0.45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에 있습니다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. (bit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depth:16bit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지원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지원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format: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rPr>
                        <a:t> 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jpg, jpeg, gif, png, bmp, webp: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최근 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webp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전환건으로 반영완료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tif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검토 중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)(10/13) 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업체 선정 검토 중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(~25.11)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 있습니다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j-ea"/>
                          <a:cs typeface="+mn-cs"/>
                        </a:rPr>
                        <a:t>[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AZ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 진행 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-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전체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(2x2,NFF)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 검사기종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57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종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PC 416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대 중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16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종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190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대에 대해 적용합니다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.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 First Line(87대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=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전극 32대, 조립 49대, 활성화 6대 ) 예정입니다.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+mj-lt"/>
                          <a:ea typeface="+mn-ea"/>
                        </a:rPr>
                        <a:t>(9/22)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플랫폼내에 학습된 모델을  검사 판정하기 위한 모델을 배포 하기 위한 비용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(InferWin)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SW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구매비는 공정검사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팀이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인건비 비용은 원통형 검사기술에서 진행합니다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.(7/17) WA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도 동일적용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대당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SW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공정검사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250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만원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인건비 원통형 검사기술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250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만원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총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57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.(8/5)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- Infra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투심 프로세스 확인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(8/26)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→착수협의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(9/2)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ARB(Architecture Review Board,w/ IT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인프라팀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)(9/30)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→ 품질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담당님 투심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(10/2)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→제조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그룹장님 투심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(10/15)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CDO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님 투심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(10/23)(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비용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16.35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=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인건비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1.93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+S/W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8.15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+H/W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5.9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제경비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0.37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투자심의 후 추가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ERRC(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기획팀 재검토 요청으로 솔루션 추가 볼륨 네고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(16.35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16.05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[0.3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 ↓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인건비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1.93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+S/W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8.0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+H/W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5.75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제경비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0.37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,11/5))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- 2170, AZ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이설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(OC 11)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및 구축에 대해 사업부장 투심 완료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(10/17)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DAP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추가 여부 검토결과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AZ NFF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검증 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2170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진행 여부 결정하기로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.(11/3,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원통형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검사기술담당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-AZ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활성화외관검사기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입고 전 검수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(FAT,Factory Acceptance Test)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(~12/30) InferWin(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검사기추론서비스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테스트 진행합니다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.(11/26)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-AI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솔루션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팀 경량화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v8.6(CT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모델사용시 필요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요청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→경량화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v10.x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(py3.9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공식지원 중단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’25.10, NVIDIA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3.10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↑권장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v8.6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활용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X,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현 최신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v10.14)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판올림하기로 합의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(11/13, w/.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원통형검사기술담당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,AI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솔루션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팀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했으며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상세 조건 검토 및 테스트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(GPU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호환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SW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버전 의존성 고려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하여 경량화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v10.9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확정하였습니다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.(11/28)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원통형검사기술 인원대상으로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DAP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역량향상을 위해 교육 구체화 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일정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: ’26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월중순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범위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의견수렴중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대상사선정중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에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.(12/12)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[WA</a:t>
                      </a:r>
                      <a:r>
                        <a:rPr kumimoji="0" lang="ko-KR" alt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 진행 현황</a:t>
                      </a:r>
                      <a:r>
                        <a:rPr kumimoji="0" lang="en-US" altLang="ko-K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라인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57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  <a:cs typeface="+mn-cs"/>
                        </a:rPr>
                        <a:t>대 적용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(‘25.12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신뢰성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동→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’27.06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WA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이관예정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소형센터 투심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(8/26)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 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IT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투자비 절감지시로 현행화함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(21.06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18.95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(9/1)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‘25.12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j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박홍규</a:t>
                      </a: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P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u="none" strike="noStrike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14F3224A-FB34-4E47-A9A7-A0AED1D52FDE}"/>
              </a:ext>
            </a:extLst>
          </p:cNvPr>
          <p:cNvSpPr txBox="1"/>
          <p:nvPr/>
        </p:nvSpPr>
        <p:spPr>
          <a:xfrm>
            <a:off x="8045856" y="670208"/>
            <a:ext cx="1670394" cy="33855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latin typeface="+mj-lt"/>
                <a:ea typeface="+mj-ea"/>
                <a:cs typeface="Malgun Gothic Semilight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/>
              <a:t>업데이트 시간 </a:t>
            </a:r>
            <a:r>
              <a:rPr lang="en-US">
                <a:ea typeface="+mj-lt"/>
              </a:rPr>
              <a:t>: 12/17(</a:t>
            </a:r>
            <a:r>
              <a:rPr lang="ko-KR" altLang="en-US">
                <a:ea typeface="+mj-lt"/>
              </a:rPr>
              <a:t>수</a:t>
            </a:r>
            <a:r>
              <a:rPr lang="en-US">
                <a:ea typeface="+mj-lt"/>
              </a:rPr>
              <a:t>) 10</a:t>
            </a:r>
            <a:r>
              <a:rPr lang="ko-KR"/>
              <a:t>시</a:t>
            </a:r>
          </a:p>
          <a:p>
            <a:endParaRPr lang="ko-KR" altLang="en-US"/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AC3CB4BE-42F8-487E-90DE-7DC041B98512}"/>
              </a:ext>
            </a:extLst>
          </p:cNvPr>
          <p:cNvSpPr txBox="1">
            <a:spLocks/>
          </p:cNvSpPr>
          <p:nvPr/>
        </p:nvSpPr>
        <p:spPr>
          <a:xfrm>
            <a:off x="8792920" y="500931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cs typeface="Malgun Gothic Semilight" panose="020B0502040204020203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cs typeface="Malgun Gothic Semilight" panose="020B0502040204020203" pitchFamily="50" charset="-127"/>
              </a:rPr>
              <a:t>박홍규</a:t>
            </a:r>
            <a:r>
              <a:rPr lang="en-US" altLang="ko-KR" sz="1100">
                <a:solidFill>
                  <a:prstClr val="black"/>
                </a:solidFill>
                <a:cs typeface="Malgun Gothic Semilight" panose="020B0502040204020203" pitchFamily="50" charset="-127"/>
              </a:rPr>
              <a:t>P</a:t>
            </a:r>
            <a:endParaRPr lang="ko-KR" altLang="en-US" sz="110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2D1D183-2E17-4533-A5C1-65174487E7E4}"/>
              </a:ext>
            </a:extLst>
          </p:cNvPr>
          <p:cNvSpPr txBox="1"/>
          <p:nvPr/>
        </p:nvSpPr>
        <p:spPr>
          <a:xfrm>
            <a:off x="6052284" y="1339595"/>
            <a:ext cx="170457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>
                <a:solidFill>
                  <a:srgbClr val="339933"/>
                </a:solidFill>
              </a:rPr>
              <a:t>* DAP(AZ)</a:t>
            </a:r>
            <a:r>
              <a:rPr lang="ko-KR" altLang="en-US" sz="700">
                <a:solidFill>
                  <a:srgbClr val="339933"/>
                </a:solidFill>
              </a:rPr>
              <a:t> 고도화</a:t>
            </a:r>
            <a:r>
              <a:rPr lang="en-US" altLang="ko-KR" sz="700">
                <a:solidFill>
                  <a:srgbClr val="339933"/>
                </a:solidFill>
              </a:rPr>
              <a:t>(</a:t>
            </a:r>
            <a:r>
              <a:rPr lang="ko-KR" altLang="en-US" sz="700">
                <a:solidFill>
                  <a:srgbClr val="339933"/>
                </a:solidFill>
              </a:rPr>
              <a:t>가칭</a:t>
            </a:r>
            <a:r>
              <a:rPr lang="en-US" altLang="ko-KR" sz="700">
                <a:solidFill>
                  <a:srgbClr val="339933"/>
                </a:solidFill>
              </a:rPr>
              <a:t>MMA)</a:t>
            </a:r>
            <a:r>
              <a:rPr lang="ko-KR" altLang="en-US" sz="700">
                <a:solidFill>
                  <a:srgbClr val="339933"/>
                </a:solidFill>
              </a:rPr>
              <a:t> 모식도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F65C957B-D6B4-4B39-A583-BCED3D6D5C4C}"/>
              </a:ext>
            </a:extLst>
          </p:cNvPr>
          <p:cNvSpPr txBox="1">
            <a:spLocks/>
          </p:cNvSpPr>
          <p:nvPr/>
        </p:nvSpPr>
        <p:spPr>
          <a:xfrm>
            <a:off x="5620354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DX-#21, </a:t>
            </a:r>
            <a:r>
              <a:rPr lang="ko-KR" altLang="en-US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00">
                <a:solidFill>
                  <a:prstClr val="black"/>
                </a:solidFill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00">
                <a:solidFill>
                  <a:srgbClr val="008000"/>
                </a:solidFill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lang="en-US" altLang="ko-KR" sz="100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7C0E05C-C2EE-4268-AEC2-EB974079A4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88999" y="1470562"/>
            <a:ext cx="2514674" cy="1139633"/>
          </a:xfrm>
          <a:prstGeom prst="rect">
            <a:avLst/>
          </a:prstGeom>
        </p:spPr>
      </p:pic>
      <p:pic>
        <p:nvPicPr>
          <p:cNvPr id="10" name="그림 9">
            <a:extLst>
              <a:ext uri="{FF2B5EF4-FFF2-40B4-BE49-F238E27FC236}">
                <a16:creationId xmlns:a16="http://schemas.microsoft.com/office/drawing/2014/main" id="{DF0E499A-5391-480D-98CD-991D0EEFC9C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05402" y="6043289"/>
            <a:ext cx="1127617" cy="469314"/>
          </a:xfrm>
          <a:prstGeom prst="rect">
            <a:avLst/>
          </a:prstGeom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4798D76-7FA4-4A1B-B8A5-E4912A55102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05402" y="4608106"/>
            <a:ext cx="1209045" cy="6024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668648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2452D3F-D36B-43AF-ACC0-4FEE1126C7C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09251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lvl="0">
              <a:defRPr/>
            </a:pPr>
            <a:r>
              <a:rPr lang="en-US" altLang="ko-KR" sz="1800">
                <a:cs typeface="Malgun Gothic Semilight" panose="020B0502040204020203" pitchFamily="50" charset="-127"/>
              </a:rPr>
              <a:t>1. </a:t>
            </a:r>
            <a:r>
              <a:rPr lang="ko-KR" altLang="en-US" sz="1800">
                <a:cs typeface="Malgun Gothic Semilight" panose="020B0502040204020203" pitchFamily="50" charset="-127"/>
              </a:rPr>
              <a:t>과제 진행 현황</a:t>
            </a:r>
            <a:r>
              <a:rPr lang="en-US" altLang="ko-KR" sz="1800"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cs typeface="Malgun Gothic Semilight" panose="020B0502040204020203" pitchFamily="50" charset="-127"/>
              </a:rPr>
              <a:t>공정검사</a:t>
            </a:r>
            <a:r>
              <a:rPr lang="en-US" altLang="ko-KR" sz="1800">
                <a:cs typeface="Malgun Gothic Semilight" panose="020B0502040204020203" pitchFamily="50" charset="-127"/>
              </a:rPr>
              <a:t>DX</a:t>
            </a:r>
            <a:r>
              <a:rPr lang="ko-KR" altLang="en-US" sz="1800"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A87D821B-DAEC-4BFF-B11C-7D184064031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377254" cy="215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■ 서버 기반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IVS </a:t>
            </a:r>
            <a:r>
              <a:rPr lang="ko-KR" altLang="en-US" sz="1400" b="1">
                <a:solidFill>
                  <a:prstClr val="black"/>
                </a:solidFill>
                <a:latin typeface="+mj-lt"/>
                <a:ea typeface="+mj-ea"/>
                <a:cs typeface="Malgun Gothic Semilight" panose="020B0502040204020203" pitchFamily="50" charset="-127"/>
              </a:rPr>
              <a:t>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j-ea"/>
                <a:cs typeface="Malgun Gothic Semilight" panose="020B0502040204020203" pitchFamily="50" charset="-127"/>
              </a:rPr>
              <a:t>도입 검토</a:t>
            </a:r>
            <a:endParaRPr kumimoji="1" lang="en-US" altLang="ko-KR" sz="1400" b="1" spc="-50">
              <a:solidFill>
                <a:prstClr val="black"/>
              </a:solidFill>
            </a:endParaRPr>
          </a:p>
        </p:txBody>
      </p:sp>
      <p:graphicFrame>
        <p:nvGraphicFramePr>
          <p:cNvPr id="4" name="표 1">
            <a:extLst>
              <a:ext uri="{FF2B5EF4-FFF2-40B4-BE49-F238E27FC236}">
                <a16:creationId xmlns:a16="http://schemas.microsoft.com/office/drawing/2014/main" id="{190134CA-3CBA-47E3-B115-27A705E6535E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55698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2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금주 진행사항 </a:t>
                      </a:r>
                      <a:r>
                        <a:rPr lang="en-US" altLang="ko-KR" sz="1000" b="1" i="0" u="none" strike="noStrike" baseline="0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(W51)</a:t>
                      </a:r>
                      <a:endParaRPr lang="en-US" altLang="ko-KR" sz="1000" b="1" i="0" u="none" strike="noStrike" baseline="0" dirty="0">
                        <a:solidFill>
                          <a:srgbClr val="FFFFFF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/>
                          <a:ea typeface="+mj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24465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서버 기반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IVS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시스템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도입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lvl="0" algn="ctr"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/>
                        </a:rPr>
                        <a:t>검토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j-ea"/>
                        <a:cs typeface="Malgun Gothic Semilight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ESNB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ESHM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(W51)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HM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법인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IVS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서버화 요건 및 단가 현행화하여 예가 산정 완료하였으며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투자비 절감 및 착수 시점 단축 관련하여 유관부서와 논의 예정입니다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. (~12/19)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목적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설비 기구부에 카메라를 부착하여 공정 이상 현상을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AI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기반으로 실시간 검출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및 조치하여 품질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공정개선 기여를 목적으로 진행하고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진행 계획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기존의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Camera → NVR(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영상저장소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) → Edge PC → PLC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구성을 서버 기반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IVS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시스템으로 신규 구축하는 방향으로 검토 진행 중입니다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매주 목요일 서버 기반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IVS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도입을 위한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TDR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 정기 회의 소집하여 진행 사항 논의하고 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1.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시스템 구조 분석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기존에 구축되어 있는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Edge PC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 기반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IVS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과제 및 구조에 대해 파악하여 서버 기반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IVS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도입 검토 시작 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. (6/30)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-.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서버 기반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IVS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구성 시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VM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서버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, WEB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서버가 제공하는 기능 및 송수신 정보 요건 정의 완료하였습니다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+mj-ea"/>
                          <a:cs typeface="+mn-cs"/>
                        </a:rPr>
                        <a:t>. (7/10)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인프라 검토</a:t>
                      </a: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전체 알고리즘을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사양 기준으로 구축 비용 검토하였으나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Pro/Basic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사양의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수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1:4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비율로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혼용하여 재검토하였습니다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(8/11)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→ Basic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개가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Pro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 정도의 서버 리소스 사용하며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Basic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알고리즘은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GPU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사용하지 않는 것으로 확인하였습니다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→ NB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전 공정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 기준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차 예가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196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인프라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179.2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인건비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16.7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에서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122.5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인프라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106.5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인건비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16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절감되었습니다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→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HM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AZS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 기준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카메라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712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개소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총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47.4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인프라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31.9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인건비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15.5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구축비용 검토하였습니다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-. HM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비율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(Pro:178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Basic:534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현행화 및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Test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결과 반영하여 총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67.6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인프라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52.7,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개발비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14.4)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으로 예가 검토하였습니다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알고리즘 실행 서버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Pro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서버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(VM 60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), Basic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서버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8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(VM 60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구성하여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억으로 예가 산출하였습니다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(11/27)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                                          26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 단가 현행화하여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42.2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억으로 인상되었습니다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 (12/12)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운영환경 서버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WEB/APP/DB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용도 서버 및 알고리즘 학습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개발 용도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VM 2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+GPU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구성하여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4.5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억으로 비용 검토하였습니다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→ 이미지 저장소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712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60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 보관 기준 용량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72.6TB 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구성하여 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억으로 비용 검토하였습니다</a:t>
                      </a:r>
                      <a:r>
                        <a:rPr lang="en-US" altLang="ko-KR" sz="100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10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3.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 기반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IVS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검증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-. VM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서버에서 알고리즘 실행하여 서버 사용량 및 네트워크 부하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Test (10/13)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통신 속도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Test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진행하였습니다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(10/29).</a:t>
                      </a:r>
                      <a:b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→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개  알고리즘 수행 시 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Max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점유율 기준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CPU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8.8%,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메모리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735MB,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네트워크 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4.5Mbps, </a:t>
                      </a:r>
                      <a:r>
                        <a:rPr lang="ko-KR" altLang="en-US" sz="1000">
                          <a:solidFill>
                            <a:schemeClr val="tx1"/>
                          </a:solidFill>
                        </a:rPr>
                        <a:t>알고리즘 수행 개수에 비례하여 증가</a:t>
                      </a:r>
                      <a:r>
                        <a:rPr lang="en-US" altLang="ko-KR" sz="1000">
                          <a:solidFill>
                            <a:schemeClr val="tx1"/>
                          </a:solidFill>
                        </a:rPr>
                        <a:t>  </a:t>
                      </a:r>
                      <a:endParaRPr kumimoji="0" lang="en-US" altLang="ko-K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 → 설비 상태 수신부터 알고리즘 판정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NG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따른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명령 내리기까지 평균 약 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1.2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초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(1223msec)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소요되었습니다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알고리즘 판정 시간 제외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’25.1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j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이강국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TL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김효정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/>
                          <a:ea typeface="+mj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/>
                        <a:ea typeface="+mj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D3BFCB9-1627-41AD-BF9E-3AD78FDBBDD4}"/>
              </a:ext>
            </a:extLst>
          </p:cNvPr>
          <p:cNvSpPr txBox="1"/>
          <p:nvPr/>
        </p:nvSpPr>
        <p:spPr>
          <a:xfrm>
            <a:off x="8045856" y="670208"/>
            <a:ext cx="1670394" cy="33855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latin typeface="+mj-lt"/>
                <a:ea typeface="+mj-ea"/>
                <a:cs typeface="Malgun Gothic Semilight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r>
              <a:rPr lang="ko-KR" dirty="0"/>
              <a:t>업데이트 시간 </a:t>
            </a:r>
            <a:r>
              <a:rPr lang="en-US">
                <a:ea typeface="+mj-lt"/>
              </a:rPr>
              <a:t>: 12/17(</a:t>
            </a:r>
            <a:r>
              <a:rPr lang="ko-KR" altLang="en-US" dirty="0">
                <a:ea typeface="+mj-lt"/>
              </a:rPr>
              <a:t>수</a:t>
            </a:r>
            <a:r>
              <a:rPr lang="en-US" dirty="0">
                <a:ea typeface="+mj-lt"/>
              </a:rPr>
              <a:t>) 10</a:t>
            </a:r>
            <a:r>
              <a:rPr lang="ko-KR" dirty="0"/>
              <a:t>시</a:t>
            </a:r>
          </a:p>
          <a:p>
            <a:endParaRPr lang="ko-KR" altLang="en-US" dirty="0"/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082B4D4F-1D26-4C45-8252-13119A770C6E}"/>
              </a:ext>
            </a:extLst>
          </p:cNvPr>
          <p:cNvSpPr txBox="1">
            <a:spLocks/>
          </p:cNvSpPr>
          <p:nvPr/>
        </p:nvSpPr>
        <p:spPr>
          <a:xfrm>
            <a:off x="8792919" y="500931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0"/>
              </a:spcBef>
              <a:defRPr/>
            </a:pPr>
            <a:r>
              <a:rPr lang="ko-KR" altLang="en-US" sz="1100">
                <a:solidFill>
                  <a:prstClr val="black"/>
                </a:solidFill>
                <a:cs typeface="Malgun Gothic Semilight" panose="020B0502040204020203" pitchFamily="50" charset="-127"/>
              </a:rPr>
              <a:t>작성자 </a:t>
            </a:r>
            <a:r>
              <a:rPr lang="en-US" altLang="ko-KR" sz="1100">
                <a:solidFill>
                  <a:prstClr val="black"/>
                </a:solidFill>
                <a:cs typeface="Malgun Gothic Semilight" panose="020B0502040204020203" pitchFamily="50" charset="-127"/>
              </a:rPr>
              <a:t>: </a:t>
            </a:r>
            <a:r>
              <a:rPr lang="ko-KR" altLang="en-US" sz="1100">
                <a:solidFill>
                  <a:prstClr val="black"/>
                </a:solidFill>
                <a:cs typeface="Malgun Gothic Semilight" panose="020B0502040204020203" pitchFamily="50" charset="-127"/>
              </a:rPr>
              <a:t>김효정</a:t>
            </a:r>
            <a:r>
              <a:rPr lang="en-US" altLang="ko-KR" sz="1100">
                <a:solidFill>
                  <a:prstClr val="black"/>
                </a:solidFill>
                <a:cs typeface="Malgun Gothic Semilight" panose="020B0502040204020203" pitchFamily="50" charset="-127"/>
              </a:rPr>
              <a:t>A</a:t>
            </a:r>
            <a:endParaRPr lang="ko-KR" altLang="en-US" sz="110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33CB79BA-7A44-4374-8F7F-60B594FB016F}"/>
              </a:ext>
            </a:extLst>
          </p:cNvPr>
          <p:cNvSpPr txBox="1">
            <a:spLocks/>
          </p:cNvSpPr>
          <p:nvPr/>
        </p:nvSpPr>
        <p:spPr>
          <a:xfrm>
            <a:off x="5533729" y="661940"/>
            <a:ext cx="2505652" cy="161583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spcBef>
                <a:spcPts val="0"/>
              </a:spcBef>
              <a:defRPr/>
            </a:pPr>
            <a:r>
              <a:rPr lang="en-US" altLang="ko-KR" sz="1050"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lang="ko-KR" altLang="en-US" sz="1050"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lang="en-US" altLang="ko-KR" sz="1050"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50">
                <a:latin typeface="LG스마트체 Regular"/>
                <a:ea typeface="LG스마트체 Regular"/>
                <a:cs typeface="Malgun Gothic Semilight"/>
              </a:rPr>
              <a:t>공정검사</a:t>
            </a:r>
            <a:r>
              <a:rPr lang="en-US" altLang="ko-KR" sz="1050">
                <a:latin typeface="LG스마트체 Regular"/>
                <a:ea typeface="LG스마트체 Regular"/>
                <a:cs typeface="Malgun Gothic Semilight"/>
              </a:rPr>
              <a:t>DX-#22, </a:t>
            </a:r>
            <a:r>
              <a:rPr lang="ko-KR" altLang="en-US" sz="1050"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lang="en-US" altLang="ko-KR" sz="1050"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lang="ko-KR" altLang="en-US" sz="1050">
                <a:solidFill>
                  <a:srgbClr val="008000"/>
                </a:solidFill>
                <a:latin typeface="LG스마트체 Regular"/>
                <a:cs typeface="Malgun Gothic Semilight"/>
              </a:rPr>
              <a:t>●</a:t>
            </a:r>
            <a:r>
              <a:rPr lang="en-US" altLang="ko-KR" sz="1050">
                <a:latin typeface="LG스마트체 Regular"/>
                <a:ea typeface="LG스마트체 Regular"/>
                <a:cs typeface="Malgun Gothic Semilight"/>
              </a:rPr>
              <a:t>]</a:t>
            </a:r>
            <a:endParaRPr lang="en-US" altLang="ko-KR" sz="105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LG스마트체 Regular"/>
              <a:ea typeface="LG스마트체 Regular"/>
              <a:cs typeface="Malgun Gothic Semilight"/>
            </a:endParaRPr>
          </a:p>
        </p:txBody>
      </p:sp>
      <p:sp>
        <p:nvSpPr>
          <p:cNvPr id="8" name="오각형 6">
            <a:extLst>
              <a:ext uri="{FF2B5EF4-FFF2-40B4-BE49-F238E27FC236}">
                <a16:creationId xmlns:a16="http://schemas.microsoft.com/office/drawing/2014/main" id="{06E9FD10-48CD-4F18-AE53-794DE35425B2}"/>
              </a:ext>
            </a:extLst>
          </p:cNvPr>
          <p:cNvSpPr/>
          <p:nvPr/>
        </p:nvSpPr>
        <p:spPr>
          <a:xfrm>
            <a:off x="1726292" y="2411944"/>
            <a:ext cx="1753172" cy="291481"/>
          </a:xfrm>
          <a:prstGeom prst="homePlate">
            <a:avLst>
              <a:gd name="adj" fmla="val 20529"/>
            </a:avLst>
          </a:prstGeom>
          <a:solidFill>
            <a:srgbClr val="FFFFFF"/>
          </a:solidFill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wrap="none" lIns="0" r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시스템</a:t>
            </a:r>
            <a:r>
              <a:rPr lang="en-US" altLang="ko-KR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</a:t>
            </a:r>
            <a:r>
              <a:rPr lang="ko-KR" altLang="en-US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구조 분석 </a:t>
            </a:r>
            <a:r>
              <a:rPr lang="en-US" altLang="ko-KR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/ </a:t>
            </a:r>
            <a:r>
              <a:rPr lang="ko-KR" altLang="en-US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투자비 예가 산출</a:t>
            </a:r>
            <a:endParaRPr kumimoji="0" lang="ko-KR" altLang="en-US" sz="9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" name="갈매기형 수장 2">
            <a:extLst>
              <a:ext uri="{FF2B5EF4-FFF2-40B4-BE49-F238E27FC236}">
                <a16:creationId xmlns:a16="http://schemas.microsoft.com/office/drawing/2014/main" id="{CD2FD7D9-9DA4-4449-BA5C-52123F310CC0}"/>
              </a:ext>
            </a:extLst>
          </p:cNvPr>
          <p:cNvSpPr/>
          <p:nvPr/>
        </p:nvSpPr>
        <p:spPr>
          <a:xfrm>
            <a:off x="3456967" y="2410583"/>
            <a:ext cx="1050980" cy="292678"/>
          </a:xfrm>
          <a:prstGeom prst="chevron">
            <a:avLst>
              <a:gd name="adj" fmla="val 22731"/>
            </a:avLst>
          </a:prstGeom>
          <a:solidFill>
            <a:srgbClr val="FFFFFF"/>
          </a:solidFill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wrap="none" lIns="3600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서버화 </a:t>
            </a:r>
            <a:r>
              <a:rPr lang="ko-KR" altLang="en-US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요건 정의</a:t>
            </a:r>
            <a:endParaRPr kumimoji="0" lang="ko-KR" altLang="en-US" sz="9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갈매기형 수장 2">
            <a:extLst>
              <a:ext uri="{FF2B5EF4-FFF2-40B4-BE49-F238E27FC236}">
                <a16:creationId xmlns:a16="http://schemas.microsoft.com/office/drawing/2014/main" id="{8C92FF6A-575D-4767-B8F4-ABCB8B709AAD}"/>
              </a:ext>
            </a:extLst>
          </p:cNvPr>
          <p:cNvSpPr/>
          <p:nvPr/>
        </p:nvSpPr>
        <p:spPr>
          <a:xfrm>
            <a:off x="4485450" y="2410583"/>
            <a:ext cx="2579874" cy="292678"/>
          </a:xfrm>
          <a:prstGeom prst="chevron">
            <a:avLst>
              <a:gd name="adj" fmla="val 25636"/>
            </a:avLst>
          </a:prstGeom>
          <a:solidFill>
            <a:srgbClr val="FFFFFF"/>
          </a:solidFill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서버기반 </a:t>
            </a:r>
            <a:r>
              <a:rPr kumimoji="0" lang="en-US" altLang="ko-KR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IVS </a:t>
            </a: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검증 </a:t>
            </a:r>
            <a:r>
              <a:rPr kumimoji="0" lang="en-US" altLang="ko-KR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(</a:t>
            </a: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유휴 서버 활용한 </a:t>
            </a:r>
            <a:r>
              <a:rPr kumimoji="0" lang="en-US" altLang="ko-KR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Test </a:t>
            </a:r>
            <a:r>
              <a:rPr lang="ko-KR" altLang="en-US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진행</a:t>
            </a:r>
            <a:r>
              <a:rPr lang="en-US" altLang="ko-KR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)</a:t>
            </a:r>
            <a:endParaRPr kumimoji="0" lang="ko-KR" altLang="en-US" sz="900" b="0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TextBox 354">
            <a:extLst>
              <a:ext uri="{FF2B5EF4-FFF2-40B4-BE49-F238E27FC236}">
                <a16:creationId xmlns:a16="http://schemas.microsoft.com/office/drawing/2014/main" id="{A062131D-B077-4683-AF4E-570EC4117C21}"/>
              </a:ext>
            </a:extLst>
          </p:cNvPr>
          <p:cNvSpPr txBox="1"/>
          <p:nvPr/>
        </p:nvSpPr>
        <p:spPr>
          <a:xfrm>
            <a:off x="1635597" y="2737837"/>
            <a:ext cx="665352" cy="171150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none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>
              <a:defRPr/>
            </a:pPr>
            <a:r>
              <a:rPr lang="en-US" altLang="ko-KR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‘25. 07</a:t>
            </a:r>
            <a:r>
              <a:rPr lang="ko-KR" altLang="en-US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endParaRPr lang="en-US" altLang="ko-KR" sz="900" kern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" name="TextBox 354">
            <a:extLst>
              <a:ext uri="{FF2B5EF4-FFF2-40B4-BE49-F238E27FC236}">
                <a16:creationId xmlns:a16="http://schemas.microsoft.com/office/drawing/2014/main" id="{AC8736EF-D078-4510-B2DA-0DDE9AF4623B}"/>
              </a:ext>
            </a:extLst>
          </p:cNvPr>
          <p:cNvSpPr txBox="1"/>
          <p:nvPr/>
        </p:nvSpPr>
        <p:spPr>
          <a:xfrm>
            <a:off x="3085141" y="2737837"/>
            <a:ext cx="709446" cy="171149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none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>
              <a:defRPr/>
            </a:pPr>
            <a:r>
              <a:rPr lang="en-US" altLang="ko-KR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’25. 9</a:t>
            </a:r>
            <a:r>
              <a:rPr lang="ko-KR" altLang="en-US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endParaRPr lang="en-US" altLang="ko-KR" sz="900" kern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갈매기형 수장 2">
            <a:extLst>
              <a:ext uri="{FF2B5EF4-FFF2-40B4-BE49-F238E27FC236}">
                <a16:creationId xmlns:a16="http://schemas.microsoft.com/office/drawing/2014/main" id="{9CE252DF-B8FA-498F-BD1F-68B09D497038}"/>
              </a:ext>
            </a:extLst>
          </p:cNvPr>
          <p:cNvSpPr/>
          <p:nvPr/>
        </p:nvSpPr>
        <p:spPr>
          <a:xfrm>
            <a:off x="7042826" y="2410583"/>
            <a:ext cx="1225558" cy="292678"/>
          </a:xfrm>
          <a:prstGeom prst="chevron">
            <a:avLst>
              <a:gd name="adj" fmla="val 25636"/>
            </a:avLst>
          </a:prstGeom>
          <a:solidFill>
            <a:srgbClr val="FFFFFF"/>
          </a:solidFill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wrap="none" lIns="0" r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투자</a:t>
            </a:r>
            <a:r>
              <a:rPr lang="en-US" altLang="ko-KR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/ </a:t>
            </a:r>
            <a:r>
              <a:rPr lang="ko-KR" altLang="en-US" sz="900" kern="0"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셋업</a:t>
            </a:r>
            <a:endParaRPr lang="en-US" altLang="ko-KR" sz="900" kern="0"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" name="TextBox 354">
            <a:extLst>
              <a:ext uri="{FF2B5EF4-FFF2-40B4-BE49-F238E27FC236}">
                <a16:creationId xmlns:a16="http://schemas.microsoft.com/office/drawing/2014/main" id="{A3530CC6-4A8E-4FAA-8829-BC38EADF0DB2}"/>
              </a:ext>
            </a:extLst>
          </p:cNvPr>
          <p:cNvSpPr txBox="1"/>
          <p:nvPr/>
        </p:nvSpPr>
        <p:spPr>
          <a:xfrm>
            <a:off x="4074125" y="2737837"/>
            <a:ext cx="709446" cy="171149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none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>
              <a:defRPr/>
            </a:pPr>
            <a:r>
              <a:rPr lang="en-US" altLang="ko-KR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’25. 10</a:t>
            </a:r>
            <a:r>
              <a:rPr lang="ko-KR" altLang="en-US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endParaRPr lang="en-US" altLang="ko-KR" sz="900" kern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" name="TextBox 354">
            <a:extLst>
              <a:ext uri="{FF2B5EF4-FFF2-40B4-BE49-F238E27FC236}">
                <a16:creationId xmlns:a16="http://schemas.microsoft.com/office/drawing/2014/main" id="{9C294018-94FF-49FC-97D6-A8A07B6CC84A}"/>
              </a:ext>
            </a:extLst>
          </p:cNvPr>
          <p:cNvSpPr txBox="1"/>
          <p:nvPr/>
        </p:nvSpPr>
        <p:spPr>
          <a:xfrm>
            <a:off x="6662037" y="2737837"/>
            <a:ext cx="709446" cy="171149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none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>
              <a:defRPr/>
            </a:pPr>
            <a:r>
              <a:rPr lang="en-US" altLang="ko-KR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’25. 12</a:t>
            </a:r>
            <a:r>
              <a:rPr lang="ko-KR" altLang="en-US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월</a:t>
            </a:r>
            <a:endParaRPr lang="en-US" altLang="ko-KR" sz="900" kern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TextBox 354">
            <a:extLst>
              <a:ext uri="{FF2B5EF4-FFF2-40B4-BE49-F238E27FC236}">
                <a16:creationId xmlns:a16="http://schemas.microsoft.com/office/drawing/2014/main" id="{CBC7FA12-2382-4B9A-A33E-A96FA4519FC6}"/>
              </a:ext>
            </a:extLst>
          </p:cNvPr>
          <p:cNvSpPr txBox="1"/>
          <p:nvPr/>
        </p:nvSpPr>
        <p:spPr>
          <a:xfrm>
            <a:off x="7304346" y="2737837"/>
            <a:ext cx="709446" cy="171149"/>
          </a:xfrm>
          <a:prstGeom prst="rect">
            <a:avLst/>
          </a:prstGeom>
          <a:noFill/>
          <a:ln w="9525" cmpd="sng">
            <a:noFill/>
          </a:ln>
          <a:effectLst/>
        </p:spPr>
        <p:txBody>
          <a:bodyPr wrap="none" rtlCol="0" anchor="ctr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>
              <a:defRPr/>
            </a:pPr>
            <a:r>
              <a:rPr lang="en-US" altLang="ko-KR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’26</a:t>
            </a:r>
            <a:r>
              <a:rPr lang="ko-KR" altLang="en-US" sz="900" kern="0">
                <a:solidFill>
                  <a:schemeClr val="tx1"/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년</a:t>
            </a:r>
            <a:endParaRPr lang="en-US" altLang="ko-KR" sz="900" kern="0">
              <a:solidFill>
                <a:schemeClr val="tx1"/>
              </a:soli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개체 18">
            <a:extLst>
              <a:ext uri="{FF2B5EF4-FFF2-40B4-BE49-F238E27FC236}">
                <a16:creationId xmlns:a16="http://schemas.microsoft.com/office/drawing/2014/main" id="{32DDF097-4D0E-4352-ADA4-7922A5F586F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777038" y="3731353"/>
          <a:ext cx="796925" cy="355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3" imgW="4356000" imgH="1944000" progId="Package">
                  <p:embed/>
                </p:oleObj>
              </mc:Choice>
              <mc:Fallback>
                <p:oleObj name="포장기 셸 개체" showAsIcon="1" r:id="rId3" imgW="4356000" imgH="1944000" progId="Package">
                  <p:embed/>
                  <p:pic>
                    <p:nvPicPr>
                      <p:cNvPr id="19" name="개체 18">
                        <a:extLst>
                          <a:ext uri="{FF2B5EF4-FFF2-40B4-BE49-F238E27FC236}">
                            <a16:creationId xmlns:a16="http://schemas.microsoft.com/office/drawing/2014/main" id="{32DDF097-4D0E-4352-ADA4-7922A5F586F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6777038" y="3731353"/>
                        <a:ext cx="796925" cy="3556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" name="개체 16">
            <a:extLst>
              <a:ext uri="{FF2B5EF4-FFF2-40B4-BE49-F238E27FC236}">
                <a16:creationId xmlns:a16="http://schemas.microsoft.com/office/drawing/2014/main" id="{E765C25A-D184-454C-8F6F-7E19C68F016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519581" y="5942732"/>
          <a:ext cx="780406" cy="4143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포장기 셸 개체" showAsIcon="1" r:id="rId5" imgW="859680" imgH="583200" progId="Package">
                  <p:embed/>
                </p:oleObj>
              </mc:Choice>
              <mc:Fallback>
                <p:oleObj name="포장기 셸 개체" showAsIcon="1" r:id="rId5" imgW="859680" imgH="583200" progId="Package">
                  <p:embed/>
                  <p:pic>
                    <p:nvPicPr>
                      <p:cNvPr id="17" name="개체 16">
                        <a:extLst>
                          <a:ext uri="{FF2B5EF4-FFF2-40B4-BE49-F238E27FC236}">
                            <a16:creationId xmlns:a16="http://schemas.microsoft.com/office/drawing/2014/main" id="{E765C25A-D184-454C-8F6F-7E19C68F016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8519581" y="5942732"/>
                        <a:ext cx="780406" cy="41433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3CC72A6E-CD6C-FE17-3D44-AE5B269DC4A8}"/>
              </a:ext>
            </a:extLst>
          </p:cNvPr>
          <p:cNvGraphicFramePr>
            <a:graphicFrameLocks noGrp="1"/>
          </p:cNvGraphicFramePr>
          <p:nvPr/>
        </p:nvGraphicFramePr>
        <p:xfrm>
          <a:off x="1726292" y="7110997"/>
          <a:ext cx="6861447" cy="515103"/>
        </p:xfrm>
        <a:graphic>
          <a:graphicData uri="http://schemas.openxmlformats.org/drawingml/2006/table">
            <a:tbl>
              <a:tblPr/>
              <a:tblGrid>
                <a:gridCol w="299358">
                  <a:extLst>
                    <a:ext uri="{9D8B030D-6E8A-4147-A177-3AD203B41FA5}">
                      <a16:colId xmlns:a16="http://schemas.microsoft.com/office/drawing/2014/main" val="577305164"/>
                    </a:ext>
                  </a:extLst>
                </a:gridCol>
                <a:gridCol w="882650">
                  <a:extLst>
                    <a:ext uri="{9D8B030D-6E8A-4147-A177-3AD203B41FA5}">
                      <a16:colId xmlns:a16="http://schemas.microsoft.com/office/drawing/2014/main" val="4098263448"/>
                    </a:ext>
                  </a:extLst>
                </a:gridCol>
                <a:gridCol w="1625600">
                  <a:extLst>
                    <a:ext uri="{9D8B030D-6E8A-4147-A177-3AD203B41FA5}">
                      <a16:colId xmlns:a16="http://schemas.microsoft.com/office/drawing/2014/main" val="2826573149"/>
                    </a:ext>
                  </a:extLst>
                </a:gridCol>
                <a:gridCol w="1136650">
                  <a:extLst>
                    <a:ext uri="{9D8B030D-6E8A-4147-A177-3AD203B41FA5}">
                      <a16:colId xmlns:a16="http://schemas.microsoft.com/office/drawing/2014/main" val="2662858345"/>
                    </a:ext>
                  </a:extLst>
                </a:gridCol>
                <a:gridCol w="1073150">
                  <a:extLst>
                    <a:ext uri="{9D8B030D-6E8A-4147-A177-3AD203B41FA5}">
                      <a16:colId xmlns:a16="http://schemas.microsoft.com/office/drawing/2014/main" val="869009629"/>
                    </a:ext>
                  </a:extLst>
                </a:gridCol>
                <a:gridCol w="863600">
                  <a:extLst>
                    <a:ext uri="{9D8B030D-6E8A-4147-A177-3AD203B41FA5}">
                      <a16:colId xmlns:a16="http://schemas.microsoft.com/office/drawing/2014/main" val="2332225816"/>
                    </a:ext>
                  </a:extLst>
                </a:gridCol>
                <a:gridCol w="980439">
                  <a:extLst>
                    <a:ext uri="{9D8B030D-6E8A-4147-A177-3AD203B41FA5}">
                      <a16:colId xmlns:a16="http://schemas.microsoft.com/office/drawing/2014/main" val="3701893643"/>
                    </a:ext>
                  </a:extLst>
                </a:gridCol>
              </a:tblGrid>
              <a:tr h="1823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항목</a:t>
                      </a: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① 설비 상태 송수신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(EIF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IVS)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② 상태 메시지 확인 후 알고리즘 실행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(IVS)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③ 알고리즘 결과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File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생성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(IVS)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④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EIF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송신 메시지 생성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(IVS)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⑤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NG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결과 송수신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(IVS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EIF)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⑥ 이상감지 알람 발생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(EIF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→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PLC)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946813"/>
                  </a:ext>
                </a:extLst>
              </a:tr>
              <a:tr h="1293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차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미측정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12msec</a:t>
                      </a: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352msec</a:t>
                      </a: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12msec</a:t>
                      </a: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미측정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694msec</a:t>
                      </a: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8514233"/>
                  </a:ext>
                </a:extLst>
              </a:tr>
              <a:tr h="1293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차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5msec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12msec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433mesc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6msec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5msec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761msec</a:t>
                      </a:r>
                    </a:p>
                  </a:txBody>
                  <a:tcPr marL="9141" marR="9141" marT="914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58368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5110832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09F795-384A-832B-810F-8742FE41E5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19DF822C-B573-FB92-D029-597317B982E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34258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r>
              <a:rPr lang="ko-KR" altLang="en-US" sz="1800" dirty="0">
                <a:solidFill>
                  <a:schemeClr val="tx1"/>
                </a:solidFill>
                <a:cs typeface="Malgun Gothic Semilight" panose="020B0502040204020203" pitchFamily="50" charset="-127"/>
              </a:rPr>
              <a:t>공정제어</a:t>
            </a:r>
            <a:r>
              <a:rPr lang="en-US" altLang="ko-KR" sz="1800" dirty="0">
                <a:solidFill>
                  <a:schemeClr val="tx1"/>
                </a:solidFill>
                <a:cs typeface="Malgun Gothic Semilight" panose="020B0502040204020203" pitchFamily="50" charset="-127"/>
              </a:rPr>
              <a:t>DX</a:t>
            </a:r>
            <a:r>
              <a:rPr lang="ko-KR" altLang="en-US" sz="1800" dirty="0">
                <a:solidFill>
                  <a:schemeClr val="tx1"/>
                </a:solidFill>
                <a:cs typeface="Malgun Gothic Semilight" panose="020B0502040204020203" pitchFamily="50" charset="-127"/>
              </a:rPr>
              <a:t>팀 금주</a:t>
            </a:r>
            <a:r>
              <a:rPr lang="en-US" altLang="ko-KR" sz="1800" dirty="0">
                <a:solidFill>
                  <a:schemeClr val="tx1"/>
                </a:solidFill>
                <a:cs typeface="Malgun Gothic Semilight" panose="020B0502040204020203" pitchFamily="50" charset="-127"/>
              </a:rPr>
              <a:t>(W51)</a:t>
            </a:r>
            <a:r>
              <a:rPr lang="ko-KR" altLang="en-US" sz="1800" dirty="0">
                <a:solidFill>
                  <a:schemeClr val="tx1"/>
                </a:solidFill>
                <a:cs typeface="Malgun Gothic Semilight" panose="020B0502040204020203" pitchFamily="50" charset="-127"/>
              </a:rPr>
              <a:t> 주요 내용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9B3CCE-3B71-BEDB-FEAD-3D26D9BC93DC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14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D5185E2A-6650-D73A-CFF9-DCCDF0587D19}"/>
              </a:ext>
            </a:extLst>
          </p:cNvPr>
          <p:cNvSpPr txBox="1">
            <a:spLocks/>
          </p:cNvSpPr>
          <p:nvPr/>
        </p:nvSpPr>
        <p:spPr>
          <a:xfrm>
            <a:off x="7962234" y="118406"/>
            <a:ext cx="1724832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임국빈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이성우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박범규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344A5FE-F5E0-4936-8230-39FCF69A98D3}"/>
              </a:ext>
            </a:extLst>
          </p:cNvPr>
          <p:cNvSpPr txBox="1"/>
          <p:nvPr/>
        </p:nvSpPr>
        <p:spPr>
          <a:xfrm>
            <a:off x="53149" y="695133"/>
            <a:ext cx="9799701" cy="3786293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lnSpc>
                <a:spcPct val="120000"/>
              </a:lnSpc>
              <a:spcBef>
                <a:spcPts val="1000"/>
              </a:spcBef>
              <a:defRPr/>
            </a:pPr>
            <a:r>
              <a:rPr kumimoji="1" lang="en-US" altLang="ko-KR" sz="11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1. Cycler(</a:t>
            </a:r>
            <a:r>
              <a:rPr kumimoji="1" lang="ko-KR" altLang="en-US" sz="11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양산 </a:t>
            </a:r>
            <a:r>
              <a:rPr kumimoji="1" lang="en-US" altLang="ko-KR" sz="11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ORT) </a:t>
            </a:r>
            <a:r>
              <a:rPr kumimoji="1" lang="ko-KR" altLang="en-US" sz="11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설비 </a:t>
            </a:r>
            <a:r>
              <a:rPr kumimoji="1" lang="en-US" altLang="ko-KR" sz="11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Profile </a:t>
            </a:r>
            <a:r>
              <a:rPr kumimoji="1" lang="ko-KR" altLang="en-US" sz="11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데이터 수집</a:t>
            </a:r>
            <a:b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1" lang="ko-KR" altLang="en-US" sz="1100" kern="0" dirty="0" err="1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리튬석출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검출 모형 개발</a:t>
            </a: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(w.AI 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솔루션</a:t>
            </a: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2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팀</a:t>
            </a: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Cell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수명예측팀</a:t>
            </a: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), ORT 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수명 예측 알고리즘</a:t>
            </a: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(w. Cell 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수명예측팀</a:t>
            </a: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적용을 위해 </a:t>
            </a:r>
            <a:r>
              <a:rPr lang="en-US" altLang="ko-KR" sz="1100" dirty="0">
                <a:cs typeface="Malgun Gothic Semilight" panose="020B0502040204020203" pitchFamily="50" charset="-127"/>
              </a:rPr>
              <a:t>Cycler</a:t>
            </a:r>
            <a:r>
              <a:rPr lang="ko-KR" altLang="en-US" sz="1100" dirty="0">
                <a:cs typeface="Malgun Gothic Semilight" panose="020B0502040204020203" pitchFamily="50" charset="-127"/>
              </a:rPr>
              <a:t> 설비의 </a:t>
            </a:r>
            <a:r>
              <a:rPr lang="en-US" altLang="ko-KR" sz="1100" dirty="0">
                <a:cs typeface="Malgun Gothic Semilight" panose="020B0502040204020203" pitchFamily="50" charset="-127"/>
              </a:rPr>
              <a:t>ORT </a:t>
            </a:r>
            <a:r>
              <a:rPr lang="ko-KR" altLang="en-US" sz="1100" dirty="0">
                <a:cs typeface="Malgun Gothic Semilight" panose="020B0502040204020203" pitchFamily="50" charset="-127"/>
              </a:rPr>
              <a:t>시험 데이터 수집을 진행하고 있습니다</a:t>
            </a:r>
            <a:r>
              <a:rPr lang="en-US" altLang="ko-KR" sz="1100" dirty="0">
                <a:cs typeface="Malgun Gothic Semilight" panose="020B0502040204020203" pitchFamily="50" charset="-127"/>
              </a:rPr>
              <a:t>. </a:t>
            </a:r>
            <a:br>
              <a:rPr lang="en-US" altLang="ko-KR" sz="1100" dirty="0">
                <a:cs typeface="Malgun Gothic Semilight" panose="020B0502040204020203" pitchFamily="50" charset="-127"/>
              </a:rPr>
            </a:br>
            <a:r>
              <a:rPr lang="en-US" altLang="ko-KR" sz="1100" dirty="0">
                <a:cs typeface="Malgun Gothic Semilight" panose="020B0502040204020203" pitchFamily="50" charset="-127"/>
              </a:rPr>
              <a:t>     HM </a:t>
            </a:r>
            <a:r>
              <a:rPr lang="ko-KR" altLang="en-US" sz="1100" dirty="0">
                <a:cs typeface="Malgun Gothic Semilight" panose="020B0502040204020203" pitchFamily="50" charset="-127"/>
              </a:rPr>
              <a:t>법인</a:t>
            </a:r>
            <a:r>
              <a:rPr lang="en-US" altLang="ko-KR" sz="1100" dirty="0">
                <a:cs typeface="Malgun Gothic Semilight" panose="020B0502040204020203" pitchFamily="50" charset="-127"/>
              </a:rPr>
              <a:t>(APRO 14</a:t>
            </a:r>
            <a:r>
              <a:rPr lang="ko-KR" altLang="en-US" sz="1100" dirty="0">
                <a:cs typeface="Malgun Gothic Semilight" panose="020B0502040204020203" pitchFamily="50" charset="-127"/>
              </a:rPr>
              <a:t>대</a:t>
            </a:r>
            <a:r>
              <a:rPr lang="en-US" altLang="ko-KR" sz="1100" dirty="0">
                <a:cs typeface="Malgun Gothic Semilight" panose="020B0502040204020203" pitchFamily="50" charset="-127"/>
              </a:rPr>
              <a:t>)</a:t>
            </a:r>
            <a:r>
              <a:rPr lang="ko-KR" altLang="en-US" sz="1100" dirty="0">
                <a:cs typeface="Malgun Gothic Semilight" panose="020B0502040204020203" pitchFamily="50" charset="-127"/>
              </a:rPr>
              <a:t>은 대표호기 </a:t>
            </a:r>
            <a:r>
              <a:rPr lang="en-US" altLang="ko-KR" sz="1100" dirty="0">
                <a:cs typeface="Malgun Gothic Semilight" panose="020B0502040204020203" pitchFamily="50" charset="-127"/>
              </a:rPr>
              <a:t>S/W </a:t>
            </a:r>
            <a:r>
              <a:rPr lang="ko-KR" altLang="en-US" sz="1100" dirty="0">
                <a:cs typeface="Malgun Gothic Semilight" panose="020B0502040204020203" pitchFamily="50" charset="-127"/>
              </a:rPr>
              <a:t>검증결과 비정상 종료 기인 데이터 누락 현상이 확인되어 설비 </a:t>
            </a:r>
            <a:r>
              <a:rPr lang="en-US" altLang="ko-KR" sz="1100" dirty="0">
                <a:cs typeface="Malgun Gothic Semilight" panose="020B0502040204020203" pitchFamily="50" charset="-127"/>
              </a:rPr>
              <a:t>S/W </a:t>
            </a:r>
            <a:r>
              <a:rPr lang="ko-KR" altLang="en-US" sz="1100" dirty="0">
                <a:cs typeface="Malgun Gothic Semilight" panose="020B0502040204020203" pitchFamily="50" charset="-127"/>
              </a:rPr>
              <a:t>개선 진행중입니다</a:t>
            </a:r>
            <a:r>
              <a:rPr lang="en-US" altLang="ko-KR" sz="1100" dirty="0">
                <a:cs typeface="Malgun Gothic Semilight" panose="020B0502040204020203" pitchFamily="50" charset="-127"/>
              </a:rPr>
              <a:t>.(~11/21) </a:t>
            </a:r>
            <a:r>
              <a:rPr lang="ko-KR" altLang="en-US" sz="1100" dirty="0">
                <a:cs typeface="Malgun Gothic Semilight" panose="020B0502040204020203" pitchFamily="50" charset="-127"/>
              </a:rPr>
              <a:t>잔여 설비는 </a:t>
            </a:r>
            <a:r>
              <a:rPr lang="en-US" altLang="ko-KR" sz="1100" dirty="0">
                <a:cs typeface="Malgun Gothic Semilight" panose="020B0502040204020203" pitchFamily="50" charset="-127"/>
              </a:rPr>
              <a:t>12/19</a:t>
            </a:r>
            <a:r>
              <a:rPr lang="ko-KR" altLang="en-US" sz="1100" dirty="0">
                <a:cs typeface="Malgun Gothic Semilight" panose="020B0502040204020203" pitchFamily="50" charset="-127"/>
              </a:rPr>
              <a:t>까지 완료 예정입니다</a:t>
            </a:r>
            <a:r>
              <a:rPr lang="en-US" altLang="ko-KR" sz="1100" dirty="0">
                <a:cs typeface="Malgun Gothic Semilight" panose="020B0502040204020203" pitchFamily="50" charset="-127"/>
              </a:rPr>
              <a:t>.</a:t>
            </a:r>
            <a:br>
              <a:rPr lang="en-US" altLang="ko-KR" sz="1100" dirty="0">
                <a:cs typeface="Malgun Gothic Semilight" panose="020B0502040204020203" pitchFamily="50" charset="-127"/>
              </a:rPr>
            </a:br>
            <a:r>
              <a:rPr lang="en-US" altLang="ko-KR" sz="1100" dirty="0">
                <a:cs typeface="Malgun Gothic Semilight" panose="020B0502040204020203" pitchFamily="50" charset="-127"/>
              </a:rPr>
              <a:t>     HG </a:t>
            </a:r>
            <a:r>
              <a:rPr lang="ko-KR" altLang="en-US" sz="1100" dirty="0">
                <a:cs typeface="Malgun Gothic Semilight" panose="020B0502040204020203" pitchFamily="50" charset="-127"/>
              </a:rPr>
              <a:t>법인은 설비 셋업 중 비자 이슈로 현재 </a:t>
            </a:r>
            <a:r>
              <a:rPr lang="ko-KR" altLang="en-US" sz="1100" dirty="0" err="1">
                <a:cs typeface="Malgun Gothic Semilight" panose="020B0502040204020203" pitchFamily="50" charset="-127"/>
              </a:rPr>
              <a:t>설비셋업</a:t>
            </a:r>
            <a:r>
              <a:rPr lang="ko-KR" altLang="en-US" sz="1100" dirty="0">
                <a:cs typeface="Malgun Gothic Semilight" panose="020B0502040204020203" pitchFamily="50" charset="-127"/>
              </a:rPr>
              <a:t> 인원이 철수한 상태이며</a:t>
            </a:r>
            <a:r>
              <a:rPr lang="en-US" altLang="ko-KR" sz="1100" dirty="0">
                <a:cs typeface="Malgun Gothic Semilight" panose="020B0502040204020203" pitchFamily="50" charset="-127"/>
              </a:rPr>
              <a:t>,</a:t>
            </a:r>
            <a:r>
              <a:rPr lang="ko-KR" altLang="en-US" sz="1100" dirty="0">
                <a:cs typeface="Malgun Gothic Semilight" panose="020B0502040204020203" pitchFamily="50" charset="-127"/>
              </a:rPr>
              <a:t> </a:t>
            </a:r>
            <a:r>
              <a:rPr lang="en-US" altLang="ko-KR" sz="1100" dirty="0">
                <a:cs typeface="Malgun Gothic Semilight" panose="020B0502040204020203" pitchFamily="50" charset="-127"/>
              </a:rPr>
              <a:t>H/W,S/W </a:t>
            </a:r>
            <a:r>
              <a:rPr lang="ko-KR" altLang="en-US" sz="1100" dirty="0">
                <a:cs typeface="Malgun Gothic Semilight" panose="020B0502040204020203" pitchFamily="50" charset="-127"/>
              </a:rPr>
              <a:t>엔지니어가 </a:t>
            </a:r>
            <a:r>
              <a:rPr lang="en-US" altLang="ko-KR" sz="1100" dirty="0">
                <a:cs typeface="Malgun Gothic Semilight" panose="020B0502040204020203" pitchFamily="50" charset="-127"/>
              </a:rPr>
              <a:t>11</a:t>
            </a:r>
            <a:r>
              <a:rPr lang="ko-KR" altLang="en-US" sz="1100" dirty="0">
                <a:cs typeface="Malgun Gothic Semilight" panose="020B0502040204020203" pitchFamily="50" charset="-127"/>
              </a:rPr>
              <a:t>월중 </a:t>
            </a:r>
            <a:r>
              <a:rPr lang="en-US" altLang="ko-KR" sz="1100" dirty="0">
                <a:cs typeface="Malgun Gothic Semilight" panose="020B0502040204020203" pitchFamily="50" charset="-127"/>
              </a:rPr>
              <a:t>B1 </a:t>
            </a:r>
            <a:r>
              <a:rPr lang="ko-KR" altLang="en-US" sz="1100" dirty="0">
                <a:cs typeface="Malgun Gothic Semilight" panose="020B0502040204020203" pitchFamily="50" charset="-127"/>
              </a:rPr>
              <a:t>비자 발급 후 출장을 통해 대표호기 </a:t>
            </a:r>
            <a:r>
              <a:rPr lang="en-US" altLang="ko-KR" sz="1100" dirty="0">
                <a:cs typeface="Malgun Gothic Semilight" panose="020B0502040204020203" pitchFamily="50" charset="-127"/>
              </a:rPr>
              <a:t>S/W </a:t>
            </a:r>
            <a:r>
              <a:rPr lang="ko-KR" altLang="en-US" sz="1100" dirty="0">
                <a:cs typeface="Malgun Gothic Semilight" panose="020B0502040204020203" pitchFamily="50" charset="-127"/>
              </a:rPr>
              <a:t>검증 예정입니다</a:t>
            </a:r>
            <a:r>
              <a:rPr lang="en-US" altLang="ko-KR" sz="1100" dirty="0">
                <a:cs typeface="Malgun Gothic Semilight" panose="020B0502040204020203" pitchFamily="50" charset="-127"/>
              </a:rPr>
              <a:t>.(~12/19)</a:t>
            </a:r>
            <a:br>
              <a:rPr lang="en-US" altLang="ko-KR" sz="1100" dirty="0">
                <a:cs typeface="Malgun Gothic Semilight" panose="020B0502040204020203" pitchFamily="50" charset="-127"/>
              </a:rPr>
            </a:br>
            <a:r>
              <a:rPr lang="en-US" altLang="ko-KR" sz="1100" dirty="0">
                <a:solidFill>
                  <a:srgbClr val="1414FE"/>
                </a:solidFill>
                <a:cs typeface="Malgun Gothic Semilight" panose="020B0502040204020203" pitchFamily="50" charset="-127"/>
              </a:rPr>
              <a:t>     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NB 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법인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(PNE 14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대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, APRO 54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대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은 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PNE 14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대 확산을 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10/31 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완료 하였고 해당 데이터들로 </a:t>
            </a:r>
            <a:r>
              <a:rPr kumimoji="1" lang="ko-KR" altLang="en-US" sz="1100" kern="0" dirty="0" err="1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리튬석출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예측 분석에 활용하고 있습니다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 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APRO 54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대는 현재 개발 및 확산 견적 수령</a:t>
            </a:r>
            <a:b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하였으나 약 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1.3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억 수준으로 비용이 과다하게 산출되어 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NB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법인에서 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Nego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를 진행 중입니다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 (~’26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년 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1</a:t>
            </a:r>
            <a:r>
              <a:rPr kumimoji="1" lang="ko-KR" altLang="en-US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월</a:t>
            </a:r>
            <a:r>
              <a:rPr kumimoji="1" lang="en-US" altLang="ko-KR" sz="1100" kern="0" dirty="0">
                <a:solidFill>
                  <a:srgbClr val="1414FE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) </a:t>
            </a:r>
            <a:b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그 외 잔여 법인은 ‘</a:t>
            </a: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26</a:t>
            </a:r>
            <a:r>
              <a:rPr kumimoji="1" lang="ko-KR" altLang="en-US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년 품질센터에서 예산 확보 후 진행 예정입니다</a:t>
            </a:r>
            <a:r>
              <a:rPr kumimoji="1" lang="en-US" altLang="ko-KR" sz="1100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.</a:t>
            </a:r>
          </a:p>
          <a:p>
            <a:pPr>
              <a:lnSpc>
                <a:spcPct val="120000"/>
              </a:lnSpc>
              <a:spcBef>
                <a:spcPts val="1000"/>
              </a:spcBef>
              <a:defRPr/>
            </a:pPr>
            <a:r>
              <a:rPr kumimoji="1" lang="en-US" altLang="ko-KR" sz="1100" b="1" kern="0" dirty="0">
                <a:latin typeface="Arial Narrow" panose="020B0606020202030204" pitchFamily="34" charset="0"/>
                <a:ea typeface="LG스마트체 Regular" panose="020B0600000101010101" pitchFamily="50" charset="-127"/>
                <a:cs typeface="Malgun Gothic Semilight"/>
              </a:rPr>
              <a:t>2. </a:t>
            </a:r>
            <a:r>
              <a:rPr kumimoji="1" lang="en-US" altLang="ko-KR" sz="1100" b="1" kern="0" dirty="0">
                <a:latin typeface="Arial Narrow" panose="020B0606020202030204" pitchFamily="34" charset="0"/>
                <a:cs typeface="Malgun Gothic Semilight"/>
              </a:rPr>
              <a:t>APC </a:t>
            </a:r>
            <a:r>
              <a:rPr kumimoji="1" lang="ko-KR" altLang="en-US" sz="1100" b="1" kern="0" dirty="0">
                <a:latin typeface="Arial Narrow" panose="020B0606020202030204" pitchFamily="34" charset="0"/>
                <a:cs typeface="Malgun Gothic Semilight"/>
              </a:rPr>
              <a:t>신규 법인 및 설비 증설 확산</a:t>
            </a:r>
            <a:br>
              <a:rPr kumimoji="1" lang="en-US" altLang="ko-KR" sz="1100" b="1" kern="0" dirty="0">
                <a:latin typeface="Arial Narrow" panose="020B0606020202030204" pitchFamily="34" charset="0"/>
                <a:cs typeface="Malgun Gothic Semilight"/>
              </a:rPr>
            </a:br>
            <a:r>
              <a:rPr kumimoji="1" lang="en-US" altLang="ko-KR" sz="1100" b="1" kern="0" dirty="0">
                <a:latin typeface="Arial Narrow" panose="020B0606020202030204" pitchFamily="34" charset="0"/>
                <a:cs typeface="Malgun Gothic Semilight"/>
              </a:rPr>
              <a:t>    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WA 1~3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동 확산 진행중이며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현재 건조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APC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적용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(11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/51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대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, 22%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)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하였고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,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전 공정 데이터 수집 후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APC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검증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중에 있습니다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.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전 호기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12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월 완료 예정입니다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.</a:t>
            </a:r>
            <a:b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</a:b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     WA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모듈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Resin/Frame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공정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1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호기에 구축하여 알고리즘 평가를 진행했으며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, Resin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은 효과가 있어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2,3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호기 확산 완료 하였으며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, Frame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공정은 알고리즘 개선 후 확산 예정입니다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.</a:t>
            </a:r>
            <a:b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</a:b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     OC9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는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SLT/ROL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APC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적용하였고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, </a:t>
            </a:r>
            <a:r>
              <a:rPr kumimoji="1" lang="ko-KR" altLang="en-US" sz="1100" kern="0" dirty="0" err="1">
                <a:latin typeface="Arial Narrow" panose="020B0606020202030204" pitchFamily="34" charset="0"/>
                <a:cs typeface="Malgun Gothic Semilight"/>
              </a:rPr>
              <a:t>와인더는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 설비와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EIF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간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Text MSG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통신방식 대응을 위해 기능을 개발 및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TEST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완료 하였으며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,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검사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Data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수집 셋업 진행중입니다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. (~12/19)</a:t>
            </a:r>
            <a:b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</a:b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     OC10 </a:t>
            </a:r>
            <a:r>
              <a:rPr kumimoji="1" lang="ko-KR" altLang="en-US" sz="1100" kern="0" dirty="0" err="1">
                <a:latin typeface="Arial Narrow" panose="020B0606020202030204" pitchFamily="34" charset="0"/>
                <a:cs typeface="Malgun Gothic Semilight"/>
              </a:rPr>
              <a:t>마더라인은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 시스템 셋업 완료하여 전극 공정은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APC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적용 완료하였습니다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.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조립 공정은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PLC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수정이 필요하여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’26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년초에 진행 예정입니다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.(w.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/>
              </a:rPr>
              <a:t>조립자동보정팀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/>
              </a:rPr>
              <a:t>)</a:t>
            </a:r>
          </a:p>
          <a:p>
            <a:pPr>
              <a:lnSpc>
                <a:spcPct val="120000"/>
              </a:lnSpc>
              <a:spcBef>
                <a:spcPts val="1000"/>
              </a:spcBef>
              <a:defRPr/>
            </a:pPr>
            <a:r>
              <a:rPr kumimoji="1" lang="en-US" altLang="ko-KR" sz="1100" b="1" kern="0" dirty="0">
                <a:latin typeface="Arial Narrow" panose="020B0606020202030204" pitchFamily="34" charset="0"/>
                <a:cs typeface="Malgun Gothic Semilight"/>
              </a:rPr>
              <a:t>3. FDC </a:t>
            </a:r>
            <a:r>
              <a:rPr kumimoji="1" lang="ko-KR" altLang="en-US" sz="1100" b="1" kern="0" dirty="0">
                <a:latin typeface="Arial Narrow" panose="020B0606020202030204" pitchFamily="34" charset="0"/>
                <a:cs typeface="Malgun Gothic Semilight"/>
              </a:rPr>
              <a:t>신규 법인 및 설비 증설 확산</a:t>
            </a:r>
            <a:br>
              <a:rPr kumimoji="1" lang="en-US" altLang="ko-KR" sz="1100" b="1" kern="0" dirty="0">
                <a:latin typeface="Arial Narrow" panose="020B0606020202030204" pitchFamily="34" charset="0"/>
                <a:cs typeface="Malgun Gothic Semilight"/>
              </a:rPr>
            </a:b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     HD, MI, MI_L, HG, ST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법인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FDC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호기 수평전개 진행중입니다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. </a:t>
            </a:r>
            <a:b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</a:b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    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HD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는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42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대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/42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대 완료 하였습니다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. (7/20)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MI1,2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동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 111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대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/123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대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, 90%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데이터 수집 완료 하였고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잔여 설비는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12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월 내 완료 예정입니다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(~12/23)</a:t>
            </a:r>
            <a:b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</a:b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/>
              </a:rPr>
              <a:t>   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HG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는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111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대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/111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대 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100% </a:t>
            </a:r>
            <a:r>
              <a:rPr kumimoji="1" lang="ko-KR" altLang="en-US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수집 완료 하였습니다</a:t>
            </a:r>
            <a:r>
              <a:rPr kumimoji="1" lang="en-US" altLang="ko-KR" sz="1100" kern="0" dirty="0">
                <a:latin typeface="Arial Narrow" panose="020B0606020202030204" pitchFamily="34" charset="0"/>
                <a:cs typeface="Malgun Gothic Semilight" panose="020B0502040204020203" pitchFamily="50" charset="-127"/>
              </a:rPr>
              <a:t>.(9/30)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MI_L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는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44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대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/44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대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100%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수집 완료 하였습니다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. </a:t>
            </a:r>
            <a:b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</a:b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     ST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는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40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대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/124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대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33%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완료 하였으며 금주 물류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Stocker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설비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66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대 데이터 수집 완료 예정이고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(~12/19) 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잔여 활성화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18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대 설비는 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12</a:t>
            </a:r>
            <a:r>
              <a:rPr kumimoji="1" lang="ko-KR" altLang="en-US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월 내 데이터 수집 예정입니다</a:t>
            </a:r>
            <a:r>
              <a:rPr kumimoji="1" lang="en-US" altLang="ko-KR" sz="1100" kern="0" dirty="0">
                <a:solidFill>
                  <a:srgbClr val="0000FF"/>
                </a:solidFill>
                <a:latin typeface="Arial Narrow" panose="020B0606020202030204" pitchFamily="34" charset="0"/>
                <a:cs typeface="Malgun Gothic Semilight" panose="020B0502040204020203" pitchFamily="50" charset="-127"/>
              </a:rPr>
              <a:t>.(~12/19)</a:t>
            </a:r>
            <a:endParaRPr lang="en-US" altLang="ko-KR" sz="1100" dirty="0">
              <a:solidFill>
                <a:srgbClr val="0000FF"/>
              </a:solidFill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818844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4D62FF55-6AB6-4502-AADB-CAEC7FACF51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0" name="내용 개체 틀 20">
            <a:extLst>
              <a:ext uri="{FF2B5EF4-FFF2-40B4-BE49-F238E27FC236}">
                <a16:creationId xmlns:a16="http://schemas.microsoft.com/office/drawing/2014/main" id="{7BD22729-895F-4F9E-AA47-4828821192F4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박범규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4BFD077-F185-47A5-81F7-26EF3E186B79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C1D8CE48-C475-4745-A0D1-F92D38223BB7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2920871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 err="1">
                <a:solidFill>
                  <a:prstClr val="black"/>
                </a:solidFill>
                <a:cs typeface="Malgun Gothic Semilight" panose="020B0502040204020203" pitchFamily="50" charset="-127"/>
              </a:rPr>
              <a:t>eIoT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</a:t>
            </a:r>
            <a:r>
              <a:rPr lang="ko-KR" altLang="en-US" sz="1400" b="1" dirty="0" err="1">
                <a:solidFill>
                  <a:prstClr val="black"/>
                </a:solidFill>
                <a:cs typeface="Malgun Gothic Semilight" panose="020B0502040204020203" pitchFamily="50" charset="-127"/>
              </a:rPr>
              <a:t>신증설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및 운영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관리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158DA54-CCD0-7FE4-08AA-B0F2B209297E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50330"/>
          <a:ext cx="9567685" cy="5325600"/>
        </p:xfrm>
        <a:graphic>
          <a:graphicData uri="http://schemas.openxmlformats.org/drawingml/2006/table">
            <a:tbl>
              <a:tblPr/>
              <a:tblGrid>
                <a:gridCol w="6727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46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73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4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9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74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54907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eiot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투자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ESMI_L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ESST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ESHG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(W51)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ESHD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(Open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27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설비별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수집 데이터 정합성 검증 완료 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(3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~  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2. </a:t>
                      </a:r>
                      <a:r>
                        <a:rPr lang="en-US" altLang="ko-KR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MI_Lansing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(Open : 4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14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대표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설비별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수집 데이터 정합성 검증 완료 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~  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3. ESOC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공장 건식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Pilot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(Open : 3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24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대표설비별 수집 데이터 정합성 검증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~ 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4. ESOC1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소형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3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2170 </a:t>
                      </a:r>
                      <a:r>
                        <a:rPr lang="ko-KR" alt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모델용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설비 </a:t>
                      </a:r>
                      <a:r>
                        <a:rPr lang="en-US" altLang="ko-KR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eIoT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구축 완료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(Open : 5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24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endParaRPr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정합성 검증 완료 </a:t>
                      </a:r>
                      <a:r>
                        <a:rPr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Rollpress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Taping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Slitter7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Rewinder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- Rewinder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산계획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연기로 대기상태 →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계약기간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8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월까지로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변경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정합성 검증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(8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5. MI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_ 2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4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라인 증설 완료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(Open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17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- 2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라인 증설 대응 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6.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OC 10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 소형 전극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NFF Pilot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(Open : 7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14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- Mix 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COT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 구축 완료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정합성 검증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(8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7. HG 1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단계 완료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(Open : 8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3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- MIX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COT 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ROL 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SLT 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 구축 완료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정합성 검증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(8/11 ~ 9/5)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8. ESST 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(Open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: 7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7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음극 대표 설비 정합성 검증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(9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5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endParaRPr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MIX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COT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ROL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양극 대표 설비 정합성 검증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(8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29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~ 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MIX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COT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ROL 1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9. OC 10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 마더라인 완료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(Open : 8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16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대표 설비 정합성 검증 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(9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~ 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ㄴ </a:t>
                      </a:r>
                      <a:r>
                        <a:rPr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Rollpress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양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음극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호기 설비 지연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이후 구축 예정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10. </a:t>
                      </a:r>
                      <a:r>
                        <a:rPr lang="en-US" altLang="ko-KR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eIot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Data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정상 수집 모니터링을 위한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Health Check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기능 개발 진행 완료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(12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08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설비가 정상 가동 상태에서 변화되고 있는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TAG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값을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DB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에 온전하게 저장되는지를 확인하는 프로세스로 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설비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TAG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수가 가장 많은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WA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와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NJ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에 적용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-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기능개발 완료 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07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지속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박범규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58390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066589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1">
            <a:extLst>
              <a:ext uri="{FF2B5EF4-FFF2-40B4-BE49-F238E27FC236}">
                <a16:creationId xmlns:a16="http://schemas.microsoft.com/office/drawing/2014/main" id="{E5354D8C-5C60-43B0-BD8D-7D51539C407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643100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49)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80471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APC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System 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운영 및 </a:t>
                      </a: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수평전개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WA</a:t>
                      </a: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3,4,5,8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(W49) WA 1~3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동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APC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확산 대상 데이터 수집 준비 완료하였으며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APC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정기 패치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[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수평 전개 현황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[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진행 현황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1. WA 4,5,8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동</a:t>
                      </a: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 : ’24.7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월 셋업 완료 이후 기동중인 호기에 대해서는 적용 완료 하였으며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추가 기동 시 적용 하고 있습니다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지속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)</a:t>
                      </a:r>
                      <a:b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2. WA 1~3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동 확산 </a:t>
                      </a: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: 1~3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동 확산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Infra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발주 완료 후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(7/7)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법인 입고 되었습니다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 (8/8)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: APC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Host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서버 메모리 증설 진행하였습니다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.(8/26),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각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VM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서버 리소스 할당 후 서버 활성화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 (9/5)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공정 별 일정 수립하여 기준정보 작성 및 데이터 수집을 위한 </a:t>
                      </a:r>
                      <a:r>
                        <a:rPr lang="en-US" altLang="ko-KR" sz="900" b="0" i="0" u="none" strike="noStrike" baseline="0" noProof="0" dirty="0" err="1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Factova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모델링 완료하였습니다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.(11/28)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2-1. WA 3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동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4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라인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옴론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PLC APC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적용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옴론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PLC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최초 적용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: APC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LAM 4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라인 데이터 수집 진행 중이며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(8/20~), Write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테스트 진행하였습니다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.(8/28)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: STK 4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라인 기준정보 세팅 완료하였고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(8/25),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데이터 수집 중 입니다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.(9/5~)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 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→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LAM, STK 4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라인 데이터 정합성 진행 하였고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알고리즘 적용 예정입니다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 (9/24~) 4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라인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전호기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Write Test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완료하였습니다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 (9/24)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3. Module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자동보정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APC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적용 </a:t>
                      </a: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모듈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Resin(MDR)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대표호기 데이터 수집 진행 중 입니다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 (8/14~) </a:t>
                      </a:r>
                      <a:b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</a:b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모듈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Frame(MDF)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대표호기 기준정보 점검 완료하였고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(8/21),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데이터 수집 진행 중 입니다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.(8/31~)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: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모듈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Resin(MDR) 2,3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호기 확산 진행 중이며 데이터 수집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(~11/14),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자동보정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로직 검증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(~11/21),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양산 적용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(11/28)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4. ESWA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에 동시 절연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(COT+ISO)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자동보정을 위한 요건 협의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(9/24)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후 공수 산정 진행하였고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(10/2),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투자 심의 진행하였습니다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.(10/27)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5. ESWA APC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예정 작업 및 패치 관련 준비 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 1) APC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정기 패치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(12/1~12/2)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를 진행하였습니다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   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8. 8~‘24.12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3,8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 적용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정지훈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임국빈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내용 개체 틀 20">
            <a:extLst>
              <a:ext uri="{FF2B5EF4-FFF2-40B4-BE49-F238E27FC236}">
                <a16:creationId xmlns:a16="http://schemas.microsoft.com/office/drawing/2014/main" id="{283916AB-9080-4B34-AD59-F6E5C533A9F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APC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운영 및 수평전개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WA</a:t>
            </a:r>
          </a:p>
        </p:txBody>
      </p:sp>
      <p:sp>
        <p:nvSpPr>
          <p:cNvPr id="11" name="제목 1">
            <a:extLst>
              <a:ext uri="{FF2B5EF4-FFF2-40B4-BE49-F238E27FC236}">
                <a16:creationId xmlns:a16="http://schemas.microsoft.com/office/drawing/2014/main" id="{3ACA8ABB-6249-4EB0-8928-6CFFC5447164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E9CBB647-6E8C-4173-AF0C-AFF31EB89404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정지훈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EC2CD555-C0A8-4B5A-A64E-B6E8E2688757}"/>
              </a:ext>
            </a:extLst>
          </p:cNvPr>
          <p:cNvGraphicFramePr>
            <a:graphicFrameLocks noGrp="1"/>
          </p:cNvGraphicFramePr>
          <p:nvPr/>
        </p:nvGraphicFramePr>
        <p:xfrm>
          <a:off x="1494966" y="1583352"/>
          <a:ext cx="5047428" cy="36909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420619">
                  <a:extLst>
                    <a:ext uri="{9D8B030D-6E8A-4147-A177-3AD203B41FA5}">
                      <a16:colId xmlns:a16="http://schemas.microsoft.com/office/drawing/2014/main" val="4272756652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1033009476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451031224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2005284802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2657918079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4183168794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3266531366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4159032196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51121302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1326773153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1926037627"/>
                    </a:ext>
                  </a:extLst>
                </a:gridCol>
                <a:gridCol w="420619">
                  <a:extLst>
                    <a:ext uri="{9D8B030D-6E8A-4147-A177-3AD203B41FA5}">
                      <a16:colId xmlns:a16="http://schemas.microsoft.com/office/drawing/2014/main" val="214260766"/>
                    </a:ext>
                  </a:extLst>
                </a:gridCol>
              </a:tblGrid>
              <a:tr h="12525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WA1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WA2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WA3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WA4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WA5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WA6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WA7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WA8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WA9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WA10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WA11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WA12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0462139"/>
                  </a:ext>
                </a:extLst>
              </a:tr>
              <a:tr h="196829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○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조립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○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◐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●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●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j-lt"/>
                          <a:ea typeface="+mj-ea"/>
                        </a:rPr>
                        <a:t>X</a:t>
                      </a:r>
                    </a:p>
                    <a:p>
                      <a:pPr algn="ctr" latinLnBrk="1"/>
                      <a:r>
                        <a:rPr lang="ko-KR" altLang="en-US" sz="800" dirty="0">
                          <a:latin typeface="+mj-lt"/>
                          <a:ea typeface="+mj-ea"/>
                        </a:rPr>
                        <a:t>활성화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X</a:t>
                      </a:r>
                    </a:p>
                    <a:p>
                      <a:pPr algn="ctr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활성화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◐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</a:t>
                      </a:r>
                      <a:endParaRPr lang="ko-KR" altLang="en-US" sz="800" dirty="0"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X</a:t>
                      </a:r>
                    </a:p>
                    <a:p>
                      <a:pPr algn="ctr" latinLnBrk="1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활성화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X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모듈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X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모듈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X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모듈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673137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D1B5293-223B-44EE-8DB1-F25CE406B0E6}"/>
              </a:ext>
            </a:extLst>
          </p:cNvPr>
          <p:cNvSpPr txBox="1"/>
          <p:nvPr/>
        </p:nvSpPr>
        <p:spPr>
          <a:xfrm>
            <a:off x="8161007" y="295461"/>
            <a:ext cx="1526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12/3(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F56452C1-74DB-4115-A38D-9970C994BEF3}"/>
              </a:ext>
            </a:extLst>
          </p:cNvPr>
          <p:cNvGraphicFramePr>
            <a:graphicFrameLocks noGrp="1"/>
          </p:cNvGraphicFramePr>
          <p:nvPr/>
        </p:nvGraphicFramePr>
        <p:xfrm>
          <a:off x="1494966" y="2002338"/>
          <a:ext cx="6966973" cy="1806409"/>
        </p:xfrm>
        <a:graphic>
          <a:graphicData uri="http://schemas.openxmlformats.org/drawingml/2006/table">
            <a:tbl>
              <a:tblPr/>
              <a:tblGrid>
                <a:gridCol w="633361">
                  <a:extLst>
                    <a:ext uri="{9D8B030D-6E8A-4147-A177-3AD203B41FA5}">
                      <a16:colId xmlns:a16="http://schemas.microsoft.com/office/drawing/2014/main" val="1503965537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3749545012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4272647968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3154874505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3079528797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1274837998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3245972267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462682402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1736671972"/>
                    </a:ext>
                  </a:extLst>
                </a:gridCol>
                <a:gridCol w="601801">
                  <a:extLst>
                    <a:ext uri="{9D8B030D-6E8A-4147-A177-3AD203B41FA5}">
                      <a16:colId xmlns:a16="http://schemas.microsoft.com/office/drawing/2014/main" val="2182565123"/>
                    </a:ext>
                  </a:extLst>
                </a:gridCol>
                <a:gridCol w="917403">
                  <a:extLst>
                    <a:ext uri="{9D8B030D-6E8A-4147-A177-3AD203B41FA5}">
                      <a16:colId xmlns:a16="http://schemas.microsoft.com/office/drawing/2014/main" val="1308170724"/>
                    </a:ext>
                  </a:extLst>
                </a:gridCol>
              </a:tblGrid>
              <a:tr h="14624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공정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WA 4,5</a:t>
                      </a:r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동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WA</a:t>
                      </a: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8</a:t>
                      </a: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동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WA</a:t>
                      </a: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1~3</a:t>
                      </a: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동</a:t>
                      </a: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(9</a:t>
                      </a: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월 이후 생산 예정</a:t>
                      </a: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완료여부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564925"/>
                  </a:ext>
                </a:extLst>
              </a:tr>
              <a:tr h="14624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대상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준비</a:t>
                      </a:r>
                      <a:r>
                        <a:rPr lang="en-US" altLang="ko-KR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검증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적용</a:t>
                      </a:r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대상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준비</a:t>
                      </a:r>
                      <a:r>
                        <a:rPr lang="en-US" altLang="ko-KR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검증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적용</a:t>
                      </a:r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대상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준비</a:t>
                      </a:r>
                      <a:r>
                        <a:rPr lang="en-US" altLang="ko-KR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검증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적용</a:t>
                      </a:r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171940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COT​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전극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 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100%(10​)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100%(6)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 / 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50%(2)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100%(16/20)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006088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COT​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절연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100%(5)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100%(3)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100%(8/8)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0659977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COT​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건조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 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100%(10)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​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100%(6)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 / 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100%(4)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100%(20/20)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487100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ROL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23 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82%(19)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12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67%(8)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100% / 66%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66%(27/41)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3087593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NND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52 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79%(41)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14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71%(10)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50% / -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71%(51/72)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2529469"/>
                  </a:ext>
                </a:extLst>
              </a:tr>
              <a:tr h="1422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LAM​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56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100%(56)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18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83%(15)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12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 / 66%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17%(2)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83%(71/86)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9185104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STK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42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100%(42)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18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83%(15)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11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 / 63%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31%(3)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80%(57/71)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654587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STK_HalfCell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42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62%(26)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62%(26/42)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1650888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PKG_TW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34 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100%(34)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100%(6)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 / -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91%(40/44)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752599"/>
                  </a:ext>
                </a:extLst>
              </a:tr>
              <a:tr h="1329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PKG_ELF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34 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100%(34)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100%(6)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 / 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91%(40/44)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7291860"/>
                  </a:ext>
                </a:extLst>
              </a:tr>
              <a:tr h="1376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계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308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90%(276)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​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89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82%(73)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51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22%(11)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79%(353/448)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09017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2D52B5AC-B14F-CE72-C7BD-ABC3D065E0F1}"/>
              </a:ext>
            </a:extLst>
          </p:cNvPr>
          <p:cNvSpPr/>
          <p:nvPr/>
        </p:nvSpPr>
        <p:spPr>
          <a:xfrm>
            <a:off x="8719492" y="443499"/>
            <a:ext cx="1034257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(</a:t>
            </a:r>
            <a:r>
              <a:rPr lang="ko-KR" altLang="en-US" sz="1000" dirty="0">
                <a:solidFill>
                  <a:srgbClr val="009900"/>
                </a:solidFill>
                <a:latin typeface="+mj-lt"/>
              </a:rPr>
              <a:t>휴가</a:t>
            </a:r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) 12/8~12/19</a:t>
            </a:r>
            <a:endParaRPr lang="ko-KR" altLang="en-US" sz="1000" dirty="0">
              <a:solidFill>
                <a:srgbClr val="00990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66793521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5" name="표 1">
            <a:extLst>
              <a:ext uri="{FF2B5EF4-FFF2-40B4-BE49-F238E27FC236}">
                <a16:creationId xmlns:a16="http://schemas.microsoft.com/office/drawing/2014/main" id="{E09333A7-FA9A-4CEA-AD8C-8AC81C012040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4342"/>
          <a:ext cx="9562020" cy="5698383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739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증설 법인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ESMI1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ESMI2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ESMI_LS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ESHG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 err="1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latin typeface="+mn-ea"/>
                          <a:ea typeface="+mn-ea"/>
                          <a:cs typeface="+mn-cs"/>
                        </a:rPr>
                        <a:t>(W51)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12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비정기배포 진행하였으며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(12/16)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특이사항 없습니다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별 적용 현황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</a:t>
                      </a: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en-US" altLang="ko-KR" sz="900" b="1" u="sng" dirty="0"/>
                        <a:t> ESMI 1</a:t>
                      </a:r>
                      <a:r>
                        <a:rPr lang="ko-KR" altLang="en-US" sz="900" b="1" u="sng" dirty="0"/>
                        <a:t>동</a:t>
                      </a:r>
                      <a:endParaRPr lang="en-US" altLang="ko-KR" sz="900" b="1" u="sng" dirty="0"/>
                    </a:p>
                    <a:p>
                      <a:pPr>
                        <a:defRPr/>
                      </a:pPr>
                      <a:r>
                        <a:rPr lang="en-US" altLang="ko-KR" sz="900" dirty="0"/>
                        <a:t>   </a:t>
                      </a:r>
                      <a:r>
                        <a:rPr lang="en-US" altLang="ko-KR" sz="900" dirty="0">
                          <a:latin typeface="+mn-lt"/>
                        </a:rPr>
                        <a:t>- </a:t>
                      </a:r>
                      <a:r>
                        <a:rPr lang="ko-KR" altLang="en-US" sz="900" dirty="0">
                          <a:latin typeface="+mn-lt"/>
                        </a:rPr>
                        <a:t>전극 </a:t>
                      </a:r>
                      <a:r>
                        <a:rPr lang="en-US" altLang="ko-KR" sz="900" dirty="0">
                          <a:latin typeface="+mn-lt"/>
                        </a:rPr>
                        <a:t>: NND</a:t>
                      </a:r>
                      <a:r>
                        <a:rPr lang="ko-KR" altLang="en-US" sz="900" dirty="0">
                          <a:latin typeface="+mn-lt"/>
                        </a:rPr>
                        <a:t> </a:t>
                      </a:r>
                      <a:r>
                        <a:rPr lang="en-US" altLang="ko-KR" sz="900" dirty="0">
                          <a:latin typeface="+mn-lt"/>
                        </a:rPr>
                        <a:t>1Line</a:t>
                      </a:r>
                      <a:r>
                        <a:rPr lang="ko-KR" altLang="en-US" sz="900" dirty="0">
                          <a:latin typeface="+mn-lt"/>
                        </a:rPr>
                        <a:t> 적용 완료</a:t>
                      </a:r>
                      <a:endParaRPr lang="en-US" altLang="ko-KR" sz="900" dirty="0">
                        <a:latin typeface="+mn-lt"/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 dirty="0">
                          <a:latin typeface="+mn-lt"/>
                          <a:sym typeface="Wingdings" pitchFamily="2" charset="2"/>
                        </a:rPr>
                        <a:t>   - </a:t>
                      </a:r>
                      <a:r>
                        <a:rPr lang="ko-KR" altLang="en-US" sz="900" dirty="0">
                          <a:latin typeface="+mn-lt"/>
                          <a:sym typeface="Wingdings" pitchFamily="2" charset="2"/>
                        </a:rPr>
                        <a:t>조립 </a:t>
                      </a:r>
                      <a:r>
                        <a:rPr lang="en-US" altLang="ko-KR" sz="900" dirty="0">
                          <a:latin typeface="+mn-lt"/>
                          <a:sym typeface="Wingdings" pitchFamily="2" charset="2"/>
                        </a:rPr>
                        <a:t>: LAM</a:t>
                      </a:r>
                      <a:r>
                        <a:rPr lang="ko-KR" altLang="en-US" sz="900" dirty="0">
                          <a:latin typeface="+mn-lt"/>
                          <a:sym typeface="Wingdings" pitchFamily="2" charset="2"/>
                        </a:rPr>
                        <a:t> </a:t>
                      </a:r>
                      <a:r>
                        <a:rPr lang="en-US" altLang="ko-KR" sz="900" dirty="0">
                          <a:latin typeface="+mn-lt"/>
                          <a:sym typeface="Wingdings" pitchFamily="2" charset="2"/>
                        </a:rPr>
                        <a:t>&amp; STK 1-1, PKG 1-1 </a:t>
                      </a:r>
                      <a:r>
                        <a:rPr lang="ko-KR" altLang="en-US" sz="900" dirty="0">
                          <a:latin typeface="+mn-lt"/>
                          <a:sym typeface="Wingdings" pitchFamily="2" charset="2"/>
                        </a:rPr>
                        <a:t>적용 완료 하였습니다</a:t>
                      </a:r>
                      <a:r>
                        <a:rPr lang="en-US" altLang="ko-KR" sz="900" dirty="0">
                          <a:latin typeface="+mn-lt"/>
                          <a:sym typeface="Wingdings" pitchFamily="2" charset="2"/>
                        </a:rPr>
                        <a:t>.(3</a:t>
                      </a:r>
                      <a:r>
                        <a:rPr lang="ko-KR" altLang="en-US" sz="900" dirty="0">
                          <a:latin typeface="+mn-lt"/>
                          <a:sym typeface="Wingdings" pitchFamily="2" charset="2"/>
                        </a:rPr>
                        <a:t>월</a:t>
                      </a:r>
                      <a:r>
                        <a:rPr lang="en-US" altLang="ko-KR" sz="900" dirty="0">
                          <a:latin typeface="+mn-lt"/>
                          <a:sym typeface="Wingdings" pitchFamily="2" charset="2"/>
                        </a:rPr>
                        <a:t>) </a:t>
                      </a:r>
                      <a:r>
                        <a:rPr lang="ko-KR" altLang="en-US" sz="900" b="0" u="none" dirty="0"/>
                        <a:t>→ </a:t>
                      </a:r>
                      <a:r>
                        <a:rPr lang="en-US" altLang="ko-KR" sz="900" b="0" u="none" dirty="0"/>
                        <a:t>PKG 1-2,1-3,2-1 </a:t>
                      </a:r>
                      <a:r>
                        <a:rPr lang="ko-KR" altLang="en-US" sz="900" b="0" u="none" dirty="0"/>
                        <a:t>추가 적용</a:t>
                      </a:r>
                      <a:endParaRPr lang="en-US" altLang="ko-KR" sz="900" b="0" u="sng" dirty="0"/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en-US" altLang="ko-KR" sz="900" b="1" u="sng" dirty="0"/>
                        <a:t> ESMI 2</a:t>
                      </a:r>
                      <a:r>
                        <a:rPr lang="ko-KR" altLang="en-US" sz="900" b="1" u="sng" dirty="0"/>
                        <a:t>동</a:t>
                      </a:r>
                      <a:r>
                        <a:rPr lang="en-US" altLang="ko-KR" sz="900" b="1" u="sng" dirty="0"/>
                        <a:t>(ESS)</a:t>
                      </a:r>
                    </a:p>
                    <a:p>
                      <a:pPr>
                        <a:defRPr/>
                      </a:pPr>
                      <a:r>
                        <a:rPr lang="en-US" altLang="ko-KR" sz="900" dirty="0"/>
                        <a:t>   - </a:t>
                      </a:r>
                      <a:r>
                        <a:rPr lang="ko-KR" altLang="en-US" sz="900" dirty="0"/>
                        <a:t>전극 </a:t>
                      </a:r>
                      <a:r>
                        <a:rPr lang="en-US" altLang="ko-KR" sz="900" dirty="0"/>
                        <a:t>: COT&amp;</a:t>
                      </a:r>
                      <a:r>
                        <a:rPr lang="ko-KR" altLang="en-US" sz="900" dirty="0"/>
                        <a:t>절연 </a:t>
                      </a:r>
                      <a:r>
                        <a:rPr lang="en-US" altLang="ko-KR" sz="900" dirty="0"/>
                        <a:t>/ ROL</a:t>
                      </a:r>
                      <a:r>
                        <a:rPr lang="ko-KR" altLang="en-US" sz="900" dirty="0"/>
                        <a:t> </a:t>
                      </a:r>
                      <a:r>
                        <a:rPr lang="en-US" altLang="ko-KR" sz="900" dirty="0"/>
                        <a:t>100% </a:t>
                      </a:r>
                      <a:r>
                        <a:rPr lang="ko-KR" altLang="en-US" sz="900" dirty="0"/>
                        <a:t>적용</a:t>
                      </a:r>
                      <a:r>
                        <a:rPr lang="en-US" altLang="ko-KR" sz="900" dirty="0"/>
                        <a:t>, NND </a:t>
                      </a:r>
                      <a:r>
                        <a:rPr lang="ko-KR" altLang="en-US" sz="900" dirty="0"/>
                        <a:t>양</a:t>
                      </a:r>
                      <a:r>
                        <a:rPr lang="en-US" altLang="ko-KR" sz="900" dirty="0"/>
                        <a:t>/</a:t>
                      </a:r>
                      <a:r>
                        <a:rPr lang="ko-KR" altLang="en-US" sz="900" dirty="0"/>
                        <a:t>음극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3-3,3-4,4-1,4-2,3-1,3-2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적용완료</a:t>
                      </a:r>
                      <a:endParaRPr lang="en-US" altLang="ko-KR" sz="900" dirty="0">
                        <a:solidFill>
                          <a:schemeClr val="tx1"/>
                        </a:solidFill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 dirty="0">
                          <a:solidFill>
                            <a:srgbClr val="0000FF"/>
                          </a:solidFill>
                        </a:rPr>
                        <a:t>              :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ROL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신규라인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(5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라인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) APC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추가 셋업 하였습니다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. (7/2)</a:t>
                      </a:r>
                    </a:p>
                    <a:p>
                      <a:pPr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sym typeface="Wingdings" pitchFamily="2" charset="2"/>
                        </a:rPr>
                        <a:t>   -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sym typeface="Wingdings" pitchFamily="2" charset="2"/>
                        </a:rPr>
                        <a:t>조립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sym typeface="Wingdings" pitchFamily="2" charset="2"/>
                        </a:rPr>
                        <a:t> :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LAM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&amp; STK 3-1,3-2,3-3,3-4,3-5,4-1,4-2,4-3,4-4,4-5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적용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,  PKG 1-1,3-1,3-2,4-1,4-2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적용 완료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+mn-lt"/>
                        <a:sym typeface="Wingdings" pitchFamily="2" charset="2"/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                 L&amp;S 5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라인 신규 추가 셋업 하였습니다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. (8/18)     </a:t>
                      </a:r>
                      <a:endParaRPr lang="en-US" altLang="ko-KR" sz="900" dirty="0">
                        <a:solidFill>
                          <a:schemeClr val="tx1"/>
                        </a:solidFill>
                        <a:sym typeface="Wingdings" pitchFamily="2" charset="2"/>
                      </a:endParaRPr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b="1" u="sng" dirty="0"/>
                        <a:t> ESHD</a:t>
                      </a:r>
                    </a:p>
                    <a:p>
                      <a:pPr lvl="0">
                        <a:buClr>
                          <a:srgbClr val="000000"/>
                        </a:buClr>
                      </a:pPr>
                      <a:r>
                        <a:rPr lang="en-US" altLang="ko-KR" sz="900" dirty="0">
                          <a:solidFill>
                            <a:srgbClr val="0000FF"/>
                          </a:solidFill>
                        </a:rPr>
                        <a:t>  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- COT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 양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음극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호기에 대해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HOST Alarm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테스트 진행하였습니다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. (9/9)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- NND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양극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1-1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추가 적용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ROL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양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1-2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추가 적용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b="1" u="sng" dirty="0"/>
                        <a:t> ESMI_LS</a:t>
                      </a:r>
                    </a:p>
                    <a:p>
                      <a:pPr lvl="0">
                        <a:buClr>
                          <a:srgbClr val="000000"/>
                        </a:buClr>
                      </a:pPr>
                      <a:r>
                        <a:rPr lang="en-US" altLang="ko-KR" sz="900" dirty="0"/>
                        <a:t>   - </a:t>
                      </a:r>
                      <a:r>
                        <a:rPr lang="ko-KR" altLang="en-US" sz="900" dirty="0"/>
                        <a:t>전극 </a:t>
                      </a:r>
                      <a:r>
                        <a:rPr lang="en-US" altLang="ko-KR" sz="900" dirty="0"/>
                        <a:t>: </a:t>
                      </a:r>
                      <a:r>
                        <a:rPr lang="ko-KR" altLang="en-US" sz="900" dirty="0"/>
                        <a:t>전극 공정 </a:t>
                      </a:r>
                      <a:r>
                        <a:rPr lang="en-US" altLang="ko-KR" sz="900" dirty="0"/>
                        <a:t>1</a:t>
                      </a:r>
                      <a:r>
                        <a:rPr lang="ko-KR" altLang="en-US" sz="900" dirty="0"/>
                        <a:t>라인 샘플 대상 호기에 대해 </a:t>
                      </a:r>
                      <a:r>
                        <a:rPr lang="en-US" altLang="ko-KR" sz="900" dirty="0"/>
                        <a:t>APC </a:t>
                      </a:r>
                      <a:r>
                        <a:rPr lang="ko-KR" altLang="en-US" sz="900" dirty="0"/>
                        <a:t>적용 완료하였습니다</a:t>
                      </a:r>
                      <a:r>
                        <a:rPr lang="en-US" altLang="ko-KR" sz="900" dirty="0"/>
                        <a:t>. (4/25)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/>
                        <a:t>   - </a:t>
                      </a:r>
                      <a:r>
                        <a:rPr lang="ko-KR" altLang="en-US" sz="900" dirty="0"/>
                        <a:t>조립 </a:t>
                      </a:r>
                      <a:r>
                        <a:rPr lang="en-US" altLang="ko-KR" sz="900" dirty="0"/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 공정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 샘플 대상 호기에 대해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(5/3)</a:t>
                      </a:r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b="1" u="sng" dirty="0"/>
                        <a:t> ESHG</a:t>
                      </a:r>
                    </a:p>
                    <a:p>
                      <a:pPr lvl="0">
                        <a:buClr>
                          <a:srgbClr val="000000"/>
                        </a:buClr>
                      </a:pPr>
                      <a:r>
                        <a:rPr lang="en-US" altLang="ko-KR" sz="900" dirty="0"/>
                        <a:t>   - </a:t>
                      </a:r>
                      <a:r>
                        <a:rPr lang="ko-KR" altLang="en-US" sz="900" dirty="0"/>
                        <a:t>전극 </a:t>
                      </a:r>
                      <a:r>
                        <a:rPr lang="en-US" altLang="ko-KR" sz="900" dirty="0"/>
                        <a:t>: </a:t>
                      </a:r>
                      <a:r>
                        <a:rPr lang="ko-KR" altLang="en-US" sz="900" dirty="0"/>
                        <a:t>전극 공정 </a:t>
                      </a:r>
                      <a:r>
                        <a:rPr lang="en-US" altLang="ko-KR" sz="900" dirty="0"/>
                        <a:t>1</a:t>
                      </a:r>
                      <a:r>
                        <a:rPr lang="ko-KR" altLang="en-US" sz="900" dirty="0"/>
                        <a:t>라인 샘플 대상 호기에 대해 </a:t>
                      </a:r>
                      <a:r>
                        <a:rPr lang="en-US" altLang="ko-KR" sz="900" dirty="0"/>
                        <a:t>APC </a:t>
                      </a:r>
                      <a:r>
                        <a:rPr lang="ko-KR" altLang="en-US" sz="900" dirty="0"/>
                        <a:t>적용 완료하였습니다</a:t>
                      </a:r>
                      <a:r>
                        <a:rPr lang="en-US" altLang="ko-KR" sz="900" dirty="0"/>
                        <a:t>. (8/26)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/>
                        <a:t>   - </a:t>
                      </a:r>
                      <a:r>
                        <a:rPr lang="ko-KR" altLang="en-US" sz="900" dirty="0"/>
                        <a:t>조립 </a:t>
                      </a:r>
                      <a:r>
                        <a:rPr lang="en-US" altLang="ko-KR" sz="900" dirty="0"/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 공정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라인 샘플 대상 호기에 대해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(8/19)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u="sng" dirty="0">
                          <a:solidFill>
                            <a:schemeClr val="tx1"/>
                          </a:solidFill>
                        </a:rPr>
                        <a:t>ESST</a:t>
                      </a:r>
                      <a:br>
                        <a:rPr lang="en-US" altLang="ko-KR" sz="900" b="1" u="sng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   -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</a:rPr>
                        <a:t>조립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LAM, STK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 대성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2-2, 2-3, 2-4, 2-5, 3-1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확산 적용 진행중입니다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(12/1~)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북미 지역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써머타임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해제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됨에 따라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서버 전체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재기동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작업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.(11/2)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S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tage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검증서버 작업 진행하고 있습니다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(ST:11/11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HD:11/12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HG:11/13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MI/MIL: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추후일정수립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북미법인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(ST,HD,HG)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대상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11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월 정기배포 작업 진행하였습니다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(11/24,25) *MI, MIL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법인은 생산 안정화 후 배포 예정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과거 검사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Data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필터링 로직 적용을 위한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12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비정기배포 진행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(12/16)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’25.12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~’25.12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~’25.10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~’25.12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임국빈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(ESMI)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정지훈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(ESHD)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안재준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(ESMI_LS)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지유하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(ESHG,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ESST)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FA3F0F12-012E-408A-9D17-2822B2574B36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6265511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APC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신규 법인 확산 적용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_ESMI 1/2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동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,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ESHD, </a:t>
            </a:r>
            <a:r>
              <a:rPr lang="en-US" altLang="ko-KR" sz="1400" b="1" dirty="0" err="1">
                <a:solidFill>
                  <a:prstClr val="black"/>
                </a:solidFill>
                <a:cs typeface="Malgun Gothic Semilight" panose="020B0502040204020203" pitchFamily="50" charset="-127"/>
              </a:rPr>
              <a:t>ESMI_Lansing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, ESHG, ESST</a:t>
            </a:r>
            <a:endParaRPr lang="ko-KR" altLang="en-US" sz="1400" b="1" dirty="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27" name="제목 1">
            <a:extLst>
              <a:ext uri="{FF2B5EF4-FFF2-40B4-BE49-F238E27FC236}">
                <a16:creationId xmlns:a16="http://schemas.microsoft.com/office/drawing/2014/main" id="{EC7FAE02-8A02-4EC9-8273-677CEDB0478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113B382-6F34-458E-9CE8-56CFBE98DFBF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29" name="내용 개체 틀 20">
            <a:extLst>
              <a:ext uri="{FF2B5EF4-FFF2-40B4-BE49-F238E27FC236}">
                <a16:creationId xmlns:a16="http://schemas.microsoft.com/office/drawing/2014/main" id="{B0EDD984-541C-4904-B754-BE6A6B495736}"/>
              </a:ext>
            </a:extLst>
          </p:cNvPr>
          <p:cNvSpPr txBox="1">
            <a:spLocks/>
          </p:cNvSpPr>
          <p:nvPr/>
        </p:nvSpPr>
        <p:spPr>
          <a:xfrm>
            <a:off x="7215235" y="118406"/>
            <a:ext cx="24718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임국빈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P,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정지훈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A,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안재준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A,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지유하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3CCBCDD-FC4F-427F-A197-469F7E163B2F}"/>
              </a:ext>
            </a:extLst>
          </p:cNvPr>
          <p:cNvGraphicFramePr>
            <a:graphicFrameLocks noGrp="1"/>
          </p:cNvGraphicFramePr>
          <p:nvPr/>
        </p:nvGraphicFramePr>
        <p:xfrm>
          <a:off x="1401188" y="1620276"/>
          <a:ext cx="7103624" cy="1493103"/>
        </p:xfrm>
        <a:graphic>
          <a:graphicData uri="http://schemas.openxmlformats.org/drawingml/2006/table">
            <a:tbl>
              <a:tblPr/>
              <a:tblGrid>
                <a:gridCol w="507510">
                  <a:extLst>
                    <a:ext uri="{9D8B030D-6E8A-4147-A177-3AD203B41FA5}">
                      <a16:colId xmlns:a16="http://schemas.microsoft.com/office/drawing/2014/main" val="1503965537"/>
                    </a:ext>
                  </a:extLst>
                </a:gridCol>
                <a:gridCol w="400750">
                  <a:extLst>
                    <a:ext uri="{9D8B030D-6E8A-4147-A177-3AD203B41FA5}">
                      <a16:colId xmlns:a16="http://schemas.microsoft.com/office/drawing/2014/main" val="3749545012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4272647968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3154874505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3079528797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1274837998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3245972267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1861999215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206513413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156427705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359729644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3083605515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1568794827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1465627024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1536234031"/>
                    </a:ext>
                  </a:extLst>
                </a:gridCol>
                <a:gridCol w="442526">
                  <a:extLst>
                    <a:ext uri="{9D8B030D-6E8A-4147-A177-3AD203B41FA5}">
                      <a16:colId xmlns:a16="http://schemas.microsoft.com/office/drawing/2014/main" val="1444426662"/>
                    </a:ext>
                  </a:extLst>
                </a:gridCol>
              </a:tblGrid>
              <a:tr h="15669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공정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ESMI 1/2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동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(1,3,4 Line)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ESHD (1Line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기준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)</a:t>
                      </a:r>
                      <a:endParaRPr lang="ko-KR" altLang="en-US" sz="90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ESMI_LS (1Line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기준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)</a:t>
                      </a:r>
                      <a:endParaRPr lang="ko-KR" altLang="en-US" sz="90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ESHG (1Line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기준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)</a:t>
                      </a:r>
                      <a:endParaRPr lang="ko-KR" altLang="en-US" sz="90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ESST (1Line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기준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  <a:cs typeface="+mn-cs"/>
                        </a:rPr>
                        <a:t>)</a:t>
                      </a:r>
                      <a:endParaRPr lang="ko-KR" altLang="en-US" sz="90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564925"/>
                  </a:ext>
                </a:extLst>
              </a:tr>
              <a:tr h="15669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대상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검증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/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적용율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대상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검증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/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적용율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대상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검증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/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적용율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대상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검증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/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적용율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대상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검증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/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적용율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171940"/>
                  </a:ext>
                </a:extLst>
              </a:tr>
              <a:tr h="1474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COT​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  <a:endParaRPr kumimoji="0"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006088"/>
                  </a:ext>
                </a:extLst>
              </a:tr>
              <a:tr h="1474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DRY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추후 적용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  <a:endParaRPr kumimoji="0" lang="ko-KR" altLang="en-US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487100"/>
                  </a:ext>
                </a:extLst>
              </a:tr>
              <a:tr h="1474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ROL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  <a:endParaRPr kumimoji="0"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66%</a:t>
                      </a:r>
                      <a:endParaRPr kumimoji="0"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66%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3087593"/>
                  </a:ext>
                </a:extLst>
              </a:tr>
              <a:tr h="1474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NND(DNC)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75%</a:t>
                      </a:r>
                      <a:endParaRPr kumimoji="0"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75%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25%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2529469"/>
                  </a:ext>
                </a:extLst>
              </a:tr>
              <a:tr h="15244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LAM​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66%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-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9185104"/>
                  </a:ext>
                </a:extLst>
              </a:tr>
              <a:tr h="1474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STK(AZS)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66%</a:t>
                      </a:r>
                      <a:endParaRPr kumimoji="0"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33%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654587"/>
                  </a:ext>
                </a:extLst>
              </a:tr>
              <a:tr h="14242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PKG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100%</a:t>
                      </a:r>
                      <a:endParaRPr kumimoji="0" lang="en-US" altLang="ko-KR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50%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25%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7291860"/>
                  </a:ext>
                </a:extLst>
              </a:tr>
              <a:tr h="1474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계</a:t>
                      </a:r>
                      <a:endParaRPr lang="en-US" sz="9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95%</a:t>
                      </a:r>
                      <a:endParaRPr kumimoji="0" lang="ko-KR" altLang="en-US" sz="9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82%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64%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43%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j-ea"/>
                          <a:cs typeface="+mn-cs"/>
                        </a:rPr>
                        <a:t>58%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09017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3A8EC02-FADA-48F3-82BC-00982D8949CD}"/>
              </a:ext>
            </a:extLst>
          </p:cNvPr>
          <p:cNvSpPr txBox="1"/>
          <p:nvPr/>
        </p:nvSpPr>
        <p:spPr>
          <a:xfrm>
            <a:off x="3878134" y="3113379"/>
            <a:ext cx="130259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700" dirty="0"/>
              <a:t>※ 1</a:t>
            </a:r>
            <a:r>
              <a:rPr lang="ko-KR" altLang="en-US" sz="700" dirty="0"/>
              <a:t>동 </a:t>
            </a:r>
            <a:r>
              <a:rPr lang="en-US" altLang="ko-KR" sz="700" dirty="0"/>
              <a:t>2Line, 2</a:t>
            </a:r>
            <a:r>
              <a:rPr lang="ko-KR" altLang="en-US" sz="700" dirty="0"/>
              <a:t>동 </a:t>
            </a:r>
            <a:r>
              <a:rPr lang="en-US" altLang="ko-KR" sz="700" dirty="0"/>
              <a:t>5Line </a:t>
            </a:r>
            <a:r>
              <a:rPr lang="ko-KR" altLang="en-US" sz="700" dirty="0"/>
              <a:t>제외</a:t>
            </a:r>
          </a:p>
        </p:txBody>
      </p:sp>
    </p:spTree>
    <p:extLst>
      <p:ext uri="{BB962C8B-B14F-4D97-AF65-F5344CB8AC3E}">
        <p14:creationId xmlns:p14="http://schemas.microsoft.com/office/powerpoint/2010/main" val="2516717261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875E0A51-71E7-D226-D026-1605B7672613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762329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OC10</a:t>
                      </a:r>
                      <a:endParaRPr lang="ko-KR" altLang="en-US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(W50)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전극공정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구축 완료하였으며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조립공정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개조이후 적용 예정입니다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US" altLang="ko-KR" sz="1000" kern="1200" dirty="0">
                        <a:solidFill>
                          <a:srgbClr val="1414F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[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공정별 일정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>
                        <a:buNone/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System H/W(4/28), DC/AP(5/23) Set-Up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 되었고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DB/WEB Set-Up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 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.(~6/30)</a:t>
                      </a:r>
                      <a:b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유관부서 간 마더라인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APC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구축 담당자 선정하였으며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APC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데이터 수집을 위해 공정별 기준정보 작성 요청하였습니다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.(5/29~)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음극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DRY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 경우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wet-Run(6/23),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양극 건조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(7/1)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일정에 맞춰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 설정 및 정합성 점검 완료 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 COT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공정은 절연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작업 완료되어 수집 설정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진행완료하였으며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자동보정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검증중입니다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: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절연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 경우 통신 속도가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느려원인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분석결과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 경우 타법인 대비 수집항목수가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배가량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많아 해당부분을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수용할수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있도록 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스트럭쳐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Read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방식으로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Test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진행하였으며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속도 개선 확인하였습니다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  - ROL/NND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 기준정보 준비 완료되어 셋업 작업 진행하였으며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검증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-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조립공정의 경우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수정이 필요하여 업체 견적 및 일정 협의중이며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작업이후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수집예정입니다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-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사전검증체계 운영을 위한 검증서버 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Data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연계적용을 완료하였습니다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.(10/28)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지속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임국빈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안재준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066AFB42-2406-A9CB-0017-A6109E03F74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APC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신규 법인 확산 적용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_OC 10</a:t>
            </a: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3ED16FAF-67CF-9A68-ED12-ABF86E42AAE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D45AED-17AB-B112-EA94-3501B2EA0E78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10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61A4D589-8E21-2990-E20E-061AE4DCA7C7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임국빈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3F8CF10-EB10-CAD8-C370-FA5B47025F45}"/>
              </a:ext>
            </a:extLst>
          </p:cNvPr>
          <p:cNvGraphicFramePr>
            <a:graphicFrameLocks noGrp="1"/>
          </p:cNvGraphicFramePr>
          <p:nvPr/>
        </p:nvGraphicFramePr>
        <p:xfrm>
          <a:off x="7292279" y="1333453"/>
          <a:ext cx="1189489" cy="3886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422586">
                  <a:extLst>
                    <a:ext uri="{9D8B030D-6E8A-4147-A177-3AD203B41FA5}">
                      <a16:colId xmlns:a16="http://schemas.microsoft.com/office/drawing/2014/main" val="4166569121"/>
                    </a:ext>
                  </a:extLst>
                </a:gridCol>
                <a:gridCol w="766903">
                  <a:extLst>
                    <a:ext uri="{9D8B030D-6E8A-4147-A177-3AD203B41FA5}">
                      <a16:colId xmlns:a16="http://schemas.microsoft.com/office/drawing/2014/main" val="346678682"/>
                    </a:ext>
                  </a:extLst>
                </a:gridCol>
              </a:tblGrid>
              <a:tr h="1284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공정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샘플 생산 일정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324798"/>
                  </a:ext>
                </a:extLst>
              </a:tr>
              <a:tr h="1284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전극</a:t>
                      </a:r>
                      <a:endParaRPr lang="en-US" sz="8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25.9.x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6403730"/>
                  </a:ext>
                </a:extLst>
              </a:tr>
              <a:tr h="1284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조립</a:t>
                      </a:r>
                      <a:endParaRPr lang="en-US" sz="8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25.9.x</a:t>
                      </a:r>
                      <a:endParaRPr lang="ko-KR" altLang="en-US" sz="85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237257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5E1E80BC-7FE0-173B-541D-AFEE7A743988}"/>
              </a:ext>
            </a:extLst>
          </p:cNvPr>
          <p:cNvSpPr/>
          <p:nvPr/>
        </p:nvSpPr>
        <p:spPr>
          <a:xfrm>
            <a:off x="6665516" y="1564702"/>
            <a:ext cx="106532" cy="101729"/>
          </a:xfrm>
          <a:prstGeom prst="rect">
            <a:avLst/>
          </a:prstGeom>
          <a:solidFill>
            <a:srgbClr val="DBEEF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Text Box 198">
            <a:extLst>
              <a:ext uri="{FF2B5EF4-FFF2-40B4-BE49-F238E27FC236}">
                <a16:creationId xmlns:a16="http://schemas.microsoft.com/office/drawing/2014/main" id="{91FDDBC3-FC02-82FD-CCDD-554AD22163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3723" y="1516164"/>
            <a:ext cx="373052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lang="en-US" altLang="ko-KR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VM</a:t>
            </a:r>
            <a:r>
              <a:rPr lang="ko-KR" altLang="en-US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타입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1D98CC0-A24B-F703-67B4-C0E617D70D89}"/>
              </a:ext>
            </a:extLst>
          </p:cNvPr>
          <p:cNvSpPr/>
          <p:nvPr/>
        </p:nvSpPr>
        <p:spPr>
          <a:xfrm>
            <a:off x="6206147" y="1564702"/>
            <a:ext cx="106532" cy="10172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Text Box 198">
            <a:extLst>
              <a:ext uri="{FF2B5EF4-FFF2-40B4-BE49-F238E27FC236}">
                <a16:creationId xmlns:a16="http://schemas.microsoft.com/office/drawing/2014/main" id="{3E893A87-BFEA-DF94-8402-E2D8DB6435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74354" y="1516164"/>
            <a:ext cx="255473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lang="en-US" altLang="ko-KR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APC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2EAE32C-C811-AE2C-64F5-8DE654B05EB6}"/>
              </a:ext>
            </a:extLst>
          </p:cNvPr>
          <p:cNvGraphicFramePr>
            <a:graphicFrameLocks noGrp="1"/>
          </p:cNvGraphicFramePr>
          <p:nvPr/>
        </p:nvGraphicFramePr>
        <p:xfrm>
          <a:off x="1462524" y="1778327"/>
          <a:ext cx="7019246" cy="2720664"/>
        </p:xfrm>
        <a:graphic>
          <a:graphicData uri="http://schemas.openxmlformats.org/drawingml/2006/table">
            <a:tbl>
              <a:tblPr/>
              <a:tblGrid>
                <a:gridCol w="356908">
                  <a:extLst>
                    <a:ext uri="{9D8B030D-6E8A-4147-A177-3AD203B41FA5}">
                      <a16:colId xmlns:a16="http://schemas.microsoft.com/office/drawing/2014/main" val="1719818436"/>
                    </a:ext>
                  </a:extLst>
                </a:gridCol>
                <a:gridCol w="449888">
                  <a:extLst>
                    <a:ext uri="{9D8B030D-6E8A-4147-A177-3AD203B41FA5}">
                      <a16:colId xmlns:a16="http://schemas.microsoft.com/office/drawing/2014/main" val="4024427999"/>
                    </a:ext>
                  </a:extLst>
                </a:gridCol>
                <a:gridCol w="300632">
                  <a:extLst>
                    <a:ext uri="{9D8B030D-6E8A-4147-A177-3AD203B41FA5}">
                      <a16:colId xmlns:a16="http://schemas.microsoft.com/office/drawing/2014/main" val="1016885944"/>
                    </a:ext>
                  </a:extLst>
                </a:gridCol>
                <a:gridCol w="555193">
                  <a:extLst>
                    <a:ext uri="{9D8B030D-6E8A-4147-A177-3AD203B41FA5}">
                      <a16:colId xmlns:a16="http://schemas.microsoft.com/office/drawing/2014/main" val="1691249259"/>
                    </a:ext>
                  </a:extLst>
                </a:gridCol>
                <a:gridCol w="502815">
                  <a:extLst>
                    <a:ext uri="{9D8B030D-6E8A-4147-A177-3AD203B41FA5}">
                      <a16:colId xmlns:a16="http://schemas.microsoft.com/office/drawing/2014/main" val="2683556667"/>
                    </a:ext>
                  </a:extLst>
                </a:gridCol>
                <a:gridCol w="500196">
                  <a:extLst>
                    <a:ext uri="{9D8B030D-6E8A-4147-A177-3AD203B41FA5}">
                      <a16:colId xmlns:a16="http://schemas.microsoft.com/office/drawing/2014/main" val="3872940129"/>
                    </a:ext>
                  </a:extLst>
                </a:gridCol>
                <a:gridCol w="417044">
                  <a:extLst>
                    <a:ext uri="{9D8B030D-6E8A-4147-A177-3AD203B41FA5}">
                      <a16:colId xmlns:a16="http://schemas.microsoft.com/office/drawing/2014/main" val="2022807539"/>
                    </a:ext>
                  </a:extLst>
                </a:gridCol>
                <a:gridCol w="374767">
                  <a:extLst>
                    <a:ext uri="{9D8B030D-6E8A-4147-A177-3AD203B41FA5}">
                      <a16:colId xmlns:a16="http://schemas.microsoft.com/office/drawing/2014/main" val="496187612"/>
                    </a:ext>
                  </a:extLst>
                </a:gridCol>
                <a:gridCol w="363233">
                  <a:extLst>
                    <a:ext uri="{9D8B030D-6E8A-4147-A177-3AD203B41FA5}">
                      <a16:colId xmlns:a16="http://schemas.microsoft.com/office/drawing/2014/main" val="1083202649"/>
                    </a:ext>
                  </a:extLst>
                </a:gridCol>
                <a:gridCol w="586710">
                  <a:extLst>
                    <a:ext uri="{9D8B030D-6E8A-4147-A177-3AD203B41FA5}">
                      <a16:colId xmlns:a16="http://schemas.microsoft.com/office/drawing/2014/main" val="2489949728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4183175346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772367748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2795383441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3771331774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365806302"/>
                    </a:ext>
                  </a:extLst>
                </a:gridCol>
              </a:tblGrid>
              <a:tr h="25408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양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음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공정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대상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0. System Infra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알고리즘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개발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2. APC </a:t>
                      </a: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환경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구성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3. Data </a:t>
                      </a:r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준비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수집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준비</a:t>
                      </a:r>
                      <a:endParaRPr lang="ko-KR" altLang="en-US" sz="900" baseline="0" dirty="0">
                        <a:latin typeface="+mn-lt"/>
                        <a:ea typeface="+mn-ea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5.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수집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점검</a:t>
                      </a:r>
                      <a:endParaRPr lang="ko-KR" altLang="en-US" sz="900" baseline="0" dirty="0">
                        <a:latin typeface="+mn-lt"/>
                        <a:ea typeface="+mn-ea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6.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데이터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정합성</a:t>
                      </a:r>
                      <a:b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검증</a:t>
                      </a:r>
                      <a:endParaRPr lang="ko-KR" altLang="en-US" sz="900" baseline="0" dirty="0">
                        <a:latin typeface="+mn-lt"/>
                        <a:ea typeface="+mn-ea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7.</a:t>
                      </a:r>
                      <a:endParaRPr lang="en-US" sz="900" baseline="0" dirty="0"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자동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보정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적용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준비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PLC,HMI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8.</a:t>
                      </a:r>
                    </a:p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알고리즘</a:t>
                      </a:r>
                      <a:endParaRPr lang="en-US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sz="900" b="1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1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검증</a:t>
                      </a:r>
                      <a:endParaRPr lang="en-US" altLang="ko-KR" sz="900" baseline="0" dirty="0"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Write</a:t>
                      </a:r>
                      <a:endParaRPr lang="ko-KR" altLang="en-US" sz="900" b="1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9.</a:t>
                      </a:r>
                    </a:p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APC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적용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609879"/>
                  </a:ext>
                </a:extLst>
              </a:tr>
              <a:tr h="3226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DC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셋업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N/W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PLC</a:t>
                      </a:r>
                    </a:p>
                    <a:p>
                      <a:pPr algn="ctr" fontAlgn="ctr"/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연동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Vision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연동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1199623"/>
                  </a:ext>
                </a:extLst>
              </a:tr>
              <a:tr h="233584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COT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1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Infra H/O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Web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오픈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6/30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98553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비대상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7996032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DRY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비대상</a:t>
                      </a:r>
                      <a:endParaRPr lang="en-US" altLang="ko-KR" sz="900" b="0" i="0" u="none" strike="noStrike" kern="120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lang="en-US" altLang="ko-KR" sz="900" b="0" i="0" u="none" strike="noStrike" kern="120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469423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ROL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비대상</a:t>
                      </a:r>
                      <a:endParaRPr lang="en-US" altLang="ko-KR" sz="900" b="0" i="0" u="none" strike="noStrike" kern="120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661072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NND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altLang="en-US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altLang="en-US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altLang="en-US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altLang="en-US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545381"/>
                  </a:ext>
                </a:extLst>
              </a:tr>
              <a:tr h="170640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COT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788045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DRY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비대상</a:t>
                      </a:r>
                      <a:endParaRPr lang="en-US" altLang="ko-KR" sz="900" b="0" i="0" u="none" strike="noStrike" kern="120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630354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ROL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비대상</a:t>
                      </a:r>
                      <a:endParaRPr lang="en-US" altLang="ko-KR" sz="900" b="0" i="0" u="none" strike="noStrike" kern="120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803714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NND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altLang="en-US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561139"/>
                  </a:ext>
                </a:extLst>
              </a:tr>
              <a:tr h="170640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LAM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1365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STK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3682350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4925365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PKG_EL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131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551143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264F7E-12A5-3792-EC9C-B41D51B9B3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61945B5-775E-51DC-A304-1B62B9322499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762329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APC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OC9</a:t>
                      </a:r>
                      <a:endParaRPr lang="ko-KR" altLang="en-US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(W51) </a:t>
                      </a:r>
                      <a:r>
                        <a:rPr lang="ko-KR" altLang="en-US" sz="1000" kern="1200" dirty="0" err="1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슬리터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/ROL </a:t>
                      </a: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공정 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적용 완료 하였으며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 dirty="0" err="1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와인더</a:t>
                      </a: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 공정 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MSG </a:t>
                      </a: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방식수집 예정으로 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MSG </a:t>
                      </a: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정의 완료하였습니다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[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공정별 일정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>
                        <a:buNone/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 </a:t>
                      </a:r>
                      <a:b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 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System H/W(4/28), DC/AP(5/23) Set-Up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 되었고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DB/WEB Set-Up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 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.(~6/30)</a:t>
                      </a:r>
                      <a:b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유관부서 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NFF APC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구축 담당자 선정하였으며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APC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데이터 수집을 위해 공정별 기준정보 작성 요청하였습니다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.(5/29~)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와인더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공정의 경우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직접통신이 안되어 제어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와의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MSG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통신을 통한 수집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제어방식 검토 중에 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(8/8)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: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설비기술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자동보정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공정제어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DX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논의를 통해 방안 논의를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회에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걸처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진행하였으며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최종적으로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TEXT MSG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방식으로 진행 결정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신규 통신 사양서 정의 하였으며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10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월중 설비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MSG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송수신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Test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진행하여 시나리오에 따른 정상 송수신 확인 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(10/31)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   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추가적으로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MSG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송수신 정보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연계 개발을 진행하여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CSV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생성 정상 작성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TEST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진행하여 정상 수집확인 되었으며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   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검사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Data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 대한 수집 검증 진행중입니다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    - ROL/SLT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 및 적용 검증 완료하였습니다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 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-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사전검증체계 운영을 위한 검증서버 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Data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연계적용을 완료하였습니다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.(10/28)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지속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임국빈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안재준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CAD11247-9BA4-E544-BF9E-6690AEAB08F1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APC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신규 법인 확산 적용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_OC 9</a:t>
            </a: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DF9C1BEB-0D7E-8B6B-0EEA-377AAEC2401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C531CDE-4DE5-45C9-E493-52ABCF711574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10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B50C5880-5CC3-FBF6-7F50-97DE31350D53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임국빈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5FF98A64-0752-A629-8ABE-8D656E64713F}"/>
              </a:ext>
            </a:extLst>
          </p:cNvPr>
          <p:cNvGraphicFramePr>
            <a:graphicFrameLocks noGrp="1"/>
          </p:cNvGraphicFramePr>
          <p:nvPr/>
        </p:nvGraphicFramePr>
        <p:xfrm>
          <a:off x="7292279" y="1333453"/>
          <a:ext cx="1189489" cy="3886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422586">
                  <a:extLst>
                    <a:ext uri="{9D8B030D-6E8A-4147-A177-3AD203B41FA5}">
                      <a16:colId xmlns:a16="http://schemas.microsoft.com/office/drawing/2014/main" val="4166569121"/>
                    </a:ext>
                  </a:extLst>
                </a:gridCol>
                <a:gridCol w="766903">
                  <a:extLst>
                    <a:ext uri="{9D8B030D-6E8A-4147-A177-3AD203B41FA5}">
                      <a16:colId xmlns:a16="http://schemas.microsoft.com/office/drawing/2014/main" val="346678682"/>
                    </a:ext>
                  </a:extLst>
                </a:gridCol>
              </a:tblGrid>
              <a:tr h="1284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공정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샘플 생산 일정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2324798"/>
                  </a:ext>
                </a:extLst>
              </a:tr>
              <a:tr h="1284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전극</a:t>
                      </a:r>
                      <a:endParaRPr lang="en-US" sz="8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j-ea"/>
                        </a:rPr>
                        <a:t>25.9.x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6403730"/>
                  </a:ext>
                </a:extLst>
              </a:tr>
              <a:tr h="1284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j-ea"/>
                        </a:rPr>
                        <a:t>조립</a:t>
                      </a:r>
                      <a:endParaRPr lang="en-US" sz="8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25.9.x</a:t>
                      </a:r>
                      <a:endParaRPr lang="ko-KR" altLang="en-US" sz="85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237257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E7AF42F4-21C0-FB81-844F-16729D0673E6}"/>
              </a:ext>
            </a:extLst>
          </p:cNvPr>
          <p:cNvSpPr/>
          <p:nvPr/>
        </p:nvSpPr>
        <p:spPr>
          <a:xfrm>
            <a:off x="6665516" y="1564702"/>
            <a:ext cx="106532" cy="101729"/>
          </a:xfrm>
          <a:prstGeom prst="rect">
            <a:avLst/>
          </a:prstGeom>
          <a:solidFill>
            <a:srgbClr val="DBEEF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" name="Text Box 198">
            <a:extLst>
              <a:ext uri="{FF2B5EF4-FFF2-40B4-BE49-F238E27FC236}">
                <a16:creationId xmlns:a16="http://schemas.microsoft.com/office/drawing/2014/main" id="{7ACA2768-A813-EED0-1209-0D7F5BC1AA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3723" y="1516164"/>
            <a:ext cx="373052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lang="en-US" altLang="ko-KR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VM</a:t>
            </a:r>
            <a:r>
              <a:rPr lang="ko-KR" altLang="en-US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 타입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C38216F-D783-06FA-CB2F-F0D1B931FCCA}"/>
              </a:ext>
            </a:extLst>
          </p:cNvPr>
          <p:cNvSpPr/>
          <p:nvPr/>
        </p:nvSpPr>
        <p:spPr>
          <a:xfrm>
            <a:off x="6206147" y="1564702"/>
            <a:ext cx="106532" cy="10172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Text Box 198">
            <a:extLst>
              <a:ext uri="{FF2B5EF4-FFF2-40B4-BE49-F238E27FC236}">
                <a16:creationId xmlns:a16="http://schemas.microsoft.com/office/drawing/2014/main" id="{BD689AB1-DA91-8E7C-A28F-C7CBA76CF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74354" y="1516164"/>
            <a:ext cx="255473" cy="19880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10000"/>
              </a:lnSpc>
              <a:spcBef>
                <a:spcPts val="0"/>
              </a:spcBef>
              <a:spcAft>
                <a:spcPct val="0"/>
              </a:spcAft>
              <a:buClrTx/>
              <a:buSzPct val="85000"/>
              <a:buFontTx/>
              <a:buNone/>
              <a:tabLst>
                <a:tab pos="723900" algn="l"/>
              </a:tabLst>
              <a:defRPr/>
            </a:pPr>
            <a:r>
              <a:rPr lang="en-US" altLang="ko-KR" sz="800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charset="0"/>
              </a:rPr>
              <a:t>APC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 panose="020B0606020202030204" pitchFamily="34" charset="0"/>
              <a:ea typeface="LG스마트체 Regular" panose="020B0600000101010101" pitchFamily="50" charset="-127"/>
              <a:cs typeface="Arial" charset="0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81838A3-10B3-914F-DBC8-7F6B1E15E793}"/>
              </a:ext>
            </a:extLst>
          </p:cNvPr>
          <p:cNvGraphicFramePr>
            <a:graphicFrameLocks noGrp="1"/>
          </p:cNvGraphicFramePr>
          <p:nvPr/>
        </p:nvGraphicFramePr>
        <p:xfrm>
          <a:off x="1462524" y="1778327"/>
          <a:ext cx="7019246" cy="2208744"/>
        </p:xfrm>
        <a:graphic>
          <a:graphicData uri="http://schemas.openxmlformats.org/drawingml/2006/table">
            <a:tbl>
              <a:tblPr/>
              <a:tblGrid>
                <a:gridCol w="356908">
                  <a:extLst>
                    <a:ext uri="{9D8B030D-6E8A-4147-A177-3AD203B41FA5}">
                      <a16:colId xmlns:a16="http://schemas.microsoft.com/office/drawing/2014/main" val="1719818436"/>
                    </a:ext>
                  </a:extLst>
                </a:gridCol>
                <a:gridCol w="449888">
                  <a:extLst>
                    <a:ext uri="{9D8B030D-6E8A-4147-A177-3AD203B41FA5}">
                      <a16:colId xmlns:a16="http://schemas.microsoft.com/office/drawing/2014/main" val="4024427999"/>
                    </a:ext>
                  </a:extLst>
                </a:gridCol>
                <a:gridCol w="300632">
                  <a:extLst>
                    <a:ext uri="{9D8B030D-6E8A-4147-A177-3AD203B41FA5}">
                      <a16:colId xmlns:a16="http://schemas.microsoft.com/office/drawing/2014/main" val="1016885944"/>
                    </a:ext>
                  </a:extLst>
                </a:gridCol>
                <a:gridCol w="555193">
                  <a:extLst>
                    <a:ext uri="{9D8B030D-6E8A-4147-A177-3AD203B41FA5}">
                      <a16:colId xmlns:a16="http://schemas.microsoft.com/office/drawing/2014/main" val="1691249259"/>
                    </a:ext>
                  </a:extLst>
                </a:gridCol>
                <a:gridCol w="502815">
                  <a:extLst>
                    <a:ext uri="{9D8B030D-6E8A-4147-A177-3AD203B41FA5}">
                      <a16:colId xmlns:a16="http://schemas.microsoft.com/office/drawing/2014/main" val="2683556667"/>
                    </a:ext>
                  </a:extLst>
                </a:gridCol>
                <a:gridCol w="500196">
                  <a:extLst>
                    <a:ext uri="{9D8B030D-6E8A-4147-A177-3AD203B41FA5}">
                      <a16:colId xmlns:a16="http://schemas.microsoft.com/office/drawing/2014/main" val="3872940129"/>
                    </a:ext>
                  </a:extLst>
                </a:gridCol>
                <a:gridCol w="417044">
                  <a:extLst>
                    <a:ext uri="{9D8B030D-6E8A-4147-A177-3AD203B41FA5}">
                      <a16:colId xmlns:a16="http://schemas.microsoft.com/office/drawing/2014/main" val="2022807539"/>
                    </a:ext>
                  </a:extLst>
                </a:gridCol>
                <a:gridCol w="374767">
                  <a:extLst>
                    <a:ext uri="{9D8B030D-6E8A-4147-A177-3AD203B41FA5}">
                      <a16:colId xmlns:a16="http://schemas.microsoft.com/office/drawing/2014/main" val="496187612"/>
                    </a:ext>
                  </a:extLst>
                </a:gridCol>
                <a:gridCol w="427571">
                  <a:extLst>
                    <a:ext uri="{9D8B030D-6E8A-4147-A177-3AD203B41FA5}">
                      <a16:colId xmlns:a16="http://schemas.microsoft.com/office/drawing/2014/main" val="1083202649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2489949728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4183175346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772367748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2795383441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3771331774"/>
                    </a:ext>
                  </a:extLst>
                </a:gridCol>
                <a:gridCol w="522372">
                  <a:extLst>
                    <a:ext uri="{9D8B030D-6E8A-4147-A177-3AD203B41FA5}">
                      <a16:colId xmlns:a16="http://schemas.microsoft.com/office/drawing/2014/main" val="365806302"/>
                    </a:ext>
                  </a:extLst>
                </a:gridCol>
              </a:tblGrid>
              <a:tr h="25408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양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음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공정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대상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0. System Infra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알고리즘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개발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2. APC </a:t>
                      </a: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환경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구성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3. Data </a:t>
                      </a:r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준비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4.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수집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준비</a:t>
                      </a:r>
                      <a:endParaRPr lang="ko-KR" altLang="en-US" sz="900" baseline="0" dirty="0">
                        <a:latin typeface="+mn-lt"/>
                        <a:ea typeface="+mn-ea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5.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수집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점검</a:t>
                      </a:r>
                      <a:endParaRPr lang="ko-KR" altLang="en-US" sz="900" baseline="0" dirty="0">
                        <a:latin typeface="+mn-lt"/>
                        <a:ea typeface="+mn-ea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6.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데이터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정합성</a:t>
                      </a:r>
                      <a:b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검증</a:t>
                      </a:r>
                      <a:endParaRPr lang="ko-KR" altLang="en-US" sz="900" baseline="0" dirty="0">
                        <a:latin typeface="+mn-lt"/>
                        <a:ea typeface="+mn-ea"/>
                      </a:endParaRPr>
                    </a:p>
                  </a:txBody>
                  <a:tcPr marL="18000" marR="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7.</a:t>
                      </a:r>
                      <a:endParaRPr lang="en-US" sz="900" baseline="0" dirty="0"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자동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보정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적용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준비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PLC,HMI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8.</a:t>
                      </a:r>
                    </a:p>
                    <a:p>
                      <a:pPr lvl="0" algn="ctr">
                        <a:buNone/>
                      </a:pPr>
                      <a:r>
                        <a:rPr lang="ko-KR" sz="900" b="1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알고리즘</a:t>
                      </a:r>
                      <a:endParaRPr lang="en-US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등록</a:t>
                      </a:r>
                      <a:r>
                        <a:rPr lang="en-US" sz="900" b="1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1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검증</a:t>
                      </a:r>
                      <a:endParaRPr lang="en-US" altLang="ko-KR" sz="900" baseline="0" dirty="0"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Write</a:t>
                      </a:r>
                      <a:endParaRPr lang="ko-KR" altLang="en-US" sz="900" b="1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9.</a:t>
                      </a:r>
                    </a:p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APC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적용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609879"/>
                  </a:ext>
                </a:extLst>
              </a:tr>
              <a:tr h="3226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DC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셋업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N/W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공사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PLC</a:t>
                      </a:r>
                    </a:p>
                    <a:p>
                      <a:pPr algn="ctr" fontAlgn="ctr"/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연동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Vision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1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연동</a:t>
                      </a:r>
                      <a:endParaRPr lang="en-US" altLang="ko-KR" sz="900" b="1" i="0" u="none" strike="noStrike" baseline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51199623"/>
                  </a:ext>
                </a:extLst>
              </a:tr>
              <a:tr h="233584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음극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COT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Infra H/O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Web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오픈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6/30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98553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  <a:ea typeface="+mj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7996032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DRY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비대상</a:t>
                      </a:r>
                      <a:endParaRPr lang="en-US" altLang="ko-KR" sz="900" b="0" i="0" u="none" strike="noStrike" kern="120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lang="en-US" altLang="ko-KR" sz="900" b="0" i="0" u="none" strike="noStrike" kern="120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469423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ROL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661072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슬리터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545381"/>
                  </a:ext>
                </a:extLst>
              </a:tr>
              <a:tr h="170640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양극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COT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788045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DRY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630354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ROL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803714"/>
                  </a:ext>
                </a:extLst>
              </a:tr>
              <a:tr h="170640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슬리터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 eaLnBrk="1" fontAlgn="ctr" latinLnBrk="1" hangingPunct="1"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</a:t>
                      </a:r>
                      <a:endParaRPr kumimoji="0" lang="ko-KR" normalizeH="0" dirty="0">
                        <a:ln>
                          <a:noFill/>
                        </a:ln>
                        <a:effectLst/>
                        <a:uLnTx/>
                        <a:uFillTx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ko-KR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561139"/>
                  </a:ext>
                </a:extLst>
              </a:tr>
              <a:tr h="17064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조립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와인더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j-ea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13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2275399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84ED38A7-7B53-4807-925C-1018FF529470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84641" cy="5762329"/>
        </p:xfrm>
        <a:graphic>
          <a:graphicData uri="http://schemas.openxmlformats.org/drawingml/2006/table">
            <a:tbl>
              <a:tblPr/>
              <a:tblGrid>
                <a:gridCol w="5328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91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26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APC / 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VM Type </a:t>
                      </a:r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자동보정</a:t>
                      </a:r>
                      <a:endParaRPr lang="en-US" altLang="ko-KR" sz="1000" b="0" i="0" u="none" strike="noStrike" baseline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확산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 err="1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(W50) </a:t>
                      </a: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특이사항 없으며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신규 </a:t>
                      </a:r>
                      <a:r>
                        <a:rPr lang="en-US" altLang="ko-KR" sz="1000" b="0" kern="120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PKG </a:t>
                      </a:r>
                      <a:r>
                        <a:rPr lang="ko-KR" altLang="en-US" sz="1000" b="0" kern="1200" dirty="0" err="1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주액량</a:t>
                      </a:r>
                      <a:r>
                        <a:rPr lang="ko-KR" altLang="en-US" sz="1000" b="0" kern="120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알고리즘 확산을 위해 상세 </a:t>
                      </a:r>
                      <a:r>
                        <a:rPr lang="en-US" altLang="ko-KR" sz="1000" b="0" kern="120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Activity </a:t>
                      </a:r>
                      <a:r>
                        <a:rPr lang="ko-KR" altLang="en-US" sz="1000" b="0" kern="120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 중입니다</a:t>
                      </a:r>
                      <a:r>
                        <a:rPr lang="en-US" altLang="ko-KR" sz="1000" b="0" kern="1200" dirty="0">
                          <a:solidFill>
                            <a:srgbClr val="0000FF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&lt;APC&gt;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[ESWA] 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라인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15-1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18-2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대해 적용 완료하였습니다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대상호기 전체 적용 완료하였습니다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.(11/28)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[ESMI] 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대표호기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(3-1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호기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에 대해 데이터 수집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점검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(11/10)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완료하였습니다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대상호기 전체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 호기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알고리즘 적용 완료하였습니다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.(11/24)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[ESMIL]  11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내로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수정완료하여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12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내로 대상호기 전체 적용 예정입니다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.(~12/25)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[ESHD] 11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내로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수정완료하였으며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대상호기 전체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(2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 호기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알고리즘 적용 완료하였습니다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.(11/24)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[ESST] 11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내로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수정완료하여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12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 내로 대상호기 전체 적용 예정입니다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.(~12/25)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&lt;VM Type&gt;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[ESGM1] 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본사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IT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완료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(10/22)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후 법인 집행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계약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(11/10)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완료되었습니다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APP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진행완료하였습니다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.(11/19)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[ESGM2]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본사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IT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투자 완료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(10/22)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후 법인 집행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계약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(11/10)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완료되었습니다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APP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진행완료하였습니다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.(11/19)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&lt;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기타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[ESHG]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북미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Visa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이슈로 업체 투입 후 설비 안정화 이후 일정 검토 예정입니다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[ESHM]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투자비 대비 효과를 검토 중입니다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 ELF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설비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대 기준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VM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 구축 비용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(0.2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및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PLC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개발 비용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(0.15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억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산출되었습니다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[ESNA, ESNB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법인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 법인 자체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주액량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하한관리로 인해 자동보정 적용 대상에서 제외되었습니다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안재준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임국빈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8CDDBD6F-EB61-413A-8C1E-0ECDE9D4ADA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APC / VM Type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자동보정 확산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_PKG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</a:t>
            </a:r>
            <a:r>
              <a:rPr lang="ko-KR" altLang="en-US" sz="1400" b="1" dirty="0" err="1">
                <a:solidFill>
                  <a:prstClr val="black"/>
                </a:solidFill>
                <a:cs typeface="Malgun Gothic Semilight" panose="020B0502040204020203" pitchFamily="50" charset="-127"/>
              </a:rPr>
              <a:t>주액량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알고리즘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(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개선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Ver.)</a:t>
            </a:r>
            <a:endParaRPr lang="ko-KR" altLang="en-US" sz="1400" b="1" dirty="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42D0718B-3C0F-4E87-9AEC-BFB7D9D7B10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lang="ko-KR" altLang="en-US" sz="1800" dirty="0"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lang="en-US" altLang="ko-KR" sz="1800" dirty="0"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1D8DF90-14AD-4CE9-BEB7-70AB4DCAE4AB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12/10(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10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7FC2BEA1-620E-4B86-AA5D-C1BCC8493BBB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안재준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7D7C00B-83F9-4BB5-9781-B8336094682B}"/>
              </a:ext>
            </a:extLst>
          </p:cNvPr>
          <p:cNvGraphicFramePr>
            <a:graphicFrameLocks noGrp="1"/>
          </p:cNvGraphicFramePr>
          <p:nvPr/>
        </p:nvGraphicFramePr>
        <p:xfrm>
          <a:off x="792359" y="1505551"/>
          <a:ext cx="8321285" cy="26172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5481">
                  <a:extLst>
                    <a:ext uri="{9D8B030D-6E8A-4147-A177-3AD203B41FA5}">
                      <a16:colId xmlns:a16="http://schemas.microsoft.com/office/drawing/2014/main" val="1126082579"/>
                    </a:ext>
                  </a:extLst>
                </a:gridCol>
                <a:gridCol w="760137">
                  <a:extLst>
                    <a:ext uri="{9D8B030D-6E8A-4147-A177-3AD203B41FA5}">
                      <a16:colId xmlns:a16="http://schemas.microsoft.com/office/drawing/2014/main" val="477671180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3955745852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3420303759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3285978895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2874989508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2438332794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2480165053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992761505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3522346532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3843602099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717715914"/>
                    </a:ext>
                  </a:extLst>
                </a:gridCol>
                <a:gridCol w="598697">
                  <a:extLst>
                    <a:ext uri="{9D8B030D-6E8A-4147-A177-3AD203B41FA5}">
                      <a16:colId xmlns:a16="http://schemas.microsoft.com/office/drawing/2014/main" val="3921100408"/>
                    </a:ext>
                  </a:extLst>
                </a:gridCol>
              </a:tblGrid>
              <a:tr h="2326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법인 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호기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 (40)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 (10)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ESMIL (2)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ESHD (2)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ESHG (2)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ESST (2)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ESGM1 (20)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ESGM2 (8)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ESHM (8)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ESNB (24)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ESNA (2)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133185"/>
                  </a:ext>
                </a:extLst>
              </a:tr>
              <a:tr h="2326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구축 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TYPE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APC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VM Type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9860376"/>
                  </a:ext>
                </a:extLst>
              </a:tr>
              <a:tr h="2326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IT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투자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인프라 포함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(‘25.11)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(‘25.11)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검토중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제외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052"/>
                  </a:ext>
                </a:extLst>
              </a:tr>
              <a:tr h="23264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적용 일정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’25.11.28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‘25.12.12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‘25.12.19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’25.11.28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검토중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’25.12.12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’26.06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’25.12.24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378595"/>
                  </a:ext>
                </a:extLst>
              </a:tr>
              <a:tr h="2326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상세 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Activity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 조직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rgbClr val="0000FF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3108006"/>
                  </a:ext>
                </a:extLst>
              </a:tr>
              <a:tr h="29080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APP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셋업</a:t>
                      </a:r>
                      <a:endParaRPr lang="ko-KR" altLang="en-US" sz="9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공정제어</a:t>
                      </a:r>
                      <a:r>
                        <a:rPr lang="en-US" altLang="ko-KR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DX</a:t>
                      </a:r>
                      <a:endParaRPr lang="ko-KR" altLang="en-US" sz="9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(11/19)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(11/19)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제외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3774"/>
                  </a:ext>
                </a:extLst>
              </a:tr>
              <a:tr h="29080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PLC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연동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기준정보</a:t>
                      </a:r>
                      <a:endParaRPr lang="ko-KR" altLang="en-US" sz="9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(12/5)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(11/14)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(12/5)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‘26.04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482822"/>
                  </a:ext>
                </a:extLst>
              </a:tr>
              <a:tr h="29080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데이터 수집</a:t>
                      </a:r>
                      <a:r>
                        <a:rPr lang="en-US" altLang="ko-KR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점검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공정제어</a:t>
                      </a:r>
                      <a:r>
                        <a:rPr lang="en-US" altLang="ko-KR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DX</a:t>
                      </a:r>
                      <a:endParaRPr lang="ko-KR" altLang="en-US" sz="9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전호기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(11/28)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(11/20)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~12/12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(11/20)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~12/12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8873768"/>
                  </a:ext>
                </a:extLst>
              </a:tr>
              <a:tr h="29080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정합성 검증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자동보정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~12/15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~12/15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24703"/>
                  </a:ext>
                </a:extLst>
              </a:tr>
              <a:tr h="29080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적용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본사 </a:t>
                      </a:r>
                      <a:r>
                        <a:rPr lang="en-US" altLang="ko-KR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+ </a:t>
                      </a: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(11/24)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~12/25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(11/24)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~12/25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‘26.06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611917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0C2C1341-5614-077D-6318-D57212D98976}"/>
              </a:ext>
            </a:extLst>
          </p:cNvPr>
          <p:cNvSpPr/>
          <p:nvPr/>
        </p:nvSpPr>
        <p:spPr>
          <a:xfrm>
            <a:off x="8697094" y="443499"/>
            <a:ext cx="109196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(</a:t>
            </a:r>
            <a:r>
              <a:rPr lang="ko-KR" altLang="en-US" sz="1000" dirty="0">
                <a:solidFill>
                  <a:srgbClr val="009900"/>
                </a:solidFill>
                <a:latin typeface="+mj-lt"/>
              </a:rPr>
              <a:t>휴가</a:t>
            </a:r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) 12/16~12/18</a:t>
            </a:r>
            <a:endParaRPr lang="ko-KR" altLang="en-US" sz="1000" dirty="0">
              <a:solidFill>
                <a:srgbClr val="00990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9277861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표 1">
            <a:extLst>
              <a:ext uri="{FF2B5EF4-FFF2-40B4-BE49-F238E27FC236}">
                <a16:creationId xmlns:a16="http://schemas.microsoft.com/office/drawing/2014/main" id="{DFF6D66C-B3C6-431A-B309-21FE953E93D0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407488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4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(W49)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3088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APC 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시스템 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고도화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ESMI_L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ESST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(W49) APC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정기 패치 진행하였습니다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(12/1~12/2)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[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고도화 진행 현황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- APC 10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월 정기 패치 항목 적용 후 기능 점검 완료하였습니다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 (10/30)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    - APC 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정기패치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(12/1~12/2)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진행하였습니다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ea"/>
                          <a:ea typeface="+mn-ea"/>
                          <a:cs typeface="Malgun Gothic Semiligh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1414FE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[APC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장애 모니터링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   - DC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서버 데이터 수집량을 비교해 서버 내 프로세스 정상 운영 상태를 확인하는 로직을 활용 한 서버 행 모니터링 알람 적용 하였습니다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. (9/30)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   - Solace(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데이터 전송 미들웨어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) Message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수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, Disk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사용량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과거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Message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자동 삭제 기능 적용 여부 모니터링 알람 적용 하였습니다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. (9/30)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   -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시스템 모니터링 개발 필요 건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도출하였으며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(11/21),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요건 및 로직 구체 정의 중 입니다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. (~12/5)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      :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과거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Vision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데이터 필터링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알고리즘 배포 및 알람 </a:t>
                      </a:r>
                      <a:r>
                        <a:rPr lang="en-US" altLang="ko-KR" sz="1000" b="0" i="0" u="none" strike="noStrike" baseline="0" noProof="0" dirty="0" err="1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Adagpter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모니터링 등</a:t>
                      </a:r>
                      <a:endParaRPr lang="en-US" altLang="ko-KR" sz="1000" b="0" i="0" u="none" strike="noStrike" baseline="0" noProof="0" dirty="0">
                        <a:solidFill>
                          <a:srgbClr val="1414FE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   -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알람 저감을 위한 알람 로직 점검을 진행하였으며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( 11/21),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로직 개선안 적용을 통해 발생 알람 최적화 진행하겠습니다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. (~12.4W)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 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[APC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운영 안정성 고도화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 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- Local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자동보정 전환 및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APC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자동보정 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인터락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되지 않도록 하여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APC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운영 안정성을 고도화 하고자 함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  <a:endParaRPr lang="en-US" altLang="ko-KR" sz="1000" b="0" i="0" u="none" strike="noStrike" baseline="0" noProof="0" dirty="0">
                        <a:solidFill>
                          <a:srgbClr val="1414FE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rgbClr val="1414FE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 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~’24.12</a:t>
                      </a:r>
                    </a:p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차 고도화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정지훈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임국빈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지유하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안재준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내용 개체 틀 20">
            <a:extLst>
              <a:ext uri="{FF2B5EF4-FFF2-40B4-BE49-F238E27FC236}">
                <a16:creationId xmlns:a16="http://schemas.microsoft.com/office/drawing/2014/main" id="{A738AE5E-0FE3-4A24-8445-48E22049B70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■ APC System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고도화</a:t>
            </a:r>
          </a:p>
        </p:txBody>
      </p:sp>
      <p:sp>
        <p:nvSpPr>
          <p:cNvPr id="11" name="제목 1">
            <a:extLst>
              <a:ext uri="{FF2B5EF4-FFF2-40B4-BE49-F238E27FC236}">
                <a16:creationId xmlns:a16="http://schemas.microsoft.com/office/drawing/2014/main" id="{B9CA8422-9A0D-4C08-A3DA-16012717279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5" name="내용 개체 틀 20">
            <a:extLst>
              <a:ext uri="{FF2B5EF4-FFF2-40B4-BE49-F238E27FC236}">
                <a16:creationId xmlns:a16="http://schemas.microsoft.com/office/drawing/2014/main" id="{E6A64B6B-DBB6-4EF4-B7AE-9F792DECA7EF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정지훈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FA08157-4EA4-446B-82C5-62E3EFAE8F3B}"/>
              </a:ext>
            </a:extLst>
          </p:cNvPr>
          <p:cNvSpPr txBox="1"/>
          <p:nvPr/>
        </p:nvSpPr>
        <p:spPr>
          <a:xfrm>
            <a:off x="8161007" y="295461"/>
            <a:ext cx="152605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12/3(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9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5C0E52B-4F46-488A-9E00-E1C177640118}"/>
              </a:ext>
            </a:extLst>
          </p:cNvPr>
          <p:cNvGraphicFramePr>
            <a:graphicFrameLocks noGrp="1"/>
          </p:cNvGraphicFramePr>
          <p:nvPr/>
        </p:nvGraphicFramePr>
        <p:xfrm>
          <a:off x="1508554" y="1886500"/>
          <a:ext cx="6888891" cy="1353736"/>
        </p:xfrm>
        <a:graphic>
          <a:graphicData uri="http://schemas.openxmlformats.org/drawingml/2006/table">
            <a:tbl>
              <a:tblPr/>
              <a:tblGrid>
                <a:gridCol w="405971">
                  <a:extLst>
                    <a:ext uri="{9D8B030D-6E8A-4147-A177-3AD203B41FA5}">
                      <a16:colId xmlns:a16="http://schemas.microsoft.com/office/drawing/2014/main" val="1313751298"/>
                    </a:ext>
                  </a:extLst>
                </a:gridCol>
                <a:gridCol w="3305175">
                  <a:extLst>
                    <a:ext uri="{9D8B030D-6E8A-4147-A177-3AD203B41FA5}">
                      <a16:colId xmlns:a16="http://schemas.microsoft.com/office/drawing/2014/main" val="4081011050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1770401627"/>
                    </a:ext>
                  </a:extLst>
                </a:gridCol>
                <a:gridCol w="561975">
                  <a:extLst>
                    <a:ext uri="{9D8B030D-6E8A-4147-A177-3AD203B41FA5}">
                      <a16:colId xmlns:a16="http://schemas.microsoft.com/office/drawing/2014/main" val="2401235664"/>
                    </a:ext>
                  </a:extLst>
                </a:gridCol>
                <a:gridCol w="752475">
                  <a:extLst>
                    <a:ext uri="{9D8B030D-6E8A-4147-A177-3AD203B41FA5}">
                      <a16:colId xmlns:a16="http://schemas.microsoft.com/office/drawing/2014/main" val="4106017597"/>
                    </a:ext>
                  </a:extLst>
                </a:gridCol>
                <a:gridCol w="695325">
                  <a:extLst>
                    <a:ext uri="{9D8B030D-6E8A-4147-A177-3AD203B41FA5}">
                      <a16:colId xmlns:a16="http://schemas.microsoft.com/office/drawing/2014/main" val="267789204"/>
                    </a:ext>
                  </a:extLst>
                </a:gridCol>
                <a:gridCol w="596470">
                  <a:extLst>
                    <a:ext uri="{9D8B030D-6E8A-4147-A177-3AD203B41FA5}">
                      <a16:colId xmlns:a16="http://schemas.microsoft.com/office/drawing/2014/main" val="702798178"/>
                    </a:ext>
                  </a:extLst>
                </a:gridCol>
              </a:tblGrid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Status</a:t>
                      </a:r>
                      <a:endParaRPr lang="ko-KR" altLang="en-US" sz="900" b="1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개발자 테스트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PI</a:t>
                      </a:r>
                      <a:r>
                        <a:rPr lang="ko-KR" altLang="en-US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테스트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패치 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0559208"/>
                  </a:ext>
                </a:extLst>
              </a:tr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Factova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순차절연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→ 동시절연 코팅 전환에 따른 변경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데이터 수집 구조 변경 등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(11/17)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(11/22)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(11/21)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</a:rPr>
                        <a:t>(12/1)</a:t>
                      </a:r>
                      <a:endParaRPr lang="ko-KR" altLang="en-US" sz="900" b="0" i="0" u="none" strike="noStrike" dirty="0">
                        <a:solidFill>
                          <a:srgbClr val="1414FE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3885108"/>
                  </a:ext>
                </a:extLst>
              </a:tr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UI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순차절연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→ 동시절연 코팅 전환에 따른 변경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(UI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화면 및 팝업 창 변경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(11/17)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(11/22)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(11/21)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(12/1)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0532256"/>
                  </a:ext>
                </a:extLst>
              </a:tr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Factova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Solace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Client Name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가독성 향상되도록 변경</a:t>
                      </a:r>
                      <a:b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어느 설비인지 쉽게 파악 가능하도록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(11/7)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(11/22)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(11/21)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(12/1)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4622844"/>
                  </a:ext>
                </a:extLst>
              </a:tr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Factova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Random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Read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기능 추가를 위한 </a:t>
                      </a:r>
                      <a:r>
                        <a:rPr lang="en-US" altLang="ko-KR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Factova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Control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솔루션 업데이트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(11/7)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(11/22)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sng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11/26)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(12/1)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166407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DA043CD-0D26-4CC7-A63D-888D561E9742}"/>
              </a:ext>
            </a:extLst>
          </p:cNvPr>
          <p:cNvGraphicFramePr>
            <a:graphicFrameLocks noGrp="1"/>
          </p:cNvGraphicFramePr>
          <p:nvPr/>
        </p:nvGraphicFramePr>
        <p:xfrm>
          <a:off x="1474058" y="4878848"/>
          <a:ext cx="6917467" cy="1079416"/>
        </p:xfrm>
        <a:graphic>
          <a:graphicData uri="http://schemas.openxmlformats.org/drawingml/2006/table">
            <a:tbl>
              <a:tblPr/>
              <a:tblGrid>
                <a:gridCol w="226184">
                  <a:extLst>
                    <a:ext uri="{9D8B030D-6E8A-4147-A177-3AD203B41FA5}">
                      <a16:colId xmlns:a16="http://schemas.microsoft.com/office/drawing/2014/main" val="1391581684"/>
                    </a:ext>
                  </a:extLst>
                </a:gridCol>
                <a:gridCol w="3319463">
                  <a:extLst>
                    <a:ext uri="{9D8B030D-6E8A-4147-A177-3AD203B41FA5}">
                      <a16:colId xmlns:a16="http://schemas.microsoft.com/office/drawing/2014/main" val="3340223035"/>
                    </a:ext>
                  </a:extLst>
                </a:gridCol>
                <a:gridCol w="587622">
                  <a:extLst>
                    <a:ext uri="{9D8B030D-6E8A-4147-A177-3AD203B41FA5}">
                      <a16:colId xmlns:a16="http://schemas.microsoft.com/office/drawing/2014/main" val="1659108117"/>
                    </a:ext>
                  </a:extLst>
                </a:gridCol>
                <a:gridCol w="729560">
                  <a:extLst>
                    <a:ext uri="{9D8B030D-6E8A-4147-A177-3AD203B41FA5}">
                      <a16:colId xmlns:a16="http://schemas.microsoft.com/office/drawing/2014/main" val="266255837"/>
                    </a:ext>
                  </a:extLst>
                </a:gridCol>
                <a:gridCol w="729560">
                  <a:extLst>
                    <a:ext uri="{9D8B030D-6E8A-4147-A177-3AD203B41FA5}">
                      <a16:colId xmlns:a16="http://schemas.microsoft.com/office/drawing/2014/main" val="2542585140"/>
                    </a:ext>
                  </a:extLst>
                </a:gridCol>
                <a:gridCol w="729560">
                  <a:extLst>
                    <a:ext uri="{9D8B030D-6E8A-4147-A177-3AD203B41FA5}">
                      <a16:colId xmlns:a16="http://schemas.microsoft.com/office/drawing/2014/main" val="2544821729"/>
                    </a:ext>
                  </a:extLst>
                </a:gridCol>
                <a:gridCol w="595518">
                  <a:extLst>
                    <a:ext uri="{9D8B030D-6E8A-4147-A177-3AD203B41FA5}">
                      <a16:colId xmlns:a16="http://schemas.microsoft.com/office/drawing/2014/main" val="2524647322"/>
                    </a:ext>
                  </a:extLst>
                </a:gridCol>
              </a:tblGrid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No</a:t>
                      </a:r>
                      <a:endParaRPr lang="ko-KR" altLang="en-US" sz="900" b="1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내용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Status</a:t>
                      </a:r>
                      <a:endParaRPr lang="ko-KR" altLang="en-US" sz="900" b="1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 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개발자 테스트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PI</a:t>
                      </a:r>
                      <a:r>
                        <a:rPr lang="ko-KR" altLang="en-US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테스트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패치 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1229516"/>
                  </a:ext>
                </a:extLst>
              </a:tr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써머타임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시행 시 시간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Gap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으로 인한 설비 자동보정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Off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현상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( 9/22)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(9/30)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sng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10/24)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(10/30)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3859354"/>
                  </a:ext>
                </a:extLst>
              </a:tr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Factova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재기동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후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값 업데이트전 </a:t>
                      </a:r>
                      <a:r>
                        <a:rPr lang="en-US" altLang="ko-KR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WritePLC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값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Default 0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입력 현상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적용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(9/23)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(9/30)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(10/17)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(10/30)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6917672"/>
                  </a:ext>
                </a:extLst>
              </a:tr>
              <a:tr h="2698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3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Factova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재기동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프로세스 개선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재기동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중 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인터락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파라미터 수집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제어 유지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개발 중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dirty="0">
                          <a:solidFill>
                            <a:srgbClr val="1414FE"/>
                          </a:solidFill>
                          <a:effectLst/>
                          <a:latin typeface="+mn-lt"/>
                          <a:ea typeface="+mn-ea"/>
                        </a:rPr>
                        <a:t>~12/12</a:t>
                      </a:r>
                      <a:endParaRPr lang="ko-KR" altLang="en-US" sz="900" b="0" i="0" u="none" strike="noStrike" dirty="0">
                        <a:solidFill>
                          <a:srgbClr val="1414FE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</a:rPr>
                        <a:t>월 패치 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84821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FDB5FF53-D5CE-9681-CD20-5D692696CCAA}"/>
              </a:ext>
            </a:extLst>
          </p:cNvPr>
          <p:cNvSpPr/>
          <p:nvPr/>
        </p:nvSpPr>
        <p:spPr>
          <a:xfrm>
            <a:off x="8719492" y="443499"/>
            <a:ext cx="1034257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(</a:t>
            </a:r>
            <a:r>
              <a:rPr lang="ko-KR" altLang="en-US" sz="1000" dirty="0">
                <a:solidFill>
                  <a:srgbClr val="009900"/>
                </a:solidFill>
                <a:latin typeface="+mj-lt"/>
              </a:rPr>
              <a:t>휴가</a:t>
            </a:r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) 12/8~12/19</a:t>
            </a:r>
            <a:endParaRPr lang="ko-KR" altLang="en-US" sz="1000" dirty="0">
              <a:solidFill>
                <a:srgbClr val="00990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98168576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1AB3C-95CD-72F9-7C91-013A12A25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97D18673-B872-8B0B-AD70-E21990207E7C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762625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4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8225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APC </a:t>
                      </a: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통신속도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개선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ESMI_L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ESST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(W51) APC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↔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.PLC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간 신규 기능 적용을 위한 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POC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검증 및 기능개발 완료 하였으며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,ROL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공정을 대표로 개선 검증 완료하였습니다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 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[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배경 및 목적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 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- APC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특정 설비들의 수집 속도 저하 현상 확인되어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해당부분을 개선하기 위한 수집방식 최적화 및 신규기능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(Random Read)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개발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적용을 통해   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   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수집속도를 개선 및 법인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PLC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부하를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개선하고자함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[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진행 현황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 1)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신규 기능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(Random Read)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개발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검증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     - Concept : Block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형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Read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방식을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Random read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방식으로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수집할수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있도록 기능 개발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/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적용하여 통신횟수를 최적화하여 수집속도개선을 진행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                       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→ 수집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Data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수가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900ea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이하 이고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Address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가 많이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분리되있을때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사용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     -.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진행현황 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       : 1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차 기능에 대한 개발은 완료하였으며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, WA ROL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공정대상으로 개선 효과 및 사이드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Effect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점검 평가하였습니다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      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 → 평가 결과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Block Read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대비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80%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정도 개선 되었습니다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. (3S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 0.3ms)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            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기능 검증이 완료되어 </a:t>
                      </a:r>
                      <a:r>
                        <a:rPr lang="en-US" altLang="ko-KR" sz="900" b="0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Factova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변경반영을 위한 개발 작업을  완료하여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, Test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완료하였습니다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.. (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운영중인 </a:t>
                      </a:r>
                      <a:r>
                        <a:rPr lang="en-US" altLang="ko-KR" sz="900" b="0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Factova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Write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기능반영 운영버전 개발검증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           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→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address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갯수가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많고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Block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이 최적화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되있는경우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Block Read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불리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(WG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의 경우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Block 0.3s, Random 1.s)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                 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공정별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address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구성 점검하여 적용 대상 선정 중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(Data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GRP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3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개 이상 공정에서 유리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  <a:sym typeface="Wingdings" panose="05000000000000000000" pitchFamily="2" charset="2"/>
                        </a:rPr>
                        <a:t>  </a:t>
                      </a:r>
                      <a:endParaRPr lang="en-US" altLang="ko-KR" sz="900" b="0" i="0" u="none" strike="noStrike" baseline="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            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해당 기능 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11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월 패치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(12/02)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 시 반영하여 적용되었으며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, ROL/DRY/COT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공정에 대해 </a:t>
                      </a:r>
                      <a:r>
                        <a:rPr lang="ko-KR" altLang="en-US" sz="900" b="0" i="0" u="none" strike="noStrike" baseline="0" noProof="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순차적용예정입니다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  <a:endParaRPr lang="en-US" altLang="ko-KR" sz="900" b="0" i="0" u="none" strike="noStrike" baseline="0" noProof="0" dirty="0">
                        <a:solidFill>
                          <a:srgbClr val="1414FE"/>
                        </a:solidFill>
                        <a:effectLst/>
                        <a:latin typeface="+mn-lt"/>
                        <a:ea typeface="+mn-ea"/>
                        <a:cs typeface="Malgun Gothic Semilight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~’24.12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임국빈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D71E8FAF-10EE-6C97-EC55-77C9F600A6B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4308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■ APC PLC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데이터 수집 통신속도 개선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(</a:t>
            </a:r>
            <a:r>
              <a:rPr kumimoji="0" lang="en-US" altLang="ko-K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Factova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)</a:t>
            </a:r>
            <a:b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</a:b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17" name="제목 1">
            <a:extLst>
              <a:ext uri="{FF2B5EF4-FFF2-40B4-BE49-F238E27FC236}">
                <a16:creationId xmlns:a16="http://schemas.microsoft.com/office/drawing/2014/main" id="{816D7F46-781C-9AB0-FE9F-89DD8AC63E86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8" name="내용 개체 틀 20">
            <a:extLst>
              <a:ext uri="{FF2B5EF4-FFF2-40B4-BE49-F238E27FC236}">
                <a16:creationId xmlns:a16="http://schemas.microsoft.com/office/drawing/2014/main" id="{B87594A5-921A-2A80-F7CA-D43B54DF2DC7}"/>
              </a:ext>
            </a:extLst>
          </p:cNvPr>
          <p:cNvSpPr txBox="1">
            <a:spLocks/>
          </p:cNvSpPr>
          <p:nvPr/>
        </p:nvSpPr>
        <p:spPr>
          <a:xfrm>
            <a:off x="8731675" y="118406"/>
            <a:ext cx="95539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임국빈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911DBCA-50C5-E1CD-1584-09E3E8768DDF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12/17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(</a:t>
            </a:r>
            <a:r>
              <a:rPr lang="ko-KR" altLang="en-US" dirty="0"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9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pic>
        <p:nvPicPr>
          <p:cNvPr id="22" name="그림 21">
            <a:extLst>
              <a:ext uri="{FF2B5EF4-FFF2-40B4-BE49-F238E27FC236}">
                <a16:creationId xmlns:a16="http://schemas.microsoft.com/office/drawing/2014/main" id="{0F829438-3695-B20B-DB3D-7092C5B0C41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2544" y="3646013"/>
            <a:ext cx="3704000" cy="209356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12B4C18A-222C-2A89-B598-B870A4E6F65C}"/>
              </a:ext>
            </a:extLst>
          </p:cNvPr>
          <p:cNvSpPr txBox="1"/>
          <p:nvPr/>
        </p:nvSpPr>
        <p:spPr>
          <a:xfrm>
            <a:off x="1498599" y="5778179"/>
            <a:ext cx="19800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Block</a:t>
            </a:r>
            <a:r>
              <a:rPr lang="ko-KR" altLang="en-US" sz="800" b="1" dirty="0">
                <a:solidFill>
                  <a:srgbClr val="FF0000"/>
                </a:solidFill>
              </a:rPr>
              <a:t> 개수 만큼 </a:t>
            </a:r>
            <a:r>
              <a:rPr lang="en-US" altLang="ko-KR" sz="800" b="1" dirty="0">
                <a:solidFill>
                  <a:srgbClr val="FF0000"/>
                </a:solidFill>
              </a:rPr>
              <a:t>N</a:t>
            </a:r>
            <a:r>
              <a:rPr lang="ko-KR" altLang="en-US" sz="800" b="1" dirty="0" err="1">
                <a:solidFill>
                  <a:srgbClr val="FF0000"/>
                </a:solidFill>
              </a:rPr>
              <a:t>회통신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0738B9E-87C8-834B-A0C3-7948DE61D97E}"/>
              </a:ext>
            </a:extLst>
          </p:cNvPr>
          <p:cNvSpPr txBox="1"/>
          <p:nvPr/>
        </p:nvSpPr>
        <p:spPr>
          <a:xfrm>
            <a:off x="3279541" y="5860488"/>
            <a:ext cx="234092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b="1" dirty="0">
                <a:solidFill>
                  <a:srgbClr val="0070C0"/>
                </a:solidFill>
              </a:rPr>
              <a:t>수집대상 전체 </a:t>
            </a:r>
            <a:r>
              <a:rPr lang="en-US" altLang="ko-KR" sz="800" b="1" dirty="0">
                <a:solidFill>
                  <a:srgbClr val="0070C0"/>
                </a:solidFill>
              </a:rPr>
              <a:t>1</a:t>
            </a:r>
            <a:r>
              <a:rPr lang="ko-KR" altLang="en-US" sz="800" b="1" dirty="0">
                <a:solidFill>
                  <a:srgbClr val="0070C0"/>
                </a:solidFill>
              </a:rPr>
              <a:t>회 통신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AD52B37-BAC9-AD08-4ACE-5DAFACA2CC15}"/>
              </a:ext>
            </a:extLst>
          </p:cNvPr>
          <p:cNvSpPr txBox="1"/>
          <p:nvPr/>
        </p:nvSpPr>
        <p:spPr>
          <a:xfrm>
            <a:off x="5391572" y="4073135"/>
            <a:ext cx="25123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rgbClr val="0070C0"/>
                </a:solidFill>
              </a:rPr>
              <a:t>-. </a:t>
            </a:r>
            <a:r>
              <a:rPr lang="ko-KR" altLang="en-US" sz="800" dirty="0">
                <a:solidFill>
                  <a:srgbClr val="0070C0"/>
                </a:solidFill>
              </a:rPr>
              <a:t>통신 횟수 저감에 따른 수집 속도 개선</a:t>
            </a:r>
            <a:endParaRPr lang="en-US" altLang="ko-KR" sz="800" dirty="0">
              <a:solidFill>
                <a:srgbClr val="0070C0"/>
              </a:solidFill>
            </a:endParaRPr>
          </a:p>
          <a:p>
            <a:r>
              <a:rPr lang="en-US" altLang="ko-KR" sz="800" dirty="0">
                <a:solidFill>
                  <a:srgbClr val="0070C0"/>
                </a:solidFill>
              </a:rPr>
              <a:t>  : ROL </a:t>
            </a:r>
            <a:r>
              <a:rPr lang="ko-KR" altLang="en-US" sz="800" dirty="0">
                <a:solidFill>
                  <a:srgbClr val="0070C0"/>
                </a:solidFill>
              </a:rPr>
              <a:t>공정 기준 </a:t>
            </a:r>
            <a:r>
              <a:rPr lang="en-US" altLang="ko-KR" sz="800" dirty="0">
                <a:solidFill>
                  <a:srgbClr val="0070C0"/>
                </a:solidFill>
              </a:rPr>
              <a:t>10</a:t>
            </a:r>
            <a:r>
              <a:rPr lang="ko-KR" altLang="en-US" sz="800" dirty="0">
                <a:solidFill>
                  <a:srgbClr val="0070C0"/>
                </a:solidFill>
              </a:rPr>
              <a:t>배 개선 </a:t>
            </a:r>
            <a:r>
              <a:rPr lang="en-US" altLang="ko-KR" sz="800" dirty="0">
                <a:solidFill>
                  <a:srgbClr val="0070C0"/>
                </a:solidFill>
              </a:rPr>
              <a:t>(3s </a:t>
            </a:r>
            <a:r>
              <a:rPr lang="ko-KR" altLang="en-US" sz="800" dirty="0">
                <a:solidFill>
                  <a:srgbClr val="0070C0"/>
                </a:solidFill>
              </a:rPr>
              <a:t>→ </a:t>
            </a:r>
            <a:r>
              <a:rPr lang="en-US" altLang="ko-KR" sz="800" dirty="0">
                <a:solidFill>
                  <a:srgbClr val="0070C0"/>
                </a:solidFill>
              </a:rPr>
              <a:t>0.3s)</a:t>
            </a:r>
            <a:endParaRPr lang="ko-KR" altLang="en-US" sz="800" dirty="0">
              <a:solidFill>
                <a:srgbClr val="0070C0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984C337-FDAF-F358-BACA-3F0A71AC1CC0}"/>
              </a:ext>
            </a:extLst>
          </p:cNvPr>
          <p:cNvSpPr txBox="1"/>
          <p:nvPr/>
        </p:nvSpPr>
        <p:spPr>
          <a:xfrm>
            <a:off x="5385065" y="4419575"/>
            <a:ext cx="48060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rgbClr val="0070C0"/>
                </a:solidFill>
              </a:rPr>
              <a:t>-. Data</a:t>
            </a:r>
            <a:r>
              <a:rPr lang="ko-KR" altLang="en-US" sz="800" dirty="0">
                <a:solidFill>
                  <a:srgbClr val="0070C0"/>
                </a:solidFill>
              </a:rPr>
              <a:t> 수집속도 개선을 위한 별도 </a:t>
            </a:r>
            <a:r>
              <a:rPr lang="en-US" altLang="ko-KR" sz="800" dirty="0">
                <a:solidFill>
                  <a:srgbClr val="0070C0"/>
                </a:solidFill>
              </a:rPr>
              <a:t>PLC </a:t>
            </a:r>
            <a:r>
              <a:rPr lang="ko-KR" altLang="en-US" sz="800" dirty="0">
                <a:solidFill>
                  <a:srgbClr val="0070C0"/>
                </a:solidFill>
              </a:rPr>
              <a:t>작업 불필요</a:t>
            </a:r>
            <a:endParaRPr lang="en-US" altLang="ko-KR" sz="800" dirty="0">
              <a:solidFill>
                <a:srgbClr val="0070C0"/>
              </a:solidFill>
            </a:endParaRPr>
          </a:p>
          <a:p>
            <a:r>
              <a:rPr lang="en-US" altLang="ko-KR" sz="800" dirty="0">
                <a:solidFill>
                  <a:srgbClr val="0070C0"/>
                </a:solidFill>
              </a:rPr>
              <a:t>  : Block Read </a:t>
            </a:r>
            <a:r>
              <a:rPr lang="ko-KR" altLang="en-US" sz="800" dirty="0">
                <a:solidFill>
                  <a:srgbClr val="0070C0"/>
                </a:solidFill>
              </a:rPr>
              <a:t>속도 향상을 위한 </a:t>
            </a:r>
            <a:r>
              <a:rPr lang="en-US" altLang="ko-KR" sz="800" dirty="0">
                <a:solidFill>
                  <a:srgbClr val="0070C0"/>
                </a:solidFill>
              </a:rPr>
              <a:t>PLC Adress </a:t>
            </a:r>
            <a:r>
              <a:rPr lang="ko-KR" altLang="en-US" sz="800" dirty="0" err="1">
                <a:solidFill>
                  <a:srgbClr val="0070C0"/>
                </a:solidFill>
              </a:rPr>
              <a:t>작업진행하여</a:t>
            </a:r>
            <a:r>
              <a:rPr lang="ko-KR" altLang="en-US" sz="800" dirty="0">
                <a:solidFill>
                  <a:srgbClr val="0070C0"/>
                </a:solidFill>
              </a:rPr>
              <a:t> 개선 진행 하였음</a:t>
            </a:r>
            <a:r>
              <a:rPr lang="en-US" altLang="ko-KR" sz="800" dirty="0">
                <a:solidFill>
                  <a:srgbClr val="0070C0"/>
                </a:solidFill>
              </a:rPr>
              <a:t>.</a:t>
            </a:r>
          </a:p>
          <a:p>
            <a:r>
              <a:rPr lang="ko-KR" altLang="en-US" sz="800" dirty="0">
                <a:solidFill>
                  <a:srgbClr val="0070C0"/>
                </a:solidFill>
              </a:rPr>
              <a:t>    → 수집 필요항목을 연속된 </a:t>
            </a:r>
            <a:r>
              <a:rPr lang="en-US" altLang="ko-KR" sz="800" dirty="0">
                <a:solidFill>
                  <a:srgbClr val="0070C0"/>
                </a:solidFill>
              </a:rPr>
              <a:t>Address</a:t>
            </a:r>
            <a:r>
              <a:rPr lang="ko-KR" altLang="en-US" sz="800" dirty="0">
                <a:solidFill>
                  <a:srgbClr val="0070C0"/>
                </a:solidFill>
              </a:rPr>
              <a:t>로 신규 생성하여 연계 진행</a:t>
            </a:r>
            <a:endParaRPr lang="en-US" altLang="ko-KR" sz="800" dirty="0">
              <a:solidFill>
                <a:srgbClr val="0070C0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9FA7C5E-4A40-D079-48CC-1C813020A27D}"/>
              </a:ext>
            </a:extLst>
          </p:cNvPr>
          <p:cNvSpPr txBox="1"/>
          <p:nvPr/>
        </p:nvSpPr>
        <p:spPr>
          <a:xfrm>
            <a:off x="5385065" y="4851426"/>
            <a:ext cx="480607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rgbClr val="0070C0"/>
                </a:solidFill>
              </a:rPr>
              <a:t>-. </a:t>
            </a:r>
            <a:r>
              <a:rPr lang="ko-KR" altLang="en-US" sz="800" dirty="0">
                <a:solidFill>
                  <a:srgbClr val="0070C0"/>
                </a:solidFill>
              </a:rPr>
              <a:t>불필요 </a:t>
            </a:r>
            <a:r>
              <a:rPr lang="en-US" altLang="ko-KR" sz="800" dirty="0">
                <a:solidFill>
                  <a:srgbClr val="0070C0"/>
                </a:solidFill>
              </a:rPr>
              <a:t>Data Read</a:t>
            </a:r>
            <a:r>
              <a:rPr lang="ko-KR" altLang="en-US" sz="800" dirty="0">
                <a:solidFill>
                  <a:srgbClr val="0070C0"/>
                </a:solidFill>
              </a:rPr>
              <a:t> 미진행에 따른 통신 효율 증가</a:t>
            </a:r>
            <a:endParaRPr lang="en-US" altLang="ko-KR" sz="800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754433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1AB3C-95CD-72F9-7C91-013A12A25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C1D4E67-FD33-E58D-F3E0-D3E678E50A26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5B676F35-CA9D-E439-93B0-A0812E8D8D04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744700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4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30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APC SPEC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연계</a:t>
                      </a: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(RMS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연계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금주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(W50)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특이사항 없습니다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baseline="0" noProof="0" dirty="0">
                        <a:solidFill>
                          <a:srgbClr val="0000FF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lang="ko-KR" altLang="en-US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배경 및 목적</a:t>
                      </a:r>
                      <a:r>
                        <a:rPr lang="en-US" altLang="ko-KR" sz="1000" b="1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rgbClr val="0000FF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- R</a:t>
                      </a:r>
                      <a:r>
                        <a:rPr lang="en-US" altLang="ko-KR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MS</a:t>
                      </a:r>
                      <a:r>
                        <a:rPr lang="ko-KR" altLang="en-US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의 레시피 별 </a:t>
                      </a:r>
                      <a:r>
                        <a:rPr lang="en-US" altLang="ko-KR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SPEC</a:t>
                      </a:r>
                      <a:r>
                        <a:rPr lang="ko-KR" altLang="en-US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을 </a:t>
                      </a:r>
                      <a:r>
                        <a:rPr lang="en-US" altLang="ko-KR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APC</a:t>
                      </a:r>
                      <a:r>
                        <a:rPr lang="ko-KR" altLang="en-US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에 연동하여</a:t>
                      </a:r>
                      <a:r>
                        <a:rPr lang="en-US" altLang="ko-KR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모델 변경 시 수동 작업을 제거하고 데이터 정합성을 확보함으로써 제어 자동화 수준을 </a:t>
                      </a:r>
                      <a:r>
                        <a:rPr lang="ko-KR" altLang="en-US" sz="1000" dirty="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고도화함</a:t>
                      </a:r>
                      <a:r>
                        <a:rPr lang="en-US" altLang="ko-KR" sz="100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lang="ko-KR" altLang="en-US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주요 변경사항</a:t>
                      </a:r>
                      <a:r>
                        <a:rPr lang="en-US" altLang="ko-KR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1. PLC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로부터 모델 버전 데이터 수집을 위한 기준정보 구축 및 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팩토바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모델링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/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재기동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2. APC UI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내 파라미터 관리 기능 개발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(RMS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매핑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APC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자체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SPEC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등록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3. “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모델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제품 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상위범주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단위의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APC SPEC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을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‘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레시피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’(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제품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+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제품버전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단위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SPEC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파일로 배포하는 로직 개발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4. APC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알고리즘 수정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(SPEC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파일 참조 및 결과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CSV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양식 변경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5. FACTOVA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제어 소스 수정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변경된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CSV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양식 대응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lang="ko-KR" altLang="en-US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프로젝트 단계</a:t>
                      </a:r>
                      <a:r>
                        <a:rPr lang="en-US" altLang="ko-KR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 	[</a:t>
                      </a:r>
                      <a:r>
                        <a:rPr lang="ko-KR" altLang="en-US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상세</a:t>
                      </a:r>
                      <a:r>
                        <a:rPr lang="en-US" altLang="ko-KR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			</a:t>
                      </a:r>
                      <a:r>
                        <a:rPr lang="ko-KR" altLang="en-US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	</a:t>
                      </a:r>
                      <a:r>
                        <a:rPr lang="en-US" altLang="ko-KR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lang="ko-KR" altLang="en-US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일정</a:t>
                      </a:r>
                      <a:r>
                        <a:rPr lang="en-US" altLang="ko-KR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1.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분석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/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설계	요구사항 확정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시스템 아키텍처 및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DB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설계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Result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파일 양식 확정	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9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주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2.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개발	시스템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(UI/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서버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알고리즘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FACTOVA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소스 동시 개발	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	9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주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3.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선행 작업	모델 버전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레시피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ID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데이터 수집 기반 마련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신규 추가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		10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3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주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완료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4.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통합 테스트	개발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/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테스트 서버에서 시스템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-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알고리즘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-FACTOVA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연동 기능 검증	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11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2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주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~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5.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대표 공정	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개 대표 공정에 빅뱅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(Big Bang)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방식으로 배포 및 안정화	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12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4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주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~</a:t>
                      </a:r>
                      <a:endParaRPr lang="ko-KR" altLang="en-US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 6.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잔여 공정	안정성 검증 후 전 공정 순차적 확대 적용	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	’26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년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1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월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~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[</a:t>
                      </a:r>
                      <a:r>
                        <a:rPr lang="ko-KR" altLang="en-US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진행 사항</a:t>
                      </a:r>
                      <a:r>
                        <a:rPr lang="en-US" altLang="ko-KR" sz="1000" b="1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- APC SPEC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연계 개발 전 사용자 회의를 통해 요건 협의 완료하였습니다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.(8/4, w/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자동보정팀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- </a:t>
                      </a:r>
                      <a:r>
                        <a:rPr lang="ko-KR" altLang="en-US" sz="10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팩토바가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아닌 알고리즘에서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OK/NG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판정 후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RESULT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파일 제공하기로 하였습니다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.(8/25, w/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자동보정팀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-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레시피 단위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SPEC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파일 배포를 위한 레시피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ID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생성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Rule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정의 간 예외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Case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보완하여 선행 작업 진행 중입니다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.(10/20~)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- SPEC.ini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파일에 있어 섹션 구분 및 문법 수정하였으며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수정된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COT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알고리즘을 통해 개발서버 내 통합 테스트 진행 중입니다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.(11/24~)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- EQP Config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를 통해 알고리즘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Spec check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사용여부 지정하여 테스트 중이며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추후 전체 공정 알고리즘 확산 예정입니다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.</a:t>
                      </a:r>
                      <a:b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</a:b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   -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알고리즘에서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Result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파일 생성 시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, Spec Check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하였던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시점의 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Spec(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LSL/TARGET/USL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)</a:t>
                      </a:r>
                      <a:r>
                        <a:rPr lang="ko-KR" altLang="en-US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이 기입하여</a:t>
                      </a:r>
                      <a:r>
                        <a:rPr lang="en-US" altLang="ko-KR" sz="10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Malgun Gothic Semilight"/>
                        </a:rPr>
                        <a:t>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Spec Check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이력관리 예정입니다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lang="en-US" altLang="ko-KR" sz="10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Malgun Gothic Semilight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ctr" defTabSz="914400" rtl="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~’26.2</a:t>
                      </a:r>
                    </a:p>
                  </a:txBody>
                  <a:tcPr marL="0" marR="0" marT="72000" marB="0">
                    <a:lnL w="1270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lvl="0" algn="ctr">
                        <a:lnSpc>
                          <a:spcPct val="95000"/>
                        </a:lnSpc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안재준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정지훈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E369FD9-DEEC-7ACA-85B7-1DC2668394E0}"/>
              </a:ext>
            </a:extLst>
          </p:cNvPr>
          <p:cNvGraphicFramePr>
            <a:graphicFrameLocks noGrp="1"/>
          </p:cNvGraphicFramePr>
          <p:nvPr/>
        </p:nvGraphicFramePr>
        <p:xfrm>
          <a:off x="1389626" y="1434992"/>
          <a:ext cx="7145795" cy="1482282"/>
        </p:xfrm>
        <a:graphic>
          <a:graphicData uri="http://schemas.openxmlformats.org/drawingml/2006/table">
            <a:tbl>
              <a:tblPr/>
              <a:tblGrid>
                <a:gridCol w="599573">
                  <a:extLst>
                    <a:ext uri="{9D8B030D-6E8A-4147-A177-3AD203B41FA5}">
                      <a16:colId xmlns:a16="http://schemas.microsoft.com/office/drawing/2014/main" val="1710325250"/>
                    </a:ext>
                  </a:extLst>
                </a:gridCol>
                <a:gridCol w="1091037">
                  <a:extLst>
                    <a:ext uri="{9D8B030D-6E8A-4147-A177-3AD203B41FA5}">
                      <a16:colId xmlns:a16="http://schemas.microsoft.com/office/drawing/2014/main" val="3255701837"/>
                    </a:ext>
                  </a:extLst>
                </a:gridCol>
                <a:gridCol w="1091037">
                  <a:extLst>
                    <a:ext uri="{9D8B030D-6E8A-4147-A177-3AD203B41FA5}">
                      <a16:colId xmlns:a16="http://schemas.microsoft.com/office/drawing/2014/main" val="2582822843"/>
                    </a:ext>
                  </a:extLst>
                </a:gridCol>
                <a:gridCol w="1091037">
                  <a:extLst>
                    <a:ext uri="{9D8B030D-6E8A-4147-A177-3AD203B41FA5}">
                      <a16:colId xmlns:a16="http://schemas.microsoft.com/office/drawing/2014/main" val="3574503571"/>
                    </a:ext>
                  </a:extLst>
                </a:gridCol>
                <a:gridCol w="1091037">
                  <a:extLst>
                    <a:ext uri="{9D8B030D-6E8A-4147-A177-3AD203B41FA5}">
                      <a16:colId xmlns:a16="http://schemas.microsoft.com/office/drawing/2014/main" val="906262013"/>
                    </a:ext>
                  </a:extLst>
                </a:gridCol>
                <a:gridCol w="1091037">
                  <a:extLst>
                    <a:ext uri="{9D8B030D-6E8A-4147-A177-3AD203B41FA5}">
                      <a16:colId xmlns:a16="http://schemas.microsoft.com/office/drawing/2014/main" val="3618680307"/>
                    </a:ext>
                  </a:extLst>
                </a:gridCol>
                <a:gridCol w="1091037">
                  <a:extLst>
                    <a:ext uri="{9D8B030D-6E8A-4147-A177-3AD203B41FA5}">
                      <a16:colId xmlns:a16="http://schemas.microsoft.com/office/drawing/2014/main" val="856063612"/>
                    </a:ext>
                  </a:extLst>
                </a:gridCol>
              </a:tblGrid>
              <a:tr h="129277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  분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 grid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'25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'26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257681"/>
                  </a:ext>
                </a:extLst>
              </a:tr>
              <a:tr h="12927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850938"/>
                  </a:ext>
                </a:extLst>
              </a:tr>
              <a:tr h="57772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자동보정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3549617"/>
                  </a:ext>
                </a:extLst>
              </a:tr>
              <a:tr h="63024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공정제어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DX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2413171"/>
                  </a:ext>
                </a:extLst>
              </a:tr>
            </a:tbl>
          </a:graphicData>
        </a:graphic>
      </p:graphicFrame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9BFDF2A4-2468-6442-C56C-518C3DA9AA93}"/>
              </a:ext>
            </a:extLst>
          </p:cNvPr>
          <p:cNvCxnSpPr>
            <a:cxnSpLocks/>
          </p:cNvCxnSpPr>
          <p:nvPr/>
        </p:nvCxnSpPr>
        <p:spPr>
          <a:xfrm>
            <a:off x="1995488" y="2033144"/>
            <a:ext cx="6539933" cy="0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>
                <a:lumMod val="50000"/>
              </a:sysClr>
            </a:solidFill>
            <a:prstDash val="solid"/>
            <a:headEnd type="none" w="med" len="med"/>
            <a:tailEnd type="triangle"/>
          </a:ln>
          <a:effectLst/>
        </p:spPr>
      </p:cxnSp>
      <p:sp>
        <p:nvSpPr>
          <p:cNvPr id="6" name="타원 5">
            <a:extLst>
              <a:ext uri="{FF2B5EF4-FFF2-40B4-BE49-F238E27FC236}">
                <a16:creationId xmlns:a16="http://schemas.microsoft.com/office/drawing/2014/main" id="{A3DD11CC-552B-7B52-B69B-50603FEEBE9D}"/>
              </a:ext>
            </a:extLst>
          </p:cNvPr>
          <p:cNvSpPr/>
          <p:nvPr/>
        </p:nvSpPr>
        <p:spPr>
          <a:xfrm>
            <a:off x="6043181" y="1959276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24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1D54E0F-50D0-CC9B-9685-D7B7E35C1CCD}"/>
              </a:ext>
            </a:extLst>
          </p:cNvPr>
          <p:cNvSpPr txBox="1"/>
          <p:nvPr/>
        </p:nvSpPr>
        <p:spPr>
          <a:xfrm>
            <a:off x="5685414" y="2053865"/>
            <a:ext cx="8595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SPEC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연계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&amp;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입력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알고리즘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적용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E8A0771-0D25-5E3B-6699-73308E48E129}"/>
              </a:ext>
            </a:extLst>
          </p:cNvPr>
          <p:cNvSpPr/>
          <p:nvPr/>
        </p:nvSpPr>
        <p:spPr>
          <a:xfrm>
            <a:off x="4631035" y="1959276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kern="0" dirty="0">
                <a:solidFill>
                  <a:prstClr val="black"/>
                </a:solidFill>
              </a:rPr>
              <a:t>14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9" name="왼쪽 중괄호 8">
            <a:extLst>
              <a:ext uri="{FF2B5EF4-FFF2-40B4-BE49-F238E27FC236}">
                <a16:creationId xmlns:a16="http://schemas.microsoft.com/office/drawing/2014/main" id="{278BFFA1-F84A-FD4D-374F-20286F2B6271}"/>
              </a:ext>
            </a:extLst>
          </p:cNvPr>
          <p:cNvSpPr/>
          <p:nvPr/>
        </p:nvSpPr>
        <p:spPr>
          <a:xfrm rot="5400000">
            <a:off x="4669322" y="511965"/>
            <a:ext cx="109346" cy="2785275"/>
          </a:xfrm>
          <a:prstGeom prst="leftBrace">
            <a:avLst>
              <a:gd name="adj1" fmla="val 8333"/>
              <a:gd name="adj2" fmla="val 51581"/>
            </a:avLst>
          </a:prstGeom>
          <a:noFill/>
          <a:ln w="9525" cap="flat" cmpd="sng" algn="ctr">
            <a:solidFill>
              <a:srgbClr val="0066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70A4BF4-8E4A-E596-75FE-35E55F1FB01F}"/>
              </a:ext>
            </a:extLst>
          </p:cNvPr>
          <p:cNvSpPr txBox="1"/>
          <p:nvPr/>
        </p:nvSpPr>
        <p:spPr>
          <a:xfrm>
            <a:off x="4065857" y="1736123"/>
            <a:ext cx="124643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</a:rPr>
              <a:t>대표 공정</a:t>
            </a:r>
            <a:r>
              <a:rPr kumimoji="0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</a:rPr>
              <a:t>(COT/NND)</a:t>
            </a: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</a:rPr>
              <a:t> 대응</a:t>
            </a:r>
            <a:endParaRPr kumimoji="0" lang="en-US" altLang="ko-KR" sz="800" b="1" i="0" u="none" strike="noStrike" kern="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B444B9E-3A4F-EB69-B2CE-035DF37CF4EE}"/>
              </a:ext>
            </a:extLst>
          </p:cNvPr>
          <p:cNvSpPr txBox="1"/>
          <p:nvPr/>
        </p:nvSpPr>
        <p:spPr>
          <a:xfrm>
            <a:off x="6537855" y="1736123"/>
            <a:ext cx="1246439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</a:rPr>
              <a:t>잔여 공정 대응</a:t>
            </a:r>
            <a:endParaRPr kumimoji="0" lang="en-US" altLang="ko-KR" sz="800" b="1" i="0" u="none" strike="noStrike" kern="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9542447D-F362-F16E-E949-ACCAA40D9C85}"/>
              </a:ext>
            </a:extLst>
          </p:cNvPr>
          <p:cNvCxnSpPr>
            <a:cxnSpLocks/>
          </p:cNvCxnSpPr>
          <p:nvPr/>
        </p:nvCxnSpPr>
        <p:spPr>
          <a:xfrm>
            <a:off x="1995488" y="2613228"/>
            <a:ext cx="6539933" cy="0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>
                <a:lumMod val="50000"/>
              </a:sysClr>
            </a:solidFill>
            <a:prstDash val="solid"/>
            <a:headEnd type="none" w="med" len="med"/>
            <a:tailEnd type="triangle"/>
          </a:ln>
          <a:effectLst/>
        </p:spPr>
      </p:cxnSp>
      <p:sp>
        <p:nvSpPr>
          <p:cNvPr id="14" name="타원 13">
            <a:extLst>
              <a:ext uri="{FF2B5EF4-FFF2-40B4-BE49-F238E27FC236}">
                <a16:creationId xmlns:a16="http://schemas.microsoft.com/office/drawing/2014/main" id="{9E3FDB8E-4486-79E1-96E0-7477DF006085}"/>
              </a:ext>
            </a:extLst>
          </p:cNvPr>
          <p:cNvSpPr/>
          <p:nvPr/>
        </p:nvSpPr>
        <p:spPr>
          <a:xfrm>
            <a:off x="2021903" y="2539360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5FE0193-C618-3EDB-23D5-A04EBBED5E3A}"/>
              </a:ext>
            </a:extLst>
          </p:cNvPr>
          <p:cNvSpPr/>
          <p:nvPr/>
        </p:nvSpPr>
        <p:spPr>
          <a:xfrm>
            <a:off x="7288052" y="2539360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28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FC855155-CCBC-255A-DE1F-381DED8FFEC1}"/>
              </a:ext>
            </a:extLst>
          </p:cNvPr>
          <p:cNvSpPr/>
          <p:nvPr/>
        </p:nvSpPr>
        <p:spPr>
          <a:xfrm>
            <a:off x="6042042" y="2539360"/>
            <a:ext cx="144000" cy="144000"/>
          </a:xfrm>
          <a:prstGeom prst="ellipse">
            <a:avLst/>
          </a:prstGeom>
          <a:solidFill>
            <a:srgbClr val="FFFF00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24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E3CA9E2-A038-6D3D-1C2D-E9594B6E2281}"/>
              </a:ext>
            </a:extLst>
          </p:cNvPr>
          <p:cNvSpPr txBox="1"/>
          <p:nvPr/>
        </p:nvSpPr>
        <p:spPr>
          <a:xfrm>
            <a:off x="5693289" y="2645390"/>
            <a:ext cx="83548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시스템 패치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대표 공정 적용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)</a:t>
            </a:r>
            <a:endParaRPr kumimoji="1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8787964-6DC0-C664-5551-DA2AE742DA50}"/>
              </a:ext>
            </a:extLst>
          </p:cNvPr>
          <p:cNvSpPr/>
          <p:nvPr/>
        </p:nvSpPr>
        <p:spPr>
          <a:xfrm>
            <a:off x="7292166" y="1959276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28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5755D02-03D2-7188-D81A-6DA27AAE32D3}"/>
              </a:ext>
            </a:extLst>
          </p:cNvPr>
          <p:cNvSpPr txBox="1"/>
          <p:nvPr/>
        </p:nvSpPr>
        <p:spPr>
          <a:xfrm>
            <a:off x="4264511" y="2053865"/>
            <a:ext cx="87704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수정된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알고리즘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제공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818DCF93-3955-4A64-AC52-B6EE10D54CF7}"/>
              </a:ext>
            </a:extLst>
          </p:cNvPr>
          <p:cNvSpPr/>
          <p:nvPr/>
        </p:nvSpPr>
        <p:spPr>
          <a:xfrm>
            <a:off x="3260642" y="1959276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D06FE9E-6DF7-0D09-81A4-88BC1FAE8DBE}"/>
              </a:ext>
            </a:extLst>
          </p:cNvPr>
          <p:cNvSpPr txBox="1"/>
          <p:nvPr/>
        </p:nvSpPr>
        <p:spPr>
          <a:xfrm>
            <a:off x="1807531" y="2645390"/>
            <a:ext cx="5741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분석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/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설계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4BA4BD6-C321-7999-658C-D07C74D43F66}"/>
              </a:ext>
            </a:extLst>
          </p:cNvPr>
          <p:cNvSpPr/>
          <p:nvPr/>
        </p:nvSpPr>
        <p:spPr>
          <a:xfrm>
            <a:off x="2473948" y="2539360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15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017808B-4094-FCDA-7FBF-359BB1F2ED51}"/>
              </a:ext>
            </a:extLst>
          </p:cNvPr>
          <p:cNvSpPr txBox="1"/>
          <p:nvPr/>
        </p:nvSpPr>
        <p:spPr>
          <a:xfrm>
            <a:off x="2362970" y="2645390"/>
            <a:ext cx="36740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개발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8C20602D-7EAE-DD24-03BF-2B66AEB4DC00}"/>
              </a:ext>
            </a:extLst>
          </p:cNvPr>
          <p:cNvSpPr/>
          <p:nvPr/>
        </p:nvSpPr>
        <p:spPr>
          <a:xfrm>
            <a:off x="3552558" y="2539360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15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F7F35F1-0985-F519-631F-F718A3A17593}"/>
              </a:ext>
            </a:extLst>
          </p:cNvPr>
          <p:cNvSpPr txBox="1"/>
          <p:nvPr/>
        </p:nvSpPr>
        <p:spPr>
          <a:xfrm>
            <a:off x="3322957" y="2645390"/>
            <a:ext cx="6046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선행 작업</a:t>
            </a:r>
            <a:b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대표공정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)</a:t>
            </a:r>
            <a:endParaRPr kumimoji="1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AE376BD2-6F3B-C00B-287B-E3818771FB60}"/>
              </a:ext>
            </a:extLst>
          </p:cNvPr>
          <p:cNvSpPr/>
          <p:nvPr/>
        </p:nvSpPr>
        <p:spPr>
          <a:xfrm>
            <a:off x="4631035" y="2539360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kern="0" dirty="0">
                <a:solidFill>
                  <a:prstClr val="black"/>
                </a:solidFill>
              </a:rPr>
              <a:t>14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A10DE04-27FA-694F-A801-479E02A50699}"/>
              </a:ext>
            </a:extLst>
          </p:cNvPr>
          <p:cNvSpPr txBox="1"/>
          <p:nvPr/>
        </p:nvSpPr>
        <p:spPr>
          <a:xfrm>
            <a:off x="4370976" y="2645390"/>
            <a:ext cx="66556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통합 테스트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대표공정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)</a:t>
            </a:r>
            <a:endParaRPr kumimoji="1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235F010-3703-8B83-637D-34F9FE92DCC8}"/>
              </a:ext>
            </a:extLst>
          </p:cNvPr>
          <p:cNvSpPr txBox="1"/>
          <p:nvPr/>
        </p:nvSpPr>
        <p:spPr>
          <a:xfrm>
            <a:off x="7073619" y="2645390"/>
            <a:ext cx="5741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전극 공정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적용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D2B160A-0C6A-D23B-059C-CAB49B16F770}"/>
              </a:ext>
            </a:extLst>
          </p:cNvPr>
          <p:cNvSpPr txBox="1"/>
          <p:nvPr/>
        </p:nvSpPr>
        <p:spPr>
          <a:xfrm>
            <a:off x="2898177" y="2053865"/>
            <a:ext cx="87704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알고리즘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수정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454EC105-3518-51FE-9196-2707E21A9CAA}"/>
              </a:ext>
            </a:extLst>
          </p:cNvPr>
          <p:cNvSpPr/>
          <p:nvPr/>
        </p:nvSpPr>
        <p:spPr>
          <a:xfrm>
            <a:off x="6594477" y="1959276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DA71B62-0839-AB1D-879E-E91288C7D1E9}"/>
              </a:ext>
            </a:extLst>
          </p:cNvPr>
          <p:cNvSpPr txBox="1"/>
          <p:nvPr/>
        </p:nvSpPr>
        <p:spPr>
          <a:xfrm>
            <a:off x="6232012" y="2053865"/>
            <a:ext cx="87704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알고리즘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수정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653641F-C8A7-06B4-96AF-FB9052ED2176}"/>
              </a:ext>
            </a:extLst>
          </p:cNvPr>
          <p:cNvSpPr txBox="1"/>
          <p:nvPr/>
        </p:nvSpPr>
        <p:spPr>
          <a:xfrm>
            <a:off x="6931114" y="2053865"/>
            <a:ext cx="87704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알고리즘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적용</a:t>
            </a:r>
            <a:b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전극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)</a:t>
            </a: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A8589D4E-6798-E2CF-0CA3-BBA1F27ACA96}"/>
              </a:ext>
            </a:extLst>
          </p:cNvPr>
          <p:cNvSpPr/>
          <p:nvPr/>
        </p:nvSpPr>
        <p:spPr>
          <a:xfrm>
            <a:off x="8203934" y="2539360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28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CCF9AF06-92C5-E8C7-1FD5-D3397FC42D34}"/>
              </a:ext>
            </a:extLst>
          </p:cNvPr>
          <p:cNvSpPr/>
          <p:nvPr/>
        </p:nvSpPr>
        <p:spPr>
          <a:xfrm>
            <a:off x="8208048" y="1959276"/>
            <a:ext cx="144000" cy="144000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Text" lastClr="000000"/>
            </a:solidFill>
          </a:ln>
        </p:spPr>
        <p:txBody>
          <a:bodyPr wrap="none" rtlCol="0" anchor="ctr">
            <a:noAutofit/>
          </a:bodyPr>
          <a:lstStyle/>
          <a:p>
            <a:pPr marL="0" marR="0" lvl="0" indent="0" algn="ctr" defTabSz="914362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28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1FF9CBB-5497-993D-1732-78AD8C24BC20}"/>
              </a:ext>
            </a:extLst>
          </p:cNvPr>
          <p:cNvSpPr txBox="1"/>
          <p:nvPr/>
        </p:nvSpPr>
        <p:spPr>
          <a:xfrm>
            <a:off x="7989501" y="2645390"/>
            <a:ext cx="5741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조립 공정</a:t>
            </a:r>
            <a:endParaRPr kumimoji="1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적용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BE1B866-BF9F-6847-EAAE-904E504F775B}"/>
              </a:ext>
            </a:extLst>
          </p:cNvPr>
          <p:cNvSpPr txBox="1"/>
          <p:nvPr/>
        </p:nvSpPr>
        <p:spPr>
          <a:xfrm>
            <a:off x="7846996" y="2053865"/>
            <a:ext cx="87704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알고리즘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적용</a:t>
            </a:r>
            <a:b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조립</a:t>
            </a:r>
            <a:r>
              <a:rPr kumimoji="1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)</a:t>
            </a:r>
          </a:p>
        </p:txBody>
      </p:sp>
      <p:sp>
        <p:nvSpPr>
          <p:cNvPr id="37" name="왼쪽 중괄호 36">
            <a:extLst>
              <a:ext uri="{FF2B5EF4-FFF2-40B4-BE49-F238E27FC236}">
                <a16:creationId xmlns:a16="http://schemas.microsoft.com/office/drawing/2014/main" id="{515A6494-8114-FD70-769A-ED88BBE249E1}"/>
              </a:ext>
            </a:extLst>
          </p:cNvPr>
          <p:cNvSpPr/>
          <p:nvPr/>
        </p:nvSpPr>
        <p:spPr>
          <a:xfrm rot="5400000">
            <a:off x="7145034" y="824704"/>
            <a:ext cx="109346" cy="2159798"/>
          </a:xfrm>
          <a:prstGeom prst="leftBrace">
            <a:avLst>
              <a:gd name="adj1" fmla="val 8333"/>
              <a:gd name="adj2" fmla="val 51581"/>
            </a:avLst>
          </a:prstGeom>
          <a:noFill/>
          <a:ln w="9525" cap="flat" cmpd="sng" algn="ctr">
            <a:solidFill>
              <a:srgbClr val="0066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</a:endParaRPr>
          </a:p>
        </p:txBody>
      </p:sp>
      <p:grpSp>
        <p:nvGrpSpPr>
          <p:cNvPr id="38" name="그룹 1">
            <a:extLst>
              <a:ext uri="{FF2B5EF4-FFF2-40B4-BE49-F238E27FC236}">
                <a16:creationId xmlns:a16="http://schemas.microsoft.com/office/drawing/2014/main" id="{7DDD278F-77A8-AAE1-EF0C-E2663F300547}"/>
              </a:ext>
            </a:extLst>
          </p:cNvPr>
          <p:cNvGrpSpPr/>
          <p:nvPr/>
        </p:nvGrpSpPr>
        <p:grpSpPr>
          <a:xfrm>
            <a:off x="5349464" y="1478822"/>
            <a:ext cx="205184" cy="1438452"/>
            <a:chOff x="2020628" y="1123354"/>
            <a:chExt cx="205184" cy="3824969"/>
          </a:xfrm>
        </p:grpSpPr>
        <p:grpSp>
          <p:nvGrpSpPr>
            <p:cNvPr id="39" name="그룹 2">
              <a:extLst>
                <a:ext uri="{FF2B5EF4-FFF2-40B4-BE49-F238E27FC236}">
                  <a16:creationId xmlns:a16="http://schemas.microsoft.com/office/drawing/2014/main" id="{74DD426D-4012-4443-1853-1E1A86EE86F9}"/>
                </a:ext>
              </a:extLst>
            </p:cNvPr>
            <p:cNvGrpSpPr/>
            <p:nvPr/>
          </p:nvGrpSpPr>
          <p:grpSpPr>
            <a:xfrm>
              <a:off x="2072680" y="1578060"/>
              <a:ext cx="120667" cy="3370263"/>
              <a:chOff x="4167960" y="2510051"/>
              <a:chExt cx="120667" cy="3493772"/>
            </a:xfrm>
          </p:grpSpPr>
          <p:cxnSp>
            <p:nvCxnSpPr>
              <p:cNvPr id="41" name="직선 연결선 167">
                <a:extLst>
                  <a:ext uri="{FF2B5EF4-FFF2-40B4-BE49-F238E27FC236}">
                    <a16:creationId xmlns:a16="http://schemas.microsoft.com/office/drawing/2014/main" id="{319936D8-491A-01F7-73A7-BD0901AF7F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28294" y="2685929"/>
                <a:ext cx="0" cy="3317894"/>
              </a:xfrm>
              <a:prstGeom prst="line">
                <a:avLst/>
              </a:prstGeom>
              <a:noFill/>
              <a:ln w="19050" cap="flat" cmpd="sng" algn="ctr">
                <a:solidFill>
                  <a:srgbClr val="FF0000"/>
                </a:solidFill>
                <a:prstDash val="sysDot"/>
              </a:ln>
              <a:effectLst/>
            </p:spPr>
          </p:cxnSp>
          <p:sp>
            <p:nvSpPr>
              <p:cNvPr id="42" name="이등변 삼각형 7">
                <a:extLst>
                  <a:ext uri="{FF2B5EF4-FFF2-40B4-BE49-F238E27FC236}">
                    <a16:creationId xmlns:a16="http://schemas.microsoft.com/office/drawing/2014/main" id="{04E12ADB-AE26-9DC2-9BE6-78440032F3B2}"/>
                  </a:ext>
                </a:extLst>
              </p:cNvPr>
              <p:cNvSpPr/>
              <p:nvPr/>
            </p:nvSpPr>
            <p:spPr>
              <a:xfrm flipV="1">
                <a:off x="4167960" y="2510051"/>
                <a:ext cx="120667" cy="89074"/>
              </a:xfrm>
              <a:prstGeom prst="triangle">
                <a:avLst/>
              </a:prstGeom>
              <a:solidFill>
                <a:srgbClr val="FF000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latinLnBrk="0">
                  <a:spcBef>
                    <a:spcPct val="0"/>
                  </a:spcBef>
                  <a:defRPr/>
                </a:pPr>
                <a:endParaRPr lang="ko-KR" altLang="en-US" sz="4000" kern="0">
                  <a:solidFill>
                    <a:prstClr val="white"/>
                  </a:solidFill>
                  <a:latin typeface="LG스마트체 Regular" panose="020B0600000101010101" pitchFamily="50" charset="-127"/>
                </a:endParaRPr>
              </a:p>
            </p:txBody>
          </p:sp>
        </p:grpSp>
        <p:sp>
          <p:nvSpPr>
            <p:cNvPr id="40" name="Text Box 4">
              <a:extLst>
                <a:ext uri="{FF2B5EF4-FFF2-40B4-BE49-F238E27FC236}">
                  <a16:creationId xmlns:a16="http://schemas.microsoft.com/office/drawing/2014/main" id="{D692738C-2035-1BB5-1A9F-E604483D53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28" y="1123354"/>
              <a:ext cx="205184" cy="1385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latinLnBrk="0">
                <a:defRPr/>
              </a:pPr>
              <a:r>
                <a:rPr lang="ko-KR" altLang="en-US" sz="900" kern="0" dirty="0">
                  <a:solidFill>
                    <a:srgbClr val="FF0000"/>
                  </a:solidFill>
                  <a:cs typeface="Arial" charset="0"/>
                </a:rPr>
                <a:t>현재</a:t>
              </a:r>
              <a:endParaRPr lang="en-US" altLang="ko-KR" sz="900" kern="0" dirty="0">
                <a:solidFill>
                  <a:srgbClr val="FF0000"/>
                </a:solidFill>
                <a:cs typeface="Arial" charset="0"/>
              </a:endParaRPr>
            </a:p>
          </p:txBody>
        </p:sp>
      </p:grpSp>
      <p:sp>
        <p:nvSpPr>
          <p:cNvPr id="43" name="내용 개체 틀 20">
            <a:extLst>
              <a:ext uri="{FF2B5EF4-FFF2-40B4-BE49-F238E27FC236}">
                <a16:creationId xmlns:a16="http://schemas.microsoft.com/office/drawing/2014/main" id="{23903ADB-C5AB-C939-6013-9C9C8CBDDF37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defRPr/>
            </a:pP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kumimoji="1"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APC SPEC </a:t>
            </a:r>
            <a:r>
              <a:rPr kumimoji="1"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연계</a:t>
            </a:r>
            <a:r>
              <a:rPr kumimoji="1"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(RMS</a:t>
            </a:r>
            <a:r>
              <a:rPr kumimoji="1"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</a:t>
            </a:r>
            <a:r>
              <a:rPr kumimoji="1"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SPEC </a:t>
            </a:r>
            <a:r>
              <a:rPr kumimoji="1"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연계</a:t>
            </a:r>
            <a:r>
              <a:rPr kumimoji="1"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)</a:t>
            </a:r>
            <a:endParaRPr lang="ko-KR" altLang="en-US" sz="1400" b="1" dirty="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44" name="내용 개체 틀 20">
            <a:extLst>
              <a:ext uri="{FF2B5EF4-FFF2-40B4-BE49-F238E27FC236}">
                <a16:creationId xmlns:a16="http://schemas.microsoft.com/office/drawing/2014/main" id="{EFCAA8FF-1755-6E13-34D2-A403DEE47092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안재준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F351972-5503-198C-20D7-99C32BB23537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12/10(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10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5C293EB-65FB-7896-2964-6515339B83A2}"/>
              </a:ext>
            </a:extLst>
          </p:cNvPr>
          <p:cNvSpPr/>
          <p:nvPr/>
        </p:nvSpPr>
        <p:spPr>
          <a:xfrm>
            <a:off x="8697094" y="443499"/>
            <a:ext cx="109196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(</a:t>
            </a:r>
            <a:r>
              <a:rPr lang="ko-KR" altLang="en-US" sz="1000" dirty="0">
                <a:solidFill>
                  <a:srgbClr val="009900"/>
                </a:solidFill>
                <a:latin typeface="+mj-lt"/>
              </a:rPr>
              <a:t>휴가</a:t>
            </a:r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) 12/16~12/18</a:t>
            </a:r>
            <a:endParaRPr lang="ko-KR" altLang="en-US" sz="1000" dirty="0">
              <a:solidFill>
                <a:srgbClr val="00990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6136554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EDDFC3-070E-871D-8B45-564EEB3E0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20">
            <a:extLst>
              <a:ext uri="{FF2B5EF4-FFF2-40B4-BE49-F238E27FC236}">
                <a16:creationId xmlns:a16="http://schemas.microsoft.com/office/drawing/2014/main" id="{489746D6-5072-7E40-490D-22758DFA8122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FDC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신규 법인 확산 적용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_ESMI 1/2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동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,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ESHD, </a:t>
            </a:r>
            <a:r>
              <a:rPr lang="en-US" altLang="ko-KR" sz="1400" b="1" dirty="0" err="1">
                <a:solidFill>
                  <a:prstClr val="black"/>
                </a:solidFill>
                <a:cs typeface="Malgun Gothic Semilight" panose="020B0502040204020203" pitchFamily="50" charset="-127"/>
              </a:rPr>
              <a:t>ESMI_Lansing</a:t>
            </a:r>
            <a:endParaRPr lang="ko-KR" altLang="en-US" sz="1400" b="1" dirty="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3" name="제목 1">
            <a:extLst>
              <a:ext uri="{FF2B5EF4-FFF2-40B4-BE49-F238E27FC236}">
                <a16:creationId xmlns:a16="http://schemas.microsoft.com/office/drawing/2014/main" id="{BFDFD01D-8921-ABAD-A191-F96A817238B1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521829F-4FFB-3303-93EC-704B7F6ADC4A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4135E8CF-C6E0-C6CE-FC46-9E91A0C2CAA8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장주은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D3A0B7B-DAB8-FB92-5505-6375F1960F3E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4342"/>
          <a:ext cx="9562020" cy="5782800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증설 법인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FDC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ESMI1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ESMI2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ESMI_LS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 err="1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(W51) MI 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활성화 설비 파라미터 리스트 법인에서 확인 중입니다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.(~12/23)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별 적용 현황</a:t>
                      </a:r>
                      <a:r>
                        <a:rPr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r>
                        <a:rPr lang="en-US" altLang="ko-KR" sz="1000" kern="1200" noProof="0" dirty="0">
                          <a:solidFill>
                            <a:schemeClr val="tx1"/>
                          </a:solidFill>
                          <a:latin typeface="Arial Narrow"/>
                          <a:ea typeface="+mn-ea"/>
                          <a:cs typeface="+mn-cs"/>
                        </a:rPr>
                        <a:t>  </a:t>
                      </a: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  <a:defRPr/>
                      </a:pPr>
                      <a:endParaRPr lang="en-US" altLang="ko-KR" sz="1000" b="1" u="sng" dirty="0"/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  <a:defRPr/>
                      </a:pPr>
                      <a:endParaRPr lang="en-US" altLang="ko-KR" sz="1000" b="1" u="sng" dirty="0"/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en-US" altLang="ko-KR" sz="1000" b="1" u="sng" dirty="0"/>
                        <a:t> ESMI 1</a:t>
                      </a:r>
                      <a:r>
                        <a:rPr lang="ko-KR" altLang="en-US" sz="1000" b="1" u="sng" dirty="0"/>
                        <a:t>동</a:t>
                      </a:r>
                      <a:endParaRPr lang="en-US" altLang="ko-KR" sz="1000" b="1" u="sng" dirty="0"/>
                    </a:p>
                    <a:p>
                      <a:pPr>
                        <a:defRPr/>
                      </a:pPr>
                      <a:r>
                        <a:rPr lang="en-US" altLang="ko-KR" sz="1000" dirty="0"/>
                        <a:t>   </a:t>
                      </a:r>
                      <a:r>
                        <a:rPr lang="en-US" altLang="ko-KR" sz="1000" dirty="0">
                          <a:latin typeface="+mn-lt"/>
                        </a:rPr>
                        <a:t>- </a:t>
                      </a:r>
                      <a:r>
                        <a:rPr lang="ko-KR" altLang="en-US" sz="1000" dirty="0">
                          <a:latin typeface="+mn-lt"/>
                        </a:rPr>
                        <a:t>전극 </a:t>
                      </a:r>
                      <a:r>
                        <a:rPr lang="en-US" altLang="ko-KR" sz="1000" dirty="0">
                          <a:latin typeface="+mn-lt"/>
                        </a:rPr>
                        <a:t>: 1</a:t>
                      </a:r>
                      <a:r>
                        <a:rPr lang="ko-KR" altLang="en-US" sz="1000" dirty="0">
                          <a:latin typeface="+mn-lt"/>
                        </a:rPr>
                        <a:t>라인</a:t>
                      </a:r>
                      <a:r>
                        <a:rPr lang="en-US" altLang="ko-KR" sz="1000" dirty="0">
                          <a:latin typeface="+mn-lt"/>
                        </a:rPr>
                        <a:t>(NND)</a:t>
                      </a:r>
                      <a:r>
                        <a:rPr lang="ko-KR" altLang="en-US" sz="1000" dirty="0">
                          <a:latin typeface="+mn-lt"/>
                        </a:rPr>
                        <a:t> 전체 적용 완료했습니다</a:t>
                      </a:r>
                      <a:r>
                        <a:rPr lang="en-US" altLang="ko-KR" sz="1000" dirty="0">
                          <a:latin typeface="+mn-lt"/>
                        </a:rPr>
                        <a:t>.(2/7)</a:t>
                      </a:r>
                    </a:p>
                    <a:p>
                      <a:pPr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   -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조립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: FOR/OCV 1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라인 기준정보 등록 완료하였고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(9/2),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설비에서 데이터 전송 대기 중입니다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sym typeface="Wingdings" pitchFamily="2" charset="2"/>
                        </a:rPr>
                        <a:t>.</a:t>
                      </a:r>
                      <a:endParaRPr lang="en-US" altLang="ko-KR" sz="1000" b="1" u="none" dirty="0">
                        <a:solidFill>
                          <a:schemeClr val="tx1"/>
                        </a:solidFill>
                      </a:endParaRPr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  <a:defRPr/>
                      </a:pPr>
                      <a:endParaRPr lang="en-US" altLang="ko-KR" sz="1000" b="1" u="sng" dirty="0"/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lang="en-US" altLang="ko-KR" sz="1000" b="1" u="sng" dirty="0"/>
                        <a:t> ESMI 2</a:t>
                      </a:r>
                      <a:r>
                        <a:rPr lang="ko-KR" altLang="en-US" sz="1000" b="1" u="sng" dirty="0"/>
                        <a:t>동</a:t>
                      </a:r>
                      <a:r>
                        <a:rPr lang="en-US" altLang="ko-KR" sz="1000" b="1" u="sng" dirty="0"/>
                        <a:t>(ESS)</a:t>
                      </a:r>
                    </a:p>
                    <a:p>
                      <a:pPr>
                        <a:defRPr/>
                      </a:pPr>
                      <a:r>
                        <a:rPr lang="en-US" altLang="ko-KR" sz="1000" dirty="0"/>
                        <a:t>   - </a:t>
                      </a:r>
                      <a:r>
                        <a:rPr lang="ko-KR" altLang="en-US" sz="1000" dirty="0"/>
                        <a:t>전극 </a:t>
                      </a:r>
                      <a:r>
                        <a:rPr lang="en-US" altLang="ko-KR" sz="1000" dirty="0"/>
                        <a:t>: 3,4</a:t>
                      </a:r>
                      <a:r>
                        <a:rPr lang="ko-KR" altLang="en-US" sz="1000" dirty="0"/>
                        <a:t>라인 전체 적용 완료했습니다</a:t>
                      </a:r>
                      <a:r>
                        <a:rPr lang="en-US" altLang="ko-KR" sz="1000" dirty="0"/>
                        <a:t>.(4/14)</a:t>
                      </a:r>
                      <a:endParaRPr lang="en-US" altLang="ko-KR" sz="1000" dirty="0">
                        <a:solidFill>
                          <a:srgbClr val="0000FF"/>
                        </a:solidFill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sym typeface="Wingdings" pitchFamily="2" charset="2"/>
                        </a:rPr>
                        <a:t>   -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sym typeface="Wingdings" pitchFamily="2" charset="2"/>
                        </a:rPr>
                        <a:t>조립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sym typeface="Wingdings" pitchFamily="2" charset="2"/>
                        </a:rPr>
                        <a:t> : 3,4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sym typeface="Wingdings" pitchFamily="2" charset="2"/>
                        </a:rPr>
                        <a:t>라인 전체 적용 완료했습니다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sym typeface="Wingdings" pitchFamily="2" charset="2"/>
                        </a:rPr>
                        <a:t>.(5/15)</a:t>
                      </a:r>
                      <a:endParaRPr lang="en-US" altLang="ko-KR" sz="1000" dirty="0">
                        <a:latin typeface="+mn-lt"/>
                        <a:sym typeface="Wingdings" pitchFamily="2" charset="2"/>
                      </a:endParaRPr>
                    </a:p>
                    <a:p>
                      <a:pPr>
                        <a:defRPr/>
                      </a:pPr>
                      <a:r>
                        <a:rPr lang="en-US" altLang="ko-KR" sz="1000" dirty="0">
                          <a:latin typeface="+mn-lt"/>
                          <a:sym typeface="Wingdings" pitchFamily="2" charset="2"/>
                        </a:rPr>
                        <a:t>     </a:t>
                      </a:r>
                      <a:endParaRPr lang="en-US" altLang="ko-KR" sz="1000" dirty="0">
                        <a:sym typeface="Wingdings" pitchFamily="2" charset="2"/>
                      </a:endParaRPr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1" u="sng" dirty="0"/>
                        <a:t> ESHD</a:t>
                      </a:r>
                    </a:p>
                    <a:p>
                      <a:pPr marL="0" lvl="0" indent="0">
                        <a:buClr>
                          <a:srgbClr val="000000"/>
                        </a:buClr>
                        <a:buFontTx/>
                        <a:buNone/>
                      </a:pPr>
                      <a:r>
                        <a:rPr lang="en-US" altLang="ko-KR" sz="1000" dirty="0"/>
                        <a:t>   - </a:t>
                      </a:r>
                      <a:r>
                        <a:rPr lang="ko-KR" altLang="en-US" sz="1000" dirty="0"/>
                        <a:t>전극 </a:t>
                      </a:r>
                      <a:r>
                        <a:rPr lang="en-US" altLang="ko-KR" sz="1000" dirty="0"/>
                        <a:t>: </a:t>
                      </a:r>
                      <a:r>
                        <a:rPr lang="en-US" altLang="ko-KR" sz="1000" dirty="0" err="1"/>
                        <a:t>1Line</a:t>
                      </a:r>
                      <a:r>
                        <a:rPr lang="en-US" altLang="ko-KR" sz="1000" dirty="0"/>
                        <a:t> </a:t>
                      </a:r>
                      <a:r>
                        <a:rPr lang="ko-KR" altLang="en-US" sz="1000" dirty="0"/>
                        <a:t>대표</a:t>
                      </a:r>
                      <a:r>
                        <a:rPr lang="en-US" altLang="ko-KR" sz="1000" dirty="0"/>
                        <a:t>/</a:t>
                      </a:r>
                      <a:r>
                        <a:rPr lang="ko-KR" altLang="en-US" sz="1000" dirty="0"/>
                        <a:t>잔여</a:t>
                      </a:r>
                      <a:r>
                        <a:rPr lang="en-US" altLang="ko-KR" sz="1000" dirty="0"/>
                        <a:t> </a:t>
                      </a:r>
                      <a:r>
                        <a:rPr lang="ko-KR" altLang="en-US" sz="1000" dirty="0"/>
                        <a:t>호기에 대해 데이터 수집 완료했습니다</a:t>
                      </a:r>
                      <a:r>
                        <a:rPr lang="en-US" altLang="ko-KR" sz="1000" dirty="0"/>
                        <a:t>. (7/24)</a:t>
                      </a:r>
                    </a:p>
                    <a:p>
                      <a:pPr marL="0" lvl="0" indent="0">
                        <a:buClr>
                          <a:srgbClr val="000000"/>
                        </a:buClr>
                        <a:buFontTx/>
                        <a:buNone/>
                      </a:pPr>
                      <a:r>
                        <a:rPr lang="en-US" altLang="ko-KR" sz="1000" dirty="0"/>
                        <a:t>   - </a:t>
                      </a:r>
                      <a:r>
                        <a:rPr lang="ko-KR" altLang="en-US" sz="1000" dirty="0"/>
                        <a:t>조립 </a:t>
                      </a:r>
                      <a:r>
                        <a:rPr lang="en-US" altLang="ko-KR" sz="1000" dirty="0"/>
                        <a:t>: </a:t>
                      </a:r>
                      <a:r>
                        <a:rPr lang="en-US" altLang="ko-KR" sz="1000" dirty="0" err="1"/>
                        <a:t>1Line</a:t>
                      </a:r>
                      <a:r>
                        <a:rPr lang="en-US" altLang="ko-KR" sz="1000" dirty="0"/>
                        <a:t> </a:t>
                      </a:r>
                      <a:r>
                        <a:rPr lang="ko-KR" altLang="en-US" sz="1000" dirty="0"/>
                        <a:t>대표</a:t>
                      </a:r>
                      <a:r>
                        <a:rPr lang="en-US" altLang="ko-KR" sz="1000" dirty="0"/>
                        <a:t>/</a:t>
                      </a:r>
                      <a:r>
                        <a:rPr lang="ko-KR" altLang="en-US" sz="1000" dirty="0"/>
                        <a:t>잔여 호기에 대해 데이터 수집 완료했습니다</a:t>
                      </a:r>
                      <a:r>
                        <a:rPr lang="en-US" altLang="ko-KR" sz="1000" dirty="0"/>
                        <a:t>. (7/31)</a:t>
                      </a:r>
                    </a:p>
                    <a:p>
                      <a:pPr marL="0" lvl="0" indent="0">
                        <a:buClr>
                          <a:srgbClr val="000000"/>
                        </a:buClr>
                        <a:buFontTx/>
                        <a:buNone/>
                      </a:pPr>
                      <a:r>
                        <a:rPr lang="en-US" altLang="ko-KR" sz="1000" dirty="0"/>
                        <a:t>   - </a:t>
                      </a:r>
                      <a:r>
                        <a:rPr lang="ko-KR" altLang="en-US" sz="1000" dirty="0"/>
                        <a:t>활성화 </a:t>
                      </a:r>
                      <a:r>
                        <a:rPr lang="en-US" altLang="ko-KR" sz="1000" dirty="0"/>
                        <a:t>: </a:t>
                      </a:r>
                      <a:r>
                        <a:rPr lang="en-US" altLang="ko-KR" sz="1000" dirty="0" err="1"/>
                        <a:t>1Line</a:t>
                      </a:r>
                      <a:r>
                        <a:rPr lang="en-US" altLang="ko-KR" sz="1000" dirty="0"/>
                        <a:t> </a:t>
                      </a:r>
                      <a:r>
                        <a:rPr lang="ko-KR" altLang="en-US" sz="1000" dirty="0"/>
                        <a:t>대표</a:t>
                      </a:r>
                      <a:r>
                        <a:rPr lang="en-US" altLang="ko-KR" sz="1000" dirty="0"/>
                        <a:t>/</a:t>
                      </a:r>
                      <a:r>
                        <a:rPr lang="ko-KR" altLang="en-US" sz="1000" dirty="0"/>
                        <a:t>잔여 호기에 대해 </a:t>
                      </a:r>
                      <a:r>
                        <a:rPr lang="en-US" altLang="ko-KR" sz="1000" dirty="0"/>
                        <a:t>FDC </a:t>
                      </a:r>
                      <a:r>
                        <a:rPr lang="ko-KR" altLang="en-US" sz="1000" dirty="0"/>
                        <a:t>데이터 수집 완료했습니다</a:t>
                      </a:r>
                      <a:r>
                        <a:rPr lang="en-US" altLang="ko-KR" sz="1000" dirty="0"/>
                        <a:t>.(3/29)</a:t>
                      </a:r>
                    </a:p>
                    <a:p>
                      <a:pPr marL="0" lvl="0" indent="0">
                        <a:buClr>
                          <a:srgbClr val="000000"/>
                        </a:buClr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>
                        <a:buClr>
                          <a:srgbClr val="000000"/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1" u="sng" dirty="0"/>
                        <a:t> ESMI_LS</a:t>
                      </a:r>
                    </a:p>
                    <a:p>
                      <a:pPr lvl="0">
                        <a:buClr>
                          <a:srgbClr val="000000"/>
                        </a:buClr>
                      </a:pPr>
                      <a:r>
                        <a:rPr lang="en-US" altLang="ko-KR" sz="1000" dirty="0"/>
                        <a:t>   - </a:t>
                      </a:r>
                      <a:r>
                        <a:rPr lang="ko-KR" altLang="en-US" sz="1000" dirty="0"/>
                        <a:t>전극 </a:t>
                      </a:r>
                      <a:r>
                        <a:rPr lang="en-US" altLang="ko-KR" sz="1000" dirty="0"/>
                        <a:t>: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</a:rPr>
                        <a:t>라인 전 호기 데이터 수집 완료했습니다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.(10/13)</a:t>
                      </a:r>
                      <a:endParaRPr lang="en-US" altLang="ko-KR" sz="1000" dirty="0">
                        <a:solidFill>
                          <a:srgbClr val="0000FF"/>
                        </a:solidFill>
                      </a:endParaRPr>
                    </a:p>
                    <a:p>
                      <a:pPr lvl="0">
                        <a:buClr>
                          <a:srgbClr val="000000"/>
                        </a:buClr>
                      </a:pPr>
                      <a:r>
                        <a:rPr lang="en-US" altLang="ko-KR" sz="1000" dirty="0"/>
                        <a:t>   - </a:t>
                      </a:r>
                      <a:r>
                        <a:rPr lang="ko-KR" altLang="en-US" sz="1000" dirty="0"/>
                        <a:t>조립 </a:t>
                      </a:r>
                      <a:r>
                        <a:rPr lang="en-US" altLang="ko-KR" sz="1000" dirty="0"/>
                        <a:t>: 1</a:t>
                      </a:r>
                      <a:r>
                        <a:rPr lang="ko-KR" altLang="en-US" sz="1000" dirty="0"/>
                        <a:t>라인 전 호기 데이터 수집 완료했습니다</a:t>
                      </a:r>
                      <a:r>
                        <a:rPr lang="en-US" altLang="ko-KR" sz="1000" dirty="0"/>
                        <a:t>. (12/9)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~’25.12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~’25.07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ESMI_LS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~’25.12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0" marR="0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장주은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(MI,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MI_LS),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윤채영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(HD)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9B67868-66E7-1B31-60EF-F5A9A73BCB34}"/>
              </a:ext>
            </a:extLst>
          </p:cNvPr>
          <p:cNvGraphicFramePr>
            <a:graphicFrameLocks noGrp="1"/>
          </p:cNvGraphicFramePr>
          <p:nvPr/>
        </p:nvGraphicFramePr>
        <p:xfrm>
          <a:off x="1461105" y="1613222"/>
          <a:ext cx="6889903" cy="2494990"/>
        </p:xfrm>
        <a:graphic>
          <a:graphicData uri="http://schemas.openxmlformats.org/drawingml/2006/table">
            <a:tbl>
              <a:tblPr/>
              <a:tblGrid>
                <a:gridCol w="652976">
                  <a:extLst>
                    <a:ext uri="{9D8B030D-6E8A-4147-A177-3AD203B41FA5}">
                      <a16:colId xmlns:a16="http://schemas.microsoft.com/office/drawing/2014/main" val="3873748407"/>
                    </a:ext>
                  </a:extLst>
                </a:gridCol>
                <a:gridCol w="652976">
                  <a:extLst>
                    <a:ext uri="{9D8B030D-6E8A-4147-A177-3AD203B41FA5}">
                      <a16:colId xmlns:a16="http://schemas.microsoft.com/office/drawing/2014/main" val="1503965537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3749545012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4272647968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3154874505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3079528797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1274837998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3245972267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1861999215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206513413"/>
                    </a:ext>
                  </a:extLst>
                </a:gridCol>
                <a:gridCol w="620439">
                  <a:extLst>
                    <a:ext uri="{9D8B030D-6E8A-4147-A177-3AD203B41FA5}">
                      <a16:colId xmlns:a16="http://schemas.microsoft.com/office/drawing/2014/main" val="156427705"/>
                    </a:ext>
                  </a:extLst>
                </a:gridCol>
              </a:tblGrid>
              <a:tr h="14586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공정군</a:t>
                      </a:r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상세공정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ESMI 1/2</a:t>
                      </a:r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  </a:t>
                      </a:r>
                      <a:r>
                        <a:rPr lang="en-US" altLang="ko-KR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(1,3,4 Line)</a:t>
                      </a:r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ESHD (1Line</a:t>
                      </a: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</a:t>
                      </a: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ESMI_LS (1Line </a:t>
                      </a:r>
                      <a:r>
                        <a:rPr lang="ko-KR" altLang="en-US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</a:t>
                      </a:r>
                      <a:r>
                        <a:rPr lang="en-US" altLang="ko-KR" sz="85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50" b="1" i="0" u="none" strike="noStrike" kern="1200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564925"/>
                  </a:ext>
                </a:extLst>
              </a:tr>
              <a:tr h="1458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50" b="1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수집 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수집률</a:t>
                      </a:r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수집 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수집률</a:t>
                      </a:r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수집 완료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수집률</a:t>
                      </a:r>
                      <a:endParaRPr lang="en-US" altLang="ko-KR" sz="85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171940"/>
                  </a:ext>
                </a:extLst>
              </a:tr>
              <a:tr h="137284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전극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MIX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006088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COT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487100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ROL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</a:t>
                      </a: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3087593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NND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2529469"/>
                  </a:ext>
                </a:extLst>
              </a:tr>
              <a:tr h="137284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조립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LNS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9185104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PKG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654587"/>
                  </a:ext>
                </a:extLst>
              </a:tr>
              <a:tr h="137284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활성화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JGF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67%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7291860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HPCD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67%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2049464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8510678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DEG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1860448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FOR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33%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7470206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extLst>
                  <a:ext uri="{0D108BD9-81ED-4DB2-BD59-A6C34878D82A}">
                    <a16:rowId xmlns:a16="http://schemas.microsoft.com/office/drawing/2014/main" val="821267839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OCV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67%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4144211"/>
                  </a:ext>
                </a:extLst>
              </a:tr>
              <a:tr h="137284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j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EOL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727035"/>
                  </a:ext>
                </a:extLst>
              </a:tr>
              <a:tr h="13728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모듈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Pack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7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extLst>
                  <a:ext uri="{0D108BD9-81ED-4DB2-BD59-A6C34878D82A}">
                    <a16:rowId xmlns:a16="http://schemas.microsoft.com/office/drawing/2014/main" val="1926874846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</a:t>
                      </a:r>
                      <a:endParaRPr 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90%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98%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09017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BB62455F-3656-7520-0F7E-E71A6940AB8C}"/>
              </a:ext>
            </a:extLst>
          </p:cNvPr>
          <p:cNvSpPr txBox="1"/>
          <p:nvPr/>
        </p:nvSpPr>
        <p:spPr>
          <a:xfrm>
            <a:off x="7142305" y="1388447"/>
            <a:ext cx="130259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※ </a:t>
            </a:r>
            <a:r>
              <a:rPr lang="ko-KR" altLang="en-US" sz="800" dirty="0">
                <a:latin typeface="+mn-ea"/>
              </a:rPr>
              <a:t>기준 </a:t>
            </a:r>
            <a:r>
              <a:rPr lang="en-US" altLang="ko-KR" sz="800" dirty="0">
                <a:latin typeface="+mn-ea"/>
              </a:rPr>
              <a:t>: </a:t>
            </a:r>
            <a:r>
              <a:rPr lang="ko-KR" altLang="en-US" sz="800" dirty="0">
                <a:latin typeface="+mn-ea"/>
              </a:rPr>
              <a:t>호기 수</a:t>
            </a:r>
          </a:p>
        </p:txBody>
      </p:sp>
    </p:spTree>
    <p:extLst>
      <p:ext uri="{BB962C8B-B14F-4D97-AF65-F5344CB8AC3E}">
        <p14:creationId xmlns:p14="http://schemas.microsoft.com/office/powerpoint/2010/main" val="848607109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71E29D0C-4EE9-9640-D775-49C3128DE33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0D42ADD-84F0-6043-AC26-315CDFD6BB95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11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4CC7C2A0-5A81-1C03-72D5-8ED262271A17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권오훈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DDEC917-93E4-AD50-445F-E7822B246C64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762329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eIoT SW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의 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FDC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통합 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구축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(OC, OC2)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ESOC2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(W51)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사용자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VOE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대응을 위해</a:t>
                      </a:r>
                      <a:r>
                        <a:rPr kumimoji="1" lang="en-US" altLang="ko-KR" sz="1000" b="0" kern="0" dirty="0">
                          <a:solidFill>
                            <a:srgbClr val="0000FF"/>
                          </a:solidFill>
                          <a:cs typeface="Malgun Gothic Semilight"/>
                        </a:rPr>
                        <a:t> VM </a:t>
                      </a:r>
                      <a:r>
                        <a:rPr kumimoji="1" lang="ko-KR" altLang="en-US" sz="1000" b="0" kern="0" dirty="0">
                          <a:solidFill>
                            <a:srgbClr val="0000FF"/>
                          </a:solidFill>
                          <a:cs typeface="Malgun Gothic Semilight"/>
                        </a:rPr>
                        <a:t>서버 증설 </a:t>
                      </a:r>
                      <a:r>
                        <a:rPr kumimoji="1" lang="en-US" altLang="ko-KR" sz="1000" b="0" kern="0" dirty="0">
                          <a:solidFill>
                            <a:srgbClr val="0000FF"/>
                          </a:solidFill>
                          <a:cs typeface="Malgun Gothic Semilight"/>
                        </a:rPr>
                        <a:t>(~12/19), Web </a:t>
                      </a:r>
                      <a:r>
                        <a:rPr kumimoji="1" lang="ko-KR" altLang="en-US" sz="1000" b="0" kern="0" dirty="0">
                          <a:solidFill>
                            <a:srgbClr val="0000FF"/>
                          </a:solidFill>
                          <a:cs typeface="Malgun Gothic Semilight"/>
                        </a:rPr>
                        <a:t>서버 용량 증설 </a:t>
                      </a:r>
                      <a:r>
                        <a:rPr kumimoji="1" lang="en-US" altLang="ko-KR" sz="1000" b="0" kern="0" dirty="0">
                          <a:solidFill>
                            <a:srgbClr val="0000FF"/>
                          </a:solidFill>
                          <a:cs typeface="Malgun Gothic Semilight"/>
                        </a:rPr>
                        <a:t>(~12/19) </a:t>
                      </a:r>
                      <a:r>
                        <a:rPr kumimoji="1" lang="ko-KR" altLang="en-US" sz="1000" b="0" kern="0" dirty="0">
                          <a:solidFill>
                            <a:srgbClr val="0000FF"/>
                          </a:solidFill>
                          <a:cs typeface="Malgun Gothic Semilight"/>
                        </a:rPr>
                        <a:t>진행 중입니다</a:t>
                      </a:r>
                      <a:r>
                        <a:rPr kumimoji="1" lang="en-US" altLang="ko-KR" sz="1000" b="0" kern="0" dirty="0">
                          <a:solidFill>
                            <a:srgbClr val="0000FF"/>
                          </a:solidFill>
                          <a:cs typeface="Malgun Gothic Semilight"/>
                        </a:rPr>
                        <a:t>.</a:t>
                      </a:r>
                      <a:br>
                        <a:rPr kumimoji="1" lang="en-US" altLang="ko-KR" sz="1000" kern="0" dirty="0">
                          <a:solidFill>
                            <a:srgbClr val="1414FE"/>
                          </a:solidFill>
                          <a:cs typeface="Malgun Gothic Semilight"/>
                        </a:rPr>
                      </a:b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- 1) eIoT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시스템 운영에 필요한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S/W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비용을 절감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2)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 공정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PV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데이터를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eIoT/FDC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시스템에서 수집하고 있어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불필요한 중복 수집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Loss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제거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진행계획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대상으로 하여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12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월까지 </a:t>
                      </a:r>
                      <a:r>
                        <a:rPr kumimoji="0"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건의 기능개발을 완료하고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26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부터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eIoT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FDC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전환하고자 합니다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수집현황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주요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VoE]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권오훈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박범규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47C0AB0C-9EF5-221C-C0E6-0AFD9835EB52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eIoT SW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의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FDC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통합 구축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(OC, OC2)</a:t>
            </a:r>
            <a:endParaRPr lang="ko-KR" altLang="en-US" sz="1400" b="1" dirty="0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91EE0133-A096-456F-40F5-AE86AD938C34}"/>
              </a:ext>
            </a:extLst>
          </p:cNvPr>
          <p:cNvGraphicFramePr>
            <a:graphicFrameLocks noGrp="1"/>
          </p:cNvGraphicFramePr>
          <p:nvPr/>
        </p:nvGraphicFramePr>
        <p:xfrm>
          <a:off x="1426654" y="3303867"/>
          <a:ext cx="6872618" cy="1468430"/>
        </p:xfrm>
        <a:graphic>
          <a:graphicData uri="http://schemas.openxmlformats.org/drawingml/2006/table">
            <a:tbl>
              <a:tblPr/>
              <a:tblGrid>
                <a:gridCol w="981803">
                  <a:extLst>
                    <a:ext uri="{9D8B030D-6E8A-4147-A177-3AD203B41FA5}">
                      <a16:colId xmlns:a16="http://schemas.microsoft.com/office/drawing/2014/main" val="3356223113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3381736165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484479761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4134656837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260631076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2493197402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92026531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3762011957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3109060721"/>
                    </a:ext>
                  </a:extLst>
                </a:gridCol>
                <a:gridCol w="654535">
                  <a:extLst>
                    <a:ext uri="{9D8B030D-6E8A-4147-A177-3AD203B41FA5}">
                      <a16:colId xmlns:a16="http://schemas.microsoft.com/office/drawing/2014/main" val="2267783325"/>
                    </a:ext>
                  </a:extLst>
                </a:gridCol>
              </a:tblGrid>
              <a:tr h="14684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일반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Tag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Webgauge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950354"/>
                  </a:ext>
                </a:extLst>
              </a:tr>
              <a:tr h="1468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연결수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연결률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연결수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연결률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대수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연결수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연결률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357510"/>
                  </a:ext>
                </a:extLst>
              </a:tr>
              <a:tr h="1468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MIX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3775148"/>
                  </a:ext>
                </a:extLst>
              </a:tr>
              <a:tr h="1468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COT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127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127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152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152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6783907"/>
                  </a:ext>
                </a:extLst>
              </a:tr>
              <a:tr h="1468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ROL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35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49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49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84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84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845886"/>
                  </a:ext>
                </a:extLst>
              </a:tr>
              <a:tr h="1468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SLT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40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44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44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686933"/>
                  </a:ext>
                </a:extLst>
              </a:tr>
              <a:tr h="1468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VCD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38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38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38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38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0979263"/>
                  </a:ext>
                </a:extLst>
              </a:tr>
              <a:tr h="1468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건식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6480012"/>
                  </a:ext>
                </a:extLst>
              </a:tr>
              <a:tr h="1468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RWD/Taping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8133098"/>
                  </a:ext>
                </a:extLst>
              </a:tr>
              <a:tr h="1468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Total</a:t>
                      </a:r>
                    </a:p>
                  </a:txBody>
                  <a:tcPr marL="8790" marR="8790" marT="8790" marB="0" anchor="ctr">
                    <a:lnL>
                      <a:noFill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182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182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180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180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362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362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100%</a:t>
                      </a:r>
                    </a:p>
                  </a:txBody>
                  <a:tcPr marL="8790" marR="8790" marT="879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0977755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C4E8D3E5-44A6-59FA-54B9-6236CC0776F2}"/>
              </a:ext>
            </a:extLst>
          </p:cNvPr>
          <p:cNvGraphicFramePr>
            <a:graphicFrameLocks noGrp="1"/>
          </p:cNvGraphicFramePr>
          <p:nvPr/>
        </p:nvGraphicFramePr>
        <p:xfrm>
          <a:off x="1448682" y="2239596"/>
          <a:ext cx="6953448" cy="84866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58908">
                  <a:extLst>
                    <a:ext uri="{9D8B030D-6E8A-4147-A177-3AD203B41FA5}">
                      <a16:colId xmlns:a16="http://schemas.microsoft.com/office/drawing/2014/main" val="85659330"/>
                    </a:ext>
                  </a:extLst>
                </a:gridCol>
                <a:gridCol w="1158908">
                  <a:extLst>
                    <a:ext uri="{9D8B030D-6E8A-4147-A177-3AD203B41FA5}">
                      <a16:colId xmlns:a16="http://schemas.microsoft.com/office/drawing/2014/main" val="2236068205"/>
                    </a:ext>
                  </a:extLst>
                </a:gridCol>
                <a:gridCol w="1158908">
                  <a:extLst>
                    <a:ext uri="{9D8B030D-6E8A-4147-A177-3AD203B41FA5}">
                      <a16:colId xmlns:a16="http://schemas.microsoft.com/office/drawing/2014/main" val="2036249648"/>
                    </a:ext>
                  </a:extLst>
                </a:gridCol>
                <a:gridCol w="1158908">
                  <a:extLst>
                    <a:ext uri="{9D8B030D-6E8A-4147-A177-3AD203B41FA5}">
                      <a16:colId xmlns:a16="http://schemas.microsoft.com/office/drawing/2014/main" val="492155311"/>
                    </a:ext>
                  </a:extLst>
                </a:gridCol>
                <a:gridCol w="1158908">
                  <a:extLst>
                    <a:ext uri="{9D8B030D-6E8A-4147-A177-3AD203B41FA5}">
                      <a16:colId xmlns:a16="http://schemas.microsoft.com/office/drawing/2014/main" val="2007456252"/>
                    </a:ext>
                  </a:extLst>
                </a:gridCol>
                <a:gridCol w="1158908">
                  <a:extLst>
                    <a:ext uri="{9D8B030D-6E8A-4147-A177-3AD203B41FA5}">
                      <a16:colId xmlns:a16="http://schemas.microsoft.com/office/drawing/2014/main" val="2104743256"/>
                    </a:ext>
                  </a:extLst>
                </a:gridCol>
              </a:tblGrid>
              <a:tr h="2251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LG스마트체 Regular"/>
                          <a:ea typeface="LG스마트체 Regular"/>
                        </a:rPr>
                        <a:t>25.07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latin typeface="LG스마트체 Regular"/>
                          <a:ea typeface="LG스마트체 Regular"/>
                        </a:rPr>
                        <a:t>25.08</a:t>
                      </a:r>
                      <a:endParaRPr lang="ko-KR" altLang="en-US" sz="900" b="1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LG스마트체 Regular"/>
                          <a:ea typeface="LG스마트체 Regular"/>
                        </a:rPr>
                        <a:t>25.09</a:t>
                      </a:r>
                      <a:endParaRPr lang="ko-KR" altLang="en-US" sz="900" b="1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LG스마트체 Regular"/>
                          <a:ea typeface="LG스마트체 Regular"/>
                        </a:rPr>
                        <a:t>25.10</a:t>
                      </a:r>
                      <a:endParaRPr lang="ko-KR" altLang="en-US" sz="900" b="1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LG스마트체 Regular"/>
                          <a:ea typeface="LG스마트체 Regular"/>
                        </a:rPr>
                        <a:t>25.11</a:t>
                      </a:r>
                      <a:endParaRPr lang="ko-KR" altLang="en-US" sz="900" b="1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1" dirty="0">
                          <a:latin typeface="LG스마트체 Regular"/>
                          <a:ea typeface="LG스마트체 Regular"/>
                        </a:rPr>
                        <a:t>25.12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3376463"/>
                  </a:ext>
                </a:extLst>
              </a:tr>
              <a:tr h="620066"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ko-KR" altLang="en-US" sz="900" dirty="0">
                        <a:latin typeface="LG스마트체 Regular"/>
                        <a:ea typeface="LG스마트체 Regular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9867683"/>
                  </a:ext>
                </a:extLst>
              </a:tr>
            </a:tbl>
          </a:graphicData>
        </a:graphic>
      </p:graphicFrame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DA870F78-8809-33E2-0857-66D8A091C8C5}"/>
              </a:ext>
            </a:extLst>
          </p:cNvPr>
          <p:cNvSpPr/>
          <p:nvPr/>
        </p:nvSpPr>
        <p:spPr>
          <a:xfrm>
            <a:off x="1448683" y="2485488"/>
            <a:ext cx="2304000" cy="162000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eIoT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→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FDC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전환 기능 개발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B609844-F219-3951-08F5-01E0818EF748}"/>
              </a:ext>
            </a:extLst>
          </p:cNvPr>
          <p:cNvSpPr/>
          <p:nvPr/>
        </p:nvSpPr>
        <p:spPr>
          <a:xfrm>
            <a:off x="2112914" y="2670955"/>
            <a:ext cx="2808000" cy="162000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eIoT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→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FDC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데이터 수집 및 검증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9E1D96C3-A7C8-A409-00EA-1541081E7F6C}"/>
              </a:ext>
            </a:extLst>
          </p:cNvPr>
          <p:cNvSpPr/>
          <p:nvPr/>
        </p:nvSpPr>
        <p:spPr>
          <a:xfrm>
            <a:off x="4002656" y="2871099"/>
            <a:ext cx="4399473" cy="217163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eIoT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기능 검증 및 사용자 변화관리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17273FC6-97E2-366E-6EBB-DC1156AB9FDE}"/>
              </a:ext>
            </a:extLst>
          </p:cNvPr>
          <p:cNvSpPr/>
          <p:nvPr/>
        </p:nvSpPr>
        <p:spPr>
          <a:xfrm>
            <a:off x="5477773" y="2485486"/>
            <a:ext cx="1751353" cy="145576"/>
          </a:xfrm>
          <a:prstGeom prst="roundRect">
            <a:avLst/>
          </a:prstGeom>
          <a:solidFill>
            <a:srgbClr val="006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dirty="0">
                <a:solidFill>
                  <a:prstClr val="white"/>
                </a:solidFill>
              </a:rPr>
              <a:t>OC/OC2 </a:t>
            </a:r>
            <a:r>
              <a:rPr lang="ko-KR" altLang="en-US" sz="900" dirty="0">
                <a:solidFill>
                  <a:prstClr val="white"/>
                </a:solidFill>
              </a:rPr>
              <a:t>전환 적용</a:t>
            </a:r>
            <a:r>
              <a:rPr lang="en-US" altLang="ko-KR" sz="900" dirty="0">
                <a:solidFill>
                  <a:prstClr val="white"/>
                </a:solidFill>
              </a:rPr>
              <a:t>(eIoT Off)</a:t>
            </a:r>
            <a:endParaRPr kumimoji="0" lang="ko-KR" alt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59881F3-BBB9-1522-148B-0F40BEA42F87}"/>
              </a:ext>
            </a:extLst>
          </p:cNvPr>
          <p:cNvGraphicFramePr>
            <a:graphicFrameLocks noGrp="1"/>
          </p:cNvGraphicFramePr>
          <p:nvPr/>
        </p:nvGraphicFramePr>
        <p:xfrm>
          <a:off x="1416379" y="5123856"/>
          <a:ext cx="7090623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54255">
                  <a:extLst>
                    <a:ext uri="{9D8B030D-6E8A-4147-A177-3AD203B41FA5}">
                      <a16:colId xmlns:a16="http://schemas.microsoft.com/office/drawing/2014/main" val="3157785528"/>
                    </a:ext>
                  </a:extLst>
                </a:gridCol>
                <a:gridCol w="1839056">
                  <a:extLst>
                    <a:ext uri="{9D8B030D-6E8A-4147-A177-3AD203B41FA5}">
                      <a16:colId xmlns:a16="http://schemas.microsoft.com/office/drawing/2014/main" val="318029562"/>
                    </a:ext>
                  </a:extLst>
                </a:gridCol>
                <a:gridCol w="2486346">
                  <a:extLst>
                    <a:ext uri="{9D8B030D-6E8A-4147-A177-3AD203B41FA5}">
                      <a16:colId xmlns:a16="http://schemas.microsoft.com/office/drawing/2014/main" val="2644562366"/>
                    </a:ext>
                  </a:extLst>
                </a:gridCol>
                <a:gridCol w="410966">
                  <a:extLst>
                    <a:ext uri="{9D8B030D-6E8A-4147-A177-3AD203B41FA5}">
                      <a16:colId xmlns:a16="http://schemas.microsoft.com/office/drawing/2014/main" val="2935779173"/>
                    </a:ext>
                  </a:extLst>
                </a:gridCol>
              </a:tblGrid>
              <a:tr h="1126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VOE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개선안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상황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 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6576778"/>
                  </a:ext>
                </a:extLst>
              </a:tr>
              <a:tr h="145004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실시간 데이터 조회 기능과 이력 데이터 조회 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기능이 분리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FDC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포탈에서 실시간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이력 조회 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제공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요건정의 수정 및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 개발 완료</a:t>
                      </a:r>
                    </a:p>
                    <a:p>
                      <a:pPr marL="0" marR="0" lvl="0" indent="0" algn="l" defTabSz="91429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LOT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시간대의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KDB Data API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호출 개발 완료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29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Web Server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용량 증설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S/W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투자심의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l" defTabSz="91429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 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(~ 12/3)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29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1734891"/>
                  </a:ext>
                </a:extLst>
              </a:tr>
              <a:tr h="217506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LOT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별 설비 데이터 조회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FDC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포탈에서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LOT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시간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이력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데이터 제공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20989177"/>
                  </a:ext>
                </a:extLst>
              </a:tr>
              <a:tr h="21750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실시간 모니터링 시 별도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TAG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설정의 불편함 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발생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별도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설정없이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전체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TAG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실시간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조회가 가능하도록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DB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용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VM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증설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-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기능개발 완료 후 오라클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DB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용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VM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증설 진행 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92836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414890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1">
            <a:extLst>
              <a:ext uri="{FF2B5EF4-FFF2-40B4-BE49-F238E27FC236}">
                <a16:creationId xmlns:a16="http://schemas.microsoft.com/office/drawing/2014/main" id="{64FDDAF6-8B3C-0A34-0F82-1F9826C5779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graphicFrame>
        <p:nvGraphicFramePr>
          <p:cNvPr id="5" name="표 1">
            <a:extLst>
              <a:ext uri="{FF2B5EF4-FFF2-40B4-BE49-F238E27FC236}">
                <a16:creationId xmlns:a16="http://schemas.microsoft.com/office/drawing/2014/main" id="{0FB4CC2B-E761-7533-DBDA-12A24E8E750F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762329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27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242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  <a:r>
                        <a:rPr lang="en-US" altLang="ko-K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Vision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모니터링을 위한 검사기 데이터 수집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전법인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W51) WA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전극 검사기데이터 수집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Test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중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SPC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데이터와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FDC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데이터가 동시에 송신될 경우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              SPC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데이터를 우선적으로 송신하도록 검사기 로직을 수정 예정입니다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목적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Vision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광량 변화에 따른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검출력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저하 및 불량 미 검출 현상 방지를 위해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FDC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를 활용해 광량 모니터링 구축 및 운영을 하고자 합니다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불량 유출 예시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H5.5 C-Type Bi-Cell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 </a:t>
                      </a:r>
                      <a:r>
                        <a:rPr kumimoji="0"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Lami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공정 음극 전극 누락 이슈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(‘24.07)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※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발생 현상 및 원인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Lami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하부 커터 위치 조정 후 커터 원점 복귀 </a:t>
                      </a:r>
                      <a:r>
                        <a:rPr lang="ko-KR" altLang="en-US" sz="1000" dirty="0"/>
                        <a:t>→ 재가동 시 </a:t>
                      </a:r>
                      <a:r>
                        <a:rPr lang="en-US" altLang="ko-KR" sz="1000" dirty="0"/>
                        <a:t>2</a:t>
                      </a:r>
                      <a:r>
                        <a:rPr lang="ko-KR" altLang="en-US" sz="1000" dirty="0"/>
                        <a:t>개 </a:t>
                      </a:r>
                      <a:r>
                        <a:rPr lang="en-US" altLang="ko-KR" sz="1000" dirty="0"/>
                        <a:t>Cell</a:t>
                      </a:r>
                      <a:r>
                        <a:rPr lang="ko-KR" altLang="en-US" sz="1000" dirty="0"/>
                        <a:t>씩 음극 누락 발생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※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유출 원인 분석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조명부의 이물 제거용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Air Blow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설치 공사 후 조명 각도가 틀어져 광량 저하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전극이 있는 경우와 전극이 누락돼 없는 경우 밝기 차이가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GV 25</a:t>
                      </a:r>
                      <a:r>
                        <a:rPr lang="ko-KR" altLang="en-US" sz="1000" dirty="0"/>
                        <a:t>→</a:t>
                      </a:r>
                      <a:r>
                        <a:rPr lang="en-US" altLang="ko-KR" sz="1000" dirty="0"/>
                        <a:t>5) </a:t>
                      </a:r>
                      <a:r>
                        <a:rPr lang="ko-KR" altLang="en-US" sz="1000" dirty="0"/>
                        <a:t>수준으로</a:t>
                      </a:r>
                      <a:r>
                        <a:rPr lang="en-US" altLang="ko-KR" sz="1000" dirty="0"/>
                        <a:t> </a:t>
                      </a:r>
                      <a:r>
                        <a:rPr lang="ko-KR" altLang="en-US" sz="1000" dirty="0"/>
                        <a:t>저하되어 </a:t>
                      </a:r>
                      <a:r>
                        <a:rPr lang="ko-KR" altLang="en-US" sz="1000" dirty="0" err="1"/>
                        <a:t>미검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진행사항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 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데이터 수집 방식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/>
                        <a:t>검사기</a:t>
                      </a:r>
                      <a:r>
                        <a:rPr lang="en-US" altLang="ko-KR" sz="1000" dirty="0"/>
                        <a:t>(QA</a:t>
                      </a:r>
                      <a:r>
                        <a:rPr lang="ko-KR" altLang="en-US" sz="1000" dirty="0"/>
                        <a:t>망</a:t>
                      </a:r>
                      <a:r>
                        <a:rPr lang="en-US" altLang="ko-KR" sz="1000" dirty="0"/>
                        <a:t>) → </a:t>
                      </a:r>
                      <a:r>
                        <a:rPr lang="ko-KR" altLang="en-US" sz="1000" dirty="0" err="1"/>
                        <a:t>솔라스</a:t>
                      </a:r>
                      <a:r>
                        <a:rPr lang="en-US" altLang="ko-KR" sz="1000" dirty="0"/>
                        <a:t>(QA</a:t>
                      </a:r>
                      <a:r>
                        <a:rPr lang="ko-KR" altLang="en-US" sz="1000" dirty="0"/>
                        <a:t>망</a:t>
                      </a:r>
                      <a:r>
                        <a:rPr lang="en-US" altLang="ko-KR" sz="1000" dirty="0"/>
                        <a:t>, SPC</a:t>
                      </a:r>
                      <a:r>
                        <a:rPr lang="ko-KR" altLang="en-US" sz="1000" dirty="0"/>
                        <a:t>전용</a:t>
                      </a:r>
                      <a:r>
                        <a:rPr lang="en-US" altLang="ko-KR" sz="1000" dirty="0"/>
                        <a:t>) → </a:t>
                      </a:r>
                      <a:r>
                        <a:rPr lang="ko-KR" altLang="en-US" sz="1000" dirty="0" err="1"/>
                        <a:t>솔라스</a:t>
                      </a:r>
                      <a:r>
                        <a:rPr lang="ko-KR" altLang="en-US" sz="1000" dirty="0"/>
                        <a:t> </a:t>
                      </a:r>
                      <a:r>
                        <a:rPr lang="en-US" altLang="ko-KR" sz="1000" dirty="0"/>
                        <a:t>(FA</a:t>
                      </a:r>
                      <a:r>
                        <a:rPr lang="ko-KR" altLang="en-US" sz="1000" dirty="0"/>
                        <a:t>망</a:t>
                      </a:r>
                      <a:r>
                        <a:rPr lang="en-US" altLang="ko-KR" sz="1000" dirty="0"/>
                        <a:t>, FDC</a:t>
                      </a:r>
                      <a:r>
                        <a:rPr lang="ko-KR" altLang="en-US" sz="1000" dirty="0"/>
                        <a:t>전용</a:t>
                      </a:r>
                      <a:r>
                        <a:rPr lang="en-US" altLang="ko-KR" sz="1000" dirty="0"/>
                        <a:t>) </a:t>
                      </a:r>
                      <a:r>
                        <a:rPr lang="ko-KR" altLang="en-US" sz="1000" dirty="0"/>
                        <a:t>방식을 채택하여 데이터를 수집하고 있습니다. </a:t>
                      </a:r>
                      <a:endParaRPr lang="en-US" altLang="ko-KR" sz="10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2. 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전법인 확산 진행 상황</a:t>
                      </a: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측 요청으로 생산계획 변동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S/W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개조 일정에 따라 기한이 연기되었습니다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~’26.01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이성우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전예린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DE240739-D3EE-8A84-3FE1-3F3A74F56A0B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전법인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_VISION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모니터링을 위한 검사기 데이터 수집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B8C3FFF-003D-CD81-21E7-11E8213A5544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C56BCF88-E9E2-A06F-8C84-318EACB918ED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전예린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64B32F7A-F206-98D3-C5B1-F39444AE63CB}"/>
              </a:ext>
            </a:extLst>
          </p:cNvPr>
          <p:cNvGrpSpPr/>
          <p:nvPr/>
        </p:nvGrpSpPr>
        <p:grpSpPr>
          <a:xfrm>
            <a:off x="6749319" y="1847635"/>
            <a:ext cx="2174717" cy="1453856"/>
            <a:chOff x="742913" y="3521244"/>
            <a:chExt cx="2810475" cy="1842103"/>
          </a:xfrm>
        </p:grpSpPr>
        <p:pic>
          <p:nvPicPr>
            <p:cNvPr id="10" name="그림 9">
              <a:extLst>
                <a:ext uri="{FF2B5EF4-FFF2-40B4-BE49-F238E27FC236}">
                  <a16:creationId xmlns:a16="http://schemas.microsoft.com/office/drawing/2014/main" id="{2D42CE0D-9C9C-73C3-CAAC-CE29E070FCF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00664" y="3526867"/>
              <a:ext cx="2268593" cy="1836480"/>
            </a:xfrm>
            <a:prstGeom prst="rect">
              <a:avLst/>
            </a:prstGeom>
          </p:spPr>
        </p:pic>
        <p:sp>
          <p:nvSpPr>
            <p:cNvPr id="11" name="文本框 46">
              <a:extLst>
                <a:ext uri="{FF2B5EF4-FFF2-40B4-BE49-F238E27FC236}">
                  <a16:creationId xmlns:a16="http://schemas.microsoft.com/office/drawing/2014/main" id="{FA23E595-9B41-C787-61AD-6B24CEE27773}"/>
                </a:ext>
              </a:extLst>
            </p:cNvPr>
            <p:cNvSpPr txBox="1"/>
            <p:nvPr/>
          </p:nvSpPr>
          <p:spPr>
            <a:xfrm>
              <a:off x="1209685" y="3607631"/>
              <a:ext cx="644032" cy="272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정상</a:t>
              </a:r>
              <a:r>
                <a:rPr lang="en-US" altLang="zh-CN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 </a:t>
              </a:r>
              <a:endParaRPr lang="zh-CN" altLang="en-US" sz="800" b="1" dirty="0">
                <a:solidFill>
                  <a:schemeClr val="bg1">
                    <a:lumMod val="95000"/>
                  </a:schemeClr>
                </a:solidFill>
                <a:latin typeface="Arial Narrow" panose="020B0606020202030204" pitchFamily="34" charset="0"/>
                <a:ea typeface="LG Smart_H Regular" panose="020B0600000101010101" pitchFamily="34" charset="-127"/>
              </a:endParaRPr>
            </a:p>
          </p:txBody>
        </p:sp>
        <p:pic>
          <p:nvPicPr>
            <p:cNvPr id="12" name="그림 11">
              <a:extLst>
                <a:ext uri="{FF2B5EF4-FFF2-40B4-BE49-F238E27FC236}">
                  <a16:creationId xmlns:a16="http://schemas.microsoft.com/office/drawing/2014/main" id="{942166A1-AFDF-2764-5885-23BDDB7F91C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26101" y="4030203"/>
              <a:ext cx="2612588" cy="1192304"/>
            </a:xfrm>
            <a:prstGeom prst="rect">
              <a:avLst/>
            </a:prstGeom>
            <a:ln w="19050">
              <a:solidFill>
                <a:srgbClr val="FF0000"/>
              </a:solidFill>
            </a:ln>
          </p:spPr>
        </p:pic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FCAC2776-DE38-07AE-03C3-E2E523DC3E06}"/>
                </a:ext>
              </a:extLst>
            </p:cNvPr>
            <p:cNvSpPr/>
            <p:nvPr/>
          </p:nvSpPr>
          <p:spPr>
            <a:xfrm>
              <a:off x="1902899" y="3521244"/>
              <a:ext cx="460918" cy="349191"/>
            </a:xfrm>
            <a:prstGeom prst="rect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600"/>
            </a:p>
          </p:txBody>
        </p:sp>
        <p:sp>
          <p:nvSpPr>
            <p:cNvPr id="16" name="文本框 46">
              <a:extLst>
                <a:ext uri="{FF2B5EF4-FFF2-40B4-BE49-F238E27FC236}">
                  <a16:creationId xmlns:a16="http://schemas.microsoft.com/office/drawing/2014/main" id="{7816A7DE-A5FD-D16B-212F-399D04746016}"/>
                </a:ext>
              </a:extLst>
            </p:cNvPr>
            <p:cNvSpPr txBox="1"/>
            <p:nvPr/>
          </p:nvSpPr>
          <p:spPr>
            <a:xfrm>
              <a:off x="2254821" y="3617185"/>
              <a:ext cx="1097624" cy="272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음극 전극 누락</a:t>
              </a:r>
              <a:r>
                <a:rPr lang="en-US" altLang="zh-CN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 </a:t>
              </a:r>
              <a:endParaRPr lang="zh-CN" altLang="en-US" sz="800" b="1" dirty="0">
                <a:solidFill>
                  <a:schemeClr val="bg1">
                    <a:lumMod val="95000"/>
                  </a:schemeClr>
                </a:solidFill>
                <a:latin typeface="Arial Narrow" panose="020B0606020202030204" pitchFamily="34" charset="0"/>
                <a:ea typeface="LG Smart_H Regular" panose="020B0600000101010101" pitchFamily="34" charset="-127"/>
              </a:endParaRPr>
            </a:p>
          </p:txBody>
        </p: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45A40C9A-AED4-12A9-8B7E-906D766BE29B}"/>
                </a:ext>
              </a:extLst>
            </p:cNvPr>
            <p:cNvCxnSpPr>
              <a:cxnSpLocks/>
            </p:cNvCxnSpPr>
            <p:nvPr/>
          </p:nvCxnSpPr>
          <p:spPr>
            <a:xfrm>
              <a:off x="2384456" y="3870403"/>
              <a:ext cx="1042271" cy="152066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33470980-2B6B-CF10-269B-8652B38E92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17964" y="3857401"/>
              <a:ext cx="1064296" cy="16506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文本框 46">
              <a:extLst>
                <a:ext uri="{FF2B5EF4-FFF2-40B4-BE49-F238E27FC236}">
                  <a16:creationId xmlns:a16="http://schemas.microsoft.com/office/drawing/2014/main" id="{90227447-A69C-DE52-CBEC-33EF475D8185}"/>
                </a:ext>
              </a:extLst>
            </p:cNvPr>
            <p:cNvSpPr txBox="1"/>
            <p:nvPr/>
          </p:nvSpPr>
          <p:spPr>
            <a:xfrm>
              <a:off x="742913" y="4779939"/>
              <a:ext cx="791712" cy="4289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정상</a:t>
              </a:r>
              <a:endParaRPr lang="en-US" altLang="ko-KR" sz="800" b="1" dirty="0">
                <a:solidFill>
                  <a:schemeClr val="bg1">
                    <a:lumMod val="95000"/>
                  </a:schemeClr>
                </a:solidFill>
                <a:latin typeface="Arial Narrow" panose="020B0606020202030204" pitchFamily="34" charset="0"/>
                <a:ea typeface="LG Smart_H Regular" panose="020B0600000101010101" pitchFamily="34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음극 있음</a:t>
              </a:r>
              <a:r>
                <a:rPr lang="en-US" altLang="zh-CN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 </a:t>
              </a:r>
              <a:endParaRPr lang="zh-CN" altLang="en-US" sz="800" b="1" dirty="0">
                <a:solidFill>
                  <a:schemeClr val="bg1">
                    <a:lumMod val="95000"/>
                  </a:schemeClr>
                </a:solidFill>
                <a:latin typeface="Arial Narrow" panose="020B0606020202030204" pitchFamily="34" charset="0"/>
                <a:ea typeface="LG Smart_H Regular" panose="020B0600000101010101" pitchFamily="34" charset="-127"/>
              </a:endParaRPr>
            </a:p>
          </p:txBody>
        </p:sp>
        <p:sp>
          <p:nvSpPr>
            <p:cNvPr id="20" name="文本框 46">
              <a:extLst>
                <a:ext uri="{FF2B5EF4-FFF2-40B4-BE49-F238E27FC236}">
                  <a16:creationId xmlns:a16="http://schemas.microsoft.com/office/drawing/2014/main" id="{C388E835-C0F0-F59A-7A7E-9B81876C24D5}"/>
                </a:ext>
              </a:extLst>
            </p:cNvPr>
            <p:cNvSpPr txBox="1"/>
            <p:nvPr/>
          </p:nvSpPr>
          <p:spPr>
            <a:xfrm>
              <a:off x="2302559" y="4810346"/>
              <a:ext cx="1250829" cy="4289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음극 전극 누락</a:t>
              </a:r>
              <a:endParaRPr lang="en-US" altLang="ko-KR" sz="800" b="1" dirty="0">
                <a:solidFill>
                  <a:schemeClr val="bg1">
                    <a:lumMod val="95000"/>
                  </a:schemeClr>
                </a:solidFill>
                <a:latin typeface="Arial Narrow" panose="020B0606020202030204" pitchFamily="34" charset="0"/>
                <a:ea typeface="LG Smart_H Regular" panose="020B0600000101010101" pitchFamily="34" charset="-127"/>
              </a:endParaRPr>
            </a:p>
            <a:p>
              <a:pPr algn="ctr"/>
              <a:r>
                <a:rPr lang="ko-KR" altLang="en-US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반대면 음극이 보임</a:t>
              </a:r>
              <a:r>
                <a:rPr lang="en-US" altLang="zh-CN" sz="800" b="1" dirty="0">
                  <a:solidFill>
                    <a:schemeClr val="bg1">
                      <a:lumMod val="95000"/>
                    </a:schemeClr>
                  </a:solidFill>
                  <a:latin typeface="Arial Narrow" panose="020B0606020202030204" pitchFamily="34" charset="0"/>
                  <a:ea typeface="LG Smart_H Regular" panose="020B0600000101010101" pitchFamily="34" charset="-127"/>
                </a:rPr>
                <a:t> </a:t>
              </a:r>
              <a:endParaRPr lang="zh-CN" altLang="en-US" sz="800" b="1" dirty="0">
                <a:solidFill>
                  <a:schemeClr val="bg1">
                    <a:lumMod val="95000"/>
                  </a:schemeClr>
                </a:solidFill>
                <a:latin typeface="Arial Narrow" panose="020B0606020202030204" pitchFamily="34" charset="0"/>
                <a:ea typeface="LG Smart_H Regular" panose="020B0600000101010101" pitchFamily="34" charset="-127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C750D83A-0CA8-7CD6-567C-65BABE0AA6F1}"/>
              </a:ext>
            </a:extLst>
          </p:cNvPr>
          <p:cNvSpPr txBox="1"/>
          <p:nvPr/>
        </p:nvSpPr>
        <p:spPr>
          <a:xfrm>
            <a:off x="2942192" y="3675908"/>
            <a:ext cx="437034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 err="1">
                <a:solidFill>
                  <a:srgbClr val="008000"/>
                </a:solidFill>
              </a:rPr>
              <a:t>솔라스는</a:t>
            </a:r>
            <a:r>
              <a:rPr lang="ko-KR" altLang="en-US" sz="900" dirty="0">
                <a:solidFill>
                  <a:srgbClr val="008000"/>
                </a:solidFill>
              </a:rPr>
              <a:t> </a:t>
            </a:r>
            <a:r>
              <a:rPr lang="en-US" altLang="ko-KR" sz="900" dirty="0">
                <a:solidFill>
                  <a:srgbClr val="008000"/>
                </a:solidFill>
              </a:rPr>
              <a:t>PC type </a:t>
            </a:r>
            <a:r>
              <a:rPr lang="ko-KR" altLang="en-US" sz="900" dirty="0">
                <a:solidFill>
                  <a:srgbClr val="008000"/>
                </a:solidFill>
              </a:rPr>
              <a:t>메시지를 설비로부터 수신 받아 </a:t>
            </a:r>
            <a:r>
              <a:rPr lang="en-US" altLang="ko-KR" sz="900" dirty="0">
                <a:solidFill>
                  <a:srgbClr val="008000"/>
                </a:solidFill>
              </a:rPr>
              <a:t>FDC </a:t>
            </a:r>
            <a:r>
              <a:rPr lang="ko-KR" altLang="en-US" sz="900" dirty="0">
                <a:solidFill>
                  <a:srgbClr val="008000"/>
                </a:solidFill>
              </a:rPr>
              <a:t>서버로 메시지를 전송하는 서버입니다</a:t>
            </a:r>
            <a:r>
              <a:rPr lang="en-US" altLang="ko-KR" sz="900" dirty="0">
                <a:solidFill>
                  <a:srgbClr val="008000"/>
                </a:solidFill>
              </a:rPr>
              <a:t>.</a:t>
            </a:r>
            <a:endParaRPr lang="ko-KR" altLang="en-US" sz="900" dirty="0">
              <a:solidFill>
                <a:srgbClr val="008000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CF6D33B1-10EA-F0A9-2F2E-E98B26215194}"/>
              </a:ext>
            </a:extLst>
          </p:cNvPr>
          <p:cNvGraphicFramePr>
            <a:graphicFrameLocks noGrp="1"/>
          </p:cNvGraphicFramePr>
          <p:nvPr/>
        </p:nvGraphicFramePr>
        <p:xfrm>
          <a:off x="1528691" y="4193537"/>
          <a:ext cx="6887513" cy="223699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362973">
                  <a:extLst>
                    <a:ext uri="{9D8B030D-6E8A-4147-A177-3AD203B41FA5}">
                      <a16:colId xmlns:a16="http://schemas.microsoft.com/office/drawing/2014/main" val="3266399498"/>
                    </a:ext>
                  </a:extLst>
                </a:gridCol>
                <a:gridCol w="837752">
                  <a:extLst>
                    <a:ext uri="{9D8B030D-6E8A-4147-A177-3AD203B41FA5}">
                      <a16:colId xmlns:a16="http://schemas.microsoft.com/office/drawing/2014/main" val="2393641900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50525306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306664918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740628167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450014592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2623077802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1053668508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3238029942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3326946973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3485353020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1384537114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625789944"/>
                    </a:ext>
                  </a:extLst>
                </a:gridCol>
                <a:gridCol w="473899">
                  <a:extLst>
                    <a:ext uri="{9D8B030D-6E8A-4147-A177-3AD203B41FA5}">
                      <a16:colId xmlns:a16="http://schemas.microsoft.com/office/drawing/2014/main" val="416469259"/>
                    </a:ext>
                  </a:extLst>
                </a:gridCol>
              </a:tblGrid>
              <a:tr h="1729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effectLst/>
                          <a:latin typeface="+mn-lt"/>
                        </a:rPr>
                        <a:t>법인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구분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OC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WA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NA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NB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MI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MI_L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GM1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GM2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ST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HD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lt"/>
                        </a:rPr>
                        <a:t>HG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HM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0292317"/>
                  </a:ext>
                </a:extLst>
              </a:tr>
              <a:tr h="18375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effectLst/>
                          <a:latin typeface="+mn-lt"/>
                        </a:rPr>
                        <a:t>전극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선정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dirty="0">
                          <a:effectLst/>
                          <a:latin typeface="+mn-lt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‘26</a:t>
                      </a:r>
                      <a:r>
                        <a:rPr lang="ko-KR" altLang="en-US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년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년</a:t>
                      </a:r>
                      <a:endParaRPr lang="ko-KR" altLang="en-US" sz="900" b="0" i="0" u="none" strike="noStrike" dirty="0">
                        <a:solidFill>
                          <a:srgbClr val="008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2600370"/>
                  </a:ext>
                </a:extLst>
              </a:tr>
              <a:tr h="1837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Vision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S/W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개발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6/483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0/136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(~’25.12)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0/244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0/121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0/144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0/155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0/125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8717692"/>
                  </a:ext>
                </a:extLst>
              </a:tr>
              <a:tr h="1837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Agent S/W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6/483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0/136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(~’25.12)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0/244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0/121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0/144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0/155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0/125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4220513"/>
                  </a:ext>
                </a:extLst>
              </a:tr>
              <a:tr h="18375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데이터 수집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6/483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0/136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(~’25.12)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0/244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0/121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0/144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0/155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0/125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346427"/>
                  </a:ext>
                </a:extLst>
              </a:tr>
              <a:tr h="18375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effectLst/>
                          <a:latin typeface="+mn-lt"/>
                        </a:rPr>
                        <a:t>조립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대상 선정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완료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완료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완료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‘26</a:t>
                      </a:r>
                      <a:r>
                        <a:rPr lang="ko-KR" altLang="en-US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년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‘26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년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‘26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년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‘26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년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‘26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/>
                          <a:cs typeface="+mn-cs"/>
                        </a:rPr>
                        <a:t>년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9283739"/>
                  </a:ext>
                </a:extLst>
              </a:tr>
              <a:tr h="1837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Vision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S/W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 개발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0/500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(~’25.12)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0/250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626203"/>
                  </a:ext>
                </a:extLst>
              </a:tr>
              <a:tr h="1837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Agent S/W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0/500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(~’25.12)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0/250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2844177"/>
                  </a:ext>
                </a:extLst>
              </a:tr>
              <a:tr h="18375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데이터 수집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완료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완료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완료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0/500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(~’25.12)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0/250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/>
                          <a:ea typeface="LG스마트체 Regular" panose="020B0600000101010101" pitchFamily="50" charset="-127"/>
                          <a:cs typeface="+mn-cs"/>
                        </a:rPr>
                        <a:t>(~’26.01)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LG스마트체 Regular" panose="020B0600000101010101" pitchFamily="50" charset="-127"/>
                        </a:rPr>
                        <a:t>-</a:t>
                      </a:r>
                    </a:p>
                  </a:txBody>
                  <a:tcPr marL="8443" marR="8443" marT="8443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882073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669568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92E87A1-4EC9-4423-032B-681B997EF0F5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762329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알고리즘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기반 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FDC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이상감지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기능 구축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ESGM1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ESGM2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ESMI_LS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baseline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금주</a:t>
                      </a:r>
                      <a:r>
                        <a:rPr lang="en-US" altLang="ko-KR" sz="1000" b="0" baseline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(W51) EMS Work Request </a:t>
                      </a:r>
                      <a:r>
                        <a:rPr lang="ko-KR" altLang="en-US" sz="1000" b="0" baseline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자동 발행 연계</a:t>
                      </a:r>
                      <a:r>
                        <a:rPr lang="en-US" altLang="ko-KR" sz="1000" b="0" baseline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, </a:t>
                      </a:r>
                      <a:r>
                        <a:rPr lang="ko-KR" altLang="en-US" sz="1000" b="0" baseline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설비 </a:t>
                      </a:r>
                      <a:r>
                        <a:rPr lang="en-US" altLang="ko-KR" sz="1000" b="0" baseline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Host Alarm </a:t>
                      </a:r>
                      <a:r>
                        <a:rPr lang="ko-KR" altLang="en-US" sz="1000" b="0" baseline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연계 개발 진행 중입니다</a:t>
                      </a:r>
                      <a:r>
                        <a:rPr lang="en-US" altLang="ko-KR" sz="1000" b="0" baseline="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/>
                        </a:rPr>
                        <a:t>.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~’26.02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월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확산 및 고도화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장주은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전예린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85B03EC9-D5BE-EBBE-AD59-67DF73F19358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알고리즘 기반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FDC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이상감지 기능 구축</a:t>
            </a:r>
          </a:p>
        </p:txBody>
      </p:sp>
      <p:sp>
        <p:nvSpPr>
          <p:cNvPr id="7" name="제목 1">
            <a:extLst>
              <a:ext uri="{FF2B5EF4-FFF2-40B4-BE49-F238E27FC236}">
                <a16:creationId xmlns:a16="http://schemas.microsoft.com/office/drawing/2014/main" id="{0F3429A3-D75A-9A83-0846-211F3AFA864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7686025-5083-545A-3B66-DE2A0511C930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066B8CA4-CC7C-8BF3-FC6D-C7C9A21B9BCC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장주은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DCB6392-61C1-5A5C-F401-CE24F7ED6FE6}"/>
              </a:ext>
            </a:extLst>
          </p:cNvPr>
          <p:cNvGraphicFramePr>
            <a:graphicFrameLocks noGrp="1"/>
          </p:cNvGraphicFramePr>
          <p:nvPr/>
        </p:nvGraphicFramePr>
        <p:xfrm>
          <a:off x="1405293" y="1323138"/>
          <a:ext cx="7095414" cy="52930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0814">
                  <a:extLst>
                    <a:ext uri="{9D8B030D-6E8A-4147-A177-3AD203B41FA5}">
                      <a16:colId xmlns:a16="http://schemas.microsoft.com/office/drawing/2014/main" val="556678257"/>
                    </a:ext>
                  </a:extLst>
                </a:gridCol>
                <a:gridCol w="6324600">
                  <a:extLst>
                    <a:ext uri="{9D8B030D-6E8A-4147-A177-3AD203B41FA5}">
                      <a16:colId xmlns:a16="http://schemas.microsoft.com/office/drawing/2014/main" val="2326666024"/>
                    </a:ext>
                  </a:extLst>
                </a:gridCol>
              </a:tblGrid>
              <a:tr h="2210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구분</a:t>
                      </a: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내용</a:t>
                      </a:r>
                      <a:endParaRPr lang="en-US" altLang="ko-KR" sz="1000" b="1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805053"/>
                  </a:ext>
                </a:extLst>
              </a:tr>
              <a:tr h="1152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개요 및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진행 현황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1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프로젝트 개요</a:t>
                      </a:r>
                      <a:r>
                        <a:rPr lang="en-US" altLang="ko-KR" sz="900" b="1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88900" marR="0" lvl="0" indent="-8890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 Python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으로 개발한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머신러닝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/AI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알고리즘을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FDC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에 탑재하여 공정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 이상을 실시간 감지할 수 있는 기능을 구축하고자 합니다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 NB/WA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믹서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오버홀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주기 연장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), GM1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코터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단선 감지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대상으로 알고리즘 우선 적용하여 유효성 검증하겠습니다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1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[</a:t>
                      </a:r>
                      <a:r>
                        <a:rPr lang="ko-KR" altLang="en-US" sz="900" b="1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진행 현황</a:t>
                      </a:r>
                      <a:r>
                        <a:rPr lang="en-US" altLang="ko-KR" sz="900" b="1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1) NB/WA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믹서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오버홀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주기연장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: H/W, S/W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셋업 완료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Data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 완료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알고리즘 탑재 완료했습니다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2) GM1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코터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단선 감지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: H/W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셋업 완료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S/W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구성 완료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Data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등록 완료하였고 알고리즘 탑재 완료하여 유효성 검증 중입니다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9393157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법인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확산전개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현황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0224216"/>
                  </a:ext>
                </a:extLst>
              </a:tr>
              <a:tr h="2232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시스템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기능 개선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현황</a:t>
                      </a:r>
                      <a:endParaRPr lang="en-US" altLang="ko-KR" sz="1000" b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1)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알람 기능 연계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메일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메시지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타 시스템 연계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이상 발생 알람 기능을 구축하겠습니다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-.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메일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적용 완료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),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메시지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카카오톡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SMS, M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메신저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(~’25.11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완료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-.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이상감지 알람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메일링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기능 개발을 위한 메일 포맷 정의 완료하여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(1/10)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개발 진행 중입니다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    </a:t>
                      </a:r>
                      <a:r>
                        <a:rPr lang="ko-KR" altLang="en-US" sz="900" b="0" baseline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메일링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기능 개발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완료하였고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(1/21), ESNB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대상으로 기능 적용했습니다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.(2/11)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 EMS Work Request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발행 및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Host Alarm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과 연계하여 이상 알람 기능을 강화하겠습니다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-. EMS W/R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자동발행 연계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(~’25.12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현업과 개발 요건 확정했습니다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.(11/18)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확정된 요건 기반으로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EMS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와 개발 논의하겠습니다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.(11/20)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      &gt; </a:t>
                      </a:r>
                      <a:r>
                        <a:rPr lang="ko-KR" altLang="en-US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개발 진행 중입니다</a:t>
                      </a: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. (EMS </a:t>
                      </a:r>
                      <a:r>
                        <a:rPr lang="ko-KR" altLang="en-US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개발 </a:t>
                      </a: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~’26.01</a:t>
                      </a:r>
                      <a:r>
                        <a:rPr lang="ko-KR" altLang="en-US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, FDC </a:t>
                      </a:r>
                      <a:r>
                        <a:rPr lang="ko-KR" altLang="en-US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패치 </a:t>
                      </a: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’26.02</a:t>
                      </a:r>
                      <a:r>
                        <a:rPr lang="ko-KR" altLang="en-US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 -.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설비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Host Alarm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연계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(~’25.12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: Host Alarm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메시지 포맷 및 개발요건 확정했습니다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.(11/21) </a:t>
                      </a: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&gt; </a:t>
                      </a:r>
                      <a:r>
                        <a:rPr lang="ko-KR" altLang="en-US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개발 진행 중입니다</a:t>
                      </a: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. (~’26.02</a:t>
                      </a:r>
                      <a:r>
                        <a:rPr lang="ko-KR" altLang="en-US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baseline="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2)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가성 알람 개선을 위한 기능 보완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 - MES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장비상태와 연동하여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비 가동 시 발생한 이상치는 알람 발생하지 않도록 기능 보완하겠습니다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(~’25.9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완료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3)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이상감지 운영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알람 수신 설정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알람 조치 결과 입력 등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위한 화면 개발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87313" marR="0" lvl="0" indent="-87313" algn="l" rtl="0" eaLnBrk="1" fontAlgn="auto" latinLnBrk="1" hangingPunct="1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-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기존에 활용 중이던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FDC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이상감지 운영을 위한 화면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(FDC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Portal)*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을 수정 개발하여 알고리즘 기반 이상감지에도 활용할 수 있게 하겠습니다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 (~’25.9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월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 </a:t>
                      </a:r>
                      <a:r>
                        <a:rPr lang="en-US" altLang="ko-KR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9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sym typeface="Wingdings" panose="05000000000000000000" pitchFamily="2" charset="2"/>
                        </a:rPr>
                        <a:t>완료</a:t>
                      </a:r>
                      <a:endParaRPr lang="en-US" altLang="ko-KR" sz="900" b="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8757667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640322C1-7F25-7D34-FC44-7180F319F6ED}"/>
              </a:ext>
            </a:extLst>
          </p:cNvPr>
          <p:cNvSpPr txBox="1"/>
          <p:nvPr/>
        </p:nvSpPr>
        <p:spPr>
          <a:xfrm>
            <a:off x="4562762" y="6397759"/>
            <a:ext cx="40334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solidFill>
                  <a:srgbClr val="006600"/>
                </a:solidFill>
              </a:rPr>
              <a:t>*</a:t>
            </a:r>
            <a:r>
              <a:rPr lang="ko-KR" altLang="en-US" sz="800" dirty="0">
                <a:solidFill>
                  <a:srgbClr val="006600"/>
                </a:solidFill>
              </a:rPr>
              <a:t>알람 수신 설정</a:t>
            </a:r>
            <a:r>
              <a:rPr lang="en-US" altLang="ko-KR" sz="800" dirty="0">
                <a:solidFill>
                  <a:srgbClr val="006600"/>
                </a:solidFill>
              </a:rPr>
              <a:t>, </a:t>
            </a:r>
            <a:r>
              <a:rPr lang="ko-KR" altLang="en-US" sz="800" dirty="0">
                <a:solidFill>
                  <a:srgbClr val="006600"/>
                </a:solidFill>
              </a:rPr>
              <a:t>알람 조치 결과 입력</a:t>
            </a:r>
            <a:r>
              <a:rPr lang="en-US" altLang="ko-KR" sz="800" dirty="0">
                <a:solidFill>
                  <a:srgbClr val="006600"/>
                </a:solidFill>
              </a:rPr>
              <a:t> </a:t>
            </a:r>
            <a:r>
              <a:rPr lang="ko-KR" altLang="en-US" sz="800" dirty="0">
                <a:solidFill>
                  <a:srgbClr val="006600"/>
                </a:solidFill>
              </a:rPr>
              <a:t>등 이상감지 운영 전반에 필요한 </a:t>
            </a:r>
            <a:r>
              <a:rPr lang="en-US" altLang="ko-KR" sz="800" dirty="0">
                <a:solidFill>
                  <a:srgbClr val="006600"/>
                </a:solidFill>
              </a:rPr>
              <a:t>User </a:t>
            </a:r>
            <a:r>
              <a:rPr lang="ko-KR" altLang="en-US" sz="800" dirty="0">
                <a:solidFill>
                  <a:srgbClr val="006600"/>
                </a:solidFill>
              </a:rPr>
              <a:t>설정 화면 제공 중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9F662B7-485B-81EC-A0B1-D6460E52ED54}"/>
              </a:ext>
            </a:extLst>
          </p:cNvPr>
          <p:cNvGraphicFramePr>
            <a:graphicFrameLocks noGrp="1"/>
          </p:cNvGraphicFramePr>
          <p:nvPr/>
        </p:nvGraphicFramePr>
        <p:xfrm>
          <a:off x="2273203" y="2819155"/>
          <a:ext cx="5971381" cy="1188000"/>
        </p:xfrm>
        <a:graphic>
          <a:graphicData uri="http://schemas.openxmlformats.org/drawingml/2006/table">
            <a:tbl>
              <a:tblPr/>
              <a:tblGrid>
                <a:gridCol w="606468">
                  <a:extLst>
                    <a:ext uri="{9D8B030D-6E8A-4147-A177-3AD203B41FA5}">
                      <a16:colId xmlns:a16="http://schemas.microsoft.com/office/drawing/2014/main" val="2554555595"/>
                    </a:ext>
                  </a:extLst>
                </a:gridCol>
                <a:gridCol w="886377">
                  <a:extLst>
                    <a:ext uri="{9D8B030D-6E8A-4147-A177-3AD203B41FA5}">
                      <a16:colId xmlns:a16="http://schemas.microsoft.com/office/drawing/2014/main" val="425489555"/>
                    </a:ext>
                  </a:extLst>
                </a:gridCol>
                <a:gridCol w="886377">
                  <a:extLst>
                    <a:ext uri="{9D8B030D-6E8A-4147-A177-3AD203B41FA5}">
                      <a16:colId xmlns:a16="http://schemas.microsoft.com/office/drawing/2014/main" val="3237728884"/>
                    </a:ext>
                  </a:extLst>
                </a:gridCol>
                <a:gridCol w="886377">
                  <a:extLst>
                    <a:ext uri="{9D8B030D-6E8A-4147-A177-3AD203B41FA5}">
                      <a16:colId xmlns:a16="http://schemas.microsoft.com/office/drawing/2014/main" val="2966867553"/>
                    </a:ext>
                  </a:extLst>
                </a:gridCol>
                <a:gridCol w="886377">
                  <a:extLst>
                    <a:ext uri="{9D8B030D-6E8A-4147-A177-3AD203B41FA5}">
                      <a16:colId xmlns:a16="http://schemas.microsoft.com/office/drawing/2014/main" val="233910804"/>
                    </a:ext>
                  </a:extLst>
                </a:gridCol>
                <a:gridCol w="886377">
                  <a:extLst>
                    <a:ext uri="{9D8B030D-6E8A-4147-A177-3AD203B41FA5}">
                      <a16:colId xmlns:a16="http://schemas.microsoft.com/office/drawing/2014/main" val="3763024435"/>
                    </a:ext>
                  </a:extLst>
                </a:gridCol>
                <a:gridCol w="933028">
                  <a:extLst>
                    <a:ext uri="{9D8B030D-6E8A-4147-A177-3AD203B41FA5}">
                      <a16:colId xmlns:a16="http://schemas.microsoft.com/office/drawing/2014/main" val="594778796"/>
                    </a:ext>
                  </a:extLst>
                </a:gridCol>
              </a:tblGrid>
              <a:tr h="2880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검토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본사 투자심의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3.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투자심의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4.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집행품의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5. VM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서버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생성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6. ADE 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 및</a:t>
                      </a:r>
                      <a:endParaRPr lang="en-US" altLang="ko-KR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 구성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7481201"/>
                  </a:ext>
                </a:extLst>
              </a:tr>
              <a:tr h="1800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공정제어</a:t>
                      </a:r>
                      <a:r>
                        <a:rPr 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DX</a:t>
                      </a:r>
                      <a:r>
                        <a:rPr lang="ko-KR" alt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팀</a:t>
                      </a:r>
                      <a:endParaRPr lang="ko-KR" altLang="en-US" sz="800" b="0" i="0" u="none" strike="noStrike" dirty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PI</a:t>
                      </a:r>
                      <a:r>
                        <a:rPr lang="ko-KR" alt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팀</a:t>
                      </a:r>
                      <a:endParaRPr lang="ko-KR" altLang="en-US" sz="800" b="0" i="0" u="none" strike="noStrike" dirty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인프라팀</a:t>
                      </a:r>
                      <a:endParaRPr lang="ko-KR" altLang="en-US" sz="800" b="0" i="0" u="none" strike="noStrike" dirty="0">
                        <a:solidFill>
                          <a:srgbClr val="0066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+mn-ea"/>
                          <a:ea typeface="+mn-ea"/>
                        </a:rPr>
                        <a:t>공정제어</a:t>
                      </a:r>
                      <a:r>
                        <a:rPr lang="en-US" altLang="ko-KR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+mn-ea"/>
                          <a:ea typeface="+mn-ea"/>
                        </a:rPr>
                        <a:t>DX</a:t>
                      </a:r>
                      <a:r>
                        <a:rPr lang="ko-KR" altLang="en-US" sz="800" b="0" i="0" u="none" strike="noStrike" dirty="0">
                          <a:solidFill>
                            <a:srgbClr val="006600"/>
                          </a:solidFill>
                          <a:effectLst/>
                          <a:latin typeface="+mn-ea"/>
                          <a:ea typeface="+mn-ea"/>
                        </a:rPr>
                        <a:t>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8794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GM1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33883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GM2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27341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MI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07547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맑은 고딕" panose="020B0503020000020004" pitchFamily="50" charset="-127"/>
                        </a:rPr>
                        <a:t>MI_LS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맑은 고딕" panose="020B0503020000020004" pitchFamily="50" charset="-127"/>
                          <a:cs typeface="+mn-cs"/>
                        </a:rPr>
                        <a:t>完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863857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901319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D0C78B4-F821-C898-9E3C-C72104A62F78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859000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FDC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데이터정합성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자동 검증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기능 개선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전 법인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금주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(W51) </a:t>
                      </a:r>
                      <a:r>
                        <a:rPr lang="ko-KR" altLang="en-US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특이사항 없습니다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r>
                        <a:rPr lang="en-US" altLang="ko-KR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[</a:t>
                      </a:r>
                      <a:r>
                        <a:rPr lang="ko-KR" altLang="en-US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개요</a:t>
                      </a:r>
                      <a:r>
                        <a:rPr lang="en-US" altLang="ko-KR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] </a:t>
                      </a:r>
                    </a:p>
                    <a:p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- Pain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Point : FDC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로 수집하는 데이터 항목 수가 많아 데이터 정합성 검증에 많은 시간이 소요됨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-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개선 방안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: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시스템에서 자동으로 점검하는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Tool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을 개발하여 정합성 검증 소요 시간을 단축함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dirty="0"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dirty="0"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[</a:t>
                      </a:r>
                      <a:r>
                        <a:rPr lang="ko-KR" altLang="en-US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개선사항</a:t>
                      </a:r>
                      <a:r>
                        <a:rPr lang="en-US" altLang="ko-KR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] 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기능 개발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적용 완료 이후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개월 가량 사용하여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Use Case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를 확인해본 결과 아래와 같은 현상이 있음을 확인하여 개선하고자 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1.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자동검증 결과가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인데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Eng’r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가 검증 완료로 처리하는 경우가 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 1)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전일 설비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미가동하여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가동 시점의 데이터를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Eng’r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가 수동 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검증한 뒤 완료 처리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 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설비 상태 데이터와 연계하여 설비 가동 시점의 데이터로 자동 검증하겠습니다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.(~12/E)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2) 12.00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으로 수집된 값을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로 인식하여 자동 검증에서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NG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판단되었고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이를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Eng’r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가 완료로 처리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177800" marR="0" lvl="0" indent="-17780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 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데이터 수집 프로그램에서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로 자동 변환되는 것을 수정하고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(~11/M), 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</a:p>
                    <a:p>
                      <a:pPr marL="177800" marR="0" lvl="0" indent="-17780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정합성 자동검증 기능에서 숫자가 아닌 문자로 인식하도록 수정하여 보완하겠습니다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.(~12/E)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3)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설비→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FDC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로 값을 올릴 때 소수점이 찍힌 상태로 올리는 데이터 타입은 자동검증 시 소수점 자릿수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처리되어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Eng’r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가 수동 완료 처리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 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해당 데이터 타입은 판단불가 처리하여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Eng’r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가 직접 확인하도록 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.(~9/E)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▶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☞ 이외에도 자동검증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항목을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Eng’r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가 완료처리 하는 경우 판정 근거를 필수 입력하도록 보완하겠습니다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.(~12/E)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2. Zero=NG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인데 다른 점검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Rule(Decimal, Same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등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OK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혹은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로 처리하는 경우가 있어 상세 원인 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  Zero=NG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인 경우 다른 점검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Rule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은 판단불가로 처리하도록 보완하겠습니다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.(~9/E)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▶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3.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정합성 검증을 완료했으나 이후에 값이 틀어지는 경우가 있었습니다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1)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정합성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검증 완료 이후 데이터 수집 기준정보 변경하여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(Address,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소수점 등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값이 달라지는 경우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 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데이터 수집 기준정보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(PLC IP, Address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등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변경되는 경우 정합성 검증 상태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완료→진행중으로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변경하겠습니다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.(~12/E)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2)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설비 개조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 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설비 개조 이후 정합성 검증 상태를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완료→진행중으로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변경하여 재점검하도록 가이드 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☞ 이외에도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정합성 검증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완료 이후에 값이 틀어지는지 추적하기 위해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DAVINCI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에서 점검하는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Workflow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생성하여 관리하겠습니다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.(~12/E)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4.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동일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Parts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의 동일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Parameter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인데 수집되는 값의 소수점 자릿수가 다른 경우가 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1) Eng’r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가 기준정보 작성 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오기입하여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기준정보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오등록된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경우가 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    Para.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분류체계 검증 자동화 기능을 개발하여 자동으로 검토할 수 있게 보완하겠습니다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.(~12/E)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☞ 그 외 원인 파악을 위해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개 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, 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Parts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대상으로 점검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분석하여 정합화하고 개선방안 도출하겠습니다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.(~12/E)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~25.12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월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장주은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내용 개체 틀 20">
            <a:extLst>
              <a:ext uri="{FF2B5EF4-FFF2-40B4-BE49-F238E27FC236}">
                <a16:creationId xmlns:a16="http://schemas.microsoft.com/office/drawing/2014/main" id="{5CBAAC34-2B3E-0580-FA2C-ABC35614E344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FDC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데이터 정합성 자동 검증 기능 개선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6" name="제목 1">
            <a:extLst>
              <a:ext uri="{FF2B5EF4-FFF2-40B4-BE49-F238E27FC236}">
                <a16:creationId xmlns:a16="http://schemas.microsoft.com/office/drawing/2014/main" id="{A33D1B2E-AB82-1924-DFFF-CD7DF5222223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46F0687-AE9A-B293-DBE9-4B28BA5D8762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C5A3C5B3-ED39-E0BB-22F8-9FE8F539424C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장주은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0F79ACC-DDDD-A4C9-4F83-3A2A65E3AFFA}"/>
              </a:ext>
            </a:extLst>
          </p:cNvPr>
          <p:cNvSpPr/>
          <p:nvPr/>
        </p:nvSpPr>
        <p:spPr>
          <a:xfrm>
            <a:off x="1450630" y="1983218"/>
            <a:ext cx="1060450" cy="33915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이전 </a:t>
            </a:r>
            <a:r>
              <a:rPr lang="en-US" altLang="ko-KR" sz="1000" dirty="0">
                <a:solidFill>
                  <a:schemeClr val="tx1"/>
                </a:solidFill>
              </a:rPr>
              <a:t>24</a:t>
            </a:r>
            <a:r>
              <a:rPr lang="ko-KR" altLang="en-US" sz="1000" dirty="0">
                <a:solidFill>
                  <a:schemeClr val="tx1"/>
                </a:solidFill>
              </a:rPr>
              <a:t>시간 </a:t>
            </a:r>
            <a:r>
              <a:rPr lang="en-US" altLang="ko-KR" sz="1000" dirty="0">
                <a:solidFill>
                  <a:schemeClr val="tx1"/>
                </a:solidFill>
              </a:rPr>
              <a:t>Data</a:t>
            </a:r>
            <a:r>
              <a:rPr lang="ko-KR" altLang="en-US" sz="1000" dirty="0">
                <a:solidFill>
                  <a:schemeClr val="tx1"/>
                </a:solidFill>
              </a:rPr>
              <a:t>의 </a:t>
            </a:r>
            <a:r>
              <a:rPr lang="en-US" altLang="ko-KR" sz="1000" dirty="0">
                <a:solidFill>
                  <a:schemeClr val="tx1"/>
                </a:solidFill>
              </a:rPr>
              <a:t>Min/Max </a:t>
            </a:r>
            <a:r>
              <a:rPr lang="ko-KR" altLang="en-US" sz="1000" dirty="0">
                <a:solidFill>
                  <a:schemeClr val="tx1"/>
                </a:solidFill>
              </a:rPr>
              <a:t>계산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9418A34-D32D-32CC-A483-945D8B2B5E68}"/>
              </a:ext>
            </a:extLst>
          </p:cNvPr>
          <p:cNvSpPr/>
          <p:nvPr/>
        </p:nvSpPr>
        <p:spPr>
          <a:xfrm>
            <a:off x="2822861" y="1983218"/>
            <a:ext cx="764907" cy="1841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solidFill>
                  <a:schemeClr val="tx1"/>
                </a:solidFill>
              </a:rPr>
              <a:t>① </a:t>
            </a:r>
            <a:r>
              <a:rPr lang="en-US" altLang="ko-KR" sz="1000" dirty="0">
                <a:solidFill>
                  <a:schemeClr val="tx1"/>
                </a:solidFill>
              </a:rPr>
              <a:t>Zero</a:t>
            </a:r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1D241DF-F480-4F94-95D3-387B869B55AE}"/>
              </a:ext>
            </a:extLst>
          </p:cNvPr>
          <p:cNvSpPr/>
          <p:nvPr/>
        </p:nvSpPr>
        <p:spPr>
          <a:xfrm>
            <a:off x="2822861" y="2199118"/>
            <a:ext cx="764907" cy="1841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solidFill>
                  <a:schemeClr val="tx1"/>
                </a:solidFill>
              </a:rPr>
              <a:t>② </a:t>
            </a:r>
            <a:r>
              <a:rPr lang="en-US" altLang="ko-KR" sz="1000" dirty="0">
                <a:solidFill>
                  <a:schemeClr val="tx1"/>
                </a:solidFill>
              </a:rPr>
              <a:t>Decimal</a:t>
            </a:r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047D97B-3D5D-B389-6522-21E81DCC53EB}"/>
              </a:ext>
            </a:extLst>
          </p:cNvPr>
          <p:cNvSpPr/>
          <p:nvPr/>
        </p:nvSpPr>
        <p:spPr>
          <a:xfrm>
            <a:off x="2822861" y="2415018"/>
            <a:ext cx="764907" cy="1841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solidFill>
                  <a:schemeClr val="tx1"/>
                </a:solidFill>
              </a:rPr>
              <a:t>③ </a:t>
            </a:r>
            <a:r>
              <a:rPr lang="en-US" altLang="ko-KR" sz="1000" dirty="0">
                <a:solidFill>
                  <a:schemeClr val="tx1"/>
                </a:solidFill>
              </a:rPr>
              <a:t>Negative</a:t>
            </a:r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4B666DD-E68F-BD84-9B0F-A13506CCD68C}"/>
              </a:ext>
            </a:extLst>
          </p:cNvPr>
          <p:cNvSpPr/>
          <p:nvPr/>
        </p:nvSpPr>
        <p:spPr>
          <a:xfrm>
            <a:off x="2822861" y="2630918"/>
            <a:ext cx="764907" cy="1841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solidFill>
                  <a:schemeClr val="tx1"/>
                </a:solidFill>
              </a:rPr>
              <a:t>④ </a:t>
            </a:r>
            <a:r>
              <a:rPr lang="en-US" altLang="ko-KR" sz="1000" dirty="0">
                <a:solidFill>
                  <a:schemeClr val="tx1"/>
                </a:solidFill>
              </a:rPr>
              <a:t>Same</a:t>
            </a:r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BF6E760-94CA-CBFE-1B86-4CCB1FDFF840}"/>
              </a:ext>
            </a:extLst>
          </p:cNvPr>
          <p:cNvSpPr/>
          <p:nvPr/>
        </p:nvSpPr>
        <p:spPr>
          <a:xfrm>
            <a:off x="2822861" y="2846818"/>
            <a:ext cx="764907" cy="1841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 dirty="0">
                <a:solidFill>
                  <a:schemeClr val="tx1"/>
                </a:solidFill>
              </a:rPr>
              <a:t>⑤ </a:t>
            </a:r>
            <a:r>
              <a:rPr lang="en-US" altLang="ko-KR" sz="1000" dirty="0">
                <a:solidFill>
                  <a:schemeClr val="tx1"/>
                </a:solidFill>
              </a:rPr>
              <a:t>Value</a:t>
            </a:r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87B5874-0086-6CDA-4F07-1E026A7D1AB1}"/>
              </a:ext>
            </a:extLst>
          </p:cNvPr>
          <p:cNvSpPr txBox="1"/>
          <p:nvPr/>
        </p:nvSpPr>
        <p:spPr>
          <a:xfrm>
            <a:off x="3572239" y="1952897"/>
            <a:ext cx="67839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Min=Max=0</a:t>
            </a:r>
            <a:endParaRPr lang="ko-KR" altLang="en-US" sz="90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A29BB50-D2DC-F863-00CE-42A4DDA4BF2B}"/>
              </a:ext>
            </a:extLst>
          </p:cNvPr>
          <p:cNvSpPr txBox="1"/>
          <p:nvPr/>
        </p:nvSpPr>
        <p:spPr>
          <a:xfrm>
            <a:off x="3572239" y="2600597"/>
            <a:ext cx="131959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Min=Max, SV</a:t>
            </a:r>
            <a:r>
              <a:rPr lang="ko-KR" altLang="en-US" sz="900" dirty="0"/>
              <a:t>값은 </a:t>
            </a:r>
            <a:r>
              <a:rPr lang="en-US" altLang="ko-KR" sz="900" dirty="0"/>
              <a:t>OK</a:t>
            </a:r>
            <a:r>
              <a:rPr lang="ko-KR" altLang="en-US" sz="900" dirty="0"/>
              <a:t>처리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270128E-C0CD-20C6-F68A-7D7E79E05EF8}"/>
              </a:ext>
            </a:extLst>
          </p:cNvPr>
          <p:cNvSpPr txBox="1"/>
          <p:nvPr/>
        </p:nvSpPr>
        <p:spPr>
          <a:xfrm>
            <a:off x="3572239" y="2172798"/>
            <a:ext cx="271099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소수점 자릿수 기준정보 ≠ 실제 값에 찍힌 소수점 자릿수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AED30C2-AC49-8881-681C-8434479A2ACD}"/>
              </a:ext>
            </a:extLst>
          </p:cNvPr>
          <p:cNvSpPr txBox="1"/>
          <p:nvPr/>
        </p:nvSpPr>
        <p:spPr>
          <a:xfrm>
            <a:off x="3572239" y="2393286"/>
            <a:ext cx="269336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음수 사용여부 기준정보 </a:t>
            </a:r>
            <a:r>
              <a:rPr lang="en-US" altLang="ko-KR" sz="900" dirty="0"/>
              <a:t>= N </a:t>
            </a:r>
            <a:r>
              <a:rPr lang="ko-KR" altLang="en-US" sz="900" dirty="0"/>
              <a:t>인데 값에 음수가 찍힌 경우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F317C2C-AC5D-B6CD-9577-2E7AE1E44010}"/>
              </a:ext>
            </a:extLst>
          </p:cNvPr>
          <p:cNvSpPr txBox="1"/>
          <p:nvPr/>
        </p:nvSpPr>
        <p:spPr>
          <a:xfrm>
            <a:off x="3572239" y="2815068"/>
            <a:ext cx="223490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사용자가 설정한 </a:t>
            </a:r>
            <a:r>
              <a:rPr lang="en-US" altLang="ko-KR" sz="900" dirty="0"/>
              <a:t>Range</a:t>
            </a:r>
            <a:r>
              <a:rPr lang="ko-KR" altLang="en-US" sz="900" dirty="0"/>
              <a:t>에서 값이 벗어난 경우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E20B051-99A8-BB29-252B-F18EA9B5ADA3}"/>
              </a:ext>
            </a:extLst>
          </p:cNvPr>
          <p:cNvSpPr/>
          <p:nvPr/>
        </p:nvSpPr>
        <p:spPr>
          <a:xfrm>
            <a:off x="6593179" y="1983218"/>
            <a:ext cx="1007259" cy="33915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1~5</a:t>
            </a:r>
            <a:r>
              <a:rPr lang="ko-KR" altLang="en-US" sz="1000" dirty="0">
                <a:solidFill>
                  <a:schemeClr val="tx1"/>
                </a:solidFill>
              </a:rPr>
              <a:t>번 모두 </a:t>
            </a:r>
            <a:r>
              <a:rPr lang="en-US" altLang="ko-KR" sz="1000" dirty="0">
                <a:solidFill>
                  <a:schemeClr val="tx1"/>
                </a:solidFill>
              </a:rPr>
              <a:t>OK </a:t>
            </a:r>
            <a:r>
              <a:rPr lang="ko-KR" altLang="en-US" sz="1000" dirty="0">
                <a:solidFill>
                  <a:schemeClr val="tx1"/>
                </a:solidFill>
              </a:rPr>
              <a:t>시 최종 </a:t>
            </a:r>
            <a:r>
              <a:rPr lang="en-US" altLang="ko-KR" sz="1000" dirty="0">
                <a:solidFill>
                  <a:schemeClr val="tx1"/>
                </a:solidFill>
              </a:rPr>
              <a:t>OK </a:t>
            </a:r>
            <a:r>
              <a:rPr lang="ko-KR" altLang="en-US" sz="1000" dirty="0">
                <a:solidFill>
                  <a:schemeClr val="tx1"/>
                </a:solidFill>
              </a:rPr>
              <a:t>처리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76E91CD-B3CB-EBB8-84DC-C8135DB6B00B}"/>
              </a:ext>
            </a:extLst>
          </p:cNvPr>
          <p:cNvSpPr/>
          <p:nvPr/>
        </p:nvSpPr>
        <p:spPr>
          <a:xfrm>
            <a:off x="7757236" y="1983218"/>
            <a:ext cx="698134" cy="33915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Eng’r </a:t>
            </a:r>
            <a:r>
              <a:rPr lang="ko-KR" altLang="en-US" sz="1000" dirty="0">
                <a:solidFill>
                  <a:schemeClr val="tx1"/>
                </a:solidFill>
              </a:rPr>
              <a:t>최종 </a:t>
            </a:r>
            <a:r>
              <a:rPr lang="en-US" altLang="ko-KR" sz="1000" dirty="0">
                <a:solidFill>
                  <a:schemeClr val="tx1"/>
                </a:solidFill>
              </a:rPr>
              <a:t>Confirm</a:t>
            </a:r>
            <a:endParaRPr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40" name="왼쪽 중괄호 39">
            <a:extLst>
              <a:ext uri="{FF2B5EF4-FFF2-40B4-BE49-F238E27FC236}">
                <a16:creationId xmlns:a16="http://schemas.microsoft.com/office/drawing/2014/main" id="{DB5C9C30-B716-362E-21B8-8C9F789E7930}"/>
              </a:ext>
            </a:extLst>
          </p:cNvPr>
          <p:cNvSpPr/>
          <p:nvPr/>
        </p:nvSpPr>
        <p:spPr>
          <a:xfrm>
            <a:off x="2645481" y="1983218"/>
            <a:ext cx="153817" cy="977587"/>
          </a:xfrm>
          <a:prstGeom prst="leftBrace">
            <a:avLst>
              <a:gd name="adj1" fmla="val 8333"/>
              <a:gd name="adj2" fmla="val 16873"/>
            </a:avLst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오른쪽 중괄호 41">
            <a:extLst>
              <a:ext uri="{FF2B5EF4-FFF2-40B4-BE49-F238E27FC236}">
                <a16:creationId xmlns:a16="http://schemas.microsoft.com/office/drawing/2014/main" id="{DC0343E2-AD14-2A77-593F-9DD68C90B137}"/>
              </a:ext>
            </a:extLst>
          </p:cNvPr>
          <p:cNvSpPr/>
          <p:nvPr/>
        </p:nvSpPr>
        <p:spPr>
          <a:xfrm>
            <a:off x="6235058" y="1983219"/>
            <a:ext cx="227350" cy="1062682"/>
          </a:xfrm>
          <a:prstGeom prst="rightBrace">
            <a:avLst>
              <a:gd name="adj1" fmla="val 8333"/>
              <a:gd name="adj2" fmla="val 16538"/>
            </a:avLst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99D6EAB8-F7C8-6357-8445-EF9B50075873}"/>
              </a:ext>
            </a:extLst>
          </p:cNvPr>
          <p:cNvCxnSpPr>
            <a:cxnSpLocks/>
            <a:stCxn id="35" idx="3"/>
            <a:endCxn id="38" idx="1"/>
          </p:cNvCxnSpPr>
          <p:nvPr/>
        </p:nvCxnSpPr>
        <p:spPr>
          <a:xfrm>
            <a:off x="7600438" y="2152795"/>
            <a:ext cx="156798" cy="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CCA4E675-0559-0A9A-EA32-4337CDADAF7C}"/>
              </a:ext>
            </a:extLst>
          </p:cNvPr>
          <p:cNvCxnSpPr>
            <a:cxnSpLocks/>
            <a:stCxn id="42" idx="1"/>
            <a:endCxn id="35" idx="1"/>
          </p:cNvCxnSpPr>
          <p:nvPr/>
        </p:nvCxnSpPr>
        <p:spPr>
          <a:xfrm flipV="1">
            <a:off x="6462408" y="2152795"/>
            <a:ext cx="130771" cy="617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화살표 연결선 45">
            <a:extLst>
              <a:ext uri="{FF2B5EF4-FFF2-40B4-BE49-F238E27FC236}">
                <a16:creationId xmlns:a16="http://schemas.microsoft.com/office/drawing/2014/main" id="{C76071A2-F3BF-DFBE-5825-EA00A50AB311}"/>
              </a:ext>
            </a:extLst>
          </p:cNvPr>
          <p:cNvCxnSpPr>
            <a:cxnSpLocks/>
            <a:stCxn id="9" idx="3"/>
            <a:endCxn id="40" idx="1"/>
          </p:cNvCxnSpPr>
          <p:nvPr/>
        </p:nvCxnSpPr>
        <p:spPr>
          <a:xfrm flipV="1">
            <a:off x="2511080" y="2148166"/>
            <a:ext cx="134401" cy="4629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1626559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표 1">
            <a:extLst>
              <a:ext uri="{FF2B5EF4-FFF2-40B4-BE49-F238E27FC236}">
                <a16:creationId xmlns:a16="http://schemas.microsoft.com/office/drawing/2014/main" id="{84ED38A7-7B53-4807-925C-1018FF529470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84641" cy="5762329"/>
        </p:xfrm>
        <a:graphic>
          <a:graphicData uri="http://schemas.openxmlformats.org/drawingml/2006/table">
            <a:tbl>
              <a:tblPr/>
              <a:tblGrid>
                <a:gridCol w="5328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861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6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파우치형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전법인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FDS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확산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 err="1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+mn-cs"/>
                        </a:rPr>
                        <a:t>(W51) 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GM1/GM2/WA/China(NA/NB)/MI/MILS/HD/HG 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법인 대상으로 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월 비정기배포 진행하였으며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,(12/8~12/10) 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특이사항 없습니다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보정</a:t>
                      </a:r>
                      <a:r>
                        <a:rPr lang="en-US" altLang="ko-KR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dOCV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  <a:b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</a:b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ESMI FDS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오픈하였으며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활성화공정설계팀과 협의하여 양산 적용 예정입니다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.(~11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ESHD FDS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시스템 오픈하였으며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활성화공정설계팀과 협의하여 양산 적용 예정입니다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.(~11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ESMIL FDS WEB,AP,DC,DB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 셋업 및 오픈 완료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(11/25)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*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일정변경 사유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: MIL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네트워크 이슈 대응 중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FDS DB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서버 복구작업이 지연되며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, FDS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App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셋업 일정 완료까지 약 일주일 추가 소요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kern="1200" dirty="0">
                        <a:solidFill>
                          <a:srgbClr val="0000F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저전압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DX,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빅데이터</a:t>
                      </a:r>
                      <a:r>
                        <a:rPr lang="en-US" altLang="ko-KR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dOCV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ESGM1 3,4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 대상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차 양산 검증 중으로 판정 모니터링 진행 완료하였습니다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.(10/29~11/8)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kern="1200" dirty="0">
                        <a:solidFill>
                          <a:srgbClr val="0000F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정기배포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GM1/GM2/WA/China(NA/NB)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법인 대상으로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월 정기배포 진행 하였습니다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.(10/30)</a:t>
                      </a:r>
                      <a:b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GM1/GM2/WA/China(NA/NB)/MI/MILS/HD/HG 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법인 대상으로 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월 비정기배포 완료하였습니다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.(12/8~12/10)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지유하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안재준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8CDDBD6F-EB61-413A-8C1E-0ECDE9D4ADA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FDS System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파우치형 확산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_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전법인</a:t>
            </a:r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id="{42D0718B-3C0F-4E87-9AEC-BFB7D9D7B10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lang="ko-KR" altLang="en-US" sz="1800" dirty="0"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lang="en-US" altLang="ko-KR" sz="1800" dirty="0"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1D8DF90-14AD-4CE9-BEB7-70AB4DCAE4AB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10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7FC2BEA1-620E-4B86-AA5D-C1BCC8493BBB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지유하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7D7C00B-83F9-4BB5-9781-B8336094682B}"/>
              </a:ext>
            </a:extLst>
          </p:cNvPr>
          <p:cNvGraphicFramePr>
            <a:graphicFrameLocks noGrp="1"/>
          </p:cNvGraphicFramePr>
          <p:nvPr/>
        </p:nvGraphicFramePr>
        <p:xfrm>
          <a:off x="792359" y="3532094"/>
          <a:ext cx="8321281" cy="29533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5218">
                  <a:extLst>
                    <a:ext uri="{9D8B030D-6E8A-4147-A177-3AD203B41FA5}">
                      <a16:colId xmlns:a16="http://schemas.microsoft.com/office/drawing/2014/main" val="1126082579"/>
                    </a:ext>
                  </a:extLst>
                </a:gridCol>
                <a:gridCol w="660400">
                  <a:extLst>
                    <a:ext uri="{9D8B030D-6E8A-4147-A177-3AD203B41FA5}">
                      <a16:colId xmlns:a16="http://schemas.microsoft.com/office/drawing/2014/main" val="477671180"/>
                    </a:ext>
                  </a:extLst>
                </a:gridCol>
                <a:gridCol w="587286">
                  <a:extLst>
                    <a:ext uri="{9D8B030D-6E8A-4147-A177-3AD203B41FA5}">
                      <a16:colId xmlns:a16="http://schemas.microsoft.com/office/drawing/2014/main" val="3955745852"/>
                    </a:ext>
                  </a:extLst>
                </a:gridCol>
                <a:gridCol w="635018">
                  <a:extLst>
                    <a:ext uri="{9D8B030D-6E8A-4147-A177-3AD203B41FA5}">
                      <a16:colId xmlns:a16="http://schemas.microsoft.com/office/drawing/2014/main" val="3420303759"/>
                    </a:ext>
                  </a:extLst>
                </a:gridCol>
                <a:gridCol w="587286">
                  <a:extLst>
                    <a:ext uri="{9D8B030D-6E8A-4147-A177-3AD203B41FA5}">
                      <a16:colId xmlns:a16="http://schemas.microsoft.com/office/drawing/2014/main" val="3285978895"/>
                    </a:ext>
                  </a:extLst>
                </a:gridCol>
                <a:gridCol w="587286">
                  <a:extLst>
                    <a:ext uri="{9D8B030D-6E8A-4147-A177-3AD203B41FA5}">
                      <a16:colId xmlns:a16="http://schemas.microsoft.com/office/drawing/2014/main" val="2874989508"/>
                    </a:ext>
                  </a:extLst>
                </a:gridCol>
                <a:gridCol w="638554">
                  <a:extLst>
                    <a:ext uri="{9D8B030D-6E8A-4147-A177-3AD203B41FA5}">
                      <a16:colId xmlns:a16="http://schemas.microsoft.com/office/drawing/2014/main" val="2438332794"/>
                    </a:ext>
                  </a:extLst>
                </a:gridCol>
                <a:gridCol w="548392">
                  <a:extLst>
                    <a:ext uri="{9D8B030D-6E8A-4147-A177-3AD203B41FA5}">
                      <a16:colId xmlns:a16="http://schemas.microsoft.com/office/drawing/2014/main" val="2480165053"/>
                    </a:ext>
                  </a:extLst>
                </a:gridCol>
                <a:gridCol w="652697">
                  <a:extLst>
                    <a:ext uri="{9D8B030D-6E8A-4147-A177-3AD203B41FA5}">
                      <a16:colId xmlns:a16="http://schemas.microsoft.com/office/drawing/2014/main" val="992761505"/>
                    </a:ext>
                  </a:extLst>
                </a:gridCol>
                <a:gridCol w="587286">
                  <a:extLst>
                    <a:ext uri="{9D8B030D-6E8A-4147-A177-3AD203B41FA5}">
                      <a16:colId xmlns:a16="http://schemas.microsoft.com/office/drawing/2014/main" val="3522346532"/>
                    </a:ext>
                  </a:extLst>
                </a:gridCol>
                <a:gridCol w="587286">
                  <a:extLst>
                    <a:ext uri="{9D8B030D-6E8A-4147-A177-3AD203B41FA5}">
                      <a16:colId xmlns:a16="http://schemas.microsoft.com/office/drawing/2014/main" val="3843602099"/>
                    </a:ext>
                  </a:extLst>
                </a:gridCol>
                <a:gridCol w="587286">
                  <a:extLst>
                    <a:ext uri="{9D8B030D-6E8A-4147-A177-3AD203B41FA5}">
                      <a16:colId xmlns:a16="http://schemas.microsoft.com/office/drawing/2014/main" val="717715914"/>
                    </a:ext>
                  </a:extLst>
                </a:gridCol>
                <a:gridCol w="587286">
                  <a:extLst>
                    <a:ext uri="{9D8B030D-6E8A-4147-A177-3AD203B41FA5}">
                      <a16:colId xmlns:a16="http://schemas.microsoft.com/office/drawing/2014/main" val="3921100408"/>
                    </a:ext>
                  </a:extLst>
                </a:gridCol>
              </a:tblGrid>
              <a:tr h="306401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ESGM1 (10)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ESGM2 (4)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ESNA (4)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ESNB (3)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ESWA (28)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 (6)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ESMILS (5)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ESHD (6)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ESHG (9)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ESST (4)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ESHM (4)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133185"/>
                  </a:ext>
                </a:extLst>
              </a:tr>
              <a:tr h="22940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FDS Open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‘26.4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9860376"/>
                  </a:ext>
                </a:extLst>
              </a:tr>
              <a:tr h="22940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PI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팀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정원철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홍인걸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이주석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이주석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박병희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김현성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김현성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이상백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송수균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이기창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정진화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052"/>
                  </a:ext>
                </a:extLst>
              </a:tr>
              <a:tr h="35293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 활성화팀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정지선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</a:p>
                    <a:p>
                      <a:pPr algn="ctr"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송중현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이동욱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유제웅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이동철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변명석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서인재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박효진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</a:p>
                    <a:p>
                      <a:pPr algn="ctr"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김영서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S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강상욱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</a:p>
                    <a:p>
                      <a:pPr algn="ctr"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조호균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안수종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권성표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</a:p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김은지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허준혁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TL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박균도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P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378595"/>
                  </a:ext>
                </a:extLst>
              </a:tr>
              <a:tr h="229406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보정 </a:t>
                      </a:r>
                      <a:r>
                        <a:rPr lang="en-US" altLang="ko-KR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dOCV</a:t>
                      </a:r>
                      <a:endParaRPr lang="en-US" altLang="ko-KR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활성화공정설계팀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투자심의</a:t>
                      </a:r>
                      <a:endParaRPr lang="ko-KR" altLang="en-US" sz="9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ko-KR" altLang="en-US" sz="9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HOLD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053774"/>
                  </a:ext>
                </a:extLst>
              </a:tr>
              <a:tr h="2294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</a:t>
                      </a:r>
                      <a:r>
                        <a:rPr lang="en-US" altLang="ko-KR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계약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8873768"/>
                  </a:ext>
                </a:extLst>
              </a:tr>
              <a:tr h="2294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Infra </a:t>
                      </a: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HOLD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24703"/>
                  </a:ext>
                </a:extLst>
              </a:tr>
              <a:tr h="22940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적용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 예정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611917"/>
                  </a:ext>
                </a:extLst>
              </a:tr>
              <a:tr h="229406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저전압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DX </a:t>
                      </a:r>
                    </a:p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빅데이터 </a:t>
                      </a:r>
                      <a:r>
                        <a:rPr lang="en-US" altLang="ko-KR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dOCV</a:t>
                      </a:r>
                      <a:endParaRPr lang="en-US" altLang="ko-KR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저전압데이터분석팀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투자심의</a:t>
                      </a:r>
                      <a:endParaRPr lang="ko-KR" altLang="en-US" sz="900" b="0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투자예정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동 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투자예정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년</a:t>
                      </a:r>
                      <a:endParaRPr lang="en-US" altLang="ko-KR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투자예정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extLst>
                  <a:ext uri="{0D108BD9-81ED-4DB2-BD59-A6C34878D82A}">
                    <a16:rowId xmlns:a16="http://schemas.microsoft.com/office/drawing/2014/main" val="130469334"/>
                  </a:ext>
                </a:extLst>
              </a:tr>
              <a:tr h="2294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집행</a:t>
                      </a:r>
                      <a:r>
                        <a:rPr lang="en-US" altLang="ko-KR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계약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LG스마트체 Regular" panose="020B0600000101010101" pitchFamily="50" charset="-127"/>
                        </a:rPr>
                        <a:t>동 완료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extLst>
                  <a:ext uri="{0D108BD9-81ED-4DB2-BD59-A6C34878D82A}">
                    <a16:rowId xmlns:a16="http://schemas.microsoft.com/office/drawing/2014/main" val="646180333"/>
                  </a:ext>
                </a:extLst>
              </a:tr>
              <a:tr h="2294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Infra </a:t>
                      </a: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>
                              <a:lumMod val="50000"/>
                            </a:prst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 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extLst>
                  <a:ext uri="{0D108BD9-81ED-4DB2-BD59-A6C34878D82A}">
                    <a16:rowId xmlns:a16="http://schemas.microsoft.com/office/drawing/2014/main" val="1672258013"/>
                  </a:ext>
                </a:extLst>
              </a:tr>
              <a:tr h="22940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 적용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LG스마트체 Regular" panose="020B0600000101010101" pitchFamily="50" charset="-127"/>
                          <a:cs typeface="+mn-cs"/>
                        </a:rPr>
                        <a:t>동 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solidFill>
                          <a:schemeClr val="bg1">
                            <a:lumMod val="50000"/>
                          </a:schemeClr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chemeClr val="bg1">
                          <a:lumMod val="65000"/>
                        </a:schemeClr>
                      </a:fgClr>
                      <a:bgClr>
                        <a:schemeClr val="bg1"/>
                      </a:bgClr>
                    </a:pattFill>
                  </a:tcPr>
                </a:tc>
                <a:extLst>
                  <a:ext uri="{0D108BD9-81ED-4DB2-BD59-A6C34878D82A}">
                    <a16:rowId xmlns:a16="http://schemas.microsoft.com/office/drawing/2014/main" val="20873162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448972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0AD31E8-B1A6-CAF0-942F-08F52CDF3300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66631E8A-0622-B84E-49B7-CD2ADE7AD3C7}"/>
              </a:ext>
            </a:extLst>
          </p:cNvPr>
          <p:cNvSpPr txBox="1">
            <a:spLocks/>
          </p:cNvSpPr>
          <p:nvPr/>
        </p:nvSpPr>
        <p:spPr>
          <a:xfrm>
            <a:off x="8763735" y="118406"/>
            <a:ext cx="923331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안재준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256E471-590B-3825-C850-C2DCBC17D53C}"/>
              </a:ext>
            </a:extLst>
          </p:cNvPr>
          <p:cNvGraphicFramePr>
            <a:graphicFrameLocks noGrp="1"/>
          </p:cNvGraphicFramePr>
          <p:nvPr/>
        </p:nvGraphicFramePr>
        <p:xfrm>
          <a:off x="125045" y="866775"/>
          <a:ext cx="9620534" cy="5935200"/>
        </p:xfrm>
        <a:graphic>
          <a:graphicData uri="http://schemas.openxmlformats.org/drawingml/2006/table">
            <a:tbl>
              <a:tblPr/>
              <a:tblGrid>
                <a:gridCol w="5461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590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538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원통형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전법인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FDS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확산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000" kern="1200" dirty="0" err="1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(W50) OC2/China(NJ)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법인 대상으로 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ko-KR" altLang="en-US" sz="1000" kern="1200" dirty="0" err="1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비정기패치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 진행중입니다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.(~12/10)</a:t>
                      </a:r>
                    </a:p>
                    <a:p>
                      <a:endParaRPr lang="en-US" altLang="ko-KR" sz="1000" kern="1200" dirty="0">
                        <a:solidFill>
                          <a:srgbClr val="0000F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rgbClr val="0000F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&lt;3point OCV 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저전압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판정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[ESNJ]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- 6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라인을 선정하여 운영 적용 테스트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(9/16)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및 운영 적용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(9/23)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하였으며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대상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개 라인 모두 운영 적용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(~10/14)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알고리즘 검증 및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FCS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↔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FDS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판정 결측 모니터링 개발을 위한 메시지 정의 및 샘플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JSON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파일 공유하였습니다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.(10/20, w/ FCS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담당자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NJ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법인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/9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 셋업 및 확산 적용 완료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(11/4)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후 모니터링 간 특이사항 없습니다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에러 발생 시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알림톡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적용 완료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&lt;DCIR(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직류 내부저항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전수 예측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[ESNJ]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대상 전체 라인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(9,10)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 대해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M58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모델의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OCV#10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공정에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대해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DCIR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알고리즘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적용완료하였습니다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.(9/16)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설비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CIM PC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모니터링 및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FCS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↔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FDS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판정 결측 모니터링 개발을 위한 메시지 정의 및 샘플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JSON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파일 공유하였습니다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.(10/20, w/ FCS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담당자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altLang="ko-KR" sz="1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[ESOC2]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OC9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동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NFF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라인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DCIR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확산을 위해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FDS ↔ MES I/F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판정 로직 개발 논의하였습니다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.(w/ MES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팀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11/3)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OCV / 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방전 데이터 수집을 위해 </a:t>
                      </a:r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에이프로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항커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충방전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설비 수집 가능여부 체크하였습니다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.(11/4)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&lt;</a:t>
                      </a:r>
                      <a:r>
                        <a:rPr lang="ko-KR" altLang="en-US" sz="1000" b="1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발열셀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검출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</a:p>
                    <a:p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[ESNJ]</a:t>
                      </a:r>
                    </a:p>
                    <a:p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랜섬웨어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재발방지를 위해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발열셀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대상 서버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57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대 </a:t>
                      </a:r>
                      <a:r>
                        <a:rPr lang="en-US" altLang="ko-KR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VMHost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업그레이드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작업예정입니다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.(~11/26)</a:t>
                      </a:r>
                    </a:p>
                    <a:p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작업은 서버 </a:t>
                      </a:r>
                      <a:r>
                        <a:rPr lang="ko-KR" altLang="en-US" sz="1000" b="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다운없이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온라인으로 진행되며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작업 간 모니터링 예정입니다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[ESOC2]</a:t>
                      </a:r>
                    </a:p>
                    <a:p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APRO </a:t>
                      </a: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충방전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데이터 수집 간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TRAY OUT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신호가 누락되어 설비 테스트하여 점검 완료하였습니다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.(11/21)</a:t>
                      </a:r>
                    </a:p>
                    <a:p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- MP1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발열 셀 </a:t>
                      </a: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미취출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정상 동작여부 테스트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발열 셀 감지 後 해당 위치 </a:t>
                      </a: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미취출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 시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감지 시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진행하였고 특이사항 없습니다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.(11/26, w/ 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활성화설비기술팀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&lt;</a:t>
                      </a: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정기배포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  <a:endParaRPr lang="en-US" altLang="ko-KR" sz="1000" b="1" kern="1200" dirty="0">
                        <a:solidFill>
                          <a:srgbClr val="0000F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OC2/China(NJ) 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법인 대상으로 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월 비정기배포 진행중입니다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.(~12/10, FDS 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시스템 개선 목적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안재준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지유하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10BCFFF7-5C28-C267-9182-C480C051C3CD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FDS System 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원통형 확산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_</a:t>
            </a: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전법인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43B7F61A-A395-BED8-3346-A6E14F575AB6}"/>
              </a:ext>
            </a:extLst>
          </p:cNvPr>
          <p:cNvGraphicFramePr>
            <a:graphicFrameLocks noGrp="1"/>
          </p:cNvGraphicFramePr>
          <p:nvPr/>
        </p:nvGraphicFramePr>
        <p:xfrm>
          <a:off x="794083" y="1556710"/>
          <a:ext cx="8309810" cy="14722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3632">
                  <a:extLst>
                    <a:ext uri="{9D8B030D-6E8A-4147-A177-3AD203B41FA5}">
                      <a16:colId xmlns:a16="http://schemas.microsoft.com/office/drawing/2014/main" val="1126082579"/>
                    </a:ext>
                  </a:extLst>
                </a:gridCol>
                <a:gridCol w="1223632">
                  <a:extLst>
                    <a:ext uri="{9D8B030D-6E8A-4147-A177-3AD203B41FA5}">
                      <a16:colId xmlns:a16="http://schemas.microsoft.com/office/drawing/2014/main" val="3959950785"/>
                    </a:ext>
                  </a:extLst>
                </a:gridCol>
                <a:gridCol w="977091">
                  <a:extLst>
                    <a:ext uri="{9D8B030D-6E8A-4147-A177-3AD203B41FA5}">
                      <a16:colId xmlns:a16="http://schemas.microsoft.com/office/drawing/2014/main" val="3955745852"/>
                    </a:ext>
                  </a:extLst>
                </a:gridCol>
                <a:gridCol w="977091">
                  <a:extLst>
                    <a:ext uri="{9D8B030D-6E8A-4147-A177-3AD203B41FA5}">
                      <a16:colId xmlns:a16="http://schemas.microsoft.com/office/drawing/2014/main" val="1897211062"/>
                    </a:ext>
                  </a:extLst>
                </a:gridCol>
                <a:gridCol w="977091">
                  <a:extLst>
                    <a:ext uri="{9D8B030D-6E8A-4147-A177-3AD203B41FA5}">
                      <a16:colId xmlns:a16="http://schemas.microsoft.com/office/drawing/2014/main" val="996464501"/>
                    </a:ext>
                  </a:extLst>
                </a:gridCol>
                <a:gridCol w="977091">
                  <a:extLst>
                    <a:ext uri="{9D8B030D-6E8A-4147-A177-3AD203B41FA5}">
                      <a16:colId xmlns:a16="http://schemas.microsoft.com/office/drawing/2014/main" val="3420303759"/>
                    </a:ext>
                  </a:extLst>
                </a:gridCol>
                <a:gridCol w="977091">
                  <a:extLst>
                    <a:ext uri="{9D8B030D-6E8A-4147-A177-3AD203B41FA5}">
                      <a16:colId xmlns:a16="http://schemas.microsoft.com/office/drawing/2014/main" val="2234815079"/>
                    </a:ext>
                  </a:extLst>
                </a:gridCol>
                <a:gridCol w="977091">
                  <a:extLst>
                    <a:ext uri="{9D8B030D-6E8A-4147-A177-3AD203B41FA5}">
                      <a16:colId xmlns:a16="http://schemas.microsoft.com/office/drawing/2014/main" val="1322126317"/>
                    </a:ext>
                  </a:extLst>
                </a:gridCol>
              </a:tblGrid>
              <a:tr h="24537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ESNJ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ESOC2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ESAZ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3817364"/>
                  </a:ext>
                </a:extLst>
              </a:tr>
              <a:tr h="24537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5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9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동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5682512"/>
                  </a:ext>
                </a:extLst>
              </a:tr>
              <a:tr h="24537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4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(6,8,9,10)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6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(3,4,5,7,29,30)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18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개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(11~28)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MP1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MP2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274024"/>
                  </a:ext>
                </a:extLst>
              </a:tr>
              <a:tr h="245373">
                <a:tc rowSpan="3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알고리즘</a:t>
                      </a:r>
                      <a:endParaRPr lang="en-US" altLang="ko-KR" sz="9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  <a:p>
                      <a:pPr algn="ctr"/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1" dirty="0" err="1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활성화선행공정기술팀</a:t>
                      </a:r>
                      <a:r>
                        <a:rPr lang="en-US" altLang="ko-KR" sz="900" b="1" dirty="0"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점 </a:t>
                      </a:r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OCV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(6,9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(29,30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●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전라인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2184809"/>
                  </a:ext>
                </a:extLst>
              </a:tr>
              <a:tr h="245373">
                <a:tc vMerge="1">
                  <a:txBody>
                    <a:bodyPr/>
                    <a:lstStyle/>
                    <a:p>
                      <a:pPr algn="ctr"/>
                      <a:endParaRPr lang="ko-KR" altLang="en-US" sz="8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DCIR </a:t>
                      </a:r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예측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(9,10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라인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9398184"/>
                  </a:ext>
                </a:extLst>
              </a:tr>
              <a:tr h="245373">
                <a:tc vMerge="1">
                  <a:txBody>
                    <a:bodyPr/>
                    <a:lstStyle/>
                    <a:p>
                      <a:pPr algn="ctr"/>
                      <a:endParaRPr lang="ko-KR" altLang="en-US" sz="800" b="1" dirty="0"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 err="1">
                          <a:solidFill>
                            <a:schemeClr val="tx1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발열셀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r>
                        <a:rPr lang="en-US" altLang="ko-KR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전라인</a:t>
                      </a:r>
                      <a:r>
                        <a:rPr lang="en-US" altLang="ko-KR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)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Arial Narrow" panose="020B0606020202030204" pitchFamily="34" charset="0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prstClr val="black"/>
                          </a:solidFill>
                          <a:latin typeface="Arial Narrow" panose="020B0606020202030204" pitchFamily="34" charset="0"/>
                          <a:ea typeface="LG스마트체 Regular" panose="020B0600000101010101" pitchFamily="50" charset="-127"/>
                        </a:rPr>
                        <a:t>●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" panose="020B0606020202030204" pitchFamily="34" charset="0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" panose="020B0606020202030204" pitchFamily="34" charset="0"/>
                          <a:ea typeface="LG스마트체 Regular" panose="020B0600000101010101" pitchFamily="50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667101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6C6D8BB8-A6E1-176B-337C-67E39ADA4A49}"/>
              </a:ext>
            </a:extLst>
          </p:cNvPr>
          <p:cNvSpPr txBox="1"/>
          <p:nvPr/>
        </p:nvSpPr>
        <p:spPr>
          <a:xfrm>
            <a:off x="7190125" y="1325878"/>
            <a:ext cx="203527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● 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lang="ko-KR" altLang="en-US" sz="900" b="1" dirty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</a:rPr>
              <a:t>적용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완료 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 </a:t>
            </a: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◐ 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구축중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 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○ </a:t>
            </a:r>
            <a:r>
              <a: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: </a:t>
            </a: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LG스마트체 Regular" panose="020B0600000101010101" pitchFamily="50" charset="-127"/>
                <a:cs typeface="+mn-cs"/>
              </a:rPr>
              <a:t>구축예정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AA2BB0D-0B9E-24D6-D3D1-96E0BBAEEA48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12/10(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10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B911543-38B5-0B8C-290B-E27704F40E57}"/>
              </a:ext>
            </a:extLst>
          </p:cNvPr>
          <p:cNvSpPr/>
          <p:nvPr/>
        </p:nvSpPr>
        <p:spPr>
          <a:xfrm>
            <a:off x="8697094" y="443499"/>
            <a:ext cx="109196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(</a:t>
            </a:r>
            <a:r>
              <a:rPr lang="ko-KR" altLang="en-US" sz="1000" dirty="0">
                <a:solidFill>
                  <a:srgbClr val="009900"/>
                </a:solidFill>
                <a:latin typeface="+mj-lt"/>
              </a:rPr>
              <a:t>휴가</a:t>
            </a:r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) 12/16~12/18</a:t>
            </a:r>
            <a:endParaRPr lang="ko-KR" altLang="en-US" sz="1000" dirty="0">
              <a:solidFill>
                <a:srgbClr val="00990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82725811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20" cy="5762329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ORT (cycler )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데이터 수집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ESOC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ESWA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ESNB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ESNA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ESNJ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ESGM1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ESGM2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ESHM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ESMI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ESST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금주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(W51)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리튬석출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검출 모형 개발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(w.AI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솔루션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2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 Cell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수명예측팀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), ORT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수명 조기 예측 알고리즘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(w. Cell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수명예측팀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)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적용을 위해 신뢰성 시험 장비인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Cycler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설비의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ORT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시험 데이터 수집을 진행하고 있습니다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HM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법인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(APRO 14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)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은 대표호기에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S/W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설치 검증하였으나 비정상 종료에 따른 데이터 누락 현상이 확인되어 설비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S/W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개선 후 잔여 설비는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12/19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까지 완료 예정입니다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HG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법인은 설비 셋업 중 비자 이슈로 현재 </a:t>
                      </a:r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설비셋업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인원이 철수한 상태이며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 H/W,S/W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엔지니어가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11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월 중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B1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비자 발급 후 출장을 통해 대표호기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S/W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검증 예정입니다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.(~12/19)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NB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법인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(PNE 14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 APRO 54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대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)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은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PNE 14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대 확산을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10/31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완료 하였 데이터 수집 진행중입니다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APRO 54</a:t>
                      </a:r>
                      <a:r>
                        <a:rPr lang="ko-KR" altLang="en-US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대는 현재 견적 수령 하였으며 법인 투자 심의 예정입니다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(‘26</a:t>
                      </a:r>
                      <a:r>
                        <a:rPr lang="ko-KR" altLang="en-US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년 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1</a:t>
                      </a:r>
                      <a:r>
                        <a:rPr lang="ko-KR" altLang="en-US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월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) </a:t>
                      </a:r>
                      <a:r>
                        <a:rPr lang="ko-KR" altLang="en-US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그 외 잔여 법인은 ‘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26</a:t>
                      </a:r>
                      <a:r>
                        <a:rPr lang="ko-KR" altLang="en-US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년 품질센터에서 예산 확보 후 진행 예정입니다</a:t>
                      </a:r>
                      <a:r>
                        <a:rPr lang="en-US" altLang="ko-KR" sz="10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[</a:t>
                      </a:r>
                      <a:r>
                        <a:rPr kumimoji="0" lang="ko-KR" alt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배경 및 목적</a:t>
                      </a:r>
                      <a:r>
                        <a:rPr kumimoji="0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]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셀 수명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용량 예측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저전압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불량 분석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리튬석출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모형 예측에 활용되는 활성화 공정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충방전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데이터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(JGF/FOR/DC-IR/Cycler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설비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)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수집이 필요하며 신뢰성 시험 장비인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사이클러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설비의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ORT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시험 데이터를 수집하여 데이터 분석에 활용이 필요합니다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대용량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다수의 데이터로 설비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PC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에서 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보관시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1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개월 이상 보관이 힘들고 이를 엔지니어들이 활용하기 위해서는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USB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로 파일을 옮기고 있어 수작업 업무가 있으며 보안상의 문제가 될 수 있어 이를 개선하고자 합니다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r>
                        <a:rPr lang="en-US" altLang="ko-KR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[</a:t>
                      </a:r>
                      <a:r>
                        <a:rPr lang="ko-KR" altLang="en-US" sz="1000" b="1" dirty="0" err="1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사이클러</a:t>
                      </a:r>
                      <a:r>
                        <a:rPr lang="ko-KR" altLang="en-US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설비 </a:t>
                      </a:r>
                      <a:r>
                        <a:rPr lang="en-US" altLang="ko-KR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ORT </a:t>
                      </a:r>
                      <a:r>
                        <a:rPr lang="ko-KR" altLang="en-US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데이터 수집 진행 현황</a:t>
                      </a:r>
                      <a:r>
                        <a:rPr lang="en-US" altLang="ko-KR" sz="1000" b="1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] </a:t>
                      </a:r>
                    </a:p>
                    <a:p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데이터 수집에 필요한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File name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과 수집 항목에 대한 사양 작성을 작성 하였으며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HM/HG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법인 대상으로 시험 종료 후 설비에서 데이터 수집 서버로 업로드 하는 기능을 개발 하였습니다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현장 설비 적용 전 </a:t>
                      </a:r>
                      <a:r>
                        <a:rPr lang="ko-KR" altLang="en-US" sz="1000" dirty="0" err="1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오창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설비를 대상으로 데이터 수집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/</a:t>
                      </a:r>
                      <a:r>
                        <a:rPr lang="ko-KR" altLang="en-US" sz="1000" dirty="0" err="1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결측유무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등 기능 검증 후 각 법인에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S/W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전달 및 설치할 예정입니다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데이터 수집검증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다빈치 조회 기능 검증 업무를 진행 하도록 하겠습니다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. </a:t>
                      </a:r>
                      <a:endParaRPr lang="en-US" altLang="ko-KR" sz="1000" dirty="0">
                        <a:solidFill>
                          <a:srgbClr val="1414FE"/>
                        </a:solidFill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r>
                        <a:rPr lang="en-US" altLang="ko-KR" sz="1000" dirty="0">
                          <a:solidFill>
                            <a:srgbClr val="1414FE"/>
                          </a:solidFill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-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협업부서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: (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법인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셀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QA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팀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 (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본사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)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셀 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QA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팀 공정제어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DX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팀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다빈치팀</a:t>
                      </a:r>
                      <a:r>
                        <a:rPr lang="en-US" altLang="ko-KR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, </a:t>
                      </a:r>
                      <a:r>
                        <a:rPr lang="ko-KR" altLang="en-US" sz="1000" dirty="0"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품질시스템팀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endParaRPr lang="en-US" altLang="ko-KR" sz="1000" dirty="0"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대상설비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파악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~24.12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데이터수집 사양정의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~24.12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사이클러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데이터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수집 </a:t>
                      </a:r>
                      <a:r>
                        <a:rPr lang="en-US" altLang="ko-KR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PoC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~25.2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월 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POC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법인 미정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법인별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수평전개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TBD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이성우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4308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Cycler(</a:t>
            </a:r>
            <a:r>
              <a:rPr lang="ko-KR" altLang="en-US" sz="1400" b="1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양산 </a:t>
            </a:r>
            <a:r>
              <a:rPr lang="en-US" altLang="ko-KR" sz="1400" b="1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ORT) </a:t>
            </a:r>
            <a:r>
              <a:rPr lang="ko-KR" altLang="en-US" sz="1400" b="1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설비 </a:t>
            </a:r>
            <a:r>
              <a:rPr lang="en-US" altLang="ko-KR" sz="1400" b="1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Profile </a:t>
            </a:r>
            <a:r>
              <a:rPr lang="ko-KR" altLang="en-US" sz="1400" b="1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  <a:t>데이터 수집</a:t>
            </a:r>
            <a:br>
              <a:rPr lang="ko-KR" altLang="en-US" sz="1400" b="1" dirty="0">
                <a:solidFill>
                  <a:prstClr val="black"/>
                </a:solidFill>
                <a:latin typeface="+mn-ea"/>
                <a:cs typeface="Malgun Gothic Semilight" panose="020B0502040204020203" pitchFamily="50" charset="-127"/>
              </a:rPr>
            </a:b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Malgun Gothic Semilight" panose="020B0502040204020203" pitchFamily="50" charset="-127"/>
            </a:endParaRPr>
          </a:p>
        </p:txBody>
      </p:sp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EB18C957-A874-420B-954C-C0305E6CA3BA}"/>
              </a:ext>
            </a:extLst>
          </p:cNvPr>
          <p:cNvSpPr txBox="1">
            <a:spLocks/>
          </p:cNvSpPr>
          <p:nvPr/>
        </p:nvSpPr>
        <p:spPr>
          <a:xfrm>
            <a:off x="8742897" y="118406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이성우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98B0C3F-75C4-4C1A-8749-ECF80CC7EFE6}"/>
              </a:ext>
            </a:extLst>
          </p:cNvPr>
          <p:cNvGraphicFramePr>
            <a:graphicFrameLocks noGrp="1"/>
          </p:cNvGraphicFramePr>
          <p:nvPr/>
        </p:nvGraphicFramePr>
        <p:xfrm>
          <a:off x="1428972" y="4142193"/>
          <a:ext cx="6954169" cy="1762180"/>
        </p:xfrm>
        <a:graphic>
          <a:graphicData uri="http://schemas.openxmlformats.org/drawingml/2006/table">
            <a:tbl>
              <a:tblPr/>
              <a:tblGrid>
                <a:gridCol w="224188">
                  <a:extLst>
                    <a:ext uri="{9D8B030D-6E8A-4147-A177-3AD203B41FA5}">
                      <a16:colId xmlns:a16="http://schemas.microsoft.com/office/drawing/2014/main" val="2170871731"/>
                    </a:ext>
                  </a:extLst>
                </a:gridCol>
                <a:gridCol w="623881">
                  <a:extLst>
                    <a:ext uri="{9D8B030D-6E8A-4147-A177-3AD203B41FA5}">
                      <a16:colId xmlns:a16="http://schemas.microsoft.com/office/drawing/2014/main" val="3132816689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2919820780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3186743266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3015430806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3505943325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1086334885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2906366838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3976425521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706422941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890951182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2967375868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629248863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3497653269"/>
                    </a:ext>
                  </a:extLst>
                </a:gridCol>
                <a:gridCol w="469700">
                  <a:extLst>
                    <a:ext uri="{9D8B030D-6E8A-4147-A177-3AD203B41FA5}">
                      <a16:colId xmlns:a16="http://schemas.microsoft.com/office/drawing/2014/main" val="4243221693"/>
                    </a:ext>
                  </a:extLst>
                </a:gridCol>
              </a:tblGrid>
              <a:tr h="176218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자동차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36746828"/>
                  </a:ext>
                </a:extLst>
              </a:tr>
              <a:tr h="176218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OC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NB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NA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NJ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HM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MI_L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GM1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GM2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HD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ST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HG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ED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9402123"/>
                  </a:ext>
                </a:extLst>
              </a:tr>
              <a:tr h="176218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진행일정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년예정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’25.12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년예정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년예정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’25.12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년예정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협의중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년예정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26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년예정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협의중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협의중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’25.12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3758434"/>
                  </a:ext>
                </a:extLst>
              </a:tr>
              <a:tr h="176218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설비대수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8010" marR="8010" marT="801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3FB7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77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67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67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32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27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24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36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408401"/>
                  </a:ext>
                </a:extLst>
              </a:tr>
              <a:tr h="1762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PNE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77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67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13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27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47063"/>
                  </a:ext>
                </a:extLst>
              </a:tr>
              <a:tr h="1762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APRO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54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14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36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4174490"/>
                  </a:ext>
                </a:extLst>
              </a:tr>
              <a:tr h="1762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항커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14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970176"/>
                  </a:ext>
                </a:extLst>
              </a:tr>
              <a:tr h="1762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NEWARE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0952316"/>
                  </a:ext>
                </a:extLst>
              </a:tr>
              <a:tr h="176218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피닉슨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24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080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0980657"/>
                  </a:ext>
                </a:extLst>
              </a:tr>
              <a:tr h="176218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데이터용량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(GB)/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2.31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2.01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2.01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0.78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0.96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0.54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0.81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0.45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0.72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0.78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0.78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0.6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1.08</a:t>
                      </a:r>
                    </a:p>
                  </a:txBody>
                  <a:tcPr marL="8010" marR="8010" marT="801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8765228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0B8196AC-31DB-4431-8192-68C0913C9A01}"/>
              </a:ext>
            </a:extLst>
          </p:cNvPr>
          <p:cNvSpPr txBox="1"/>
          <p:nvPr/>
        </p:nvSpPr>
        <p:spPr>
          <a:xfrm>
            <a:off x="8032766" y="29546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12/17(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lang="en-US" altLang="ko-KR" dirty="0"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10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</p:spTree>
    <p:extLst>
      <p:ext uri="{BB962C8B-B14F-4D97-AF65-F5344CB8AC3E}">
        <p14:creationId xmlns:p14="http://schemas.microsoft.com/office/powerpoint/2010/main" val="338674339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2C46F75-83D7-9450-EACA-8429D2B5DAF8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19" cy="5626214"/>
        </p:xfrm>
        <a:graphic>
          <a:graphicData uri="http://schemas.openxmlformats.org/drawingml/2006/table">
            <a:tbl>
              <a:tblPr/>
              <a:tblGrid>
                <a:gridCol w="6729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9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55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64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90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9761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RMS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Oracle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전환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(W51)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본 건 관련 별도 진행사항 없습니다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배경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MES2.0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도입에 따라 신규 법인에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Oracle DB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서버로 전환되고 있고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RMS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도 이에 맞춰서 기존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MS-SQL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서버를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Oracle DB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서버로 전환하고자 합니다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 증설법인에 대해서는 초기 셋업부터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Oracle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로 구축되고 있고 기존 법인에 대한 전환을 목적으로 합니다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기대 효과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보유중인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Oracle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라이선스 활용으로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MS-SQL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라이선스 삭제로 비용 절감 효과가 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특이 사항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간 특이사항 없습니다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 투자계획에 예산을 확보하여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GM1,2,HM,MI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법인에 대해서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Oracle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전환 계획하고 있습니다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10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▷</a:t>
                      </a:r>
                      <a:r>
                        <a:rPr kumimoji="0"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법인별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현황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▷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전환 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Activity 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정의 및 일정 계획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지속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심현철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5839034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46EEF835-13C9-2CB6-9ADE-0592EABA9759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234398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RMS Oracle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전환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(</a:t>
            </a:r>
            <a:r>
              <a:rPr lang="en-US" altLang="ko-KR" sz="1400" b="1" dirty="0" err="1">
                <a:solidFill>
                  <a:prstClr val="black"/>
                </a:solidFill>
                <a:cs typeface="Malgun Gothic Semilight" panose="020B0502040204020203" pitchFamily="50" charset="-127"/>
              </a:rPr>
              <a:t>Factova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)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BA7A277D-4160-A5F1-AA45-32A897268439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F2AC40-3B6E-6415-E192-272878CB0CFF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531DF41D-FE95-72DC-8DAB-15BD920950AD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심현철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5BD2605D-EFAF-6DC6-87F8-C5F478DC31C6}"/>
              </a:ext>
            </a:extLst>
          </p:cNvPr>
          <p:cNvGraphicFramePr>
            <a:graphicFrameLocks noGrp="1"/>
          </p:cNvGraphicFramePr>
          <p:nvPr/>
        </p:nvGraphicFramePr>
        <p:xfrm>
          <a:off x="1483659" y="3130433"/>
          <a:ext cx="6938681" cy="1162050"/>
        </p:xfrm>
        <a:graphic>
          <a:graphicData uri="http://schemas.openxmlformats.org/drawingml/2006/table">
            <a:tbl>
              <a:tblPr/>
              <a:tblGrid>
                <a:gridCol w="654592">
                  <a:extLst>
                    <a:ext uri="{9D8B030D-6E8A-4147-A177-3AD203B41FA5}">
                      <a16:colId xmlns:a16="http://schemas.microsoft.com/office/drawing/2014/main" val="3806789428"/>
                    </a:ext>
                  </a:extLst>
                </a:gridCol>
                <a:gridCol w="654592">
                  <a:extLst>
                    <a:ext uri="{9D8B030D-6E8A-4147-A177-3AD203B41FA5}">
                      <a16:colId xmlns:a16="http://schemas.microsoft.com/office/drawing/2014/main" val="3982325206"/>
                    </a:ext>
                  </a:extLst>
                </a:gridCol>
                <a:gridCol w="1003709">
                  <a:extLst>
                    <a:ext uri="{9D8B030D-6E8A-4147-A177-3AD203B41FA5}">
                      <a16:colId xmlns:a16="http://schemas.microsoft.com/office/drawing/2014/main" val="3819894027"/>
                    </a:ext>
                  </a:extLst>
                </a:gridCol>
                <a:gridCol w="970979">
                  <a:extLst>
                    <a:ext uri="{9D8B030D-6E8A-4147-A177-3AD203B41FA5}">
                      <a16:colId xmlns:a16="http://schemas.microsoft.com/office/drawing/2014/main" val="373401165"/>
                    </a:ext>
                  </a:extLst>
                </a:gridCol>
                <a:gridCol w="3654809">
                  <a:extLst>
                    <a:ext uri="{9D8B030D-6E8A-4147-A177-3AD203B41FA5}">
                      <a16:colId xmlns:a16="http://schemas.microsoft.com/office/drawing/2014/main" val="2966330544"/>
                    </a:ext>
                  </a:extLst>
                </a:gridCol>
              </a:tblGrid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DB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타입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RMS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0790955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ESHD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Oracle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7645488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ESMI_L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Oracle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999219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ESHG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Oracle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1948116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ESGM1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MS-SQL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~25.12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Oracle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구축일정 확인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RMS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전환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 예상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5202286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ESGM2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MS-SQL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~25.12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Oracle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구축일정 확인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RMS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전환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 예상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8276891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ESHM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MS-SQL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~25.12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IT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Oracle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구축일정 확인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RMS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전환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 예상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087117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ESOC2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MS-SQL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0649047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ESST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MS-SQL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미정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0075501"/>
                  </a:ext>
                </a:extLst>
              </a:tr>
              <a:tr h="9326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ESMI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MS-SQL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4395601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802C206-C317-23F3-20A6-2802876E0925}"/>
              </a:ext>
            </a:extLst>
          </p:cNvPr>
          <p:cNvGraphicFramePr>
            <a:graphicFrameLocks noGrp="1"/>
          </p:cNvGraphicFramePr>
          <p:nvPr/>
        </p:nvGraphicFramePr>
        <p:xfrm>
          <a:off x="1483659" y="4495772"/>
          <a:ext cx="6938691" cy="1997221"/>
        </p:xfrm>
        <a:graphic>
          <a:graphicData uri="http://schemas.openxmlformats.org/drawingml/2006/table">
            <a:tbl>
              <a:tblPr/>
              <a:tblGrid>
                <a:gridCol w="123806">
                  <a:extLst>
                    <a:ext uri="{9D8B030D-6E8A-4147-A177-3AD203B41FA5}">
                      <a16:colId xmlns:a16="http://schemas.microsoft.com/office/drawing/2014/main" val="1487957460"/>
                    </a:ext>
                  </a:extLst>
                </a:gridCol>
                <a:gridCol w="1164886">
                  <a:extLst>
                    <a:ext uri="{9D8B030D-6E8A-4147-A177-3AD203B41FA5}">
                      <a16:colId xmlns:a16="http://schemas.microsoft.com/office/drawing/2014/main" val="1395279813"/>
                    </a:ext>
                  </a:extLst>
                </a:gridCol>
                <a:gridCol w="532733">
                  <a:extLst>
                    <a:ext uri="{9D8B030D-6E8A-4147-A177-3AD203B41FA5}">
                      <a16:colId xmlns:a16="http://schemas.microsoft.com/office/drawing/2014/main" val="3242979914"/>
                    </a:ext>
                  </a:extLst>
                </a:gridCol>
                <a:gridCol w="315138">
                  <a:extLst>
                    <a:ext uri="{9D8B030D-6E8A-4147-A177-3AD203B41FA5}">
                      <a16:colId xmlns:a16="http://schemas.microsoft.com/office/drawing/2014/main" val="3178546733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503396597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577249620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4220207283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783662343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883395833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971620726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012934453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958193633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869322802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793256227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306688117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356530007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895509941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742610506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443620701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795927988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407013912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1442564854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837635130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457704329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126172738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335874392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1700438110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976404578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363867990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782683582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1937315678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755675802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470863568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1093162447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712598001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1618234419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584300951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1067033202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1686354651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3549761979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1107363522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574830267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467327548"/>
                    </a:ext>
                  </a:extLst>
                </a:gridCol>
                <a:gridCol w="101295">
                  <a:extLst>
                    <a:ext uri="{9D8B030D-6E8A-4147-A177-3AD203B41FA5}">
                      <a16:colId xmlns:a16="http://schemas.microsoft.com/office/drawing/2014/main" val="2487891121"/>
                    </a:ext>
                  </a:extLst>
                </a:gridCol>
                <a:gridCol w="750328">
                  <a:extLst>
                    <a:ext uri="{9D8B030D-6E8A-4147-A177-3AD203B41FA5}">
                      <a16:colId xmlns:a16="http://schemas.microsoft.com/office/drawing/2014/main" val="1101254227"/>
                    </a:ext>
                  </a:extLst>
                </a:gridCol>
              </a:tblGrid>
              <a:tr h="193581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(MD)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grid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 week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 week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 week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 week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 week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 week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 week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 week</a:t>
                      </a:r>
                    </a:p>
                  </a:txBody>
                  <a:tcPr marL="6781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비고 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1907959"/>
                  </a:ext>
                </a:extLst>
              </a:tr>
              <a:tr h="193581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▶ 사전 준비작업</a:t>
                      </a:r>
                    </a:p>
                  </a:txBody>
                  <a:tcPr marL="36000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8671732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점검 포인트 정리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DX/CNS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최초법인 수행 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Only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8958217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롤백 시나리오 수립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DX/CNS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최초법인 수행 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Only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9242863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테스트 환경구축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CNS/IT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1146034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 점검 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DB Scheme)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CNS/IT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8617694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MQ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 점검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57538"/>
                  </a:ext>
                </a:extLst>
              </a:tr>
              <a:tr h="193581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▶ 기준정보 마이그레이션</a:t>
                      </a:r>
                    </a:p>
                  </a:txBody>
                  <a:tcPr marL="36000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9318357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전환 대상 테이블 정리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최초법인 수행 </a:t>
                      </a:r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Only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7462886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기준정보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히스토리 테이블 포팅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0995800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쿼리 점검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2858556"/>
                  </a:ext>
                </a:extLst>
              </a:tr>
              <a:tr h="193581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▶ Oracle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전환</a:t>
                      </a:r>
                    </a:p>
                  </a:txBody>
                  <a:tcPr marL="36000" marR="6781" marT="41564" marB="4156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3239536"/>
                  </a:ext>
                </a:extLst>
              </a:tr>
              <a:tr h="110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전환 수행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CNS/IT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인프라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8218916"/>
                  </a:ext>
                </a:extLst>
              </a:tr>
              <a:tr h="12161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테스트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모니터링</a:t>
                      </a:r>
                    </a:p>
                  </a:txBody>
                  <a:tcPr marL="36000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DX/CNS/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법인</a:t>
                      </a:r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PI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6781" marR="6781" marT="560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3220271"/>
                  </a:ext>
                </a:extLst>
              </a:tr>
              <a:tr h="110128">
                <a:tc grid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공수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소계</a:t>
                      </a:r>
                    </a:p>
                  </a:txBody>
                  <a:tcPr marL="6781" marR="6781" marT="616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53D</a:t>
                      </a:r>
                    </a:p>
                  </a:txBody>
                  <a:tcPr marL="9525" marR="9525" marT="78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최초법인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53D,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확산법인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44D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16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781" marR="6781" marT="678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73546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5774718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8489EE6-CCB3-E69B-42B5-5081A9EC8C57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2019" cy="5649840"/>
        </p:xfrm>
        <a:graphic>
          <a:graphicData uri="http://schemas.openxmlformats.org/drawingml/2006/table">
            <a:tbl>
              <a:tblPr/>
              <a:tblGrid>
                <a:gridCol w="6729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9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55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64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90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9761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RMS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표준 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Para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자동 </a:t>
                      </a:r>
                      <a:b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</a:b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동기화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(MMD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→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RMS)</a:t>
                      </a: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-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(W51)</a:t>
                      </a:r>
                      <a:r>
                        <a:rPr kumimoji="0" lang="ko-KR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전체 대상 법인 적용 완료하였고 데이터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I/F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모니터링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현시점기준 특이사항 없습니다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.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표준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를 각 법인 시스템별로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관리하다보니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표준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Para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개정 후 법인 별 적용 시점이 다른 경우가 발생합니다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표준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통합 관리하기 위하여 표준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삭제 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자동 반영될 수 있도록 자동 동기화 기능 개발하고자 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Activity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별로 구분하여 진척 관리 중이고 요구사항 분석완료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프로세스 맵 작성 중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Factova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/Legacy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기존 표준 파라미터 처리 프로시저 분석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설계 진행중입니다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단계별 진척수준은 개발 및 테스트 완료됐고 기능명세서 작성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안정적인 운영 적용을 위해 전 법인 표준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비표준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Parameter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Grade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 따른 영향도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분석했고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MMD2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에서 표준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해제가 되는 경우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RMS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동기화가 안되기 때문에 시스템 오픈 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MMD2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표준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Parameter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표준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Parameter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간 일치화 작업을 진행했습니다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UAT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및 요청 부서와의 기능 시연회를 위해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MMD2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개발서버 접근 권한 및 방화벽 개방 작업 완료됐습니다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10/22 PI UAT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진행결과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MMD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에서 표준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PP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삭제 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RMS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에서 파라 삭제하는 기능에 결함이 확인되어 수정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MI/MIL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대응으로 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PI UAT 11/18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PO UAT 11/19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일정 진행하였고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특이사항 없이 완료됐습니다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11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정기 배포에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Legacy,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Factova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기능으로 배포 예정이며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MMD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표준파라 연동에 대한 실 적용은 아래 영향도 검토에 따라 법인별로 사전 점검 후 진행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영향도 검토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▷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미사용 표준 파라미터로 매핑 해제가 안된 파라미터 건 수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(Legacy RMS)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Factova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생산 영향도가 없기 때문에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배포 후 바로 배치 등록까지 진행합니다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2) Legacy RMS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생산 영향도가 있기 때문에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배포 후 바로 배치 등록은 하지 않습니다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3) Legacy RMS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배치 등록 전 미사용 표준 파라미터에 대해 비표준화 작업을 진행합니다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비표준화 작업 후 배치 등록하여 기능 점검합니다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*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프로시저 동작 여부 확인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* 설비그룹 파라미터 추가 건 수 확인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* 설비그룹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설비 파라미터 미사용 건 수 확인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차 작업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 계획일시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12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Legacy RMS (ESOC)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☞ 수행 결과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ESOC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소형  신규표준파라 자동 등록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차 작업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 계획일시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12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Legacy RMS (ESNJ, NA, NB, WA)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☞ 수행 결과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: ESNJ, NA, NB, WA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신규표준파라 자동 등록 완료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Factova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/Legacy 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 적용 후 모니터링 중이고 현기준 특이사항 없습니다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지속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심현철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5839034"/>
                  </a:ext>
                </a:extLst>
              </a:tr>
            </a:tbl>
          </a:graphicData>
        </a:graphic>
      </p:graphicFrame>
      <p:sp>
        <p:nvSpPr>
          <p:cNvPr id="3" name="내용 개체 틀 20">
            <a:extLst>
              <a:ext uri="{FF2B5EF4-FFF2-40B4-BE49-F238E27FC236}">
                <a16:creationId xmlns:a16="http://schemas.microsoft.com/office/drawing/2014/main" id="{0650F172-5730-1979-839B-0C00C60D94D2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2108333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RMS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표준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Para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 자동 동기화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4" name="제목 1">
            <a:extLst>
              <a:ext uri="{FF2B5EF4-FFF2-40B4-BE49-F238E27FC236}">
                <a16:creationId xmlns:a16="http://schemas.microsoft.com/office/drawing/2014/main" id="{BD19E44A-30B0-B951-CE25-B6ECF02F695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0F66B61-E145-96D6-E29A-2D03376E1E0D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6" name="내용 개체 틀 20">
            <a:extLst>
              <a:ext uri="{FF2B5EF4-FFF2-40B4-BE49-F238E27FC236}">
                <a16:creationId xmlns:a16="http://schemas.microsoft.com/office/drawing/2014/main" id="{F45536FE-82F8-7E07-F3D6-CF746795133F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심현철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02CEBAF-7B23-2031-0DEF-92B00EF61B9D}"/>
              </a:ext>
            </a:extLst>
          </p:cNvPr>
          <p:cNvGraphicFramePr>
            <a:graphicFrameLocks noGrp="1"/>
          </p:cNvGraphicFramePr>
          <p:nvPr/>
        </p:nvGraphicFramePr>
        <p:xfrm>
          <a:off x="1469796" y="3200426"/>
          <a:ext cx="7061461" cy="1203960"/>
        </p:xfrm>
        <a:graphic>
          <a:graphicData uri="http://schemas.openxmlformats.org/drawingml/2006/table">
            <a:tbl>
              <a:tblPr firstRow="1" bandRow="1"/>
              <a:tblGrid>
                <a:gridCol w="1080559">
                  <a:extLst>
                    <a:ext uri="{9D8B030D-6E8A-4147-A177-3AD203B41FA5}">
                      <a16:colId xmlns:a16="http://schemas.microsoft.com/office/drawing/2014/main" val="1689105008"/>
                    </a:ext>
                  </a:extLst>
                </a:gridCol>
                <a:gridCol w="3105515">
                  <a:extLst>
                    <a:ext uri="{9D8B030D-6E8A-4147-A177-3AD203B41FA5}">
                      <a16:colId xmlns:a16="http://schemas.microsoft.com/office/drawing/2014/main" val="1638656957"/>
                    </a:ext>
                  </a:extLst>
                </a:gridCol>
                <a:gridCol w="2875387">
                  <a:extLst>
                    <a:ext uri="{9D8B030D-6E8A-4147-A177-3AD203B41FA5}">
                      <a16:colId xmlns:a16="http://schemas.microsoft.com/office/drawing/2014/main" val="1644268565"/>
                    </a:ext>
                  </a:extLst>
                </a:gridCol>
              </a:tblGrid>
              <a:tr h="1883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분류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Legacy RMS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b="0" dirty="0" err="1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Factova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 RMS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1266937"/>
                  </a:ext>
                </a:extLst>
              </a:tr>
              <a:tr h="46361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표준 파라미터 신규등록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생산영향 無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285750" indent="-285750" latinLnBrk="1">
                        <a:buFontTx/>
                        <a:buChar char="-"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설비그룹 파라미터에만 신규로 추가되기 때문에 생산 영향 없음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285750" indent="-285750" latinLnBrk="1">
                        <a:buFontTx/>
                        <a:buChar char="-"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다만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설비그룹 파라미터가 일괄적으로 추가될 수 있음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</a:br>
                      <a:r>
                        <a:rPr lang="en-US" altLang="ko-KR" sz="500" b="0" dirty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*</a:t>
                      </a:r>
                      <a:r>
                        <a:rPr lang="ko-KR" altLang="en-US" sz="500" b="0" dirty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표준 파라미터 사용유무가 </a:t>
                      </a:r>
                      <a:r>
                        <a:rPr lang="en-US" altLang="ko-KR" sz="500" b="0" dirty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Y</a:t>
                      </a:r>
                      <a:r>
                        <a:rPr lang="ko-KR" altLang="en-US" sz="500" b="0" dirty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이지만</a:t>
                      </a:r>
                      <a:r>
                        <a:rPr lang="en-US" altLang="ko-KR" sz="500" b="0" dirty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500" b="0" dirty="0">
                          <a:solidFill>
                            <a:srgbClr val="1414FE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설비그룹 파라미터에 실제로 추가되지 않은 파라미터</a:t>
                      </a:r>
                      <a:endParaRPr lang="ko-KR" altLang="en-US" sz="700" b="0" dirty="0">
                        <a:solidFill>
                          <a:srgbClr val="1414FE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생산영향 無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좌동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6429470"/>
                  </a:ext>
                </a:extLst>
              </a:tr>
              <a:tr h="4925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표준 파라미터 미사용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latinLnBrk="1"/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생산영향 有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285750" indent="-285750" latinLnBrk="1">
                        <a:buFontTx/>
                        <a:buChar char="-"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 매핑 파라미터가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Grade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하향조정됨에 따라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skip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발생함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285750" indent="-285750" latinLnBrk="1">
                        <a:buFontTx/>
                        <a:buChar char="-"/>
                      </a:pPr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현재 미사용 표준 파라미터를 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Grade 3</a:t>
                      </a:r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로 쓰고 있는 파라미터가 존재함</a:t>
                      </a:r>
                      <a:endParaRPr lang="en-US" altLang="ko-KR" sz="700" b="0" dirty="0">
                        <a:solidFill>
                          <a:srgbClr val="FF0000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생산영향 無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설비 매핑 파라미터가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Grade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하향조정되나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레시피 정보는 처리되지 않기 때문에 기존 레시피로 생산하는 경우 영향 없음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변경된 파라미터 정보를 적용하기 위해서는 레시피를 새로 생성해야 함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9624182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D4BDB3A-6A10-5D8D-7D13-EB37F4796544}"/>
              </a:ext>
            </a:extLst>
          </p:cNvPr>
          <p:cNvGraphicFramePr>
            <a:graphicFrameLocks noGrp="1"/>
          </p:cNvGraphicFramePr>
          <p:nvPr/>
        </p:nvGraphicFramePr>
        <p:xfrm>
          <a:off x="1469796" y="4625659"/>
          <a:ext cx="5422482" cy="411480"/>
        </p:xfrm>
        <a:graphic>
          <a:graphicData uri="http://schemas.openxmlformats.org/drawingml/2006/table">
            <a:tbl>
              <a:tblPr firstRow="1" bandRow="1"/>
              <a:tblGrid>
                <a:gridCol w="903747">
                  <a:extLst>
                    <a:ext uri="{9D8B030D-6E8A-4147-A177-3AD203B41FA5}">
                      <a16:colId xmlns:a16="http://schemas.microsoft.com/office/drawing/2014/main" val="1689105008"/>
                    </a:ext>
                  </a:extLst>
                </a:gridCol>
                <a:gridCol w="903747">
                  <a:extLst>
                    <a:ext uri="{9D8B030D-6E8A-4147-A177-3AD203B41FA5}">
                      <a16:colId xmlns:a16="http://schemas.microsoft.com/office/drawing/2014/main" val="1638656957"/>
                    </a:ext>
                  </a:extLst>
                </a:gridCol>
                <a:gridCol w="903747">
                  <a:extLst>
                    <a:ext uri="{9D8B030D-6E8A-4147-A177-3AD203B41FA5}">
                      <a16:colId xmlns:a16="http://schemas.microsoft.com/office/drawing/2014/main" val="3609578748"/>
                    </a:ext>
                  </a:extLst>
                </a:gridCol>
                <a:gridCol w="903747">
                  <a:extLst>
                    <a:ext uri="{9D8B030D-6E8A-4147-A177-3AD203B41FA5}">
                      <a16:colId xmlns:a16="http://schemas.microsoft.com/office/drawing/2014/main" val="3279341750"/>
                    </a:ext>
                  </a:extLst>
                </a:gridCol>
                <a:gridCol w="903747">
                  <a:extLst>
                    <a:ext uri="{9D8B030D-6E8A-4147-A177-3AD203B41FA5}">
                      <a16:colId xmlns:a16="http://schemas.microsoft.com/office/drawing/2014/main" val="1644268565"/>
                    </a:ext>
                  </a:extLst>
                </a:gridCol>
                <a:gridCol w="903747">
                  <a:extLst>
                    <a:ext uri="{9D8B030D-6E8A-4147-A177-3AD203B41FA5}">
                      <a16:colId xmlns:a16="http://schemas.microsoft.com/office/drawing/2014/main" val="3562475127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ESOC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ESNJ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ESNA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ESNB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ESWA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LG스마트체2.0 Regular" panose="020B0600000101010101" pitchFamily="50" charset="-127"/>
                        <a:ea typeface="LG스마트체2.0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LG스마트체2.0 Regular" panose="020B0600000101010101" pitchFamily="50" charset="-127"/>
                          <a:ea typeface="LG스마트체2.0 Regular" panose="020B0600000101010101" pitchFamily="50" charset="-127"/>
                        </a:rPr>
                        <a:t>총계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1266937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81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106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139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1,223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indent="0" algn="ctr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2,068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 Narrow"/>
                          <a:ea typeface="LG스마트체 Regular"/>
                        </a:defRPr>
                      </a:lvl9pPr>
                    </a:lstStyle>
                    <a:p>
                      <a:pPr marL="0" indent="0" algn="ctr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3,617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건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642947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83917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BDD43A-0A19-CA07-4FD6-44A2A8C02C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12A53E4A-746B-8E44-9DA6-6262C73228B9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6"/>
          <a:ext cx="9562019" cy="5638383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6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91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0978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Validation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시뮬레이터 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개발</a:t>
                      </a:r>
                      <a:endParaRPr lang="en-US" altLang="ko-KR" sz="9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신규 법인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(W51)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개발 진행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 (59%-&gt;85%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[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목적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LOT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착공 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RMS UI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에서 원격제어로 설비 값을 모니터링 할 수 있고 가상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RMS Validation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을 수행하여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조기 안정화 달성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[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배경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신규 증설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라인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RMS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구축 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테스트 및 운영전환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), Validation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이 발생하기까지 평균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7.2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일이 소요 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.(HG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기준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7.2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일의 리드타임 발생 원인은 현재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Validation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진행하기 위해 생산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(LOT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착공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이 필요하며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Validation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이 발생하더라도 레시피 미등록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비정합화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설비 데이터 이상 등에 의하여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가 발생하기 때문입니다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 RMS Validation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을 가상으로 진행할 수 있는 시뮬레이터를 개발하여 도입함으로써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RMS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구축 후 생산까지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안정화에 발생하는 리드 타임을 최소화 하고자 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추후에는 양산 중인 법인에 대해서도 모델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/LOT change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가상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validation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을 실행하여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 recipe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미등록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or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불일치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를 사전에 방지하여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LOT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착공에 대한 리드 타임을 최소화 하고자 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[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현황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Malgun Gothic Semilight" panose="020B0502040204020203" pitchFamily="50" charset="-127"/>
                          <a:sym typeface="Wingdings" panose="05000000000000000000" pitchFamily="2" charset="2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Malgun Gothic Semilight" panose="020B0502040204020203" pitchFamily="50" charset="-127"/>
                        <a:sym typeface="Wingdings" panose="05000000000000000000" pitchFamily="2" charset="2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AZ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 샘플 시 적용 예정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Malgun Gothic Semilight" panose="020B0502040204020203" pitchFamily="50" charset="-127"/>
                      </a:endParaRPr>
                    </a:p>
                    <a:p>
                      <a:pPr lvl="0" algn="l"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(~26/02)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박정빈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Malgun Gothic Semilight" panose="020B0502040204020203" pitchFamily="50" charset="-127"/>
                        </a:rPr>
                        <a:t>A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3" name="내용 개체 틀 20">
            <a:extLst>
              <a:ext uri="{FF2B5EF4-FFF2-40B4-BE49-F238E27FC236}">
                <a16:creationId xmlns:a16="http://schemas.microsoft.com/office/drawing/2014/main" id="{CEE235F2-83D3-AAA9-83E0-381B4AB9620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512607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RMS Validation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시뮬레이터 개발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24" name="제목 1">
            <a:extLst>
              <a:ext uri="{FF2B5EF4-FFF2-40B4-BE49-F238E27FC236}">
                <a16:creationId xmlns:a16="http://schemas.microsoft.com/office/drawing/2014/main" id="{0577CA77-0C6F-7070-02EF-85C609F5ADF2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10D38F7-7DF0-179A-88F9-6B79FDD05EB4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26" name="내용 개체 틀 20">
            <a:extLst>
              <a:ext uri="{FF2B5EF4-FFF2-40B4-BE49-F238E27FC236}">
                <a16:creationId xmlns:a16="http://schemas.microsoft.com/office/drawing/2014/main" id="{1A3CB872-C4A5-F7EC-EE10-03376C9F068F}"/>
              </a:ext>
            </a:extLst>
          </p:cNvPr>
          <p:cNvSpPr txBox="1">
            <a:spLocks/>
          </p:cNvSpPr>
          <p:nvPr/>
        </p:nvSpPr>
        <p:spPr>
          <a:xfrm>
            <a:off x="8617863" y="118406"/>
            <a:ext cx="1069203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박정빈</a:t>
            </a:r>
            <a:r>
              <a:rPr lang="en-US" altLang="ko-KR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6046EB3-2EBE-3E4A-9BCE-FB2B2320B07A}"/>
              </a:ext>
            </a:extLst>
          </p:cNvPr>
          <p:cNvGraphicFramePr>
            <a:graphicFrameLocks noGrp="1"/>
          </p:cNvGraphicFramePr>
          <p:nvPr/>
        </p:nvGraphicFramePr>
        <p:xfrm>
          <a:off x="1841647" y="3046908"/>
          <a:ext cx="6128818" cy="3361697"/>
        </p:xfrm>
        <a:graphic>
          <a:graphicData uri="http://schemas.openxmlformats.org/drawingml/2006/table">
            <a:tbl>
              <a:tblPr/>
              <a:tblGrid>
                <a:gridCol w="331139">
                  <a:extLst>
                    <a:ext uri="{9D8B030D-6E8A-4147-A177-3AD203B41FA5}">
                      <a16:colId xmlns:a16="http://schemas.microsoft.com/office/drawing/2014/main" val="4104401558"/>
                    </a:ext>
                  </a:extLst>
                </a:gridCol>
                <a:gridCol w="916150">
                  <a:extLst>
                    <a:ext uri="{9D8B030D-6E8A-4147-A177-3AD203B41FA5}">
                      <a16:colId xmlns:a16="http://schemas.microsoft.com/office/drawing/2014/main" val="971738396"/>
                    </a:ext>
                  </a:extLst>
                </a:gridCol>
                <a:gridCol w="3212044">
                  <a:extLst>
                    <a:ext uri="{9D8B030D-6E8A-4147-A177-3AD203B41FA5}">
                      <a16:colId xmlns:a16="http://schemas.microsoft.com/office/drawing/2014/main" val="345211930"/>
                    </a:ext>
                  </a:extLst>
                </a:gridCol>
                <a:gridCol w="386323">
                  <a:extLst>
                    <a:ext uri="{9D8B030D-6E8A-4147-A177-3AD203B41FA5}">
                      <a16:colId xmlns:a16="http://schemas.microsoft.com/office/drawing/2014/main" val="2292411709"/>
                    </a:ext>
                  </a:extLst>
                </a:gridCol>
                <a:gridCol w="620885">
                  <a:extLst>
                    <a:ext uri="{9D8B030D-6E8A-4147-A177-3AD203B41FA5}">
                      <a16:colId xmlns:a16="http://schemas.microsoft.com/office/drawing/2014/main" val="3711130665"/>
                    </a:ext>
                  </a:extLst>
                </a:gridCol>
                <a:gridCol w="662277">
                  <a:extLst>
                    <a:ext uri="{9D8B030D-6E8A-4147-A177-3AD203B41FA5}">
                      <a16:colId xmlns:a16="http://schemas.microsoft.com/office/drawing/2014/main" val="2646035917"/>
                    </a:ext>
                  </a:extLst>
                </a:gridCol>
              </a:tblGrid>
              <a:tr h="27878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No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시스템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모듈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Level-3 (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온라인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화면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배치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프로세스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우선순위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진행상황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7982318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 정보 테이블 설계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생성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0846313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상세 결과 정보 테이블 설계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생성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30168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 정보 테이블 설계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생성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7437784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 상세 정보 테이블 설계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/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생성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6277627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5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설비 조회 및 선택 기능 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째주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8876808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업로드 요청 처리 기능 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째주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966685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팝업 </a:t>
                      </a: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째주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2216567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업로드 주체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성공 여부 정보 조회 기능 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째주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7205848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9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Upload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테이블 속성 추가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업로드 주체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성공 여부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째주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3185861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10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제품정보 조회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,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선택 및 믹서 배치 사이즈 입력 기능 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8623804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 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1377756"/>
                  </a:ext>
                </a:extLst>
              </a:tr>
              <a:tr h="1087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팝업 </a:t>
                      </a: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7275817"/>
                  </a:ext>
                </a:extLst>
              </a:tr>
              <a:tr h="112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13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이력 조회 조건 설정 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째주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5879460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14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이력 조회 기능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&amp;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째주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0059129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15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UI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이력 상세조회 기능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: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&amp;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째주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1414FE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7192858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16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request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검증 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2135819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17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solace request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메시지 생성 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8703261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18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solace request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메시지 발송 기능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with solace queue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설정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7016678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19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업로드 주체 정보 및 결과 저장 기능 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7043912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20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RMS Upload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요청 정보 처리 기능 개발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　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3217393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request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검증 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063312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22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solace request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메시지 생성 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0960538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23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solace request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메시지 발송 기능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(</a:t>
                      </a: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with solace queue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설정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)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2998797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24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response parsing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28675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25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response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검증 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8215106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26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가상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validation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수행 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2460079"/>
                  </a:ext>
                </a:extLst>
              </a:tr>
              <a:tr h="99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27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인터페이스</a:t>
                      </a:r>
                    </a:p>
                  </a:txBody>
                  <a:tcPr marL="7502" marR="7502" marT="750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결과 저장 기능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11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7502" marR="7502" marT="750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60141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7199976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20">
            <a:extLst>
              <a:ext uri="{FF2B5EF4-FFF2-40B4-BE49-F238E27FC236}">
                <a16:creationId xmlns:a16="http://schemas.microsoft.com/office/drawing/2014/main" id="{81DA1AB8-151A-8A80-42C5-A702830CF5E5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2680542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■ </a:t>
            </a:r>
            <a:r>
              <a:rPr lang="en-US" altLang="ko-KR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PDS-RMS </a:t>
            </a:r>
            <a:r>
              <a:rPr lang="ko-KR" altLang="en-US" sz="1400" b="1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연계 과제 진행 현황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3" name="제목 1">
            <a:extLst>
              <a:ext uri="{FF2B5EF4-FFF2-40B4-BE49-F238E27FC236}">
                <a16:creationId xmlns:a16="http://schemas.microsoft.com/office/drawing/2014/main" id="{98367450-EEA0-FC7B-B410-D4D22FA7F88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0675FDA-AE3B-AAFD-79E2-A1C642D30737}"/>
              </a:ext>
            </a:extLst>
          </p:cNvPr>
          <p:cNvSpPr txBox="1"/>
          <p:nvPr/>
        </p:nvSpPr>
        <p:spPr>
          <a:xfrm>
            <a:off x="8096822" y="295461"/>
            <a:ext cx="1590244" cy="33855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  <a:p>
            <a:pPr>
              <a:defRPr/>
            </a:pPr>
            <a:endParaRPr lang="ko-KR" altLang="en-US" dirty="0">
              <a:latin typeface="+mn-lt"/>
              <a:ea typeface="+mn-ea"/>
              <a:cs typeface="Malgun Gothic Semilight"/>
            </a:endParaRPr>
          </a:p>
        </p:txBody>
      </p:sp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22F2F890-234A-38D1-A7EB-7428E179CDE9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심현철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graphicFrame>
        <p:nvGraphicFramePr>
          <p:cNvPr id="6" name="표 1">
            <a:extLst>
              <a:ext uri="{FF2B5EF4-FFF2-40B4-BE49-F238E27FC236}">
                <a16:creationId xmlns:a16="http://schemas.microsoft.com/office/drawing/2014/main" id="{4A5860A9-5F5C-32EA-D0A9-31D4FA67E49E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5098" cy="5481399"/>
        </p:xfrm>
        <a:graphic>
          <a:graphicData uri="http://schemas.openxmlformats.org/drawingml/2006/table">
            <a:tbl>
              <a:tblPr/>
              <a:tblGrid>
                <a:gridCol w="6766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7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241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4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30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031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5699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PDS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고도화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HM/MI/MI_L/HD</a:t>
                      </a: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W51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오창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소형라인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확산 대상 비용 검토 중입니다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(w.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품질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DX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PDS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파트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고객 요구사항 다변화와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Global Site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대규모 증설에 따라 개발부터 양산까지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Global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단일 품질 체계 가 요구됨에 따라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‘PDS/4MCC’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신규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스마트팩토리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시스템이 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ESGM1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법인에 최초 오픈했습니다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.(’24.06)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PDS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시스템에서 승인된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M-CP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CTP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항목에 대해서는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RMS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시스템으로 레시피를 자동 생성하여 생산에 반영될 수 있도록 연계되어 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pPr marL="0" indent="0" algn="l" latinLnBrk="1">
                        <a:buNone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▷소형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(NFF) – ESOC9(‘26.06), ESAZ(‘26.07)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확산 예정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- OC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대상 설비 선정 완료 및 공수 검토 중입니다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▷자동차 신규법인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(JV) – ESHD(‘26.06), ESST(’26.03~04), ESHG(’26.10)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확산 예정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▷자사 법인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– ESMI(‘26.03~04), ESWA(’27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), ESNB(TBD)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확산 예정</a:t>
                      </a:r>
                      <a:b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* ESWA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는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Legacy RMS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 법인으로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PDS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적용 기능 추가 개발이 필요합니다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이에 따라 개발 범위 및 공수 산정하였고 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26.02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월을 목표로 투자 심의 진행할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추가로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ESWA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의 대표 동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호기 선정하여 설비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PLC </a:t>
                      </a:r>
                      <a:r>
                        <a:rPr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수정 요청 및 조립 공정 제품 버전 데이터 연계 테스트 진행 예정입니다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indent="0" algn="l" latinLnBrk="1"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PDS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확산 계획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 </a:t>
                      </a:r>
                    </a:p>
                    <a:p>
                      <a:pPr marL="0" indent="0" algn="l" latinLnBrk="1">
                        <a:buNone/>
                      </a:pPr>
                      <a:endParaRPr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지속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심현철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5839034"/>
                  </a:ext>
                </a:extLst>
              </a:tr>
            </a:tbl>
          </a:graphicData>
        </a:graphic>
      </p:graphicFrame>
      <p:pic>
        <p:nvPicPr>
          <p:cNvPr id="10" name="그림 9">
            <a:extLst>
              <a:ext uri="{FF2B5EF4-FFF2-40B4-BE49-F238E27FC236}">
                <a16:creationId xmlns:a16="http://schemas.microsoft.com/office/drawing/2014/main" id="{C277C34A-31F3-A8A3-82A2-6EFB75D820B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33558" y="3349264"/>
            <a:ext cx="6332041" cy="2912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0504393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94099D5-80BC-46C0-BDB3-C4D3AFB34DD9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567685" cy="5551278"/>
        </p:xfrm>
        <a:graphic>
          <a:graphicData uri="http://schemas.openxmlformats.org/drawingml/2006/table">
            <a:tbl>
              <a:tblPr/>
              <a:tblGrid>
                <a:gridCol w="6727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6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34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34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949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31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1811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RMS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 투자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6273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오창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6273" marR="6273" marT="6273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W50)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오창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EP2 OC10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동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마더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Line RMS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완료하였으며 금주 내 운영전환 예정입니다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진행 현황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NJ ZZS 2.0 Line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설비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RMS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운영 전환 전환하였으나 설비 별 추가 모니터링이 필요하여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12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월까지 연장해서 모니터링하도록 하겠습니다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오창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EP2 OC10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동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마더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Line RMS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완료하였습니다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.(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대표호기 기준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26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 중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26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 진행 완료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운영전환 </a:t>
                      </a:r>
                      <a:r>
                        <a:rPr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12/12</a:t>
                      </a:r>
                      <a:r>
                        <a:rPr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일까지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진행 예정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오창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EP2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소형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Pilot Line </a:t>
                      </a: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코터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RMS 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완료하였으나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Pilot Line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운영을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MES Offline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후 개발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중입니다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(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전극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Pilot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기술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팀 확인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MES Offline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상태에서는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RMS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도 데이터 점검이 불가하여 차후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MES Online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진행 시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RMS Online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후 재점검하도록 하겠습니다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WA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Pack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CTP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라인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RMS 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테스트 완료 하였습니다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.(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운영전환 완료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 (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대표호기 기준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16/16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 테스트 완료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오창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EP2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원통형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46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선행검증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Line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설비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FAT Fail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로 입고 지연되어 설비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SET-UP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및 샘플 일정 지연 중입니다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설비 입고 일정 업데이트되면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RMS 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일정 협의 및 구축 준비하도록 하겠습니다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NJ Alberta EGL #3,#4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라인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RMS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투자 심의 완료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후 현장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대기 중입니다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오창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EP1 OC2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동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2170 </a:t>
                      </a:r>
                      <a:r>
                        <a:rPr lang="en-US" altLang="ko-KR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Tabless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RMS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현장 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TEST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진행 중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/7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) </a:t>
                      </a:r>
                      <a:r>
                        <a:rPr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완료하였으며 생산 모니터링 후 운영 전환 예정입니다</a:t>
                      </a:r>
                      <a:r>
                        <a:rPr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n-lt"/>
                        </a:rPr>
                        <a:t>.</a:t>
                      </a:r>
                      <a:endParaRPr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지속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김태현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5839034"/>
                  </a:ext>
                </a:extLst>
              </a:tr>
            </a:tbl>
          </a:graphicData>
        </a:graphic>
      </p:graphicFrame>
      <p:sp>
        <p:nvSpPr>
          <p:cNvPr id="10" name="내용 개체 틀 20">
            <a:extLst>
              <a:ext uri="{FF2B5EF4-FFF2-40B4-BE49-F238E27FC236}">
                <a16:creationId xmlns:a16="http://schemas.microsoft.com/office/drawing/2014/main" id="{85BB63A4-A95E-45AB-96EF-BADC88807F9C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812508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RMS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투자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 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11" name="제목 1">
            <a:extLst>
              <a:ext uri="{FF2B5EF4-FFF2-40B4-BE49-F238E27FC236}">
                <a16:creationId xmlns:a16="http://schemas.microsoft.com/office/drawing/2014/main" id="{5BB342D2-C8A0-442E-9D8D-5335C68116FB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6280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kumimoji="1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337E7BC2-9B46-43E7-8B27-CA13B399F8DA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김태현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37E045E-3984-ED08-DCCA-2DD40A96CA1D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12/10(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6BC0B60-C07A-6784-C7F9-530D646E0645}"/>
              </a:ext>
            </a:extLst>
          </p:cNvPr>
          <p:cNvGraphicFramePr>
            <a:graphicFrameLocks noGrp="1"/>
          </p:cNvGraphicFramePr>
          <p:nvPr/>
        </p:nvGraphicFramePr>
        <p:xfrm>
          <a:off x="1386791" y="3009315"/>
          <a:ext cx="7132417" cy="3018550"/>
        </p:xfrm>
        <a:graphic>
          <a:graphicData uri="http://schemas.openxmlformats.org/drawingml/2006/table">
            <a:tbl>
              <a:tblPr/>
              <a:tblGrid>
                <a:gridCol w="1635383">
                  <a:extLst>
                    <a:ext uri="{9D8B030D-6E8A-4147-A177-3AD203B41FA5}">
                      <a16:colId xmlns:a16="http://schemas.microsoft.com/office/drawing/2014/main" val="195377849"/>
                    </a:ext>
                  </a:extLst>
                </a:gridCol>
                <a:gridCol w="520873">
                  <a:extLst>
                    <a:ext uri="{9D8B030D-6E8A-4147-A177-3AD203B41FA5}">
                      <a16:colId xmlns:a16="http://schemas.microsoft.com/office/drawing/2014/main" val="1105349535"/>
                    </a:ext>
                  </a:extLst>
                </a:gridCol>
                <a:gridCol w="614721">
                  <a:extLst>
                    <a:ext uri="{9D8B030D-6E8A-4147-A177-3AD203B41FA5}">
                      <a16:colId xmlns:a16="http://schemas.microsoft.com/office/drawing/2014/main" val="3196092817"/>
                    </a:ext>
                  </a:extLst>
                </a:gridCol>
                <a:gridCol w="718618">
                  <a:extLst>
                    <a:ext uri="{9D8B030D-6E8A-4147-A177-3AD203B41FA5}">
                      <a16:colId xmlns:a16="http://schemas.microsoft.com/office/drawing/2014/main" val="678476771"/>
                    </a:ext>
                  </a:extLst>
                </a:gridCol>
                <a:gridCol w="718618">
                  <a:extLst>
                    <a:ext uri="{9D8B030D-6E8A-4147-A177-3AD203B41FA5}">
                      <a16:colId xmlns:a16="http://schemas.microsoft.com/office/drawing/2014/main" val="145388154"/>
                    </a:ext>
                  </a:extLst>
                </a:gridCol>
                <a:gridCol w="768350">
                  <a:extLst>
                    <a:ext uri="{9D8B030D-6E8A-4147-A177-3AD203B41FA5}">
                      <a16:colId xmlns:a16="http://schemas.microsoft.com/office/drawing/2014/main" val="3409210242"/>
                    </a:ext>
                  </a:extLst>
                </a:gridCol>
                <a:gridCol w="718618">
                  <a:extLst>
                    <a:ext uri="{9D8B030D-6E8A-4147-A177-3AD203B41FA5}">
                      <a16:colId xmlns:a16="http://schemas.microsoft.com/office/drawing/2014/main" val="3353731984"/>
                    </a:ext>
                  </a:extLst>
                </a:gridCol>
                <a:gridCol w="718618">
                  <a:extLst>
                    <a:ext uri="{9D8B030D-6E8A-4147-A177-3AD203B41FA5}">
                      <a16:colId xmlns:a16="http://schemas.microsoft.com/office/drawing/2014/main" val="2621161114"/>
                    </a:ext>
                  </a:extLst>
                </a:gridCol>
                <a:gridCol w="718618">
                  <a:extLst>
                    <a:ext uri="{9D8B030D-6E8A-4147-A177-3AD203B41FA5}">
                      <a16:colId xmlns:a16="http://schemas.microsoft.com/office/drawing/2014/main" val="2054040480"/>
                    </a:ext>
                  </a:extLst>
                </a:gridCol>
              </a:tblGrid>
              <a:tr h="14462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상태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진척율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RMS </a:t>
                      </a:r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33568703"/>
                  </a:ext>
                </a:extLst>
              </a:tr>
              <a:tr h="2240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① 투자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② Para </a:t>
                      </a:r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③ IT </a:t>
                      </a:r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사양서 배포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④ 현장 </a:t>
                      </a:r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TEST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⑤ 운영 전환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⑥ 구축 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5151990"/>
                  </a:ext>
                </a:extLst>
              </a:tr>
              <a:tr h="262344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NJ ZZS2.0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신규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Line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84%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6439199"/>
                  </a:ext>
                </a:extLst>
              </a:tr>
              <a:tr h="1446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617360"/>
                  </a:ext>
                </a:extLst>
              </a:tr>
              <a:tr h="27876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EP2 OC10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마더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Line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73%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94%</a:t>
                      </a:r>
                    </a:p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(37</a:t>
                      </a: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/39</a:t>
                      </a: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12/05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1128037"/>
                  </a:ext>
                </a:extLst>
              </a:tr>
              <a:tr h="144625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7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~12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836910"/>
                  </a:ext>
                </a:extLst>
              </a:tr>
              <a:tr h="27196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EP2 OC10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 소형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Pilot Line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67%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910866"/>
                  </a:ext>
                </a:extLst>
              </a:tr>
              <a:tr h="144625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679486"/>
                  </a:ext>
                </a:extLst>
              </a:tr>
              <a:tr h="14462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WA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CTP Pack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라인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진행 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7402323"/>
                  </a:ext>
                </a:extLst>
              </a:tr>
              <a:tr h="144625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rgbClr val="0000FF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1855179"/>
                  </a:ext>
                </a:extLst>
              </a:tr>
              <a:tr h="26759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EP2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오창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원통형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46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선행검증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Line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44%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86%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(13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/14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86%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(13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/14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3975408"/>
                  </a:ext>
                </a:extLst>
              </a:tr>
              <a:tr h="144625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TBD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909644"/>
                  </a:ext>
                </a:extLst>
              </a:tr>
              <a:tr h="14462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NJ Alberta EGL#3,#4 Line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32%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완료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4985699"/>
                  </a:ext>
                </a:extLst>
              </a:tr>
              <a:tr h="144625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’26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2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‘26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년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3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174312"/>
                  </a:ext>
                </a:extLst>
              </a:tr>
              <a:tr h="26759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EP1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OC2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동 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Tabless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대응 조립 설비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64%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료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100%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(7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/7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대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6311328"/>
                  </a:ext>
                </a:extLst>
              </a:tr>
              <a:tr h="144625">
                <a:tc vMerge="1">
                  <a:txBody>
                    <a:bodyPr/>
                    <a:lstStyle/>
                    <a:p>
                      <a:pPr algn="ctr" rtl="0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12/5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12/12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12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월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451982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090EB0A-0343-C129-AD94-18A24A1926F0}"/>
              </a:ext>
            </a:extLst>
          </p:cNvPr>
          <p:cNvSpPr txBox="1"/>
          <p:nvPr/>
        </p:nvSpPr>
        <p:spPr>
          <a:xfrm>
            <a:off x="8026561" y="464738"/>
            <a:ext cx="1730829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(</a:t>
            </a:r>
            <a:r>
              <a:rPr lang="ko-KR" altLang="en-US" sz="1000" dirty="0">
                <a:solidFill>
                  <a:srgbClr val="009900"/>
                </a:solidFill>
                <a:latin typeface="+mj-lt"/>
              </a:rPr>
              <a:t>휴가</a:t>
            </a:r>
            <a:r>
              <a:rPr lang="en-US" altLang="ko-KR" sz="1000" dirty="0">
                <a:solidFill>
                  <a:srgbClr val="009900"/>
                </a:solidFill>
                <a:latin typeface="+mj-lt"/>
              </a:rPr>
              <a:t>) 12/15~12/17</a:t>
            </a:r>
            <a:endParaRPr lang="ko-KR" altLang="en-US" sz="1000" dirty="0">
              <a:solidFill>
                <a:srgbClr val="00990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1462643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1">
            <a:extLst>
              <a:ext uri="{FF2B5EF4-FFF2-40B4-BE49-F238E27FC236}">
                <a16:creationId xmlns:a16="http://schemas.microsoft.com/office/drawing/2014/main" id="{8C1CE75E-2E69-41C3-A63F-601387B69ACF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40897"/>
          <a:ext cx="9562020" cy="5762329"/>
        </p:xfrm>
        <a:graphic>
          <a:graphicData uri="http://schemas.openxmlformats.org/drawingml/2006/table">
            <a:tbl>
              <a:tblPr/>
              <a:tblGrid>
                <a:gridCol w="67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1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159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00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16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금주 진행사항 </a:t>
                      </a:r>
                      <a:r>
                        <a:rPr lang="en-US" altLang="ko-KR" sz="10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신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증설 대응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36000" marR="6273" marT="72000" marB="0"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ESST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ESHD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ESMI1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ESMI2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ESHG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ESOC</a:t>
                      </a:r>
                    </a:p>
                  </a:txBody>
                  <a:tcPr marL="14400" marR="14400" marT="72000" marB="144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000" kern="1200" dirty="0" err="1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(W51) HG 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확산 테스트 원격으로 대응 중입니다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.(11/20</a:t>
                      </a:r>
                      <a:r>
                        <a:rPr lang="ko-KR" altLang="en-US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lang="en-US" altLang="ko-KR" sz="1000" kern="1200" dirty="0">
                          <a:solidFill>
                            <a:srgbClr val="0000FF"/>
                          </a:solidFill>
                          <a:latin typeface="+mn-lt"/>
                          <a:ea typeface="+mn-ea"/>
                          <a:cs typeface="+mn-cs"/>
                        </a:rPr>
                        <a:t>~)</a:t>
                      </a:r>
                      <a:endParaRPr lang="en-US" altLang="ko-KR" sz="1000" kern="1200" noProof="0" dirty="0">
                        <a:solidFill>
                          <a:schemeClr val="tx1"/>
                        </a:solidFill>
                        <a:latin typeface="Arial Narrow"/>
                        <a:ea typeface="+mn-ea"/>
                        <a:cs typeface="+mn-cs"/>
                      </a:endParaRPr>
                    </a:p>
                  </a:txBody>
                  <a:tcPr marL="36000" marR="14400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~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’25.07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~’25.03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~’25.04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~’25.06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~’25.07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~’25.07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0" marR="0" marT="72000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95000"/>
                        </a:lnSpc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박정빈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A</a:t>
                      </a:r>
                    </a:p>
                  </a:txBody>
                  <a:tcPr marL="36000" marR="14400" marT="72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0D488742-B95E-41AC-A6AB-71ABA8F876F9}"/>
              </a:ext>
            </a:extLst>
          </p:cNvPr>
          <p:cNvSpPr txBox="1">
            <a:spLocks/>
          </p:cNvSpPr>
          <p:nvPr/>
        </p:nvSpPr>
        <p:spPr>
          <a:xfrm>
            <a:off x="0" y="625453"/>
            <a:ext cx="5126074" cy="4308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>
              <a:spcBef>
                <a:spcPts val="0"/>
              </a:spcBef>
              <a:defRPr/>
            </a:pPr>
            <a:r>
              <a:rPr lang="ko-KR" altLang="en-US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■ </a:t>
            </a:r>
            <a:r>
              <a:rPr lang="en-US" altLang="ko-KR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RMS System </a:t>
            </a:r>
            <a:r>
              <a:rPr lang="ko-KR" altLang="en-US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확산</a:t>
            </a:r>
            <a:r>
              <a:rPr lang="en-US" altLang="ko-KR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_</a:t>
            </a:r>
            <a:r>
              <a:rPr lang="ko-KR" altLang="en-US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신</a:t>
            </a:r>
            <a:r>
              <a:rPr lang="en-US" altLang="ko-KR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/</a:t>
            </a:r>
            <a:r>
              <a:rPr lang="ko-KR" altLang="en-US" sz="1400" b="1">
                <a:solidFill>
                  <a:prstClr val="black"/>
                </a:solidFill>
                <a:cs typeface="Malgun Gothic Semilight" panose="020B0502040204020203" pitchFamily="50" charset="-127"/>
              </a:rPr>
              <a:t>증설 대응</a:t>
            </a:r>
          </a:p>
          <a:p>
            <a:pPr lvl="0" algn="l">
              <a:spcBef>
                <a:spcPts val="0"/>
              </a:spcBef>
              <a:defRPr/>
            </a:pPr>
            <a:endParaRPr lang="ko-KR" altLang="en-US" sz="1400" b="1">
              <a:solidFill>
                <a:prstClr val="black"/>
              </a:solidFill>
              <a:cs typeface="Malgun Gothic Semilight" panose="020B0502040204020203" pitchFamily="50" charset="-127"/>
            </a:endParaRPr>
          </a:p>
        </p:txBody>
      </p:sp>
      <p:sp>
        <p:nvSpPr>
          <p:cNvPr id="12" name="제목 1">
            <a:extLst>
              <a:ext uri="{FF2B5EF4-FFF2-40B4-BE49-F238E27FC236}">
                <a16:creationId xmlns:a16="http://schemas.microsoft.com/office/drawing/2014/main" id="{608C38CA-55CE-4916-B324-86EF1DEF097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409908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_</a:t>
            </a:r>
            <a:r>
              <a:rPr lang="ko-KR" altLang="en-US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공정제어</a:t>
            </a:r>
            <a:r>
              <a:rPr lang="en-US" altLang="ko-KR" sz="1800">
                <a:ea typeface="맑은 고딕" panose="020B0503020000020004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맑은 고딕" panose="020B0503020000020004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6936071-DFB6-4A7B-B70B-230010BDAD0F}"/>
              </a:ext>
            </a:extLst>
          </p:cNvPr>
          <p:cNvSpPr txBox="1"/>
          <p:nvPr/>
        </p:nvSpPr>
        <p:spPr>
          <a:xfrm>
            <a:off x="8096886" y="295461"/>
            <a:ext cx="159018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>
              <a:defRPr/>
            </a:pPr>
            <a:r>
              <a:rPr lang="ko-KR" altLang="en-US" dirty="0">
                <a:latin typeface="+mn-lt"/>
                <a:ea typeface="+mn-ea"/>
                <a:cs typeface="Malgun Gothic Semilight"/>
              </a:rPr>
              <a:t>업데이트 시간 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: 12/17(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수</a:t>
            </a:r>
            <a:r>
              <a:rPr lang="en-US" altLang="ko-KR" dirty="0">
                <a:latin typeface="+mn-lt"/>
                <a:ea typeface="+mn-ea"/>
                <a:cs typeface="Malgun Gothic Semilight"/>
              </a:rPr>
              <a:t>) 9</a:t>
            </a:r>
            <a:r>
              <a:rPr lang="ko-KR" altLang="en-US" dirty="0">
                <a:latin typeface="+mn-lt"/>
                <a:ea typeface="+mn-ea"/>
                <a:cs typeface="Malgun Gothic Semilight"/>
              </a:rPr>
              <a:t>시</a:t>
            </a: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4F9CB6A6-7CCF-47F0-A0A9-04BB2445175D}"/>
              </a:ext>
            </a:extLst>
          </p:cNvPr>
          <p:cNvSpPr txBox="1">
            <a:spLocks/>
          </p:cNvSpPr>
          <p:nvPr/>
        </p:nvSpPr>
        <p:spPr>
          <a:xfrm>
            <a:off x="8763736" y="118406"/>
            <a:ext cx="92333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: </a:t>
            </a:r>
            <a:r>
              <a:rPr lang="ko-KR" altLang="en-US" sz="1100" dirty="0">
                <a:solidFill>
                  <a:prstClr val="black"/>
                </a:solidFill>
                <a:cs typeface="Malgun Gothic Semilight" panose="020B0502040204020203" pitchFamily="50" charset="-127"/>
              </a:rPr>
              <a:t>박정빈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Malgun Gothic Semilight" panose="020B0502040204020203" pitchFamily="50" charset="-127"/>
              </a:rPr>
              <a:t>A</a:t>
            </a:r>
            <a:endParaRPr kumimoji="0" lang="ko-KR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Malgun Gothic Semilight" panose="020B0502040204020203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7AD3DE0-6316-45F2-B173-7E36C1EB7470}"/>
              </a:ext>
            </a:extLst>
          </p:cNvPr>
          <p:cNvSpPr/>
          <p:nvPr/>
        </p:nvSpPr>
        <p:spPr>
          <a:xfrm>
            <a:off x="1363195" y="1422232"/>
            <a:ext cx="7146138" cy="2439129"/>
          </a:xfrm>
          <a:prstGeom prst="rect">
            <a:avLst/>
          </a:prstGeom>
        </p:spPr>
        <p:txBody>
          <a:bodyPr wrap="square" lIns="91440" tIns="45720" rIns="91440" bIns="45720" numCol="2" anchor="t">
            <a:spAutoFit/>
          </a:bodyPr>
          <a:lstStyle/>
          <a:p>
            <a:pPr lvl="0">
              <a:buClr>
                <a:srgbClr val="000000"/>
              </a:buClr>
              <a:buFont typeface="Arial" panose="020B0604020202020204" pitchFamily="34" charset="0"/>
              <a:buChar char="•"/>
              <a:defRPr/>
            </a:pPr>
            <a:r>
              <a:rPr lang="en-US" altLang="ko-KR" sz="1000" b="1" u="sng" dirty="0"/>
              <a:t>ESST</a:t>
            </a:r>
          </a:p>
          <a:p>
            <a:pPr>
              <a:buClr>
                <a:srgbClr val="000000"/>
              </a:buClr>
              <a:defRPr/>
            </a:pPr>
            <a:r>
              <a:rPr lang="ko-KR" altLang="en-US" sz="1000" dirty="0"/>
              <a:t>   </a:t>
            </a:r>
            <a:r>
              <a:rPr lang="en-US" altLang="ko-KR" sz="1000" dirty="0"/>
              <a:t>- </a:t>
            </a:r>
            <a:r>
              <a:rPr lang="ko-KR" altLang="en-US" sz="1000" dirty="0"/>
              <a:t>전극 </a:t>
            </a:r>
            <a:r>
              <a:rPr lang="en-US" altLang="ko-KR" sz="1000" dirty="0"/>
              <a:t>: </a:t>
            </a:r>
            <a:r>
              <a:rPr lang="ko-KR" altLang="en-US" sz="1000" dirty="0"/>
              <a:t>대표호기 운영전환 완료</a:t>
            </a:r>
            <a:r>
              <a:rPr lang="en-US" altLang="ko-KR" sz="1000" dirty="0"/>
              <a:t>(</a:t>
            </a:r>
            <a:r>
              <a:rPr lang="ko-KR" altLang="en-US" sz="1000" dirty="0"/>
              <a:t>잔여 호기 </a:t>
            </a:r>
            <a:r>
              <a:rPr lang="en-US" altLang="ko-KR" sz="1000" dirty="0"/>
              <a:t>12</a:t>
            </a:r>
            <a:r>
              <a:rPr lang="ko-KR" altLang="en-US" sz="1000" dirty="0"/>
              <a:t>월 중 테스트 예정</a:t>
            </a:r>
            <a:r>
              <a:rPr lang="en-US" altLang="ko-KR" sz="1000" dirty="0"/>
              <a:t>)</a:t>
            </a:r>
          </a:p>
          <a:p>
            <a:pPr>
              <a:buClr>
                <a:srgbClr val="000000"/>
              </a:buClr>
              <a:defRPr/>
            </a:pPr>
            <a:r>
              <a:rPr lang="en-US" altLang="ko-KR" sz="1000" dirty="0"/>
              <a:t>   - </a:t>
            </a:r>
            <a:r>
              <a:rPr lang="ko-KR" altLang="en-US" sz="1000" dirty="0"/>
              <a:t>조립 </a:t>
            </a:r>
            <a:r>
              <a:rPr lang="en-US" altLang="ko-KR" sz="1000" dirty="0"/>
              <a:t>:</a:t>
            </a:r>
            <a:r>
              <a:rPr lang="ko-KR" altLang="en-US" sz="1000" dirty="0"/>
              <a:t> 대표호기 운영전환 완료</a:t>
            </a:r>
            <a:endParaRPr lang="en-US" altLang="ko-KR" sz="1000" dirty="0"/>
          </a:p>
          <a:p>
            <a:pPr>
              <a:buClr>
                <a:srgbClr val="000000"/>
              </a:buClr>
              <a:defRPr/>
            </a:pPr>
            <a:r>
              <a:rPr lang="en-US" altLang="ko-KR" sz="1000" dirty="0"/>
              <a:t>     </a:t>
            </a:r>
            <a:r>
              <a:rPr lang="ko-KR" altLang="en-US" sz="1000" dirty="0"/>
              <a:t>금주 </a:t>
            </a:r>
            <a:r>
              <a:rPr lang="en-US" altLang="ko-KR" sz="1000" dirty="0"/>
              <a:t>wet run </a:t>
            </a:r>
            <a:r>
              <a:rPr lang="ko-KR" altLang="en-US" sz="1000" dirty="0"/>
              <a:t>대상인 </a:t>
            </a:r>
            <a:r>
              <a:rPr lang="en-US" altLang="ko-KR" sz="1000" dirty="0" err="1"/>
              <a:t>LnS</a:t>
            </a:r>
            <a:r>
              <a:rPr lang="en-US" altLang="ko-KR" sz="1000" dirty="0"/>
              <a:t> :1</a:t>
            </a:r>
            <a:r>
              <a:rPr lang="ko-KR" altLang="en-US" sz="1000" dirty="0"/>
              <a:t>라인 </a:t>
            </a:r>
            <a:r>
              <a:rPr lang="en-US" altLang="ko-KR" sz="1000" dirty="0"/>
              <a:t>PKG~</a:t>
            </a:r>
            <a:r>
              <a:rPr lang="ko-KR" altLang="en-US" sz="1000" dirty="0"/>
              <a:t> </a:t>
            </a:r>
            <a:r>
              <a:rPr lang="en-US" altLang="ko-KR" sz="1000" dirty="0"/>
              <a:t>2</a:t>
            </a:r>
            <a:r>
              <a:rPr lang="ko-KR" altLang="en-US" sz="1000" dirty="0"/>
              <a:t>라인 대상은 운영전환 완료</a:t>
            </a:r>
            <a:endParaRPr lang="en-US" altLang="ko-KR" sz="1000" dirty="0"/>
          </a:p>
          <a:p>
            <a:pPr>
              <a:buClr>
                <a:srgbClr val="000000"/>
              </a:buClr>
              <a:defRPr/>
            </a:pPr>
            <a:r>
              <a:rPr lang="en-US" altLang="ko-KR" sz="1000" dirty="0"/>
              <a:t>   - </a:t>
            </a:r>
            <a:r>
              <a:rPr lang="ko-KR" altLang="en-US" sz="1000" dirty="0"/>
              <a:t>확산호기 테스트 진행 예정</a:t>
            </a:r>
            <a:r>
              <a:rPr lang="en-US" altLang="ko-KR" sz="1000" dirty="0"/>
              <a:t>(12</a:t>
            </a:r>
            <a:r>
              <a:rPr lang="ko-KR" altLang="en-US" sz="1000" dirty="0"/>
              <a:t>월 중순</a:t>
            </a:r>
            <a:r>
              <a:rPr lang="en-US" altLang="ko-KR" sz="1000" dirty="0"/>
              <a:t>~)</a:t>
            </a:r>
          </a:p>
          <a:p>
            <a:pPr>
              <a:buClr>
                <a:srgbClr val="000000"/>
              </a:buClr>
              <a:defRPr/>
            </a:pPr>
            <a:endParaRPr lang="en-US" altLang="ko-KR" sz="1000" b="1" u="sng" dirty="0"/>
          </a:p>
          <a:p>
            <a:pPr lvl="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US" altLang="ko-KR" sz="1000" b="1" u="sng" dirty="0"/>
              <a:t> ESHD</a:t>
            </a:r>
          </a:p>
          <a:p>
            <a:pPr lvl="0">
              <a:buClr>
                <a:srgbClr val="000000"/>
              </a:buClr>
            </a:pPr>
            <a:r>
              <a:rPr lang="en-US" altLang="ko-KR" sz="1000" dirty="0"/>
              <a:t> - </a:t>
            </a:r>
            <a:r>
              <a:rPr lang="ko-KR" altLang="en-US" sz="1000" dirty="0"/>
              <a:t>조립 전체호기 확산 완료</a:t>
            </a:r>
            <a:r>
              <a:rPr lang="en-US" altLang="ko-KR" sz="1000" dirty="0"/>
              <a:t>. </a:t>
            </a:r>
            <a:r>
              <a:rPr lang="ko-KR" altLang="en-US" sz="1000" dirty="0"/>
              <a:t>전극 </a:t>
            </a:r>
            <a:r>
              <a:rPr lang="en-US" altLang="ko-KR" sz="1000" dirty="0"/>
              <a:t>2</a:t>
            </a:r>
            <a:r>
              <a:rPr lang="ko-KR" altLang="en-US" sz="1000" dirty="0"/>
              <a:t>대 제외 확산 완료</a:t>
            </a:r>
            <a:endParaRPr lang="en-US" altLang="ko-KR" sz="1000" dirty="0"/>
          </a:p>
          <a:p>
            <a:pPr>
              <a:buClr>
                <a:srgbClr val="000000"/>
              </a:buClr>
            </a:pPr>
            <a:r>
              <a:rPr lang="en-US" altLang="ko-KR" sz="1000" dirty="0"/>
              <a:t>  : </a:t>
            </a:r>
            <a:r>
              <a:rPr lang="ko-KR" altLang="en-US" sz="1000" dirty="0"/>
              <a:t>전극 </a:t>
            </a:r>
            <a:r>
              <a:rPr lang="en-US" altLang="ko-KR" sz="1000" dirty="0"/>
              <a:t>2</a:t>
            </a:r>
            <a:r>
              <a:rPr lang="ko-KR" altLang="en-US" sz="1000" dirty="0"/>
              <a:t>대는 </a:t>
            </a:r>
            <a:r>
              <a:rPr lang="en-US" altLang="ko-KR" sz="1000" dirty="0"/>
              <a:t>Roll Press</a:t>
            </a:r>
            <a:r>
              <a:rPr lang="ko-KR" altLang="en-US" sz="1000" dirty="0"/>
              <a:t>로 </a:t>
            </a:r>
            <a:r>
              <a:rPr lang="en-US" altLang="ko-KR" sz="1000" dirty="0"/>
              <a:t>ESS </a:t>
            </a:r>
            <a:r>
              <a:rPr lang="ko-KR" altLang="en-US" sz="1000" dirty="0"/>
              <a:t>개조 예정</a:t>
            </a:r>
            <a:r>
              <a:rPr lang="en-US" altLang="ko-KR" sz="1000" dirty="0"/>
              <a:t>(</a:t>
            </a:r>
            <a:r>
              <a:rPr lang="ko-KR" altLang="en-US" sz="1000" dirty="0"/>
              <a:t>샘플 </a:t>
            </a:r>
            <a:r>
              <a:rPr lang="en-US" altLang="ko-KR" sz="1000" dirty="0"/>
              <a:t>’26</a:t>
            </a:r>
            <a:r>
              <a:rPr lang="ko-KR" altLang="en-US" sz="1000" dirty="0"/>
              <a:t>년</a:t>
            </a:r>
            <a:r>
              <a:rPr lang="en-US" altLang="ko-KR" sz="1000" dirty="0"/>
              <a:t> 3</a:t>
            </a:r>
            <a:r>
              <a:rPr lang="ko-KR" altLang="en-US" sz="1000" dirty="0"/>
              <a:t>월</a:t>
            </a:r>
            <a:r>
              <a:rPr lang="en-US" altLang="ko-KR" sz="1000" dirty="0"/>
              <a:t>)    </a:t>
            </a:r>
          </a:p>
          <a:p>
            <a:pPr>
              <a:buClr>
                <a:srgbClr val="000000"/>
              </a:buClr>
            </a:pPr>
            <a:endParaRPr lang="en-US" altLang="ko-KR" sz="1000" dirty="0"/>
          </a:p>
          <a:p>
            <a:pPr>
              <a:buClr>
                <a:srgbClr val="000000"/>
              </a:buClr>
            </a:pPr>
            <a:endParaRPr lang="en-US" altLang="ko-KR" sz="1000" dirty="0"/>
          </a:p>
          <a:p>
            <a:pPr lvl="0">
              <a:buClr>
                <a:srgbClr val="000000"/>
              </a:buClr>
            </a:pPr>
            <a:endParaRPr lang="en-US" altLang="ko-KR" sz="1000" dirty="0"/>
          </a:p>
          <a:p>
            <a:pPr lvl="0">
              <a:buClr>
                <a:srgbClr val="000000"/>
              </a:buClr>
            </a:pPr>
            <a:endParaRPr lang="en-US" altLang="ko-KR" sz="1000" dirty="0"/>
          </a:p>
          <a:p>
            <a:pPr lvl="0">
              <a:buClr>
                <a:srgbClr val="000000"/>
              </a:buClr>
            </a:pPr>
            <a:endParaRPr lang="en-US" altLang="ko-KR" sz="1000" dirty="0"/>
          </a:p>
          <a:p>
            <a:pPr lvl="0">
              <a:buClr>
                <a:srgbClr val="000000"/>
              </a:buClr>
            </a:pPr>
            <a:endParaRPr lang="en-US" altLang="ko-KR" sz="1000" dirty="0"/>
          </a:p>
          <a:p>
            <a:pPr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US" altLang="ko-KR" sz="1000" b="1" u="sng" dirty="0"/>
              <a:t> ESOC</a:t>
            </a:r>
            <a:r>
              <a:rPr lang="ko-KR" altLang="en-US" sz="1000" b="1" u="sng" dirty="0"/>
              <a:t> 마더라인</a:t>
            </a:r>
            <a:br>
              <a:rPr lang="en-US" altLang="ko-KR" sz="1000" dirty="0">
                <a:solidFill>
                  <a:srgbClr val="000000"/>
                </a:solidFill>
              </a:rPr>
            </a:br>
            <a:r>
              <a:rPr lang="en-US" altLang="ko-KR" sz="1000" dirty="0"/>
              <a:t>   - </a:t>
            </a:r>
            <a:r>
              <a:rPr lang="ko-KR" altLang="en-US" sz="1000" dirty="0"/>
              <a:t>전극 </a:t>
            </a:r>
            <a:r>
              <a:rPr lang="en-US" altLang="ko-KR" sz="1000" dirty="0"/>
              <a:t>: 13/13</a:t>
            </a:r>
            <a:r>
              <a:rPr lang="ko-KR" altLang="en-US" sz="1000" dirty="0"/>
              <a:t>대</a:t>
            </a:r>
            <a:r>
              <a:rPr lang="en-US" altLang="ko-KR" sz="1000" dirty="0"/>
              <a:t> (100%) </a:t>
            </a:r>
            <a:r>
              <a:rPr lang="ko-KR" altLang="en-US" sz="1000" dirty="0"/>
              <a:t>테스트 진행 완료</a:t>
            </a:r>
            <a:endParaRPr lang="en-US" altLang="ko-KR" sz="1000" dirty="0"/>
          </a:p>
          <a:p>
            <a:pPr>
              <a:buClr>
                <a:srgbClr val="000000"/>
              </a:buClr>
            </a:pPr>
            <a:r>
              <a:rPr lang="en-US" altLang="ko-KR" sz="1000" dirty="0"/>
              <a:t>   - </a:t>
            </a:r>
            <a:r>
              <a:rPr lang="ko-KR" altLang="en-US" sz="1000" dirty="0"/>
              <a:t>조립 </a:t>
            </a:r>
            <a:r>
              <a:rPr lang="en-US" altLang="ko-KR" sz="1000" dirty="0"/>
              <a:t>: 13/13</a:t>
            </a:r>
            <a:r>
              <a:rPr lang="ko-KR" altLang="en-US" sz="1000" dirty="0"/>
              <a:t>대 </a:t>
            </a:r>
            <a:r>
              <a:rPr lang="en-US" altLang="ko-KR" sz="1000" dirty="0"/>
              <a:t>(100%) </a:t>
            </a:r>
            <a:r>
              <a:rPr lang="ko-KR" altLang="en-US" sz="1000" dirty="0"/>
              <a:t>테스트 진행 완료</a:t>
            </a:r>
            <a:r>
              <a:rPr lang="en-US" altLang="ko-KR" sz="1000" dirty="0"/>
              <a:t>. (</a:t>
            </a:r>
            <a:r>
              <a:rPr lang="ko-KR" altLang="en-US" sz="1000" dirty="0"/>
              <a:t>샘플 대기중</a:t>
            </a:r>
            <a:r>
              <a:rPr lang="en-US" altLang="ko-KR" sz="1000" dirty="0"/>
              <a:t>)</a:t>
            </a:r>
          </a:p>
          <a:p>
            <a:pPr>
              <a:buClr>
                <a:srgbClr val="000000"/>
              </a:buClr>
            </a:pPr>
            <a:r>
              <a:rPr lang="en-US" altLang="ko-KR" sz="1000" dirty="0">
                <a:latin typeface="Arial Narrow"/>
              </a:rPr>
              <a:t>   - </a:t>
            </a:r>
            <a:r>
              <a:rPr lang="ko-KR" altLang="en-US" sz="1000" dirty="0">
                <a:latin typeface="Arial Narrow"/>
              </a:rPr>
              <a:t>조립 확산호기 </a:t>
            </a:r>
            <a:r>
              <a:rPr lang="en-US" altLang="ko-KR" sz="1000" dirty="0">
                <a:latin typeface="Arial Narrow"/>
              </a:rPr>
              <a:t>: DNC(2</a:t>
            </a:r>
            <a:r>
              <a:rPr lang="ko-KR" altLang="en-US" sz="1000" dirty="0">
                <a:latin typeface="Arial Narrow"/>
              </a:rPr>
              <a:t>대</a:t>
            </a:r>
            <a:r>
              <a:rPr lang="en-US" altLang="ko-KR" sz="1000" dirty="0">
                <a:latin typeface="Arial Narrow"/>
              </a:rPr>
              <a:t>),AZS(13</a:t>
            </a:r>
            <a:r>
              <a:rPr lang="ko-KR" altLang="en-US" sz="1000" dirty="0">
                <a:latin typeface="Arial Narrow"/>
              </a:rPr>
              <a:t>대</a:t>
            </a:r>
            <a:r>
              <a:rPr lang="en-US" altLang="ko-KR" sz="1000" dirty="0">
                <a:latin typeface="Arial Narrow"/>
              </a:rPr>
              <a:t>)</a:t>
            </a:r>
            <a:r>
              <a:rPr lang="ko-KR" altLang="en-US" sz="1000" dirty="0">
                <a:latin typeface="Arial Narrow"/>
              </a:rPr>
              <a:t> 테스트 완료</a:t>
            </a:r>
            <a:r>
              <a:rPr lang="en-US" altLang="ko-KR" sz="1000" dirty="0">
                <a:latin typeface="Arial Narrow"/>
              </a:rPr>
              <a:t>(11/20)</a:t>
            </a:r>
          </a:p>
          <a:p>
            <a:pPr>
              <a:buClr>
                <a:srgbClr val="000000"/>
              </a:buClr>
            </a:pPr>
            <a:endParaRPr lang="en-US" altLang="ko-KR" sz="1000" dirty="0">
              <a:latin typeface="Arial Narrow"/>
            </a:endParaRPr>
          </a:p>
          <a:p>
            <a:pPr lvl="0">
              <a:buClr>
                <a:srgbClr val="000000"/>
              </a:buClr>
              <a:buFont typeface="Arial" panose="020B0604020202020204" pitchFamily="34" charset="0"/>
              <a:buChar char="•"/>
              <a:defRPr/>
            </a:pPr>
            <a:r>
              <a:rPr lang="en-US" altLang="ko-KR" sz="1000" b="1" u="sng" dirty="0"/>
              <a:t> ESHG</a:t>
            </a:r>
            <a:br>
              <a:rPr lang="en-US" altLang="ko-KR" sz="1000" dirty="0">
                <a:solidFill>
                  <a:srgbClr val="000000"/>
                </a:solidFill>
              </a:rPr>
            </a:br>
            <a:r>
              <a:rPr lang="en-US" altLang="ko-KR" sz="1000" dirty="0"/>
              <a:t>   </a:t>
            </a:r>
            <a:r>
              <a:rPr lang="en-US" altLang="ko-KR" sz="1000" dirty="0">
                <a:solidFill>
                  <a:srgbClr val="0000FF"/>
                </a:solidFill>
              </a:rPr>
              <a:t>- </a:t>
            </a:r>
            <a:r>
              <a:rPr lang="ko-KR" altLang="en-US" sz="1000" dirty="0"/>
              <a:t>대표호기</a:t>
            </a:r>
            <a:r>
              <a:rPr lang="en-US" altLang="ko-KR" sz="1000" dirty="0"/>
              <a:t>(</a:t>
            </a:r>
            <a:r>
              <a:rPr lang="ko-KR" altLang="en-US" sz="1000" dirty="0"/>
              <a:t>샘플 대상호기</a:t>
            </a:r>
            <a:r>
              <a:rPr lang="en-US" altLang="ko-KR" sz="1000" dirty="0"/>
              <a:t>) </a:t>
            </a:r>
            <a:r>
              <a:rPr lang="ko-KR" altLang="en-US" sz="1000" dirty="0"/>
              <a:t>전체 테스트 완료 </a:t>
            </a:r>
            <a:r>
              <a:rPr lang="en-US" altLang="ko-KR" sz="1000" dirty="0"/>
              <a:t>.</a:t>
            </a:r>
          </a:p>
          <a:p>
            <a:pPr lvl="0">
              <a:buClr>
                <a:srgbClr val="000000"/>
              </a:buClr>
              <a:defRPr/>
            </a:pPr>
            <a:r>
              <a:rPr lang="en-US" altLang="ko-KR" sz="1000" dirty="0"/>
              <a:t>   -</a:t>
            </a:r>
            <a:r>
              <a:rPr lang="en-US" altLang="ko-KR" sz="1000" dirty="0">
                <a:solidFill>
                  <a:srgbClr val="0000FF"/>
                </a:solidFill>
              </a:rPr>
              <a:t> </a:t>
            </a:r>
            <a:r>
              <a:rPr lang="en-US" altLang="ko-KR" sz="1000" dirty="0"/>
              <a:t>MES </a:t>
            </a:r>
            <a:r>
              <a:rPr lang="ko-KR" altLang="en-US" sz="1000" dirty="0"/>
              <a:t>일정에 맞춰 순차 진행</a:t>
            </a:r>
            <a:r>
              <a:rPr lang="en-US" altLang="ko-KR" sz="1000" dirty="0"/>
              <a:t>.</a:t>
            </a:r>
            <a:r>
              <a:rPr lang="en-US" altLang="ko-KR" sz="1000" dirty="0">
                <a:solidFill>
                  <a:srgbClr val="0000FF"/>
                </a:solidFill>
              </a:rPr>
              <a:t>(ROL 1-3 TEST </a:t>
            </a:r>
            <a:r>
              <a:rPr lang="ko-KR" altLang="en-US" sz="1000" dirty="0">
                <a:solidFill>
                  <a:srgbClr val="0000FF"/>
                </a:solidFill>
              </a:rPr>
              <a:t>완료 </a:t>
            </a:r>
            <a:r>
              <a:rPr lang="en-US" altLang="ko-KR" sz="1000" dirty="0">
                <a:solidFill>
                  <a:srgbClr val="0000FF"/>
                </a:solidFill>
              </a:rPr>
              <a:t>12/13)</a:t>
            </a:r>
            <a:endParaRPr lang="en-US" altLang="ko-KR" sz="1000" dirty="0">
              <a:solidFill>
                <a:srgbClr val="0000FF"/>
              </a:solidFill>
              <a:latin typeface="Arial Narrow"/>
            </a:endParaRPr>
          </a:p>
          <a:p>
            <a:pPr lvl="0">
              <a:buClr>
                <a:srgbClr val="000000"/>
              </a:buClr>
              <a:defRPr/>
            </a:pPr>
            <a:endParaRPr lang="en-US" altLang="ko-KR" sz="1000" dirty="0">
              <a:latin typeface="Arial Narrow"/>
            </a:endParaRPr>
          </a:p>
          <a:p>
            <a:pPr lvl="0">
              <a:buClr>
                <a:srgbClr val="000000"/>
              </a:buClr>
              <a:buFont typeface="Arial" panose="020B0604020202020204" pitchFamily="34" charset="0"/>
              <a:buChar char="•"/>
              <a:defRPr/>
            </a:pPr>
            <a:r>
              <a:rPr lang="en-US" altLang="ko-KR" sz="1000" b="1" dirty="0">
                <a:latin typeface="+mj-ea"/>
                <a:ea typeface="+mj-ea"/>
              </a:rPr>
              <a:t> </a:t>
            </a:r>
            <a:r>
              <a:rPr lang="en-US" altLang="ko-KR" sz="1000" b="1" u="sng" dirty="0">
                <a:latin typeface="Arial Narrow (본문)"/>
                <a:ea typeface="+mj-ea"/>
              </a:rPr>
              <a:t>ESOC 2</a:t>
            </a:r>
            <a:r>
              <a:rPr lang="ko-KR" altLang="en-US" sz="1000" b="1" u="sng" dirty="0">
                <a:latin typeface="Arial Narrow (본문)"/>
                <a:ea typeface="+mj-ea"/>
              </a:rPr>
              <a:t>공장 </a:t>
            </a:r>
            <a:r>
              <a:rPr lang="en-US" altLang="ko-KR" sz="1000" b="1" u="sng" dirty="0">
                <a:latin typeface="Arial Narrow (본문)"/>
                <a:ea typeface="+mj-ea"/>
              </a:rPr>
              <a:t>MP2 (NFF)</a:t>
            </a:r>
          </a:p>
          <a:p>
            <a:pPr lvl="0">
              <a:buClr>
                <a:srgbClr val="000000"/>
              </a:buClr>
              <a:defRPr/>
            </a:pPr>
            <a:r>
              <a:rPr lang="en-US" altLang="ko-KR" sz="1000" dirty="0">
                <a:latin typeface="Arial Narrow (본문)"/>
                <a:ea typeface="+mj-ea"/>
              </a:rPr>
              <a:t>   </a:t>
            </a:r>
            <a:r>
              <a:rPr lang="en-US" altLang="ko-KR" sz="1000" dirty="0">
                <a:latin typeface="Arial Narrow (본문)"/>
              </a:rPr>
              <a:t>- RMS </a:t>
            </a:r>
            <a:r>
              <a:rPr lang="ko-KR" altLang="en-US" sz="1000" dirty="0">
                <a:latin typeface="Arial Narrow (본문)"/>
              </a:rPr>
              <a:t>연동 테스트 및 운영 전환 완료</a:t>
            </a:r>
            <a:r>
              <a:rPr lang="en-US" altLang="ko-KR" sz="1000" dirty="0">
                <a:latin typeface="Arial Narrow (본문)"/>
              </a:rPr>
              <a:t>(100%, 20</a:t>
            </a:r>
            <a:r>
              <a:rPr lang="ko-KR" altLang="en-US" sz="1000" dirty="0">
                <a:latin typeface="Arial Narrow (본문)"/>
              </a:rPr>
              <a:t>대</a:t>
            </a:r>
            <a:r>
              <a:rPr lang="en-US" altLang="ko-KR" sz="1000" dirty="0">
                <a:latin typeface="Arial Narrow (본문)"/>
              </a:rPr>
              <a:t>/20</a:t>
            </a:r>
            <a:r>
              <a:rPr lang="ko-KR" altLang="en-US" sz="1000" dirty="0">
                <a:latin typeface="Arial Narrow (본문)"/>
              </a:rPr>
              <a:t>대</a:t>
            </a:r>
            <a:r>
              <a:rPr lang="en-US" altLang="ko-KR" sz="1000" dirty="0">
                <a:latin typeface="Arial Narrow (본문)"/>
              </a:rPr>
              <a:t>)</a:t>
            </a:r>
          </a:p>
          <a:p>
            <a:pPr lvl="0">
              <a:buClr>
                <a:srgbClr val="000000"/>
              </a:buClr>
              <a:defRPr/>
            </a:pPr>
            <a:r>
              <a:rPr lang="en-US" altLang="ko-KR" sz="1000" dirty="0">
                <a:latin typeface="Arial Narrow (본문)"/>
              </a:rPr>
              <a:t>   - </a:t>
            </a:r>
            <a:r>
              <a:rPr lang="ko-KR" altLang="en-US" sz="1000" dirty="0">
                <a:latin typeface="Arial Narrow (본문)"/>
              </a:rPr>
              <a:t>구축 완료 후 </a:t>
            </a:r>
            <a:r>
              <a:rPr lang="ko-KR" altLang="en-US" sz="1000" dirty="0" err="1">
                <a:latin typeface="Arial Narrow (본문)"/>
              </a:rPr>
              <a:t>공정팀</a:t>
            </a:r>
            <a:r>
              <a:rPr lang="ko-KR" altLang="en-US" sz="1000" dirty="0">
                <a:latin typeface="Arial Narrow (본문)"/>
              </a:rPr>
              <a:t> 요청으로 </a:t>
            </a:r>
            <a:r>
              <a:rPr lang="en-US" altLang="ko-KR" sz="1000" dirty="0">
                <a:latin typeface="Arial Narrow (본문)"/>
              </a:rPr>
              <a:t>RMS Para </a:t>
            </a:r>
            <a:r>
              <a:rPr lang="ko-KR" altLang="en-US" sz="1000" dirty="0">
                <a:latin typeface="Arial Narrow (본문)"/>
              </a:rPr>
              <a:t>추가 반영 완료</a:t>
            </a:r>
            <a:r>
              <a:rPr lang="en-US" altLang="ko-KR" sz="1000" dirty="0">
                <a:latin typeface="Arial Narrow (본문)"/>
              </a:rPr>
              <a:t>(10/30)</a:t>
            </a:r>
            <a:endParaRPr lang="en-US" altLang="ko-KR" sz="1000" dirty="0">
              <a:latin typeface="Arial Narrow (본문)"/>
              <a:ea typeface="+mj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06E5005-B299-4567-AC04-8316AB5B7581}"/>
              </a:ext>
            </a:extLst>
          </p:cNvPr>
          <p:cNvGraphicFramePr>
            <a:graphicFrameLocks noGrp="1"/>
          </p:cNvGraphicFramePr>
          <p:nvPr/>
        </p:nvGraphicFramePr>
        <p:xfrm>
          <a:off x="1414953" y="3457303"/>
          <a:ext cx="7009948" cy="2976963"/>
        </p:xfrm>
        <a:graphic>
          <a:graphicData uri="http://schemas.openxmlformats.org/drawingml/2006/table">
            <a:tbl>
              <a:tblPr/>
              <a:tblGrid>
                <a:gridCol w="550889">
                  <a:extLst>
                    <a:ext uri="{9D8B030D-6E8A-4147-A177-3AD203B41FA5}">
                      <a16:colId xmlns:a16="http://schemas.microsoft.com/office/drawing/2014/main" val="3800456156"/>
                    </a:ext>
                  </a:extLst>
                </a:gridCol>
                <a:gridCol w="537661">
                  <a:extLst>
                    <a:ext uri="{9D8B030D-6E8A-4147-A177-3AD203B41FA5}">
                      <a16:colId xmlns:a16="http://schemas.microsoft.com/office/drawing/2014/main" val="1662057772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3490127688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1607995752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2953036418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3910602385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3979671753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1546860000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1632846127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181555670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202960200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1957316697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4024087216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3737931021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3741952310"/>
                    </a:ext>
                  </a:extLst>
                </a:gridCol>
                <a:gridCol w="422957">
                  <a:extLst>
                    <a:ext uri="{9D8B030D-6E8A-4147-A177-3AD203B41FA5}">
                      <a16:colId xmlns:a16="http://schemas.microsoft.com/office/drawing/2014/main" val="149927052"/>
                    </a:ext>
                  </a:extLst>
                </a:gridCol>
              </a:tblGrid>
              <a:tr h="198367">
                <a:tc rowSpan="3" gridSpan="2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Activity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13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자동차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/ESS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NFF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1936905"/>
                  </a:ext>
                </a:extLst>
              </a:tr>
              <a:tr h="276045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ESST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박정빈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ESHD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김태현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OC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마더라인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박정빈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ESHG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심현철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박정빈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LG스마트체 Regular" panose="020B0600000101010101" pitchFamily="50" charset="-127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ESOC2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김태현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9517220"/>
                  </a:ext>
                </a:extLst>
              </a:tr>
              <a:tr h="247829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전극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양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+mn-ea"/>
                        </a:rPr>
                        <a:t>전극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+mn-ea"/>
                        </a:rPr>
                        <a:t>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조립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(2)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모듈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전극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조립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모듈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(2)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전극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(1)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조립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(1)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전극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양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전극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조립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활성화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조립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7944831"/>
                  </a:ext>
                </a:extLst>
              </a:tr>
              <a:tr h="28656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샘플일정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25.08.19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25.07.23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25.09.16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(ESS)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24.02.23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25.03.03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25.03.25</a:t>
                      </a: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24.12.30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25.08.25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TBD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25.08.18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25.07.28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25.07.28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25.08.05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25.07.16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2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8063824"/>
                  </a:ext>
                </a:extLst>
              </a:tr>
              <a:tr h="28656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Parameter 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선정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 rtl="0" eaLnBrk="1" fontAlgn="ctr" latinLnBrk="1" hangingPunct="1">
                        <a:buNone/>
                      </a:pPr>
                      <a:r>
                        <a:rPr lang="ko-KR" altLang="en-US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61733"/>
                  </a:ext>
                </a:extLst>
              </a:tr>
              <a:tr h="28656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사전 테스트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7239307"/>
                  </a:ext>
                </a:extLst>
              </a:tr>
              <a:tr h="392667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연동테스트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완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2841784"/>
                  </a:ext>
                </a:extLst>
              </a:tr>
              <a:tr h="28656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운영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전환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대표호기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샘플 대응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sz="1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92%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(12/13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완료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완료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9079141"/>
                  </a:ext>
                </a:extLst>
              </a:tr>
              <a:tr h="28656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전체호기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54%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(7/13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71%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(10/14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43%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(37/86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94%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(79/84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93%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(25/27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  <a:cs typeface="+mn-cs"/>
                        </a:rPr>
                        <a:t>)</a:t>
                      </a: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91%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(21/23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완료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Arial Narrow (본문)"/>
                        <a:ea typeface="+mn-ea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64%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(11/17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81%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(13/16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50%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(17/34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75%</a:t>
                      </a:r>
                    </a:p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(9/12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 (본문)"/>
                          <a:ea typeface="+mn-ea"/>
                        </a:rPr>
                        <a:t>)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 (본문)"/>
                          <a:ea typeface="+mn-ea"/>
                          <a:cs typeface="+mn-cs"/>
                        </a:rPr>
                        <a:t>완료</a:t>
                      </a:r>
                      <a:endParaRPr kumimoji="0" lang="en-US" altLang="ko-KR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 (본문)"/>
                        <a:ea typeface="+mn-ea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7997520"/>
                  </a:ext>
                </a:extLst>
              </a:tr>
              <a:tr h="28656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오라클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전환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대상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X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X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X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X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O</a:t>
                      </a:r>
                      <a:endParaRPr lang="ko-KR" altLang="en-US" sz="1000" dirty="0"/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O</a:t>
                      </a: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LG스마트체 Regular"/>
                        <a:cs typeface="+mn-cs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 (본문)"/>
                          <a:ea typeface="LG스마트체 Regular"/>
                          <a:cs typeface="+mn-cs"/>
                        </a:rPr>
                        <a:t>O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Arial Narrow (본문)"/>
                        <a:ea typeface="+mn-ea"/>
                      </a:endParaRP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O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O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O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O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O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O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 (본문)"/>
                          <a:ea typeface="LG스마트체 Regular"/>
                        </a:rPr>
                        <a:t>X</a:t>
                      </a:r>
                    </a:p>
                  </a:txBody>
                  <a:tcPr marL="8196" marR="8196" marT="8196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62066982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728197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42406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 금주 주요 내용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49A645D-7359-48B2-A250-365E004725B7}"/>
              </a:ext>
            </a:extLst>
          </p:cNvPr>
          <p:cNvSpPr txBox="1"/>
          <p:nvPr/>
        </p:nvSpPr>
        <p:spPr>
          <a:xfrm>
            <a:off x="15146" y="4185140"/>
            <a:ext cx="9890854" cy="103105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2.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건설사업관리시스템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(CPM)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현황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-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신규 공장 건설의 예상 투자비 산출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개산 견적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기능 개발을 위해 공사 내역 표준화 및 기존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Data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변환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영향 인자 정의 후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’25.11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월까지 투자비 분석 기능 구축 완료를 목표로 하고 있습니다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현재 개발 마무리 단계로 화면에 테이블 형태로 산출 결과까지 보여주는 부분까지 구성하였고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유사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PJT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를 선정하여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Ref. Data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기반 시뮬레이션을 진행하여 산출 비용 오차 검증과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Factor/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면적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구성 등에 따른 오차 변화 분석을 진행 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.. (~12/05)     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투자 비용 산출 결과를 다각적으로 분석하기 위한 시각화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(Report/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대시보드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화면도 개발 및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TEST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완료하여 배포 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(12/10) </a:t>
            </a:r>
            <a:b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해당 화면은 동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공정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공종별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금액의 구성 및 비중을 막대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파이형 그래프로 보여주며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공정별 면적 비율도 확인 할 수 있도록 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28A6245-6811-4D34-A2C8-C38D95B7D084}"/>
              </a:ext>
            </a:extLst>
          </p:cNvPr>
          <p:cNvSpPr txBox="1"/>
          <p:nvPr/>
        </p:nvSpPr>
        <p:spPr>
          <a:xfrm>
            <a:off x="15146" y="5538648"/>
            <a:ext cx="9890854" cy="103105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3. Control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Room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원격제어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 진행 현황 </a:t>
            </a:r>
            <a:endParaRPr kumimoji="1" lang="en-US" altLang="ko-KR" sz="11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1)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제조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알람팝업솔루션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구축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- ST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COT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PKG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 대상으로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‘26.1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월말 오픈 일정으로 솔루션 구축 중이며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NAT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부터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QA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망까지 케이블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포설은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25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설비부터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NAT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까지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케이블포설은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‘26.1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분기에 진행합니다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- MI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Lansing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COT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 대상으로 솔루션 구축 중으로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중계 서버 및 솔루션 셋업 진행 완료하여 통합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TEST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(~12/28)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최종 운영 적용 예정입니다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(12/30)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- HD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Control Room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구축을 위해 대상 설비 및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NAT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수량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CCTV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연결 수량 확인 하였으며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(11/18), IT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인프라팀과 인프라 협의 진행하였고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(11/25),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투자심의 준비중입니다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(~12/31)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- HG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법인은 출장 문제가 해결됨에 따라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26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월에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NAT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업체가 출장 진행하여 인프라 셋업 예정이며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전극검사기술팀 대상으로 솔루션 소개 및 인프라 준비 사항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재안내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(12/16)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05A12DA-83E3-4485-84CA-5AC0EB69699C}"/>
              </a:ext>
            </a:extLst>
          </p:cNvPr>
          <p:cNvSpPr txBox="1"/>
          <p:nvPr/>
        </p:nvSpPr>
        <p:spPr>
          <a:xfrm>
            <a:off x="8111075" y="26375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AA24DFE8-52CF-41A1-B7E3-73031049EEB6}"/>
              </a:ext>
            </a:extLst>
          </p:cNvPr>
          <p:cNvSpPr txBox="1">
            <a:spLocks/>
          </p:cNvSpPr>
          <p:nvPr/>
        </p:nvSpPr>
        <p:spPr>
          <a:xfrm>
            <a:off x="8758688" y="68096"/>
            <a:ext cx="1006687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황유승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TL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5F20481-BD1D-4B59-BB19-30AEE59C118E}"/>
              </a:ext>
            </a:extLst>
          </p:cNvPr>
          <p:cNvSpPr txBox="1"/>
          <p:nvPr/>
        </p:nvSpPr>
        <p:spPr>
          <a:xfrm>
            <a:off x="15146" y="710084"/>
            <a:ext cx="9997822" cy="333937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1.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설비관리시스템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(EMS)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 진행 현황 </a:t>
            </a:r>
            <a:endParaRPr kumimoji="1" lang="en-US" altLang="ko-KR" sz="11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1)  Spare Parts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재고최적화 알고리즘 구축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- Spare Parts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재고 절감을 위해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“Spare Parts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운영 최적화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Task”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가 구성되어 활동 중에 있습니다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   Task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운영 기간은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9/9~12/24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일까지로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주요 업무 목표는 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년 초과 장기재고 금액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406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억원을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203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억원까지 감축하는 것과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②구매 최적화를 위한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Min/Max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알고리즘 개선 및 과잉 발주 방지를 위한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시스템 고도화 부분입니다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①재고 절감 활동으로는 목표 절감액 대비 현재 절감 금액이 많이 부족해 장기 재고나 초과 자재에 대해 재활용 가능성이나 외부 판매 등의 해결책을 찾고 있으며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Task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활동 연장을 해외법인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지원팀에서 검토 중에 있습니다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②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S/P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적정재고 알고리즘 고도화 및 시스템 기능 개선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개는 모두 개발이 완료되어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11/27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정기 패치 시 반영 하였으며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Task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구성원에게 설명회를 진행하였습니다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(12/4) 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설명회 진행 간 해외법인에서 검토 요청한 사항은 구매 검토 강화를 위해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년 이상의 재고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월령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자재가 있을 경우 구매 시 담당 전결을 무조건 하게 되어 있는데 이럴 경우 너무 많은 결재가</a:t>
            </a:r>
            <a:b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담당까지 올라가는 것에 대한 우려를 표하였으며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일단 취지에 맞게 구매 프로세스를 준수하여 사용해보고 이후 피드백을 더 수렴하여 의사결정을 하기로 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알고리즘 고도화 및 시스템 기능 개선의 효과를 정량적으로 산출하고자 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Data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를 추출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분석 예정입니다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(~12/30)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2)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법인 운영 관리 및 기능 고도화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  <a:sym typeface="Wingdings" panose="05000000000000000000" pitchFamily="2" charset="2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   -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결함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개선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12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월 패치 대상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19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건에 대해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TEST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완료하여 시스템 반영 예정입니다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. (12/18)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   - NERP 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차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오픈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(AZ, GM, HM)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을 위해 자재 마스터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및 구매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입출고 부분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Test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완료하였습니다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. (~11/07)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     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차 오픈 관련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EMS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컷오버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계획 수립 완료하였고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(12/2)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Spare Parts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구매 문서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(PR/PO)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마감처리 가이드 하였습니다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.  (~12/4)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   -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각 법인에서 불용자재로 선별된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Spare Parts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에 대해 타법인 사용 여부를 확인하여 법인간 거래를 할 수 있도록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ERP/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통상관세팀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/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해외법인지원팀과 업무 프로세스 논의 중입니다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. (~25.12)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프로세스 수립 및 거래를 위한 상세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Data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정의 후 유관 시스템 연계하여 시스템 고도화 진행 예정입니다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. (~26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3)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법인 확산 구축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_ESST / ESHD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   - ESHD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법인은 오프라인 교육 및  창고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셋업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오픈 대응을 위해 출장 진행 중이며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(12/9~21),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금주는 창고 라벨프린터 셋업과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Rack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준비현황 점검 및 정비 실적 처리에 대해 재교육 합니다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   - ESHG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법인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월 오픈을 위해 온라인으로 교육 진행중이며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, PM/BM WO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실적입력 방법과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Spare Parts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재고처리 방법에 대해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교육중입니다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. (12/10,16)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        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또한 모바일에서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NFC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카드를 </a:t>
            </a:r>
            <a:r>
              <a:rPr kumimoji="0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태깅하면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설비별 정비항목을 바로 조회 할 수 있도록 설비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ID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가 기록된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NFC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 카드 필요 수량을 취합 하였으며 법인에서 구매 할 수 있도록 가이드 중입니다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  <a:sym typeface="Wingdings" panose="05000000000000000000" pitchFamily="2" charset="2"/>
              </a:rPr>
              <a:t>. (~12/19)</a:t>
            </a:r>
          </a:p>
        </p:txBody>
      </p:sp>
    </p:spTree>
    <p:extLst>
      <p:ext uri="{BB962C8B-B14F-4D97-AF65-F5344CB8AC3E}">
        <p14:creationId xmlns:p14="http://schemas.microsoft.com/office/powerpoint/2010/main" val="292832831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제목 1"/>
          <p:cNvSpPr txBox="1">
            <a:spLocks/>
          </p:cNvSpPr>
          <p:nvPr/>
        </p:nvSpPr>
        <p:spPr>
          <a:xfrm>
            <a:off x="124961" y="132021"/>
            <a:ext cx="2424062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sz="2000" b="1" kern="0">
                <a:solidFill>
                  <a:prstClr val="black"/>
                </a:solidFill>
                <a:latin typeface="Arial Narrow" panose="020B0606020202030204" pitchFamily="34" charset="0"/>
                <a:ea typeface="LG스마트체 Regular" panose="020B0600000101010101" pitchFamily="50" charset="-127"/>
                <a:cs typeface="Arial" pitchFamily="34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 금주 주요 내용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58A5318-3A14-4BE4-8B2F-A25C754B69E2}"/>
              </a:ext>
            </a:extLst>
          </p:cNvPr>
          <p:cNvSpPr txBox="1"/>
          <p:nvPr/>
        </p:nvSpPr>
        <p:spPr>
          <a:xfrm>
            <a:off x="15146" y="657806"/>
            <a:ext cx="9890854" cy="149271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4.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도면관리시스템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(FDM)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 진행 현황</a:t>
            </a:r>
            <a:endParaRPr kumimoji="1" lang="en-US" altLang="ko-KR" sz="11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- 9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CPO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께 제조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IT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시스템 활용률 보고 이후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CPO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산하 기술그룹에 설비도면을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FDM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에 등록하라는 지시시항이 있었던 것으로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CPO.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기획팀에 유선으로 확인 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(10/17)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하여 최근 신규 법인들에 대한 자료 등록이 활발하게 이루어지고 있으며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각 사용 부서에서 시스템 교육 요청 및 사용 문의가 많이 오고 있습니다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NFF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선행 기술팀 교육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(10/20),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자동차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팀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물류자동화팀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교육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(10/21),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원통형 조립설비기술팀  교육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(10/21), Pack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설비기술팀 교육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(10/28)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진행 하였고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AZ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 도면 등록을 위한 가이드 </a:t>
            </a:r>
            <a:endParaRPr kumimoji="0" lang="en-US" altLang="ko-KR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제공 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(10/27)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 ‘25.9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 보고 대비 신규법인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(AZ,HG,HD,ST)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대상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도면 등록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설비군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44%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증가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및 도면 종수 기준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15,374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건이 추가 등록 되었습니다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.(11/12)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-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설비제작사양서 변경 요청 관리 기능에 대해 문서 권한관리 개선 등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VoE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가 접수되어 전극기술표준화팀 담당자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4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명과 상세 요건 정의 진행 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(11/4)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-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전극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조립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활성화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모듈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/FA </a:t>
            </a:r>
            <a:r>
              <a:rPr kumimoji="0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표준설비제작사양서를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시스템 등록 중이며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일부 문서들은 시스템 통해 개정 진행 중에 있습니다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사용간 접수한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VoE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는 금주 배포 진행 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(12/4)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-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소형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FA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팀 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 Pack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제어기술팀 신규 인원들 대상으로 시스템 모듈별 기능 교육 및 협력업체와 도면 입수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배포 하는 프로세스에 대해 안내하였습니다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(12/9)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AD581C8-050D-490F-92CC-71CFB47D1F4C}"/>
              </a:ext>
            </a:extLst>
          </p:cNvPr>
          <p:cNvSpPr txBox="1"/>
          <p:nvPr/>
        </p:nvSpPr>
        <p:spPr>
          <a:xfrm>
            <a:off x="15146" y="2124020"/>
            <a:ext cx="9997822" cy="226215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5. </a:t>
            </a:r>
            <a:r>
              <a:rPr kumimoji="1" lang="ko-KR" altLang="en-US" sz="11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설비라이프사이클관리시스템</a:t>
            </a:r>
            <a:r>
              <a:rPr kumimoji="1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(ELM) </a:t>
            </a:r>
            <a:r>
              <a:rPr kumimoji="1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 진행 현황</a:t>
            </a:r>
            <a:endParaRPr kumimoji="1" lang="en-US" altLang="ko-KR" sz="11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-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시스템 기반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FA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설비의 셋업 일정을 관리하고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(FOB~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양산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설비가 </a:t>
            </a:r>
            <a:r>
              <a:rPr kumimoji="1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하역장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보관 중 </a:t>
            </a:r>
            <a:r>
              <a:rPr kumimoji="1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일때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포장 단위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(Packing List)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별로 위치를 기록하여 추후 현장 운송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반입 시 자재 파악 시간을 줄이고자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ELM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에 </a:t>
            </a:r>
            <a:endParaRPr kumimoji="1" lang="en-US" altLang="ko-KR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기능 구축하여 오픈 예정입니다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(12/15)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현재 시스템 개발은 완료되었으며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먼저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AZ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법인에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FA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설비를 납품하는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OEM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5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개사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(OSA, </a:t>
            </a:r>
            <a:r>
              <a:rPr kumimoji="1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코윈테크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ETS, </a:t>
            </a:r>
            <a:r>
              <a:rPr kumimoji="1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엠솔루션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PRI, CNS)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대상으로 공청회를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11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25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일 진행하였고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b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 설명회는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12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5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일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AZ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공장장 및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전극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/Cell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각 팀장과 본사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FA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기술담당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산하 팀장들이 참석하여 진행되었습니다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공장장</a:t>
            </a:r>
            <a:r>
              <a:rPr kumimoji="1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께서는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시스템을 잘 활용하여 원하는 효과를 얻을 수 있도록 담당자들이 관심을 가져달라고 요청하셨고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추가적으로 협력 업체에서 입력하는 부분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작업일보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도 간소화 할 수 있는 부분이 </a:t>
            </a:r>
            <a:b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있는지 찾아서 개선하자고 말씀하셨습니다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  <a:b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시스템 운영은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12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월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15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일부터 시작하였고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잘 운영되어 시스템 기반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Daily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진척관리와 이슈관리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야적장 자재 관리를 통해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FA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설비의 현장 반입 지연을 방지 할 수 있도록 소형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자동차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FA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팀과 </a:t>
            </a:r>
            <a:b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</a:b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지속적으로 사용 및 효과를 확인하고 검증할 예정입니다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시스템 구축 완료에 따른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PJT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완료보고를 품질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DX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담당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FA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기술담당이 참석하여 오프라인으로 진행하였고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궁극적으로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AZ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법인에 적용 후 효과를 수치화 할 수 있도록 비교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PJT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선정 등 방안을</a:t>
            </a:r>
            <a:endParaRPr kumimoji="1" lang="en-US" altLang="ko-KR" sz="1000" b="0" i="0" u="none" strike="noStrike" kern="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찾자는 의견이 있었으며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일정 </a:t>
            </a:r>
            <a:r>
              <a:rPr kumimoji="1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지연시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알람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1" lang="ko-KR" altLang="en-US" sz="1000" b="0" i="0" u="none" strike="noStrike" kern="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메일링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등의 범위를 확대하여 진척 관리를 타이트하게 하자는 말씀 있으셨습니다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(12/16)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-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현재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UT Matrix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취합을 엔지니어가 설비업체로부터 받아 이를 정리하여 에너지기술팀에 제공하고 있으나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,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이를 설비업체로부터 직접 시스템 통해 취합 할 수 있도록 프로세스 개선 필요성을</a:t>
            </a:r>
            <a:endParaRPr kumimoji="1" lang="en-US" altLang="ko-KR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유관부서와 논의하기 시작하였습니다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(12/1, 9)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  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또한 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EUM 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전기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/</a:t>
            </a: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기계 실사용량을 토대로 설비용량을 최적화 해 보고자 업무 방향을 운영위원회와 논의 중입니다</a:t>
            </a:r>
            <a:r>
              <a: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 (12/1,9)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B82B950-8334-4159-8DDB-0CD6744B94E2}"/>
              </a:ext>
            </a:extLst>
          </p:cNvPr>
          <p:cNvSpPr txBox="1"/>
          <p:nvPr/>
        </p:nvSpPr>
        <p:spPr>
          <a:xfrm>
            <a:off x="17075" y="4352191"/>
            <a:ext cx="9833169" cy="41549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6. </a:t>
            </a:r>
            <a:r>
              <a:rPr kumimoji="1" lang="ko-KR" altLang="en-US" sz="1100" b="1" i="0" u="none" strike="noStrike" kern="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원격기술협업시스템</a:t>
            </a:r>
            <a:r>
              <a:rPr kumimoji="1" lang="en-US" altLang="ko-KR" sz="11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(RTC) </a:t>
            </a:r>
            <a:r>
              <a:rPr kumimoji="1" lang="ko-KR" altLang="en-US" sz="11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과제 진행 현황</a:t>
            </a:r>
            <a:endParaRPr kumimoji="1" lang="en-US" altLang="ko-KR" sz="1100" b="1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 - 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특이사항 없으며 운영 중 사용자 문의 응대 및 기능 접속 현황 점검 등을 통해 활용 사항 수시 파악 하고 있습니다</a:t>
            </a:r>
            <a:r>
              <a:rPr kumimoji="1" lang="en-US" altLang="ko-KR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.</a:t>
            </a:r>
            <a:r>
              <a:rPr kumimoji="1" lang="ko-KR" altLang="en-US" sz="1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 </a:t>
            </a:r>
            <a:endParaRPr kumimoji="1" lang="en-US" altLang="ko-KR" sz="1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2C9BC0C-9EAB-4730-A7FA-198D099D7ECE}"/>
              </a:ext>
            </a:extLst>
          </p:cNvPr>
          <p:cNvSpPr txBox="1"/>
          <p:nvPr/>
        </p:nvSpPr>
        <p:spPr>
          <a:xfrm>
            <a:off x="8111075" y="263751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17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867AE7F8-BFF4-4391-A282-EC57EA9D6BB8}"/>
              </a:ext>
            </a:extLst>
          </p:cNvPr>
          <p:cNvSpPr txBox="1">
            <a:spLocks/>
          </p:cNvSpPr>
          <p:nvPr/>
        </p:nvSpPr>
        <p:spPr>
          <a:xfrm>
            <a:off x="8758688" y="68096"/>
            <a:ext cx="1006687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황유승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TL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30898495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7F280-90D7-37B7-3420-E54034F35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67B87EF9-85C2-94D2-8BB2-45F4A921A02D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656277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5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47117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Spare Parts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재고최적화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알고리즘 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금주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(W51)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0000FF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에는 특이사항 없습니다.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LG스마트체 Regular"/>
                          <a:cs typeface="+mn-cs"/>
                        </a:rPr>
                        <a:t>진행상황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2"/>
                        </a:solidFill>
                        <a:effectLst/>
                        <a:uLnTx/>
                        <a:uFillTx/>
                        <a:latin typeface="LG Smart_H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1. 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Spare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Parts 운영최적화 </a:t>
                      </a:r>
                      <a:r>
                        <a:rPr lang="ko-KR" altLang="en-US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Task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2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-.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Kick off meeting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(JV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제외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장기재고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및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방향을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및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향후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일정에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대해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논의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.(9/9)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: EMS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사항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- Spare Parts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재고최적화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알고리즘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고도화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및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Spare Parts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초과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구매에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대한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인터락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기능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개발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  -.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Task인원과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함께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시스템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진행하기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위한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요건정의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개발방향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→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주요요건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: ① S/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P알고리즘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정합성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② S/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P관리기능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구매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인터락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불용재고관리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월령관리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Report)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① S/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P알고리즘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정합성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- 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정합성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검증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출고빈도별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알고리즘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↔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실제사용이력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간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정합성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분석결과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알고리즘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(10/2),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개선포인트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도출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(10/16),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고도화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이상치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판정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시나리오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생성방식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11/19),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검증완료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(11/25)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- 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미래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수요를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감안하여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로직을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보완할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수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있도록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생산량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생산계획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IF연계진행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(~'26.01)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생산량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생산계획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확인완료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(10/15),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IF요청서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작성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(11/7),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IF개발착수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(1월 중)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② S/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P관리기능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endParaRPr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       - 개발 진행 : 전체 23건 중 23건 개발완료 (~11/23)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       - 테스트 : 전체항목에 대한 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PI테스트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진행 완료 (~11/24)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       - 운영배포 : 11월정기배포일에 배포 완료 (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  <a:ea typeface="LG Smart_H Regular"/>
                        </a:rPr>
                        <a:t>11/27)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         -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Task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구성원 대상으로 시스템에 반영된 기능에 대한 시연 및 설명을 진행하였습니다. (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by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양승준P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박지수S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  <a:t>, 12/04)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</a:b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</a:b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 Smart_H Regular"/>
                          <a:ea typeface="LG Smart_H Regular"/>
                        </a:rPr>
                        <a:t>2.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개선/고도화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 Smart_H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-. 폴란드/중국출장 기간동안 접수되었던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VOE를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기반으로 과제운영방향 대해 논의 완료했습니다.(마곡, 4/25)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: ① 개선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잔여건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논의(8건), ②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Min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Max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추천로직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점검, ③ 고도화 과제 논의(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DAVINCI연계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등)</a:t>
                      </a:r>
                      <a:br>
                        <a:rPr 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① 출고유형별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재고대응률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및 자재별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Min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Max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일괄 설정 기능 추가 하였습니다.(</a:t>
                      </a:r>
                      <a:r>
                        <a:rPr lang="ko-KR" altLang="en-US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~5/29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→6/26)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② SINGLEX/AI 로직 기준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Min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Max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= 0으로 계산된 경우에도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추천로직으로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반영할 수 있도록 개선 완료하였습니다.(5/30)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③ 재고분석 데이터 정합성 검증을 위한 EMS 화면과 데이터 분석을 위한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DAVINCI연계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2가지 고도화 과제 진행 중 입니다.(</a:t>
                      </a:r>
                      <a:r>
                        <a:rPr lang="ko-KR" altLang="en-US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10/31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11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월 中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-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EMS화면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고도화 : 초안 설계완료(5/30), 요건 상세검토 완료(6/13)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 완료하여 배포하였습니다.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(8/28)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-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DAVINCI연계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: 연계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쿼리문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작성 및 공유완료(5/27), 요건분석완료(8/5), 개발완료(11/17), 배포완료(11/20)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 : 요건분석(7월 中) 후 개발예정(9월 목표) /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NERP 신규법인 오픈으로 개발일정 지연 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다빈치 서버중단으로 인한 오픈 시점 추가연기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  → 9월 개발완료 대상메뉴 : 재고분석, 구매요청, 재고처리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~‘26.01</a:t>
                      </a:r>
                      <a:endParaRPr lang="ko-KR" alt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양승준P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박지수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ea typeface="LG스마트체 Regular"/>
                        </a:rPr>
                        <a:t>박정민A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ea typeface="LG스마트체 Regular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E3CD0161-89BF-B1ED-8289-03F4437279E1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01912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설비관리시스템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(EMS)] Spare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Parts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재고최적화 알고리즘 구축 </a:t>
            </a:r>
          </a:p>
        </p:txBody>
      </p:sp>
      <p:sp>
        <p:nvSpPr>
          <p:cNvPr id="64" name="제목 1">
            <a:extLst>
              <a:ext uri="{FF2B5EF4-FFF2-40B4-BE49-F238E27FC236}">
                <a16:creationId xmlns:a16="http://schemas.microsoft.com/office/drawing/2014/main" id="{F6E9E6F2-87F1-FA8B-A3FE-1A9DD086DB1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F9B077B-AC05-93F1-C00E-2AE7E233A08C}"/>
              </a:ext>
            </a:extLst>
          </p:cNvPr>
          <p:cNvSpPr txBox="1"/>
          <p:nvPr/>
        </p:nvSpPr>
        <p:spPr>
          <a:xfrm>
            <a:off x="7982836" y="642888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12/16(화)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0ED1B3BC-0418-927B-071C-A3A19CE053A9}"/>
              </a:ext>
            </a:extLst>
          </p:cNvPr>
          <p:cNvSpPr txBox="1">
            <a:spLocks/>
          </p:cNvSpPr>
          <p:nvPr/>
        </p:nvSpPr>
        <p:spPr>
          <a:xfrm>
            <a:off x="7617350" y="447233"/>
            <a:ext cx="214802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양승준P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박지수S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박정민A</a:t>
            </a:r>
            <a:endParaRPr kumimoji="0" lang="en-US" altLang="ko-KR" sz="11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3" name="내용 개체 틀 20">
            <a:extLst>
              <a:ext uri="{FF2B5EF4-FFF2-40B4-BE49-F238E27FC236}">
                <a16:creationId xmlns:a16="http://schemas.microsoft.com/office/drawing/2014/main" id="{CD13C02C-A52A-EDFB-E2F9-6EF9E78EE94F}"/>
              </a:ext>
            </a:extLst>
          </p:cNvPr>
          <p:cNvSpPr txBox="1">
            <a:spLocks/>
          </p:cNvSpPr>
          <p:nvPr/>
        </p:nvSpPr>
        <p:spPr>
          <a:xfrm>
            <a:off x="5729106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211646500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03385" y="828941"/>
          <a:ext cx="9661991" cy="5653925"/>
        </p:xfrm>
        <a:graphic>
          <a:graphicData uri="http://schemas.openxmlformats.org/drawingml/2006/table">
            <a:tbl>
              <a:tblPr/>
              <a:tblGrid>
                <a:gridCol w="8247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5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52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8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552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44765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법인운영관리 및 기능 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W51)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에는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PI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테스트를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통해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확정된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12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월 패치대상 17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건에 대한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운영패치가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진행될 예정입니다.(12.18) 타법인 거래 IF 연계를 위한 분석설계 및 R&amp;R 협의 진행중입니다.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 </a:t>
                      </a:r>
                      <a:r>
                        <a:rPr kumimoji="0"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법인운영관리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결함개선 관리대장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관리 현황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 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잔여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45건 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2,142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전체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2,187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건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비기능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처리, 단순 문의 제외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- 총 19건의 개선사항이 12월 정기 패치에 반영될 예정입니다.(12.18)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   2)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운영위원회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 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        -.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OC법인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정기 운영위원회 실시 예정입니다. ( 12.17,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by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양승준P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</a:b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 고도화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1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FDC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연계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TBM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→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CBM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전환 개선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 -. 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PO부서에서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추가관리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가능한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부분에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개선을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제안하였으며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공정제어DX팀과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개발범위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일정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확인완료했습니다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.(08.28)</a:t>
                      </a:r>
                      <a:br>
                        <a:rPr lang="en-US">
                          <a:solidFill>
                            <a:srgbClr val="000000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    -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주요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Point 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진성알람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Base의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FDC항목에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PM-CBM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WO를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발행하여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정비실적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관리하는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    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개발범위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일정확정완료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(11월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현업요구사항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(08.28),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내부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개발항목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상세분석완료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(09.15),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(11월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중순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endParaRPr lang="en-US"/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 2) EMS/New ERP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연계</a:t>
                      </a:r>
                      <a:endParaRPr lang="en-US" altLang="ko-KR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-. 4차 Roll-In (AZ '25.12.01 / GM, HM '26.01.01)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- HM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서브원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추가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개발한 구매/입고 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테스트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(12.02)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- NERP 4차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오픈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관련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EMS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컷오버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계획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수립했고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(12.02),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사용자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오픈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PR, PO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마감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처리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요청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하였습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(~12.04)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-.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타법인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거래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IF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연계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            -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설비자재용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세일즈뷰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확장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 IF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명세서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논의중입니다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(.w/ERP MD, ERP MM, ERP SD, LSP, MDM, ~12.08)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-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설비자재용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HS관세코드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입력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 IF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명세서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논의중입니다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(.w/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통상관세팀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ERP MD, MDM, ~12.15)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-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타법인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거래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단위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프로세스별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실행주체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논의할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(.w/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해외법인지원팀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SINGLEX PRM,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구매혁신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~'25.12)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 3) EMS/ELM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연계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-.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타법인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거래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IF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연계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-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제안서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요건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분석설계서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1차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리뷰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후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개발중입니다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(~'25.12)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    . S/P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코드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전사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상세화면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URL IF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링크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    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타법인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요청서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상세화면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IF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4)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제조DX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과제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-. EMS/MMD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설비기준정보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자동 반영을 위해 MMD 개선조치 되었습니다. (11.24)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       - EMS 송신 항목은 MMD 설비 상태 상관없이 MMD UI 반영 (단, MMD 설비명은 CSR 통해서만 변경 가능)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수시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~'25.4Q</a:t>
                      </a:r>
                      <a:endParaRPr lang="en-US"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~’26.01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~'25.4Q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~'25.4Q</a:t>
                      </a:r>
                      <a:endParaRPr lang="en-US"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양승준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박지수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신동진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권민준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박정민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</a:p>
                    <a:p>
                      <a:pPr lvl="0" algn="ctr">
                        <a:buNone/>
                      </a:pPr>
                      <a:endParaRPr 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박지수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신동진S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신동진S</a:t>
                      </a: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신동진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ko-KR" altLang="en-US"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01912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설비관리시스템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(EMS)]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법인운영관리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및 기능 고도화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982836" y="642888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12/16(화)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7239042" y="447233"/>
            <a:ext cx="2526333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양승준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P,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신동진S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권민준S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,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박정민A</a:t>
            </a:r>
            <a:endParaRPr kumimoji="0" lang="ko-KR" altLang="en-US" sz="11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0" name="제목 1">
            <a:extLst>
              <a:ext uri="{FF2B5EF4-FFF2-40B4-BE49-F238E27FC236}">
                <a16:creationId xmlns:a16="http://schemas.microsoft.com/office/drawing/2014/main" id="{EFD152F6-E646-42B2-A62A-C5A2B38DEAE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C16AB89D-A283-4DD5-91D7-FD85F4E14DCF}"/>
              </a:ext>
            </a:extLst>
          </p:cNvPr>
          <p:cNvSpPr txBox="1">
            <a:spLocks/>
          </p:cNvSpPr>
          <p:nvPr/>
        </p:nvSpPr>
        <p:spPr>
          <a:xfrm>
            <a:off x="5713705" y="643468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51232159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1171" y="828941"/>
          <a:ext cx="9661991" cy="5612862"/>
        </p:xfrm>
        <a:graphic>
          <a:graphicData uri="http://schemas.openxmlformats.org/drawingml/2006/table">
            <a:tbl>
              <a:tblPr/>
              <a:tblGrid>
                <a:gridCol w="8247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5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52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8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552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(W46)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0370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ESST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설비관리시스템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Roll-In</a:t>
                      </a: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ESST</a:t>
                      </a: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W46)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에는 EMS 운영서버 오픈 후 안정화대응 및 추가교육 지원 예정입니다.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</a:b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</a:rPr>
                        <a:t> 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진행상황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]</a:t>
                      </a:r>
                      <a:br>
                        <a:rPr lang="en-US"/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1.기준정보 </a:t>
                      </a:r>
                      <a:r>
                        <a:rPr lang="en-US" altLang="ko-KR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작성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  -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정비기준정보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: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공정별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Daily Check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작성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.(5/23),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FA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부서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PM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Assocciation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기준정보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 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작성완료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(6/5)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2.Spare </a:t>
                      </a:r>
                      <a:r>
                        <a:rPr lang="en-US" altLang="ko-KR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Parts준비</a:t>
                      </a:r>
                      <a:b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-. 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창고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운영을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위한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창고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내 Rack/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선반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등 Layout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확정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완료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(3/18) 및 Spare Parts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프린터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기물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입고완료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(4/9)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-.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창고 기준정보 등록을 위한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excel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 템플릿 작성완료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(7/31)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      :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 ① BIN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Location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, BIN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Code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excel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작성 진행완료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(4/9), ②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법인보유자재 대상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Parts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Code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등록대상 점검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excel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작성완료(</a:t>
                      </a:r>
                      <a:r>
                        <a:rPr lang="ko-KR" altLang="en-US" sz="900" b="0" i="0" u="none" strike="sng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~5/9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→ 6/6)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     , ③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Parts 라벨 프린트 대상 목록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excel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작성완료(6/30), ④ 법인보유자재 재고수량 점검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excel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작성완료(7/31)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    -.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Parts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Room창고셋업현황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확인완료(10/15), 프린터 셋업 완료(10/28)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  <a:t>   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LG Smart_H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3.시스템 </a:t>
                      </a:r>
                      <a:r>
                        <a:rPr lang="en-US" altLang="ko-KR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셋업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-.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창고위치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확정되어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ERP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저장위치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생성완료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(2/26),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운영서버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셋업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(3/12)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  -.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부서별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모바일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수량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취합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(114대, 2/16),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모바일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입고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완료 (4/14), 모바일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셋업완료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(5/23), 모바일 배부완료(10/17)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    -.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부서별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NFC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카드 부착 완료했습니다. (11/3)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  </a:t>
                      </a:r>
                      <a:r>
                        <a:rPr lang="en-US" altLang="ko-KR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4.사용자 </a:t>
                      </a:r>
                      <a:r>
                        <a:rPr lang="en-US" altLang="ko-KR" sz="900" b="1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LG스마트체 Regular"/>
                        </a:rPr>
                        <a:t>교육</a:t>
                      </a:r>
                      <a:endParaRPr lang="en-US" altLang="ko-KR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LG스마트체 Regular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   -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CoreMember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대상 오프라인 모바일 교육 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Work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Order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PM,BM,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Daily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Check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)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진행완료하였습니다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. (10/14 ~ 10/17)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   - 공정별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Core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Member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통하여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테크니션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전파 교육 (모바일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Work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Order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PM,BM,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Daily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Check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) 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진행완료하였습니다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. (10/20~10/29)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   -.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Parts 창고담당자 대상 오프라인 교육 (4회, 시스템 사용법)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진행완료하였습니다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. (10/16~10/27)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</a:b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</a:br>
                      <a:r>
                        <a:rPr lang="ko-KR" altLang="en-US" sz="9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5.안정화 대응</a:t>
                      </a:r>
                      <a:endParaRPr lang="ko-KR" altLang="en-US" sz="9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ea typeface="LG Smart_H Regular"/>
                        </a:rPr>
                        <a:t>   -. 법인 내 각종 문의사항/추가교육 요청 사항에 대해 지원 완료했습니다.(11/4~11/10)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sng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 ~'25.06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→ '25.11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+mn-ea"/>
                        </a:rPr>
                        <a:t>권민준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 Smart_H Regular"/>
                          <a:ea typeface="+mn-ea"/>
                        </a:rPr>
                        <a:t>S</a:t>
                      </a:r>
                      <a:endParaRPr lang="ko-KR"/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박지수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S</a:t>
                      </a: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01912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설비관리시스템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(EMS)] ESST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설비관리시스템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Roll-In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982836" y="642888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11/12(수)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385189" y="447233"/>
            <a:ext cx="1380186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박지수S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/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권민준S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0" name="제목 1">
            <a:extLst>
              <a:ext uri="{FF2B5EF4-FFF2-40B4-BE49-F238E27FC236}">
                <a16:creationId xmlns:a16="http://schemas.microsoft.com/office/drawing/2014/main" id="{EFD152F6-E646-42B2-A62A-C5A2B38DEAE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4D5C59F-9F7B-3853-DDCC-A5FA5258D724}"/>
              </a:ext>
            </a:extLst>
          </p:cNvPr>
          <p:cNvSpPr txBox="1"/>
          <p:nvPr/>
        </p:nvSpPr>
        <p:spPr>
          <a:xfrm>
            <a:off x="2234666" y="3025690"/>
            <a:ext cx="997873" cy="23634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-30" normalizeH="0" baseline="0" noProof="0">
                <a:ln>
                  <a:noFill/>
                </a:ln>
                <a:solidFill>
                  <a:srgbClr val="004B00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OSS: On Site Support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4A03CB16-BA93-411E-807D-0E4AF10BB521}"/>
              </a:ext>
            </a:extLst>
          </p:cNvPr>
          <p:cNvSpPr txBox="1">
            <a:spLocks/>
          </p:cNvSpPr>
          <p:nvPr/>
        </p:nvSpPr>
        <p:spPr>
          <a:xfrm>
            <a:off x="5704468" y="643468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E351ECE9-1A66-A69F-AD49-7DC9AC7C06AF}"/>
              </a:ext>
            </a:extLst>
          </p:cNvPr>
          <p:cNvGraphicFramePr>
            <a:graphicFrameLocks noGrp="1"/>
          </p:cNvGraphicFramePr>
          <p:nvPr/>
        </p:nvGraphicFramePr>
        <p:xfrm>
          <a:off x="1772227" y="1270000"/>
          <a:ext cx="6786648" cy="1827039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688402">
                  <a:extLst>
                    <a:ext uri="{9D8B030D-6E8A-4147-A177-3AD203B41FA5}">
                      <a16:colId xmlns:a16="http://schemas.microsoft.com/office/drawing/2014/main" val="3289771260"/>
                    </a:ext>
                  </a:extLst>
                </a:gridCol>
                <a:gridCol w="1890360">
                  <a:extLst>
                    <a:ext uri="{9D8B030D-6E8A-4147-A177-3AD203B41FA5}">
                      <a16:colId xmlns:a16="http://schemas.microsoft.com/office/drawing/2014/main" val="3550765875"/>
                    </a:ext>
                  </a:extLst>
                </a:gridCol>
                <a:gridCol w="1603943">
                  <a:extLst>
                    <a:ext uri="{9D8B030D-6E8A-4147-A177-3AD203B41FA5}">
                      <a16:colId xmlns:a16="http://schemas.microsoft.com/office/drawing/2014/main" val="1251309738"/>
                    </a:ext>
                  </a:extLst>
                </a:gridCol>
                <a:gridCol w="1603943">
                  <a:extLst>
                    <a:ext uri="{9D8B030D-6E8A-4147-A177-3AD203B41FA5}">
                      <a16:colId xmlns:a16="http://schemas.microsoft.com/office/drawing/2014/main" val="1493100269"/>
                    </a:ext>
                  </a:extLst>
                </a:gridCol>
              </a:tblGrid>
              <a:tr h="191599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구분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상세구분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진행 계획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700" b="1" i="0" u="none" strike="noStrike" noProof="0">
                          <a:solidFill>
                            <a:srgbClr val="000000"/>
                          </a:solidFill>
                          <a:latin typeface="LG스마트체 Light"/>
                        </a:rPr>
                        <a:t>담당자</a:t>
                      </a:r>
                      <a:endParaRPr lang="ko-KR" sz="700" b="0" i="0" u="none" strike="noStrike" noProof="0">
                        <a:solidFill>
                          <a:srgbClr val="000000"/>
                        </a:solidFill>
                        <a:latin typeface="LG스마트체 Light"/>
                      </a:endParaRPr>
                    </a:p>
                  </a:txBody>
                  <a:tcPr marL="952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9050">
                      <a:solidFill>
                        <a:srgbClr val="000000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0750730"/>
                  </a:ext>
                </a:extLst>
              </a:tr>
              <a:tr h="136857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기준정보 작성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설비기준정보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  <a:endParaRPr lang="ko-KR" sz="700" err="1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조진우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 외 6명</a:t>
                      </a: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9007748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정비기준정보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완료</a:t>
                      </a:r>
                      <a:endParaRPr lang="ko-KR" altLang="en-US" err="1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Darren Darlow 외 15명</a:t>
                      </a:r>
                      <a:endParaRPr lang="ko-KR" altLang="en-US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4926368"/>
                  </a:ext>
                </a:extLst>
              </a:tr>
              <a:tr h="136857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Spare Parts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준비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Layout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확정 및 </a:t>
                      </a:r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Printer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구매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완료</a:t>
                      </a:r>
                      <a:endParaRPr lang="en-US" altLang="ko-KR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Jason Matyi, Ehab </a:t>
                      </a: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Shabudeen</a:t>
                      </a: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9972984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BIN/Spare Parts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라벨 부착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완료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Jason Matyi, Ehab </a:t>
                      </a: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Shabudeen</a:t>
                      </a:r>
                      <a:endParaRPr lang="ko-KR" altLang="en-US" err="1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424392"/>
                  </a:ext>
                </a:extLst>
              </a:tr>
              <a:tr h="136857">
                <a:tc rowSpan="3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시스템 셋업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운영서버 셋업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  <a:endParaRPr lang="en-US" altLang="ko-KR" sz="7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Light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서영은</a:t>
                      </a: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9866053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모바일 구매/셋업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박지수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, </a:t>
                      </a: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권민준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, Eric</a:t>
                      </a: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5524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NFC 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카드</a:t>
                      </a:r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 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부착</a:t>
                      </a:r>
                      <a:endParaRPr lang="en-US" altLang="ko-KR" sz="7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LG스마트체 Light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완료</a:t>
                      </a:r>
                      <a:endParaRPr lang="ko-KR" altLang="en-US" err="1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Darren Darlow 외 15명</a:t>
                      </a:r>
                      <a:endParaRPr lang="ko-KR" altLang="en-US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879264"/>
                  </a:ext>
                </a:extLst>
              </a:tr>
              <a:tr h="136857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사용자 교육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Core-Member 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교육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  <a:endParaRPr lang="ko-KR" altLang="en-US" err="1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박지수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(S/P), </a:t>
                      </a: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권민준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(</a:t>
                      </a: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정비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)</a:t>
                      </a:r>
                      <a:endParaRPr lang="ko-KR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2104894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설비기술팀 전파교육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완료</a:t>
                      </a:r>
                      <a:endParaRPr lang="ko-KR" err="1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Darren Darlow 외 15명</a:t>
                      </a:r>
                      <a:endParaRPr lang="ko-KR" altLang="en-US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2782398"/>
                  </a:ext>
                </a:extLst>
              </a:tr>
              <a:tr h="136857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기준정보 등록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설비기준정보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  <a:endParaRPr lang="en-US" altLang="ko-KR" sz="7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Light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조진우</a:t>
                      </a: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 외 6명</a:t>
                      </a:r>
                      <a:endParaRPr lang="ko-KR" altLang="en-US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7193679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정비기준정보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  <a:endParaRPr lang="ko-KR" altLang="en-US" err="1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Darren Darlow 외 15명</a:t>
                      </a:r>
                      <a:endParaRPr lang="ko-KR" altLang="en-US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1928840"/>
                  </a:ext>
                </a:extLst>
              </a:tr>
              <a:tr h="130013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OSS</a:t>
                      </a:r>
                      <a:endParaRPr lang="en-US" altLang="ko-KR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auto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OSS 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대응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11/04 ~ 11/10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박지수(</a:t>
                      </a:r>
                      <a:r>
                        <a:rPr lang="ko-KR" altLang="en-US" sz="7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S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/</a:t>
                      </a:r>
                      <a:r>
                        <a:rPr lang="ko-KR" altLang="en-US" sz="7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P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)</a:t>
                      </a:r>
                      <a:r>
                        <a:rPr 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, 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권민준(정비)</a:t>
                      </a:r>
                      <a:endParaRPr lang="en-US" sz="7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LG스마트체 Light"/>
                      </a:endParaRP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9050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59378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904884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10700" y="828941"/>
          <a:ext cx="9661991" cy="5906636"/>
        </p:xfrm>
        <a:graphic>
          <a:graphicData uri="http://schemas.openxmlformats.org/drawingml/2006/table">
            <a:tbl>
              <a:tblPr/>
              <a:tblGrid>
                <a:gridCol w="8247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5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52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8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552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10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+mn-ea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935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ESHD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설비관리시스템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Roll-In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ESHD</a:t>
                      </a: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LG Smart_H Regular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W51)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영역은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PM/BM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WO,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일상점검 웹 교육 및 실습/테스트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Parts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영역은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재고실사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Summary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및 반복교육 진행 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  <a:ea typeface="+mn-ea"/>
                        </a:rPr>
                        <a:t> (~12.19)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LG Smart_H Regular"/>
                          <a:cs typeface="+mn-cs"/>
                        </a:rPr>
                        <a:t>진행상황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br>
                        <a:rPr lang="en-US"/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-.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출장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동안의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교육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스케줄을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법인에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공유(12.03)했고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PI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간 미팅을 통해 출장 계획 공유했습니다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(12.10)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-. Spare Parts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창고 셋업 현황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현장점검 완료했고, 라벨프린터 셋업 지원 진행 중입니다. (~12.19)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: 생산 통합창고 : 메인 창고(전극/셀/FA), 모듈 창고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: 시설 통합창고 :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Facility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창고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-. PM/BM WO, 일상점검 모바일 교육,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Parts 기준정보/재고조회/구매/입고/배송/재고처리 프로세스 교육 완료했습니다. (12.11~12.12)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-. PM/BM WO, 일상점검 웹 교육,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Parts 재고실사,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Summary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및 반복교육 진행 예정입니다. (12.15~12.19)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~’25.09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박정민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A</a:t>
                      </a: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신동진S</a:t>
                      </a: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01912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설비관리시스템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(EMS)] ESHD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설비관리시스템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Roll-In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840AC6-D288-4190-89A9-88F0476A4F12}"/>
              </a:ext>
            </a:extLst>
          </p:cNvPr>
          <p:cNvSpPr txBox="1"/>
          <p:nvPr/>
        </p:nvSpPr>
        <p:spPr>
          <a:xfrm>
            <a:off x="7982836" y="642888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12/15(월)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F5547F6A-8C51-4508-A7B9-4F3ED31795CE}"/>
              </a:ext>
            </a:extLst>
          </p:cNvPr>
          <p:cNvSpPr txBox="1">
            <a:spLocks/>
          </p:cNvSpPr>
          <p:nvPr/>
        </p:nvSpPr>
        <p:spPr>
          <a:xfrm>
            <a:off x="8277788" y="447233"/>
            <a:ext cx="148758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박정민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A/신동진S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0" name="제목 1">
            <a:extLst>
              <a:ext uri="{FF2B5EF4-FFF2-40B4-BE49-F238E27FC236}">
                <a16:creationId xmlns:a16="http://schemas.microsoft.com/office/drawing/2014/main" id="{EFD152F6-E646-42B2-A62A-C5A2B38DEAE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215DFA0D-2C7F-4B79-BC59-2DDAF7694E02}"/>
              </a:ext>
            </a:extLst>
          </p:cNvPr>
          <p:cNvSpPr txBox="1">
            <a:spLocks/>
          </p:cNvSpPr>
          <p:nvPr/>
        </p:nvSpPr>
        <p:spPr>
          <a:xfrm>
            <a:off x="5676760" y="643468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DX-#5,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  <p:pic>
        <p:nvPicPr>
          <p:cNvPr id="2" name="그림 1" descr="텍스트, 스크린샷, 번호, 평행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344C795-49B7-5286-AEC8-7A2FE7BA7C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43391" y="1257797"/>
            <a:ext cx="6912159" cy="43253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516722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C56D34-4847-1135-66A4-33161BEB92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87A189D0-6A6B-C22C-3D2D-21020D7B25CE}"/>
              </a:ext>
            </a:extLst>
          </p:cNvPr>
          <p:cNvGraphicFramePr>
            <a:graphicFrameLocks noGrp="1"/>
          </p:cNvGraphicFramePr>
          <p:nvPr/>
        </p:nvGraphicFramePr>
        <p:xfrm>
          <a:off x="110700" y="828941"/>
          <a:ext cx="9661991" cy="5612862"/>
        </p:xfrm>
        <a:graphic>
          <a:graphicData uri="http://schemas.openxmlformats.org/drawingml/2006/table">
            <a:tbl>
              <a:tblPr/>
              <a:tblGrid>
                <a:gridCol w="8247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5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752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8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552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+mn-ea"/>
                        </a:rPr>
                        <a:t>(W50)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0370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ESHG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설비관리시스템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Roll-In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ESHG</a:t>
                      </a: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LG Smart_H Regular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W51)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에는 시스템 사용법 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작업오더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)과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Parts 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P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기준정보 관리, 법인확장 프로세스) 교육 진행 예정입니다. (12.16)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LG Smart_H Regular"/>
                          <a:cs typeface="+mn-cs"/>
                        </a:rPr>
                        <a:t>진행상황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기준정보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]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-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정비기준정보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(Daily Check)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엑셀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템플릿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작성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방법 교육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진행했습니다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(11.18)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-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시스템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사용법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설비기준정보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PM Operation / PM Activity / PM Association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 교육 진행했습니다. (11.25)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- 시스템 사용법 (PM Schedule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Master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/ PM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calender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 교육 진행했습니다. (12.02)  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-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시스템 사용법 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Check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Master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/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Daily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Check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 교육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진행했습니다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 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12.10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 </a:t>
                      </a:r>
                      <a:endParaRPr 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- 시스템 사용법 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Workorder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PM/BM)교육 진행 예정입니다.(12.16)</a:t>
                      </a:r>
                      <a:endParaRPr 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[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Parts 관리]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-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BIN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Code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작성법 교육 진행했으며 (26.11.10)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공정별 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Spare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Parts 보유 자재 리스트 조사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후 시스템 등록 진행 중입니다 (~26.03.30) 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-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Parts 구매검토, 구매요청 교육 진행했습니다.(11.20)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-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Parts 입고, 재고 관리 교육 진행했습니다. (12.08)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-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Spare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Parts 배송관리, 재고처리 교육 진행했습니다 (12.11)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- 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Spare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Parts 기준정보관리 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법인확장프로세스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교육 진행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예정입니다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.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(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12.18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[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모바일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/ NFC]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- EMS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모바일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300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IP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할당을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위한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IP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대역대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발급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완료했습니다.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(09.18)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- ESHG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모바일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기종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선정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완료되어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EMS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모바일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적합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유무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검토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완료했습니다.(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Samsung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Galaxy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Active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Tab5,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w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공상평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10.20)  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-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공정별 모바일 수량 취합 완료 (10.28),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구매를 위한 집행품의 상신 후 PR 요청 완료 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by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법인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PI팀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12.09)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- NFC 카드 (전극/CELL)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서브원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발주 완료(12.04).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FA/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UT는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NFC 카드 구매를 위한 예산 확정 후 발주 진행 예정입니다. (~12.19)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~’26.04</a:t>
                      </a:r>
                      <a:endParaRPr lang="ko-KR" altLang="en-US"/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noProof="0" err="1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권민준S</a:t>
                      </a:r>
                      <a:endParaRPr lang="en-US" altLang="ko-KR" sz="9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+mn-ea"/>
                        </a:rPr>
                        <a:t>양승준P</a:t>
                      </a:r>
                      <a:endParaRPr lang="ko-KR" altLang="en-US" sz="9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Regular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5F1F3F02-7D3A-0CD0-94E9-6A2A411CA5EF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019124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설비관리시스템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(EMS)] ESHG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설비관리시스템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Roll-In</a:t>
            </a: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368C87C-0159-3110-6C5F-3D2E9A6D2D01}"/>
              </a:ext>
            </a:extLst>
          </p:cNvPr>
          <p:cNvSpPr txBox="1"/>
          <p:nvPr/>
        </p:nvSpPr>
        <p:spPr>
          <a:xfrm>
            <a:off x="7982836" y="642888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12/16(화)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1" name="내용 개체 틀 20">
            <a:extLst>
              <a:ext uri="{FF2B5EF4-FFF2-40B4-BE49-F238E27FC236}">
                <a16:creationId xmlns:a16="http://schemas.microsoft.com/office/drawing/2014/main" id="{4AF05B28-9781-799D-0B3E-90BC937D3FF4}"/>
              </a:ext>
            </a:extLst>
          </p:cNvPr>
          <p:cNvSpPr txBox="1">
            <a:spLocks/>
          </p:cNvSpPr>
          <p:nvPr/>
        </p:nvSpPr>
        <p:spPr>
          <a:xfrm>
            <a:off x="8245728" y="447233"/>
            <a:ext cx="151964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권민준S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/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양승준P</a:t>
            </a:r>
            <a:endParaRPr kumimoji="0" lang="ko-KR" altLang="en-US" sz="11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0" name="제목 1">
            <a:extLst>
              <a:ext uri="{FF2B5EF4-FFF2-40B4-BE49-F238E27FC236}">
                <a16:creationId xmlns:a16="http://schemas.microsoft.com/office/drawing/2014/main" id="{7E55F5A4-5279-D439-88CA-4A3856D1801E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2" name="내용 개체 틀 20">
            <a:extLst>
              <a:ext uri="{FF2B5EF4-FFF2-40B4-BE49-F238E27FC236}">
                <a16:creationId xmlns:a16="http://schemas.microsoft.com/office/drawing/2014/main" id="{F27F814E-51F2-F77F-604A-DA702E72762E}"/>
              </a:ext>
            </a:extLst>
          </p:cNvPr>
          <p:cNvSpPr txBox="1">
            <a:spLocks/>
          </p:cNvSpPr>
          <p:nvPr/>
        </p:nvSpPr>
        <p:spPr>
          <a:xfrm>
            <a:off x="5676760" y="643468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DX-#17 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F9F3C1F-C249-F996-8672-9EFC9111F072}"/>
              </a:ext>
            </a:extLst>
          </p:cNvPr>
          <p:cNvGraphicFramePr>
            <a:graphicFrameLocks noGrp="1"/>
          </p:cNvGraphicFramePr>
          <p:nvPr/>
        </p:nvGraphicFramePr>
        <p:xfrm>
          <a:off x="1689470" y="1328948"/>
          <a:ext cx="6786648" cy="1827039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688402">
                  <a:extLst>
                    <a:ext uri="{9D8B030D-6E8A-4147-A177-3AD203B41FA5}">
                      <a16:colId xmlns:a16="http://schemas.microsoft.com/office/drawing/2014/main" val="3289771260"/>
                    </a:ext>
                  </a:extLst>
                </a:gridCol>
                <a:gridCol w="1890360">
                  <a:extLst>
                    <a:ext uri="{9D8B030D-6E8A-4147-A177-3AD203B41FA5}">
                      <a16:colId xmlns:a16="http://schemas.microsoft.com/office/drawing/2014/main" val="3550765875"/>
                    </a:ext>
                  </a:extLst>
                </a:gridCol>
                <a:gridCol w="1603943">
                  <a:extLst>
                    <a:ext uri="{9D8B030D-6E8A-4147-A177-3AD203B41FA5}">
                      <a16:colId xmlns:a16="http://schemas.microsoft.com/office/drawing/2014/main" val="1251309738"/>
                    </a:ext>
                  </a:extLst>
                </a:gridCol>
                <a:gridCol w="1603943">
                  <a:extLst>
                    <a:ext uri="{9D8B030D-6E8A-4147-A177-3AD203B41FA5}">
                      <a16:colId xmlns:a16="http://schemas.microsoft.com/office/drawing/2014/main" val="1493100269"/>
                    </a:ext>
                  </a:extLst>
                </a:gridCol>
              </a:tblGrid>
              <a:tr h="191599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구분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1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상세구분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1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진행 계획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700" b="1" i="0" u="none" strike="noStrike" noProof="0">
                          <a:solidFill>
                            <a:srgbClr val="000000"/>
                          </a:solidFill>
                          <a:latin typeface="LG스마트체 Light"/>
                        </a:rPr>
                        <a:t>담당자</a:t>
                      </a:r>
                      <a:endParaRPr lang="ko-KR" sz="700" b="0" i="0" u="none" strike="noStrike" noProof="0">
                        <a:solidFill>
                          <a:srgbClr val="000000"/>
                        </a:solidFill>
                        <a:latin typeface="LG스마트체 Light"/>
                      </a:endParaRPr>
                    </a:p>
                  </a:txBody>
                  <a:tcPr marL="952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9050">
                      <a:solidFill>
                        <a:srgbClr val="000000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0750730"/>
                  </a:ext>
                </a:extLst>
              </a:tr>
              <a:tr h="136857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기준정보 작성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설비기준정보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  <a:endParaRPr lang="ko-KR" sz="700" err="1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조진우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 외 6명</a:t>
                      </a: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9007748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정비기준정보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~26.01.31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Hablon</a:t>
                      </a: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 Kouassi 외 18명</a:t>
                      </a:r>
                      <a:endParaRPr lang="ko-KR" altLang="en-US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4926368"/>
                  </a:ext>
                </a:extLst>
              </a:tr>
              <a:tr h="136857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Spare Parts </a:t>
                      </a:r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준비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Layout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확정 및 </a:t>
                      </a:r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Printer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구매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ko-KR" alt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~26.02.20</a:t>
                      </a:r>
                      <a:endParaRPr lang="ko-KR"/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Seung Chan Lee 외 4명</a:t>
                      </a:r>
                      <a:endParaRPr lang="en-US" altLang="ko-KR" sz="700" b="0" i="0" u="none" strike="noStrike" noProof="0" err="1">
                        <a:solidFill>
                          <a:srgbClr val="000000"/>
                        </a:solidFill>
                        <a:effectLst/>
                        <a:latin typeface="LG스마트체 Light"/>
                      </a:endParaRP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9972984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BIN/Spare Parts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라벨 부착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~26.03.30</a:t>
                      </a:r>
                      <a:endParaRPr lang="en-US" sz="700" b="0" i="0" u="none" strike="noStrike" noProof="0" err="1">
                        <a:solidFill>
                          <a:srgbClr val="000000"/>
                        </a:solidFill>
                        <a:effectLst/>
                        <a:latin typeface="LG Smart_H Light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Seung Chan Lee 외 4명</a:t>
                      </a:r>
                      <a:endParaRPr lang="ko-KR" altLang="en-US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424392"/>
                  </a:ext>
                </a:extLst>
              </a:tr>
              <a:tr h="136857">
                <a:tc rowSpan="3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시스템 셋업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운영서버 셋업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  <a:endParaRPr lang="en-US" altLang="ko-KR" sz="700" b="0" i="0" u="none" strike="noStrike" noProof="0">
                        <a:solidFill>
                          <a:srgbClr val="000000"/>
                        </a:solidFill>
                        <a:effectLst/>
                        <a:latin typeface="LG스마트체 Light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서영은</a:t>
                      </a: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9866053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모바일 구매/셋업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~26.02.27</a:t>
                      </a:r>
                      <a:endParaRPr lang="en-US" altLang="ko-KR" sz="700" b="0" i="0" u="none" strike="noStrike" noProof="0" err="1">
                        <a:solidFill>
                          <a:srgbClr val="000000"/>
                        </a:solidFill>
                        <a:effectLst/>
                        <a:latin typeface="LG스마트체 Light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권민준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, </a:t>
                      </a: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양승준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, Jeffrey Osborne</a:t>
                      </a:r>
                      <a:endParaRPr lang="ko-KR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5524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NFC 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카드</a:t>
                      </a:r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 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부착</a:t>
                      </a:r>
                      <a:endParaRPr lang="en-US" altLang="ko-KR" sz="700" b="0" i="0" u="none" strike="noStrike" kern="1200" spc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LG스마트체 Light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~26.03.30</a:t>
                      </a:r>
                      <a:endParaRPr lang="en-US" altLang="ko-KR" sz="700" b="0" i="0" u="none" strike="noStrike" noProof="0">
                        <a:solidFill>
                          <a:srgbClr val="000000"/>
                        </a:solidFill>
                        <a:effectLst/>
                        <a:latin typeface="LG Smart_H Light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Hablon</a:t>
                      </a: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 Kouassi 외 18명</a:t>
                      </a:r>
                      <a:endParaRPr lang="ko-KR">
                        <a:latin typeface="LG Smart_H Light"/>
                      </a:endParaRP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879264"/>
                  </a:ext>
                </a:extLst>
              </a:tr>
              <a:tr h="136857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사용자 교육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Core-Member 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교육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~ 26.01.27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권민준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(S/P), </a:t>
                      </a: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양승준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(</a:t>
                      </a: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정비</a:t>
                      </a: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)</a:t>
                      </a:r>
                      <a:endParaRPr lang="ko-KR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2104894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설비기술팀 전파교육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~26.03.25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Hablon</a:t>
                      </a: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 Kouassi 외 18명</a:t>
                      </a:r>
                      <a:endParaRPr lang="ko-KR">
                        <a:latin typeface="LG Smart_H Light"/>
                      </a:endParaRP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2782398"/>
                  </a:ext>
                </a:extLst>
              </a:tr>
              <a:tr h="136857">
                <a:tc rowSpan="2"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ko-KR" alt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기준정보 등록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설비기준정보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완료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조진우</a:t>
                      </a: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 외 6명</a:t>
                      </a:r>
                      <a:endParaRPr lang="ko-KR" altLang="en-US"/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7193679"/>
                  </a:ext>
                </a:extLst>
              </a:tr>
              <a:tr h="136857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ctr" latinLnBrk="1" hangingPunct="1"/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정비기준정보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buNone/>
                      </a:pPr>
                      <a:r>
                        <a:rPr lang="en-US" altLang="ko-KR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~26.03.13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700" b="0" i="0" u="none" strike="noStrike" noProof="0" err="1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Hablon</a:t>
                      </a:r>
                      <a:r>
                        <a:rPr lang="en-US" sz="700" b="0" i="0" u="none" strike="noStrike" noProof="0">
                          <a:solidFill>
                            <a:srgbClr val="000000"/>
                          </a:solidFill>
                          <a:effectLst/>
                          <a:latin typeface="LG Smart_H Light"/>
                        </a:rPr>
                        <a:t> Kouassi 외 18명</a:t>
                      </a:r>
                      <a:endParaRPr lang="ko-KR">
                        <a:latin typeface="LG Smart_H Light"/>
                      </a:endParaRP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2700">
                      <a:solidFill>
                        <a:srgbClr val="D9D9D9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1928840"/>
                  </a:ext>
                </a:extLst>
              </a:tr>
              <a:tr h="130013">
                <a:tc>
                  <a:txBody>
                    <a:bodyPr/>
                    <a:lstStyle/>
                    <a:p>
                      <a:pPr marL="0" algn="ctr" rtl="0" eaLnBrk="1" fontAlgn="ctr" latinLnBrk="1" hangingPunct="1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OSS</a:t>
                      </a:r>
                      <a:endParaRPr lang="en-US" altLang="ko-KR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rtl="0" eaLnBrk="1" fontAlgn="auto" latinLnBrk="1" hangingPunct="1"/>
                      <a:r>
                        <a:rPr 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OSS </a:t>
                      </a:r>
                      <a:r>
                        <a:rPr lang="ko-KR" altLang="en-US" sz="700" b="0" i="0" u="none" strike="noStrike" kern="1200" spc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LG스마트체 Light"/>
                          <a:ea typeface="LG스마트체 Light"/>
                        </a:rPr>
                        <a:t>대응</a:t>
                      </a:r>
                      <a:endParaRPr lang="ko-KR" altLang="en-US" sz="700" b="0" i="0" u="none" strike="noStrike">
                        <a:effectLst/>
                        <a:latin typeface="Arial"/>
                      </a:endParaRP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26.04.01~26.04.07</a:t>
                      </a:r>
                    </a:p>
                  </a:txBody>
                  <a:tcPr marL="9144" marR="9525" marT="9525" marB="0" anchor="ctr">
                    <a:lnL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권민준 (</a:t>
                      </a:r>
                      <a:r>
                        <a:rPr lang="ko-KR" altLang="en-US" sz="7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S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/</a:t>
                      </a:r>
                      <a:r>
                        <a:rPr lang="ko-KR" altLang="en-US" sz="7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P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), </a:t>
                      </a:r>
                      <a:r>
                        <a:rPr lang="ko-KR" altLang="en-US" sz="700" b="0" i="0" u="none" strike="noStrike" kern="1200" baseline="0" err="1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양승준</a:t>
                      </a:r>
                      <a:r>
                        <a:rPr lang="ko-KR" altLang="en-US" sz="700" b="0" i="0" u="none" strike="noStrike" kern="1200" baseline="0">
                          <a:solidFill>
                            <a:srgbClr val="000000"/>
                          </a:solidFill>
                          <a:effectLst/>
                          <a:latin typeface="LG스마트체 Light"/>
                        </a:rPr>
                        <a:t> (정비)</a:t>
                      </a:r>
                    </a:p>
                  </a:txBody>
                  <a:tcPr marL="9144" marR="9524" marT="9524" marB="0" anchor="ctr">
                    <a:lnL w="12700">
                      <a:solidFill>
                        <a:srgbClr val="D9D9D9"/>
                      </a:solidFill>
                    </a:lnL>
                    <a:lnR w="0">
                      <a:noFill/>
                    </a:lnR>
                    <a:lnT w="12700">
                      <a:solidFill>
                        <a:srgbClr val="D9D9D9"/>
                      </a:solidFill>
                    </a:lnT>
                    <a:lnB w="19050">
                      <a:solidFill>
                        <a:srgbClr val="00000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59378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575981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8E0428CC-FEE7-4523-85DA-4DE86959C576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ko-KR" altLang="en-US" sz="900" b="1" i="0" u="none" strike="noStrike" kern="1200" baseline="0" noProof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kern="1200" baseline="0" noProof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LG스마트체 Regular"/>
                        </a:rPr>
                        <a:t>(</a:t>
                      </a:r>
                      <a:r>
                        <a:rPr lang="en-US" sz="900" b="1" i="0" u="none" strike="noStrike" kern="1200" baseline="0" noProof="0">
                          <a:solidFill>
                            <a:srgbClr val="FFFFFF"/>
                          </a:solidFill>
                          <a:effectLst/>
                          <a:latin typeface="Malgun Gothic"/>
                        </a:rPr>
                        <a:t>W25</a:t>
                      </a:r>
                      <a:r>
                        <a:rPr lang="en-US" altLang="ko-KR" sz="900" b="1" i="0" u="none" strike="noStrike" kern="1200" baseline="0" noProof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LG스마트체 Regular"/>
                        </a:rPr>
                        <a:t>)</a:t>
                      </a:r>
                      <a:endParaRPr lang="ko-KR" noProof="0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건설사업관리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ea typeface="LG스마트체 Regular"/>
                        </a:rPr>
                        <a:t>VOE 대응 </a:t>
                      </a:r>
                      <a:endParaRPr lang="en-US" altLang="ko-KR"/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ea typeface="LG스마트체 Regular"/>
                        </a:rPr>
                        <a:t>기능개선</a:t>
                      </a:r>
                      <a:endParaRPr lang="ko-KR"/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금주</a:t>
                      </a:r>
                      <a:r>
                        <a:rPr lang="en-US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(W25)</a:t>
                      </a:r>
                      <a:r>
                        <a:rPr 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에는 건설 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PJT</a:t>
                      </a:r>
                      <a:r>
                        <a:rPr 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비용관리 고도화를 위한 투자심의 </a:t>
                      </a:r>
                      <a:r>
                        <a:rPr lang="ko-KR" altLang="en-US" sz="900" b="0" i="0" u="none" strike="noStrike" kern="0" noProof="0" err="1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진행하였으며</a:t>
                      </a:r>
                      <a:r>
                        <a:rPr lang="ko-KR" sz="900" b="0" i="0" u="none" strike="noStrike" kern="0" noProof="0" err="1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kern="0" noProof="0" err="1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건설표준정보체계</a:t>
                      </a:r>
                      <a:r>
                        <a:rPr 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적용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활용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투자비 </a:t>
                      </a:r>
                      <a:r>
                        <a:rPr lang="ko-KR" altLang="en-US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분석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투자비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정합석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확보를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위한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개선</a:t>
                      </a:r>
                      <a:r>
                        <a:rPr 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 업무 진행 중입니다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[</a:t>
                      </a:r>
                      <a:r>
                        <a:rPr lang="ko-KR" altLang="en-US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진행사항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]</a:t>
                      </a:r>
                      <a:endParaRPr lang="en-US" altLang="ko-KR" sz="900" b="0" kern="0">
                        <a:solidFill>
                          <a:srgbClr val="1414FE"/>
                        </a:solidFill>
                        <a:latin typeface="+mn-ea"/>
                        <a:ea typeface="+mn-ea"/>
                        <a:cs typeface="Arial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1. 설계변경 개선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-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설계변경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Direct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(22/22)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Test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화면설계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통합결재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등)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.(2/21)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-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현업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Test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위하여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설계변경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메뉴얼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.(03/06) 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Fast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Track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기능 개선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- LOI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발행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시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품의작성+외부TR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통합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(6/6) 및 Test(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디자인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통합결재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내부결재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등)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LOI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발행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2건에 </a:t>
                      </a:r>
                      <a:endParaRPr lang="en-US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화면에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맞게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데이터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생성하였습니다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.(2/20)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Direct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용역 계약을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위한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Direct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등록 기능에 대한  요건정의/화면분석 설계 완료하였습니다.(2/7)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 화면분석 설계에 대한 현업 검토 완료,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퍼블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 기능 개발 완료(03/10),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Test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완료하였습니다.(3/18)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4. 지급장비(공사) 검수  수정화면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분석설계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완료, 화면들에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요건정의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(02/24)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퍼블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,.(3/6)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후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시나리오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Test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(3/10),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Test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Data Migration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개발서버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Migration 후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운영서버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적용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현업 최종 확인 작업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)(4/02)</a:t>
                      </a:r>
                      <a:endParaRPr lang="en-US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*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현업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Test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위한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및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건(설계변경,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Fast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Track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LOI 발행, 지급장비 검수)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등을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반영한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메뉴얼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작성/배포하였습니다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(03/14)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5.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투자비 산출을 위한 화면 분석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차 설계 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.(3/18) *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컨셉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변경으로인하여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재검토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후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향후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진행예정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6.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투자검토서 작성 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유관부서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요청에 대하여 시스템 기반으로 접수하여 투자검토서와 연계할 수 있도록 추가 구성</a:t>
                      </a:r>
                      <a:endParaRPr 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-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조회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투자검토서 일부 변경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대한 개발 완료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(04/18),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개발완료 후 테스트 완료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연계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오류로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인한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및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추가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7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LGES&lt;-&gt;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협력사 간 시스템을 통한 문서 및 공문 교환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TR:Transmittal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을 위한 일반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TR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기능에 중간단계 검토자 검토를 위한 기능 추가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향후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Claim Guarantee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확보용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 완료하였으며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LGES-&gt;CM-&gt;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협력사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협력사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-&gt;CM-&gt;LGES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대한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Test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 중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LGES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에서 협력사로 보내는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과 착수 전 공문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(PJT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를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연계하지 않는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TR)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과 충돌이 발생하여 재검토 완료하였습니다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배포완료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.(4/06)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목록에서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TR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구분을 위하여 협력사용 건설사업관리와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LGES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건설사업관리의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TR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관리화면에 수신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발신함을 분리하여 구성 완료</a:t>
                      </a:r>
                      <a:endParaRPr lang="en-US"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 메일로 바로 전달하기 위한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API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개발과 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관려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하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협의완료후 상세요건정의 및 화면분석 설계 완료하였으며, 인쇄기능은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 완료하여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각 페이지별 기능 연계 완료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품의가 한화면에 여러 개 있을 경우 해당영역만 선택하여 인쇄하는 기능 추가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예정이며,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메일 연계기능은 개발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..(05/09-&gt;05/23,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팝업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처리와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프레임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비교로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인한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변경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9.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설계변경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최종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단계인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공사확정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기능에서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공사확정과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공사취소에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세부화면을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다르게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구성하는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방식으로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변경하여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진행하였으며, 개발 완료하였습니다.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(04/30)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10.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투자검토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요청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설계변경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계약정보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지정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요구사항에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대응을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위하여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PJT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1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연장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지연품의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.(04/15)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11.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건설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대시보드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사진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현장사진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조감도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배치도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도면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) Web Page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에서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바로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복사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붙여넣기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개발완료하였습니다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.(04/30)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12.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통합결재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문서의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경우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결재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취소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후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재작성되는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문서에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문서를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업데이트하는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방식으로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모두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변경하여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적용하였습니다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.(05/13)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     :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설계변경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요청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영향성검토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공사확정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업체선정품의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기성품의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완료품의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집행품의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LOI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품의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LOI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발행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품의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13.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공무담당자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기술팀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기획팀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대상으로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기능에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교육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 Test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실시하였으며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추가요청사항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및 Data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Migration에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대한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협의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.(05/21, 5/27)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14.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완료보고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품질DX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담당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 진행하였으며5/22),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그룹장님께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건설사업관리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보고하였습니다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</a:rPr>
                        <a:t>.(05/30) 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kern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Arial"/>
                        </a:rPr>
                        <a:t>‘25.05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문대윤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86438C27-CE7C-4541-9C63-9C52B6D508FA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0425994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건설사업관리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(CPM)] VOE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대응 기능 개선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3B432FA-FA73-4D78-8C81-5C6C564238FE}"/>
              </a:ext>
            </a:extLst>
          </p:cNvPr>
          <p:cNvSpPr/>
          <p:nvPr/>
        </p:nvSpPr>
        <p:spPr>
          <a:xfrm>
            <a:off x="3848081" y="685094"/>
            <a:ext cx="3817770" cy="130381"/>
          </a:xfrm>
          <a:prstGeom prst="rect">
            <a:avLst/>
          </a:prstGeom>
          <a:noFill/>
        </p:spPr>
        <p:txBody>
          <a:bodyPr wrap="square" lIns="0" tIns="3600" rIns="0" bIns="3600" anchor="ctr" anchorCtr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/>
                <a:ea typeface="LG스마트체2.0 Regular"/>
                <a:cs typeface="+mn-cs"/>
              </a:rPr>
              <a:t>※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/>
                <a:ea typeface="LG스마트체2.0 Regular"/>
                <a:cs typeface="+mn-cs"/>
              </a:rPr>
              <a:t>프로젝트 기간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/>
                <a:ea typeface="LG스마트체2.0 Regular"/>
                <a:cs typeface="+mn-cs"/>
              </a:rPr>
              <a:t>: ‘24.12~’25.05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B307538-4755-4FA0-B639-0959E8719AB9}"/>
              </a:ext>
            </a:extLst>
          </p:cNvPr>
          <p:cNvSpPr txBox="1"/>
          <p:nvPr/>
        </p:nvSpPr>
        <p:spPr>
          <a:xfrm>
            <a:off x="7841707" y="642888"/>
            <a:ext cx="1923668" cy="338554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06/25(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7" name="내용 개체 틀 20">
            <a:extLst>
              <a:ext uri="{FF2B5EF4-FFF2-40B4-BE49-F238E27FC236}">
                <a16:creationId xmlns:a16="http://schemas.microsoft.com/office/drawing/2014/main" id="{B46A058E-6291-4236-A7F8-CFA329645582}"/>
              </a:ext>
            </a:extLst>
          </p:cNvPr>
          <p:cNvSpPr txBox="1">
            <a:spLocks/>
          </p:cNvSpPr>
          <p:nvPr/>
        </p:nvSpPr>
        <p:spPr>
          <a:xfrm>
            <a:off x="8821206" y="447233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문대윤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1" name="제목 1">
            <a:extLst>
              <a:ext uri="{FF2B5EF4-FFF2-40B4-BE49-F238E27FC236}">
                <a16:creationId xmlns:a16="http://schemas.microsoft.com/office/drawing/2014/main" id="{BCBC01BE-ADD5-4B7D-8733-454030AAAA5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1655676E-9962-43ED-994E-72CBC3043BE7}"/>
              </a:ext>
            </a:extLst>
          </p:cNvPr>
          <p:cNvSpPr txBox="1">
            <a:spLocks/>
          </p:cNvSpPr>
          <p:nvPr/>
        </p:nvSpPr>
        <p:spPr>
          <a:xfrm>
            <a:off x="5704472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DX-#7,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266822556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1">
            <a:extLst>
              <a:ext uri="{FF2B5EF4-FFF2-40B4-BE49-F238E27FC236}">
                <a16:creationId xmlns:a16="http://schemas.microsoft.com/office/drawing/2014/main" id="{8E0428CC-FEE7-4523-85DA-4DE86959C576}"/>
              </a:ext>
            </a:extLst>
          </p:cNvPr>
          <p:cNvGraphicFramePr>
            <a:graphicFrameLocks noGrp="1"/>
          </p:cNvGraphicFramePr>
          <p:nvPr/>
        </p:nvGraphicFramePr>
        <p:xfrm>
          <a:off x="117166" y="869928"/>
          <a:ext cx="9644173" cy="567669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28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 defTabSz="914400">
                        <a:buNone/>
                      </a:pPr>
                      <a:r>
                        <a:rPr lang="ko-KR" altLang="en-US" sz="900" b="1" i="0" u="none" strike="noStrike" kern="1200" baseline="0" noProof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kern="1200" baseline="0" noProof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LG스마트체 Regular"/>
                        </a:rPr>
                        <a:t>(</a:t>
                      </a:r>
                      <a:r>
                        <a:rPr lang="en-US" sz="900" b="1" i="0" u="none" strike="noStrike" kern="1200" baseline="0" noProof="0">
                          <a:solidFill>
                            <a:srgbClr val="FFFFFF"/>
                          </a:solidFill>
                          <a:effectLst/>
                          <a:latin typeface="Malgun Gothic"/>
                        </a:rPr>
                        <a:t>W51</a:t>
                      </a:r>
                      <a:r>
                        <a:rPr lang="en-US" altLang="ko-KR" sz="900" b="1" i="0" u="none" strike="noStrike" kern="1200" baseline="0" noProof="0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LG스마트체 Regular"/>
                        </a:rPr>
                        <a:t>)</a:t>
                      </a:r>
                      <a:endParaRPr lang="ko-KR" noProof="0"/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/>
                          <a:ea typeface="맑은 고딕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7531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건설사업관리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시스템 운영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&amp;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건설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정보표준체계</a:t>
                      </a:r>
                      <a:br>
                        <a:rPr lang="ko-KR" altLang="en-US" sz="900" b="0" i="0" u="none" strike="noStrike" baseline="0">
                          <a:solidFill>
                            <a:srgbClr val="000000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</a:b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&amp;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비용 정합성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&amp;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투자비 분석</a:t>
                      </a: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/>
                        <a:ea typeface="LG스마트체 Regular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금주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ea"/>
                        </a:rPr>
                        <a:t>(W51)</a:t>
                      </a:r>
                      <a:r>
                        <a:rPr lang="ko-KR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에는 건설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 </a:t>
                      </a:r>
                      <a:r>
                        <a:rPr lang="ko-KR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비용관리 고도화 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PJT</a:t>
                      </a:r>
                      <a:r>
                        <a:rPr lang="ko-KR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 ,</a:t>
                      </a:r>
                      <a:r>
                        <a:rPr lang="ko-KR" altLang="en-US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건설표준정보체계 적용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활용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(</a:t>
                      </a:r>
                      <a:r>
                        <a:rPr lang="ko-KR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투자비 분석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), </a:t>
                      </a:r>
                      <a:r>
                        <a:rPr lang="ko-KR" altLang="en-US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투자비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정합성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확보를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위한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개선</a:t>
                      </a:r>
                      <a:r>
                        <a:rPr lang="ko-KR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  <a:ea typeface="+mn-ea"/>
                        </a:rPr>
                        <a:t> 업무 진행 중입니다</a:t>
                      </a:r>
                      <a:r>
                        <a:rPr lang="en-US" altLang="ko-KR" sz="900" b="0" i="0" u="none" strike="noStrike" kern="0" noProof="0">
                          <a:solidFill>
                            <a:srgbClr val="1414FE"/>
                          </a:solidFill>
                          <a:latin typeface="+mn-lt"/>
                        </a:rPr>
                        <a:t>.</a:t>
                      </a:r>
                      <a:r>
                        <a:rPr lang="ko-KR" altLang="en-US" sz="900" b="0" kern="0" noProof="0">
                          <a:solidFill>
                            <a:srgbClr val="1414FE"/>
                          </a:solidFill>
                          <a:latin typeface="+mn-ea"/>
                          <a:ea typeface="+mn-ea"/>
                          <a:cs typeface="Arial"/>
                        </a:rPr>
                        <a:t> </a:t>
                      </a:r>
                      <a:endParaRPr lang="en-US" altLang="ko-KR" sz="900"/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[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투자비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</a:rPr>
                        <a:t>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]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1.투자비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조회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(100%)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투자비 분석을 위한 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Input &amp; 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최종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Output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투자비 &amp; 영향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Fator</a:t>
                      </a:r>
                      <a:r>
                        <a:rPr lang="ko-KR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시각화 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(7/31)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   : 총 5개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Tab으로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구성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1)PJT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면적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Factor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), 2)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투자비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영향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Fator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시각화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</a:t>
                      </a:r>
                      <a:endParaRPr lang="en-US" altLang="ko-KR" sz="900" b="0" i="0" u="none" strike="noStrike" kern="1200" cap="none" spc="0" normalizeH="0" baseline="0" noProof="0" err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신규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PJT를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위한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투자비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분석은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다양한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Factor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설정에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따른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결과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비교가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가능한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Input:Output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설계를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N:1이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가능하도록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 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-&gt;</a:t>
                      </a:r>
                      <a:r>
                        <a:rPr 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신규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PJT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동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공정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/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공사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등을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자유롭게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구성하여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정확도를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높일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있는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방안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수립</a:t>
                      </a:r>
                      <a:endParaRPr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1.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공사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면적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등을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자유롭게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삭제하여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구성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2.공사구성에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따라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면적정보의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불필요한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부분들이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자동으로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제거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    : 총 7개 Tab(2개Tab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)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으로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추가하여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공사비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항목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구성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직접공사비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 외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비용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</a:rPr>
                        <a:t>(10/24)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2.기준정보/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공통정보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관리,화면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(100%) : Factor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기준정보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등을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관리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업데이트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하고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Output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연계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로직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*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요건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: 요</a:t>
                      </a:r>
                      <a:r>
                        <a:rPr lang="ko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율 항목을 설정할 때 기준 금액 항목 설정 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customizing, Room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구성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Setting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기능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,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공사항목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Setting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기능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개발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검토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및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일정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수립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    (09/18),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화면분석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설계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(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신규화면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14건)</a:t>
                      </a:r>
                      <a:endParaRPr 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  <a:t>     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-&gt;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기준정보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내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신규항목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추가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시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관련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정보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자동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매칭을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위한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연관성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분석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및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반영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내용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포함하여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개발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완료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(09/30)</a:t>
                      </a:r>
                      <a:b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rPr>
                      </a:b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     -&gt;동-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공정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-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공종-공사에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대한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분석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전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Setting하는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기능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추가하여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개발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(10/01)</a:t>
                      </a:r>
                      <a:b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rPr>
                      </a:b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  <a:t>     :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건설기술팀과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 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투자비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산출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 Test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진행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(~11월초,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개발서버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방화벽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오픈하여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</a:t>
                      </a:r>
                      <a:r>
                        <a:rPr lang="en-US" altLang="ko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참여</a:t>
                      </a:r>
                      <a:r>
                        <a:rPr lang="en-US" altLang="ko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 3.분석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시각화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(100%)) :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최종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Out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화면을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다각적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분석이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가능한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대시보드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(11/15)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: 동,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공종별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금액의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비중에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대하여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막대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파이형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그래프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추가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시각화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(Ref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Data+Alt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1,2,3.....)를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위한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(11/14)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: Alt 간 1:1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비교를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위한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중(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막대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스파이더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(Factor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변화에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다른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: 동,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공정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실구분에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다른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면적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및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시각화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화면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(11/18)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*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추가 요건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배포용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Output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화면 별도 구성 -&gt; 간접비 적용 로직(기타항목을 직접공사비,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설계비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, 총계 등에 배분하여 재구성 완료)(11/ 07)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: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유사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PJT를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선정하여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Ref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Data 기반 시뮬레이션을 진행하여 산출 비용 오차 검증과 여러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Factor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/면적 구성 등에 따른 오차 변화 분석(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Ref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비용 정보 추가로 인한 추가 검증(~12/05)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: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4개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Ref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PJT 추가 DB 저장(총 8개)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: 투자비 분석(개산견적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Alt별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비용 비교,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Factor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변화에 따른 비용 비교, 면적 구성/비중 분석) 개발 완료 및 통합 테스트 진행 완료하여 배포 하였으며, </a:t>
                      </a:r>
                      <a:r>
                        <a:rPr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배포후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최종 확인 완료(12/10)</a:t>
                      </a:r>
                      <a:endParaRPr lang="ko-KR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endParaRPr lang="en-US" altLang="ko-KR" sz="900" b="0" i="0" u="none" strike="noStrike" kern="0" noProof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</a:pP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[PJT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비용 관리 및 정합성 확보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endParaRPr lang="en-US" altLang="ko-KR" sz="900" b="0" i="0" u="none" strike="noStrike" kern="0" noProof="0">
                        <a:solidFill>
                          <a:srgbClr val="0000FF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-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계약정보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지정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유형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분류된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내용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(10/21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기준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)을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바탕으로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기획팀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검토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및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협의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(10/23) 후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국내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/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북미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공무담당자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배포하였으며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및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검토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진행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중(6개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북미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PJT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취합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완료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),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최종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확정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후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운영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서버에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데이터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이관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및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배포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완료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(N-ERP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배포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및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기성청구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대응으로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인한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배포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</a:t>
                      </a:r>
                      <a:r>
                        <a:rPr lang="en-US" altLang="ko-KR" sz="900" b="0" kern="0" noProof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연기</a:t>
                      </a:r>
                      <a:r>
                        <a:rPr lang="en-US" altLang="ko-KR" sz="900" b="0" kern="0" noProof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/>
                        </a:rPr>
                        <a:t> 12/10)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n-US" altLang="ko-KR" sz="900" b="0" i="0" u="none" strike="noStrike" kern="0" noProof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ea"/>
                        </a:rPr>
                        <a:t>[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시스템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ea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운영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ea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및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프로세스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시스템 개선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ea"/>
                        </a:rPr>
                        <a:t>]</a:t>
                      </a:r>
                      <a:endParaRPr lang="en-US" altLang="ko-KR" sz="900" b="0" i="0" u="none" strike="noStrike" kern="0" noProof="0">
                        <a:solidFill>
                          <a:srgbClr val="000000"/>
                        </a:solidFill>
                        <a:latin typeface="+mn-ea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-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현업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Test(09/12) :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역할등록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/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수정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결재선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구성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및 PJT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적용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개별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결재선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적용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등(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현업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Test,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인프라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기술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/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기획팀과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기능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추가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교육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: 08/28)</a:t>
                      </a:r>
                      <a:br>
                        <a:rPr lang="en-US" altLang="ko-KR" sz="900" b="0" i="0" u="none" strike="noStrike" kern="0" noProof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: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현업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(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인프라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기획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)과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기능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Test 및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시연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적용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하는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과정에서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법인장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/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센터장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등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PJT별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역할로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저장할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경우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11개이상의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작업이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반복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발생하여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, SSO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Data를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분석하고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PJT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등록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정보에서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유추하여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자동으로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결재선을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추가하는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방향으로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요건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변경하였으며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,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해당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내용을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바탕으로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추가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개발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완료하였으며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, 10/21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현업과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협의통하여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최종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확정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및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현업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테스트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chemeClr val="tx1"/>
                          </a:solidFill>
                          <a:latin typeface="+mn-lt"/>
                        </a:rPr>
                        <a:t>진행</a:t>
                      </a:r>
                      <a:r>
                        <a:rPr lang="en-US" altLang="ko-KR" sz="900" b="0" i="0" u="none" strike="noStrike" kern="0" noProof="0">
                          <a:solidFill>
                            <a:schemeClr val="tx1"/>
                          </a:solidFill>
                          <a:latin typeface="+mn-lt"/>
                        </a:rPr>
                        <a:t> 중(10/24)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- (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보안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취약점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검토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및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조치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)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외부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협력사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접속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시 SSO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인원정보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접근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차단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조치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외부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협력사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로그인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시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비밀번호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변경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처리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및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비밀번호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구성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변경에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따른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기능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개선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(11/21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조치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이후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, 11/30일 </a:t>
                      </a:r>
                      <a:r>
                        <a:rPr lang="en-US" sz="900" b="0" i="0" u="none" strike="noStrike" kern="0" noProof="0" err="1">
                          <a:solidFill>
                            <a:schemeClr val="tx1"/>
                          </a:solidFill>
                          <a:latin typeface="Arial Narrow"/>
                        </a:rPr>
                        <a:t>배포</a:t>
                      </a:r>
                      <a:r>
                        <a:rPr lang="en-US" sz="900" b="0" i="0" u="none" strike="noStrike" kern="0" noProof="0">
                          <a:solidFill>
                            <a:schemeClr val="tx1"/>
                          </a:solidFill>
                          <a:latin typeface="Arial Narrow"/>
                        </a:rPr>
                        <a:t>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- </a:t>
                      </a:r>
                      <a:r>
                        <a:rPr lang="ko-KR" altLang="en-US" sz="900" b="0" i="0" u="none" strike="noStrike" kern="0" noProof="0" err="1">
                          <a:solidFill>
                            <a:srgbClr val="0000FF"/>
                          </a:solidFill>
                          <a:latin typeface="Arial Narrow"/>
                        </a:rPr>
                        <a:t>건설사업관리</a:t>
                      </a:r>
                      <a:r>
                        <a:rPr 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비용관리</a:t>
                      </a:r>
                      <a:r>
                        <a:rPr 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고도화</a:t>
                      </a:r>
                      <a:r>
                        <a:rPr 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PJT 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완료보고</a:t>
                      </a:r>
                      <a:r>
                        <a:rPr 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(12/12) 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진행하였으며</a:t>
                      </a:r>
                      <a:r>
                        <a:rPr 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건설</a:t>
                      </a:r>
                      <a:r>
                        <a:rPr 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투자비</a:t>
                      </a:r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분석</a:t>
                      </a:r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0000FF"/>
                          </a:solidFill>
                          <a:latin typeface="Arial Narrow"/>
                        </a:rPr>
                        <a:t>산출</a:t>
                      </a:r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및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0000FF"/>
                          </a:solidFill>
                          <a:latin typeface="Arial Narrow"/>
                        </a:rPr>
                        <a:t>분석에</a:t>
                      </a:r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0000FF"/>
                          </a:solidFill>
                          <a:latin typeface="Arial Narrow"/>
                        </a:rPr>
                        <a:t>대한</a:t>
                      </a:r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0000FF"/>
                          </a:solidFill>
                          <a:latin typeface="Arial Narrow"/>
                        </a:rPr>
                        <a:t>그룹장님</a:t>
                      </a:r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0000FF"/>
                          </a:solidFill>
                          <a:latin typeface="Arial Narrow"/>
                        </a:rPr>
                        <a:t>보고</a:t>
                      </a:r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0" noProof="0" err="1">
                          <a:solidFill>
                            <a:srgbClr val="0000FF"/>
                          </a:solidFill>
                          <a:latin typeface="Arial Narrow"/>
                        </a:rPr>
                        <a:t>예정</a:t>
                      </a:r>
                      <a:r>
                        <a:rPr lang="en-US" altLang="ko-KR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(12/23)</a:t>
                      </a:r>
                      <a:r>
                        <a:rPr lang="ko-KR" altLang="en-US" sz="900" b="0" i="0" u="none" strike="noStrike" kern="0" noProof="0">
                          <a:solidFill>
                            <a:srgbClr val="0000FF"/>
                          </a:solidFill>
                          <a:latin typeface="Arial Narrow"/>
                        </a:rPr>
                        <a:t> </a:t>
                      </a:r>
                      <a:endParaRPr lang="en-US" altLang="ko-KR" sz="900" b="0" i="0" u="none" strike="noStrike" kern="0" noProof="0">
                        <a:solidFill>
                          <a:srgbClr val="0000FF"/>
                        </a:solidFill>
                        <a:latin typeface="Arial Narrow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kern="0">
                          <a:solidFill>
                            <a:schemeClr val="tx1"/>
                          </a:solidFill>
                          <a:latin typeface="LG스마트체 Regular"/>
                          <a:ea typeface="LG스마트체 Regular"/>
                          <a:cs typeface="Arial"/>
                        </a:rPr>
                        <a:t>’25.12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LG스마트체 Regular"/>
                        </a:rPr>
                        <a:t>문대윤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1" name="제목 1">
            <a:extLst>
              <a:ext uri="{FF2B5EF4-FFF2-40B4-BE49-F238E27FC236}">
                <a16:creationId xmlns:a16="http://schemas.microsoft.com/office/drawing/2014/main" id="{BCBC01BE-ADD5-4B7D-8733-454030AAAA5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8" name="내용 개체 틀 20">
            <a:extLst>
              <a:ext uri="{FF2B5EF4-FFF2-40B4-BE49-F238E27FC236}">
                <a16:creationId xmlns:a16="http://schemas.microsoft.com/office/drawing/2014/main" id="{711F5049-E64D-4387-B03F-FA613FB276A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0425994" cy="215444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건설사업관리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(CPM)]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시스템 운영</a:t>
            </a:r>
            <a:endParaRPr kumimoji="0" lang="en-US" altLang="ko-KR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E6222B9-13FD-4EE0-B1F5-9C766EAAC4AD}"/>
              </a:ext>
            </a:extLst>
          </p:cNvPr>
          <p:cNvSpPr txBox="1"/>
          <p:nvPr/>
        </p:nvSpPr>
        <p:spPr>
          <a:xfrm>
            <a:off x="7982836" y="642888"/>
            <a:ext cx="178253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FDEB6D43-2A18-492E-8629-364B9A9DBE88}"/>
              </a:ext>
            </a:extLst>
          </p:cNvPr>
          <p:cNvSpPr txBox="1">
            <a:spLocks/>
          </p:cNvSpPr>
          <p:nvPr/>
        </p:nvSpPr>
        <p:spPr>
          <a:xfrm>
            <a:off x="8821206" y="447233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문대윤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9CF0E595-390A-4C6F-B943-70916D359AA1}"/>
              </a:ext>
            </a:extLst>
          </p:cNvPr>
          <p:cNvSpPr txBox="1">
            <a:spLocks/>
          </p:cNvSpPr>
          <p:nvPr/>
        </p:nvSpPr>
        <p:spPr>
          <a:xfrm>
            <a:off x="5685999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DX-#8,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61954042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693049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[Control Room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원격제어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제조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알람팝업솔루션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구축</a:t>
            </a:r>
          </a:p>
        </p:txBody>
      </p:sp>
      <p:graphicFrame>
        <p:nvGraphicFramePr>
          <p:cNvPr id="14" name="표 1">
            <a:extLst>
              <a:ext uri="{FF2B5EF4-FFF2-40B4-BE49-F238E27FC236}">
                <a16:creationId xmlns:a16="http://schemas.microsoft.com/office/drawing/2014/main" id="{03055C58-699D-4297-B297-80F37BE70D4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6756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7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Malgun Gothic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Malgun Gothic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3410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제조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알람팝업솔루션구축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W51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에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특이사항 없으며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, HD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Control Room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구축 요건정의 및 투자제안서 준비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설비에서 발생하는 알람을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Control Room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에서 실시간으로 확인하고 원격제어를 통해서 조치가 가능한 환경을 구축함으로써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설비 알람 조치 속도를 향상 및 공정 운영 인원 효율화에 기여하고자 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[ST(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Coater(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양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음극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양산으로 인해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NAT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하단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(NAT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↔ 설비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포설은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분기 진행 예정이고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NAT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상단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(NAT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QA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망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포설은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25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월 중으로 완료할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제조역량강화팀 김한상 팀장과 협의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 (~25.12)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[HG(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HG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중계서버 구축 작업 완료 하였고 사용자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Activity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별 매뉴얼 상세 보완하여 법인 교육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.(10/24)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[HG(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NW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포설일정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및 컨트롤룸 셋업 타겟 일정에 대해 법인 전극검사기술팀과 회의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└ 전극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/QA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NW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포설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(NAT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셋업 가능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월 이후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/QA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망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NW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포설 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셀은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NAT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없음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NAT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엔지니어 출장 예상 일정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26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월 예상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(B1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비자 발급 완료 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[HG(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알람팝업솔루션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및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HG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NW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구성에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대해 법인 전극검사기술팀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Paul Kim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님과 회의를 통해 추가 설명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.(12/16)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[MI(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활성화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MI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Control Room DB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체크리스트 준수사항 반영 위한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DB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설정변경 및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재기동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예정이며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MI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PI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박민수책임과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작업계획 리뷰 및 작업일정 수립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(11/2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오전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14~17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.(~11/2)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[MI-Lansing(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SPC+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가상화 메모리 증설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(Dell Memory 64G*24)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관련 메모리 구매 및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딜리버리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진행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.(11/3)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[MI-Lansing(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SPC+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가상화 메모리 증설 위한 서버 물리적 장착 및 메모리 설정 통합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TA,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PI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간 진행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.(~11/23)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[MI-Lansing(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중계서버 구성 및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Screen Aligner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기능 적용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통합테스트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.(~12/28)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서버 생성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(OS,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DB, MCCS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이중화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ROS PC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NQVM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설치 완료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중계서버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/Screen Aligner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셋업 완료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법인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사항 취합 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추가 통합테스트 및 운영 적용 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(12/28)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[MI-Lansing(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코터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양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음극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Screen Aligner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구성 관련 법인 제조역량강화팀 박선호님과 회의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.(11/18)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Top W/G #1, 2 / Back W/G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#1,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마스터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비젼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통합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비젼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6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 화면으로 구성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[HD(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HD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Control Room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구축 위해 법인 제조역량강화팀 이은호님과 화상회의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.(11/18)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COT, ROL, NND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공정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NAT 13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NVS 25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중계서버 구축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[HD(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Control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Room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서버 생성 위한 시스템 아키텍처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SPEC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정리하여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IT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인프라팀과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ARB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회의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.(11/25)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[HD(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IT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인프라 검토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(VM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가상화 구성 환경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및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Control Room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구축 위한 투자제안서 준비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.(~12/31)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[NB(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활성화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)] 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동 활성화공정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Control Room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구축에 대한 전체적인 컨셉에 대해 법인 설비담당자들과 회의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실시간 설비 알람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물류 알람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IVS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및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FDC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알람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Control Room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관리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                         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물류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FDC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알람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IVS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연계의 경우 추가 개발 필요하여 상세 요건 추가 논의 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현재는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EIF, APC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알람만 컨트롤룸 관리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~‘25.12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윤영준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3253B44-7F40-4993-8DB3-4166ADEB14BF}"/>
              </a:ext>
            </a:extLst>
          </p:cNvPr>
          <p:cNvSpPr txBox="1"/>
          <p:nvPr/>
        </p:nvSpPr>
        <p:spPr>
          <a:xfrm>
            <a:off x="7899480" y="642888"/>
            <a:ext cx="186589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) 11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B9DCE9D-30EB-4DB3-B5FB-5565FF1763A9}"/>
              </a:ext>
            </a:extLst>
          </p:cNvPr>
          <p:cNvSpPr txBox="1">
            <a:spLocks/>
          </p:cNvSpPr>
          <p:nvPr/>
        </p:nvSpPr>
        <p:spPr>
          <a:xfrm>
            <a:off x="8712202" y="447233"/>
            <a:ext cx="1053173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윤영준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6CE17EB-BC07-4398-A3C0-96B096ED8D72}"/>
              </a:ext>
            </a:extLst>
          </p:cNvPr>
          <p:cNvGraphicFramePr>
            <a:graphicFrameLocks noGrp="1"/>
          </p:cNvGraphicFramePr>
          <p:nvPr/>
        </p:nvGraphicFramePr>
        <p:xfrm>
          <a:off x="1673975" y="1292238"/>
          <a:ext cx="6974726" cy="1310640"/>
        </p:xfrm>
        <a:graphic>
          <a:graphicData uri="http://schemas.openxmlformats.org/drawingml/2006/table">
            <a:tbl>
              <a:tblPr/>
              <a:tblGrid>
                <a:gridCol w="1128062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696176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643811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643811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643811">
                  <a:extLst>
                    <a:ext uri="{9D8B030D-6E8A-4147-A177-3AD203B41FA5}">
                      <a16:colId xmlns:a16="http://schemas.microsoft.com/office/drawing/2014/main" val="2893786401"/>
                    </a:ext>
                  </a:extLst>
                </a:gridCol>
                <a:gridCol w="643811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643811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643811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  <a:gridCol w="643811">
                  <a:extLst>
                    <a:ext uri="{9D8B030D-6E8A-4147-A177-3AD203B41FA5}">
                      <a16:colId xmlns:a16="http://schemas.microsoft.com/office/drawing/2014/main" val="634563127"/>
                    </a:ext>
                  </a:extLst>
                </a:gridCol>
                <a:gridCol w="643811">
                  <a:extLst>
                    <a:ext uri="{9D8B030D-6E8A-4147-A177-3AD203B41FA5}">
                      <a16:colId xmlns:a16="http://schemas.microsoft.com/office/drawing/2014/main" val="1069212182"/>
                    </a:ext>
                  </a:extLst>
                </a:gridCol>
              </a:tblGrid>
              <a:tr h="11733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8659" marR="8659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8659" marR="8659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2019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8659" marR="8659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투자심의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집행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Control Room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구축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EIF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패치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솔루션 구축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NAT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연결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원격연결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통합테스트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운영적용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품질 안정화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17336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MI(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활성화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‘25.06.13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‘25.04.15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‘25.08.08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‘25.08.20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‘25.08.20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‘25.08.23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‘25.08.26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‘25.08.27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‘25.08.30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3571676"/>
                  </a:ext>
                </a:extLst>
              </a:tr>
              <a:tr h="117336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HG(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‘25.07.09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‘25.07.01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NW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포설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NAT 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설치 등 일정 법인 재 검토 중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(25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12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월 예상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5675303"/>
                  </a:ext>
                </a:extLst>
              </a:tr>
              <a:tr h="117336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HD(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Control Room 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오픈 일정 법인 재 검토 중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(26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월 예상</a:t>
                      </a: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611154"/>
                  </a:ext>
                </a:extLst>
              </a:tr>
              <a:tr h="117336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MI-Lansing(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‘25.09.19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‘25.09.10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‘25.09.13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‘25.10.08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‘25.12.28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‘25.12.30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‘26.01.31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099777"/>
                  </a:ext>
                </a:extLst>
              </a:tr>
              <a:tr h="117336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ST(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‘25.09.29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‘25.12.25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‘25.12.28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‘25.01.10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‘25.01.20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‘26.01.25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‘26.01.27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‘26.01.30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‘26.02.28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1022532"/>
                  </a:ext>
                </a:extLst>
              </a:tr>
              <a:tr h="117336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NB(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활성화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Control Room </a:t>
                      </a:r>
                      <a:r>
                        <a:rPr kumimoji="0" lang="ko-KR" altLang="en-US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오픈 일정 법인 재 검토 중</a:t>
                      </a: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(26</a:t>
                      </a:r>
                      <a:r>
                        <a:rPr kumimoji="0" lang="ko-KR" altLang="en-US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월 예상</a:t>
                      </a:r>
                      <a:r>
                        <a:rPr kumimoji="0" lang="en-US" altLang="ko-KR" sz="900" b="0" i="0" u="none" strike="noStrike" kern="1200" cap="none" spc="-4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6347921"/>
                  </a:ext>
                </a:extLst>
              </a:tr>
            </a:tbl>
          </a:graphicData>
        </a:graphic>
      </p:graphicFrame>
      <p:sp>
        <p:nvSpPr>
          <p:cNvPr id="17" name="제목 1">
            <a:extLst>
              <a:ext uri="{FF2B5EF4-FFF2-40B4-BE49-F238E27FC236}">
                <a16:creationId xmlns:a16="http://schemas.microsoft.com/office/drawing/2014/main" id="{01E44A09-B42E-4E08-844C-B04E4B8B7FB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136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CCD084CB-4A3B-491A-B3D1-EDE1663C95C4}"/>
              </a:ext>
            </a:extLst>
          </p:cNvPr>
          <p:cNvSpPr txBox="1">
            <a:spLocks/>
          </p:cNvSpPr>
          <p:nvPr/>
        </p:nvSpPr>
        <p:spPr>
          <a:xfrm>
            <a:off x="5713704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DX-#9,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]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D612010-1C7B-4E6E-9343-F3132E103292}"/>
              </a:ext>
            </a:extLst>
          </p:cNvPr>
          <p:cNvSpPr/>
          <p:nvPr/>
        </p:nvSpPr>
        <p:spPr>
          <a:xfrm>
            <a:off x="3497847" y="2312970"/>
            <a:ext cx="638957" cy="13975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57FE274-4565-4A72-9F59-96B9B26E9D42}"/>
              </a:ext>
            </a:extLst>
          </p:cNvPr>
          <p:cNvSpPr/>
          <p:nvPr/>
        </p:nvSpPr>
        <p:spPr>
          <a:xfrm rot="10800000">
            <a:off x="4051002" y="2226508"/>
            <a:ext cx="96435" cy="80245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A30EA44-0A9E-4217-885B-07E42DA6B1AB}"/>
              </a:ext>
            </a:extLst>
          </p:cNvPr>
          <p:cNvSpPr/>
          <p:nvPr/>
        </p:nvSpPr>
        <p:spPr>
          <a:xfrm>
            <a:off x="6716017" y="2163702"/>
            <a:ext cx="646273" cy="15014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1" name="이등변 삼각형 20">
            <a:extLst>
              <a:ext uri="{FF2B5EF4-FFF2-40B4-BE49-F238E27FC236}">
                <a16:creationId xmlns:a16="http://schemas.microsoft.com/office/drawing/2014/main" id="{C02606E2-C80D-4343-AC84-2BB4AD213D78}"/>
              </a:ext>
            </a:extLst>
          </p:cNvPr>
          <p:cNvSpPr/>
          <p:nvPr/>
        </p:nvSpPr>
        <p:spPr>
          <a:xfrm rot="10800000">
            <a:off x="7244679" y="2081990"/>
            <a:ext cx="96435" cy="80245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5847396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693049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[Control Room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원격제어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시스템 운영</a:t>
            </a:r>
          </a:p>
        </p:txBody>
      </p:sp>
      <p:graphicFrame>
        <p:nvGraphicFramePr>
          <p:cNvPr id="14" name="표 1">
            <a:extLst>
              <a:ext uri="{FF2B5EF4-FFF2-40B4-BE49-F238E27FC236}">
                <a16:creationId xmlns:a16="http://schemas.microsoft.com/office/drawing/2014/main" id="{03055C58-699D-4297-B297-80F37BE70D4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654341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Malgun Gothic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Malgun Gothic"/>
                          <a:ea typeface="LG스마트체 Regular"/>
                        </a:rPr>
                        <a:t>(W51)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45181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Control Room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시스템 운영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[Control Room </a:t>
                      </a:r>
                      <a:r>
                        <a:rPr kumimoji="0" lang="ko-KR" altLang="en-US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운영</a:t>
                      </a: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WA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DST(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서머타임 해제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로 인해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EIF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서버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재기동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예정이므로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동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알람팝업솔루션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영향도 점검 계획 수립 및 점검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EIF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서버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재기동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이후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ROS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IF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데이터 정상 전송 여부 확인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WA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MI / NFF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Control Room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운영 현황에 대해 점검하였고 시스템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사항들에 대해 추가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(~10/30)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└ 중계서버 사용자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/ID/Password/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검사기 엑셀 일괄 업로드 기능 등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WA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중계서버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(IP : 10.93.90.156)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관련 모듈검사기술팀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김찬종선임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명에게 시연 및 교육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(10/29)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WA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중계서버 운영에 대해 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박병희 팀장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제조역량 김인성 팀장과 협의하였고 운영방안에 대해 법인과 미팅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(11/05)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전체 기능 소개 및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중계서버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Web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관리자 권한 부여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PI/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제조역량강화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등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MI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랜섬웨어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감염 이슈로 인해 미주법인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Control Room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시스템 영향도 파악하였습니다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.(11/4)</a:t>
                      </a:r>
                    </a:p>
                    <a:p>
                      <a:pPr latinLnBrk="1"/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MI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VM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서버 영향도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존재되며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이외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GM1, GM2, HG, ST, HD</a:t>
                      </a:r>
                      <a:r>
                        <a:rPr lang="ko-KR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서비스 </a:t>
                      </a:r>
                      <a:r>
                        <a:rPr lang="ko-KR" altLang="ko-KR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이상없습니다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latinLnBrk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MI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랜섬웨어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복구 이후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Control Room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시스템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알람팝업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실시간재판정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대응방안에 대해 하기와 같이 </a:t>
                      </a:r>
                      <a:r>
                        <a:rPr kumimoji="0" lang="ko-KR" altLang="en-US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수립하였습니다</a:t>
                      </a:r>
                      <a:r>
                        <a:rPr kumimoji="0" lang="en-US" altLang="ko-KR" sz="9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.(11/4)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atinLnBrk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ESWA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중계서버 메모리 증설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(8G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→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20G)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필요하여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IT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인프라팀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김인호선임과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ARB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진행하였습니다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.(11/10)</a:t>
                      </a:r>
                    </a:p>
                    <a:p>
                      <a:pPr latinLnBrk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MI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실시간재판정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DB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서버 복구되어 어플리케이션 설치 완료하였으며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클라이언트 정상 접속 및 운영 위한 정상화 작업 완료하였습니다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.(11/11)</a:t>
                      </a:r>
                    </a:p>
                    <a:p>
                      <a:pPr latinLnBrk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MI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알람팝업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중계서버 복구시점에 대해 인프라팀과 논의하였으며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11/14(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금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복구 타겟으로 일정 수립하였습니다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.(11/14)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└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MI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알람팝업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중계서버 복구 완료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MMD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연동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솔라스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정상 작동 검증 완료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(~11/17)</a:t>
                      </a:r>
                    </a:p>
                    <a:p>
                      <a:pPr latinLnBrk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WA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중계서버 접속 및 사용자 권한부여 관련하여 본사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Pack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검사기술팀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송제현님외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명에게 교육 완료하였습니다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.(11/17)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HG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중계서버 접속 및 사용자 권한부여 관련하여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HG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전극검사기술팀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조민기님외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명에게 교육진행 예정입니다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(11/20)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MMD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2.0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전환됨에 따라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Control Room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알람팝업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↔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MMD(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설비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알람기준정보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 DATA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정상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IF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확인 완료하였습니다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.(11/24)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MI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법인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Control Room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원격 디바이스들에 대한 설정 및 접속현황에 대해 원격솔루션팀 김원준님에게 교육 진행하였습니다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.(12/9)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 Control Room HMI 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연결 신기술에 대해 </a:t>
                      </a:r>
                      <a:r>
                        <a:rPr lang="ko-KR" altLang="en-US" sz="900" kern="120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디지털트윈팀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김현용 책임과 회의 진행하였습니다</a:t>
                      </a: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.(12/15)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└ </a:t>
                      </a:r>
                      <a:r>
                        <a:rPr lang="ko-KR" altLang="en-US" sz="900" kern="120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디지털트윈팀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제안 기술 </a:t>
                      </a: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별도의 네트워크 설치 </a:t>
                      </a:r>
                      <a:r>
                        <a:rPr lang="ko-KR" altLang="en-US" sz="900" kern="120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필요없이</a:t>
                      </a: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PLC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에서 데이터를 </a:t>
                      </a:r>
                      <a:r>
                        <a:rPr lang="ko-KR" altLang="en-US" sz="900" kern="120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직접받아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서버에서 </a:t>
                      </a: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HMI Data 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확인 가능</a:t>
                      </a:r>
                      <a:endParaRPr lang="en-US" altLang="ko-KR" sz="900" kern="1200" dirty="0">
                        <a:solidFill>
                          <a:srgbClr val="0000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└ </a:t>
                      </a: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Control Room </a:t>
                      </a:r>
                      <a:r>
                        <a:rPr lang="ko-KR" altLang="en-US" sz="900" kern="1200" dirty="0" err="1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알람팝업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연계 가능 여부에 대해 추가 검토 후</a:t>
                      </a: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회의 진행 예정입니다</a:t>
                      </a:r>
                      <a:r>
                        <a:rPr lang="en-US" altLang="ko-KR" sz="900" kern="1200" dirty="0">
                          <a:solidFill>
                            <a:srgbClr val="0000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.(~12/19)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~‘25.12</a:t>
                      </a:r>
                      <a:endParaRPr lang="ko-KR" altLang="en-US">
                        <a:solidFill>
                          <a:schemeClr val="tx1"/>
                        </a:solidFill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윤영준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3253B44-7F40-4993-8DB3-4166ADEB14BF}"/>
              </a:ext>
            </a:extLst>
          </p:cNvPr>
          <p:cNvSpPr txBox="1"/>
          <p:nvPr/>
        </p:nvSpPr>
        <p:spPr>
          <a:xfrm>
            <a:off x="7899480" y="642888"/>
            <a:ext cx="186589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) 11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B9DCE9D-30EB-4DB3-B5FB-5565FF1763A9}"/>
              </a:ext>
            </a:extLst>
          </p:cNvPr>
          <p:cNvSpPr txBox="1">
            <a:spLocks/>
          </p:cNvSpPr>
          <p:nvPr/>
        </p:nvSpPr>
        <p:spPr>
          <a:xfrm>
            <a:off x="8712202" y="447233"/>
            <a:ext cx="1053173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윤영준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7" name="제목 1">
            <a:extLst>
              <a:ext uri="{FF2B5EF4-FFF2-40B4-BE49-F238E27FC236}">
                <a16:creationId xmlns:a16="http://schemas.microsoft.com/office/drawing/2014/main" id="{01E44A09-B42E-4E08-844C-B04E4B8B7FB5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136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9" name="내용 개체 틀 20">
            <a:extLst>
              <a:ext uri="{FF2B5EF4-FFF2-40B4-BE49-F238E27FC236}">
                <a16:creationId xmlns:a16="http://schemas.microsoft.com/office/drawing/2014/main" id="{BF839242-853F-4C0F-A9F4-8642E55956A7}"/>
              </a:ext>
            </a:extLst>
          </p:cNvPr>
          <p:cNvSpPr txBox="1">
            <a:spLocks/>
          </p:cNvSpPr>
          <p:nvPr/>
        </p:nvSpPr>
        <p:spPr>
          <a:xfrm>
            <a:off x="5661666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DX-#14,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3866366394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5" y="612730"/>
            <a:ext cx="693049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[Control Room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원격제어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실시간 재판정 원격 솔루션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구축</a:t>
            </a:r>
          </a:p>
        </p:txBody>
      </p:sp>
      <p:graphicFrame>
        <p:nvGraphicFramePr>
          <p:cNvPr id="14" name="표 1">
            <a:extLst>
              <a:ext uri="{FF2B5EF4-FFF2-40B4-BE49-F238E27FC236}">
                <a16:creationId xmlns:a16="http://schemas.microsoft.com/office/drawing/2014/main" id="{03055C58-699D-4297-B297-80F37BE70D4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Malgun Gothic"/>
                          <a:ea typeface="+mn-ea"/>
                        </a:rPr>
                        <a:t>금주 진행사항 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Malgun Gothic"/>
                          <a:ea typeface="+mn-ea"/>
                        </a:rPr>
                        <a:t>(W51)</a:t>
                      </a:r>
                      <a:endParaRPr lang="en-US" altLang="ko-KR" sz="900" b="1" i="0" u="none" strike="noStrike" baseline="0" dirty="0">
                        <a:solidFill>
                          <a:srgbClr val="FFFFFF"/>
                        </a:solidFill>
                        <a:effectLst/>
                        <a:latin typeface="Malgun Gothic"/>
                        <a:ea typeface="LG스마트체 Regular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실시간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재판정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원격솔루션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금주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(</a:t>
                      </a:r>
                      <a:r>
                        <a:rPr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W51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에는 특이사항 없고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WA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법인 실시간 재판정 솔루션 품질 모니터링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Vision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검사기에서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NG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로 판정한 항목에 대한 재판정을 개별 검사기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PC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가 아닌 원격으로 연결된 하나의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PC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에서 진행할 수 있는 환경을 구축하여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검사인원의 효율화에 기여하고자 합니다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/>
                        <a:ea typeface="LG스마트체 Regular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진행상황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[ESWA]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실시간 재판정 솔루션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(EV2020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라인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, CTP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라인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통합테스트 및 운영적용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.(10/10)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[ESWA]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현업 사용자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취합 및 시스템 모니터링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품질 안정화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.(~10/30)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[ESWA]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금주 특이사항 없고 추가적으로 시스템 품질 모니터링 진행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.(~11/30)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[ESWA]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시스템 활용 간 이슈 없으며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추가적인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사항 생길 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법인 모듈검사기술팀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김찬종선임과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협의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(~12/31)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[ESWA]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금주 특이사항 없으며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시스템 구축 완료에 대한 법인 검수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(12/16)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[ESWA]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재판정솔루션 구축 완료 건에 대해 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PI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팀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박병희팀장에게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내용 설명 및 자료 공유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.(12/09)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[ESHD] Honda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모듈 양산라인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호기 샘플 재판정 적용 일정에 대해 모듈공정기술팀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장성용책임과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회의하였고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9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월 중순 적용하는 것으로 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협의하였습니다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(8/13)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[ESHD] Honda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모듈 양산라인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호기 확산 적용일정 관련하여 법인 모듈공정기술팀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장성용책임과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논의하였고 법인 내부적으로 추가 검토 필요하다고 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            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하여 일정 수립 되는대로 공유 받기로 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.(~10/17)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- [ESHD]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금주 특이사항 없습니다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LG스마트체 Regular"/>
                          <a:ea typeface="+mn-ea"/>
                          <a:cs typeface="+mn-cs"/>
                        </a:rPr>
                        <a:t>.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~’25.12</a:t>
                      </a:r>
                      <a:endParaRPr lang="ko-KR" altLang="en-US"/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윤영준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3253B44-7F40-4993-8DB3-4166ADEB14BF}"/>
              </a:ext>
            </a:extLst>
          </p:cNvPr>
          <p:cNvSpPr txBox="1"/>
          <p:nvPr/>
        </p:nvSpPr>
        <p:spPr>
          <a:xfrm>
            <a:off x="7899480" y="642888"/>
            <a:ext cx="186589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) 11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9" name="내용 개체 틀 20">
            <a:extLst>
              <a:ext uri="{FF2B5EF4-FFF2-40B4-BE49-F238E27FC236}">
                <a16:creationId xmlns:a16="http://schemas.microsoft.com/office/drawing/2014/main" id="{6B9DCE9D-30EB-4DB3-B5FB-5565FF1763A9}"/>
              </a:ext>
            </a:extLst>
          </p:cNvPr>
          <p:cNvSpPr txBox="1">
            <a:spLocks/>
          </p:cNvSpPr>
          <p:nvPr/>
        </p:nvSpPr>
        <p:spPr>
          <a:xfrm>
            <a:off x="8712202" y="447233"/>
            <a:ext cx="1053173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윤영준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B073DDCD-540E-4DB4-80E5-6F7FE770B56E}"/>
              </a:ext>
            </a:extLst>
          </p:cNvPr>
          <p:cNvGraphicFramePr>
            <a:graphicFrameLocks noGrp="1"/>
          </p:cNvGraphicFramePr>
          <p:nvPr/>
        </p:nvGraphicFramePr>
        <p:xfrm>
          <a:off x="1686056" y="1324323"/>
          <a:ext cx="6908028" cy="521412"/>
        </p:xfrm>
        <a:graphic>
          <a:graphicData uri="http://schemas.openxmlformats.org/drawingml/2006/table">
            <a:tbl>
              <a:tblPr/>
              <a:tblGrid>
                <a:gridCol w="934480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853364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853364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53364">
                  <a:extLst>
                    <a:ext uri="{9D8B030D-6E8A-4147-A177-3AD203B41FA5}">
                      <a16:colId xmlns:a16="http://schemas.microsoft.com/office/drawing/2014/main" val="709635911"/>
                    </a:ext>
                  </a:extLst>
                </a:gridCol>
                <a:gridCol w="853364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53364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853364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853364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</a:tblGrid>
              <a:tr h="16761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676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투자심의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사전테스트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솔루션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단위테스트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통합테스트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운영적용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품질안정화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86188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ESWA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‘25.09.08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’25.09.19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’25.09.30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’25.10.02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’25.10.07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LG스마트체 Regular"/>
                          <a:ea typeface="LG스마트체 Regular"/>
                          <a:cs typeface="+mn-cs"/>
                        </a:rPr>
                        <a:t>’25.10.10</a:t>
                      </a: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’25.10.30</a:t>
                      </a: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285747"/>
                  </a:ext>
                </a:extLst>
              </a:tr>
            </a:tbl>
          </a:graphicData>
        </a:graphic>
      </p:graphicFrame>
      <p:pic>
        <p:nvPicPr>
          <p:cNvPr id="3" name="그림 2">
            <a:extLst>
              <a:ext uri="{FF2B5EF4-FFF2-40B4-BE49-F238E27FC236}">
                <a16:creationId xmlns:a16="http://schemas.microsoft.com/office/drawing/2014/main" id="{5BE51C61-0CD5-42E2-BFB3-0EFDD538C2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64385" y="2414974"/>
            <a:ext cx="3040527" cy="1885684"/>
          </a:xfrm>
          <a:prstGeom prst="rect">
            <a:avLst/>
          </a:prstGeom>
        </p:spPr>
      </p:pic>
      <p:sp>
        <p:nvSpPr>
          <p:cNvPr id="10" name="화살표: 오른쪽 9">
            <a:extLst>
              <a:ext uri="{FF2B5EF4-FFF2-40B4-BE49-F238E27FC236}">
                <a16:creationId xmlns:a16="http://schemas.microsoft.com/office/drawing/2014/main" id="{8E641F68-543F-4029-BAD5-EBCBE1EDCFD6}"/>
              </a:ext>
            </a:extLst>
          </p:cNvPr>
          <p:cNvSpPr/>
          <p:nvPr/>
        </p:nvSpPr>
        <p:spPr>
          <a:xfrm>
            <a:off x="4895379" y="3250094"/>
            <a:ext cx="731546" cy="215444"/>
          </a:xfrm>
          <a:prstGeom prst="rightArrow">
            <a:avLst/>
          </a:prstGeom>
          <a:solidFill>
            <a:schemeClr val="bg1">
              <a:lumMod val="6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26F8CE6-04D9-4EA4-A555-D14A7A1FC55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51896" y="2367533"/>
            <a:ext cx="2741426" cy="1933126"/>
          </a:xfrm>
          <a:prstGeom prst="rect">
            <a:avLst/>
          </a:prstGeom>
        </p:spPr>
      </p:pic>
      <p:sp>
        <p:nvSpPr>
          <p:cNvPr id="12" name="직사각형 11">
            <a:extLst>
              <a:ext uri="{FF2B5EF4-FFF2-40B4-BE49-F238E27FC236}">
                <a16:creationId xmlns:a16="http://schemas.microsoft.com/office/drawing/2014/main" id="{FEB97C02-EB28-4E79-9F2B-E69725C1E692}"/>
              </a:ext>
            </a:extLst>
          </p:cNvPr>
          <p:cNvSpPr/>
          <p:nvPr/>
        </p:nvSpPr>
        <p:spPr>
          <a:xfrm>
            <a:off x="2962973" y="4287513"/>
            <a:ext cx="4916731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&lt; ESMI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적용 예시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Module 1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개 라인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5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대의 검사기에 대해 한 명의 검사자가 재판정 진행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&gt;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A551A05-C833-4CB9-AB6B-8217B577675A}"/>
              </a:ext>
            </a:extLst>
          </p:cNvPr>
          <p:cNvSpPr/>
          <p:nvPr/>
        </p:nvSpPr>
        <p:spPr>
          <a:xfrm>
            <a:off x="1612563" y="6231744"/>
            <a:ext cx="765626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*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사전테스트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설비업체가 협의된 통신사양으로 개발한 프로그램을 설비에 이관하기 전에 솔루션 개발업체인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NTS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가 국내에 만들어 놓은 서버와 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   통신하며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개발 정합성을 점검하는 테스트입니다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.</a:t>
            </a:r>
            <a:endParaRPr kumimoji="0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/>
              <a:ea typeface="LG스마트체 Regular"/>
              <a:cs typeface="+mn-cs"/>
            </a:endParaRPr>
          </a:p>
        </p:txBody>
      </p:sp>
      <p:sp>
        <p:nvSpPr>
          <p:cNvPr id="21" name="제목 1">
            <a:extLst>
              <a:ext uri="{FF2B5EF4-FFF2-40B4-BE49-F238E27FC236}">
                <a16:creationId xmlns:a16="http://schemas.microsoft.com/office/drawing/2014/main" id="{C0D9776F-2AE1-4454-ACC0-82F199674207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136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23" name="내용 개체 틀 20">
            <a:extLst>
              <a:ext uri="{FF2B5EF4-FFF2-40B4-BE49-F238E27FC236}">
                <a16:creationId xmlns:a16="http://schemas.microsoft.com/office/drawing/2014/main" id="{9AE0949F-9E10-499B-AB69-F40DEC90B6D3}"/>
              </a:ext>
            </a:extLst>
          </p:cNvPr>
          <p:cNvSpPr txBox="1">
            <a:spLocks/>
          </p:cNvSpPr>
          <p:nvPr/>
        </p:nvSpPr>
        <p:spPr>
          <a:xfrm>
            <a:off x="5657412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DX-#10,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]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ADCD2D1-262D-49A0-9668-DA0460E03829}"/>
              </a:ext>
            </a:extLst>
          </p:cNvPr>
          <p:cNvSpPr/>
          <p:nvPr/>
        </p:nvSpPr>
        <p:spPr>
          <a:xfrm>
            <a:off x="7743264" y="1660731"/>
            <a:ext cx="850820" cy="19048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2" name="이등변 삼각형 21">
            <a:extLst>
              <a:ext uri="{FF2B5EF4-FFF2-40B4-BE49-F238E27FC236}">
                <a16:creationId xmlns:a16="http://schemas.microsoft.com/office/drawing/2014/main" id="{13CA3FF4-B9A6-48D4-A0DD-00D07E994FD6}"/>
              </a:ext>
            </a:extLst>
          </p:cNvPr>
          <p:cNvSpPr/>
          <p:nvPr/>
        </p:nvSpPr>
        <p:spPr>
          <a:xfrm rot="10800000">
            <a:off x="8484406" y="1557863"/>
            <a:ext cx="96435" cy="80245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1631553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67659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84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5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8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57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(W25)</a:t>
                      </a:r>
                      <a:endParaRPr lang="en-US" sz="900" b="1" i="0" u="none" strike="noStrike" baseline="0" noProof="0">
                        <a:solidFill>
                          <a:srgbClr val="FFFFFF"/>
                        </a:solidFill>
                        <a:effectLst/>
                        <a:latin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7436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GPU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서버도입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사용자 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VoE 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개선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해당 프로젝트 개발은 완료되었습니다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1414FE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1. FDM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도면관리시스템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2D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도면 다운로드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뷰어 기능 사용 중이나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3D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도면의 경우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뷰어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랜더링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속도가 오래 걸려 개선 필요하다는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VoE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접수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2. 3D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뷰어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S/W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업체 및 인프라팀 기술 검토 결과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서버 신규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GPU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도입 필요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/ GPU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서버 도입하여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3D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도면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랜더링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속도 향상하도록 개선방향 수립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설비 신규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증설 프로젝트 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협력사와 메일과 저장 매체를 통해 도면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문서를 받고 있지만 통합관리 시스템 부재로 기능개발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VoE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접수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2.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협력사와 프로젝트 진행 가능한 사외망을 구축하였고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도면 입수 프로세스에 대해서도 사용자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POC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를 통해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요건 확정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3. LGES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 담당자가 신규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증설 프로젝트를 생성하고 해당 프로젝트에 협력업체가 직접 자료유형 생성 및 도면 납품하도록 개선방향 수립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관리 기능 운영배포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(4/15)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하였으며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운영 통합테스트 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발견된 결함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건에 대해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Bug-fix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진행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.(~4/17)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설비전장기술팀 강모세님 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명에게 프로젝트 관리 기능 교육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.(4/21)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- 3D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뷰어 운영서버 테스트 및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GPU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서버 운영이관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완료보고 위한 산출물 점검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.(~4/24)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 기능에 대해 실제 사용자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추가 취합하였고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개선 요건들에 대해 구체화 진행 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.(~5/16)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HD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FA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기술팀 협력업체 문서 납품 위한 프로젝트관리 기능 교육 진행하였습니다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.(5/15)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공정별 설비기술팀 대상으로 시스템 신규 패치 기능에 대해 교육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.(5/21)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변경관리대장으로 접수되는 사용자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사항에 대해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CNS /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개발자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 PI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간 개선검토 회의 진행하였습니다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.(5/26)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금주 특이사항 없습니다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~‘25.04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윤영준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853658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도면관리시스템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(Factory Drawing Management)] FDM GPU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 서버 도입 및 사용자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VoE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개선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0F7FA1B-1601-4392-94EE-3F932A1E6890}"/>
              </a:ext>
            </a:extLst>
          </p:cNvPr>
          <p:cNvGraphicFramePr>
            <a:graphicFrameLocks noGrp="1"/>
          </p:cNvGraphicFramePr>
          <p:nvPr/>
        </p:nvGraphicFramePr>
        <p:xfrm>
          <a:off x="1692449" y="1317704"/>
          <a:ext cx="6829811" cy="548040"/>
        </p:xfrm>
        <a:graphic>
          <a:graphicData uri="http://schemas.openxmlformats.org/drawingml/2006/table">
            <a:tbl>
              <a:tblPr/>
              <a:tblGrid>
                <a:gridCol w="687976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877405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877405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77405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77405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877405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877405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  <a:gridCol w="877405">
                  <a:extLst>
                    <a:ext uri="{9D8B030D-6E8A-4147-A177-3AD203B41FA5}">
                      <a16:colId xmlns:a16="http://schemas.microsoft.com/office/drawing/2014/main" val="634563127"/>
                    </a:ext>
                  </a:extLst>
                </a:gridCol>
              </a:tblGrid>
              <a:tr h="18268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8268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사양 검토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구매요청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발주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서버입고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GPU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전환테스트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GPU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안정화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8268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GPU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서버도입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‘24.11.08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‘24.12.06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‘24.12.13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‘25.03.14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‘25.03.17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‘25.04.04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‘25.04.30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pic>
        <p:nvPicPr>
          <p:cNvPr id="21" name="그림 20">
            <a:extLst>
              <a:ext uri="{FF2B5EF4-FFF2-40B4-BE49-F238E27FC236}">
                <a16:creationId xmlns:a16="http://schemas.microsoft.com/office/drawing/2014/main" id="{751EFF5A-ACC8-4DB4-A4FD-922AED6702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92182" y="2434381"/>
            <a:ext cx="2721824" cy="1250607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A1D3CE6-478F-4789-8384-0E192949E0D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00702" y="2434383"/>
            <a:ext cx="2721824" cy="1251792"/>
          </a:xfrm>
          <a:prstGeom prst="rect">
            <a:avLst/>
          </a:prstGeom>
        </p:spPr>
      </p:pic>
      <p:sp>
        <p:nvSpPr>
          <p:cNvPr id="22" name="화살표: 오른쪽 21">
            <a:extLst>
              <a:ext uri="{FF2B5EF4-FFF2-40B4-BE49-F238E27FC236}">
                <a16:creationId xmlns:a16="http://schemas.microsoft.com/office/drawing/2014/main" id="{29052E4C-5EBC-46A0-9C97-9E305DB885E5}"/>
              </a:ext>
            </a:extLst>
          </p:cNvPr>
          <p:cNvSpPr/>
          <p:nvPr/>
        </p:nvSpPr>
        <p:spPr>
          <a:xfrm>
            <a:off x="4741581" y="3029166"/>
            <a:ext cx="731546" cy="215444"/>
          </a:xfrm>
          <a:prstGeom prst="rightArrow">
            <a:avLst/>
          </a:prstGeom>
          <a:solidFill>
            <a:schemeClr val="bg1">
              <a:lumMod val="6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3396DC1-AAB3-4B36-8C75-20B9E24ABFEC}"/>
              </a:ext>
            </a:extLst>
          </p:cNvPr>
          <p:cNvSpPr/>
          <p:nvPr/>
        </p:nvSpPr>
        <p:spPr>
          <a:xfrm>
            <a:off x="2610822" y="3684989"/>
            <a:ext cx="121058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기존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2D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도면 뷰어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4D48A0C-759C-45D6-BD0E-BC7CFEC568D9}"/>
              </a:ext>
            </a:extLst>
          </p:cNvPr>
          <p:cNvSpPr/>
          <p:nvPr/>
        </p:nvSpPr>
        <p:spPr>
          <a:xfrm>
            <a:off x="6383680" y="3684989"/>
            <a:ext cx="148149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변경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: 3D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+mn-cs"/>
              </a:rPr>
              <a:t>도면 뷰어 추가</a:t>
            </a:r>
          </a:p>
        </p:txBody>
      </p:sp>
      <p:sp>
        <p:nvSpPr>
          <p:cNvPr id="19" name="이등변 삼각형 18">
            <a:extLst>
              <a:ext uri="{FF2B5EF4-FFF2-40B4-BE49-F238E27FC236}">
                <a16:creationId xmlns:a16="http://schemas.microsoft.com/office/drawing/2014/main" id="{EF016BDC-4A93-42AE-8628-02DF6FF25DC4}"/>
              </a:ext>
            </a:extLst>
          </p:cNvPr>
          <p:cNvSpPr/>
          <p:nvPr/>
        </p:nvSpPr>
        <p:spPr>
          <a:xfrm rot="10800000">
            <a:off x="8379657" y="1588207"/>
            <a:ext cx="142603" cy="80245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036641D-243A-4356-A407-BBDFD62C414D}"/>
              </a:ext>
            </a:extLst>
          </p:cNvPr>
          <p:cNvSpPr/>
          <p:nvPr/>
        </p:nvSpPr>
        <p:spPr>
          <a:xfrm>
            <a:off x="4036945" y="474219"/>
            <a:ext cx="3817770" cy="130381"/>
          </a:xfrm>
          <a:prstGeom prst="rect">
            <a:avLst/>
          </a:prstGeom>
          <a:noFill/>
        </p:spPr>
        <p:txBody>
          <a:bodyPr wrap="square" lIns="0" tIns="3600" rIns="0" bIns="3600" anchor="ctr" anchorCtr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※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프로젝트 기간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LG스마트체2.0 Regular" panose="020B0600000101010101" pitchFamily="50" charset="-127"/>
                <a:ea typeface="LG스마트체2.0 Regular" panose="020B0600000101010101" pitchFamily="50" charset="-127"/>
                <a:cs typeface="+mn-cs"/>
              </a:rPr>
              <a:t>: ‘24.11~’25.04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LG스마트체2.0 Regular" panose="020B0600000101010101" pitchFamily="50" charset="-127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1507CEB-8401-4DA8-AD79-2D608EE6789C}"/>
              </a:ext>
            </a:extLst>
          </p:cNvPr>
          <p:cNvSpPr txBox="1"/>
          <p:nvPr/>
        </p:nvSpPr>
        <p:spPr>
          <a:xfrm>
            <a:off x="7899480" y="445376"/>
            <a:ext cx="186589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: 06/18(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24" name="내용 개체 틀 20">
            <a:extLst>
              <a:ext uri="{FF2B5EF4-FFF2-40B4-BE49-F238E27FC236}">
                <a16:creationId xmlns:a16="http://schemas.microsoft.com/office/drawing/2014/main" id="{22607CDE-39B8-44C5-A0B3-A3C9235E136C}"/>
              </a:ext>
            </a:extLst>
          </p:cNvPr>
          <p:cNvSpPr txBox="1">
            <a:spLocks/>
          </p:cNvSpPr>
          <p:nvPr/>
        </p:nvSpPr>
        <p:spPr>
          <a:xfrm>
            <a:off x="8712202" y="249721"/>
            <a:ext cx="1053173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윤영준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6" name="제목 1">
            <a:extLst>
              <a:ext uri="{FF2B5EF4-FFF2-40B4-BE49-F238E27FC236}">
                <a16:creationId xmlns:a16="http://schemas.microsoft.com/office/drawing/2014/main" id="{F66776B2-42AE-45AE-B85F-10CA3E6680F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136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47147082-8399-48E7-BDFB-3216131FCFB1}"/>
              </a:ext>
            </a:extLst>
          </p:cNvPr>
          <p:cNvGraphicFramePr>
            <a:graphicFrameLocks noGrp="1"/>
          </p:cNvGraphicFramePr>
          <p:nvPr/>
        </p:nvGraphicFramePr>
        <p:xfrm>
          <a:off x="1692449" y="3922337"/>
          <a:ext cx="6829811" cy="577215"/>
        </p:xfrm>
        <a:graphic>
          <a:graphicData uri="http://schemas.openxmlformats.org/drawingml/2006/table">
            <a:tbl>
              <a:tblPr/>
              <a:tblGrid>
                <a:gridCol w="684245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869054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869054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931242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69054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869054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869054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  <a:gridCol w="869054">
                  <a:extLst>
                    <a:ext uri="{9D8B030D-6E8A-4147-A177-3AD203B41FA5}">
                      <a16:colId xmlns:a16="http://schemas.microsoft.com/office/drawing/2014/main" val="634563127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투자심의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집행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프로그램 분석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설계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단위테스트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통합테스트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운영적용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836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프로젝트 관리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사용자 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VoE)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‘24.11.06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‘24.12.02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‘24.12.13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‘24.02.14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25.03.14</a:t>
                      </a: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‘25.03.31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’25.04.15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29" name="이등변 삼각형 28">
            <a:extLst>
              <a:ext uri="{FF2B5EF4-FFF2-40B4-BE49-F238E27FC236}">
                <a16:creationId xmlns:a16="http://schemas.microsoft.com/office/drawing/2014/main" id="{C9B126C8-9825-4729-80A9-B898B375228F}"/>
              </a:ext>
            </a:extLst>
          </p:cNvPr>
          <p:cNvSpPr/>
          <p:nvPr/>
        </p:nvSpPr>
        <p:spPr>
          <a:xfrm rot="10800000">
            <a:off x="8379657" y="4118823"/>
            <a:ext cx="142603" cy="80245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20" name="내용 개체 틀 20">
            <a:extLst>
              <a:ext uri="{FF2B5EF4-FFF2-40B4-BE49-F238E27FC236}">
                <a16:creationId xmlns:a16="http://schemas.microsoft.com/office/drawing/2014/main" id="{9D12E66B-F0DA-4F32-BB62-EED58B0291EC}"/>
              </a:ext>
            </a:extLst>
          </p:cNvPr>
          <p:cNvSpPr txBox="1">
            <a:spLocks/>
          </p:cNvSpPr>
          <p:nvPr/>
        </p:nvSpPr>
        <p:spPr>
          <a:xfrm>
            <a:off x="5692182" y="455191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DX-#11,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]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EDDDB7B-8E92-4F19-A643-68FEABC3758F}"/>
              </a:ext>
            </a:extLst>
          </p:cNvPr>
          <p:cNvSpPr/>
          <p:nvPr/>
        </p:nvSpPr>
        <p:spPr>
          <a:xfrm>
            <a:off x="7646359" y="1681359"/>
            <a:ext cx="875901" cy="18151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2D71B564-6741-4C62-9090-8DD7DF1D5DBF}"/>
              </a:ext>
            </a:extLst>
          </p:cNvPr>
          <p:cNvSpPr/>
          <p:nvPr/>
        </p:nvSpPr>
        <p:spPr>
          <a:xfrm>
            <a:off x="7633704" y="4211978"/>
            <a:ext cx="875901" cy="28757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66589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676596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584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5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8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57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 dirty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noProof="0" dirty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(W51)</a:t>
                      </a:r>
                      <a:endParaRPr lang="en-US" sz="900" b="1" i="0" u="none" strike="noStrike" baseline="0" noProof="0" dirty="0">
                        <a:solidFill>
                          <a:srgbClr val="FFFFFF"/>
                        </a:solidFill>
                        <a:effectLst/>
                        <a:latin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7436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FDM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도면관리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시스템 운영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[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설비제작사양서 관리 및 </a:t>
                      </a:r>
                      <a:r>
                        <a:rPr lang="en-US" altLang="ko-KR" sz="900" b="0" i="0" u="none" strike="noStrike" baseline="0" noProof="0" dirty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VoE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개선 고도화 과제</a:t>
                      </a:r>
                      <a:r>
                        <a:rPr lang="en-US" altLang="ko-KR" sz="900" b="0" i="0" u="none" strike="noStrike" baseline="0" noProof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noProof="0" dirty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진척현황 및 테스트 및 배포 일정에 대해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PI/CNS/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개발사 간 미팅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.(10/14)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시스템 신규 기능 패치 및 운영배포 완료하였으며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사용자 교육 및 매뉴얼도 현업 공유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완료보고 진행하였고 자산대체 및 프로젝트 산출물 점검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QA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산출물 점검 및 취약점 점검 완료하였으며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잔금검수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결재 진행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시스템 오픈 이후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접수된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사항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반려문서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반려 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첨부문서 구분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설비폴더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검색 기능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에 대해 분석 및 설계 완료하였고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CNS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임시정책임 외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명과 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적용 일정수립까지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.(~10/29)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해당 프로젝트 개발은 완료되었습니다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 dirty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[FDM </a:t>
                      </a:r>
                      <a:r>
                        <a:rPr lang="ko-KR" altLang="en-US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도면관리시스템 운영</a:t>
                      </a:r>
                      <a:r>
                        <a:rPr lang="en-US" altLang="ko-KR" sz="900" b="0" i="0" u="none" strike="noStrike" kern="1200" baseline="0" noProof="0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FA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물류설비 도면 등록 관련하여 자동차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FA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팀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정광명님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물류자동화팀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이지우님에게 시스템 교육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오창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동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H52A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Tabless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모델 도면 및 자료 등록 관련하여 원통형 조립설비기술팀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김문박님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포함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명에게 시스템 교육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FA.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물류자동화팀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임준형님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자동차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Pack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설비기술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팀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김유익님에게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도면 등록 위한 시스템 교육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조립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활성화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모듈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/FA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표준설비제작사양서 시스템 등록 및 개정 진행 중이고 추가 접수된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사항 중 개발 완료된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권한신청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인터락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기능 등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에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대해 통합테스트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11/13(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목요일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운영 배포 및 운영환경 합동 점검 예정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(11/13)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표준설비제작사양서 개정요청 및 복수 권한관리 기능에 대해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Process Map Drawing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및 화면 정의 예정입니다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.(~11/15)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CPO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기획팀 및 각 기술그룹과 도면 업데이트 진행 중이고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’25.9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월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CPO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님 보고 대비 신규법인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(AZ, HG, HD, ST)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도면등록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설비군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44%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및 도면 등록 </a:t>
                      </a:r>
                      <a:b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종수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15,374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 증가되었습니다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.(11/12)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팩모듈기술팀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이병전책임과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협력업체 시스템 활용 및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건에 대해 회의 및 교육 진행하였습니다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.(11/14)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FDM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표준제작사양서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공통사양서 추가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사항 중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개선 완료된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건에 대해 현업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/PI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합동테스트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.(11/26)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└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설비자료관리 설비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ID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검색 기능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전장도면 복수 검도 기능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사양서 개정요청 화면 스크롤 기능</a:t>
                      </a:r>
                      <a:endParaRPr kumimoji="0" lang="en-US" altLang="ko-KR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FDM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추가 </a:t>
                      </a:r>
                      <a:r>
                        <a:rPr kumimoji="0" lang="en-US" altLang="ko-KR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개선 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건에 대해 운영환경 배포 및 모니터링 완료하였고 특이사항 없습니다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.(~12/04)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소형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FA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팀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Pack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제어기술팀 신규 인원들에게 시스템 모듈별 기능 교육 및 협력업체 입수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배포 프로세스에 대해 교육 완료하였습니다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.(12/09)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AZ / HG / HD / ST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 설비도면 시스템에 도면 업로드 진행 중에 있습니다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지속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금주 특이사항 없습니다</a:t>
                      </a: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1414FE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~‘25.12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윤영준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S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853658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도면관리시스템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(Factory Drawing Management)]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 panose="020B0502040204020203" pitchFamily="50" charset="-127"/>
              </a:rPr>
              <a:t>시스템 운영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1507CEB-8401-4DA8-AD79-2D608EE6789C}"/>
              </a:ext>
            </a:extLst>
          </p:cNvPr>
          <p:cNvSpPr txBox="1"/>
          <p:nvPr/>
        </p:nvSpPr>
        <p:spPr>
          <a:xfrm>
            <a:off x="7899480" y="646096"/>
            <a:ext cx="1865895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화</a:t>
            </a:r>
            <a:r>
              <a:rPr kumimoji="0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) 11</a:t>
            </a:r>
            <a:r>
              <a:rPr kumimoji="0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24" name="내용 개체 틀 20">
            <a:extLst>
              <a:ext uri="{FF2B5EF4-FFF2-40B4-BE49-F238E27FC236}">
                <a16:creationId xmlns:a16="http://schemas.microsoft.com/office/drawing/2014/main" id="{22607CDE-39B8-44C5-A0B3-A3C9235E136C}"/>
              </a:ext>
            </a:extLst>
          </p:cNvPr>
          <p:cNvSpPr txBox="1">
            <a:spLocks/>
          </p:cNvSpPr>
          <p:nvPr/>
        </p:nvSpPr>
        <p:spPr>
          <a:xfrm>
            <a:off x="8712202" y="450441"/>
            <a:ext cx="1053173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윤영준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S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G스마트체 Regular" panose="020B0600000101010101" pitchFamily="50" charset="-127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6" name="제목 1">
            <a:extLst>
              <a:ext uri="{FF2B5EF4-FFF2-40B4-BE49-F238E27FC236}">
                <a16:creationId xmlns:a16="http://schemas.microsoft.com/office/drawing/2014/main" id="{F66776B2-42AE-45AE-B85F-10CA3E6680FF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3121367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7" name="내용 개체 틀 20">
            <a:extLst>
              <a:ext uri="{FF2B5EF4-FFF2-40B4-BE49-F238E27FC236}">
                <a16:creationId xmlns:a16="http://schemas.microsoft.com/office/drawing/2014/main" id="{E70BDE04-153E-415E-A7C1-3F34B568F4C2}"/>
              </a:ext>
            </a:extLst>
          </p:cNvPr>
          <p:cNvSpPr txBox="1">
            <a:spLocks/>
          </p:cNvSpPr>
          <p:nvPr/>
        </p:nvSpPr>
        <p:spPr>
          <a:xfrm>
            <a:off x="5676534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DX-#15,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G스마트체 Regular"/>
                <a:ea typeface="LG스마트체 Regular"/>
                <a:cs typeface="Malgun Gothic Semilight"/>
              </a:rPr>
              <a:t>]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77AEE18-AD90-492B-96F3-B55296824C1A}"/>
              </a:ext>
            </a:extLst>
          </p:cNvPr>
          <p:cNvGraphicFramePr>
            <a:graphicFrameLocks noGrp="1"/>
          </p:cNvGraphicFramePr>
          <p:nvPr/>
        </p:nvGraphicFramePr>
        <p:xfrm>
          <a:off x="1692449" y="1337078"/>
          <a:ext cx="6853033" cy="666289"/>
        </p:xfrm>
        <a:graphic>
          <a:graphicData uri="http://schemas.openxmlformats.org/drawingml/2006/table">
            <a:tbl>
              <a:tblPr/>
              <a:tblGrid>
                <a:gridCol w="602596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765351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765351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92980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765351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765351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765351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  <a:gridCol w="765351">
                  <a:extLst>
                    <a:ext uri="{9D8B030D-6E8A-4147-A177-3AD203B41FA5}">
                      <a16:colId xmlns:a16="http://schemas.microsoft.com/office/drawing/2014/main" val="634563127"/>
                    </a:ext>
                  </a:extLst>
                </a:gridCol>
                <a:gridCol w="765351">
                  <a:extLst>
                    <a:ext uri="{9D8B030D-6E8A-4147-A177-3AD203B41FA5}">
                      <a16:colId xmlns:a16="http://schemas.microsoft.com/office/drawing/2014/main" val="47896977"/>
                    </a:ext>
                  </a:extLst>
                </a:gridCol>
              </a:tblGrid>
              <a:tr h="16932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6932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투자심의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집행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분석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설계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단위테스트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통합테스트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운영적용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품질 안정화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327647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사양서 관리</a:t>
                      </a:r>
                      <a:endParaRPr kumimoji="0" lang="en-US" altLang="ko-KR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기능개선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‘25.05.30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‘25.07.01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‘25.07.31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‘25.08.30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‘25.09.19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‘25.10.03</a:t>
                      </a: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‘25.10.17</a:t>
                      </a: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‘25.10.30</a:t>
                      </a: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4DCECE7F-BA0F-4AC7-99B4-B12A4FD04CBE}"/>
              </a:ext>
            </a:extLst>
          </p:cNvPr>
          <p:cNvSpPr/>
          <p:nvPr/>
        </p:nvSpPr>
        <p:spPr>
          <a:xfrm>
            <a:off x="7775838" y="1666875"/>
            <a:ext cx="767503" cy="33649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sp>
        <p:nvSpPr>
          <p:cNvPr id="10" name="이등변 삼각형 9">
            <a:extLst>
              <a:ext uri="{FF2B5EF4-FFF2-40B4-BE49-F238E27FC236}">
                <a16:creationId xmlns:a16="http://schemas.microsoft.com/office/drawing/2014/main" id="{B097146B-EAD7-4657-B058-4DCD51E0AFBE}"/>
              </a:ext>
            </a:extLst>
          </p:cNvPr>
          <p:cNvSpPr/>
          <p:nvPr/>
        </p:nvSpPr>
        <p:spPr>
          <a:xfrm rot="10800000">
            <a:off x="8412828" y="1585536"/>
            <a:ext cx="96435" cy="80245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D5707555-44DF-9955-A525-3D12913491F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2449" y="4564325"/>
            <a:ext cx="4394315" cy="769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9311084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392604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05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(W14)</a:t>
                      </a:r>
                      <a:endParaRPr lang="en-US" sz="900" b="1" i="0" u="none" strike="noStrike" baseline="0" noProof="0">
                        <a:solidFill>
                          <a:srgbClr val="FFFFFF"/>
                        </a:solidFill>
                        <a:effectLst/>
                        <a:latin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 panose="020B0600000101010101" pitchFamily="50" charset="-127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3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프로젝트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진척관리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,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 매각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폐기</a:t>
                      </a:r>
                      <a:r>
                        <a:rPr lang="en-US" altLang="ko-KR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, UT Matrix </a:t>
                      </a: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고도화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[W14]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본 고도화 개발은 검수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(3/26)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와 함께 완료되었습니다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배경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1. </a:t>
                      </a:r>
                      <a:r>
                        <a:rPr lang="ko-KR" altLang="en-US" sz="900" b="0" kern="0" err="1">
                          <a:latin typeface="LG스마트체 Regular"/>
                          <a:ea typeface="LG스마트체 Regular"/>
                          <a:cs typeface="Arial"/>
                        </a:rPr>
                        <a:t>법인별</a:t>
                      </a:r>
                      <a:r>
                        <a:rPr lang="ko-KR" altLang="en-US" sz="900" b="0" kern="0">
                          <a:latin typeface="LG스마트체 Regular"/>
                          <a:ea typeface="LG스마트체 Regular"/>
                          <a:cs typeface="Arial"/>
                        </a:rPr>
                        <a:t> 신규라인 증설 업무 시</a:t>
                      </a:r>
                      <a:r>
                        <a:rPr lang="en-US" altLang="ko-KR" sz="900" b="0" kern="0">
                          <a:latin typeface="LG스마트체 Regular"/>
                          <a:ea typeface="LG스마트체 Regular"/>
                          <a:cs typeface="Arial"/>
                        </a:rPr>
                        <a:t>, </a:t>
                      </a:r>
                      <a:r>
                        <a:rPr lang="ko-KR" altLang="en-US" sz="900" b="0" kern="0">
                          <a:latin typeface="LG스마트체 Regular"/>
                          <a:ea typeface="LG스마트체 Regular"/>
                          <a:cs typeface="Arial"/>
                        </a:rPr>
                        <a:t>이벤트별 일정을 수기로 관리하고 메일로 개별 </a:t>
                      </a:r>
                      <a:r>
                        <a:rPr lang="ko-KR" altLang="en-US" sz="900" b="0" kern="0" err="1">
                          <a:latin typeface="LG스마트체 Regular"/>
                          <a:ea typeface="LG스마트체 Regular"/>
                          <a:cs typeface="Arial"/>
                        </a:rPr>
                        <a:t>취합하다보니</a:t>
                      </a:r>
                      <a:r>
                        <a:rPr lang="ko-KR" altLang="en-US" sz="900" b="0" kern="0">
                          <a:latin typeface="LG스마트체 Regular"/>
                          <a:ea typeface="LG스마트체 Regular"/>
                          <a:cs typeface="Arial"/>
                        </a:rPr>
                        <a:t> 업무 누락 및 일정 지연이 발생</a:t>
                      </a:r>
                      <a:endParaRPr lang="en-US" altLang="ko-KR" sz="900" b="0" kern="0">
                        <a:latin typeface="LG스마트체 Regular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ko-KR" altLang="en-US" sz="900" b="0" kern="0">
                          <a:latin typeface="LG스마트체 Regular" panose="020B0600000101010101" pitchFamily="50" charset="-127"/>
                          <a:ea typeface="LG스마트체 Regular"/>
                          <a:cs typeface="Arial"/>
                        </a:rPr>
                        <a:t>▷ 개선 방안 </a:t>
                      </a:r>
                      <a:r>
                        <a:rPr lang="en-US" altLang="ko-KR" sz="900" b="0" kern="0">
                          <a:latin typeface="LG스마트체 Regular" panose="020B0600000101010101" pitchFamily="50" charset="-127"/>
                          <a:ea typeface="LG스마트체 Regular"/>
                          <a:cs typeface="Arial"/>
                        </a:rPr>
                        <a:t>: </a:t>
                      </a:r>
                      <a:r>
                        <a:rPr lang="ko-KR" altLang="en-US" sz="900" b="0" kern="0">
                          <a:latin typeface="LG스마트체 Regular" panose="020B0600000101010101" pitchFamily="50" charset="-127"/>
                          <a:ea typeface="LG스마트체 Regular"/>
                          <a:cs typeface="Arial"/>
                        </a:rPr>
                        <a:t>설비 </a:t>
                      </a:r>
                      <a:r>
                        <a:rPr lang="en-US" altLang="ko-KR" sz="900" b="0" kern="0">
                          <a:latin typeface="LG스마트체 Regular" panose="020B0600000101010101" pitchFamily="50" charset="-127"/>
                          <a:ea typeface="LG스마트체 Regular"/>
                          <a:cs typeface="Arial"/>
                        </a:rPr>
                        <a:t>Set-up </a:t>
                      </a:r>
                      <a:r>
                        <a:rPr lang="ko-KR" altLang="en-US" sz="900" b="0" kern="0">
                          <a:latin typeface="LG스마트체 Regular" panose="020B0600000101010101" pitchFamily="50" charset="-127"/>
                          <a:ea typeface="LG스마트체 Regular"/>
                          <a:cs typeface="Arial"/>
                        </a:rPr>
                        <a:t>일정관리 기능을 통해 이벤트별 일정과 담당자별 진척 실적을 시스템으로 관리하여 업무 누락 및 일정 지연 방지</a:t>
                      </a:r>
                      <a:endParaRPr lang="en-US" altLang="ko-KR" sz="900" b="0" kern="0">
                        <a:latin typeface="LG스마트체 Regular" panose="020B0600000101010101" pitchFamily="50" charset="-127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2.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법인별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불용자산 발생 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해당 자산에 대한 활용의사가 수작업으로 진행되어 요청 이력이 남지 않고 검토 현황 파악이 어려움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▷ 개선 방안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kern="0">
                          <a:latin typeface="LG스마트체 Regular" panose="020B0600000101010101" pitchFamily="50" charset="-127"/>
                          <a:ea typeface="LG스마트체 Regular"/>
                          <a:cs typeface="Arial"/>
                        </a:rPr>
                        <a:t>불용자산 매각관리 기능 구축을 통해 요청 이력을 남기고 검토 현황을 파악할 수 있어 전 법인 수요 </a:t>
                      </a:r>
                      <a:r>
                        <a:rPr lang="en-US" altLang="ko-KR" sz="900" b="0" kern="0">
                          <a:latin typeface="LG스마트체 Regular" panose="020B0600000101010101" pitchFamily="50" charset="-127"/>
                          <a:ea typeface="LG스마트체 Regular"/>
                          <a:cs typeface="Arial"/>
                        </a:rPr>
                        <a:t>Pool</a:t>
                      </a:r>
                      <a:r>
                        <a:rPr lang="ko-KR" altLang="en-US" sz="900" b="0" kern="0">
                          <a:latin typeface="LG스마트체 Regular" panose="020B0600000101010101" pitchFamily="50" charset="-127"/>
                          <a:ea typeface="LG스마트체 Regular"/>
                          <a:cs typeface="Arial"/>
                        </a:rPr>
                        <a:t> 확대 및 설비 투자비 절감 가능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LG스마트체 Regular"/>
                        <a:cs typeface="Arial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3. </a:t>
                      </a:r>
                      <a:r>
                        <a:rPr lang="ko-KR" altLang="en-US" sz="900" b="0" kern="0">
                          <a:latin typeface="LG스마트체 Regular"/>
                          <a:ea typeface="LG스마트체 Regular"/>
                          <a:cs typeface="Arial"/>
                        </a:rPr>
                        <a:t>기술센터별 유틸리티 설비 명칭과 사용량이 표준화 되지 않아 </a:t>
                      </a:r>
                      <a:r>
                        <a:rPr lang="en-US" altLang="ko-KR" sz="900" b="0" kern="0">
                          <a:latin typeface="LG스마트체 Regular"/>
                          <a:ea typeface="LG스마트체 Regular"/>
                          <a:cs typeface="Arial"/>
                        </a:rPr>
                        <a:t>UT Matrix</a:t>
                      </a:r>
                      <a:r>
                        <a:rPr lang="ko-KR" altLang="en-US" sz="900" b="0" kern="0">
                          <a:latin typeface="LG스마트체 Regular"/>
                          <a:ea typeface="LG스마트체 Regular"/>
                          <a:cs typeface="Arial"/>
                        </a:rPr>
                        <a:t>를 취합하고 관리하는데 있어 어려움이 있음</a:t>
                      </a:r>
                      <a:endParaRPr lang="en-US" altLang="ko-KR" sz="900" b="0" kern="0">
                        <a:latin typeface="LG스마트체 Regular"/>
                        <a:ea typeface="LG스마트체 Regular" panose="020B0600000101010101" pitchFamily="50" charset="-127"/>
                        <a:cs typeface="Arial" pitchFamily="34" charset="0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▷ 개선 방안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900" b="0" kern="0">
                          <a:latin typeface="LG스마트체 Regular"/>
                          <a:ea typeface="LG스마트체 Regular"/>
                          <a:cs typeface="Arial"/>
                        </a:rPr>
                        <a:t>각 기술센터별 유틸리티 설비 명칭과 사용량을 표준화하고 이를 </a:t>
                      </a:r>
                      <a:r>
                        <a:rPr lang="ko-KR" altLang="en-US" sz="900" b="0" kern="0" err="1">
                          <a:latin typeface="LG스마트체 Regular"/>
                          <a:ea typeface="LG스마트체 Regular"/>
                          <a:cs typeface="Arial"/>
                        </a:rPr>
                        <a:t>코드화한</a:t>
                      </a:r>
                      <a:r>
                        <a:rPr lang="ko-KR" altLang="en-US" sz="900" b="0" kern="0">
                          <a:latin typeface="LG스마트체 Regular"/>
                          <a:ea typeface="LG스마트체 Regular"/>
                          <a:cs typeface="Arial"/>
                        </a:rPr>
                        <a:t> 표준 </a:t>
                      </a:r>
                      <a:r>
                        <a:rPr lang="en-US" altLang="ko-KR" sz="900" b="0" kern="0">
                          <a:latin typeface="LG스마트체 Regular"/>
                          <a:ea typeface="LG스마트체 Regular"/>
                          <a:cs typeface="Arial"/>
                        </a:rPr>
                        <a:t>Library</a:t>
                      </a:r>
                      <a:r>
                        <a:rPr lang="ko-KR" altLang="en-US" sz="900" b="0" kern="0">
                          <a:latin typeface="LG스마트체 Regular"/>
                          <a:ea typeface="LG스마트체 Regular"/>
                          <a:cs typeface="Arial"/>
                        </a:rPr>
                        <a:t> 기능을 구축하여 체계적으로 관리 가능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LG스마트체 Regular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진행사항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프로젝트 진척관리 개발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진척률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100%(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 매각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폐기 개발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진척률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100%(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), UT matrix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고도화 개발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진척률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100%(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 프로젝트 진척관리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매각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폐기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기능 개발완료 건에 대해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PI/CNS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합동 단위 테스트 진행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.(2/7)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UT Matrix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표준설비코드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공정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세부공정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/Main/Machine)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에 대해 유틸리티기술팀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김중열님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인 과 표준화 진행완료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.(2/12)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ELM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 매각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폐기 신규 기능에 대해 해외법인지원팀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김효상님외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명과 통합테스트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.(2/21)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ELM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진척관리 신규 기능에 대해 고객가치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팀 박지현님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배진혁님과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통합테스트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.(2/24)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고도화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전체 개발 내용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진척관리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 매각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폐기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UT Matrix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고도화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을 운영서버에 적용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.(3/11)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VOE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청취 및 개선을 병행하여 운영서버에 적용을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(3/17)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프로젝트 진척관리를 진행할 관리자와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담당자역할 선정을 위해 회의를 진행하였으나 불명확한 결론으로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PO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부서의 의사결정을 대기중입니다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.(3/18)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고도화 개발프로젝트를 마무리하고 있으며 완료보고를 통하여 프로젝트를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.(3/20)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최종 잔금 검수 프로세스를 진행중이며 프로젝트를 종료할 예정입니다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.(3/26)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~‘25.03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김정호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042599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설비라이프사이클관리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(Equipment Lifecycle Management)] ELM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프로젝트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진척관리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,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설비 매각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/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폐기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, UT Matrix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고도화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221A202A-5E3D-4729-BA96-18DF2C6B0BC2}"/>
              </a:ext>
            </a:extLst>
          </p:cNvPr>
          <p:cNvGraphicFramePr>
            <a:graphicFrameLocks noGrp="1"/>
          </p:cNvGraphicFramePr>
          <p:nvPr/>
        </p:nvGraphicFramePr>
        <p:xfrm>
          <a:off x="1692449" y="1327268"/>
          <a:ext cx="6930637" cy="1032267"/>
        </p:xfrm>
        <a:graphic>
          <a:graphicData uri="http://schemas.openxmlformats.org/drawingml/2006/table">
            <a:tbl>
              <a:tblPr/>
              <a:tblGrid>
                <a:gridCol w="872409">
                  <a:extLst>
                    <a:ext uri="{9D8B030D-6E8A-4147-A177-3AD203B41FA5}">
                      <a16:colId xmlns:a16="http://schemas.microsoft.com/office/drawing/2014/main" val="404094998"/>
                    </a:ext>
                  </a:extLst>
                </a:gridCol>
                <a:gridCol w="734644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734644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915720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734644">
                  <a:extLst>
                    <a:ext uri="{9D8B030D-6E8A-4147-A177-3AD203B41FA5}">
                      <a16:colId xmlns:a16="http://schemas.microsoft.com/office/drawing/2014/main" val="3474725826"/>
                    </a:ext>
                  </a:extLst>
                </a:gridCol>
                <a:gridCol w="734644">
                  <a:extLst>
                    <a:ext uri="{9D8B030D-6E8A-4147-A177-3AD203B41FA5}">
                      <a16:colId xmlns:a16="http://schemas.microsoft.com/office/drawing/2014/main" val="2261928765"/>
                    </a:ext>
                  </a:extLst>
                </a:gridCol>
                <a:gridCol w="734644">
                  <a:extLst>
                    <a:ext uri="{9D8B030D-6E8A-4147-A177-3AD203B41FA5}">
                      <a16:colId xmlns:a16="http://schemas.microsoft.com/office/drawing/2014/main" val="1939774649"/>
                    </a:ext>
                  </a:extLst>
                </a:gridCol>
                <a:gridCol w="734644">
                  <a:extLst>
                    <a:ext uri="{9D8B030D-6E8A-4147-A177-3AD203B41FA5}">
                      <a16:colId xmlns:a16="http://schemas.microsoft.com/office/drawing/2014/main" val="634563127"/>
                    </a:ext>
                  </a:extLst>
                </a:gridCol>
                <a:gridCol w="734644">
                  <a:extLst>
                    <a:ext uri="{9D8B030D-6E8A-4147-A177-3AD203B41FA5}">
                      <a16:colId xmlns:a16="http://schemas.microsoft.com/office/drawing/2014/main" val="1069212182"/>
                    </a:ext>
                  </a:extLst>
                </a:gridCol>
              </a:tblGrid>
              <a:tr h="19358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진행 계획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9358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컨셉 검토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투자심의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집행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프로그램 분석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설계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단위테스트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통합테스트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운영적용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품질 안정화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215035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프로젝트 진척관리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‘24.10.15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‘24.10.29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’24.11.22</a:t>
                      </a: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‘25.01.24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’25.02.14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‘25.02.24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‘25.03.11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-4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‘25.03.28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  <a:tr h="215035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설비 매각</a:t>
                      </a:r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폐기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‘24.10.18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3906801"/>
                  </a:ext>
                </a:extLst>
              </a:tr>
              <a:tr h="215035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UT Matrix </a:t>
                      </a:r>
                      <a:r>
                        <a:rPr kumimoji="0" lang="ko-KR" altLang="en-US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고도화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9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‘24.10.10</a:t>
                      </a:r>
                      <a:endParaRPr kumimoji="0" lang="ko-KR" altLang="en-US" sz="9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-40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0075434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1468BB52-3902-4524-A3E3-FECC1EA8F24E}"/>
              </a:ext>
            </a:extLst>
          </p:cNvPr>
          <p:cNvSpPr/>
          <p:nvPr/>
        </p:nvSpPr>
        <p:spPr>
          <a:xfrm>
            <a:off x="3848003" y="463563"/>
            <a:ext cx="3817770" cy="130381"/>
          </a:xfrm>
          <a:prstGeom prst="rect">
            <a:avLst/>
          </a:prstGeom>
          <a:noFill/>
        </p:spPr>
        <p:txBody>
          <a:bodyPr wrap="square" lIns="0" tIns="3600" rIns="0" bIns="3600" anchor="ctr" anchorCtr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+mn-cs"/>
              </a:rPr>
              <a:t>※ 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+mn-cs"/>
              </a:rPr>
              <a:t>프로젝트 기간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Arial Narrow"/>
                <a:ea typeface="LG스마트체2.0 Regular" panose="020B0600000101010101" pitchFamily="50" charset="-127"/>
                <a:cs typeface="+mn-cs"/>
              </a:rPr>
              <a:t>: ‘24.10~’25.03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Arial Narrow"/>
              <a:ea typeface="LG스마트체2.0 Regular" panose="020B0600000101010101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CF60D0-E486-438A-84D2-1907E113A4D4}"/>
              </a:ext>
            </a:extLst>
          </p:cNvPr>
          <p:cNvSpPr txBox="1"/>
          <p:nvPr/>
        </p:nvSpPr>
        <p:spPr>
          <a:xfrm>
            <a:off x="8111076" y="379121"/>
            <a:ext cx="16542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04/09(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10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D7F3EE43-2059-42CA-AF63-CEB4CAB6440D}"/>
              </a:ext>
            </a:extLst>
          </p:cNvPr>
          <p:cNvSpPr txBox="1">
            <a:spLocks/>
          </p:cNvSpPr>
          <p:nvPr/>
        </p:nvSpPr>
        <p:spPr>
          <a:xfrm>
            <a:off x="8821206" y="183466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김정호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5" name="제목 1">
            <a:extLst>
              <a:ext uri="{FF2B5EF4-FFF2-40B4-BE49-F238E27FC236}">
                <a16:creationId xmlns:a16="http://schemas.microsoft.com/office/drawing/2014/main" id="{D16454A7-267F-407F-8498-09F5DC8EC23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16" name="내용 개체 틀 20">
            <a:extLst>
              <a:ext uri="{FF2B5EF4-FFF2-40B4-BE49-F238E27FC236}">
                <a16:creationId xmlns:a16="http://schemas.microsoft.com/office/drawing/2014/main" id="{C4C8662C-EBAD-4BB7-BAFC-1C3FB9BF0FF0}"/>
              </a:ext>
            </a:extLst>
          </p:cNvPr>
          <p:cNvSpPr txBox="1">
            <a:spLocks/>
          </p:cNvSpPr>
          <p:nvPr/>
        </p:nvSpPr>
        <p:spPr>
          <a:xfrm>
            <a:off x="5677822" y="391283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DX-#12,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6491E77-4D98-4EB6-9EC5-AE0F3333AD88}"/>
              </a:ext>
            </a:extLst>
          </p:cNvPr>
          <p:cNvSpPr/>
          <p:nvPr/>
        </p:nvSpPr>
        <p:spPr>
          <a:xfrm>
            <a:off x="7899480" y="1509204"/>
            <a:ext cx="723606" cy="85033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LG스마트체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0005048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57539"/>
          <a:ext cx="9644176" cy="76878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05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(W50)</a:t>
                      </a:r>
                      <a:endParaRPr lang="en-US" sz="900" b="1" i="0" u="none" strike="noStrike" baseline="0" noProof="0">
                        <a:solidFill>
                          <a:srgbClr val="FFFFFF"/>
                        </a:solidFill>
                        <a:effectLst/>
                        <a:latin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3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설비라이프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사이클관리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시스템 운영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[ELM 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설비변경점 및 수평전개 기능 구축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전극기술표준화팀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박산님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외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명과 설비변경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수평전개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Process Map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을 구체화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.(03/11) </a:t>
                      </a:r>
                      <a:b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</a:b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- 4MCC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시스템과의 연계를 위해 인터페이스 논의를 진행하였으며 기능 고도화에 필요한 항목 및 비용검토를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총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3.6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억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(04/08)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개발을 완료하여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자테스트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오류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), PI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테스트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오류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를 완료하였으며 사용법에 대해 교육을 진행하였습니다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 (08/22)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교육 및 시연을 통해 추가 현업 사용자 테스트를 진행하였고 운영오픈 전 추가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접수 받아 개선사항들을 반영하였습니다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.(09/05)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*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주요개선 사항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리스트 조회조건 변경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화면별 초기 설정 및 로직 변경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번역오류 수정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단계별 가이드 안내 추가 및 시인성 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팝업오류 수정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설비레벨 조회 단위 수정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엑셀 다운로드 화면 및 항목 수정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즐겨찾기 설정 개편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상태별 권한별 오류 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비대상 법인 표기 삭제개선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메일링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수신 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설비변경점 및 수평전개 기능 구축 프로젝트를 완료보고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(09/22)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를 마쳤으며 </a:t>
                      </a:r>
                      <a:r>
                        <a:rPr lang="ko-KR" altLang="en-US" sz="900" b="0" i="0" u="none" strike="noStrike" kern="1200" baseline="0" noProof="0" err="1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잔금검수를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 통해 프로젝트를 종료하였습니다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.(09/24)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잔여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VOE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사항에 대해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 반영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(09/24), 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 반영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(10/01)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으로 완료하였으며 지속적으로 추가 운영 업데이트를 진행하고 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설비변경점의 사용현황은 총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건의 변경점이 등록되어 전극분과위를 통해 수평전개 확산 논의를 진행하고 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.(10/29)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NND Tab Press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하부롤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교체 개선 변경이 수평전개 대상으로 결정되어 해당법인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(WA,HM,MI,GM,NA)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에서 상세검토를 진행중입니다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.(11/07)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설비변경점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VOE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(Fast-Track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진행시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편의기능 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제작사양서요청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예외처리 반영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영역별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탭진입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들을 적용하였습니다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.(12/02)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운영중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발생한 오류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대시보드 표기오류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화면 확대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축소시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영역깨짐현상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설정값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강제 초기화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들을 일괄 적용하여 배포하였습니다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.(12/09)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[ELM UT Matrix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기능고도화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UT Matrix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를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실무에 적용하고 있으며 반영된 프로젝트는 다음과 같습니다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.(WA1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각형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원통형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,AZ1,GM2,MIL)(25.01~)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EUM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시스템 담당자들과 전기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기계파트의 전력연계 사항에 대해 송수신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Data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내용을 확정하였고 반영 가능 여부를 협의완료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.(07/23)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AR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설비기술팀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(17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을 대상으로 각형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 프로젝트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(MIL,GM2,WA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각형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UT Matrix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적용을 위한 사용자 설명회를 진행하였습니다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.(07/24)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UT Matrix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합산시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소수점 유효숫자로 인한 오차가 발생하여 작성 및 합계 기준에 대한 논의를 진행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유효숫자 소수점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자리 단일화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.(09/24)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표준설비코드를 운영하며 시행착오를 겪은 코드들에 대해 유틸리티기술팀과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전량점검하여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차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(10/01),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차 반영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(10/15)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UT Matrix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기능고도화 부분이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개발완료되어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PI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테스트를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(10/28)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하였으며 현업 사용자테스트 및 사용자 개선사항을 반영하였습니다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(11/07)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*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주요개선 사항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병렬합의 결재기능 반영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EUM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실전력데이터 비교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기계전기영역 용량별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수용률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작성알림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추가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그리드 작성영역 확장 및 선택보기 적용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UT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Matrix VOE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개선사항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검토내용 히스토리 적용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설비군별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최종작성자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메일링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반영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N2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유량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평균치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최고치 요약제공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을 적용하였습니다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.(11/25)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설비기술과 에너지기술간 전력차단기 용량산정의 중복 버퍼를 잡는 것을 확인하여 해당 버퍼를 삭제하는 로직을 반영하였습니다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.(12/04)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UT Matrix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작성 및 취합시간을 줄이기 위해 협력사에서 직접 내용을 작성하여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제출받는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방안에 대해 논의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차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를 진행중입니다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.(12/09)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EUM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전기 실사용량을 토대로 설비용량 산정에 최적화 데이터를 제공하고자 운영위원회화 논의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차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를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진행중니다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.(12/09)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ELM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내 다양한 권한을 시스템을 통해 신청할 수 있게 적용하였으며 테스트 완료하여 배포하였습니다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.(12/09)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화면 내 불필요한 클릭 및 스크롤을 제거하고자 전체 화면에 대해 점검하여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UIUX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개선을 진행 후 배포완료 하였습니다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.(12/09)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[ELM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불용자산관리 기능고도화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]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S/P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불용자산의 요청은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EMS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시스템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상의 화면에서 수량 및 기준정보를 확정하고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ELM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시스템에서 실무검토를 진행하기로 논의를 마쳤습니다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.(09/01)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불용자산 화면정의서를 통해 수정될 내용에 대해 소개하고 추가로 반영이 필요한 사항에 대해 해외법인지원팀과 관리논의를 진행하였습니다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.(09/05)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변경된 프로세스의 화면들을 재검토하였으며 해당 영향도에 따른 프로젝트기간 내 개발 우선순위 조정에 대해 합의하였습니다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.(09/30)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개발완료 및 단위테스트를 마치고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PI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테스트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(11/12)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사용자테스트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(11/14)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후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차 운영배포를 모두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.(11/17)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*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주요개선 사항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: S/P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활용검토기능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EMS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와 연계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불용자산 검토 후 자동확정 기능추가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기타자산 불용검토 추가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일괄검토 업로드 및 회신기능 추가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baseline="0" noProof="0">
                        <a:solidFill>
                          <a:schemeClr val="tx1"/>
                        </a:solidFill>
                        <a:effectLst/>
                        <a:latin typeface="+mj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제조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IT 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시스템 활용현황 회의 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- ELM]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- CPO.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기획담당이 설비에 대한 전체 </a:t>
                      </a:r>
                      <a:r>
                        <a:rPr kumimoji="0" lang="en-US" altLang="ko-KR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LifeCycle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관리를 다룰 필요가 있는지에 대해 검토하기로 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.(09/04)</a:t>
                      </a: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~‘25.12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김정호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042599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설비라이프사이클관리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(Equipment Lifecycle Management)]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시스템 운영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CF60D0-E486-438A-84D2-1907E113A4D4}"/>
              </a:ext>
            </a:extLst>
          </p:cNvPr>
          <p:cNvSpPr txBox="1"/>
          <p:nvPr/>
        </p:nvSpPr>
        <p:spPr>
          <a:xfrm>
            <a:off x="8111075" y="661619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: 12/10(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) 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/>
              </a:rPr>
              <a:t>시</a:t>
            </a: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D7F3EE43-2059-42CA-AF63-CEB4CAB6440D}"/>
              </a:ext>
            </a:extLst>
          </p:cNvPr>
          <p:cNvSpPr txBox="1">
            <a:spLocks/>
          </p:cNvSpPr>
          <p:nvPr/>
        </p:nvSpPr>
        <p:spPr>
          <a:xfrm>
            <a:off x="8821206" y="465964"/>
            <a:ext cx="944169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김정호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5" name="제목 1">
            <a:extLst>
              <a:ext uri="{FF2B5EF4-FFF2-40B4-BE49-F238E27FC236}">
                <a16:creationId xmlns:a16="http://schemas.microsoft.com/office/drawing/2014/main" id="{D16454A7-267F-407F-8498-09F5DC8EC23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74B866A4-35BE-44AA-A1AF-A6A550FCC6ED}"/>
              </a:ext>
            </a:extLst>
          </p:cNvPr>
          <p:cNvSpPr txBox="1">
            <a:spLocks/>
          </p:cNvSpPr>
          <p:nvPr/>
        </p:nvSpPr>
        <p:spPr>
          <a:xfrm>
            <a:off x="5631930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DX-#16,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292361918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1">
            <a:extLst>
              <a:ext uri="{FF2B5EF4-FFF2-40B4-BE49-F238E27FC236}">
                <a16:creationId xmlns:a16="http://schemas.microsoft.com/office/drawing/2014/main" id="{3E86696F-E35A-4B06-9B46-63A4A6A986C1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630400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05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(W51)</a:t>
                      </a:r>
                      <a:endParaRPr lang="en-US" sz="900" b="1" i="0" u="none" strike="noStrike" baseline="0" noProof="0">
                        <a:solidFill>
                          <a:srgbClr val="FFFFFF"/>
                        </a:solidFill>
                        <a:effectLst/>
                        <a:latin typeface="LG스마트체 Regular" panose="020B0600000101010101" pitchFamily="50" charset="-127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LG스마트체 Regular" panose="020B0600000101010101" pitchFamily="50" charset="-127"/>
                          <a:ea typeface="LG스마트체 Regular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3444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설비라이프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사이클관리 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시스템 운영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ea"/>
                          <a:ea typeface="+mn-ea"/>
                          <a:cs typeface="+mn-cs"/>
                        </a:rPr>
                        <a:t>[FA 셋업관리 기능 개발]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j-ea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- 주요 일정 : ESAZ OEM 대상 FA 셋업관리 및 하역장 관리 공청회(시스템 Process 설명 및 OEM 의견 청취) : 11/25(화), 12:00~14:00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                OSA(Conveyor), 코윈테크(Stocker), ETS(반송설비, 출하포장기, 조립이제기), 엠솔루션(연기감지기), PRI(AMR), LG CNS(Mobile Shuttle)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                      -&gt; 설비 셋업관리(일정/이슈/일보), 하역장 관리(Packing, 도착, Fab in) 기능에 대한 소개/시연 및 Q&amp;A 진행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                     -&gt; 업체별 RFID+바코드 기반 FOB 진행 대상 설비 선정 및 일정 협의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 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+mn-lt"/>
                        </a:rPr>
                        <a:t>              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 : FA 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셋업관리 및 하역장 관리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ESAZ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법인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 공청회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12/05(금)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09:00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</a:t>
                      </a:r>
                      <a:endParaRPr 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                    참석자 : AZ 공장장, FA 담당, 법인 설비 팀장,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FA 소형 팀장,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FA 법인 담당자, FA 본사 담당자, 설비DX 팀장/담당자, CNS PM)</a:t>
                      </a:r>
                      <a:endParaRPr 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                   *대상(FA 설비 한정한 사유/배경 설명 포함) 및 주요 사용주체(FA 법인 담당자)를 정확히 명시하고 개발 기능/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기대효과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에 대한 명확한 내용 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 전달 및 법인 VOE 청취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 - ISE 현지인원을 위한 다국어 적용(한국어/영어/중국어)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 - Packing List 정보를 정확하게 작성하도록 가이드 필요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 - 업무 Loss를 신기술 적용을 통해 최소화할 수 있도록 기술 검토 필요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 - 일정관리 차트 형식 ESAZ 사용중인 양식 검토(D&amp;O 양식 참조)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OEM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시스템 적용을 위한 업체 지원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(AZ PJT 생성, Packing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List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, 셋업설비 등록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       - OSA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  <a:r>
                        <a:rPr 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12/15(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월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), 구미 Packing 공장 방문, Packing List 점검 및 등록, 장비(RFID Reader+PDA, BCR 1ea, RFID Tag(900ea), BCD Label(1000ea) 인계)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                             RFID+BCR 셋팅 및 실제 Packing 적용 및 점검 진행 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- 코윈테크 12/22(월), 김해(예정)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- LG CNS(1월 초 예정),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- ETS(01/08), </a:t>
                      </a:r>
                      <a:b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        - 코윈테크(01/16)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               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FA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전체 OEM 대상 공청회(시스템 Process 설명 및 OEM 의견 청취 예정) : 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FA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협의 중 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Arial Narrow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- FA 설비셋업관리 및 하역장 관리 PJT 완료보고 진행(12/16)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</a:b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 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&lt;VoE 주요 내용</a:t>
                      </a:r>
                      <a:r>
                        <a:rPr lang="en-US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&gt;</a:t>
                      </a:r>
                      <a:r>
                        <a:rPr 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  </a:t>
                      </a:r>
                      <a:endParaRPr lang="ko-KR">
                        <a:solidFill>
                          <a:srgbClr val="0000FF"/>
                        </a:solidFill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  <a:t>   : 설비, 및 작업 구분(셋업 단계) 별 인원 공수에 대한 분석이 가능하도록 작업일보 작성 기능에 추가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  <a:t>   : 계획 대비 실제 Packing 간 차이를 확인할 수 있는 기능 필요(Mobile App 개선, Web에서 보완 등 어떻게 확인할 지에 대한 추가 협의 필요)</a:t>
                      </a:r>
                      <a:b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</a:b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</a:rPr>
                        <a:t>   : 주요 업무에 대한 공지 및 메일 알림 기능에 중요한 일정 및 단계에 대한 지연 등을 담당 또는 법인장/공장장 등 상부에 알릴 수 있도록 Rule Setting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■FA 셋업관리 검토 진행현황</a:t>
                      </a:r>
                      <a:endParaRPr lang="ko-KR" alt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- 일정현황 시각화 및 간트차트 생성 기능 개발 완료(11/21)</a:t>
                      </a:r>
                      <a:endParaRPr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+mn-lt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- PJT 별 Summary 화면 기능 개발 완료 및 Test 진행 완료(12/05)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- 전체 기능에 대한 통합 Test 진행 중(w/FA 자동차, FA 소형 담당자)(12/09)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 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■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하역장</a:t>
                      </a:r>
                      <a:r>
                        <a:rPr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</a:rPr>
                        <a:t>관리 검토 진행현황</a:t>
                      </a:r>
                      <a:r>
                        <a:rPr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Arial Narrow"/>
                        </a:rPr>
                        <a:t> 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- - (Mobile)대시보드, 재고파악(RFID), Packing(RFID+바코드) 기능 개발 완료 및 시연/Test(11/25)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- (Web) 하역장 구역(Map) 및 우든박스 위치 시각화 기능 개발 완료 및 Test 진행 중(11/27) 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- 전체 기능에 대한 통합 Test 진행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완료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,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운영</a:t>
                      </a:r>
                      <a:r>
                        <a:rPr lang="en-US" altLang="ko-KR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 </a:t>
                      </a:r>
                      <a:r>
                        <a:rPr lang="ko-KR" alt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배포</a:t>
                      </a:r>
                      <a:r>
                        <a:rPr lang="en-US" sz="900" b="0" i="0" u="none" strike="noStrike" noProof="0">
                          <a:solidFill>
                            <a:schemeClr val="tx1"/>
                          </a:solidFill>
                          <a:latin typeface="Arial Narrow"/>
                        </a:rPr>
                        <a:t>(12/10)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~‘25.12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문대윤P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en-US" altLang="ko-KR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박지수S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내용 개체 틀 20">
            <a:extLst>
              <a:ext uri="{FF2B5EF4-FFF2-40B4-BE49-F238E27FC236}">
                <a16:creationId xmlns:a16="http://schemas.microsoft.com/office/drawing/2014/main" id="{628CAE2A-DD4F-41F2-BEE4-46B7C086D483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1042599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설비라이프사이클관리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(Equipment Lifecycle Management)]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시스템 운영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CF60D0-E486-438A-84D2-1907E113A4D4}"/>
              </a:ext>
            </a:extLst>
          </p:cNvPr>
          <p:cNvSpPr txBox="1"/>
          <p:nvPr/>
        </p:nvSpPr>
        <p:spPr>
          <a:xfrm>
            <a:off x="8118957" y="661619"/>
            <a:ext cx="1654299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12/16(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11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4" name="내용 개체 틀 20">
            <a:extLst>
              <a:ext uri="{FF2B5EF4-FFF2-40B4-BE49-F238E27FC236}">
                <a16:creationId xmlns:a16="http://schemas.microsoft.com/office/drawing/2014/main" id="{D7F3EE43-2059-42CA-AF63-CEB4CAB6440D}"/>
              </a:ext>
            </a:extLst>
          </p:cNvPr>
          <p:cNvSpPr txBox="1">
            <a:spLocks/>
          </p:cNvSpPr>
          <p:nvPr/>
        </p:nvSpPr>
        <p:spPr>
          <a:xfrm>
            <a:off x="8181608" y="465964"/>
            <a:ext cx="1583767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문대윤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P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, </a:t>
            </a: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rPr>
              <a:t>박지수S</a:t>
            </a:r>
            <a:endParaRPr kumimoji="0" lang="ko-KR" altLang="en-US" sz="1100" b="0" i="0" u="none" strike="noStrike" kern="1200" cap="none" spc="0" normalizeH="0" baseline="0" noProof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 panose="020B0600000101010101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5" name="제목 1">
            <a:extLst>
              <a:ext uri="{FF2B5EF4-FFF2-40B4-BE49-F238E27FC236}">
                <a16:creationId xmlns:a16="http://schemas.microsoft.com/office/drawing/2014/main" id="{D16454A7-267F-407F-8498-09F5DC8EC23A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8" name="내용 개체 틀 20">
            <a:extLst>
              <a:ext uri="{FF2B5EF4-FFF2-40B4-BE49-F238E27FC236}">
                <a16:creationId xmlns:a16="http://schemas.microsoft.com/office/drawing/2014/main" id="{74B866A4-35BE-44AA-A1AF-A6A550FCC6ED}"/>
              </a:ext>
            </a:extLst>
          </p:cNvPr>
          <p:cNvSpPr txBox="1">
            <a:spLocks/>
          </p:cNvSpPr>
          <p:nvPr/>
        </p:nvSpPr>
        <p:spPr>
          <a:xfrm>
            <a:off x="5631930" y="661940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DX-#16,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259032677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D04D0A1F-5078-4172-974C-77FC23E63D3F}"/>
              </a:ext>
            </a:extLst>
          </p:cNvPr>
          <p:cNvSpPr txBox="1"/>
          <p:nvPr/>
        </p:nvSpPr>
        <p:spPr>
          <a:xfrm>
            <a:off x="8111075" y="654179"/>
            <a:ext cx="1654300" cy="169277"/>
          </a:xfrm>
          <a:prstGeom prst="rect">
            <a:avLst/>
          </a:prstGeom>
        </p:spPr>
        <p:txBody>
          <a:bodyPr wrap="none" lIns="0" tIns="0" rIns="0" bIns="0" anchor="t">
            <a:spAutoFit/>
          </a:bodyPr>
          <a:lstStyle>
            <a:defPPr>
              <a:defRPr lang="ko-KR"/>
            </a:defPPr>
            <a:lvl1pPr lvl="0" indent="0" algn="r">
              <a:spcBef>
                <a:spcPts val="0"/>
              </a:spcBef>
              <a:buFontTx/>
              <a:buNone/>
              <a:defRPr sz="1100" baseline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/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업데이트 시간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12/10(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) 12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시</a:t>
            </a:r>
          </a:p>
        </p:txBody>
      </p:sp>
      <p:sp>
        <p:nvSpPr>
          <p:cNvPr id="18" name="내용 개체 틀 20">
            <a:extLst>
              <a:ext uri="{FF2B5EF4-FFF2-40B4-BE49-F238E27FC236}">
                <a16:creationId xmlns:a16="http://schemas.microsoft.com/office/drawing/2014/main" id="{AAD9BB3A-D670-4214-ABC6-B2D4043A2DC3}"/>
              </a:ext>
            </a:extLst>
          </p:cNvPr>
          <p:cNvSpPr txBox="1">
            <a:spLocks/>
          </p:cNvSpPr>
          <p:nvPr/>
        </p:nvSpPr>
        <p:spPr>
          <a:xfrm>
            <a:off x="8826015" y="458524"/>
            <a:ext cx="939360" cy="169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작성자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김정호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P</a:t>
            </a:r>
            <a:endParaRPr kumimoji="0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arrow"/>
              <a:ea typeface="LG스마트체 Regular"/>
              <a:cs typeface="Malgun Gothic Semilight" panose="020B0502040204020203" pitchFamily="50" charset="-127"/>
            </a:endParaRPr>
          </a:p>
        </p:txBody>
      </p:sp>
      <p:graphicFrame>
        <p:nvGraphicFramePr>
          <p:cNvPr id="20" name="표 1">
            <a:extLst>
              <a:ext uri="{FF2B5EF4-FFF2-40B4-BE49-F238E27FC236}">
                <a16:creationId xmlns:a16="http://schemas.microsoft.com/office/drawing/2014/main" id="{E281269F-AABE-419D-B74A-9D5B8FDF90FA}"/>
              </a:ext>
            </a:extLst>
          </p:cNvPr>
          <p:cNvGraphicFramePr>
            <a:graphicFrameLocks noGrp="1"/>
          </p:cNvGraphicFramePr>
          <p:nvPr/>
        </p:nvGraphicFramePr>
        <p:xfrm>
          <a:off x="125047" y="866775"/>
          <a:ext cx="9644176" cy="5747089"/>
        </p:xfrm>
        <a:graphic>
          <a:graphicData uri="http://schemas.openxmlformats.org/drawingml/2006/table">
            <a:tbl>
              <a:tblPr/>
              <a:tblGrid>
                <a:gridCol w="823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6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62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8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4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6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과제명</a:t>
                      </a:r>
                    </a:p>
                  </a:txBody>
                  <a:tcPr marL="6273" marR="6273" marT="36000" marB="3600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대상 라인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+mn-ea"/>
                          <a:ea typeface="LG스마트체 Regular"/>
                        </a:rPr>
                        <a:t>금주 진행사항 </a:t>
                      </a:r>
                      <a:r>
                        <a:rPr lang="en-US" altLang="ko-KR" sz="900" b="1" i="0" u="none" strike="noStrike" baseline="0" noProof="0">
                          <a:solidFill>
                            <a:srgbClr val="FFFFFF"/>
                          </a:solidFill>
                          <a:effectLst/>
                          <a:latin typeface="+mn-ea"/>
                          <a:ea typeface="LG스마트체 Regular"/>
                        </a:rPr>
                        <a:t>(</a:t>
                      </a:r>
                      <a:r>
                        <a:rPr lang="en-US" altLang="ko-KR" sz="900" b="1" i="0" u="none" strike="noStrike" baseline="0">
                          <a:solidFill>
                            <a:srgbClr val="FFFFFF"/>
                          </a:solidFill>
                          <a:effectLst/>
                          <a:latin typeface="LG스마트체 Regular"/>
                          <a:ea typeface="+mn-ea"/>
                        </a:rPr>
                        <a:t>W50)</a:t>
                      </a:r>
                      <a:endParaRPr lang="en-US" sz="900" b="1" i="0" u="none" strike="noStrike" baseline="0" noProof="0">
                        <a:solidFill>
                          <a:srgbClr val="FFFFFF"/>
                        </a:solidFill>
                        <a:effectLst/>
                        <a:latin typeface="+mn-ea"/>
                      </a:endParaRP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6273" marR="6273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3792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원격기술협업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lvl="0" algn="ctr">
                        <a:buNone/>
                      </a:pPr>
                      <a:r>
                        <a:rPr lang="ko-KR" altLang="en-US" sz="9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시스템 구축</a:t>
                      </a:r>
                      <a:endParaRPr lang="en-US" altLang="ko-KR" sz="900" b="0" i="0" u="none" strike="noStrike" baseline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6273" marB="0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 법인 공통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273" marR="6273" marT="6273" marB="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baseline="0" noProof="0" err="1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원격협업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 요청관리 프로젝트를 완료보고와 </a:t>
                      </a:r>
                      <a:r>
                        <a:rPr lang="ko-KR" altLang="en-US" sz="900" b="0" i="0" u="none" strike="noStrike" kern="1200" baseline="0" noProof="0" err="1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잔금검수를</a:t>
                      </a:r>
                      <a:r>
                        <a:rPr lang="ko-KR" altLang="en-US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 통해 종료하였으며 시스템 운영 및 개선을 진행중입니다</a:t>
                      </a:r>
                      <a:r>
                        <a:rPr lang="en-US" altLang="ko-KR" sz="900" b="0" i="0" u="none" strike="noStrike" kern="1200" baseline="0" noProof="0">
                          <a:solidFill>
                            <a:srgbClr val="1414FE"/>
                          </a:solidFill>
                          <a:effectLst/>
                          <a:latin typeface="+mj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n-US" altLang="ko-KR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구축 목적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 </a:t>
                      </a:r>
                      <a:r>
                        <a:rPr lang="ko-KR" altLang="en-US" sz="900" b="0">
                          <a:latin typeface="+mn-ea"/>
                          <a:ea typeface="+mn-ea"/>
                        </a:rPr>
                        <a:t>기술역량 향상을 위해 법인간 기술 협업과정을 기록하여 노하우를 </a:t>
                      </a:r>
                      <a:r>
                        <a:rPr lang="en-US" altLang="ko-KR" sz="900" b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900" b="0">
                          <a:latin typeface="+mn-ea"/>
                          <a:ea typeface="+mn-ea"/>
                        </a:rPr>
                        <a:t>로 축적하고</a:t>
                      </a:r>
                      <a:r>
                        <a:rPr lang="en-US" altLang="ko-KR" sz="900" b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>
                          <a:latin typeface="+mn-ea"/>
                          <a:ea typeface="+mn-ea"/>
                        </a:rPr>
                        <a:t>이를 재활용 할 수 있도록 시스템 구축</a:t>
                      </a:r>
                      <a:endParaRPr lang="en-US" altLang="ko-KR" sz="900" b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구축 배경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실시간으로 현장상황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(HMI,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설비상태 및 데이터 등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확인하며 대응하는 원격지원 업무 증대로 시스템을 통한 요청자와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지원자간의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구심점이 필요함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법인별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원격지원 항목을 나누어 해결한 후 이를 기술지원 사례로써 데이터를 쌓아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BP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사례로 재활용하기 위한 저장소가 필요함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원격지원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요청시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발생한 문제에 대해 정확하고 빠르게 전문가에게 도움을 청하기 위한 창구의 역할이 되어주는 시스템 필요함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구축 범위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(’24.11~’25.02), 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(’25.05~’25.09)</a:t>
                      </a:r>
                    </a:p>
                    <a:p>
                      <a:pPr marL="0" marR="0" lvl="0" indent="0" algn="l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 프레임워크 도입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기술이력관리 기능개발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기술자료관리 기능개발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원격 기능설계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요청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현황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커뮤니티채널 도입검토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- 2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baseline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원격협업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및 이력관리 기능개발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원격지원 요청서관리 기능개발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원격지원전문가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출장자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탐색 기능개발</a:t>
                      </a:r>
                      <a:r>
                        <a:rPr lang="en-US" altLang="ko-KR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기능개발</a:t>
                      </a: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baseline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진행 사항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- 2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 개발 건에 대해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오픈전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시스템 내 안내 게시 및 사전 자료등록이 필요한 사항들을 준비하여 시스템 오픈을 완료하였습니다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.(08/18)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운영오픈 후 추가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VOE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를 접수 받아 개선사항들을 반영하고 있습니다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*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주요개선 사항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조회조건 필터링 변경 및 추가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첨부파일 용량 제한 상향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SSO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인증 누락인원 반영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원격룸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접속 로그아웃 로직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SSO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연동개선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                  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익명글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수정 오류 개선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접속로그 중복처리 개선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(08/28)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도출된 개선점들을 완료하였으며 프로젝트 종료 후 운영 및 개선점에 대해 논의 하기 위해 현업 및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CNS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와 오프라인 회의를 진행하였습니다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.(09/04)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원격룸기능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사용을 원활하게 하기 위하여 온라인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원격룸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신설에 대해 원격솔루션팀과 논의하였습니다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.(09/10)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*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목적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원격룸이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없는 국내 사업장이나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해외법인의 접근 통로를 만들어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원격룸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기능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(PLC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수정 등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을 이용 가능하게 함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방법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법인별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공용 클라우드를 만들어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인프라팀 의뢰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해당 클라우드를 온라인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원격룸으로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활용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검토 진행중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AI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동영상 요약 기능을 통해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원격협업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중 녹화된 영상의 음성대화를 기반으로 요약하여 제공할 수 있도록 배포하였습니다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(09/24)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원격사용에 대해서 사용자가 목적에 따라 분류를 지정하고 그에 따른 출장대체 효과를 산출할 수 있도록 원격솔루션팀과 논의하였습니다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.(09/30)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*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해당 기능개발을 위해 연휴 전후로 개발 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(10/07)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및 테스트 진행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(10/14)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및 운영배포 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(10/16)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물리 서버불안정으로 서버 재부팅 및 </a:t>
                      </a:r>
                      <a:r>
                        <a:rPr kumimoji="0" lang="ko-KR" altLang="en-US" sz="900" b="0" i="0" u="none" strike="noStrike" kern="1200" cap="none" spc="0" normalizeH="0" baseline="0" noProof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원격룸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접속점검 진행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(10/29)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원격사용자 참여 활성화를 위해 자유롭게 제안을 받아 개선할 수 있도록 게시판 목적 및 명칭 개편</a:t>
                      </a: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(~11/07)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~’25.12</a:t>
                      </a:r>
                    </a:p>
                    <a:p>
                      <a:pPr lvl="0" algn="ctr">
                        <a:buNone/>
                      </a:pP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김정호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</a:t>
                      </a:r>
                    </a:p>
                  </a:txBody>
                  <a:tcPr marL="36000" marR="6273" marT="36000" marB="3600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1" name="내용 개체 틀 20">
            <a:extLst>
              <a:ext uri="{FF2B5EF4-FFF2-40B4-BE49-F238E27FC236}">
                <a16:creationId xmlns:a16="http://schemas.microsoft.com/office/drawing/2014/main" id="{A32CDF14-717C-4E70-B920-BCF1BBDA3AF6}"/>
              </a:ext>
            </a:extLst>
          </p:cNvPr>
          <p:cNvSpPr txBox="1">
            <a:spLocks/>
          </p:cNvSpPr>
          <p:nvPr/>
        </p:nvSpPr>
        <p:spPr>
          <a:xfrm>
            <a:off x="108656" y="612730"/>
            <a:ext cx="647502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■ 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[</a:t>
            </a:r>
            <a:r>
              <a:rPr kumimoji="0" lang="ko-KR" altLang="en-US" sz="1400" b="1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원격기술협업시스템</a:t>
            </a:r>
            <a:r>
              <a:rPr kumimoji="0" lang="en-US" altLang="ko-KR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(Remote Technical Collaboration)] RTC </a:t>
            </a:r>
            <a:r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 panose="020B0502040204020203" pitchFamily="50" charset="-127"/>
              </a:rPr>
              <a:t>시스템 구축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5C9E73A0-63A2-4314-BCFB-1913D4C012AA}"/>
              </a:ext>
            </a:extLst>
          </p:cNvPr>
          <p:cNvGraphicFramePr>
            <a:graphicFrameLocks noGrp="1"/>
          </p:cNvGraphicFramePr>
          <p:nvPr/>
        </p:nvGraphicFramePr>
        <p:xfrm>
          <a:off x="1811043" y="1328091"/>
          <a:ext cx="6720400" cy="645257"/>
        </p:xfrm>
        <a:graphic>
          <a:graphicData uri="http://schemas.openxmlformats.org/drawingml/2006/table">
            <a:tbl>
              <a:tblPr/>
              <a:tblGrid>
                <a:gridCol w="840050">
                  <a:extLst>
                    <a:ext uri="{9D8B030D-6E8A-4147-A177-3AD203B41FA5}">
                      <a16:colId xmlns:a16="http://schemas.microsoft.com/office/drawing/2014/main" val="3321164870"/>
                    </a:ext>
                  </a:extLst>
                </a:gridCol>
                <a:gridCol w="840050">
                  <a:extLst>
                    <a:ext uri="{9D8B030D-6E8A-4147-A177-3AD203B41FA5}">
                      <a16:colId xmlns:a16="http://schemas.microsoft.com/office/drawing/2014/main" val="3851577224"/>
                    </a:ext>
                  </a:extLst>
                </a:gridCol>
                <a:gridCol w="840050">
                  <a:extLst>
                    <a:ext uri="{9D8B030D-6E8A-4147-A177-3AD203B41FA5}">
                      <a16:colId xmlns:a16="http://schemas.microsoft.com/office/drawing/2014/main" val="2397883865"/>
                    </a:ext>
                  </a:extLst>
                </a:gridCol>
                <a:gridCol w="840050">
                  <a:extLst>
                    <a:ext uri="{9D8B030D-6E8A-4147-A177-3AD203B41FA5}">
                      <a16:colId xmlns:a16="http://schemas.microsoft.com/office/drawing/2014/main" val="878542761"/>
                    </a:ext>
                  </a:extLst>
                </a:gridCol>
                <a:gridCol w="840050">
                  <a:extLst>
                    <a:ext uri="{9D8B030D-6E8A-4147-A177-3AD203B41FA5}">
                      <a16:colId xmlns:a16="http://schemas.microsoft.com/office/drawing/2014/main" val="317503616"/>
                    </a:ext>
                  </a:extLst>
                </a:gridCol>
                <a:gridCol w="840050">
                  <a:extLst>
                    <a:ext uri="{9D8B030D-6E8A-4147-A177-3AD203B41FA5}">
                      <a16:colId xmlns:a16="http://schemas.microsoft.com/office/drawing/2014/main" val="3796487445"/>
                    </a:ext>
                  </a:extLst>
                </a:gridCol>
                <a:gridCol w="840050">
                  <a:extLst>
                    <a:ext uri="{9D8B030D-6E8A-4147-A177-3AD203B41FA5}">
                      <a16:colId xmlns:a16="http://schemas.microsoft.com/office/drawing/2014/main" val="567010893"/>
                    </a:ext>
                  </a:extLst>
                </a:gridCol>
                <a:gridCol w="840050">
                  <a:extLst>
                    <a:ext uri="{9D8B030D-6E8A-4147-A177-3AD203B41FA5}">
                      <a16:colId xmlns:a16="http://schemas.microsoft.com/office/drawing/2014/main" val="1448087211"/>
                    </a:ext>
                  </a:extLst>
                </a:gridCol>
              </a:tblGrid>
              <a:tr h="180706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>
                          <a:solidFill>
                            <a:sysClr val="windowText" lastClr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차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차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kern="1200">
                        <a:solidFill>
                          <a:sysClr val="windowText" lastClr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151751"/>
                  </a:ext>
                </a:extLst>
              </a:tr>
              <a:tr h="1807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분석설계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통합 테스트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분석설계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 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단위</a:t>
                      </a: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통합 테스트</a:t>
                      </a:r>
                      <a:endParaRPr 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완료 및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816347"/>
                  </a:ext>
                </a:extLst>
              </a:tr>
              <a:tr h="180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‘24.11.27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‘24.01.13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‘25.01.24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‘25.02.21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‘25.05.23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‘25.07.16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noProof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‘25.08.01</a:t>
                      </a:r>
                      <a:endParaRPr lang="ko-KR" altLang="en-US" sz="900" b="0" i="0" u="none" strike="noStrike" kern="1200" noProof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‘25.09.30</a:t>
                      </a:r>
                      <a:endParaRPr lang="ko-KR" altLang="en-US" sz="900" b="0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38772"/>
                  </a:ext>
                </a:extLst>
              </a:tr>
            </a:tbl>
          </a:graphicData>
        </a:graphic>
      </p:graphicFrame>
      <p:grpSp>
        <p:nvGrpSpPr>
          <p:cNvPr id="25" name="그룹 24">
            <a:extLst>
              <a:ext uri="{FF2B5EF4-FFF2-40B4-BE49-F238E27FC236}">
                <a16:creationId xmlns:a16="http://schemas.microsoft.com/office/drawing/2014/main" id="{01A43E99-1576-44DA-AE42-3FF21F0E502B}"/>
              </a:ext>
            </a:extLst>
          </p:cNvPr>
          <p:cNvGrpSpPr/>
          <p:nvPr/>
        </p:nvGrpSpPr>
        <p:grpSpPr>
          <a:xfrm>
            <a:off x="8459443" y="1506299"/>
            <a:ext cx="144000" cy="362953"/>
            <a:chOff x="4125711" y="1365644"/>
            <a:chExt cx="144000" cy="531403"/>
          </a:xfrm>
        </p:grpSpPr>
        <p:sp>
          <p:nvSpPr>
            <p:cNvPr id="26" name="이등변 삼각형 25">
              <a:extLst>
                <a:ext uri="{FF2B5EF4-FFF2-40B4-BE49-F238E27FC236}">
                  <a16:creationId xmlns:a16="http://schemas.microsoft.com/office/drawing/2014/main" id="{7B54FAA0-14D7-4478-8DED-2CCCBE212DAA}"/>
                </a:ext>
              </a:extLst>
            </p:cNvPr>
            <p:cNvSpPr/>
            <p:nvPr/>
          </p:nvSpPr>
          <p:spPr>
            <a:xfrm rot="10800000">
              <a:off x="4125711" y="1365644"/>
              <a:ext cx="144000" cy="108000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/>
                <a:ea typeface="LG스마트체 Regular"/>
                <a:cs typeface="+mn-cs"/>
              </a:endParaRPr>
            </a:p>
          </p:txBody>
        </p: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00CEEB9-5F8F-45D9-B85F-3C94608673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96662" y="1465047"/>
              <a:ext cx="1" cy="432000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제목 1">
            <a:extLst>
              <a:ext uri="{FF2B5EF4-FFF2-40B4-BE49-F238E27FC236}">
                <a16:creationId xmlns:a16="http://schemas.microsoft.com/office/drawing/2014/main" id="{0FC94215-6E29-4B37-9295-54045C180DE8}"/>
              </a:ext>
            </a:extLst>
          </p:cNvPr>
          <p:cNvSpPr txBox="1">
            <a:spLocks/>
          </p:cNvSpPr>
          <p:nvPr/>
        </p:nvSpPr>
        <p:spPr>
          <a:xfrm>
            <a:off x="124961" y="132021"/>
            <a:ext cx="2787943" cy="369332"/>
          </a:xfrm>
          <a:prstGeom prst="rect">
            <a:avLst/>
          </a:prstGeom>
          <a:solidFill>
            <a:srgbClr val="FFFFFF"/>
          </a:solidFill>
          <a:ln w="12700">
            <a:gradFill>
              <a:gsLst>
                <a:gs pos="0">
                  <a:srgbClr val="FFFFFF">
                    <a:alpha val="0"/>
                    <a:lumMod val="0"/>
                    <a:lumOff val="100000"/>
                  </a:srgbClr>
                </a:gs>
                <a:gs pos="98000">
                  <a:srgbClr val="FFFFFF">
                    <a:alpha val="0"/>
                    <a:lumMod val="0"/>
                    <a:lumOff val="100000"/>
                  </a:srgbClr>
                </a:gs>
                <a:gs pos="99000">
                  <a:srgbClr val="000000"/>
                </a:gs>
              </a:gsLst>
              <a:lin ang="5400000" scaled="0"/>
            </a:gradFill>
            <a:miter lim="800000"/>
            <a:headEnd/>
            <a:tailEnd/>
          </a:ln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ko-KR"/>
            </a:defPPr>
            <a:lvl1pPr lvl="0" fontAlgn="base" latinLnBrk="0">
              <a:spcBef>
                <a:spcPct val="10000"/>
              </a:spcBef>
              <a:spcAft>
                <a:spcPct val="0"/>
              </a:spcAft>
              <a:buNone/>
              <a:defRPr kumimoji="1" b="1" i="0" u="none" strike="noStrike" kern="0" cap="none" spc="0" normalizeH="0" baseline="0">
                <a:ln>
                  <a:noFill/>
                </a:ln>
                <a:effectLst/>
                <a:uLnTx/>
                <a:uFillTx/>
                <a:latin typeface="LG스마트체 Regular" panose="020B0600000101010101" pitchFamily="50" charset="-127"/>
                <a:ea typeface="LG스마트체 Regular" panose="020B0600000101010101" pitchFamily="50" charset="-127"/>
                <a:cs typeface="Malgun Gothic Semilight" panose="020B0502040204020203" pitchFamily="50" charset="-127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1. 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과제 진행 현황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_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설비</a:t>
            </a:r>
            <a:r>
              <a:rPr kumimoji="1" lang="en-US" altLang="ko-KR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DX</a:t>
            </a:r>
            <a:r>
              <a:rPr kumimoji="1" lang="ko-KR" altLang="en-US" sz="18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 panose="020B0600000101010101" pitchFamily="50" charset="-127"/>
                <a:cs typeface="Malgun Gothic Semilight" panose="020B0502040204020203" pitchFamily="50" charset="-127"/>
              </a:rPr>
              <a:t>팀</a:t>
            </a:r>
          </a:p>
        </p:txBody>
      </p:sp>
      <p:sp>
        <p:nvSpPr>
          <p:cNvPr id="85" name="내용 개체 틀 20">
            <a:extLst>
              <a:ext uri="{FF2B5EF4-FFF2-40B4-BE49-F238E27FC236}">
                <a16:creationId xmlns:a16="http://schemas.microsoft.com/office/drawing/2014/main" id="{313AE8F0-6ABF-4B0E-B683-B330047984C7}"/>
              </a:ext>
            </a:extLst>
          </p:cNvPr>
          <p:cNvSpPr txBox="1">
            <a:spLocks/>
          </p:cNvSpPr>
          <p:nvPr/>
        </p:nvSpPr>
        <p:spPr>
          <a:xfrm>
            <a:off x="5645712" y="653261"/>
            <a:ext cx="2331141" cy="153888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 algn="r" defTabSz="914400" rtl="0" eaLnBrk="1" latinLnBrk="1" hangingPunct="1">
              <a:spcBef>
                <a:spcPct val="20000"/>
              </a:spcBef>
              <a:buFontTx/>
              <a:buNone/>
              <a:defRPr sz="12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[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과제번호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설비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DX-#13,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진행 상태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●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/>
                <a:ea typeface="LG스마트체 Regular"/>
                <a:cs typeface="Malgun Gothic Semilight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1817441682"/>
      </p:ext>
    </p:extLst>
  </p:cSld>
  <p:clrMapOvr>
    <a:masterClrMapping/>
  </p:clrMapOvr>
</p:sld>
</file>

<file path=ppt/theme/theme1.xml><?xml version="1.0" encoding="utf-8"?>
<a:theme xmlns:a="http://schemas.openxmlformats.org/drawingml/2006/main" name="4_Office 테마">
  <a:themeElements>
    <a:clrScheme name="사용자 지정 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000000"/>
      </a:folHlink>
    </a:clrScheme>
    <a:fontScheme name="우기글꼴">
      <a:majorFont>
        <a:latin typeface="Arial Narrow"/>
        <a:ea typeface="LG스마트체 Regular"/>
        <a:cs typeface=""/>
      </a:majorFont>
      <a:minorFont>
        <a:latin typeface="Arial Narrow"/>
        <a:ea typeface="LG스마트체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>
          <a:defRPr sz="1100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3_Office 테마">
  <a:themeElements>
    <a:clrScheme name="사용자 지정 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000000"/>
      </a:folHlink>
    </a:clrScheme>
    <a:fontScheme name="우기글꼴">
      <a:majorFont>
        <a:latin typeface="Arial Narrow"/>
        <a:ea typeface="LG스마트체 Regular"/>
        <a:cs typeface=""/>
      </a:majorFont>
      <a:minorFont>
        <a:latin typeface="Arial Narrow"/>
        <a:ea typeface="LG스마트체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>
          <a:defRPr sz="1100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3FF98EDD61FBD840A846F9616B640187" ma:contentTypeVersion="11" ma:contentTypeDescription="새 문서를 만듭니다." ma:contentTypeScope="" ma:versionID="6d8e25ea877f1cec8c4975a9197fdf1a">
  <xsd:schema xmlns:xsd="http://www.w3.org/2001/XMLSchema" xmlns:xs="http://www.w3.org/2001/XMLSchema" xmlns:p="http://schemas.microsoft.com/office/2006/metadata/properties" xmlns:ns2="69aacc19-8f48-4ba8-bfc1-057a6d56306d" targetNamespace="http://schemas.microsoft.com/office/2006/metadata/properties" ma:root="true" ma:fieldsID="fb928e1c9b4ba678380aa950ecf67ce9" ns2:_="">
    <xsd:import namespace="69aacc19-8f48-4ba8-bfc1-057a6d56306d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9aacc19-8f48-4ba8-bfc1-057a6d56306d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1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03D34513-0D7B-41A5-9E76-90939F410547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5A04347-BDD7-4B80-97C4-8F8F989971D4}">
  <ds:schemaRefs>
    <ds:schemaRef ds:uri="http://schemas.microsoft.com/office/2006/documentManagement/types"/>
    <ds:schemaRef ds:uri="http://schemas.microsoft.com/office/2006/metadata/properties"/>
    <ds:schemaRef ds:uri="http://purl.org/dc/dcmitype/"/>
    <ds:schemaRef ds:uri="http://purl.org/dc/elements/1.1/"/>
    <ds:schemaRef ds:uri="http://purl.org/dc/terms/"/>
    <ds:schemaRef ds:uri="http://www.w3.org/XML/1998/namespace"/>
    <ds:schemaRef ds:uri="http://schemas.microsoft.com/office/infopath/2007/PartnerControls"/>
    <ds:schemaRef ds:uri="69aacc19-8f48-4ba8-bfc1-057a6d56306d"/>
    <ds:schemaRef ds:uri="http://schemas.openxmlformats.org/package/2006/metadata/core-properties"/>
  </ds:schemaRefs>
</ds:datastoreItem>
</file>

<file path=customXml/itemProps3.xml><?xml version="1.0" encoding="utf-8"?>
<ds:datastoreItem xmlns:ds="http://schemas.openxmlformats.org/officeDocument/2006/customXml" ds:itemID="{48055AC3-C554-43B6-8298-5B6D2036ADEC}">
  <ds:schemaRefs>
    <ds:schemaRef ds:uri="69aacc19-8f48-4ba8-bfc1-057a6d56306d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Metadata/LabelInfo.xml><?xml version="1.0" encoding="utf-8"?>
<clbl:labelList xmlns:clbl="http://schemas.microsoft.com/office/2020/mipLabelMetadata">
  <clbl:label id="{1fefcbb5-b9fb-4d9d-a4eb-a69982cdd6fe}" enabled="0" method="" siteId="{1fefcbb5-b9fb-4d9d-a4eb-a69982cdd6fe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30</TotalTime>
  <Words>66646</Words>
  <Application>Microsoft Office PowerPoint</Application>
  <PresentationFormat>A4 용지(210x297mm)</PresentationFormat>
  <Paragraphs>12753</Paragraphs>
  <Slides>125</Slides>
  <Notes>124</Notes>
  <HiddenSlides>9</HiddenSlides>
  <MMClips>0</MMClips>
  <ScaleCrop>false</ScaleCrop>
  <HeadingPairs>
    <vt:vector size="8" baseType="variant">
      <vt:variant>
        <vt:lpstr>사용한 글꼴</vt:lpstr>
      </vt:variant>
      <vt:variant>
        <vt:i4>17</vt:i4>
      </vt:variant>
      <vt:variant>
        <vt:lpstr>테마</vt:lpstr>
      </vt:variant>
      <vt:variant>
        <vt:i4>2</vt:i4>
      </vt:variant>
      <vt:variant>
        <vt:lpstr>포함된 OLE 서버</vt:lpstr>
      </vt:variant>
      <vt:variant>
        <vt:i4>2</vt:i4>
      </vt:variant>
      <vt:variant>
        <vt:lpstr>슬라이드 제목</vt:lpstr>
      </vt:variant>
      <vt:variant>
        <vt:i4>125</vt:i4>
      </vt:variant>
    </vt:vector>
  </HeadingPairs>
  <TitlesOfParts>
    <vt:vector size="146" baseType="lpstr">
      <vt:lpstr>Arial Narrow (본문)</vt:lpstr>
      <vt:lpstr>LG Smart_H Light</vt:lpstr>
      <vt:lpstr>LG Smart_H Regular</vt:lpstr>
      <vt:lpstr>LG Smart_H2.0 R</vt:lpstr>
      <vt:lpstr>LG스마트체 Light</vt:lpstr>
      <vt:lpstr>lg스마트체 regular</vt:lpstr>
      <vt:lpstr>lg스마트체 regular</vt:lpstr>
      <vt:lpstr>LG스마트체 Regular,Sans-Serif</vt:lpstr>
      <vt:lpstr>LG스마트체2.0 Regular</vt:lpstr>
      <vt:lpstr>Malgun Gothic Semilight</vt:lpstr>
      <vt:lpstr>Noto Sans KR</vt:lpstr>
      <vt:lpstr>Malgun Gothic</vt:lpstr>
      <vt:lpstr>Malgun Gothic</vt:lpstr>
      <vt:lpstr>Arial</vt:lpstr>
      <vt:lpstr>Arial Narrow</vt:lpstr>
      <vt:lpstr>Calibri</vt:lpstr>
      <vt:lpstr>Wingdings</vt:lpstr>
      <vt:lpstr>4_Office 테마</vt:lpstr>
      <vt:lpstr>3_Office 테마</vt:lpstr>
      <vt:lpstr>Presentation</vt:lpstr>
      <vt:lpstr>포장기 셸 개체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parkjonghyun@lgensol.com</dc:creator>
  <cp:lastModifiedBy>이강국(KANG KUK LEE)[kklee81]/팀장/제조DX.품질DX.공정검사DX팀</cp:lastModifiedBy>
  <cp:revision>10</cp:revision>
  <cp:lastPrinted>2022-03-03T00:02:18Z</cp:lastPrinted>
  <dcterms:modified xsi:type="dcterms:W3CDTF">2025-12-16T14:29:58Z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0x0101003FF98EDD61FBD840A846F9616B640187</vt:lpwstr>
  </property>
  <property fmtid="{D5CDD505-2E9C-101B-9397-08002B2CF9AE}" pid="3" name="MediaServiceImageTags">
    <vt:lpwstr/>
  </property>
</Properties>
</file>