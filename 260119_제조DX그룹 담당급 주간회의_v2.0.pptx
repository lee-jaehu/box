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theme/theme9.xml" ContentType="application/vnd.openxmlformats-officedocument.theme+xml"/>
  <Override PartName="/ppt/slideLayouts/slideLayout22.xml" ContentType="application/vnd.openxmlformats-officedocument.presentationml.slideLayout+xml"/>
  <Override PartName="/ppt/theme/theme10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11.xml" ContentType="application/vnd.openxmlformats-officedocument.theme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theme/theme14.xml" ContentType="application/vnd.openxmlformats-officedocument.theme+xml"/>
  <Override PartName="/ppt/slideLayouts/slideLayout28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slideLayouts/slideLayout29.xml" ContentType="application/vnd.openxmlformats-officedocument.presentationml.slideLayout+xml"/>
  <Override PartName="/ppt/theme/theme17.xml" ContentType="application/vnd.openxmlformats-officedocument.theme+xml"/>
  <Override PartName="/ppt/slideLayouts/slideLayout30.xml" ContentType="application/vnd.openxmlformats-officedocument.presentationml.slideLayout+xml"/>
  <Override PartName="/ppt/theme/theme18.xml" ContentType="application/vnd.openxmlformats-officedocument.theme+xml"/>
  <Override PartName="/ppt/slideLayouts/slideLayout31.xml" ContentType="application/vnd.openxmlformats-officedocument.presentationml.slideLayout+xml"/>
  <Override PartName="/ppt/theme/theme19.xml" ContentType="application/vnd.openxmlformats-officedocument.theme+xml"/>
  <Override PartName="/ppt/slideLayouts/slideLayout32.xml" ContentType="application/vnd.openxmlformats-officedocument.presentationml.slideLayout+xml"/>
  <Override PartName="/ppt/theme/theme20.xml" ContentType="application/vnd.openxmlformats-officedocument.theme+xml"/>
  <Override PartName="/ppt/slideLayouts/slideLayout33.xml" ContentType="application/vnd.openxmlformats-officedocument.presentationml.slideLayout+xml"/>
  <Override PartName="/ppt/theme/theme21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2.xml" ContentType="application/vnd.openxmlformats-officedocument.theme+xml"/>
  <Override PartName="/ppt/slideLayouts/slideLayout36.xml" ContentType="application/vnd.openxmlformats-officedocument.presentationml.slideLayout+xml"/>
  <Override PartName="/ppt/theme/theme23.xml" ContentType="application/vnd.openxmlformats-officedocument.theme+xml"/>
  <Override PartName="/ppt/slideLayouts/slideLayout37.xml" ContentType="application/vnd.openxmlformats-officedocument.presentationml.slideLayout+xml"/>
  <Override PartName="/ppt/theme/theme24.xml" ContentType="application/vnd.openxmlformats-officedocument.theme+xml"/>
  <Override PartName="/ppt/slideLayouts/slideLayout38.xml" ContentType="application/vnd.openxmlformats-officedocument.presentationml.slideLayout+xml"/>
  <Override PartName="/ppt/theme/theme25.xml" ContentType="application/vnd.openxmlformats-officedocument.theme+xml"/>
  <Override PartName="/ppt/slideLayouts/slideLayout39.xml" ContentType="application/vnd.openxmlformats-officedocument.presentationml.slideLayout+xml"/>
  <Override PartName="/ppt/theme/theme26.xml" ContentType="application/vnd.openxmlformats-officedocument.theme+xml"/>
  <Override PartName="/ppt/slideLayouts/slideLayout40.xml" ContentType="application/vnd.openxmlformats-officedocument.presentationml.slideLayout+xml"/>
  <Override PartName="/ppt/theme/theme27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8.xml" ContentType="application/vnd.openxmlformats-officedocument.theme+xml"/>
  <Override PartName="/ppt/theme/theme29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76" r:id="rId5"/>
    <p:sldMasterId id="2147483684" r:id="rId6"/>
    <p:sldMasterId id="2147483685" r:id="rId7"/>
    <p:sldMasterId id="2147483699" r:id="rId8"/>
    <p:sldMasterId id="2147483702" r:id="rId9"/>
    <p:sldMasterId id="2147483710" r:id="rId10"/>
    <p:sldMasterId id="2147483712" r:id="rId11"/>
    <p:sldMasterId id="2147483759" r:id="rId12"/>
    <p:sldMasterId id="2147483761" r:id="rId13"/>
    <p:sldMasterId id="2147483764" r:id="rId14"/>
    <p:sldMasterId id="2147483767" r:id="rId15"/>
    <p:sldMasterId id="2147483772" r:id="rId16"/>
    <p:sldMasterId id="2147483774" r:id="rId17"/>
    <p:sldMasterId id="2147483813" r:id="rId18"/>
    <p:sldMasterId id="2147483816" r:id="rId19"/>
    <p:sldMasterId id="2147483830" r:id="rId20"/>
    <p:sldMasterId id="2147483832" r:id="rId21"/>
    <p:sldMasterId id="2147483834" r:id="rId22"/>
    <p:sldMasterId id="2147483841" r:id="rId23"/>
    <p:sldMasterId id="2147483848" r:id="rId24"/>
    <p:sldMasterId id="2147483851" r:id="rId25"/>
    <p:sldMasterId id="2147483855" r:id="rId26"/>
    <p:sldMasterId id="2147483858" r:id="rId27"/>
    <p:sldMasterId id="2147483860" r:id="rId28"/>
    <p:sldMasterId id="2147483862" r:id="rId29"/>
    <p:sldMasterId id="2147483877" r:id="rId30"/>
    <p:sldMasterId id="2147483902" r:id="rId31"/>
  </p:sldMasterIdLst>
  <p:notesMasterIdLst>
    <p:notesMasterId r:id="rId34"/>
  </p:notesMasterIdLst>
  <p:sldIdLst>
    <p:sldId id="2147482383" r:id="rId32"/>
    <p:sldId id="2147482381" r:id="rId3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요약 페이지" id="{16D3CCD0-A34D-41BE-9AC5-F9726C3AB814}">
          <p14:sldIdLst/>
        </p14:section>
        <p14:section name="공유사항" id="{729FCC6F-4403-4725-8665-6D3344B58637}">
          <p14:sldIdLst/>
        </p14:section>
        <p14:section name="인원/채용 현황" id="{3CD31530-CEF1-4FE6-9E22-867F388F6D59}">
          <p14:sldIdLst/>
        </p14:section>
        <p14:section name="출장현황" id="{0E0ACEB6-ADAB-4CD9-B921-41CD531370F3}">
          <p14:sldIdLst/>
        </p14:section>
        <p14:section name="보조" id="{094EF1CE-5AB2-47BF-9691-DD44CFC03103}">
          <p14:sldIdLst>
            <p14:sldId id="2147482383"/>
            <p14:sldId id="21474823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6600"/>
    <a:srgbClr val="00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8" autoAdjust="0"/>
    <p:restoredTop sz="96370" autoAdjust="0"/>
  </p:normalViewPr>
  <p:slideViewPr>
    <p:cSldViewPr snapToGrid="0">
      <p:cViewPr varScale="1">
        <p:scale>
          <a:sx n="96" d="100"/>
          <a:sy n="96" d="100"/>
        </p:scale>
        <p:origin x="18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Master" Target="slideMasters/slideMaster23.xml"/><Relationship Id="rId21" Type="http://schemas.openxmlformats.org/officeDocument/2006/relationships/slideMaster" Target="slideMasters/slideMaster18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Master" Target="slideMasters/slideMaster22.xml"/><Relationship Id="rId33" Type="http://schemas.openxmlformats.org/officeDocument/2006/relationships/slide" Target="slides/slide2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Master" Target="slideMasters/slideMaster2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slide" Target="slides/slide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Master" Target="slideMasters/slideMaster25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Master" Target="slideMasters/slideMaster2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Master" Target="slideMasters/slideMaster24.xml"/><Relationship Id="rId30" Type="http://schemas.openxmlformats.org/officeDocument/2006/relationships/slideMaster" Target="slideMasters/slideMaster27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전력망</c:v>
                </c:pt>
              </c:strCache>
            </c:strRef>
          </c:tx>
          <c:spPr>
            <a:solidFill>
              <a:srgbClr val="1218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26년</c:v>
                </c:pt>
                <c:pt idx="1">
                  <c:v>27년</c:v>
                </c:pt>
                <c:pt idx="2">
                  <c:v>28년</c:v>
                </c:pt>
                <c:pt idx="3">
                  <c:v>30년</c:v>
                </c:pt>
                <c:pt idx="4">
                  <c:v>33년</c:v>
                </c:pt>
                <c:pt idx="5">
                  <c:v>35년</c:v>
                </c:pt>
              </c:strCache>
            </c:strRef>
          </c:cat>
          <c:val>
            <c:numRef>
              <c:f>Sheet1!$B$2:$B$7</c:f>
              <c:numCache>
                <c:formatCode>_(* #,##0_);_(* \(#,##0\);_(* "-"_);_(@_)</c:formatCode>
                <c:ptCount val="6"/>
                <c:pt idx="0">
                  <c:v>306.19266423072656</c:v>
                </c:pt>
                <c:pt idx="1">
                  <c:v>374.47680714130007</c:v>
                </c:pt>
                <c:pt idx="2">
                  <c:v>430.70026774691894</c:v>
                </c:pt>
                <c:pt idx="3">
                  <c:v>552.0482382366215</c:v>
                </c:pt>
                <c:pt idx="4">
                  <c:v>717.34094606248698</c:v>
                </c:pt>
                <c:pt idx="5">
                  <c:v>851.1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9F-4C52-9671-A6583455F2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주택용</c:v>
                </c:pt>
              </c:strCache>
            </c:strRef>
          </c:tx>
          <c:spPr>
            <a:solidFill>
              <a:srgbClr val="3C8DBC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26년</c:v>
                </c:pt>
                <c:pt idx="1">
                  <c:v>27년</c:v>
                </c:pt>
                <c:pt idx="2">
                  <c:v>28년</c:v>
                </c:pt>
                <c:pt idx="3">
                  <c:v>30년</c:v>
                </c:pt>
                <c:pt idx="4">
                  <c:v>33년</c:v>
                </c:pt>
                <c:pt idx="5">
                  <c:v>35년</c:v>
                </c:pt>
              </c:strCache>
            </c:strRef>
          </c:cat>
          <c:val>
            <c:numRef>
              <c:f>Sheet1!$C$2:$C$7</c:f>
              <c:numCache>
                <c:formatCode>_(* #,##0_);_(* \(#,##0\);_(* "-"_);_(@_)</c:formatCode>
                <c:ptCount val="6"/>
                <c:pt idx="0">
                  <c:v>21.508224079133281</c:v>
                </c:pt>
                <c:pt idx="1">
                  <c:v>25.098954411773889</c:v>
                </c:pt>
                <c:pt idx="2">
                  <c:v>28.310821729329806</c:v>
                </c:pt>
                <c:pt idx="3">
                  <c:v>35.771406747125006</c:v>
                </c:pt>
                <c:pt idx="4">
                  <c:v>41.904428724992918</c:v>
                </c:pt>
                <c:pt idx="5">
                  <c:v>45.7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9F-4C52-9671-A6583455F2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상업용</c:v>
                </c:pt>
              </c:strCache>
            </c:strRef>
          </c:tx>
          <c:spPr>
            <a:solidFill>
              <a:srgbClr val="76B2D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26년</c:v>
                </c:pt>
                <c:pt idx="1">
                  <c:v>27년</c:v>
                </c:pt>
                <c:pt idx="2">
                  <c:v>28년</c:v>
                </c:pt>
                <c:pt idx="3">
                  <c:v>30년</c:v>
                </c:pt>
                <c:pt idx="4">
                  <c:v>33년</c:v>
                </c:pt>
                <c:pt idx="5">
                  <c:v>35년</c:v>
                </c:pt>
              </c:strCache>
            </c:strRef>
          </c:cat>
          <c:val>
            <c:numRef>
              <c:f>Sheet1!$D$2:$D$7</c:f>
              <c:numCache>
                <c:formatCode>_(* #,##0_);_(* \(#,##0\);_(* "-"_);_(@_)</c:formatCode>
                <c:ptCount val="6"/>
                <c:pt idx="0">
                  <c:v>20.652033386977902</c:v>
                </c:pt>
                <c:pt idx="1">
                  <c:v>22.654512627699443</c:v>
                </c:pt>
                <c:pt idx="2">
                  <c:v>25.582836303772616</c:v>
                </c:pt>
                <c:pt idx="3">
                  <c:v>37.921573563663728</c:v>
                </c:pt>
                <c:pt idx="4">
                  <c:v>48.949535525518577</c:v>
                </c:pt>
                <c:pt idx="5">
                  <c:v>60.3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9F-4C52-9671-A6583455F2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UPS</c:v>
                </c:pt>
              </c:strCache>
            </c:strRef>
          </c:tx>
          <c:spPr>
            <a:solidFill>
              <a:srgbClr val="A3C9E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26년</c:v>
                </c:pt>
                <c:pt idx="1">
                  <c:v>27년</c:v>
                </c:pt>
                <c:pt idx="2">
                  <c:v>28년</c:v>
                </c:pt>
                <c:pt idx="3">
                  <c:v>30년</c:v>
                </c:pt>
                <c:pt idx="4">
                  <c:v>33년</c:v>
                </c:pt>
                <c:pt idx="5">
                  <c:v>35년</c:v>
                </c:pt>
              </c:strCache>
            </c:strRef>
          </c:cat>
          <c:val>
            <c:numRef>
              <c:f>Sheet1!$E$2:$E$7</c:f>
              <c:numCache>
                <c:formatCode>_(* #,##0_);_(* \(#,##0\);_(* "-"_);_(@_)</c:formatCode>
                <c:ptCount val="6"/>
                <c:pt idx="0">
                  <c:v>24.374793420420577</c:v>
                </c:pt>
                <c:pt idx="1">
                  <c:v>26.694426259052879</c:v>
                </c:pt>
                <c:pt idx="2">
                  <c:v>29.510212390311093</c:v>
                </c:pt>
                <c:pt idx="3">
                  <c:v>36.841659290100161</c:v>
                </c:pt>
                <c:pt idx="4">
                  <c:v>56.613477247228175</c:v>
                </c:pt>
                <c:pt idx="5">
                  <c:v>85.9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19F-4C52-9671-A6583455F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460735759"/>
        <c:axId val="1492581040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TTL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26년</c:v>
                </c:pt>
                <c:pt idx="1">
                  <c:v>27년</c:v>
                </c:pt>
                <c:pt idx="2">
                  <c:v>28년</c:v>
                </c:pt>
                <c:pt idx="3">
                  <c:v>30년</c:v>
                </c:pt>
                <c:pt idx="4">
                  <c:v>33년</c:v>
                </c:pt>
                <c:pt idx="5">
                  <c:v>35년</c:v>
                </c:pt>
              </c:strCache>
            </c:strRef>
          </c:cat>
          <c:val>
            <c:numRef>
              <c:f>Sheet1!$F$2:$F$7</c:f>
              <c:numCache>
                <c:formatCode>_(* #,##0_);_(* \(#,##0\);_(* "-"_);_(@_)</c:formatCode>
                <c:ptCount val="6"/>
                <c:pt idx="0">
                  <c:v>372.7277151172583</c:v>
                </c:pt>
                <c:pt idx="1">
                  <c:v>448.92470043982627</c:v>
                </c:pt>
                <c:pt idx="2">
                  <c:v>514.10413817033248</c:v>
                </c:pt>
                <c:pt idx="3">
                  <c:v>662.58287783751041</c:v>
                </c:pt>
                <c:pt idx="4">
                  <c:v>864.80838756022661</c:v>
                </c:pt>
                <c:pt idx="5">
                  <c:v>1043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19F-4C52-9671-A6583455F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0735759"/>
        <c:axId val="1492581040"/>
      </c:lineChart>
      <c:catAx>
        <c:axId val="460735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492581040"/>
        <c:crosses val="autoZero"/>
        <c:auto val="1"/>
        <c:lblAlgn val="ctr"/>
        <c:lblOffset val="100"/>
        <c:noMultiLvlLbl val="0"/>
      </c:catAx>
      <c:valAx>
        <c:axId val="14925810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crossAx val="460735759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4.7449326518294414E-2"/>
          <c:y val="3.1409169634859652E-2"/>
          <c:w val="0.23927662793096335"/>
          <c:h val="0.25579609011826188"/>
        </c:manualLayout>
      </c:layout>
      <c:overlay val="1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717708333333337E-2"/>
          <c:y val="0.14283615526121374"/>
          <c:w val="0.84372673611111115"/>
          <c:h val="0.6991808712021363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AI임팩트 반영</c:v>
                </c:pt>
              </c:strCache>
            </c:strRef>
          </c:tx>
          <c:spPr>
            <a:ln w="28575" cap="rnd">
              <a:solidFill>
                <a:srgbClr val="1218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21850"/>
              </a:solidFill>
              <a:ln w="9525">
                <a:solidFill>
                  <a:srgbClr val="121850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6.904548611111111E-2"/>
                  <c:y val="-0.1111549273201561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0FE-44DD-BB8E-B8E902F90DBC}"/>
                </c:ext>
              </c:extLst>
            </c:dLbl>
            <c:dLbl>
              <c:idx val="3"/>
              <c:layout>
                <c:manualLayout>
                  <c:x val="-7.7864756944444447E-2"/>
                  <c:y val="-7.5445888504852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121850"/>
                      </a:solidFill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+mn-cs"/>
                    </a:defRPr>
                  </a:pPr>
                  <a:endParaRPr lang="ko-K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0764236111111096E-2"/>
                      <c:h val="0.1547094106673021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0FE-44DD-BB8E-B8E902F90DBC}"/>
                </c:ext>
              </c:extLst>
            </c:dLbl>
            <c:dLbl>
              <c:idx val="4"/>
              <c:layout>
                <c:manualLayout>
                  <c:x val="-6.4635763888888975E-2"/>
                  <c:y val="-6.464666666666667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0FE-44DD-BB8E-B8E902F90DBC}"/>
                </c:ext>
              </c:extLst>
            </c:dLbl>
            <c:dLbl>
              <c:idx val="5"/>
              <c:layout>
                <c:manualLayout>
                  <c:x val="-6.4635763888888892E-2"/>
                  <c:y val="-5.0535555555555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FE-44DD-BB8E-B8E902F90DBC}"/>
                </c:ext>
              </c:extLst>
            </c:dLbl>
            <c:dLbl>
              <c:idx val="6"/>
              <c:layout>
                <c:manualLayout>
                  <c:x val="-9.1094097222222226E-2"/>
                  <c:y val="-4.34799999999999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0FE-44DD-BB8E-B8E902F90D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12185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26년</c:v>
                </c:pt>
                <c:pt idx="1">
                  <c:v>27년</c:v>
                </c:pt>
                <c:pt idx="2">
                  <c:v>28년</c:v>
                </c:pt>
                <c:pt idx="3">
                  <c:v>30년</c:v>
                </c:pt>
                <c:pt idx="4">
                  <c:v>33년</c:v>
                </c:pt>
                <c:pt idx="5">
                  <c:v>35년</c:v>
                </c:pt>
              </c:strCache>
            </c:strRef>
          </c:cat>
          <c:val>
            <c:numRef>
              <c:f>Sheet1!$B$2:$B$8</c:f>
              <c:numCache>
                <c:formatCode>#,##0_);\(#,##0\)</c:formatCode>
                <c:ptCount val="7"/>
                <c:pt idx="0">
                  <c:v>94</c:v>
                </c:pt>
                <c:pt idx="1">
                  <c:v>120.87625845797331</c:v>
                </c:pt>
                <c:pt idx="2">
                  <c:v>138.0546935902463</c:v>
                </c:pt>
                <c:pt idx="3">
                  <c:v>167.40201253308663</c:v>
                </c:pt>
                <c:pt idx="4">
                  <c:v>218</c:v>
                </c:pt>
                <c:pt idx="5">
                  <c:v>253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0FE-44DD-BB8E-B8E902F90D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AI임팩트 미반영</c:v>
                </c:pt>
              </c:strCache>
            </c:strRef>
          </c:tx>
          <c:spPr>
            <a:ln w="28575" cap="rnd">
              <a:solidFill>
                <a:srgbClr val="2769A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2769A5"/>
              </a:solidFill>
              <a:ln w="9525">
                <a:solidFill>
                  <a:srgbClr val="2769A5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5277777777777797E-2"/>
                  <c:y val="6.24908179267810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0FE-44DD-BB8E-B8E902F90DBC}"/>
                </c:ext>
              </c:extLst>
            </c:dLbl>
            <c:dLbl>
              <c:idx val="1"/>
              <c:layout>
                <c:manualLayout>
                  <c:x val="-5.2916666666666667E-2"/>
                  <c:y val="7.14180776306067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0FE-44DD-BB8E-B8E902F90DBC}"/>
                </c:ext>
              </c:extLst>
            </c:dLbl>
            <c:dLbl>
              <c:idx val="2"/>
              <c:layout>
                <c:manualLayout>
                  <c:x val="-4.8506944444444443E-2"/>
                  <c:y val="8.03453373344326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0FE-44DD-BB8E-B8E902F90DBC}"/>
                </c:ext>
              </c:extLst>
            </c:dLbl>
            <c:dLbl>
              <c:idx val="3"/>
              <c:layout>
                <c:manualLayout>
                  <c:x val="-4.8506944444444526E-2"/>
                  <c:y val="7.1418077630606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0FE-44DD-BB8E-B8E902F90DBC}"/>
                </c:ext>
              </c:extLst>
            </c:dLbl>
            <c:dLbl>
              <c:idx val="4"/>
              <c:layout>
                <c:manualLayout>
                  <c:x val="-6.6145833333333418E-2"/>
                  <c:y val="6.2490817926780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0FE-44DD-BB8E-B8E902F90DBC}"/>
                </c:ext>
              </c:extLst>
            </c:dLbl>
            <c:dLbl>
              <c:idx val="5"/>
              <c:layout>
                <c:manualLayout>
                  <c:x val="-6.173611111111111E-2"/>
                  <c:y val="7.1418077630606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0FE-44DD-BB8E-B8E902F90D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0070C0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26년</c:v>
                </c:pt>
                <c:pt idx="1">
                  <c:v>27년</c:v>
                </c:pt>
                <c:pt idx="2">
                  <c:v>28년</c:v>
                </c:pt>
                <c:pt idx="3">
                  <c:v>30년</c:v>
                </c:pt>
                <c:pt idx="4">
                  <c:v>33년</c:v>
                </c:pt>
                <c:pt idx="5">
                  <c:v>35년</c:v>
                </c:pt>
              </c:strCache>
            </c:strRef>
          </c:cat>
          <c:val>
            <c:numRef>
              <c:f>Sheet1!$C$2:$C$8</c:f>
              <c:numCache>
                <c:formatCode>#,##0_);\(#,##0\)</c:formatCode>
                <c:ptCount val="7"/>
                <c:pt idx="0">
                  <c:v>88.825438299867358</c:v>
                </c:pt>
                <c:pt idx="1">
                  <c:v>99.583730324809821</c:v>
                </c:pt>
                <c:pt idx="2">
                  <c:v>104.3956879992069</c:v>
                </c:pt>
                <c:pt idx="3">
                  <c:v>110.59772402406774</c:v>
                </c:pt>
                <c:pt idx="4">
                  <c:v>121</c:v>
                </c:pt>
                <c:pt idx="5">
                  <c:v>128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80FE-44DD-BB8E-B8E902F90D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6924111"/>
        <c:axId val="239479967"/>
      </c:lineChart>
      <c:catAx>
        <c:axId val="396924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239479967"/>
        <c:crosses val="autoZero"/>
        <c:auto val="1"/>
        <c:lblAlgn val="ctr"/>
        <c:lblOffset val="100"/>
        <c:noMultiLvlLbl val="0"/>
      </c:catAx>
      <c:valAx>
        <c:axId val="239479967"/>
        <c:scaling>
          <c:orientation val="minMax"/>
        </c:scaling>
        <c:delete val="1"/>
        <c:axPos val="l"/>
        <c:numFmt formatCode="#,##0_);\(#,##0\)" sourceLinked="1"/>
        <c:majorTickMark val="none"/>
        <c:minorTickMark val="none"/>
        <c:tickLblPos val="nextTo"/>
        <c:crossAx val="396924111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4541666666666668E-2"/>
          <c:y val="1.4823468711360605E-2"/>
          <c:w val="0.51878194444444448"/>
          <c:h val="0.21123444444444445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98C62-D2A0-4142-8D5B-ACB6953683D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23889-71D2-4C7F-86F4-6868F2FF2A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67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D2C6-B8AC-6E23-FBF8-CBFB7E52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95155C-69DF-C593-1A4A-E3E39C4B4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68D35A-4682-2D14-C994-E0C4021B4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770794-AE3E-5BF3-95E6-40B46C0EF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610F75-5B05-46CA-BCE5-C7B23BAF12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973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D2C6-B8AC-6E23-FBF8-CBFB7E52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95155C-69DF-C593-1A4A-E3E39C4B4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68D35A-4682-2D14-C994-E0C4021B4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770794-AE3E-5BF3-95E6-40B46C0EF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610F75-5B05-46CA-BCE5-C7B23BAF12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494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5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519546"/>
            <a:ext cx="7429500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8365"/>
            <a:ext cx="7429500" cy="678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56394B-2BA6-4E44-851D-9A45DE5BFAC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232">
            <a:extLst>
              <a:ext uri="{FF2B5EF4-FFF2-40B4-BE49-F238E27FC236}">
                <a16:creationId xmlns:a16="http://schemas.microsoft.com/office/drawing/2014/main" id="{1D6368B3-7B88-4C5A-9CAF-DB342CBD3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467BC4-D058-4962-A412-62F807BB4F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56363"/>
            <a:ext cx="2400703" cy="35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0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456" y="2180136"/>
            <a:ext cx="8247088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456" y="2976879"/>
            <a:ext cx="8247088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41CA46-7809-4962-A950-4921143260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76563"/>
            <a:ext cx="2400703" cy="35295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A9C87F-4F1C-4D32-B984-C8570BABB4F2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val 232">
            <a:extLst>
              <a:ext uri="{FF2B5EF4-FFF2-40B4-BE49-F238E27FC236}">
                <a16:creationId xmlns:a16="http://schemas.microsoft.com/office/drawing/2014/main" id="{28493CF7-D609-444C-9060-8EB4D48A29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082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363000" y="612000"/>
            <a:ext cx="918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94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48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89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950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01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3CC30-4A7C-80B8-A141-1A44CC960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1AE310-599E-8A42-D1F0-E7DCCBC1B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076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BF6D4-B540-BB06-0251-DDBA58941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4BB4A1-FCF1-E455-ADB3-612F878D9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2390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629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519546"/>
            <a:ext cx="7429500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8365"/>
            <a:ext cx="7429500" cy="678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56394B-2BA6-4E44-851D-9A45DE5BFAC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232">
            <a:extLst>
              <a:ext uri="{FF2B5EF4-FFF2-40B4-BE49-F238E27FC236}">
                <a16:creationId xmlns:a16="http://schemas.microsoft.com/office/drawing/2014/main" id="{1D6368B3-7B88-4C5A-9CAF-DB342CBD3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467BC4-D058-4962-A412-62F807BB4F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56363"/>
            <a:ext cx="2400703" cy="35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47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456" y="2180136"/>
            <a:ext cx="8247088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456" y="2976879"/>
            <a:ext cx="8247088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41CA46-7809-4962-A950-4921143260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76563"/>
            <a:ext cx="2400703" cy="35295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A9C87F-4F1C-4D32-B984-C8570BABB4F2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val 232">
            <a:extLst>
              <a:ext uri="{FF2B5EF4-FFF2-40B4-BE49-F238E27FC236}">
                <a16:creationId xmlns:a16="http://schemas.microsoft.com/office/drawing/2014/main" id="{28493CF7-D609-444C-9060-8EB4D48A29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822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363000" y="612000"/>
            <a:ext cx="918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41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497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590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529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140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350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028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0969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12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438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6023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1754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053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0812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8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7421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746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0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8960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1565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208136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8F9AC-8204-46FA-B808-449C59A80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057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3248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12AA0-6F6D-4EDB-A54E-760DF649BFB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7309-B7A3-4E4D-A28A-FEBA640BDC6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2558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868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3909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7992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2577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452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517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6573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685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8395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2246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3273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391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4457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6291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rgbClr val="4BBD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759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" t="5694" r="659" b="1036"/>
          <a:stretch/>
        </p:blipFill>
        <p:spPr>
          <a:xfrm>
            <a:off x="-1" y="6502400"/>
            <a:ext cx="9906001" cy="355600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E8E4478-F79F-414B-A94D-12F4B23A0BA9}"/>
              </a:ext>
            </a:extLst>
          </p:cNvPr>
          <p:cNvCxnSpPr>
            <a:cxnSpLocks/>
          </p:cNvCxnSpPr>
          <p:nvPr userDrawn="1"/>
        </p:nvCxnSpPr>
        <p:spPr>
          <a:xfrm>
            <a:off x="-1" y="582220"/>
            <a:ext cx="5325374" cy="0"/>
          </a:xfrm>
          <a:prstGeom prst="line">
            <a:avLst/>
          </a:prstGeom>
          <a:ln w="28575">
            <a:solidFill>
              <a:srgbClr val="4BB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71B1C4-BD67-4FA7-B709-E2C7B0537C51}"/>
              </a:ext>
            </a:extLst>
          </p:cNvPr>
          <p:cNvSpPr/>
          <p:nvPr userDrawn="1"/>
        </p:nvSpPr>
        <p:spPr>
          <a:xfrm>
            <a:off x="-8627" y="1"/>
            <a:ext cx="215658" cy="584772"/>
          </a:xfrm>
          <a:prstGeom prst="rect">
            <a:avLst/>
          </a:prstGeom>
          <a:solidFill>
            <a:srgbClr val="4BBDCF"/>
          </a:solidFill>
          <a:ln>
            <a:solidFill>
              <a:srgbClr val="4BBD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</p:spTree>
    <p:extLst>
      <p:ext uri="{BB962C8B-B14F-4D97-AF65-F5344CB8AC3E}">
        <p14:creationId xmlns:p14="http://schemas.microsoft.com/office/powerpoint/2010/main" val="2138929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0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1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5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7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8.xml"/></Relationships>
</file>

<file path=ppt/slideMasters/_rels/slideMaster16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9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30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31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32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33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36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7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38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39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40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theme" Target="../theme/theme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86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2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228606" indent="-228606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68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107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07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93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228606" indent="-228606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93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96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15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83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49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094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0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31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4384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40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674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72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7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46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A2CE39-3A3D-47C9-8337-D19B89C86E93}" type="datetimeFigureOut">
              <a:rPr kumimoji="1" lang="ko-KR" altLang="en-US" b="1" smtClean="0">
                <a:solidFill>
                  <a:prstClr val="black">
                    <a:tint val="75000"/>
                  </a:prstClr>
                </a:solidFill>
                <a:latin typeface="Arial" charset="0"/>
                <a:ea typeface="굴림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2026-01-21</a:t>
            </a:fld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08F9AC-8204-46FA-B808-449C59A80C80}" type="slidenum">
              <a:rPr kumimoji="1" lang="ko-KR" altLang="en-US" b="1" smtClean="0">
                <a:solidFill>
                  <a:prstClr val="black">
                    <a:tint val="75000"/>
                  </a:prstClr>
                </a:solidFill>
                <a:latin typeface="Arial" charset="0"/>
                <a:ea typeface="굴림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323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</p:sldLayoutIdLst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8" algn="l" defTabSz="914395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8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61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12AA0-6F6D-4EDB-A54E-760DF649BFB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87309-B7A3-4E4D-A28A-FEBA640BDC6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01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457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6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634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CE390-D1BB-4139-B0C8-8BFC3FA5570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25FD4-01F5-4757-8E3C-8EB99EBBC9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89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7" Type="http://schemas.openxmlformats.org/officeDocument/2006/relationships/slide" Target="slide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5" Type="http://schemas.openxmlformats.org/officeDocument/2006/relationships/slide" Target="slide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1842-1E79-0BB4-EB08-7E9865B1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DE252622-4AFA-49D8-8ABD-3D9885DF6AD0}"/>
              </a:ext>
            </a:extLst>
          </p:cNvPr>
          <p:cNvSpPr txBox="1"/>
          <p:nvPr/>
        </p:nvSpPr>
        <p:spPr>
          <a:xfrm>
            <a:off x="35280" y="4341"/>
            <a:ext cx="3076738" cy="398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kumimoji="0" lang="en-US" altLang="ko-KR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</a:t>
            </a:r>
            <a:r>
              <a:rPr kumimoji="0" lang="ko-KR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글로벌 </a:t>
            </a:r>
            <a:r>
              <a:rPr kumimoji="0" lang="en-US" altLang="ko-KR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 </a:t>
            </a:r>
            <a:r>
              <a:rPr kumimoji="0" lang="ko-KR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시장 전망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D2F562-A04D-2643-AA16-E1F1B58AE898}"/>
              </a:ext>
            </a:extLst>
          </p:cNvPr>
          <p:cNvSpPr/>
          <p:nvPr/>
        </p:nvSpPr>
        <p:spPr>
          <a:xfrm>
            <a:off x="146343" y="534115"/>
            <a:ext cx="756693" cy="693765"/>
          </a:xfrm>
          <a:prstGeom prst="rect">
            <a:avLst/>
          </a:prstGeom>
          <a:noFill/>
          <a:ln w="3175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122237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747F0-9065-698E-A6F2-E64A3CF2CEF1}"/>
              </a:ext>
            </a:extLst>
          </p:cNvPr>
          <p:cNvSpPr txBox="1"/>
          <p:nvPr/>
        </p:nvSpPr>
        <p:spPr bwMode="auto">
          <a:xfrm>
            <a:off x="1026378" y="499390"/>
            <a:ext cx="8815120" cy="254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『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재생에너지 및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 센터 확대와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전력망 노후화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』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 전력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Peak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대응 및 망 안정성에 필수 기자재인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시장 성장 지속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74EDCF-9070-B975-D8FA-AC7EA80D4386}"/>
              </a:ext>
            </a:extLst>
          </p:cNvPr>
          <p:cNvSpPr/>
          <p:nvPr/>
        </p:nvSpPr>
        <p:spPr>
          <a:xfrm>
            <a:off x="2204311" y="4304930"/>
            <a:ext cx="12069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탈 러시아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천연가스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7" name="직사각형 75">
            <a:extLst>
              <a:ext uri="{FF2B5EF4-FFF2-40B4-BE49-F238E27FC236}">
                <a16:creationId xmlns:a16="http://schemas.microsoft.com/office/drawing/2014/main" id="{861B5B18-AAF8-DC11-2D9A-B2CD2A0C4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156" y="802542"/>
            <a:ext cx="5964967" cy="23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ESS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는  ➊ 낮은 발전 단가</a:t>
            </a:r>
            <a:r>
              <a:rPr kumimoji="0" lang="en-US" altLang="ko-KR" sz="1300" b="0" i="0" u="none" strike="noStrike" kern="1200" cap="none" spc="-2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➋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인허가 용이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빠른 설치</a:t>
            </a:r>
            <a:r>
              <a:rPr kumimoji="0" lang="en-US" altLang="ko-KR" sz="1300" b="0" i="0" u="none" strike="noStrike" kern="1200" cap="none" spc="-2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2)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장점 보유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764658-3F83-4FD5-E983-331755170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155" y="1033786"/>
            <a:ext cx="5964967" cy="531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1" fontAlgn="base" latinLnBrk="0" hangingPunct="1">
              <a:lnSpc>
                <a:spcPct val="14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AI 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데이터 센터는 미국에서만 향후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120GW 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이상의 추가 전력 수요 유발</a:t>
            </a:r>
            <a:b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기저발전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원자력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가스발전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 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도입 불가로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ESS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의 기저 발전원화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(8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시간 이상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 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예상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E6D3E-DA53-EF28-1400-B9E1B823DD78}"/>
              </a:ext>
            </a:extLst>
          </p:cNvPr>
          <p:cNvSpPr txBox="1"/>
          <p:nvPr/>
        </p:nvSpPr>
        <p:spPr bwMode="auto">
          <a:xfrm>
            <a:off x="1026378" y="1790454"/>
            <a:ext cx="5802888" cy="254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규제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정책 기반 경제성 확보된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미국 전력망용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시장 중심 성장</a:t>
            </a:r>
          </a:p>
        </p:txBody>
      </p:sp>
      <p:sp>
        <p:nvSpPr>
          <p:cNvPr id="10" name="직사각형 75">
            <a:extLst>
              <a:ext uri="{FF2B5EF4-FFF2-40B4-BE49-F238E27FC236}">
                <a16:creationId xmlns:a16="http://schemas.microsoft.com/office/drawing/2014/main" id="{F73827BC-9FF3-5B3E-F2EC-A1825E212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730" y="2044109"/>
            <a:ext cx="5964967" cy="23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미국 </a:t>
            </a:r>
            <a:r>
              <a:rPr kumimoji="0" lang="ko-KR" altLang="en-US" sz="1300" b="0" i="0" u="none" strike="noStrike" kern="1200" cap="none" spc="-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전력망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: OBBBA 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법안 통과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대중국 규제 및 미국 생산에 대한 지원 강화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endParaRPr kumimoji="0" lang="ko-KR" altLang="en-US" sz="13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EA8741-ACB8-A4EF-8B11-EDB6818F65D8}"/>
              </a:ext>
            </a:extLst>
          </p:cNvPr>
          <p:cNvSpPr txBox="1"/>
          <p:nvPr/>
        </p:nvSpPr>
        <p:spPr>
          <a:xfrm>
            <a:off x="159340" y="6644409"/>
            <a:ext cx="8137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 spc="-2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 LCOE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($/MWh) :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석탄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$73,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가스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$108 vs.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태양광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$50,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태양광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+ESS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$75  2)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원자력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10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년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가스발전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5~8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년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vs.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태양광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3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년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ESS 1.5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년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endParaRPr kumimoji="0" lang="ko-KR" altLang="en-US" sz="9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0" name="Line 3">
            <a:extLst>
              <a:ext uri="{FF2B5EF4-FFF2-40B4-BE49-F238E27FC236}">
                <a16:creationId xmlns:a16="http://schemas.microsoft.com/office/drawing/2014/main" id="{DA147C7A-BBBA-C230-F21A-C3E761DFE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888" y="6641011"/>
            <a:ext cx="963723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D6AB72-EB3D-4002-C60B-FAC04EFF2E16}"/>
              </a:ext>
            </a:extLst>
          </p:cNvPr>
          <p:cNvSpPr/>
          <p:nvPr/>
        </p:nvSpPr>
        <p:spPr>
          <a:xfrm>
            <a:off x="159340" y="2916380"/>
            <a:ext cx="756693" cy="888746"/>
          </a:xfrm>
          <a:prstGeom prst="rect">
            <a:avLst/>
          </a:prstGeom>
          <a:noFill/>
          <a:ln w="3175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122237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시장</a:t>
            </a:r>
            <a:b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전망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C12CFC1-262E-7243-AB53-7FF5CD1A1156}"/>
              </a:ext>
            </a:extLst>
          </p:cNvPr>
          <p:cNvCxnSpPr>
            <a:cxnSpLocks/>
          </p:cNvCxnSpPr>
          <p:nvPr/>
        </p:nvCxnSpPr>
        <p:spPr bwMode="auto">
          <a:xfrm>
            <a:off x="235473" y="2835701"/>
            <a:ext cx="6514086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FF66993-E3BE-3707-19A6-A3D7A4A86462}"/>
              </a:ext>
            </a:extLst>
          </p:cNvPr>
          <p:cNvSpPr/>
          <p:nvPr/>
        </p:nvSpPr>
        <p:spPr>
          <a:xfrm>
            <a:off x="1111232" y="2923965"/>
            <a:ext cx="963723" cy="2957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용도 및 지역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57ED5B7-70E1-DB9A-0CD0-51A67B986FCD}"/>
              </a:ext>
            </a:extLst>
          </p:cNvPr>
          <p:cNvSpPr/>
          <p:nvPr/>
        </p:nvSpPr>
        <p:spPr>
          <a:xfrm>
            <a:off x="2180091" y="2923965"/>
            <a:ext cx="1829933" cy="2957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시장 환경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6F878C9-6DD6-1E18-E825-7EC039BC593D}"/>
              </a:ext>
            </a:extLst>
          </p:cNvPr>
          <p:cNvSpPr/>
          <p:nvPr/>
        </p:nvSpPr>
        <p:spPr>
          <a:xfrm>
            <a:off x="4079875" y="2923965"/>
            <a:ext cx="1630426" cy="2957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Key Feature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79529FB-DF35-C4A0-F4B4-99E79829395A}"/>
              </a:ext>
            </a:extLst>
          </p:cNvPr>
          <p:cNvSpPr/>
          <p:nvPr/>
        </p:nvSpPr>
        <p:spPr>
          <a:xfrm>
            <a:off x="5765800" y="2923965"/>
            <a:ext cx="1162278" cy="2957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시장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당사 매력도</a:t>
            </a:r>
          </a:p>
        </p:txBody>
      </p:sp>
      <p:sp>
        <p:nvSpPr>
          <p:cNvPr id="27" name="직사각형 75">
            <a:extLst>
              <a:ext uri="{FF2B5EF4-FFF2-40B4-BE49-F238E27FC236}">
                <a16:creationId xmlns:a16="http://schemas.microsoft.com/office/drawing/2014/main" id="{EFC88B76-F9AD-667A-72A2-91F4EF954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157" y="3222841"/>
            <a:ext cx="944798" cy="218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미국 </a:t>
            </a: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전력망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CC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8" name="직사각형 75">
            <a:extLst>
              <a:ext uri="{FF2B5EF4-FFF2-40B4-BE49-F238E27FC236}">
                <a16:creationId xmlns:a16="http://schemas.microsoft.com/office/drawing/2014/main" id="{C730F6AC-2950-8576-285D-A5E61E081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520" y="3222841"/>
            <a:ext cx="1945420" cy="39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OBBBA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통과로 정책적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불확실성 제거 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현지화 중요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9" name="직사각형 75">
            <a:extLst>
              <a:ext uri="{FF2B5EF4-FFF2-40B4-BE49-F238E27FC236}">
                <a16:creationId xmlns:a16="http://schemas.microsoft.com/office/drawing/2014/main" id="{600D37FA-27C0-DF27-F7FD-A15C4A80F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9939" y="3222841"/>
            <a:ext cx="2318113" cy="596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대중국 관세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강화 및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AMPC / ITC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유지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Non-PFE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요건 도입</a:t>
            </a:r>
          </a:p>
        </p:txBody>
      </p:sp>
      <p:sp>
        <p:nvSpPr>
          <p:cNvPr id="30" name="직사각형 75">
            <a:extLst>
              <a:ext uri="{FF2B5EF4-FFF2-40B4-BE49-F238E27FC236}">
                <a16:creationId xmlns:a16="http://schemas.microsoft.com/office/drawing/2014/main" id="{42B8A947-B3A5-3AA2-B61A-97EC0562F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157" y="3931200"/>
            <a:ext cx="944798" cy="218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유럽 </a:t>
            </a: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전력망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1" name="직사각형 75">
            <a:extLst>
              <a:ext uri="{FF2B5EF4-FFF2-40B4-BE49-F238E27FC236}">
                <a16:creationId xmlns:a16="http://schemas.microsoft.com/office/drawing/2014/main" id="{BC94448E-071C-E64D-57FC-39D9F5897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923" y="3216645"/>
            <a:ext cx="141123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High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미국 </a:t>
            </a:r>
            <a:r>
              <a:rPr kumimoji="0" lang="en-US" altLang="ko-KR" sz="1200" b="0" i="0" u="none" strike="noStrike" kern="1200" cap="none" spc="-2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Capa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및 제품 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준비된 </a:t>
            </a: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엔솔에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유리</a:t>
            </a:r>
          </a:p>
        </p:txBody>
      </p:sp>
      <p:sp>
        <p:nvSpPr>
          <p:cNvPr id="32" name="직사각형 75">
            <a:extLst>
              <a:ext uri="{FF2B5EF4-FFF2-40B4-BE49-F238E27FC236}">
                <a16:creationId xmlns:a16="http://schemas.microsoft.com/office/drawing/2014/main" id="{19BCD295-F3B5-D3D0-5CF4-42DFE074B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573" y="2305000"/>
            <a:ext cx="5964967" cy="23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단순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PPA 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계약 외 </a:t>
            </a:r>
            <a:r>
              <a:rPr kumimoji="0" lang="en-US" altLang="ko-KR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BESS</a:t>
            </a:r>
            <a:r>
              <a:rPr kumimoji="0" lang="ko-KR" altLang="en-US" sz="1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자산 특수성 활용한 전력 거래 서비스 시장 성장 </a:t>
            </a:r>
          </a:p>
        </p:txBody>
      </p:sp>
      <p:sp>
        <p:nvSpPr>
          <p:cNvPr id="33" name="직사각형 75">
            <a:extLst>
              <a:ext uri="{FF2B5EF4-FFF2-40B4-BE49-F238E27FC236}">
                <a16:creationId xmlns:a16="http://schemas.microsoft.com/office/drawing/2014/main" id="{BCD0AC3A-4149-AADE-755F-2202AA8A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220" y="3919035"/>
            <a:ext cx="1842804" cy="39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재생 에너지 확대 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에너지 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안보 강화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지원 정책 미흡</a:t>
            </a:r>
          </a:p>
        </p:txBody>
      </p:sp>
      <p:sp>
        <p:nvSpPr>
          <p:cNvPr id="34" name="직사각형 75">
            <a:extLst>
              <a:ext uri="{FF2B5EF4-FFF2-40B4-BE49-F238E27FC236}">
                <a16:creationId xmlns:a16="http://schemas.microsoft.com/office/drawing/2014/main" id="{191F2DAF-B859-5FEA-0CAD-6EF484640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640" y="3922588"/>
            <a:ext cx="1842804" cy="190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중국 업체 주도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C746D9E-F872-E489-3D8E-69AED07A9B13}"/>
              </a:ext>
            </a:extLst>
          </p:cNvPr>
          <p:cNvSpPr/>
          <p:nvPr/>
        </p:nvSpPr>
        <p:spPr>
          <a:xfrm>
            <a:off x="2221025" y="4910201"/>
            <a:ext cx="12069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호주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중동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대만 등</a:t>
            </a:r>
            <a:endParaRPr kumimoji="0" lang="en-US" altLang="ko-KR" sz="900" b="0" i="0" u="none" strike="noStrike" kern="1200" cap="none" spc="-2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6" name="직사각형 75">
            <a:extLst>
              <a:ext uri="{FF2B5EF4-FFF2-40B4-BE49-F238E27FC236}">
                <a16:creationId xmlns:a16="http://schemas.microsoft.com/office/drawing/2014/main" id="{8307B22E-9CAA-0B3C-2276-DCA5644E6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157" y="4540400"/>
            <a:ext cx="9447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미국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유럽 外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전력망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7" name="직사각형 75">
            <a:extLst>
              <a:ext uri="{FF2B5EF4-FFF2-40B4-BE49-F238E27FC236}">
                <a16:creationId xmlns:a16="http://schemas.microsoft.com/office/drawing/2014/main" id="{788BEA93-84F5-279C-0F6D-AD85AC33F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220" y="4528235"/>
            <a:ext cx="1842804" cy="39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신재생 확대 下 망 안정화 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 ESS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니즈 확대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34E6D90-7BBC-2E19-00C9-91F936B75595}"/>
              </a:ext>
            </a:extLst>
          </p:cNvPr>
          <p:cNvCxnSpPr>
            <a:cxnSpLocks/>
          </p:cNvCxnSpPr>
          <p:nvPr/>
        </p:nvCxnSpPr>
        <p:spPr bwMode="auto">
          <a:xfrm flipV="1">
            <a:off x="1190624" y="3882657"/>
            <a:ext cx="551181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BE0AA8C-5ADC-72F0-FFBD-EF4C6F2165DF}"/>
              </a:ext>
            </a:extLst>
          </p:cNvPr>
          <p:cNvCxnSpPr>
            <a:cxnSpLocks/>
          </p:cNvCxnSpPr>
          <p:nvPr/>
        </p:nvCxnSpPr>
        <p:spPr bwMode="auto">
          <a:xfrm flipV="1">
            <a:off x="1190624" y="5207961"/>
            <a:ext cx="551181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직사각형 75">
            <a:extLst>
              <a:ext uri="{FF2B5EF4-FFF2-40B4-BE49-F238E27FC236}">
                <a16:creationId xmlns:a16="http://schemas.microsoft.com/office/drawing/2014/main" id="{EBBEE85C-086E-09BA-FEB0-188E27E86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315" y="4164905"/>
            <a:ext cx="1855504" cy="497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※ 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중국 업체의 미국 사업 제약으로 </a:t>
            </a:r>
            <a:b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   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가격 경쟁 심화 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(balloon effect)</a:t>
            </a:r>
            <a:b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    : DC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컨테이너 기준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$80/kWh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이하</a:t>
            </a:r>
          </a:p>
        </p:txBody>
      </p:sp>
      <p:sp>
        <p:nvSpPr>
          <p:cNvPr id="41" name="직사각형 75">
            <a:extLst>
              <a:ext uri="{FF2B5EF4-FFF2-40B4-BE49-F238E27FC236}">
                <a16:creationId xmlns:a16="http://schemas.microsoft.com/office/drawing/2014/main" id="{167B6F8F-897C-473D-BDA2-3643BCAB0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315" y="4682986"/>
            <a:ext cx="1842804" cy="497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※ 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중동 등 신시장은 투자 및 배터리 </a:t>
            </a:r>
            <a:b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   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생산 현지화 요구 증가</a:t>
            </a:r>
            <a:b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    (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과제 지연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취소 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risk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또한 높음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2" name="직사각형 75">
            <a:extLst>
              <a:ext uri="{FF2B5EF4-FFF2-40B4-BE49-F238E27FC236}">
                <a16:creationId xmlns:a16="http://schemas.microsoft.com/office/drawing/2014/main" id="{B4751F3E-8916-AA9F-B811-4BB646161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923" y="3914351"/>
            <a:ext cx="141123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Med/Low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3" name="직사각형 75">
            <a:extLst>
              <a:ext uri="{FF2B5EF4-FFF2-40B4-BE49-F238E27FC236}">
                <a16:creationId xmlns:a16="http://schemas.microsoft.com/office/drawing/2014/main" id="{AFA3E474-AA43-EF40-EAA7-88C040880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157" y="5259281"/>
            <a:ext cx="1074153" cy="218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주택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상업용</a:t>
            </a:r>
          </a:p>
        </p:txBody>
      </p:sp>
      <p:sp>
        <p:nvSpPr>
          <p:cNvPr id="44" name="직사각형 75">
            <a:extLst>
              <a:ext uri="{FF2B5EF4-FFF2-40B4-BE49-F238E27FC236}">
                <a16:creationId xmlns:a16="http://schemas.microsoft.com/office/drawing/2014/main" id="{B584975B-E1F5-619F-9D34-9D403FB0F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220" y="5286963"/>
            <a:ext cx="1842804" cy="190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실 수요 기반 성장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9C77C08-6249-283F-48FF-F8A6E0F35613}"/>
              </a:ext>
            </a:extLst>
          </p:cNvPr>
          <p:cNvSpPr/>
          <p:nvPr/>
        </p:nvSpPr>
        <p:spPr>
          <a:xfrm>
            <a:off x="2204310" y="5463790"/>
            <a:ext cx="1620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2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ToU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요금 차액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정전 대비</a:t>
            </a:r>
            <a:endParaRPr kumimoji="0" lang="en-US" altLang="ko-KR" sz="900" b="0" i="0" u="none" strike="noStrike" kern="1200" cap="none" spc="-2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6" name="직사각형 75">
            <a:extLst>
              <a:ext uri="{FF2B5EF4-FFF2-40B4-BE49-F238E27FC236}">
                <a16:creationId xmlns:a16="http://schemas.microsoft.com/office/drawing/2014/main" id="{F2BCC062-15D7-09C7-8792-E3AC59677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220" y="5657730"/>
            <a:ext cx="2000920" cy="39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Local Channel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중요 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EV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충전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V2G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시장 지연</a:t>
            </a:r>
          </a:p>
        </p:txBody>
      </p:sp>
      <p:sp>
        <p:nvSpPr>
          <p:cNvPr id="47" name="직사각형 75">
            <a:extLst>
              <a:ext uri="{FF2B5EF4-FFF2-40B4-BE49-F238E27FC236}">
                <a16:creationId xmlns:a16="http://schemas.microsoft.com/office/drawing/2014/main" id="{D668A599-EDBE-81A3-A352-2769D8A2A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640" y="5267913"/>
            <a:ext cx="1842804" cy="38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일부 국가 외 시장 </a:t>
            </a: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미형성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8" name="직사각형 75">
            <a:extLst>
              <a:ext uri="{FF2B5EF4-FFF2-40B4-BE49-F238E27FC236}">
                <a16:creationId xmlns:a16="http://schemas.microsoft.com/office/drawing/2014/main" id="{E0368B68-A185-1349-803A-BF871D6E5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923" y="4638362"/>
            <a:ext cx="141123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Low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4B82D9F-6221-3890-4C91-7A07BECEBFA9}"/>
              </a:ext>
            </a:extLst>
          </p:cNvPr>
          <p:cNvSpPr/>
          <p:nvPr/>
        </p:nvSpPr>
        <p:spPr>
          <a:xfrm>
            <a:off x="4112638" y="5498933"/>
            <a:ext cx="27492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주택용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미국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유럽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호주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일본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 ,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상업용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미국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유럽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중국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2F79A62-7EB4-1E95-BA62-08D53533349C}"/>
              </a:ext>
            </a:extLst>
          </p:cNvPr>
          <p:cNvSpPr/>
          <p:nvPr/>
        </p:nvSpPr>
        <p:spPr>
          <a:xfrm>
            <a:off x="3364248" y="5647268"/>
            <a:ext cx="5007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B2B2C</a:t>
            </a:r>
          </a:p>
        </p:txBody>
      </p:sp>
      <p:sp>
        <p:nvSpPr>
          <p:cNvPr id="51" name="직사각형 75">
            <a:extLst>
              <a:ext uri="{FF2B5EF4-FFF2-40B4-BE49-F238E27FC236}">
                <a16:creationId xmlns:a16="http://schemas.microsoft.com/office/drawing/2014/main" id="{019C0CAE-3633-CE77-B930-18278E6D1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321" y="5702397"/>
            <a:ext cx="1842804" cy="39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미국 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테슬라 과점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 </a:t>
            </a:r>
            <a:b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미국 외 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중국 업체 중심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CD243CE-6B1B-2099-64E0-3FE56366BBC5}"/>
              </a:ext>
            </a:extLst>
          </p:cNvPr>
          <p:cNvCxnSpPr>
            <a:cxnSpLocks/>
          </p:cNvCxnSpPr>
          <p:nvPr/>
        </p:nvCxnSpPr>
        <p:spPr bwMode="auto">
          <a:xfrm flipV="1">
            <a:off x="1190624" y="6157737"/>
            <a:ext cx="551181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직사각형 75">
            <a:extLst>
              <a:ext uri="{FF2B5EF4-FFF2-40B4-BE49-F238E27FC236}">
                <a16:creationId xmlns:a16="http://schemas.microsoft.com/office/drawing/2014/main" id="{D4D28196-8823-8BB9-3679-2F47FB501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923" y="5254581"/>
            <a:ext cx="141123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Med/Low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54" name="직사각형 75">
            <a:extLst>
              <a:ext uri="{FF2B5EF4-FFF2-40B4-BE49-F238E27FC236}">
                <a16:creationId xmlns:a16="http://schemas.microsoft.com/office/drawing/2014/main" id="{0FF07A4A-4A44-2408-3BA8-1704B20EE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157" y="6207026"/>
            <a:ext cx="1074153" cy="214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UPS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CC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55" name="직사각형 75">
            <a:extLst>
              <a:ext uri="{FF2B5EF4-FFF2-40B4-BE49-F238E27FC236}">
                <a16:creationId xmlns:a16="http://schemas.microsoft.com/office/drawing/2014/main" id="{C0829163-C696-B1FC-E059-0FFC5BF8A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6200526"/>
            <a:ext cx="1842804" cy="190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UPS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제조사 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SDI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 주도</a:t>
            </a:r>
          </a:p>
        </p:txBody>
      </p:sp>
      <p:sp>
        <p:nvSpPr>
          <p:cNvPr id="56" name="직사각형 75">
            <a:extLst>
              <a:ext uri="{FF2B5EF4-FFF2-40B4-BE49-F238E27FC236}">
                <a16:creationId xmlns:a16="http://schemas.microsoft.com/office/drawing/2014/main" id="{8CBB6C8B-BC4B-0CFE-E028-D4EB0BF58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370" y="6426809"/>
            <a:ext cx="2099980" cy="190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백업 타임 감소 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(10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분→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5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분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57" name="직사각형 75">
            <a:extLst>
              <a:ext uri="{FF2B5EF4-FFF2-40B4-BE49-F238E27FC236}">
                <a16:creationId xmlns:a16="http://schemas.microsoft.com/office/drawing/2014/main" id="{D47DCF5D-7F64-8C79-3DC0-D72BA18B3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073" y="6236738"/>
            <a:ext cx="2099980" cy="190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데이터 센터로 수요 확대 </a:t>
            </a:r>
          </a:p>
        </p:txBody>
      </p:sp>
      <p:sp>
        <p:nvSpPr>
          <p:cNvPr id="58" name="직사각형 75">
            <a:extLst>
              <a:ext uri="{FF2B5EF4-FFF2-40B4-BE49-F238E27FC236}">
                <a16:creationId xmlns:a16="http://schemas.microsoft.com/office/drawing/2014/main" id="{9BDC13FE-F880-1471-0538-D2D473D9E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923" y="6223159"/>
            <a:ext cx="141123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Med/High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006600"/>
              </a:solidFill>
              <a:effectLst/>
              <a:highlight>
                <a:srgbClr val="FFFFCC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59" name="직사각형 75">
            <a:extLst>
              <a:ext uri="{FF2B5EF4-FFF2-40B4-BE49-F238E27FC236}">
                <a16:creationId xmlns:a16="http://schemas.microsoft.com/office/drawing/2014/main" id="{76404BF0-2C24-145C-F8A5-21DFEABBE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300" y="4097730"/>
            <a:ext cx="141123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일부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000" b="0" i="0" u="none" strike="noStrike" kern="1200" cap="none" spc="-2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유럽산</a:t>
            </a:r>
            <a:b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선호 기조 존재</a:t>
            </a:r>
          </a:p>
        </p:txBody>
      </p:sp>
      <p:sp>
        <p:nvSpPr>
          <p:cNvPr id="60" name="직사각형 75">
            <a:extLst>
              <a:ext uri="{FF2B5EF4-FFF2-40B4-BE49-F238E27FC236}">
                <a16:creationId xmlns:a16="http://schemas.microsoft.com/office/drawing/2014/main" id="{8BBB8668-4E9A-91F1-2D5A-F7E772EFC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923" y="4847264"/>
            <a:ext cx="141123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초저가 요구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16F8BB-1787-E551-57B7-E3ABE65925AF}"/>
              </a:ext>
            </a:extLst>
          </p:cNvPr>
          <p:cNvSpPr txBox="1"/>
          <p:nvPr/>
        </p:nvSpPr>
        <p:spPr>
          <a:xfrm>
            <a:off x="1205855" y="1562599"/>
            <a:ext cx="55437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└ 가스 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: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운송 파이프라인 용량 부족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(Take-away Constraint)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으로 추가 건설 승인 難</a:t>
            </a:r>
          </a:p>
        </p:txBody>
      </p:sp>
      <p:sp>
        <p:nvSpPr>
          <p:cNvPr id="63" name="직사각형 75">
            <a:extLst>
              <a:ext uri="{FF2B5EF4-FFF2-40B4-BE49-F238E27FC236}">
                <a16:creationId xmlns:a16="http://schemas.microsoft.com/office/drawing/2014/main" id="{F90962B4-EA58-308F-3391-F3E42EA74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4" y="2546588"/>
            <a:ext cx="5964967" cy="181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비고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미국 외 시장은 일부 로컬 </a:t>
            </a:r>
            <a:r>
              <a:rPr kumimoji="0" lang="ko-KR" altLang="en-US" sz="1000" b="0" i="0" u="none" strike="noStrike" kern="1200" cap="none" spc="-2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전력사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입찰 시장 제외 중국 업체와의 완전 경쟁 시장</a:t>
            </a:r>
          </a:p>
        </p:txBody>
      </p:sp>
      <p:sp>
        <p:nvSpPr>
          <p:cNvPr id="65" name="직사각형 75">
            <a:extLst>
              <a:ext uri="{FF2B5EF4-FFF2-40B4-BE49-F238E27FC236}">
                <a16:creationId xmlns:a16="http://schemas.microsoft.com/office/drawing/2014/main" id="{6303925D-404C-22AF-9C67-991EDD731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6614" y="3640680"/>
            <a:ext cx="1945420" cy="190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900" algn="l"/>
                <a:tab pos="180975" algn="l"/>
                <a:tab pos="361950" algn="l"/>
                <a:tab pos="5829300" algn="l"/>
              </a:tabLst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데이터센터로 수요 확대</a:t>
            </a:r>
          </a:p>
        </p:txBody>
      </p:sp>
      <p:graphicFrame>
        <p:nvGraphicFramePr>
          <p:cNvPr id="68" name="차트 67">
            <a:extLst>
              <a:ext uri="{FF2B5EF4-FFF2-40B4-BE49-F238E27FC236}">
                <a16:creationId xmlns:a16="http://schemas.microsoft.com/office/drawing/2014/main" id="{BFE85385-1D86-B576-81BF-520F5D1AE13C}"/>
              </a:ext>
            </a:extLst>
          </p:cNvPr>
          <p:cNvGraphicFramePr/>
          <p:nvPr/>
        </p:nvGraphicFramePr>
        <p:xfrm>
          <a:off x="7217673" y="1210755"/>
          <a:ext cx="2617740" cy="1905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D72DB891-80DF-75D3-38F7-0903AA3E47A9}"/>
              </a:ext>
            </a:extLst>
          </p:cNvPr>
          <p:cNvCxnSpPr>
            <a:cxnSpLocks/>
          </p:cNvCxnSpPr>
          <p:nvPr/>
        </p:nvCxnSpPr>
        <p:spPr>
          <a:xfrm flipV="1">
            <a:off x="7377180" y="1251635"/>
            <a:ext cx="2032382" cy="844451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1517162-1198-1A57-2EF6-226D87A968CF}"/>
              </a:ext>
            </a:extLst>
          </p:cNvPr>
          <p:cNvSpPr txBox="1"/>
          <p:nvPr/>
        </p:nvSpPr>
        <p:spPr>
          <a:xfrm>
            <a:off x="8019610" y="1264337"/>
            <a:ext cx="59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CAGR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12%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4558913-43A2-FB7C-9C89-71574195728C}"/>
              </a:ext>
            </a:extLst>
          </p:cNvPr>
          <p:cNvSpPr txBox="1"/>
          <p:nvPr/>
        </p:nvSpPr>
        <p:spPr>
          <a:xfrm>
            <a:off x="7376366" y="2494679"/>
            <a:ext cx="474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82%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1746962-D973-931D-9351-999FB623DF8A}"/>
              </a:ext>
            </a:extLst>
          </p:cNvPr>
          <p:cNvSpPr txBox="1"/>
          <p:nvPr/>
        </p:nvSpPr>
        <p:spPr>
          <a:xfrm>
            <a:off x="7768106" y="2445561"/>
            <a:ext cx="474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83%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CD0833F-2D48-904E-DDB3-FD5F51F907CE}"/>
              </a:ext>
            </a:extLst>
          </p:cNvPr>
          <p:cNvSpPr txBox="1"/>
          <p:nvPr/>
        </p:nvSpPr>
        <p:spPr>
          <a:xfrm>
            <a:off x="8149703" y="2415812"/>
            <a:ext cx="474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84%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978E59E-1898-FE85-7CBC-F644EA6515EA}"/>
              </a:ext>
            </a:extLst>
          </p:cNvPr>
          <p:cNvSpPr txBox="1"/>
          <p:nvPr/>
        </p:nvSpPr>
        <p:spPr>
          <a:xfrm>
            <a:off x="8542163" y="2333770"/>
            <a:ext cx="474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83%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9FAD831-E3F1-E8CD-0939-B8D4AC76ABD6}"/>
              </a:ext>
            </a:extLst>
          </p:cNvPr>
          <p:cNvSpPr txBox="1"/>
          <p:nvPr/>
        </p:nvSpPr>
        <p:spPr>
          <a:xfrm>
            <a:off x="8938819" y="2253283"/>
            <a:ext cx="474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83%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5223F63-8264-6B4E-1D3F-DB5FE2F4970E}"/>
              </a:ext>
            </a:extLst>
          </p:cNvPr>
          <p:cNvSpPr txBox="1"/>
          <p:nvPr/>
        </p:nvSpPr>
        <p:spPr>
          <a:xfrm>
            <a:off x="9335475" y="2132487"/>
            <a:ext cx="474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82%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BBB95C5-B18D-4B84-B1ED-5268285FCCE2}"/>
              </a:ext>
            </a:extLst>
          </p:cNvPr>
          <p:cNvSpPr txBox="1"/>
          <p:nvPr/>
        </p:nvSpPr>
        <p:spPr>
          <a:xfrm>
            <a:off x="7058695" y="4864321"/>
            <a:ext cx="28891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 </a:t>
            </a:r>
            <a:r>
              <a:rPr kumimoji="0" lang="ko-KR" altLang="en-US" sz="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통신용시장 포함 </a:t>
            </a:r>
          </a:p>
        </p:txBody>
      </p:sp>
      <p:graphicFrame>
        <p:nvGraphicFramePr>
          <p:cNvPr id="146" name="표 145">
            <a:extLst>
              <a:ext uri="{FF2B5EF4-FFF2-40B4-BE49-F238E27FC236}">
                <a16:creationId xmlns:a16="http://schemas.microsoft.com/office/drawing/2014/main" id="{C828117C-A4A7-EA1E-4879-5339CD6DF208}"/>
              </a:ext>
            </a:extLst>
          </p:cNvPr>
          <p:cNvGraphicFramePr>
            <a:graphicFrameLocks noGrp="1"/>
          </p:cNvGraphicFramePr>
          <p:nvPr/>
        </p:nvGraphicFramePr>
        <p:xfrm>
          <a:off x="7033239" y="3116695"/>
          <a:ext cx="2786759" cy="1756410"/>
        </p:xfrm>
        <a:graphic>
          <a:graphicData uri="http://schemas.openxmlformats.org/drawingml/2006/table">
            <a:tbl>
              <a:tblPr/>
              <a:tblGrid>
                <a:gridCol w="111470">
                  <a:extLst>
                    <a:ext uri="{9D8B030D-6E8A-4147-A177-3AD203B41FA5}">
                      <a16:colId xmlns:a16="http://schemas.microsoft.com/office/drawing/2014/main" val="3903897985"/>
                    </a:ext>
                  </a:extLst>
                </a:gridCol>
                <a:gridCol w="167206">
                  <a:extLst>
                    <a:ext uri="{9D8B030D-6E8A-4147-A177-3AD203B41FA5}">
                      <a16:colId xmlns:a16="http://schemas.microsoft.com/office/drawing/2014/main" val="2578843578"/>
                    </a:ext>
                  </a:extLst>
                </a:gridCol>
                <a:gridCol w="297280">
                  <a:extLst>
                    <a:ext uri="{9D8B030D-6E8A-4147-A177-3AD203B41FA5}">
                      <a16:colId xmlns:a16="http://schemas.microsoft.com/office/drawing/2014/main" val="3424124932"/>
                    </a:ext>
                  </a:extLst>
                </a:gridCol>
                <a:gridCol w="315829">
                  <a:extLst>
                    <a:ext uri="{9D8B030D-6E8A-4147-A177-3AD203B41FA5}">
                      <a16:colId xmlns:a16="http://schemas.microsoft.com/office/drawing/2014/main" val="1300469658"/>
                    </a:ext>
                  </a:extLst>
                </a:gridCol>
                <a:gridCol w="315829">
                  <a:extLst>
                    <a:ext uri="{9D8B030D-6E8A-4147-A177-3AD203B41FA5}">
                      <a16:colId xmlns:a16="http://schemas.microsoft.com/office/drawing/2014/main" val="673691683"/>
                    </a:ext>
                  </a:extLst>
                </a:gridCol>
                <a:gridCol w="315829">
                  <a:extLst>
                    <a:ext uri="{9D8B030D-6E8A-4147-A177-3AD203B41FA5}">
                      <a16:colId xmlns:a16="http://schemas.microsoft.com/office/drawing/2014/main" val="199791582"/>
                    </a:ext>
                  </a:extLst>
                </a:gridCol>
                <a:gridCol w="315829">
                  <a:extLst>
                    <a:ext uri="{9D8B030D-6E8A-4147-A177-3AD203B41FA5}">
                      <a16:colId xmlns:a16="http://schemas.microsoft.com/office/drawing/2014/main" val="2766543953"/>
                    </a:ext>
                  </a:extLst>
                </a:gridCol>
                <a:gridCol w="315829">
                  <a:extLst>
                    <a:ext uri="{9D8B030D-6E8A-4147-A177-3AD203B41FA5}">
                      <a16:colId xmlns:a16="http://schemas.microsoft.com/office/drawing/2014/main" val="1916790191"/>
                    </a:ext>
                  </a:extLst>
                </a:gridCol>
                <a:gridCol w="315829">
                  <a:extLst>
                    <a:ext uri="{9D8B030D-6E8A-4147-A177-3AD203B41FA5}">
                      <a16:colId xmlns:a16="http://schemas.microsoft.com/office/drawing/2014/main" val="3269952089"/>
                    </a:ext>
                  </a:extLst>
                </a:gridCol>
                <a:gridCol w="315829">
                  <a:extLst>
                    <a:ext uri="{9D8B030D-6E8A-4147-A177-3AD203B41FA5}">
                      <a16:colId xmlns:a16="http://schemas.microsoft.com/office/drawing/2014/main" val="888205571"/>
                    </a:ext>
                  </a:extLst>
                </a:gridCol>
              </a:tblGrid>
              <a:tr h="113358">
                <a:tc gridSpan="3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28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33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CAGR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519258"/>
                  </a:ext>
                </a:extLst>
              </a:tr>
              <a:tr h="13382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449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514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663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865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1,043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164620"/>
                  </a:ext>
                </a:extLst>
              </a:tr>
              <a:tr h="133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374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431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552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717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851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731894"/>
                  </a:ext>
                </a:extLst>
              </a:tr>
              <a:tr h="133825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138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167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218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511650"/>
                  </a:ext>
                </a:extLst>
              </a:tr>
              <a:tr h="133825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113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134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16%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578401"/>
                  </a:ext>
                </a:extLst>
              </a:tr>
              <a:tr h="133825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205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275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334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539249"/>
                  </a:ext>
                </a:extLst>
              </a:tr>
              <a:tr h="133825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595521"/>
                  </a:ext>
                </a:extLst>
              </a:tr>
              <a:tr h="133825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407211"/>
                  </a:ext>
                </a:extLst>
              </a:tr>
              <a:tr h="133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50593"/>
                  </a:ext>
                </a:extLst>
              </a:tr>
              <a:tr h="133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453866"/>
                  </a:ext>
                </a:extLst>
              </a:tr>
              <a:tr h="133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UPS</a:t>
                      </a:r>
                      <a:r>
                        <a:rPr lang="en-US" sz="900" b="1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15%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078809"/>
                  </a:ext>
                </a:extLst>
              </a:tr>
            </a:tbl>
          </a:graphicData>
        </a:graphic>
      </p:graphicFrame>
      <p:graphicFrame>
        <p:nvGraphicFramePr>
          <p:cNvPr id="147" name="차트 146">
            <a:extLst>
              <a:ext uri="{FF2B5EF4-FFF2-40B4-BE49-F238E27FC236}">
                <a16:creationId xmlns:a16="http://schemas.microsoft.com/office/drawing/2014/main" id="{1ED06E8E-9AC8-5ABC-BC69-A245ADA9872E}"/>
              </a:ext>
            </a:extLst>
          </p:cNvPr>
          <p:cNvGraphicFramePr/>
          <p:nvPr/>
        </p:nvGraphicFramePr>
        <p:xfrm>
          <a:off x="7104376" y="5425543"/>
          <a:ext cx="2880000" cy="1319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8" name="TextBox 147">
            <a:extLst>
              <a:ext uri="{FF2B5EF4-FFF2-40B4-BE49-F238E27FC236}">
                <a16:creationId xmlns:a16="http://schemas.microsoft.com/office/drawing/2014/main" id="{C843919F-CA0A-8266-E9ED-40948112FA0E}"/>
              </a:ext>
            </a:extLst>
          </p:cNvPr>
          <p:cNvSpPr txBox="1"/>
          <p:nvPr/>
        </p:nvSpPr>
        <p:spPr>
          <a:xfrm>
            <a:off x="8994829" y="5775173"/>
            <a:ext cx="9199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‘26 ~ ‘35</a:t>
            </a:r>
            <a:r>
              <a:rPr kumimoji="0" lang="ko-KR" altLang="en-US" sz="800" b="1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년</a:t>
            </a:r>
            <a:br>
              <a:rPr kumimoji="0" lang="en-US" altLang="ko-KR" sz="800" b="1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ko-KR" altLang="en-US" sz="800" b="1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누적 </a:t>
            </a:r>
            <a:r>
              <a:rPr kumimoji="0" lang="en-US" altLang="ko-KR" sz="800" b="1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663GWh </a:t>
            </a:r>
            <a:r>
              <a:rPr kumimoji="0" lang="ko-KR" altLang="en-US" sz="800" b="1" i="0" u="none" strike="noStrike" kern="1200" cap="none" spc="-2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↑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DA2A5E1-E5F5-0373-E9F0-47CC63D6E2E6}"/>
              </a:ext>
            </a:extLst>
          </p:cNvPr>
          <p:cNvSpPr txBox="1"/>
          <p:nvPr/>
        </p:nvSpPr>
        <p:spPr>
          <a:xfrm>
            <a:off x="6783613" y="2492289"/>
            <a:ext cx="729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전력망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비중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A4A92C65-D427-BCE0-B8F7-A9DC1340CCB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931567" y="892491"/>
            <a:ext cx="2617740" cy="18111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72000" tIns="0" rIns="7200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[Global ESS </a:t>
            </a: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시장 전망 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(GWh) ]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A96E78B7-8AD4-DB1A-51FB-73EE59EAA3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931567" y="5184195"/>
            <a:ext cx="2693698" cy="1746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72000" tIns="0" rIns="7200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[</a:t>
            </a: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미국 </a:t>
            </a:r>
            <a:r>
              <a:rPr kumimoji="1" lang="ko-K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전력망</a:t>
            </a: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ESS </a:t>
            </a: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시장 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(GWh) ]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DBA3FC7-F648-6F10-6BE3-EC9BC97BB049}"/>
              </a:ext>
            </a:extLst>
          </p:cNvPr>
          <p:cNvSpPr txBox="1"/>
          <p:nvPr/>
        </p:nvSpPr>
        <p:spPr>
          <a:xfrm>
            <a:off x="9470842" y="6628852"/>
            <a:ext cx="370614" cy="220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ts val="1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sng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en-US" altLang="ko-KR" sz="11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2</a:t>
            </a:r>
            <a:endParaRPr kumimoji="0" lang="ko-KR" altLang="en-US" sz="1050" b="0" i="0" u="none" strike="noStrike" kern="1200" cap="none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실행 단추: 홈으로 이동 1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2BF01C72-5344-CC10-B60C-638022C55BCE}"/>
              </a:ext>
            </a:extLst>
          </p:cNvPr>
          <p:cNvSpPr/>
          <p:nvPr/>
        </p:nvSpPr>
        <p:spPr bwMode="auto">
          <a:xfrm>
            <a:off x="9664270" y="321837"/>
            <a:ext cx="190774" cy="217961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E7347-24A8-5722-A1D0-B3522CD36A20}"/>
              </a:ext>
            </a:extLst>
          </p:cNvPr>
          <p:cNvSpPr txBox="1"/>
          <p:nvPr/>
        </p:nvSpPr>
        <p:spPr>
          <a:xfrm>
            <a:off x="7367201" y="52444"/>
            <a:ext cx="2502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1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생산성 극대화 리더 </a:t>
            </a:r>
            <a:r>
              <a:rPr lang="ko-KR" altLang="en-US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워크샵 자료 </a:t>
            </a:r>
            <a:r>
              <a: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(’26.1.15)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823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1842-1E79-0BB4-EB08-7E9865B1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ECC79BB6-D16C-4116-AD50-A7D0CCAC175B}"/>
              </a:ext>
            </a:extLst>
          </p:cNvPr>
          <p:cNvSpPr txBox="1"/>
          <p:nvPr/>
        </p:nvSpPr>
        <p:spPr>
          <a:xfrm>
            <a:off x="35280" y="4341"/>
            <a:ext cx="5277760" cy="398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</a:t>
            </a:r>
            <a:r>
              <a:rPr kumimoji="0" lang="ko-KR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재생에너지 확대에 따른 </a:t>
            </a:r>
            <a:r>
              <a:rPr kumimoji="0" lang="en-US" altLang="ko-KR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</a:t>
            </a:r>
            <a:r>
              <a:rPr kumimoji="0" lang="ko-KR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역할 변화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E946DF-202E-28AC-E223-C2057F6285E8}"/>
              </a:ext>
            </a:extLst>
          </p:cNvPr>
          <p:cNvSpPr/>
          <p:nvPr/>
        </p:nvSpPr>
        <p:spPr>
          <a:xfrm>
            <a:off x="5507043" y="2270329"/>
            <a:ext cx="2031040" cy="1290964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9050" cap="flat" cmpd="sng" algn="ctr">
            <a:solidFill>
              <a:srgbClr val="5B9BD5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F582B0-EAD2-4DCB-4542-3AFA5686D678}"/>
              </a:ext>
            </a:extLst>
          </p:cNvPr>
          <p:cNvSpPr/>
          <p:nvPr/>
        </p:nvSpPr>
        <p:spPr>
          <a:xfrm>
            <a:off x="3220401" y="2266950"/>
            <a:ext cx="2079307" cy="129600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9050" cap="flat" cmpd="sng" algn="ctr">
            <a:solidFill>
              <a:srgbClr val="5B9BD5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CE1D7-5EE6-21DF-E4A9-F12954895AA5}"/>
              </a:ext>
            </a:extLst>
          </p:cNvPr>
          <p:cNvSpPr txBox="1"/>
          <p:nvPr/>
        </p:nvSpPr>
        <p:spPr>
          <a:xfrm>
            <a:off x="3206114" y="2270329"/>
            <a:ext cx="470081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•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실시간 주파수 시장 개설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┗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초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분단위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세분화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┗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인센티브 존재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•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전력 시장 참여 자원 확대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┗ FERC order 755 → FERC order 841 → FERC order 2222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 (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주파소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조정시장 참여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     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도매시장 참여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              (VPP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시장 참여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83475E-ADB9-4A91-A7A2-C149BF522D7D}"/>
              </a:ext>
            </a:extLst>
          </p:cNvPr>
          <p:cNvSpPr/>
          <p:nvPr/>
        </p:nvSpPr>
        <p:spPr>
          <a:xfrm>
            <a:off x="7735893" y="2270329"/>
            <a:ext cx="2031040" cy="1290964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9050" cap="flat" cmpd="sng" algn="ctr">
            <a:solidFill>
              <a:srgbClr val="5B9BD5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AB131D-3014-446F-DC4B-02CBBE0D2297}"/>
              </a:ext>
            </a:extLst>
          </p:cNvPr>
          <p:cNvSpPr/>
          <p:nvPr/>
        </p:nvSpPr>
        <p:spPr>
          <a:xfrm>
            <a:off x="1020768" y="2270329"/>
            <a:ext cx="2031040" cy="1290964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9050" cap="flat" cmpd="sng" algn="ctr">
            <a:solidFill>
              <a:srgbClr val="5B9BD5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3761BD9-E3ED-3B4F-F850-1F047411BAE4}"/>
              </a:ext>
            </a:extLst>
          </p:cNvPr>
          <p:cNvSpPr/>
          <p:nvPr/>
        </p:nvSpPr>
        <p:spPr>
          <a:xfrm>
            <a:off x="1043940" y="889816"/>
            <a:ext cx="2007870" cy="76377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단계</a:t>
            </a: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VRE</a:t>
            </a:r>
            <a:r>
              <a:rPr kumimoji="0" lang="en-US" altLang="ko-KR" sz="13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1)</a:t>
            </a: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10% 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미만</a:t>
            </a:r>
            <a:endParaRPr kumimoji="0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6BC68D7-F591-955D-E12D-C3E61989FEB7}"/>
              </a:ext>
            </a:extLst>
          </p:cNvPr>
          <p:cNvSpPr/>
          <p:nvPr/>
        </p:nvSpPr>
        <p:spPr>
          <a:xfrm>
            <a:off x="3232695" y="892018"/>
            <a:ext cx="2055586" cy="754507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단계</a:t>
            </a: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VRE 10%~25%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8FA436-D620-4E5F-AF7A-DFE3DD08438A}"/>
              </a:ext>
            </a:extLst>
          </p:cNvPr>
          <p:cNvSpPr/>
          <p:nvPr/>
        </p:nvSpPr>
        <p:spPr>
          <a:xfrm>
            <a:off x="5516880" y="866776"/>
            <a:ext cx="2007870" cy="76378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단계</a:t>
            </a: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VRE 25%~40%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67A5B07-9354-E89D-CD1D-BD8059C49869}"/>
              </a:ext>
            </a:extLst>
          </p:cNvPr>
          <p:cNvSpPr/>
          <p:nvPr/>
        </p:nvSpPr>
        <p:spPr>
          <a:xfrm>
            <a:off x="7753350" y="866775"/>
            <a:ext cx="2007870" cy="76377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4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단계</a:t>
            </a: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VRE 40% 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이상</a:t>
            </a:r>
            <a:endParaRPr kumimoji="0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6C662C-7471-1438-386A-225AAF62DACC}"/>
              </a:ext>
            </a:extLst>
          </p:cNvPr>
          <p:cNvSpPr/>
          <p:nvPr/>
        </p:nvSpPr>
        <p:spPr>
          <a:xfrm>
            <a:off x="295275" y="1447800"/>
            <a:ext cx="9465945" cy="7429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">
            <a:extLst>
              <a:ext uri="{FF2B5EF4-FFF2-40B4-BE49-F238E27FC236}">
                <a16:creationId xmlns:a16="http://schemas.microsoft.com/office/drawing/2014/main" id="{157EDB50-99A5-2315-0E65-F47C52B8C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72" y="1438927"/>
            <a:ext cx="713547" cy="751823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ysClr val="windowText" lastClr="000000">
                <a:lumMod val="50000"/>
                <a:lumOff val="50000"/>
              </a:sysClr>
            </a:solidFill>
            <a:round/>
            <a:headEnd/>
            <a:tailEnd/>
          </a:ln>
          <a:effectLst/>
        </p:spPr>
        <p:txBody>
          <a:bodyPr wrap="none" lIns="90000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계통</a:t>
            </a:r>
            <a:endParaRPr kumimoji="1" lang="en-US" altLang="ko-KR" sz="1300" b="1" i="0" u="none" strike="noStrike" kern="0" cap="none" spc="-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문제</a:t>
            </a:r>
            <a:endParaRPr kumimoji="1" lang="en-US" altLang="ko-KR" sz="1300" b="1" i="0" u="none" strike="noStrike" kern="0" cap="none" spc="-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직사각형 1">
            <a:extLst>
              <a:ext uri="{FF2B5EF4-FFF2-40B4-BE49-F238E27FC236}">
                <a16:creationId xmlns:a16="http://schemas.microsoft.com/office/drawing/2014/main" id="{5CD4D8F3-9389-80C4-FF11-8E39AC552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71" y="2261481"/>
            <a:ext cx="713547" cy="1301510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ysClr val="windowText" lastClr="000000">
                <a:lumMod val="50000"/>
                <a:lumOff val="50000"/>
              </a:sysClr>
            </a:solidFill>
            <a:round/>
            <a:headEnd/>
            <a:tailEnd/>
          </a:ln>
          <a:effectLst/>
        </p:spPr>
        <p:txBody>
          <a:bodyPr wrap="none" lIns="90000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제도</a:t>
            </a:r>
            <a:endParaRPr kumimoji="1" lang="en-US" altLang="ko-KR" sz="1300" b="1" i="0" u="none" strike="noStrike" kern="0" cap="none" spc="-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변화</a:t>
            </a:r>
            <a:endParaRPr kumimoji="1" lang="en-US" altLang="ko-KR" sz="1300" b="1" i="0" u="none" strike="noStrike" kern="0" cap="none" spc="-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직사각형 1">
            <a:extLst>
              <a:ext uri="{FF2B5EF4-FFF2-40B4-BE49-F238E27FC236}">
                <a16:creationId xmlns:a16="http://schemas.microsoft.com/office/drawing/2014/main" id="{75D2F3AC-6D30-A21E-EEE0-9F5787081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71" y="3633722"/>
            <a:ext cx="713547" cy="1470624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ysClr val="windowText" lastClr="000000">
                <a:lumMod val="50000"/>
                <a:lumOff val="50000"/>
              </a:sysClr>
            </a:solidFill>
            <a:round/>
            <a:headEnd/>
            <a:tailEnd/>
          </a:ln>
          <a:effectLst/>
        </p:spPr>
        <p:txBody>
          <a:bodyPr wrap="none" lIns="90000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기회</a:t>
            </a:r>
            <a:endParaRPr kumimoji="1" lang="en-US" altLang="ko-KR" sz="1300" b="1" i="0" u="none" strike="noStrike" kern="0" cap="none" spc="-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영역</a:t>
            </a:r>
            <a:endParaRPr kumimoji="1" lang="en-US" altLang="ko-KR" sz="1300" b="1" i="0" u="none" strike="noStrike" kern="0" cap="none" spc="-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145CD55-C586-2107-0FC0-4D46FC01C492}"/>
              </a:ext>
            </a:extLst>
          </p:cNvPr>
          <p:cNvGrpSpPr/>
          <p:nvPr/>
        </p:nvGrpSpPr>
        <p:grpSpPr>
          <a:xfrm>
            <a:off x="3219451" y="1511471"/>
            <a:ext cx="2079074" cy="283642"/>
            <a:chOff x="3267712" y="2003286"/>
            <a:chExt cx="2030812" cy="2871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407E74-4568-957E-4F02-5313D3FAC4E3}"/>
                </a:ext>
              </a:extLst>
            </p:cNvPr>
            <p:cNvSpPr txBox="1"/>
            <p:nvPr/>
          </p:nvSpPr>
          <p:spPr>
            <a:xfrm>
              <a:off x="3824499" y="2013414"/>
              <a:ext cx="9172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1C57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주파수 변동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5C001E4-472F-920E-D1AA-B4E5302DA657}"/>
                </a:ext>
              </a:extLst>
            </p:cNvPr>
            <p:cNvSpPr/>
            <p:nvPr/>
          </p:nvSpPr>
          <p:spPr>
            <a:xfrm>
              <a:off x="3267712" y="2003286"/>
              <a:ext cx="2030812" cy="270756"/>
            </a:xfrm>
            <a:prstGeom prst="rect">
              <a:avLst/>
            </a:prstGeom>
            <a:noFill/>
            <a:ln w="19050" cap="flat" cmpd="sng" algn="ctr">
              <a:solidFill>
                <a:srgbClr val="EA4E8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EA4E8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318CB2D-AF0E-AA0E-E277-7A15B04C47C2}"/>
              </a:ext>
            </a:extLst>
          </p:cNvPr>
          <p:cNvGrpSpPr/>
          <p:nvPr/>
        </p:nvGrpSpPr>
        <p:grpSpPr>
          <a:xfrm>
            <a:off x="3206114" y="1844739"/>
            <a:ext cx="2092410" cy="287127"/>
            <a:chOff x="3267712" y="2340039"/>
            <a:chExt cx="2030812" cy="28712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4DEE743-CC51-60C2-A842-F0150B7B990E}"/>
                </a:ext>
              </a:extLst>
            </p:cNvPr>
            <p:cNvSpPr txBox="1"/>
            <p:nvPr/>
          </p:nvSpPr>
          <p:spPr>
            <a:xfrm>
              <a:off x="3677824" y="2350167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1C57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단주기 잉여 전력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9786E21-BED2-4043-834F-C7BA0DF0D0B2}"/>
                </a:ext>
              </a:extLst>
            </p:cNvPr>
            <p:cNvSpPr/>
            <p:nvPr/>
          </p:nvSpPr>
          <p:spPr>
            <a:xfrm>
              <a:off x="3267712" y="2340039"/>
              <a:ext cx="2030812" cy="270756"/>
            </a:xfrm>
            <a:prstGeom prst="rect">
              <a:avLst/>
            </a:prstGeom>
            <a:noFill/>
            <a:ln w="19050" cap="flat" cmpd="sng" algn="ctr">
              <a:solidFill>
                <a:srgbClr val="EA4E8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EA4E8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53963D0-425B-100A-75D6-EA293364CB85}"/>
              </a:ext>
            </a:extLst>
          </p:cNvPr>
          <p:cNvGrpSpPr/>
          <p:nvPr/>
        </p:nvGrpSpPr>
        <p:grpSpPr>
          <a:xfrm>
            <a:off x="5491374" y="1507986"/>
            <a:ext cx="2060179" cy="287127"/>
            <a:chOff x="3252999" y="2003286"/>
            <a:chExt cx="2060179" cy="28712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6547C27-4839-CEF2-A089-DAF860110654}"/>
                </a:ext>
              </a:extLst>
            </p:cNvPr>
            <p:cNvSpPr txBox="1"/>
            <p:nvPr/>
          </p:nvSpPr>
          <p:spPr>
            <a:xfrm>
              <a:off x="3252999" y="2013414"/>
              <a:ext cx="20601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1C57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관성하락으로 주파수 변동 심화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AE20BBC-D66A-7650-3158-838FB02B5576}"/>
                </a:ext>
              </a:extLst>
            </p:cNvPr>
            <p:cNvSpPr/>
            <p:nvPr/>
          </p:nvSpPr>
          <p:spPr>
            <a:xfrm>
              <a:off x="3267712" y="2003286"/>
              <a:ext cx="2030812" cy="270756"/>
            </a:xfrm>
            <a:prstGeom prst="rect">
              <a:avLst/>
            </a:prstGeom>
            <a:noFill/>
            <a:ln w="19050" cap="flat" cmpd="sng" algn="ctr">
              <a:solidFill>
                <a:srgbClr val="EA4E8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EA4E8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198573F-3536-F5BD-A6B8-2959A3212B8E}"/>
              </a:ext>
            </a:extLst>
          </p:cNvPr>
          <p:cNvGrpSpPr/>
          <p:nvPr/>
        </p:nvGrpSpPr>
        <p:grpSpPr>
          <a:xfrm>
            <a:off x="5506087" y="1844739"/>
            <a:ext cx="2030812" cy="287127"/>
            <a:chOff x="3267712" y="2340039"/>
            <a:chExt cx="2030812" cy="28712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6A033F8-A9EA-C152-8B5F-09B60F661A92}"/>
                </a:ext>
              </a:extLst>
            </p:cNvPr>
            <p:cNvSpPr txBox="1"/>
            <p:nvPr/>
          </p:nvSpPr>
          <p:spPr>
            <a:xfrm>
              <a:off x="3677824" y="2350167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1C57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단주기 잉여 전력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D0A38F6-2B4E-B2EF-BE5A-24772129C364}"/>
                </a:ext>
              </a:extLst>
            </p:cNvPr>
            <p:cNvSpPr/>
            <p:nvPr/>
          </p:nvSpPr>
          <p:spPr>
            <a:xfrm>
              <a:off x="3267712" y="2340039"/>
              <a:ext cx="2030812" cy="270756"/>
            </a:xfrm>
            <a:prstGeom prst="rect">
              <a:avLst/>
            </a:prstGeom>
            <a:noFill/>
            <a:ln w="19050" cap="flat" cmpd="sng" algn="ctr">
              <a:solidFill>
                <a:srgbClr val="EA4E8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EA4E8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96DA6EB-0FFF-B465-B50F-ED1DBDA7E7D9}"/>
              </a:ext>
            </a:extLst>
          </p:cNvPr>
          <p:cNvGrpSpPr/>
          <p:nvPr/>
        </p:nvGrpSpPr>
        <p:grpSpPr>
          <a:xfrm>
            <a:off x="7744462" y="1844739"/>
            <a:ext cx="2030812" cy="287127"/>
            <a:chOff x="3267712" y="2340039"/>
            <a:chExt cx="2030812" cy="28712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32F8A6-5C44-2A50-93DD-431D528C536A}"/>
                </a:ext>
              </a:extLst>
            </p:cNvPr>
            <p:cNvSpPr txBox="1"/>
            <p:nvPr/>
          </p:nvSpPr>
          <p:spPr>
            <a:xfrm>
              <a:off x="3430174" y="2350167"/>
              <a:ext cx="1707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E71C57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단주기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1C57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+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1C57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장주기 잉여 전력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A6D2021-F173-31CE-42A9-E67881510DC7}"/>
                </a:ext>
              </a:extLst>
            </p:cNvPr>
            <p:cNvSpPr/>
            <p:nvPr/>
          </p:nvSpPr>
          <p:spPr>
            <a:xfrm>
              <a:off x="3267712" y="2340039"/>
              <a:ext cx="2030812" cy="270756"/>
            </a:xfrm>
            <a:prstGeom prst="rect">
              <a:avLst/>
            </a:prstGeom>
            <a:noFill/>
            <a:ln w="19050" cap="flat" cmpd="sng" algn="ctr">
              <a:solidFill>
                <a:srgbClr val="EA4E8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EA4E8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033AF79-41B1-C293-BEDB-3C40F7E3EC89}"/>
              </a:ext>
            </a:extLst>
          </p:cNvPr>
          <p:cNvGrpSpPr/>
          <p:nvPr/>
        </p:nvGrpSpPr>
        <p:grpSpPr>
          <a:xfrm>
            <a:off x="7729749" y="1507986"/>
            <a:ext cx="2060179" cy="287127"/>
            <a:chOff x="3252999" y="2003286"/>
            <a:chExt cx="2060179" cy="28712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21A921-82E3-B3DE-EDBE-91D8F5D7A689}"/>
                </a:ext>
              </a:extLst>
            </p:cNvPr>
            <p:cNvSpPr txBox="1"/>
            <p:nvPr/>
          </p:nvSpPr>
          <p:spPr>
            <a:xfrm>
              <a:off x="3252999" y="2013414"/>
              <a:ext cx="20601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1C57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관성하락으로 주파수 변동 심화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C498E60-D94E-2CD8-80AB-5517C79BF1A4}"/>
                </a:ext>
              </a:extLst>
            </p:cNvPr>
            <p:cNvSpPr/>
            <p:nvPr/>
          </p:nvSpPr>
          <p:spPr>
            <a:xfrm>
              <a:off x="3267712" y="2003286"/>
              <a:ext cx="2030812" cy="270756"/>
            </a:xfrm>
            <a:prstGeom prst="rect">
              <a:avLst/>
            </a:prstGeom>
            <a:noFill/>
            <a:ln w="19050" cap="flat" cmpd="sng" algn="ctr">
              <a:solidFill>
                <a:srgbClr val="EA4E8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EA4E8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D5B0B9C-3AA4-E5B7-A910-12CF0B2B4ACC}"/>
              </a:ext>
            </a:extLst>
          </p:cNvPr>
          <p:cNvSpPr txBox="1"/>
          <p:nvPr/>
        </p:nvSpPr>
        <p:spPr>
          <a:xfrm>
            <a:off x="1043939" y="2270329"/>
            <a:ext cx="200786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•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신재생 발전 투자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• IRR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개선 제도 도입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┗ REC</a:t>
            </a:r>
            <a:r>
              <a:rPr kumimoji="0" lang="en-US" altLang="ko-KR" sz="1100" b="0" i="0" u="none" strike="noStrike" kern="1200" cap="none" spc="0" normalizeH="0" baseline="3000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ITC</a:t>
            </a:r>
            <a:r>
              <a:rPr kumimoji="0" lang="en-US" altLang="ko-KR" sz="1100" b="0" i="0" u="none" strike="noStrike" kern="1200" cap="none" spc="0" normalizeH="0" baseline="3000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3)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PTC</a:t>
            </a:r>
            <a:r>
              <a:rPr kumimoji="0" lang="en-US" altLang="ko-KR" sz="1100" b="0" i="0" u="none" strike="noStrike" kern="1200" cap="none" spc="0" normalizeH="0" baseline="3000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4)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등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7E4A31-C395-4344-5A69-E74EF1875C6A}"/>
              </a:ext>
            </a:extLst>
          </p:cNvPr>
          <p:cNvSpPr txBox="1"/>
          <p:nvPr/>
        </p:nvSpPr>
        <p:spPr>
          <a:xfrm>
            <a:off x="5492114" y="2270329"/>
            <a:ext cx="228526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•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주파수 시장 내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DR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자원 참여 허용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2BFA6A-BAD7-18B2-8CEA-A4063DC69371}"/>
              </a:ext>
            </a:extLst>
          </p:cNvPr>
          <p:cNvSpPr txBox="1"/>
          <p:nvPr/>
        </p:nvSpPr>
        <p:spPr>
          <a:xfrm>
            <a:off x="7756500" y="2270329"/>
            <a:ext cx="228526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•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수소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V/C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구축에 대한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IRR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개선 제도 도입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추정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363F3A-57B0-4519-6AB1-C86C55357E04}"/>
              </a:ext>
            </a:extLst>
          </p:cNvPr>
          <p:cNvSpPr txBox="1"/>
          <p:nvPr/>
        </p:nvSpPr>
        <p:spPr>
          <a:xfrm>
            <a:off x="1581726" y="3658990"/>
            <a:ext cx="899605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신재생 발전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727CCBB-DCB0-F207-EBEB-CA0D5689479B}"/>
              </a:ext>
            </a:extLst>
          </p:cNvPr>
          <p:cNvSpPr/>
          <p:nvPr/>
        </p:nvSpPr>
        <p:spPr>
          <a:xfrm>
            <a:off x="1020996" y="3632635"/>
            <a:ext cx="2030812" cy="332488"/>
          </a:xfrm>
          <a:prstGeom prst="rect">
            <a:avLst/>
          </a:prstGeom>
          <a:solidFill>
            <a:srgbClr val="006600"/>
          </a:solidFill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신재생 발전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1C2348-B4C8-5A46-AFBA-4C0E75327276}"/>
              </a:ext>
            </a:extLst>
          </p:cNvPr>
          <p:cNvSpPr txBox="1"/>
          <p:nvPr/>
        </p:nvSpPr>
        <p:spPr>
          <a:xfrm>
            <a:off x="1808550" y="4023884"/>
            <a:ext cx="445956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ESS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4C7D51F-3D31-DEC7-7B1A-560694E90F5A}"/>
              </a:ext>
            </a:extLst>
          </p:cNvPr>
          <p:cNvSpPr/>
          <p:nvPr/>
        </p:nvSpPr>
        <p:spPr>
          <a:xfrm>
            <a:off x="1020996" y="4012838"/>
            <a:ext cx="2030812" cy="332488"/>
          </a:xfrm>
          <a:prstGeom prst="rect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EA4E8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14172D-C740-CDB1-D8FC-C38BA1E1A8DD}"/>
              </a:ext>
            </a:extLst>
          </p:cNvPr>
          <p:cNvSpPr txBox="1"/>
          <p:nvPr/>
        </p:nvSpPr>
        <p:spPr>
          <a:xfrm>
            <a:off x="1092008" y="4423138"/>
            <a:ext cx="1879041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Energy Aggregator (VPP)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7EB389F-D15F-D9AE-11EA-5AB0E37C44E6}"/>
              </a:ext>
            </a:extLst>
          </p:cNvPr>
          <p:cNvSpPr/>
          <p:nvPr/>
        </p:nvSpPr>
        <p:spPr>
          <a:xfrm>
            <a:off x="1020768" y="4391651"/>
            <a:ext cx="2031268" cy="332488"/>
          </a:xfrm>
          <a:prstGeom prst="rect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EA4E8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CB1D9C-0A5C-2EE9-D8F4-21FFCBDDF1DE}"/>
              </a:ext>
            </a:extLst>
          </p:cNvPr>
          <p:cNvSpPr txBox="1"/>
          <p:nvPr/>
        </p:nvSpPr>
        <p:spPr>
          <a:xfrm>
            <a:off x="1649052" y="4803342"/>
            <a:ext cx="764953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수소 전환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C58C5E3-53FC-98AD-CA32-8EB44D247DD7}"/>
              </a:ext>
            </a:extLst>
          </p:cNvPr>
          <p:cNvSpPr/>
          <p:nvPr/>
        </p:nvSpPr>
        <p:spPr>
          <a:xfrm>
            <a:off x="1020996" y="4771855"/>
            <a:ext cx="2030812" cy="332488"/>
          </a:xfrm>
          <a:prstGeom prst="rect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EA4E8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75539CA-56D9-AD96-2B85-8C548B1E8116}"/>
              </a:ext>
            </a:extLst>
          </p:cNvPr>
          <p:cNvSpPr/>
          <p:nvPr/>
        </p:nvSpPr>
        <p:spPr>
          <a:xfrm>
            <a:off x="3278961" y="3632635"/>
            <a:ext cx="2030812" cy="332488"/>
          </a:xfrm>
          <a:prstGeom prst="rect">
            <a:avLst/>
          </a:prstGeom>
          <a:noFill/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신재생 발전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4600486-5E0D-E44D-479C-0089A0ECCFA8}"/>
              </a:ext>
            </a:extLst>
          </p:cNvPr>
          <p:cNvSpPr txBox="1"/>
          <p:nvPr/>
        </p:nvSpPr>
        <p:spPr>
          <a:xfrm>
            <a:off x="4066515" y="4025274"/>
            <a:ext cx="445956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ESS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0A445045-EA6A-A8D0-7309-E10D30D7DB0E}"/>
              </a:ext>
            </a:extLst>
          </p:cNvPr>
          <p:cNvSpPr/>
          <p:nvPr/>
        </p:nvSpPr>
        <p:spPr>
          <a:xfrm>
            <a:off x="3278961" y="4012838"/>
            <a:ext cx="2030812" cy="332488"/>
          </a:xfrm>
          <a:prstGeom prst="rect">
            <a:avLst/>
          </a:prstGeom>
          <a:solidFill>
            <a:srgbClr val="006600"/>
          </a:solidFill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ESS</a:t>
            </a: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79C736B-6110-AEA6-6EC3-7415B3C40CC5}"/>
              </a:ext>
            </a:extLst>
          </p:cNvPr>
          <p:cNvSpPr txBox="1"/>
          <p:nvPr/>
        </p:nvSpPr>
        <p:spPr>
          <a:xfrm>
            <a:off x="3349762" y="4424528"/>
            <a:ext cx="187946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Energy Aggregator (VPP)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B4922AF-89B0-CFC1-F4EF-BBC64311C211}"/>
              </a:ext>
            </a:extLst>
          </p:cNvPr>
          <p:cNvSpPr/>
          <p:nvPr/>
        </p:nvSpPr>
        <p:spPr>
          <a:xfrm>
            <a:off x="3278733" y="4393041"/>
            <a:ext cx="2031268" cy="332488"/>
          </a:xfrm>
          <a:prstGeom prst="rect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EA4E8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6FAC82-12EB-332A-E8F2-527ED544F4CD}"/>
              </a:ext>
            </a:extLst>
          </p:cNvPr>
          <p:cNvSpPr txBox="1"/>
          <p:nvPr/>
        </p:nvSpPr>
        <p:spPr>
          <a:xfrm>
            <a:off x="3907017" y="4804732"/>
            <a:ext cx="764953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수소 전환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C1834FB-2FFB-1D08-C873-D954628E3A4E}"/>
              </a:ext>
            </a:extLst>
          </p:cNvPr>
          <p:cNvSpPr/>
          <p:nvPr/>
        </p:nvSpPr>
        <p:spPr>
          <a:xfrm>
            <a:off x="3278961" y="4773245"/>
            <a:ext cx="2030812" cy="332488"/>
          </a:xfrm>
          <a:prstGeom prst="rect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EA4E8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49D93502-5909-7BDF-AA99-929B89A906D3}"/>
              </a:ext>
            </a:extLst>
          </p:cNvPr>
          <p:cNvSpPr/>
          <p:nvPr/>
        </p:nvSpPr>
        <p:spPr>
          <a:xfrm>
            <a:off x="5506087" y="3632635"/>
            <a:ext cx="2030812" cy="332488"/>
          </a:xfrm>
          <a:prstGeom prst="rect">
            <a:avLst/>
          </a:prstGeom>
          <a:noFill/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신재생 발전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858F3F7-06D1-4640-19B3-8152351B25FB}"/>
              </a:ext>
            </a:extLst>
          </p:cNvPr>
          <p:cNvSpPr/>
          <p:nvPr/>
        </p:nvSpPr>
        <p:spPr>
          <a:xfrm>
            <a:off x="5506087" y="4012838"/>
            <a:ext cx="2030812" cy="332488"/>
          </a:xfrm>
          <a:prstGeom prst="rect">
            <a:avLst/>
          </a:prstGeom>
          <a:noFill/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ESS</a:t>
            </a: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CB878613-E0F7-B463-19F5-16449FAEB44C}"/>
              </a:ext>
            </a:extLst>
          </p:cNvPr>
          <p:cNvSpPr/>
          <p:nvPr/>
        </p:nvSpPr>
        <p:spPr>
          <a:xfrm>
            <a:off x="5505859" y="4393041"/>
            <a:ext cx="2031268" cy="332488"/>
          </a:xfrm>
          <a:prstGeom prst="rect">
            <a:avLst/>
          </a:prstGeom>
          <a:solidFill>
            <a:srgbClr val="006600"/>
          </a:solidFill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Energy Aggregator (VPP)</a:t>
            </a: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A2F10A4-2873-6C9C-3C75-DCF6D522D943}"/>
              </a:ext>
            </a:extLst>
          </p:cNvPr>
          <p:cNvSpPr txBox="1"/>
          <p:nvPr/>
        </p:nvSpPr>
        <p:spPr>
          <a:xfrm>
            <a:off x="6134143" y="4783891"/>
            <a:ext cx="764953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수소 전환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E338C91-7F85-A3A0-DB92-D6980445C1AD}"/>
              </a:ext>
            </a:extLst>
          </p:cNvPr>
          <p:cNvSpPr/>
          <p:nvPr/>
        </p:nvSpPr>
        <p:spPr>
          <a:xfrm>
            <a:off x="5506087" y="4773245"/>
            <a:ext cx="2030812" cy="332488"/>
          </a:xfrm>
          <a:prstGeom prst="rect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EA4E8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61D10AD-EA85-C229-9133-64AC8D3B4604}"/>
              </a:ext>
            </a:extLst>
          </p:cNvPr>
          <p:cNvSpPr txBox="1"/>
          <p:nvPr/>
        </p:nvSpPr>
        <p:spPr>
          <a:xfrm>
            <a:off x="8305192" y="3630753"/>
            <a:ext cx="899605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신재생 발전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597BC6AD-08E3-C023-7436-699C4C86A868}"/>
              </a:ext>
            </a:extLst>
          </p:cNvPr>
          <p:cNvSpPr/>
          <p:nvPr/>
        </p:nvSpPr>
        <p:spPr>
          <a:xfrm>
            <a:off x="7744462" y="3632635"/>
            <a:ext cx="2030812" cy="332488"/>
          </a:xfrm>
          <a:prstGeom prst="rect">
            <a:avLst/>
          </a:prstGeom>
          <a:noFill/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신재생 발전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370B978-1BDD-67B1-A827-75123FC2BA81}"/>
              </a:ext>
            </a:extLst>
          </p:cNvPr>
          <p:cNvSpPr/>
          <p:nvPr/>
        </p:nvSpPr>
        <p:spPr>
          <a:xfrm>
            <a:off x="7744462" y="4012838"/>
            <a:ext cx="2030812" cy="332488"/>
          </a:xfrm>
          <a:prstGeom prst="rect">
            <a:avLst/>
          </a:prstGeom>
          <a:noFill/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ESS</a:t>
            </a: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27D6753-03CF-3552-7696-6DE36EB09F2A}"/>
              </a:ext>
            </a:extLst>
          </p:cNvPr>
          <p:cNvSpPr/>
          <p:nvPr/>
        </p:nvSpPr>
        <p:spPr>
          <a:xfrm>
            <a:off x="7744462" y="4393041"/>
            <a:ext cx="2030812" cy="332488"/>
          </a:xfrm>
          <a:prstGeom prst="rect">
            <a:avLst/>
          </a:prstGeom>
          <a:noFill/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Energy Aggregator (VPP)</a:t>
            </a: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FB6E5BA-D856-274B-C0FC-09D83199F22B}"/>
              </a:ext>
            </a:extLst>
          </p:cNvPr>
          <p:cNvSpPr/>
          <p:nvPr/>
        </p:nvSpPr>
        <p:spPr>
          <a:xfrm>
            <a:off x="7744462" y="4773245"/>
            <a:ext cx="2030812" cy="332488"/>
          </a:xfrm>
          <a:prstGeom prst="rect">
            <a:avLst/>
          </a:prstGeom>
          <a:solidFill>
            <a:srgbClr val="006600"/>
          </a:solidFill>
          <a:ln w="19050" cap="flat" cmpd="sng" algn="ctr">
            <a:solidFill>
              <a:srgbClr val="00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수소 전환</a:t>
            </a:r>
          </a:p>
        </p:txBody>
      </p:sp>
      <p:sp>
        <p:nvSpPr>
          <p:cNvPr id="107" name="직사각형 1">
            <a:extLst>
              <a:ext uri="{FF2B5EF4-FFF2-40B4-BE49-F238E27FC236}">
                <a16:creationId xmlns:a16="http://schemas.microsoft.com/office/drawing/2014/main" id="{250E088F-B21B-84C9-3E59-98A19968C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71" y="5170617"/>
            <a:ext cx="713547" cy="1298496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ysClr val="windowText" lastClr="000000">
                <a:lumMod val="50000"/>
                <a:lumOff val="50000"/>
              </a:sysClr>
            </a:solidFill>
            <a:round/>
            <a:headEnd/>
            <a:tailEnd/>
          </a:ln>
          <a:effectLst/>
        </p:spPr>
        <p:txBody>
          <a:bodyPr wrap="none" lIns="90000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1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</a:t>
            </a: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요구</a:t>
            </a:r>
            <a:endParaRPr kumimoji="1" lang="en-US" altLang="ko-KR" sz="1300" b="1" i="0" u="none" strike="noStrike" kern="0" cap="none" spc="-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기술</a:t>
            </a:r>
            <a:endParaRPr kumimoji="1" lang="en-US" altLang="ko-KR" sz="1300" b="1" i="0" u="none" strike="noStrike" kern="0" cap="none" spc="-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8" name="Text Box 2">
            <a:extLst>
              <a:ext uri="{FF2B5EF4-FFF2-40B4-BE49-F238E27FC236}">
                <a16:creationId xmlns:a16="http://schemas.microsoft.com/office/drawing/2014/main" id="{8588206A-BDE5-1559-0069-F62C54E6A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844" y="5408742"/>
            <a:ext cx="224900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➊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초단주기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100~500/</a:t>
            </a:r>
            <a:r>
              <a:rPr kumimoji="1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ms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반응 속도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➋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주파수 조정 신호 추적성</a:t>
            </a: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9" name="Text Box 2">
            <a:extLst>
              <a:ext uri="{FF2B5EF4-FFF2-40B4-BE49-F238E27FC236}">
                <a16:creationId xmlns:a16="http://schemas.microsoft.com/office/drawing/2014/main" id="{B9725960-4B37-FB9C-D67C-7B5D2B078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277" y="5408742"/>
            <a:ext cx="238054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➊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단주기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(4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시간 이하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➋ </a:t>
            </a:r>
            <a:r>
              <a:rPr kumimoji="1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장수명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15~20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운영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➌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안전성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(UL9540, LSFT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등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➍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경제성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(CAPEX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절감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0" name="Text Box 2">
            <a:extLst>
              <a:ext uri="{FF2B5EF4-FFF2-40B4-BE49-F238E27FC236}">
                <a16:creationId xmlns:a16="http://schemas.microsoft.com/office/drawing/2014/main" id="{424B7413-C035-6219-F67D-65B3A556A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6075" y="5408742"/>
            <a:ext cx="309178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➊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장주기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(6~8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시간 이상 지속적 전력 공급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➋ </a:t>
            </a:r>
            <a:r>
              <a:rPr kumimoji="1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장수명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(20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이상 운영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➌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안전성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(UL9540, LSFT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등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b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➍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경제성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기저발전원과의 동등한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LCOE) </a:t>
            </a: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➎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Grid Forming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+ SST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통합 </a:t>
            </a:r>
            <a:r>
              <a:rPr kumimoji="1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충방전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알고리즘</a:t>
            </a: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➏ 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Smart Grid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통합 및 다기능 플랫폼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(VPP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등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0107311-49E0-54FA-A2FB-C77DE5F2DDC7}"/>
              </a:ext>
            </a:extLst>
          </p:cNvPr>
          <p:cNvSpPr txBox="1"/>
          <p:nvPr/>
        </p:nvSpPr>
        <p:spPr>
          <a:xfrm>
            <a:off x="65493" y="6458104"/>
            <a:ext cx="9221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1) </a:t>
            </a:r>
            <a:r>
              <a:rPr kumimoji="0" lang="en-US" altLang="ko-KR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ariable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R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enewable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nergy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발전량이 일정하지 않고 변동하는 재생에너지원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 2)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R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enewable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nergy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C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ertification: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발전량에 비례한 인증서 발급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판매 통한 수익성 개선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3)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I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nvestment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T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ax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C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redit: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초기 투자 비용에 대한 세액공제로 투자비용 절감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        4)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roduction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T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ax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C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redit: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발전량에 비례한 세액 공제로 안정적 수익성 확보</a:t>
            </a: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B4B90FC-F142-C66F-2005-3B0020235A48}"/>
              </a:ext>
            </a:extLst>
          </p:cNvPr>
          <p:cNvCxnSpPr/>
          <p:nvPr/>
        </p:nvCxnSpPr>
        <p:spPr>
          <a:xfrm>
            <a:off x="885743" y="2219323"/>
            <a:ext cx="889905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  <a:miter lim="800000"/>
          </a:ln>
          <a:effectLst/>
        </p:spPr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684850D2-FE91-D593-7CC5-0E56BBF21512}"/>
              </a:ext>
            </a:extLst>
          </p:cNvPr>
          <p:cNvCxnSpPr/>
          <p:nvPr/>
        </p:nvCxnSpPr>
        <p:spPr>
          <a:xfrm>
            <a:off x="876218" y="3600448"/>
            <a:ext cx="889905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  <a:miter lim="800000"/>
          </a:ln>
          <a:effectLst/>
        </p:spPr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717B3AD4-5BF0-03D3-40D6-E522038C42E7}"/>
              </a:ext>
            </a:extLst>
          </p:cNvPr>
          <p:cNvCxnSpPr/>
          <p:nvPr/>
        </p:nvCxnSpPr>
        <p:spPr>
          <a:xfrm>
            <a:off x="885743" y="5143498"/>
            <a:ext cx="889905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  <a:miter lim="800000"/>
          </a:ln>
          <a:effectLst/>
        </p:spPr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D08F05FD-7CB2-2193-C06F-26363EB1CEEC}"/>
              </a:ext>
            </a:extLst>
          </p:cNvPr>
          <p:cNvCxnSpPr/>
          <p:nvPr/>
        </p:nvCxnSpPr>
        <p:spPr>
          <a:xfrm>
            <a:off x="885743" y="1438273"/>
            <a:ext cx="889905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  <a:miter lim="800000"/>
          </a:ln>
          <a:effectLst/>
        </p:spPr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6F86A47A-8757-0E90-BC28-24EBEE79AA20}"/>
              </a:ext>
            </a:extLst>
          </p:cNvPr>
          <p:cNvCxnSpPr/>
          <p:nvPr/>
        </p:nvCxnSpPr>
        <p:spPr>
          <a:xfrm>
            <a:off x="838753" y="6469113"/>
            <a:ext cx="889905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  <a:miter lim="800000"/>
          </a:ln>
          <a:effectLst/>
        </p:spPr>
      </p:cxnSp>
      <p:sp>
        <p:nvSpPr>
          <p:cNvPr id="117" name="화살표: 오각형 116">
            <a:extLst>
              <a:ext uri="{FF2B5EF4-FFF2-40B4-BE49-F238E27FC236}">
                <a16:creationId xmlns:a16="http://schemas.microsoft.com/office/drawing/2014/main" id="{43C0C8AB-8460-28F0-B273-981D93577F2F}"/>
              </a:ext>
            </a:extLst>
          </p:cNvPr>
          <p:cNvSpPr/>
          <p:nvPr/>
        </p:nvSpPr>
        <p:spPr>
          <a:xfrm>
            <a:off x="1020769" y="5170617"/>
            <a:ext cx="5878328" cy="252000"/>
          </a:xfrm>
          <a:prstGeom prst="homePlat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VRE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보조자원으로의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ESS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8" name="화살표: 갈매기형 수장 117">
            <a:extLst>
              <a:ext uri="{FF2B5EF4-FFF2-40B4-BE49-F238E27FC236}">
                <a16:creationId xmlns:a16="http://schemas.microsoft.com/office/drawing/2014/main" id="{1871C5ED-7224-4F2B-E6BD-2165C0A11855}"/>
              </a:ext>
            </a:extLst>
          </p:cNvPr>
          <p:cNvSpPr/>
          <p:nvPr/>
        </p:nvSpPr>
        <p:spPr>
          <a:xfrm>
            <a:off x="6824798" y="5170617"/>
            <a:ext cx="2988000" cy="252000"/>
          </a:xfrm>
          <a:prstGeom prst="chevron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VRE + ESS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기저발전자원 化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2D2E3B1-7930-5209-F191-9D48068766A4}"/>
              </a:ext>
            </a:extLst>
          </p:cNvPr>
          <p:cNvSpPr txBox="1"/>
          <p:nvPr/>
        </p:nvSpPr>
        <p:spPr>
          <a:xfrm>
            <a:off x="75154" y="411426"/>
            <a:ext cx="9830846" cy="36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는 전력망 안정화를 위한 보조 자원에서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재생에너지의 기저발전化 위한 주력 자원으로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역할의 확대가 예상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CC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120" name="flag_usa">
            <a:extLst>
              <a:ext uri="{FF2B5EF4-FFF2-40B4-BE49-F238E27FC236}">
                <a16:creationId xmlns:a16="http://schemas.microsoft.com/office/drawing/2014/main" id="{ACD42BBC-19AC-BE9C-E8E6-351585711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3232" t="2" r="34143" b="-2"/>
          <a:stretch/>
        </p:blipFill>
        <p:spPr bwMode="auto">
          <a:xfrm>
            <a:off x="5034238" y="921529"/>
            <a:ext cx="170871" cy="170871"/>
          </a:xfrm>
          <a:prstGeom prst="ellipse">
            <a:avLst/>
          </a:prstGeom>
          <a:grpFill/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1" name="Oval 39">
            <a:extLst>
              <a:ext uri="{FF2B5EF4-FFF2-40B4-BE49-F238E27FC236}">
                <a16:creationId xmlns:a16="http://schemas.microsoft.com/office/drawing/2014/main" id="{AAA70530-67A3-A306-A89C-78D85DB09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47" y="2110505"/>
            <a:ext cx="226757" cy="22675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295DDAA-A131-9CDF-9BAD-6CFE2DB79C13}"/>
              </a:ext>
            </a:extLst>
          </p:cNvPr>
          <p:cNvSpPr txBox="1"/>
          <p:nvPr/>
        </p:nvSpPr>
        <p:spPr>
          <a:xfrm>
            <a:off x="350955" y="2041589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∨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Oval 39">
            <a:extLst>
              <a:ext uri="{FF2B5EF4-FFF2-40B4-BE49-F238E27FC236}">
                <a16:creationId xmlns:a16="http://schemas.microsoft.com/office/drawing/2014/main" id="{25FD7FEC-8015-AB90-FAAC-AB66B1FC4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11" y="3493712"/>
            <a:ext cx="226757" cy="226757"/>
          </a:xfrm>
          <a:prstGeom prst="ellipse">
            <a:avLst/>
          </a:prstGeom>
          <a:solidFill>
            <a:srgbClr val="4472C4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A4E2DD-A19B-503F-8053-D4997C2F2A1D}"/>
              </a:ext>
            </a:extLst>
          </p:cNvPr>
          <p:cNvSpPr txBox="1"/>
          <p:nvPr/>
        </p:nvSpPr>
        <p:spPr>
          <a:xfrm>
            <a:off x="351813" y="3417121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∨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5" name="Oval 39">
            <a:extLst>
              <a:ext uri="{FF2B5EF4-FFF2-40B4-BE49-F238E27FC236}">
                <a16:creationId xmlns:a16="http://schemas.microsoft.com/office/drawing/2014/main" id="{22D925F8-7E07-8852-CE61-487F96BB8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08" y="5058296"/>
            <a:ext cx="226757" cy="226757"/>
          </a:xfrm>
          <a:prstGeom prst="ellipse">
            <a:avLst/>
          </a:prstGeom>
          <a:solidFill>
            <a:srgbClr val="0066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F8F696A-AF0F-4315-5142-07E183FFD1D3}"/>
              </a:ext>
            </a:extLst>
          </p:cNvPr>
          <p:cNvSpPr txBox="1"/>
          <p:nvPr/>
        </p:nvSpPr>
        <p:spPr>
          <a:xfrm>
            <a:off x="343698" y="4982826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∨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7" name="flag_southkorea">
            <a:extLst>
              <a:ext uri="{FF2B5EF4-FFF2-40B4-BE49-F238E27FC236}">
                <a16:creationId xmlns:a16="http://schemas.microsoft.com/office/drawing/2014/main" id="{7ABDD3CE-C0F5-30B6-675D-C4F8140C11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6688" r="16688"/>
          <a:stretch/>
        </p:blipFill>
        <p:spPr bwMode="auto">
          <a:xfrm>
            <a:off x="2752906" y="921529"/>
            <a:ext cx="172800" cy="172800"/>
          </a:xfrm>
          <a:prstGeom prst="ellipse">
            <a:avLst/>
          </a:prstGeom>
          <a:grpFill/>
          <a:ln w="12700">
            <a:noFill/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7FFAFD2-BE40-2A75-B422-20AD420C03FA}"/>
              </a:ext>
            </a:extLst>
          </p:cNvPr>
          <p:cNvSpPr txBox="1"/>
          <p:nvPr/>
        </p:nvSpPr>
        <p:spPr>
          <a:xfrm>
            <a:off x="9470842" y="6628852"/>
            <a:ext cx="370614" cy="220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ts val="1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sng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en-US" altLang="ko-KR" sz="11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2</a:t>
            </a:r>
            <a:endParaRPr kumimoji="0" lang="ko-KR" altLang="en-US" sz="1050" b="0" i="0" u="none" strike="noStrike" kern="1200" cap="none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실행 단추: 홈으로 이동 4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418FD08-F3A4-FC42-B2A5-0086A515E8C5}"/>
              </a:ext>
            </a:extLst>
          </p:cNvPr>
          <p:cNvSpPr/>
          <p:nvPr/>
        </p:nvSpPr>
        <p:spPr bwMode="auto">
          <a:xfrm>
            <a:off x="9664270" y="321837"/>
            <a:ext cx="190774" cy="217961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F7C2C2-26AB-D966-9682-FEA3DF22A560}"/>
              </a:ext>
            </a:extLst>
          </p:cNvPr>
          <p:cNvSpPr txBox="1"/>
          <p:nvPr/>
        </p:nvSpPr>
        <p:spPr>
          <a:xfrm>
            <a:off x="7367201" y="52444"/>
            <a:ext cx="2502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1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생산성 극대화 리더 </a:t>
            </a:r>
            <a:r>
              <a:rPr lang="ko-KR" altLang="en-US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워크샵 자료 </a:t>
            </a:r>
            <a:r>
              <a: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(’26.1.15)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4609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7"/>
</p:tagLst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ulticampus.com/em/enrolment/courseDetaiInfo?corsCd=FA00VJ" TargetMode="External"/></Relationships>
</file>

<file path=ppt/theme/theme1.xml><?xml version="1.0" encoding="utf-8"?>
<a:theme xmlns:a="http://schemas.openxmlformats.org/drawingml/2006/main" name="15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5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5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6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7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8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9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0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2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 algn="l">
          <a:defRPr sz="900" b="1" u="sng" dirty="0" smtClean="0">
            <a:solidFill>
              <a:schemeClr val="bg1">
                <a:lumMod val="7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  <a:hlinkClick xmlns:r="http://schemas.openxmlformats.org/officeDocument/2006/relationships" r:id="rId1">
              <a:extLst>
                <a:ext uri="{A12FA001-AC4F-418D-AE19-62706E023703}">
                  <ahyp:hlinkClr xmlns:ahyp="http://schemas.microsoft.com/office/drawing/2018/hyperlinkcolor" val="tx"/>
                </a:ext>
              </a:extLst>
            </a:hlinkClick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22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23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24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25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4_기본 디자인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사용자 지정 1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CC">
            <a:alpha val="90000"/>
          </a:srgbClr>
        </a:solidFill>
        <a:ln w="9525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fontAlgn="base">
          <a:spcBef>
            <a:spcPct val="0"/>
          </a:spcBef>
          <a:spcAft>
            <a:spcPct val="0"/>
          </a:spcAft>
          <a:defRPr sz="1000" b="1" spc="-50" dirty="0" smtClean="0"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ea typeface="가는둥근제목체" pitchFamily="18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b="1" spc="-50" dirty="0" smtClean="0"/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26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27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28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29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30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2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>
          <a:solidFill>
            <a:schemeClr val="bg1">
              <a:lumMod val="50000"/>
            </a:schemeClr>
          </a:solidFill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auto" latinLnBrk="1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Arial Narrow"/>
            <a:ea typeface="LG스마트체 Regular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3.xml><?xml version="1.0" encoding="utf-8"?>
<a:theme xmlns:a="http://schemas.openxmlformats.org/drawingml/2006/main" name="3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5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32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33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34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5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fc7fec3-9073-487e-b0af-1d4ba1faeab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18E1E7D7EA0084A8CDB4E97D612DA84" ma:contentTypeVersion="14" ma:contentTypeDescription="새 문서를 만듭니다." ma:contentTypeScope="" ma:versionID="5b93f08de0386e28ffaf62072c9ecc23">
  <xsd:schema xmlns:xsd="http://www.w3.org/2001/XMLSchema" xmlns:xs="http://www.w3.org/2001/XMLSchema" xmlns:p="http://schemas.microsoft.com/office/2006/metadata/properties" xmlns:ns3="8fc7fec3-9073-487e-b0af-1d4ba1faeab4" xmlns:ns4="92a27af3-79a0-46e2-ab64-e391fc2e79e1" targetNamespace="http://schemas.microsoft.com/office/2006/metadata/properties" ma:root="true" ma:fieldsID="08da30d14105b22618163bb0a0b57fc3" ns3:_="" ns4:_="">
    <xsd:import namespace="8fc7fec3-9073-487e-b0af-1d4ba1faeab4"/>
    <xsd:import namespace="92a27af3-79a0-46e2-ab64-e391fc2e79e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7fec3-9073-487e-b0af-1d4ba1faeab4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a27af3-79a0-46e2-ab64-e391fc2e79e1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A4DA45-6D00-4257-9F47-48FE210588CC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92a27af3-79a0-46e2-ab64-e391fc2e79e1"/>
    <ds:schemaRef ds:uri="http://purl.org/dc/terms/"/>
    <ds:schemaRef ds:uri="http://schemas.openxmlformats.org/package/2006/metadata/core-properties"/>
    <ds:schemaRef ds:uri="8fc7fec3-9073-487e-b0af-1d4ba1faeab4"/>
  </ds:schemaRefs>
</ds:datastoreItem>
</file>

<file path=customXml/itemProps2.xml><?xml version="1.0" encoding="utf-8"?>
<ds:datastoreItem xmlns:ds="http://schemas.openxmlformats.org/officeDocument/2006/customXml" ds:itemID="{14554D27-1B34-4DAD-B116-E785737DAA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4741C7-7CEC-4216-AF68-EB52EBE1A7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c7fec3-9073-487e-b0af-1d4ba1faeab4"/>
    <ds:schemaRef ds:uri="92a27af3-79a0-46e2-ab64-e391fc2e79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22149</TotalTime>
  <Words>1057</Words>
  <Application>Microsoft Office PowerPoint</Application>
  <PresentationFormat>A4 용지(210x297mm)</PresentationFormat>
  <Paragraphs>243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28</vt:i4>
      </vt:variant>
      <vt:variant>
        <vt:lpstr>슬라이드 제목</vt:lpstr>
      </vt:variant>
      <vt:variant>
        <vt:i4>2</vt:i4>
      </vt:variant>
    </vt:vector>
  </HeadingPairs>
  <TitlesOfParts>
    <vt:vector size="41" baseType="lpstr">
      <vt:lpstr>LG Smart_H Regular</vt:lpstr>
      <vt:lpstr>LG스마트체 Light</vt:lpstr>
      <vt:lpstr>LG스마트체 Regular</vt:lpstr>
      <vt:lpstr>굴림</vt:lpstr>
      <vt:lpstr>돋움</vt:lpstr>
      <vt:lpstr>맑은 고딕</vt:lpstr>
      <vt:lpstr>Arial</vt:lpstr>
      <vt:lpstr>Arial Narrow</vt:lpstr>
      <vt:lpstr>Calibri</vt:lpstr>
      <vt:lpstr>Calibri Light</vt:lpstr>
      <vt:lpstr>Wingdings</vt:lpstr>
      <vt:lpstr>15_기본 디자인</vt:lpstr>
      <vt:lpstr>1_Office 테마</vt:lpstr>
      <vt:lpstr>1_디자인 사용자 지정</vt:lpstr>
      <vt:lpstr>2_디자인 사용자 지정</vt:lpstr>
      <vt:lpstr>16_기본 디자인</vt:lpstr>
      <vt:lpstr>2_Office 테마</vt:lpstr>
      <vt:lpstr>17_기본 디자인</vt:lpstr>
      <vt:lpstr>18_기본 디자인</vt:lpstr>
      <vt:lpstr>19_기본 디자인</vt:lpstr>
      <vt:lpstr>20_기본 디자인</vt:lpstr>
      <vt:lpstr>21_기본 디자인</vt:lpstr>
      <vt:lpstr>22_기본 디자인</vt:lpstr>
      <vt:lpstr>23_기본 디자인</vt:lpstr>
      <vt:lpstr>24_기본 디자인</vt:lpstr>
      <vt:lpstr>25_기본 디자인</vt:lpstr>
      <vt:lpstr>4_기본 디자인</vt:lpstr>
      <vt:lpstr>26_기본 디자인</vt:lpstr>
      <vt:lpstr>27_기본 디자인</vt:lpstr>
      <vt:lpstr>28_기본 디자인</vt:lpstr>
      <vt:lpstr>29_기본 디자인</vt:lpstr>
      <vt:lpstr>30_기본 디자인</vt:lpstr>
      <vt:lpstr>23_디자인 사용자 지정</vt:lpstr>
      <vt:lpstr>31_기본 디자인</vt:lpstr>
      <vt:lpstr>56_디자인 사용자 지정</vt:lpstr>
      <vt:lpstr>32_기본 디자인</vt:lpstr>
      <vt:lpstr>33_기본 디자인</vt:lpstr>
      <vt:lpstr>34_기본 디자인</vt:lpstr>
      <vt:lpstr>5_Office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최수정(Sujeong Choi)[csj11]/사원/제조지능화.자동보정.기술지원P</dc:creator>
  <cp:lastModifiedBy>jaehu</cp:lastModifiedBy>
  <cp:revision>3614</cp:revision>
  <dcterms:created xsi:type="dcterms:W3CDTF">2025-06-05T07:17:49Z</dcterms:created>
  <dcterms:modified xsi:type="dcterms:W3CDTF">2026-01-21T09:38:50Z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0x010100A18E1E7D7EA0084A8CDB4E97D612DA84</vt:lpwstr>
  </property>
</Properties>
</file>