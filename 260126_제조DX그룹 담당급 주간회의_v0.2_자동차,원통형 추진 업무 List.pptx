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theme/theme9.xml" ContentType="application/vnd.openxmlformats-officedocument.theme+xml"/>
  <Override PartName="/ppt/slideLayouts/slideLayout22.xml" ContentType="application/vnd.openxmlformats-officedocument.presentationml.slideLayout+xml"/>
  <Override PartName="/ppt/theme/theme10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1.xml" ContentType="application/vnd.openxmlformats-officedocument.theme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theme/theme14.xml" ContentType="application/vnd.openxmlformats-officedocument.theme+xml"/>
  <Override PartName="/ppt/slideLayouts/slideLayout28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slideLayouts/slideLayout29.xml" ContentType="application/vnd.openxmlformats-officedocument.presentationml.slideLayout+xml"/>
  <Override PartName="/ppt/theme/theme17.xml" ContentType="application/vnd.openxmlformats-officedocument.theme+xml"/>
  <Override PartName="/ppt/slideLayouts/slideLayout30.xml" ContentType="application/vnd.openxmlformats-officedocument.presentationml.slideLayout+xml"/>
  <Override PartName="/ppt/theme/theme18.xml" ContentType="application/vnd.openxmlformats-officedocument.theme+xml"/>
  <Override PartName="/ppt/slideLayouts/slideLayout31.xml" ContentType="application/vnd.openxmlformats-officedocument.presentationml.slideLayout+xml"/>
  <Override PartName="/ppt/theme/theme19.xml" ContentType="application/vnd.openxmlformats-officedocument.theme+xml"/>
  <Override PartName="/ppt/slideLayouts/slideLayout32.xml" ContentType="application/vnd.openxmlformats-officedocument.presentationml.slideLayout+xml"/>
  <Override PartName="/ppt/theme/theme20.xml" ContentType="application/vnd.openxmlformats-officedocument.theme+xml"/>
  <Override PartName="/ppt/slideLayouts/slideLayout33.xml" ContentType="application/vnd.openxmlformats-officedocument.presentationml.slideLayout+xml"/>
  <Override PartName="/ppt/theme/theme2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2.xml" ContentType="application/vnd.openxmlformats-officedocument.theme+xml"/>
  <Override PartName="/ppt/slideLayouts/slideLayout36.xml" ContentType="application/vnd.openxmlformats-officedocument.presentationml.slideLayout+xml"/>
  <Override PartName="/ppt/theme/theme23.xml" ContentType="application/vnd.openxmlformats-officedocument.theme+xml"/>
  <Override PartName="/ppt/slideLayouts/slideLayout37.xml" ContentType="application/vnd.openxmlformats-officedocument.presentationml.slideLayout+xml"/>
  <Override PartName="/ppt/theme/theme24.xml" ContentType="application/vnd.openxmlformats-officedocument.theme+xml"/>
  <Override PartName="/ppt/slideLayouts/slideLayout38.xml" ContentType="application/vnd.openxmlformats-officedocument.presentationml.slideLayout+xml"/>
  <Override PartName="/ppt/theme/theme25.xml" ContentType="application/vnd.openxmlformats-officedocument.theme+xml"/>
  <Override PartName="/ppt/slideLayouts/slideLayout39.xml" ContentType="application/vnd.openxmlformats-officedocument.presentationml.slideLayout+xml"/>
  <Override PartName="/ppt/theme/theme2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7.xml" ContentType="application/vnd.openxmlformats-officedocument.theme+xml"/>
  <Override PartName="/ppt/theme/theme2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76" r:id="rId5"/>
    <p:sldMasterId id="2147483684" r:id="rId6"/>
    <p:sldMasterId id="2147483685" r:id="rId7"/>
    <p:sldMasterId id="2147483699" r:id="rId8"/>
    <p:sldMasterId id="2147483702" r:id="rId9"/>
    <p:sldMasterId id="2147483710" r:id="rId10"/>
    <p:sldMasterId id="2147483712" r:id="rId11"/>
    <p:sldMasterId id="2147483759" r:id="rId12"/>
    <p:sldMasterId id="2147483761" r:id="rId13"/>
    <p:sldMasterId id="2147483764" r:id="rId14"/>
    <p:sldMasterId id="2147483767" r:id="rId15"/>
    <p:sldMasterId id="2147483772" r:id="rId16"/>
    <p:sldMasterId id="2147483774" r:id="rId17"/>
    <p:sldMasterId id="2147483813" r:id="rId18"/>
    <p:sldMasterId id="2147483816" r:id="rId19"/>
    <p:sldMasterId id="2147483830" r:id="rId20"/>
    <p:sldMasterId id="2147483832" r:id="rId21"/>
    <p:sldMasterId id="2147483834" r:id="rId22"/>
    <p:sldMasterId id="2147483841" r:id="rId23"/>
    <p:sldMasterId id="2147483848" r:id="rId24"/>
    <p:sldMasterId id="2147483851" r:id="rId25"/>
    <p:sldMasterId id="2147483855" r:id="rId26"/>
    <p:sldMasterId id="2147483858" r:id="rId27"/>
    <p:sldMasterId id="2147483860" r:id="rId28"/>
    <p:sldMasterId id="2147483862" r:id="rId29"/>
    <p:sldMasterId id="2147483877" r:id="rId30"/>
  </p:sldMasterIdLst>
  <p:notesMasterIdLst>
    <p:notesMasterId r:id="rId36"/>
  </p:notesMasterIdLst>
  <p:sldIdLst>
    <p:sldId id="2147483644" r:id="rId31"/>
    <p:sldId id="257" r:id="rId32"/>
    <p:sldId id="2147483646" r:id="rId33"/>
    <p:sldId id="2147483647" r:id="rId34"/>
    <p:sldId id="2147483645" r:id="rId3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요약 페이지" id="{16D3CCD0-A34D-41BE-9AC5-F9726C3AB814}">
          <p14:sldIdLst/>
        </p14:section>
        <p14:section name="공유사항" id="{729FCC6F-4403-4725-8665-6D3344B58637}">
          <p14:sldIdLst/>
        </p14:section>
        <p14:section name="인원/채용 현황" id="{3CD31530-CEF1-4FE6-9E22-867F388F6D59}">
          <p14:sldIdLst/>
        </p14:section>
        <p14:section name="출장현황" id="{0E0ACEB6-ADAB-4CD9-B921-41CD531370F3}">
          <p14:sldIdLst/>
        </p14:section>
        <p14:section name="보조" id="{094EF1CE-5AB2-47BF-9691-DD44CFC03103}">
          <p14:sldIdLst>
            <p14:sldId id="2147483644"/>
            <p14:sldId id="257"/>
            <p14:sldId id="2147483646"/>
            <p14:sldId id="2147483647"/>
            <p14:sldId id="21474836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0000"/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8" autoAdjust="0"/>
    <p:restoredTop sz="96242" autoAdjust="0"/>
  </p:normalViewPr>
  <p:slideViewPr>
    <p:cSldViewPr snapToGrid="0">
      <p:cViewPr varScale="1">
        <p:scale>
          <a:sx n="103" d="100"/>
          <a:sy n="103" d="100"/>
        </p:scale>
        <p:origin x="3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39" Type="http://schemas.openxmlformats.org/officeDocument/2006/relationships/theme" Target="theme/theme1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4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3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2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" Target="slides/slide5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98C62-D2A0-4142-8D5B-ACB6953683D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23889-71D2-4C7F-86F4-6868F2FF2A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67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3889-71D2-4C7F-86F4-6868F2FF2A7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650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5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0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082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94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48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89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95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01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3CC30-4A7C-80B8-A141-1A44CC960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1AE310-599E-8A42-D1F0-E7DCCBC1B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076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BF6D4-B540-BB06-0251-DDBA58941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4BB4A1-FCF1-E455-ADB3-612F878D9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2390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629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47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822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41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497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590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529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140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50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28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96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12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43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6023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175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05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0812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8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421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746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0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896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1565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208136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8F9AC-8204-46FA-B808-449C59A80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05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3248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12AA0-6F6D-4EDB-A54E-760DF649BFB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2026-01-22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7309-B7A3-4E4D-A28A-FEBA640BDC6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2558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868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3909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_쪽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980893" y="659280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3D8B470-7F73-4384-8025-B2F3A9A978B6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7992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35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5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8.xml"/></Relationships>
</file>

<file path=ppt/slideMasters/_rels/slideMaster1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9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30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31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32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33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6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7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8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9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theme" Target="../theme/theme27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86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2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68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107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07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93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93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96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15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83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9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09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0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31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4384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4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674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72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7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46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A2CE39-3A3D-47C9-8337-D19B89C86E93}" type="datetimeFigureOut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2026-01-22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08F9AC-8204-46FA-B808-449C59A80C80}" type="slidenum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23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</p:sldLayoutIdLst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61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12AA0-6F6D-4EDB-A54E-760DF649BFB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2026-01-22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87309-B7A3-4E4D-A28A-FEBA640BDC6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01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45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6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634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7768A0-8147-22EF-C40E-FB2EB930D72F}"/>
              </a:ext>
            </a:extLst>
          </p:cNvPr>
          <p:cNvSpPr txBox="1"/>
          <p:nvPr/>
        </p:nvSpPr>
        <p:spPr>
          <a:xfrm>
            <a:off x="4642660" y="6628655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1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실행 단추: 홈으로 이동 1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F23DE2-CF6C-A0FF-68DD-5CC406940C84}"/>
              </a:ext>
            </a:extLst>
          </p:cNvPr>
          <p:cNvSpPr/>
          <p:nvPr/>
        </p:nvSpPr>
        <p:spPr bwMode="auto">
          <a:xfrm>
            <a:off x="9565019" y="134090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4A1631D8-20C0-CC04-D4FE-E34FBAEAE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87" y="117793"/>
            <a:ext cx="4859022" cy="37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 ↔ 원통형 추진 업무 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Level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Gap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점검 </a:t>
            </a:r>
            <a:endParaRPr kumimoji="1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CA8BFA0-EA0F-E489-6877-ED48371273E0}"/>
              </a:ext>
            </a:extLst>
          </p:cNvPr>
          <p:cNvCxnSpPr>
            <a:cxnSpLocks/>
          </p:cNvCxnSpPr>
          <p:nvPr/>
        </p:nvCxnSpPr>
        <p:spPr>
          <a:xfrm>
            <a:off x="264812" y="518822"/>
            <a:ext cx="4688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96C49E-B26C-48D1-420B-70A7ED376A2C}"/>
              </a:ext>
            </a:extLst>
          </p:cNvPr>
          <p:cNvSpPr txBox="1"/>
          <p:nvPr/>
        </p:nvSpPr>
        <p:spPr>
          <a:xfrm>
            <a:off x="144376" y="619425"/>
            <a:ext cx="8609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970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0" algn="l"/>
              </a:tabLst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제조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DX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분류 결과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현재 원통형 과제는 총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102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건이며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 전용으로 남아있는 과제는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건으로 확인되었습니다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Text Box 118">
            <a:extLst>
              <a:ext uri="{FF2B5EF4-FFF2-40B4-BE49-F238E27FC236}">
                <a16:creationId xmlns:a16="http://schemas.microsoft.com/office/drawing/2014/main" id="{8360836C-F5AB-AC9C-C2F1-FD4E705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12" y="1185929"/>
            <a:ext cx="2480237" cy="1904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166158" marR="0" lvl="0" indent="-166158" algn="l" defTabSz="844083" rtl="0" eaLnBrk="1" fontAlgn="base" latinLnBrk="1" hangingPunct="1">
              <a:lnSpc>
                <a:spcPct val="110000"/>
              </a:lnSpc>
              <a:spcBef>
                <a:spcPts val="277"/>
              </a:spcBef>
              <a:spcAft>
                <a:spcPts val="646"/>
              </a:spcAft>
              <a:buClrTx/>
              <a:buSzPct val="80000"/>
              <a:buFont typeface="Wingdings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제조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DX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과제 현황 요약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9" name="실행 단추: 앞으로 또는 다음으로 이동 2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3FF73CE-F3F2-A982-BF47-294D7CAC2325}"/>
              </a:ext>
            </a:extLst>
          </p:cNvPr>
          <p:cNvSpPr/>
          <p:nvPr/>
        </p:nvSpPr>
        <p:spPr bwMode="auto">
          <a:xfrm>
            <a:off x="9385019" y="960845"/>
            <a:ext cx="180000" cy="180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dirty="0" err="1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7707E4-8C50-587C-0EB6-54D2DFF8919E}"/>
              </a:ext>
            </a:extLst>
          </p:cNvPr>
          <p:cNvSpPr txBox="1"/>
          <p:nvPr/>
        </p:nvSpPr>
        <p:spPr>
          <a:xfrm>
            <a:off x="7913141" y="967589"/>
            <a:ext cx="14718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1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lang="ko-KR" altLang="en-US" sz="9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1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추진 업무 </a:t>
            </a:r>
            <a:r>
              <a:rPr kumimoji="1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List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19E84-C382-03E3-F72E-399B11FD90C9}"/>
              </a:ext>
            </a:extLst>
          </p:cNvPr>
          <p:cNvSpPr txBox="1"/>
          <p:nvPr/>
        </p:nvSpPr>
        <p:spPr>
          <a:xfrm>
            <a:off x="1896043" y="3681952"/>
            <a:ext cx="3297372" cy="274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0" algn="l"/>
              </a:tabLst>
              <a:defRPr/>
            </a:pP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 전용 과제에 대해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원통형 적용 가능성 관점에서 정리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Text Box 118">
            <a:extLst>
              <a:ext uri="{FF2B5EF4-FFF2-40B4-BE49-F238E27FC236}">
                <a16:creationId xmlns:a16="http://schemas.microsoft.com/office/drawing/2014/main" id="{C76309D5-180A-1794-7823-5E9608595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12" y="3731355"/>
            <a:ext cx="2480237" cy="1904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80000" marR="0" lvl="0" indent="-180000" fontAlgn="base">
              <a:lnSpc>
                <a:spcPct val="110000"/>
              </a:lnSpc>
              <a:spcBef>
                <a:spcPts val="300"/>
              </a:spcBef>
              <a:spcAft>
                <a:spcPts val="700"/>
              </a:spcAft>
              <a:buClrTx/>
              <a:buSzPct val="80000"/>
              <a:buFont typeface="Wingdings" pitchFamily="2" charset="2"/>
              <a:buChar char="q"/>
              <a:tabLst/>
              <a:defRPr kumimoji="1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166158" marR="0" lvl="0" indent="-166158" algn="l" defTabSz="844083" rtl="0" eaLnBrk="1" fontAlgn="base" latinLnBrk="1" hangingPunct="1">
              <a:lnSpc>
                <a:spcPct val="110000"/>
              </a:lnSpc>
              <a:spcBef>
                <a:spcPts val="277"/>
              </a:spcBef>
              <a:spcAft>
                <a:spcPts val="646"/>
              </a:spcAft>
              <a:buClrTx/>
              <a:buSzPct val="80000"/>
              <a:buFont typeface="Wingdings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원통형 과제 확장 검토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82CA2D8-6789-2499-B521-3276C2A9B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813936"/>
              </p:ext>
            </p:extLst>
          </p:nvPr>
        </p:nvGraphicFramePr>
        <p:xfrm>
          <a:off x="460113" y="3990211"/>
          <a:ext cx="9225061" cy="2228220"/>
        </p:xfrm>
        <a:graphic>
          <a:graphicData uri="http://schemas.openxmlformats.org/drawingml/2006/table">
            <a:tbl>
              <a:tblPr/>
              <a:tblGrid>
                <a:gridCol w="1019434">
                  <a:extLst>
                    <a:ext uri="{9D8B030D-6E8A-4147-A177-3AD203B41FA5}">
                      <a16:colId xmlns:a16="http://schemas.microsoft.com/office/drawing/2014/main" val="2411439223"/>
                    </a:ext>
                  </a:extLst>
                </a:gridCol>
                <a:gridCol w="3541892">
                  <a:extLst>
                    <a:ext uri="{9D8B030D-6E8A-4147-A177-3AD203B41FA5}">
                      <a16:colId xmlns:a16="http://schemas.microsoft.com/office/drawing/2014/main" val="3720874801"/>
                    </a:ext>
                  </a:extLst>
                </a:gridCol>
                <a:gridCol w="4663735">
                  <a:extLst>
                    <a:ext uri="{9D8B030D-6E8A-4147-A177-3AD203B41FA5}">
                      <a16:colId xmlns:a16="http://schemas.microsoft.com/office/drawing/2014/main" val="1657784001"/>
                    </a:ext>
                  </a:extLst>
                </a:gridCol>
              </a:tblGrid>
              <a:tr h="1327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담당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자동차 전용 과제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원통형 확장 검토 요약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320043"/>
                  </a:ext>
                </a:extLst>
              </a:tr>
              <a:tr h="1327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자동보정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AX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기반 자동보정 파라미터 실시간 최적화 외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조립공정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라미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스택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패키지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/AZS)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자동보정 과제 중심으로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보정 로직 자체는 제품군보다는 설비 제어 구조 및 공정 조건에 의존하기 때문에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설비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제어 구조 유사 시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원통형 확장 검토 가능한 과제 포함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422975"/>
                  </a:ext>
                </a:extLst>
              </a:tr>
              <a:tr h="1327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 DX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비전검사기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이상감지 기반 설비 이상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과검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개선 외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설비 이상감지 및 공정 모니터링 과제 중심으로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센서 구성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설비 타입에 따라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확장 가능성 편차가 존재함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. 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설비 구조 및 센서 체계가 유사한 과제에 한해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원통형 확장 검토 일부 확인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949416"/>
                  </a:ext>
                </a:extLst>
              </a:tr>
              <a:tr h="1327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솔루션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PLC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프로그램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생성형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구축 회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분석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솔루션 성격의 과제가 중심으로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기술 확장보다는 적용 범위 및 기준 재정의 관점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에서 검토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129408"/>
                  </a:ext>
                </a:extLst>
              </a:tr>
              <a:tr h="1327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품질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재와인딩기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전공정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불량 구간 사전 알람 외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검사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판정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불량구간 관리 시스템 중심 과제가 다수로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공정 품질 관리 관점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에서 원통형 확장 검토 가능한 과제 확인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58097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5723B88-1CD1-70B5-7DAC-D7DFEBF47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383779"/>
              </p:ext>
            </p:extLst>
          </p:nvPr>
        </p:nvGraphicFramePr>
        <p:xfrm>
          <a:off x="460109" y="1435132"/>
          <a:ext cx="9225065" cy="1828680"/>
        </p:xfrm>
        <a:graphic>
          <a:graphicData uri="http://schemas.openxmlformats.org/drawingml/2006/table">
            <a:tbl>
              <a:tblPr/>
              <a:tblGrid>
                <a:gridCol w="973606">
                  <a:extLst>
                    <a:ext uri="{9D8B030D-6E8A-4147-A177-3AD203B41FA5}">
                      <a16:colId xmlns:a16="http://schemas.microsoft.com/office/drawing/2014/main" val="2344177781"/>
                    </a:ext>
                  </a:extLst>
                </a:gridCol>
                <a:gridCol w="937771">
                  <a:extLst>
                    <a:ext uri="{9D8B030D-6E8A-4147-A177-3AD203B41FA5}">
                      <a16:colId xmlns:a16="http://schemas.microsoft.com/office/drawing/2014/main" val="1027054350"/>
                    </a:ext>
                  </a:extLst>
                </a:gridCol>
                <a:gridCol w="1218948">
                  <a:extLst>
                    <a:ext uri="{9D8B030D-6E8A-4147-A177-3AD203B41FA5}">
                      <a16:colId xmlns:a16="http://schemas.microsoft.com/office/drawing/2014/main" val="3897491965"/>
                    </a:ext>
                  </a:extLst>
                </a:gridCol>
                <a:gridCol w="1218948">
                  <a:extLst>
                    <a:ext uri="{9D8B030D-6E8A-4147-A177-3AD203B41FA5}">
                      <a16:colId xmlns:a16="http://schemas.microsoft.com/office/drawing/2014/main" val="572967143"/>
                    </a:ext>
                  </a:extLst>
                </a:gridCol>
                <a:gridCol w="1218948">
                  <a:extLst>
                    <a:ext uri="{9D8B030D-6E8A-4147-A177-3AD203B41FA5}">
                      <a16:colId xmlns:a16="http://schemas.microsoft.com/office/drawing/2014/main" val="3127288499"/>
                    </a:ext>
                  </a:extLst>
                </a:gridCol>
                <a:gridCol w="1218948">
                  <a:extLst>
                    <a:ext uri="{9D8B030D-6E8A-4147-A177-3AD203B41FA5}">
                      <a16:colId xmlns:a16="http://schemas.microsoft.com/office/drawing/2014/main" val="4059649966"/>
                    </a:ext>
                  </a:extLst>
                </a:gridCol>
                <a:gridCol w="1218948">
                  <a:extLst>
                    <a:ext uri="{9D8B030D-6E8A-4147-A177-3AD203B41FA5}">
                      <a16:colId xmlns:a16="http://schemas.microsoft.com/office/drawing/2014/main" val="3352221542"/>
                    </a:ext>
                  </a:extLst>
                </a:gridCol>
                <a:gridCol w="1218948">
                  <a:extLst>
                    <a:ext uri="{9D8B030D-6E8A-4147-A177-3AD203B41FA5}">
                      <a16:colId xmlns:a16="http://schemas.microsoft.com/office/drawing/2014/main" val="1573726255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제품군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자동보정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 DX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솔루션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품질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직속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358795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자동차 전용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21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22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165184"/>
                  </a:ext>
                </a:extLst>
              </a:tr>
              <a:tr h="20955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원통형 전용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2170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69548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4680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14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606897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2170+4680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382494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소계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17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40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107878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원통형 공통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7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51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62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7676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24494A0-81BF-1C75-4BD3-883266F28D43}"/>
              </a:ext>
            </a:extLst>
          </p:cNvPr>
          <p:cNvSpPr txBox="1"/>
          <p:nvPr/>
        </p:nvSpPr>
        <p:spPr>
          <a:xfrm>
            <a:off x="1325112" y="3223405"/>
            <a:ext cx="1141863" cy="27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0" algn="l"/>
              </a:tabLst>
              <a:defRPr/>
            </a:pP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*ESS/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각형 限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33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7768A0-8147-22EF-C40E-FB2EB930D72F}"/>
              </a:ext>
            </a:extLst>
          </p:cNvPr>
          <p:cNvSpPr txBox="1"/>
          <p:nvPr/>
        </p:nvSpPr>
        <p:spPr>
          <a:xfrm>
            <a:off x="4642660" y="6628655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4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실행 단추: 홈으로 이동 1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F23DE2-CF6C-A0FF-68DD-5CC406940C84}"/>
              </a:ext>
            </a:extLst>
          </p:cNvPr>
          <p:cNvSpPr/>
          <p:nvPr/>
        </p:nvSpPr>
        <p:spPr bwMode="auto">
          <a:xfrm>
            <a:off x="9565019" y="134090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F90CA1-CA07-9943-BC21-229A62275092}"/>
              </a:ext>
            </a:extLst>
          </p:cNvPr>
          <p:cNvSpPr/>
          <p:nvPr/>
        </p:nvSpPr>
        <p:spPr bwMode="auto">
          <a:xfrm>
            <a:off x="4769297" y="6479741"/>
            <a:ext cx="367408" cy="148914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2F4EE70-39CE-A83A-4F66-EADD48C6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626793"/>
              </p:ext>
            </p:extLst>
          </p:nvPr>
        </p:nvGraphicFramePr>
        <p:xfrm>
          <a:off x="165396" y="632438"/>
          <a:ext cx="9575207" cy="5967480"/>
        </p:xfrm>
        <a:graphic>
          <a:graphicData uri="http://schemas.openxmlformats.org/drawingml/2006/table">
            <a:tbl>
              <a:tblPr/>
              <a:tblGrid>
                <a:gridCol w="804913">
                  <a:extLst>
                    <a:ext uri="{9D8B030D-6E8A-4147-A177-3AD203B41FA5}">
                      <a16:colId xmlns:a16="http://schemas.microsoft.com/office/drawing/2014/main" val="1154268144"/>
                    </a:ext>
                  </a:extLst>
                </a:gridCol>
                <a:gridCol w="1103980">
                  <a:extLst>
                    <a:ext uri="{9D8B030D-6E8A-4147-A177-3AD203B41FA5}">
                      <a16:colId xmlns:a16="http://schemas.microsoft.com/office/drawing/2014/main" val="4243479912"/>
                    </a:ext>
                  </a:extLst>
                </a:gridCol>
                <a:gridCol w="3658031">
                  <a:extLst>
                    <a:ext uri="{9D8B030D-6E8A-4147-A177-3AD203B41FA5}">
                      <a16:colId xmlns:a16="http://schemas.microsoft.com/office/drawing/2014/main" val="1762571458"/>
                    </a:ext>
                  </a:extLst>
                </a:gridCol>
                <a:gridCol w="406154">
                  <a:extLst>
                    <a:ext uri="{9D8B030D-6E8A-4147-A177-3AD203B41FA5}">
                      <a16:colId xmlns:a16="http://schemas.microsoft.com/office/drawing/2014/main" val="1063674228"/>
                    </a:ext>
                  </a:extLst>
                </a:gridCol>
                <a:gridCol w="406154">
                  <a:extLst>
                    <a:ext uri="{9D8B030D-6E8A-4147-A177-3AD203B41FA5}">
                      <a16:colId xmlns:a16="http://schemas.microsoft.com/office/drawing/2014/main" val="3575961374"/>
                    </a:ext>
                  </a:extLst>
                </a:gridCol>
                <a:gridCol w="432072">
                  <a:extLst>
                    <a:ext uri="{9D8B030D-6E8A-4147-A177-3AD203B41FA5}">
                      <a16:colId xmlns:a16="http://schemas.microsoft.com/office/drawing/2014/main" val="3037412521"/>
                    </a:ext>
                  </a:extLst>
                </a:gridCol>
                <a:gridCol w="505842">
                  <a:extLst>
                    <a:ext uri="{9D8B030D-6E8A-4147-A177-3AD203B41FA5}">
                      <a16:colId xmlns:a16="http://schemas.microsoft.com/office/drawing/2014/main" val="3594608640"/>
                    </a:ext>
                  </a:extLst>
                </a:gridCol>
                <a:gridCol w="392197">
                  <a:extLst>
                    <a:ext uri="{9D8B030D-6E8A-4147-A177-3AD203B41FA5}">
                      <a16:colId xmlns:a16="http://schemas.microsoft.com/office/drawing/2014/main" val="2399016969"/>
                    </a:ext>
                  </a:extLst>
                </a:gridCol>
                <a:gridCol w="414129">
                  <a:extLst>
                    <a:ext uri="{9D8B030D-6E8A-4147-A177-3AD203B41FA5}">
                      <a16:colId xmlns:a16="http://schemas.microsoft.com/office/drawing/2014/main" val="3001979656"/>
                    </a:ext>
                  </a:extLst>
                </a:gridCol>
                <a:gridCol w="414129">
                  <a:extLst>
                    <a:ext uri="{9D8B030D-6E8A-4147-A177-3AD203B41FA5}">
                      <a16:colId xmlns:a16="http://schemas.microsoft.com/office/drawing/2014/main" val="3073137439"/>
                    </a:ext>
                  </a:extLst>
                </a:gridCol>
                <a:gridCol w="406154">
                  <a:extLst>
                    <a:ext uri="{9D8B030D-6E8A-4147-A177-3AD203B41FA5}">
                      <a16:colId xmlns:a16="http://schemas.microsoft.com/office/drawing/2014/main" val="4278000373"/>
                    </a:ext>
                  </a:extLst>
                </a:gridCol>
                <a:gridCol w="631452">
                  <a:extLst>
                    <a:ext uri="{9D8B030D-6E8A-4147-A177-3AD203B41FA5}">
                      <a16:colId xmlns:a16="http://schemas.microsoft.com/office/drawing/2014/main" val="329266926"/>
                    </a:ext>
                  </a:extLst>
                </a:gridCol>
              </a:tblGrid>
              <a:tr h="7271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과제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적용 공정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제품군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 여부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19531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모듈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소형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각형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87069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2170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4680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588054"/>
                  </a:ext>
                </a:extLst>
              </a:tr>
              <a:tr h="72710">
                <a:tc rowSpan="49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자동보정선행개발팀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U-Frame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모듈 레진 무게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65479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CTP(Cell to Pack)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레진 무게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413739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LAMI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재료교체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Y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축 예측모델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905785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AZS&amp;LAMI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정지 후 가동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Feed-Forward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643501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AX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기반 자동보정 파라미터 실시간 최적화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8616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슬러리온도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95982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MC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GM1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로딩자동보정 로직 고도화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정확도 및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응답성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개선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363941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NFF(4680)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분할 밸브 개도율 제어를 통한 로딩량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폭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미스매치 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49937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패턴코팅 길이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793833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패턴코팅 발코니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57689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패턴코팅 미스매치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05567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패턴코팅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2 Step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16613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패턴길이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End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부 미스매치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64925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절연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Overlay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예측보정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08437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동시절연코팅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58029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WA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질량유량계 기반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로딩 자동보정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478119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미스매치 자동보정 기술고도화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(CPC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보정주기 독립기반 속도향상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정확도 향상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8460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RSND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재조건조정 구간 자동보정 고도화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(OS/DS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편차 제어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3236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등속구간 자동보정 고도화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존제어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0157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Tension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편차 자동보정을 통한 단선 예방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946405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재조건조정 구간 자동보정 고도화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역압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재조건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조정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062092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2170 Dip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두께 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934181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다단압연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021147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역압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개별 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67787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테이핑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테이핑 오버랩 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52053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슬리팅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동시슬리팅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745062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재료교체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등속구간 자동보정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9307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[DNC]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신규공정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DNC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91181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[DNC]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가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감속구간 자동보정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19705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[ZZS]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등속구간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Tab neck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8986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9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조립자동보정팀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재료교체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Y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축 예측모델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265668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가감속 구간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X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측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Feed Forward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05597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Cutter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로테이션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133712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재료교체 및 가감속구간 로직고도화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19353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스택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Half Cell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085918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스택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STK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공정 설비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IP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등 자동보정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104441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패키지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전해액 주액량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04129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[AZS]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셀 넘버별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398132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[AZS]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Align Table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7882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[AZS]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풀링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와인딩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74382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[AZS]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분리막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Align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287783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[21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길이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960066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[21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Tab 1st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혼마크 위치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41922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[21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권취 사행 자동보정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376654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[46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Edge Taping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981030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[46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주행 포밍 각도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90609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[46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권취 사행 자동보정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736407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각형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AZS]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풀링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와인딩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883135"/>
                  </a:ext>
                </a:extLst>
              </a:tr>
              <a:tr h="72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각형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AZS]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분리막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Align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395771"/>
                  </a:ext>
                </a:extLst>
              </a:tr>
            </a:tbl>
          </a:graphicData>
        </a:graphic>
      </p:graphicFrame>
      <p:sp>
        <p:nvSpPr>
          <p:cNvPr id="15" name="Text Box 2">
            <a:extLst>
              <a:ext uri="{FF2B5EF4-FFF2-40B4-BE49-F238E27FC236}">
                <a16:creationId xmlns:a16="http://schemas.microsoft.com/office/drawing/2014/main" id="{4A1631D8-20C0-CC04-D4FE-E34FBAEAE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87" y="117793"/>
            <a:ext cx="3714478" cy="37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추진 업무 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List (1/4)</a:t>
            </a:r>
            <a:endParaRPr kumimoji="1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CA8BFA0-EA0F-E489-6877-ED48371273E0}"/>
              </a:ext>
            </a:extLst>
          </p:cNvPr>
          <p:cNvCxnSpPr>
            <a:cxnSpLocks/>
          </p:cNvCxnSpPr>
          <p:nvPr/>
        </p:nvCxnSpPr>
        <p:spPr>
          <a:xfrm>
            <a:off x="264812" y="518822"/>
            <a:ext cx="36302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FEDCF4-F868-0D77-0907-559C5F746102}"/>
              </a:ext>
            </a:extLst>
          </p:cNvPr>
          <p:cNvSpPr txBox="1"/>
          <p:nvPr/>
        </p:nvSpPr>
        <p:spPr>
          <a:xfrm>
            <a:off x="7775706" y="4292296"/>
            <a:ext cx="7264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소형 파우치 완료</a:t>
            </a:r>
          </a:p>
        </p:txBody>
      </p:sp>
    </p:spTree>
    <p:extLst>
      <p:ext uri="{BB962C8B-B14F-4D97-AF65-F5344CB8AC3E}">
        <p14:creationId xmlns:p14="http://schemas.microsoft.com/office/powerpoint/2010/main" val="102124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F90CA1-CA07-9943-BC21-229A62275092}"/>
              </a:ext>
            </a:extLst>
          </p:cNvPr>
          <p:cNvSpPr/>
          <p:nvPr/>
        </p:nvSpPr>
        <p:spPr bwMode="auto">
          <a:xfrm>
            <a:off x="4769297" y="6479741"/>
            <a:ext cx="367408" cy="148914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217C342-4590-81D8-B1FC-97679D799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191463"/>
              </p:ext>
            </p:extLst>
          </p:nvPr>
        </p:nvGraphicFramePr>
        <p:xfrm>
          <a:off x="165600" y="633600"/>
          <a:ext cx="9580836" cy="5739720"/>
        </p:xfrm>
        <a:graphic>
          <a:graphicData uri="http://schemas.openxmlformats.org/drawingml/2006/table">
            <a:tbl>
              <a:tblPr/>
              <a:tblGrid>
                <a:gridCol w="806400">
                  <a:extLst>
                    <a:ext uri="{9D8B030D-6E8A-4147-A177-3AD203B41FA5}">
                      <a16:colId xmlns:a16="http://schemas.microsoft.com/office/drawing/2014/main" val="1484155818"/>
                    </a:ext>
                  </a:extLst>
                </a:gridCol>
                <a:gridCol w="1105200">
                  <a:extLst>
                    <a:ext uri="{9D8B030D-6E8A-4147-A177-3AD203B41FA5}">
                      <a16:colId xmlns:a16="http://schemas.microsoft.com/office/drawing/2014/main" val="203681018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78151261"/>
                    </a:ext>
                  </a:extLst>
                </a:gridCol>
                <a:gridCol w="408036">
                  <a:extLst>
                    <a:ext uri="{9D8B030D-6E8A-4147-A177-3AD203B41FA5}">
                      <a16:colId xmlns:a16="http://schemas.microsoft.com/office/drawing/2014/main" val="321005677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41183261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38688559"/>
                    </a:ext>
                  </a:extLst>
                </a:gridCol>
                <a:gridCol w="507600">
                  <a:extLst>
                    <a:ext uri="{9D8B030D-6E8A-4147-A177-3AD203B41FA5}">
                      <a16:colId xmlns:a16="http://schemas.microsoft.com/office/drawing/2014/main" val="446678437"/>
                    </a:ext>
                  </a:extLst>
                </a:gridCol>
                <a:gridCol w="392400">
                  <a:extLst>
                    <a:ext uri="{9D8B030D-6E8A-4147-A177-3AD203B41FA5}">
                      <a16:colId xmlns:a16="http://schemas.microsoft.com/office/drawing/2014/main" val="70241728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02295080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904734617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2968619636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4071114752"/>
                    </a:ext>
                  </a:extLst>
                </a:gridCol>
              </a:tblGrid>
              <a:tr h="7472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과제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적용 공정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제품군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 여부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69448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모듈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소형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각형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376345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2170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4680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294396"/>
                  </a:ext>
                </a:extLst>
              </a:tr>
              <a:tr h="74726">
                <a:tc rowSpan="4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700" dirty="0"/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6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서버 기반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IVS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적용을 통한 작업자 업무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Load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저감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90962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ESAZ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검사판정 알고리즘 학습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배포 자동화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99808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NG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유출 제품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MES holding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자동화 기술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171831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ESAZ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가상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Validation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기능 적용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292614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표준파라미터 자동 동기화 기능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515566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RMS-PDS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연계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297230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Spec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 오입력 방지 기능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28606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eIoT SW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통합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073312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IRS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신규법인 확산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856251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/ESS)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계측기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구축 및 확산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7405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원통형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계측기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구축 및 확산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243233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증설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855192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검사기 실시간 모니터링 기능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275326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VCT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확산 전개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(LAM,STK)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215258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 선별 투입을 위한 전극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노칭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통계량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전송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646405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+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와인더 젤리롤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통합 조회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2360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Data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활용한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동작 오측 모니터링 기능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45184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관리도 소형 제품군 설비 알람 연계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837358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SPC+, PDS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연계를 통한 관리도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검사항목 자동 생성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152535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APC System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고도화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 Spec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연계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409345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APC System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고도화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APC USE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여부 및 자동보정 항목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ON/OFF Control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307786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APC VM Type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 확산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(PKG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주액량 알고리즘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801080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에이전트를 활용한 검사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계측기 통합 관리 자동 점검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59959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Machine/Unit/Assembly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관리도 생성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687386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기반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이상감지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(ADE)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구축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407443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검사기 검출력 저하 이상감지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52147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기반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이상감지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(ADE)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알람 연계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224470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정합성 검증 기능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948911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이상감지 설비 알람 연게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994143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설비상태 연계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가성알람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366432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Cell ID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CTP/CTE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수집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41771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전극좌표 매핑된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CTP/CTE/CTQ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수집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537143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EDC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일상점검 자동화 및 알람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065684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관리도 형 교환 시 알람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On&amp;Off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 변경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10795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SPC+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관리도 설비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발생 시 이상치 데이터 제거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603281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FDS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확산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ST, OC, WA, NB, MI)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176100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 통합 스케줄러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135824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수율 분석 기능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653524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QMS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 보고서 자동화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09936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LLM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다빈치 포탈 챗봇 기능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987463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다빈치 데이터 확장 및 서비스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95685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 롤맵 기능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85093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GCP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이미지 자동 다운로드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APP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 계측 데이터 기능 개선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868692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 계측 데이터 확장 및 기능 개발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원통형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58135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Traceability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구조개선 및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EGTS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연계 확장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824137"/>
                  </a:ext>
                </a:extLst>
              </a:tr>
              <a:tr h="747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다빈치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NJ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 데이터 적재 및 배치 성능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0067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109837-24B1-6438-6761-8E37342B48BA}"/>
              </a:ext>
            </a:extLst>
          </p:cNvPr>
          <p:cNvSpPr txBox="1"/>
          <p:nvPr/>
        </p:nvSpPr>
        <p:spPr>
          <a:xfrm>
            <a:off x="4642660" y="6628655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2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4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190B890A-8513-8466-DB05-9F1637343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87" y="117793"/>
            <a:ext cx="3714478" cy="37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추진 업무 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List (2/4)</a:t>
            </a:r>
            <a:endParaRPr kumimoji="1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A7A8988-97F4-4734-4A24-AD1C42D28A88}"/>
              </a:ext>
            </a:extLst>
          </p:cNvPr>
          <p:cNvCxnSpPr>
            <a:cxnSpLocks/>
          </p:cNvCxnSpPr>
          <p:nvPr/>
        </p:nvCxnSpPr>
        <p:spPr>
          <a:xfrm>
            <a:off x="264812" y="518822"/>
            <a:ext cx="36302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실행 단추: 홈으로 이동 1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9C52F53-CD3D-ECA8-CDDF-D1CFA8E01715}"/>
              </a:ext>
            </a:extLst>
          </p:cNvPr>
          <p:cNvSpPr/>
          <p:nvPr/>
        </p:nvSpPr>
        <p:spPr bwMode="auto">
          <a:xfrm>
            <a:off x="9565019" y="134090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16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F90CA1-CA07-9943-BC21-229A62275092}"/>
              </a:ext>
            </a:extLst>
          </p:cNvPr>
          <p:cNvSpPr/>
          <p:nvPr/>
        </p:nvSpPr>
        <p:spPr bwMode="auto">
          <a:xfrm>
            <a:off x="4769297" y="6479741"/>
            <a:ext cx="367408" cy="148914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217C342-4590-81D8-B1FC-97679D799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13802"/>
              </p:ext>
            </p:extLst>
          </p:nvPr>
        </p:nvGraphicFramePr>
        <p:xfrm>
          <a:off x="165600" y="633600"/>
          <a:ext cx="9579600" cy="4603350"/>
        </p:xfrm>
        <a:graphic>
          <a:graphicData uri="http://schemas.openxmlformats.org/drawingml/2006/table">
            <a:tbl>
              <a:tblPr/>
              <a:tblGrid>
                <a:gridCol w="806400">
                  <a:extLst>
                    <a:ext uri="{9D8B030D-6E8A-4147-A177-3AD203B41FA5}">
                      <a16:colId xmlns:a16="http://schemas.microsoft.com/office/drawing/2014/main" val="1484155818"/>
                    </a:ext>
                  </a:extLst>
                </a:gridCol>
                <a:gridCol w="1105200">
                  <a:extLst>
                    <a:ext uri="{9D8B030D-6E8A-4147-A177-3AD203B41FA5}">
                      <a16:colId xmlns:a16="http://schemas.microsoft.com/office/drawing/2014/main" val="203681018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78151261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321005677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41183261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38688559"/>
                    </a:ext>
                  </a:extLst>
                </a:gridCol>
                <a:gridCol w="507600">
                  <a:extLst>
                    <a:ext uri="{9D8B030D-6E8A-4147-A177-3AD203B41FA5}">
                      <a16:colId xmlns:a16="http://schemas.microsoft.com/office/drawing/2014/main" val="446678437"/>
                    </a:ext>
                  </a:extLst>
                </a:gridCol>
                <a:gridCol w="392400">
                  <a:extLst>
                    <a:ext uri="{9D8B030D-6E8A-4147-A177-3AD203B41FA5}">
                      <a16:colId xmlns:a16="http://schemas.microsoft.com/office/drawing/2014/main" val="70241728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102295080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904734617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2968619636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4071114752"/>
                    </a:ext>
                  </a:extLst>
                </a:gridCol>
              </a:tblGrid>
              <a:tr h="7709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과제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적용 공정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제품군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 여부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694487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모듈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소형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각형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376345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2170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4680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294396"/>
                  </a:ext>
                </a:extLst>
              </a:tr>
              <a:tr h="77093">
                <a:tc rowSpan="37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1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믹서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_Batch Lot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 구분 및 자동 입력 기능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73153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미코팅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호일 연결부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검사기 불량 배출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688132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웹게이지 로딩량 불량 배출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284925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_Lane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별 불량 배출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15544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실적 입력 자동화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523711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Hold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488255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전공정 불량구간 사전알람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불량 배출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69570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실적 입력 자동화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4004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자공정 두께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검사 불량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RW Scrap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 배출 기능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331259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두께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비전 불량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Lane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별 배출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255795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_UW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소진량 계산 및 잔량 최소화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교체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696041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_UW Core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부 불량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교체 시퀀스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499060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불량 전극 특정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R/P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선별 투입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151247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_NG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마킹 유출 롤프레스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Lot Hold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48632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Hold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064272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슬리터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실적 입력 자동화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554633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슬리터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전공정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불량구간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사전알람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 불량 배출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29711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슬리터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_NG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마킹 유출 롤프레스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Lot Hold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965473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재와인딩기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전공정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불량구간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사전알람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슬리터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불량 배출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6018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_R/P-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엔코더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정합화 길이부족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849084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(EMS) Spare Parts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적정재고 최적화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872375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분해 분석 업무 효율화 및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AI Report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44341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삼국간 거래 프로세스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95214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ORT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시스템 구축 및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749761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협력사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4M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업무 효율화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903021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아웃소싱업체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자사 품질 관리 시스템 구축​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2535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장기재고검사 표준화 관리 체계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974302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협력사 기술 보호 및 탈취 예방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31065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Risk Range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품질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인터락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기준 강화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628344"/>
                  </a:ext>
                </a:extLst>
              </a:tr>
              <a:tr h="808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자동차 전극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 공정內 품질보류 재고 저감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494428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협력사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IT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시스템 연계 및 품질 데이터 자동 수집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판정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480337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신모델 제품 초기 안정화 관리 체계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121654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출하 유효성 검증 기능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580196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부품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Lessons learned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3687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JV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수평전개 기능 확산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992632"/>
                  </a:ext>
                </a:extLst>
              </a:tr>
              <a:tr h="77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EF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관리 대장 고도화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249928"/>
                  </a:ext>
                </a:extLst>
              </a:tr>
              <a:tr h="116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PDS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시스템 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2342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F04E1E-C20C-18B8-9A0F-D04154EA467B}"/>
              </a:ext>
            </a:extLst>
          </p:cNvPr>
          <p:cNvSpPr txBox="1"/>
          <p:nvPr/>
        </p:nvSpPr>
        <p:spPr>
          <a:xfrm>
            <a:off x="4642660" y="6628655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3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4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C4423-A2ED-5B8C-F398-FF062233FCCE}"/>
              </a:ext>
            </a:extLst>
          </p:cNvPr>
          <p:cNvSpPr txBox="1"/>
          <p:nvPr/>
        </p:nvSpPr>
        <p:spPr>
          <a:xfrm>
            <a:off x="7775706" y="3601830"/>
            <a:ext cx="7264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6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소형 파우치 완료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B01805AC-027D-99C7-EC5F-54185C90A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87" y="117793"/>
            <a:ext cx="3714478" cy="37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추진 업무 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List (3/4)</a:t>
            </a:r>
            <a:endParaRPr kumimoji="1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077C302-4D00-3B9A-7124-26F525809F76}"/>
              </a:ext>
            </a:extLst>
          </p:cNvPr>
          <p:cNvCxnSpPr>
            <a:cxnSpLocks/>
          </p:cNvCxnSpPr>
          <p:nvPr/>
        </p:nvCxnSpPr>
        <p:spPr>
          <a:xfrm>
            <a:off x="264812" y="518822"/>
            <a:ext cx="36302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실행 단추: 홈으로 이동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08C4E6-2B1F-44C1-157E-1A7C031CCC43}"/>
              </a:ext>
            </a:extLst>
          </p:cNvPr>
          <p:cNvSpPr/>
          <p:nvPr/>
        </p:nvSpPr>
        <p:spPr bwMode="auto">
          <a:xfrm>
            <a:off x="9565019" y="134090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09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F90CA1-CA07-9943-BC21-229A62275092}"/>
              </a:ext>
            </a:extLst>
          </p:cNvPr>
          <p:cNvSpPr/>
          <p:nvPr/>
        </p:nvSpPr>
        <p:spPr bwMode="auto">
          <a:xfrm>
            <a:off x="4769297" y="6479741"/>
            <a:ext cx="367408" cy="148914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6D2C185-C1FE-1BF9-97C6-1D49FED5A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50510"/>
              </p:ext>
            </p:extLst>
          </p:nvPr>
        </p:nvGraphicFramePr>
        <p:xfrm>
          <a:off x="165600" y="633600"/>
          <a:ext cx="9579600" cy="5732520"/>
        </p:xfrm>
        <a:graphic>
          <a:graphicData uri="http://schemas.openxmlformats.org/drawingml/2006/table">
            <a:tbl>
              <a:tblPr/>
              <a:tblGrid>
                <a:gridCol w="806400">
                  <a:extLst>
                    <a:ext uri="{9D8B030D-6E8A-4147-A177-3AD203B41FA5}">
                      <a16:colId xmlns:a16="http://schemas.microsoft.com/office/drawing/2014/main" val="514654877"/>
                    </a:ext>
                  </a:extLst>
                </a:gridCol>
                <a:gridCol w="1105200">
                  <a:extLst>
                    <a:ext uri="{9D8B030D-6E8A-4147-A177-3AD203B41FA5}">
                      <a16:colId xmlns:a16="http://schemas.microsoft.com/office/drawing/2014/main" val="349519544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734452010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3906346973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31471257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01814705"/>
                    </a:ext>
                  </a:extLst>
                </a:gridCol>
                <a:gridCol w="507600">
                  <a:extLst>
                    <a:ext uri="{9D8B030D-6E8A-4147-A177-3AD203B41FA5}">
                      <a16:colId xmlns:a16="http://schemas.microsoft.com/office/drawing/2014/main" val="1871762856"/>
                    </a:ext>
                  </a:extLst>
                </a:gridCol>
                <a:gridCol w="392400">
                  <a:extLst>
                    <a:ext uri="{9D8B030D-6E8A-4147-A177-3AD203B41FA5}">
                      <a16:colId xmlns:a16="http://schemas.microsoft.com/office/drawing/2014/main" val="1149635052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3748738981"/>
                    </a:ext>
                  </a:extLst>
                </a:gridCol>
                <a:gridCol w="414000">
                  <a:extLst>
                    <a:ext uri="{9D8B030D-6E8A-4147-A177-3AD203B41FA5}">
                      <a16:colId xmlns:a16="http://schemas.microsoft.com/office/drawing/2014/main" val="2577010152"/>
                    </a:ext>
                  </a:extLst>
                </a:gridCol>
                <a:gridCol w="406800">
                  <a:extLst>
                    <a:ext uri="{9D8B030D-6E8A-4147-A177-3AD203B41FA5}">
                      <a16:colId xmlns:a16="http://schemas.microsoft.com/office/drawing/2014/main" val="1017173283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111481275"/>
                    </a:ext>
                  </a:extLst>
                </a:gridCol>
              </a:tblGrid>
              <a:tr h="6784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과제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적용 공정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제품군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 여부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654948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모듈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소형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각형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591210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2170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4680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65793"/>
                  </a:ext>
                </a:extLst>
              </a:tr>
              <a:tr h="67844">
                <a:tc rowSpan="26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 DX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원통형조립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NJ Winder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Tab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용접 최적 조건 도출 양산 검증을 통한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PD 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6961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Winder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사행 원인별 이상감지 알고리즘 양산검증을 통한 사행 불량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704180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NJ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권취부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투입롤러부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 EPC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갈림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마모 사전감지 이물 제로화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52910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NJ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원통형 젤리롤 비대칭 최소화를 통한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X1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(Cell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외경불량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745662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NJ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CTW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약용접 개선 인자 도출 및 이상감지 모델 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576679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NFF CBD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진동센서 기반 헤드별 편차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5399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주요 구동부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서보모터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실린더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이상감지를 통한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BM 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867863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CBD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하부 홀더 구동 전달 벨트 이상감지를 통한 불량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688585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조명이상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집전팜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 can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기인 오검출 사전 감지를 통한 오검 기인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BM/PD 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8481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 탭꽂힘 간섭 원인 인자 도출하여 이상감지 적용을 통한 불량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814143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CIT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좌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우 진공 차이 이상감지를 통한 테이프 사행 불량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021720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NJ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권심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교체 비용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4672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컷터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속도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위치 패턴 기반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이상감지 적용 및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812953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장변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실러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하부롤러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속도편차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기반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이상감지 적용 및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89251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신규 인자 발굴 및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이상감지 적용으로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D-STK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319813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비전검사기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이상감지 적용하여 검사기 설비 이상 및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과검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874805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ST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 단선 개선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5826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ST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 연결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02655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WA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롤프레스 단선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97709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WA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단선 이상감지 모델 개발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104272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MI/ST/WA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NG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마킹 불량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19309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NB/HM NND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공정 설비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Sameness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확보 기반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Pitch/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어깨선 불량 개선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40172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믹서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오버홀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주기 개선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149364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이상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,PC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사전 감지 알고리즘 개발 및 양산 적용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707473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NFF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전극공정 신규 설비의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알고리즘 개발 및 양산 적용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885188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믹서 이상감지 모델 고도화 및 운영관리 프로세스 개선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325818"/>
                  </a:ext>
                </a:extLst>
              </a:tr>
              <a:tr h="67844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솔루션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추적솔루션개발팀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검사데이터 무결성 확보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거리기반 등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064255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계측기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Cell ID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연동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53867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VCT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826498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셀추적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프로그램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생성형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구축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644156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 선별투입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965536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제조빅데이터분석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1/2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수율 통합 분석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불량 현황 분석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479142"/>
                  </a:ext>
                </a:extLst>
              </a:tr>
              <a:tr h="1046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가동률 분석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366251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코터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재조건조정 분석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57779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전극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NG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마킹 분석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386783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 라미 위치 분석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280758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 라미 공정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분석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719635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 스태킹 모노세파 분석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842467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조립 스태킹 스택 외관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치수 분석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688636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활성화 저전압 분석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034450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활성화 절연저항 분석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206156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[Drill down]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활성화 치수 분석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W/F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420313"/>
                  </a:ext>
                </a:extLst>
              </a:tr>
              <a:tr h="6784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직속</a:t>
                      </a:r>
                    </a:p>
                  </a:txBody>
                  <a:tcPr marL="72000" marR="72000" marT="3600" marB="36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제조운영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전략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P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설비 알람 기반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MES Loss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자동 등록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Manual Activity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○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9302"/>
                  </a:ext>
                </a:extLst>
              </a:tr>
              <a:tr h="13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외산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LLM(GCP)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활용 과제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정형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비정형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지식화 및 조치제안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Agent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369726"/>
                  </a:ext>
                </a:extLst>
              </a:tr>
              <a:tr h="386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통합 운영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(FDC Data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셀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ID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연계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PLX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794836"/>
                  </a:ext>
                </a:extLst>
              </a:tr>
              <a:tr h="67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다빈치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Ontology Layer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구성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</a:rPr>
                        <a:t>진행중</a:t>
                      </a:r>
                    </a:p>
                  </a:txBody>
                  <a:tcPr marL="72000" marR="72000" marT="3600" marB="36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26649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5462914-8C10-FE27-12C7-5F8DE622630E}"/>
              </a:ext>
            </a:extLst>
          </p:cNvPr>
          <p:cNvSpPr txBox="1"/>
          <p:nvPr/>
        </p:nvSpPr>
        <p:spPr>
          <a:xfrm>
            <a:off x="4642660" y="6628655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4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4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61B6F93E-E847-55F0-C62E-04C70C77D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87" y="117793"/>
            <a:ext cx="3714478" cy="37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보조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lang="ko-KR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1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추진 업무 </a:t>
            </a: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List (4/4)</a:t>
            </a:r>
            <a:endParaRPr kumimoji="1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7F41E65-1368-ED9F-D041-5076FA09858D}"/>
              </a:ext>
            </a:extLst>
          </p:cNvPr>
          <p:cNvCxnSpPr>
            <a:cxnSpLocks/>
          </p:cNvCxnSpPr>
          <p:nvPr/>
        </p:nvCxnSpPr>
        <p:spPr>
          <a:xfrm>
            <a:off x="264812" y="518822"/>
            <a:ext cx="36302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실행 단추: 홈으로 이동 1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3989965-DE44-E193-E95B-1C50638A4FE2}"/>
              </a:ext>
            </a:extLst>
          </p:cNvPr>
          <p:cNvSpPr/>
          <p:nvPr/>
        </p:nvSpPr>
        <p:spPr bwMode="auto">
          <a:xfrm>
            <a:off x="9565019" y="134090"/>
            <a:ext cx="190774" cy="21796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" tIns="18000" rIns="18000" bIns="18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357036"/>
      </p:ext>
    </p:extLst>
  </p:cSld>
  <p:clrMapOvr>
    <a:masterClrMapping/>
  </p:clrMapOvr>
</p:sld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ulticampus.com/em/enrolment/courseDetaiInfo?corsCd=FA00VJ" TargetMode="External"/></Relationships>
</file>

<file path=ppt/theme/theme1.xml><?xml version="1.0" encoding="utf-8"?>
<a:theme xmlns:a="http://schemas.openxmlformats.org/drawingml/2006/main" name="15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5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5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6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7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9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2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 algn="l">
          <a:defRPr sz="900" b="1" u="sng" dirty="0" smtClean="0">
            <a:solidFill>
              <a:schemeClr val="bg1">
                <a:lumMod val="7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  <a:hlinkClick xmlns:r="http://schemas.openxmlformats.org/officeDocument/2006/relationships" r:id="rId1">
              <a:extLst>
                <a:ext uri="{A12FA001-AC4F-418D-AE19-62706E023703}">
                  <ahyp:hlinkClr xmlns:ahyp="http://schemas.microsoft.com/office/drawing/2018/hyperlinkcolor" val="tx"/>
                </a:ext>
              </a:extLst>
            </a:hlinkClick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2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23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24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25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4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사용자 지정 1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CC">
            <a:alpha val="90000"/>
          </a:srgbClr>
        </a:solidFill>
        <a:ln w="9525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fontAlgn="base">
          <a:spcBef>
            <a:spcPct val="0"/>
          </a:spcBef>
          <a:spcAft>
            <a:spcPct val="0"/>
          </a:spcAft>
          <a:defRPr sz="1000" b="1" spc="-50" dirty="0" smtClean="0"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가는둥근제목체" pitchFamily="18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b="1" spc="-50" dirty="0" smtClean="0"/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26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27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2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29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3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2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50000"/>
            </a:schemeClr>
          </a:solidFill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1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 Narrow"/>
            <a:ea typeface="LG스마트체 Regular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3.xml><?xml version="1.0" encoding="utf-8"?>
<a:theme xmlns:a="http://schemas.openxmlformats.org/drawingml/2006/main" name="3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5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3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33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34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G PP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8000" tIns="18000" rIns="18000" bIns="1800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8000" tIns="18000" rIns="18000" bIns="1800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c7fec3-9073-487e-b0af-1d4ba1faeab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18E1E7D7EA0084A8CDB4E97D612DA84" ma:contentTypeVersion="14" ma:contentTypeDescription="새 문서를 만듭니다." ma:contentTypeScope="" ma:versionID="5b93f08de0386e28ffaf62072c9ecc23">
  <xsd:schema xmlns:xsd="http://www.w3.org/2001/XMLSchema" xmlns:xs="http://www.w3.org/2001/XMLSchema" xmlns:p="http://schemas.microsoft.com/office/2006/metadata/properties" xmlns:ns3="8fc7fec3-9073-487e-b0af-1d4ba1faeab4" xmlns:ns4="92a27af3-79a0-46e2-ab64-e391fc2e79e1" targetNamespace="http://schemas.microsoft.com/office/2006/metadata/properties" ma:root="true" ma:fieldsID="08da30d14105b22618163bb0a0b57fc3" ns3:_="" ns4:_="">
    <xsd:import namespace="8fc7fec3-9073-487e-b0af-1d4ba1faeab4"/>
    <xsd:import namespace="92a27af3-79a0-46e2-ab64-e391fc2e79e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7fec3-9073-487e-b0af-1d4ba1faeab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a27af3-79a0-46e2-ab64-e391fc2e79e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A4DA45-6D00-4257-9F47-48FE210588CC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2a27af3-79a0-46e2-ab64-e391fc2e79e1"/>
    <ds:schemaRef ds:uri="http://purl.org/dc/terms/"/>
    <ds:schemaRef ds:uri="http://schemas.openxmlformats.org/package/2006/metadata/core-properties"/>
    <ds:schemaRef ds:uri="8fc7fec3-9073-487e-b0af-1d4ba1faeab4"/>
  </ds:schemaRefs>
</ds:datastoreItem>
</file>

<file path=customXml/itemProps2.xml><?xml version="1.0" encoding="utf-8"?>
<ds:datastoreItem xmlns:ds="http://schemas.openxmlformats.org/officeDocument/2006/customXml" ds:itemID="{14554D27-1B34-4DAD-B116-E785737DAA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4741C7-7CEC-4216-AF68-EB52EBE1A7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c7fec3-9073-487e-b0af-1d4ba1faeab4"/>
    <ds:schemaRef ds:uri="92a27af3-79a0-46e2-ab64-e391fc2e79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25201</TotalTime>
  <Words>3630</Words>
  <Application>Microsoft Office PowerPoint</Application>
  <PresentationFormat>A4 용지(210x297mm)</PresentationFormat>
  <Paragraphs>1959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27</vt:i4>
      </vt:variant>
      <vt:variant>
        <vt:lpstr>슬라이드 제목</vt:lpstr>
      </vt:variant>
      <vt:variant>
        <vt:i4>5</vt:i4>
      </vt:variant>
    </vt:vector>
  </HeadingPairs>
  <TitlesOfParts>
    <vt:vector size="39" baseType="lpstr">
      <vt:lpstr>LG스마트체 Regular</vt:lpstr>
      <vt:lpstr>굴림</vt:lpstr>
      <vt:lpstr>돋움</vt:lpstr>
      <vt:lpstr>맑은 고딕</vt:lpstr>
      <vt:lpstr>Arial</vt:lpstr>
      <vt:lpstr>Arial Narrow</vt:lpstr>
      <vt:lpstr>Wingdings</vt:lpstr>
      <vt:lpstr>15_기본 디자인</vt:lpstr>
      <vt:lpstr>1_Office 테마</vt:lpstr>
      <vt:lpstr>1_디자인 사용자 지정</vt:lpstr>
      <vt:lpstr>2_디자인 사용자 지정</vt:lpstr>
      <vt:lpstr>16_기본 디자인</vt:lpstr>
      <vt:lpstr>2_Office 테마</vt:lpstr>
      <vt:lpstr>17_기본 디자인</vt:lpstr>
      <vt:lpstr>18_기본 디자인</vt:lpstr>
      <vt:lpstr>19_기본 디자인</vt:lpstr>
      <vt:lpstr>20_기본 디자인</vt:lpstr>
      <vt:lpstr>21_기본 디자인</vt:lpstr>
      <vt:lpstr>22_기본 디자인</vt:lpstr>
      <vt:lpstr>23_기본 디자인</vt:lpstr>
      <vt:lpstr>24_기본 디자인</vt:lpstr>
      <vt:lpstr>25_기본 디자인</vt:lpstr>
      <vt:lpstr>4_기본 디자인</vt:lpstr>
      <vt:lpstr>26_기본 디자인</vt:lpstr>
      <vt:lpstr>27_기본 디자인</vt:lpstr>
      <vt:lpstr>28_기본 디자인</vt:lpstr>
      <vt:lpstr>29_기본 디자인</vt:lpstr>
      <vt:lpstr>30_기본 디자인</vt:lpstr>
      <vt:lpstr>23_디자인 사용자 지정</vt:lpstr>
      <vt:lpstr>31_기본 디자인</vt:lpstr>
      <vt:lpstr>56_디자인 사용자 지정</vt:lpstr>
      <vt:lpstr>32_기본 디자인</vt:lpstr>
      <vt:lpstr>33_기본 디자인</vt:lpstr>
      <vt:lpstr>34_기본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최수정(Sujeong Choi)[csj11]/사원/제조지능화.자동보정.기술지원P</dc:creator>
  <cp:lastModifiedBy>이재후(JAEHU LEE)[jaehu]/사원/제조DX.기획팀</cp:lastModifiedBy>
  <cp:revision>3651</cp:revision>
  <dcterms:created xsi:type="dcterms:W3CDTF">2025-06-05T07:17:49Z</dcterms:created>
  <dcterms:modified xsi:type="dcterms:W3CDTF">2026-01-22T02:45:35Z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0x010100A18E1E7D7EA0084A8CDB4E97D612DA84</vt:lpwstr>
  </property>
</Properties>
</file>