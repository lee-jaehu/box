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.xml" ContentType="application/vnd.openxmlformats-officedocument.themeOverr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  <p:sldMasterId id="2147483668" r:id="rId5"/>
  </p:sldMasterIdLst>
  <p:notesMasterIdLst>
    <p:notesMasterId r:id="rId43"/>
  </p:notesMasterIdLst>
  <p:handoutMasterIdLst>
    <p:handoutMasterId r:id="rId44"/>
  </p:handoutMasterIdLst>
  <p:sldIdLst>
    <p:sldId id="2147483647" r:id="rId6"/>
    <p:sldId id="260" r:id="rId7"/>
    <p:sldId id="2147483516" r:id="rId8"/>
    <p:sldId id="2147483547" r:id="rId9"/>
    <p:sldId id="267" r:id="rId10"/>
    <p:sldId id="287" r:id="rId11"/>
    <p:sldId id="2147483518" r:id="rId12"/>
    <p:sldId id="2147483505" r:id="rId13"/>
    <p:sldId id="2147483545" r:id="rId14"/>
    <p:sldId id="2147483517" r:id="rId15"/>
    <p:sldId id="2147483548" r:id="rId16"/>
    <p:sldId id="2147483519" r:id="rId17"/>
    <p:sldId id="2147483521" r:id="rId18"/>
    <p:sldId id="2147483522" r:id="rId19"/>
    <p:sldId id="2147483523" r:id="rId20"/>
    <p:sldId id="2147483525" r:id="rId21"/>
    <p:sldId id="2147483524" r:id="rId22"/>
    <p:sldId id="2147483526" r:id="rId23"/>
    <p:sldId id="2147483527" r:id="rId24"/>
    <p:sldId id="2147483528" r:id="rId25"/>
    <p:sldId id="2147483520" r:id="rId26"/>
    <p:sldId id="2147483536" r:id="rId27"/>
    <p:sldId id="2147483537" r:id="rId28"/>
    <p:sldId id="2147483538" r:id="rId29"/>
    <p:sldId id="2147483540" r:id="rId30"/>
    <p:sldId id="2147483535" r:id="rId31"/>
    <p:sldId id="2147483541" r:id="rId32"/>
    <p:sldId id="2147483542" r:id="rId33"/>
    <p:sldId id="2147483543" r:id="rId34"/>
    <p:sldId id="2147483544" r:id="rId35"/>
    <p:sldId id="2147483539" r:id="rId36"/>
    <p:sldId id="2147483530" r:id="rId37"/>
    <p:sldId id="2147483549" r:id="rId38"/>
    <p:sldId id="2147483531" r:id="rId39"/>
    <p:sldId id="2147483532" r:id="rId40"/>
    <p:sldId id="2147483533" r:id="rId41"/>
    <p:sldId id="2147483546" r:id="rId42"/>
  </p:sldIdLst>
  <p:sldSz cx="9906000" cy="6858000" type="A4"/>
  <p:notesSz cx="9872663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919C330-948A-4E14-87F6-1F89E54452BA}">
          <p14:sldIdLst>
            <p14:sldId id="2147483647"/>
          </p14:sldIdLst>
        </p14:section>
        <p14:section name="모듈/팩 DX 완료 보고" id="{FE4792D9-CA0D-4B48-9065-FF1524A3340E}">
          <p14:sldIdLst>
            <p14:sldId id="260"/>
            <p14:sldId id="2147483516"/>
            <p14:sldId id="2147483547"/>
            <p14:sldId id="267"/>
            <p14:sldId id="287"/>
            <p14:sldId id="2147483518"/>
          </p14:sldIdLst>
        </p14:section>
        <p14:section name="실적 Trend" id="{53E98F57-0701-48CF-B7AC-F6C889B0DF3A}">
          <p14:sldIdLst>
            <p14:sldId id="2147483505"/>
            <p14:sldId id="2147483545"/>
          </p14:sldIdLst>
        </p14:section>
        <p14:section name="타 법인 확인" id="{86354C7D-AFE6-48EE-BAA7-589750F0DBEC}">
          <p14:sldIdLst>
            <p14:sldId id="2147483517"/>
            <p14:sldId id="2147483548"/>
          </p14:sldIdLst>
        </p14:section>
        <p14:section name="자동보정 완료 보고" id="{045A2260-A1F1-4AE6-B87E-3717592E0418}">
          <p14:sldIdLst>
            <p14:sldId id="2147483519"/>
            <p14:sldId id="2147483521"/>
            <p14:sldId id="2147483522"/>
            <p14:sldId id="2147483523"/>
            <p14:sldId id="2147483525"/>
            <p14:sldId id="2147483524"/>
            <p14:sldId id="2147483526"/>
            <p14:sldId id="2147483527"/>
            <p14:sldId id="2147483528"/>
          </p14:sldIdLst>
        </p14:section>
        <p14:section name="FDC 완료 보고" id="{2EAB7159-EE4F-4A60-94C9-66FCB7E1C1E7}">
          <p14:sldIdLst>
            <p14:sldId id="2147483520"/>
            <p14:sldId id="2147483536"/>
            <p14:sldId id="2147483537"/>
            <p14:sldId id="2147483538"/>
            <p14:sldId id="2147483540"/>
            <p14:sldId id="2147483535"/>
            <p14:sldId id="2147483541"/>
            <p14:sldId id="2147483542"/>
            <p14:sldId id="2147483543"/>
            <p14:sldId id="2147483544"/>
            <p14:sldId id="2147483539"/>
          </p14:sldIdLst>
        </p14:section>
        <p14:section name="과제 관리 지표" id="{36B52815-40E4-4336-B63F-59CEC7AF178C}">
          <p14:sldIdLst>
            <p14:sldId id="2147483530"/>
            <p14:sldId id="2147483549"/>
            <p14:sldId id="2147483531"/>
            <p14:sldId id="2147483532"/>
            <p14:sldId id="2147483533"/>
            <p14:sldId id="21474835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616">
          <p15:clr>
            <a:srgbClr val="A4A3A4"/>
          </p15:clr>
        </p15:guide>
        <p15:guide id="3" orient="horz" pos="391">
          <p15:clr>
            <a:srgbClr val="A4A3A4"/>
          </p15:clr>
        </p15:guide>
        <p15:guide id="4" pos="398" userDrawn="1">
          <p15:clr>
            <a:srgbClr val="A4A3A4"/>
          </p15:clr>
        </p15:guide>
        <p15:guide id="5" pos="5842" userDrawn="1">
          <p15:clr>
            <a:srgbClr val="A4A3A4"/>
          </p15:clr>
        </p15:guide>
        <p15:guide id="6" pos="3120">
          <p15:clr>
            <a:srgbClr val="A4A3A4"/>
          </p15:clr>
        </p15:guide>
        <p15:guide id="7" pos="761">
          <p15:clr>
            <a:srgbClr val="A4A3A4"/>
          </p15:clr>
        </p15:guide>
        <p15:guide id="8" pos="6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5B6"/>
    <a:srgbClr val="006600"/>
    <a:srgbClr val="FFFF99"/>
    <a:srgbClr val="FFFF00"/>
    <a:srgbClr val="0000FF"/>
    <a:srgbClr val="000000"/>
    <a:srgbClr val="FFF2CC"/>
    <a:srgbClr val="FFCC99"/>
    <a:srgbClr val="DAEDEF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03" autoAdjust="0"/>
    <p:restoredTop sz="97744" autoAdjust="0"/>
  </p:normalViewPr>
  <p:slideViewPr>
    <p:cSldViewPr showGuides="1">
      <p:cViewPr varScale="1">
        <p:scale>
          <a:sx n="104" d="100"/>
          <a:sy n="104" d="100"/>
        </p:scale>
        <p:origin x="72" y="108"/>
      </p:cViewPr>
      <p:guideLst>
        <p:guide orient="horz" pos="2160"/>
        <p:guide orient="horz" pos="1616"/>
        <p:guide orient="horz" pos="391"/>
        <p:guide pos="398"/>
        <p:guide pos="5842"/>
        <p:guide pos="3120"/>
        <p:guide pos="761"/>
        <p:guide pos="6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file:///C:\Users\pjc8586\Documents\&#51312;&#47549;FDC&#54016;\3.%20DX&#52628;&#51652;&#44284;&#51228;\DX&#52628;&#51652;&#44284;&#51228;_&#47784;&#46280;\1.%20ESS\Lead%20Bending,%20Welding\retry%20&#48516;&#49437;%203%20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25.12월</c:v>
                </c:pt>
                <c:pt idx="1">
                  <c:v>26.01월</c:v>
                </c:pt>
                <c:pt idx="2">
                  <c:v>26.02월</c:v>
                </c:pt>
                <c:pt idx="3">
                  <c:v>26.03월</c:v>
                </c:pt>
                <c:pt idx="4">
                  <c:v>26.04월</c:v>
                </c:pt>
                <c:pt idx="5">
                  <c:v>26.05월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Sheet1!$C$2:$C$16</c:f>
              <c:numCache>
                <c:formatCode>0.00%</c:formatCode>
                <c:ptCount val="15"/>
                <c:pt idx="0">
                  <c:v>0.93500000000000005</c:v>
                </c:pt>
                <c:pt idx="1">
                  <c:v>0.93500000000000005</c:v>
                </c:pt>
                <c:pt idx="2">
                  <c:v>0.94</c:v>
                </c:pt>
                <c:pt idx="3">
                  <c:v>0.94</c:v>
                </c:pt>
                <c:pt idx="4">
                  <c:v>0.94200000000000006</c:v>
                </c:pt>
                <c:pt idx="5">
                  <c:v>0.94499999999999995</c:v>
                </c:pt>
                <c:pt idx="7">
                  <c:v>0.94200000000000006</c:v>
                </c:pt>
                <c:pt idx="8">
                  <c:v>0.94200000000000006</c:v>
                </c:pt>
                <c:pt idx="9">
                  <c:v>0.94200000000000006</c:v>
                </c:pt>
                <c:pt idx="10">
                  <c:v>0.94200000000000006</c:v>
                </c:pt>
                <c:pt idx="11">
                  <c:v>0.94499999999999995</c:v>
                </c:pt>
                <c:pt idx="12">
                  <c:v>0.94499999999999995</c:v>
                </c:pt>
                <c:pt idx="13">
                  <c:v>0.94499999999999995</c:v>
                </c:pt>
                <c:pt idx="14">
                  <c:v>0.94499999999999995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69-4602-8211-C6C3F749EF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570898896"/>
        <c:axId val="1570891216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실적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25.12월</c:v>
                </c:pt>
                <c:pt idx="1">
                  <c:v>26.01월</c:v>
                </c:pt>
                <c:pt idx="2">
                  <c:v>26.02월</c:v>
                </c:pt>
                <c:pt idx="3">
                  <c:v>26.03월</c:v>
                </c:pt>
                <c:pt idx="4">
                  <c:v>26.04월</c:v>
                </c:pt>
                <c:pt idx="5">
                  <c:v>26.05월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Sheet1!$B$2:$B$16</c:f>
              <c:numCache>
                <c:formatCode>0.00%</c:formatCode>
                <c:ptCount val="15"/>
                <c:pt idx="0">
                  <c:v>0.91842529123840888</c:v>
                </c:pt>
                <c:pt idx="1">
                  <c:v>0.95724688015071147</c:v>
                </c:pt>
                <c:pt idx="2">
                  <c:v>0.96445161833705473</c:v>
                </c:pt>
                <c:pt idx="3">
                  <c:v>0.97002831958808988</c:v>
                </c:pt>
                <c:pt idx="4">
                  <c:v>0.9803896767715462</c:v>
                </c:pt>
                <c:pt idx="5">
                  <c:v>0.98225154915377588</c:v>
                </c:pt>
                <c:pt idx="7">
                  <c:v>0.97644019835406304</c:v>
                </c:pt>
                <c:pt idx="8">
                  <c:v>0.98829286799709704</c:v>
                </c:pt>
                <c:pt idx="9">
                  <c:v>0.98669368107625899</c:v>
                </c:pt>
                <c:pt idx="10">
                  <c:v>0.97949657288813097</c:v>
                </c:pt>
                <c:pt idx="11">
                  <c:v>0.98210295510443302</c:v>
                </c:pt>
                <c:pt idx="12">
                  <c:v>0.98169779049947603</c:v>
                </c:pt>
                <c:pt idx="13">
                  <c:v>0.98671433411723097</c:v>
                </c:pt>
                <c:pt idx="14">
                  <c:v>0.98355165269958089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569-4602-8211-C6C3F749EF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도전목표</c:v>
                </c:pt>
              </c:strCache>
            </c:strRef>
          </c:tx>
          <c:spPr>
            <a:ln w="12700" cap="rnd">
              <a:solidFill>
                <a:srgbClr val="0000FF"/>
              </a:solidFill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25.12월</c:v>
                </c:pt>
                <c:pt idx="1">
                  <c:v>26.01월</c:v>
                </c:pt>
                <c:pt idx="2">
                  <c:v>26.02월</c:v>
                </c:pt>
                <c:pt idx="3">
                  <c:v>26.03월</c:v>
                </c:pt>
                <c:pt idx="4">
                  <c:v>26.04월</c:v>
                </c:pt>
                <c:pt idx="5">
                  <c:v>26.05월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Sheet1!$D$2:$D$16</c:f>
              <c:numCache>
                <c:formatCode>0.0%</c:formatCode>
                <c:ptCount val="15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  <c:pt idx="5">
                  <c:v>0.97</c:v>
                </c:pt>
                <c:pt idx="7">
                  <c:v>0.97</c:v>
                </c:pt>
                <c:pt idx="8">
                  <c:v>0.97</c:v>
                </c:pt>
                <c:pt idx="9">
                  <c:v>0.97</c:v>
                </c:pt>
                <c:pt idx="10">
                  <c:v>0.97</c:v>
                </c:pt>
                <c:pt idx="11">
                  <c:v>0.97</c:v>
                </c:pt>
                <c:pt idx="12">
                  <c:v>0.97</c:v>
                </c:pt>
                <c:pt idx="13">
                  <c:v>0.97</c:v>
                </c:pt>
                <c:pt idx="14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569-4602-8211-C6C3F749EF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0898896"/>
        <c:axId val="1570891216"/>
      </c:lineChart>
      <c:catAx>
        <c:axId val="157089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570891216"/>
        <c:crosses val="autoZero"/>
        <c:auto val="1"/>
        <c:lblAlgn val="ctr"/>
        <c:lblOffset val="100"/>
        <c:noMultiLvlLbl val="0"/>
      </c:catAx>
      <c:valAx>
        <c:axId val="1570891216"/>
        <c:scaling>
          <c:orientation val="minMax"/>
          <c:min val="0.85000000000000009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70898896"/>
        <c:crosses val="autoZero"/>
        <c:crossBetween val="between"/>
        <c:majorUnit val="2.0000000000000005E-3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25.12월</c:v>
                </c:pt>
                <c:pt idx="1">
                  <c:v>26.01월</c:v>
                </c:pt>
                <c:pt idx="2">
                  <c:v>26.02월</c:v>
                </c:pt>
                <c:pt idx="3">
                  <c:v>26.03월</c:v>
                </c:pt>
                <c:pt idx="4">
                  <c:v>26.04월</c:v>
                </c:pt>
                <c:pt idx="5">
                  <c:v>26.05월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Sheet1!$C$2:$C$16</c:f>
              <c:numCache>
                <c:formatCode>0.00%</c:formatCode>
                <c:ptCount val="15"/>
                <c:pt idx="0">
                  <c:v>0.81599999999999995</c:v>
                </c:pt>
                <c:pt idx="1">
                  <c:v>0.8486918</c:v>
                </c:pt>
                <c:pt idx="2">
                  <c:v>0.8486918</c:v>
                </c:pt>
                <c:pt idx="3">
                  <c:v>0.8486918</c:v>
                </c:pt>
                <c:pt idx="4">
                  <c:v>0.85044167999999998</c:v>
                </c:pt>
                <c:pt idx="5">
                  <c:v>0.85044167999999998</c:v>
                </c:pt>
                <c:pt idx="7">
                  <c:v>0.85044167999999998</c:v>
                </c:pt>
                <c:pt idx="8">
                  <c:v>0.85044167999999998</c:v>
                </c:pt>
                <c:pt idx="9">
                  <c:v>0.85044167999999998</c:v>
                </c:pt>
                <c:pt idx="10">
                  <c:v>0.85044167999999998</c:v>
                </c:pt>
                <c:pt idx="11">
                  <c:v>0.85044167999999998</c:v>
                </c:pt>
                <c:pt idx="12">
                  <c:v>0.85044167999999998</c:v>
                </c:pt>
                <c:pt idx="13">
                  <c:v>0.85044167999999998</c:v>
                </c:pt>
                <c:pt idx="14">
                  <c:v>0.85044167999999998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2D-45F8-A079-C16C9E576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570898896"/>
        <c:axId val="1570891216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실적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25.12월</c:v>
                </c:pt>
                <c:pt idx="1">
                  <c:v>26.01월</c:v>
                </c:pt>
                <c:pt idx="2">
                  <c:v>26.02월</c:v>
                </c:pt>
                <c:pt idx="3">
                  <c:v>26.03월</c:v>
                </c:pt>
                <c:pt idx="4">
                  <c:v>26.04월</c:v>
                </c:pt>
                <c:pt idx="5">
                  <c:v>26.05월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Sheet1!$B$2:$B$16</c:f>
              <c:numCache>
                <c:formatCode>0.00%</c:formatCode>
                <c:ptCount val="15"/>
                <c:pt idx="0">
                  <c:v>0.69599650998550622</c:v>
                </c:pt>
                <c:pt idx="1">
                  <c:v>0.77756888001755364</c:v>
                </c:pt>
                <c:pt idx="2">
                  <c:v>0.83821349187909722</c:v>
                </c:pt>
                <c:pt idx="3">
                  <c:v>0.86714849747121248</c:v>
                </c:pt>
                <c:pt idx="4">
                  <c:v>0.89438064616957447</c:v>
                </c:pt>
                <c:pt idx="5">
                  <c:v>0.90190000000000003</c:v>
                </c:pt>
                <c:pt idx="7">
                  <c:v>0.87971887280031957</c:v>
                </c:pt>
                <c:pt idx="8">
                  <c:v>0.92762179011598422</c:v>
                </c:pt>
                <c:pt idx="9">
                  <c:v>0.89603023309350582</c:v>
                </c:pt>
                <c:pt idx="10">
                  <c:v>0.91940268190336227</c:v>
                </c:pt>
                <c:pt idx="11">
                  <c:v>0.9109031543435312</c:v>
                </c:pt>
                <c:pt idx="12">
                  <c:v>0.89435471646816911</c:v>
                </c:pt>
                <c:pt idx="13">
                  <c:v>0.8956820052150205</c:v>
                </c:pt>
                <c:pt idx="14">
                  <c:v>0.90259999999999996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2D-45F8-A079-C16C9E5763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도전목표</c:v>
                </c:pt>
              </c:strCache>
            </c:strRef>
          </c:tx>
          <c:spPr>
            <a:ln w="12700" cap="rnd">
              <a:solidFill>
                <a:srgbClr val="0000FF"/>
              </a:solidFill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25.12월</c:v>
                </c:pt>
                <c:pt idx="1">
                  <c:v>26.01월</c:v>
                </c:pt>
                <c:pt idx="2">
                  <c:v>26.02월</c:v>
                </c:pt>
                <c:pt idx="3">
                  <c:v>26.03월</c:v>
                </c:pt>
                <c:pt idx="4">
                  <c:v>26.04월</c:v>
                </c:pt>
                <c:pt idx="5">
                  <c:v>26.05월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Sheet1!$D$2:$D$16</c:f>
              <c:numCache>
                <c:formatCode>0.0%</c:formatCode>
                <c:ptCount val="15"/>
                <c:pt idx="0">
                  <c:v>0.9</c:v>
                </c:pt>
                <c:pt idx="1">
                  <c:v>0.9</c:v>
                </c:pt>
                <c:pt idx="2">
                  <c:v>0.9</c:v>
                </c:pt>
                <c:pt idx="3">
                  <c:v>0.9</c:v>
                </c:pt>
                <c:pt idx="4">
                  <c:v>0.9</c:v>
                </c:pt>
                <c:pt idx="5">
                  <c:v>0.9</c:v>
                </c:pt>
                <c:pt idx="7">
                  <c:v>0.9</c:v>
                </c:pt>
                <c:pt idx="8">
                  <c:v>0.9</c:v>
                </c:pt>
                <c:pt idx="9">
                  <c:v>0.9</c:v>
                </c:pt>
                <c:pt idx="10">
                  <c:v>0.9</c:v>
                </c:pt>
                <c:pt idx="11">
                  <c:v>0.9</c:v>
                </c:pt>
                <c:pt idx="12">
                  <c:v>0.9</c:v>
                </c:pt>
                <c:pt idx="13">
                  <c:v>0.9</c:v>
                </c:pt>
                <c:pt idx="14">
                  <c:v>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D2D-45F8-A079-C16C9E576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0898896"/>
        <c:axId val="1570891216"/>
      </c:lineChart>
      <c:catAx>
        <c:axId val="157089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570891216"/>
        <c:crosses val="autoZero"/>
        <c:auto val="1"/>
        <c:lblAlgn val="ctr"/>
        <c:lblOffset val="100"/>
        <c:noMultiLvlLbl val="0"/>
      </c:catAx>
      <c:valAx>
        <c:axId val="1570891216"/>
        <c:scaling>
          <c:orientation val="minMax"/>
          <c:max val="0.95000000000000007"/>
          <c:min val="0.60000000000000009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70898896"/>
        <c:crosses val="autoZero"/>
        <c:crossBetween val="between"/>
        <c:majorUnit val="2.0000000000000005E-3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sng" strike="noStrike" kern="1200" spc="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r>
              <a:rPr lang="en-US" altLang="ko-KR" sz="11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CMA </a:t>
            </a:r>
            <a:r>
              <a:rPr lang="ko-KR" altLang="en-US" sz="11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전폭 상한 불량</a:t>
            </a:r>
            <a:endParaRPr lang="en-US" altLang="ko-KR" sz="1100" b="1" u="sng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sng" strike="noStrike" kern="1200" spc="0" baseline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실적</c:v>
                </c:pt>
              </c:strCache>
            </c:strRef>
          </c:tx>
          <c:spPr>
            <a:ln w="6350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Sheet1!$B$2:$B$16</c:f>
              <c:numCache>
                <c:formatCode>0.00%</c:formatCode>
                <c:ptCount val="15"/>
                <c:pt idx="0">
                  <c:v>6.6256712281309547E-3</c:v>
                </c:pt>
                <c:pt idx="1">
                  <c:v>3.7636821932944303E-3</c:v>
                </c:pt>
                <c:pt idx="2">
                  <c:v>6.4685377511050418E-4</c:v>
                </c:pt>
                <c:pt idx="3">
                  <c:v>1.0176498648433773E-3</c:v>
                </c:pt>
                <c:pt idx="4">
                  <c:v>1.868518576188845E-4</c:v>
                </c:pt>
                <c:pt idx="5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1.0893246187363835E-3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33-4B48-929E-C1F6FF3833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</c:v>
                </c:pt>
              </c:strCache>
            </c:strRef>
          </c:tx>
          <c:spPr>
            <a:ln w="19050" cap="rnd">
              <a:solidFill>
                <a:srgbClr val="0000FF"/>
              </a:solidFill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Sheet1!$C$2:$C$16</c:f>
              <c:numCache>
                <c:formatCode>0.00%</c:formatCode>
                <c:ptCount val="15"/>
                <c:pt idx="0">
                  <c:v>1.0552499999999998E-3</c:v>
                </c:pt>
                <c:pt idx="1">
                  <c:v>1.0552499999999998E-3</c:v>
                </c:pt>
                <c:pt idx="2">
                  <c:v>1.0552499999999998E-3</c:v>
                </c:pt>
                <c:pt idx="3">
                  <c:v>1.0552499999999998E-3</c:v>
                </c:pt>
                <c:pt idx="4">
                  <c:v>1.0552499999999998E-3</c:v>
                </c:pt>
                <c:pt idx="5">
                  <c:v>1.0552499999999998E-3</c:v>
                </c:pt>
                <c:pt idx="7">
                  <c:v>1.0552499999999998E-3</c:v>
                </c:pt>
                <c:pt idx="8">
                  <c:v>1.0552499999999998E-3</c:v>
                </c:pt>
                <c:pt idx="9">
                  <c:v>1.0552499999999998E-3</c:v>
                </c:pt>
                <c:pt idx="10">
                  <c:v>1.0552499999999998E-3</c:v>
                </c:pt>
                <c:pt idx="11">
                  <c:v>1.0552499999999998E-3</c:v>
                </c:pt>
                <c:pt idx="12">
                  <c:v>1.0552499999999998E-3</c:v>
                </c:pt>
                <c:pt idx="13">
                  <c:v>1.0552499999999998E-3</c:v>
                </c:pt>
                <c:pt idx="14">
                  <c:v>1.0552499999999998E-3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33-4B48-929E-C1F6FF3833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0898896"/>
        <c:axId val="1570891216"/>
      </c:lineChart>
      <c:catAx>
        <c:axId val="157089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570891216"/>
        <c:crosses val="autoZero"/>
        <c:auto val="1"/>
        <c:lblAlgn val="ctr"/>
        <c:lblOffset val="100"/>
        <c:noMultiLvlLbl val="0"/>
      </c:catAx>
      <c:valAx>
        <c:axId val="1570891216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70898896"/>
        <c:crosses val="autoZero"/>
        <c:crossBetween val="between"/>
        <c:majorUnit val="2.0000000000000005E-3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sng" strike="noStrike" kern="1200" spc="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r>
              <a:rPr lang="ko-KR" altLang="en-US" sz="11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용접 </a:t>
            </a:r>
            <a:r>
              <a:rPr lang="en-US" altLang="ko-KR" sz="11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Gap</a:t>
            </a:r>
            <a:r>
              <a:rPr lang="ko-KR" altLang="en-US" sz="11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불량</a:t>
            </a:r>
            <a:endParaRPr lang="en-US" altLang="ko-KR" sz="1100" b="1" u="sng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sng" strike="noStrike" kern="1200" spc="0" baseline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실적</c:v>
                </c:pt>
              </c:strCache>
            </c:strRef>
          </c:tx>
          <c:spPr>
            <a:ln w="6350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Sheet1!$B$2:$B$16</c:f>
              <c:numCache>
                <c:formatCode>0.00%</c:formatCode>
                <c:ptCount val="15"/>
                <c:pt idx="0">
                  <c:v>1.9054217910964837E-3</c:v>
                </c:pt>
                <c:pt idx="1">
                  <c:v>8.9775905528124034E-4</c:v>
                </c:pt>
                <c:pt idx="2">
                  <c:v>8.6247170014733894E-4</c:v>
                </c:pt>
                <c:pt idx="3">
                  <c:v>6.0422960725075529E-4</c:v>
                </c:pt>
                <c:pt idx="4">
                  <c:v>2.8027778642832676E-4</c:v>
                </c:pt>
                <c:pt idx="5">
                  <c:v>2.404640957047101E-4</c:v>
                </c:pt>
                <c:pt idx="7">
                  <c:v>3.8466470060264139E-4</c:v>
                </c:pt>
                <c:pt idx="8">
                  <c:v>2.2970024118525325E-4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9.0078496975936175E-4</c:v>
                </c:pt>
                <c:pt idx="13">
                  <c:v>1.208313194780087E-4</c:v>
                </c:pt>
                <c:pt idx="1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7D-42DF-8F0C-B7D2C3BD00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</c:v>
                </c:pt>
              </c:strCache>
            </c:strRef>
          </c:tx>
          <c:spPr>
            <a:ln w="19050" cap="rnd">
              <a:solidFill>
                <a:srgbClr val="0000FF"/>
              </a:solidFill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Sheet1!$C$2:$C$16</c:f>
              <c:numCache>
                <c:formatCode>0.00%</c:formatCode>
                <c:ptCount val="15"/>
                <c:pt idx="0">
                  <c:v>4.5225000000000007E-4</c:v>
                </c:pt>
                <c:pt idx="1">
                  <c:v>4.5225000000000007E-4</c:v>
                </c:pt>
                <c:pt idx="2">
                  <c:v>4.5225000000000007E-4</c:v>
                </c:pt>
                <c:pt idx="3">
                  <c:v>4.5225000000000007E-4</c:v>
                </c:pt>
                <c:pt idx="4">
                  <c:v>4.5225000000000007E-4</c:v>
                </c:pt>
                <c:pt idx="5">
                  <c:v>4.5225000000000007E-4</c:v>
                </c:pt>
                <c:pt idx="7">
                  <c:v>4.5225000000000007E-4</c:v>
                </c:pt>
                <c:pt idx="8">
                  <c:v>4.5225000000000007E-4</c:v>
                </c:pt>
                <c:pt idx="9">
                  <c:v>4.5225000000000007E-4</c:v>
                </c:pt>
                <c:pt idx="10">
                  <c:v>4.5225000000000007E-4</c:v>
                </c:pt>
                <c:pt idx="11">
                  <c:v>4.5225000000000007E-4</c:v>
                </c:pt>
                <c:pt idx="12">
                  <c:v>4.5225000000000007E-4</c:v>
                </c:pt>
                <c:pt idx="13">
                  <c:v>4.5225000000000007E-4</c:v>
                </c:pt>
                <c:pt idx="14">
                  <c:v>4.5225000000000007E-4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7D-42DF-8F0C-B7D2C3BD00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0898896"/>
        <c:axId val="1570891216"/>
      </c:lineChart>
      <c:catAx>
        <c:axId val="157089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570891216"/>
        <c:crosses val="autoZero"/>
        <c:auto val="1"/>
        <c:lblAlgn val="ctr"/>
        <c:lblOffset val="100"/>
        <c:noMultiLvlLbl val="0"/>
      </c:catAx>
      <c:valAx>
        <c:axId val="1570891216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70898896"/>
        <c:crosses val="autoZero"/>
        <c:crossBetween val="between"/>
        <c:majorUnit val="2.0000000000000005E-3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sng" strike="noStrike" kern="1200" spc="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r>
              <a:rPr lang="en-US" altLang="ko-KR" sz="11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BFA</a:t>
            </a:r>
            <a:r>
              <a:rPr lang="en-US" altLang="ko-KR" sz="1100" b="1" u="sng" baseline="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b="1" u="sng" baseline="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</a:t>
            </a:r>
            <a:r>
              <a:rPr lang="ko-KR" altLang="en-US" sz="11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</a:t>
            </a:r>
            <a:endParaRPr lang="en-US" altLang="ko-KR" sz="1100" b="1" u="sng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sng" strike="noStrike" kern="1200" spc="0" baseline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실적</c:v>
                </c:pt>
              </c:strCache>
            </c:strRef>
          </c:tx>
          <c:spPr>
            <a:ln w="6350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Sheet1!$B$2:$B$16</c:f>
              <c:numCache>
                <c:formatCode>0.00%</c:formatCode>
                <c:ptCount val="15"/>
                <c:pt idx="0">
                  <c:v>2.8581326866447257E-3</c:v>
                </c:pt>
                <c:pt idx="1">
                  <c:v>2.2443976382031006E-3</c:v>
                </c:pt>
                <c:pt idx="2">
                  <c:v>2.5874151004420167E-3</c:v>
                </c:pt>
                <c:pt idx="3">
                  <c:v>2.575926220384799E-3</c:v>
                </c:pt>
                <c:pt idx="4">
                  <c:v>4.7335803930117406E-3</c:v>
                </c:pt>
                <c:pt idx="5">
                  <c:v>1.3202675742283771E-3</c:v>
                </c:pt>
                <c:pt idx="7">
                  <c:v>6.1546352096422622E-3</c:v>
                </c:pt>
                <c:pt idx="8">
                  <c:v>1.837601929482026E-3</c:v>
                </c:pt>
                <c:pt idx="9">
                  <c:v>1.9270143321690955E-3</c:v>
                </c:pt>
                <c:pt idx="10">
                  <c:v>9.0777051561365292E-4</c:v>
                </c:pt>
                <c:pt idx="11">
                  <c:v>2.3794614902943019E-3</c:v>
                </c:pt>
                <c:pt idx="12">
                  <c:v>2.5736713421696047E-3</c:v>
                </c:pt>
                <c:pt idx="13">
                  <c:v>2.416626389560174E-4</c:v>
                </c:pt>
                <c:pt idx="14">
                  <c:v>4.3246360098025082E-4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F6-4758-9ED2-012E7168B6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</c:v>
                </c:pt>
              </c:strCache>
            </c:strRef>
          </c:tx>
          <c:spPr>
            <a:ln w="19050" cap="rnd">
              <a:solidFill>
                <a:srgbClr val="0000FF"/>
              </a:solidFill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Sheet1!$C$2:$C$16</c:f>
              <c:numCache>
                <c:formatCode>0.00%</c:formatCode>
                <c:ptCount val="15"/>
                <c:pt idx="0">
                  <c:v>1.1557500000000001E-3</c:v>
                </c:pt>
                <c:pt idx="1">
                  <c:v>1.1557500000000001E-3</c:v>
                </c:pt>
                <c:pt idx="2">
                  <c:v>1.1557500000000001E-3</c:v>
                </c:pt>
                <c:pt idx="3">
                  <c:v>1.1557500000000001E-3</c:v>
                </c:pt>
                <c:pt idx="4">
                  <c:v>1.1557500000000001E-3</c:v>
                </c:pt>
                <c:pt idx="5">
                  <c:v>1.1557500000000001E-3</c:v>
                </c:pt>
                <c:pt idx="7">
                  <c:v>1.1557500000000001E-3</c:v>
                </c:pt>
                <c:pt idx="8">
                  <c:v>1.1557500000000001E-3</c:v>
                </c:pt>
                <c:pt idx="9">
                  <c:v>1.1557500000000001E-3</c:v>
                </c:pt>
                <c:pt idx="10">
                  <c:v>1.1557500000000001E-3</c:v>
                </c:pt>
                <c:pt idx="11">
                  <c:v>1.1557500000000001E-3</c:v>
                </c:pt>
                <c:pt idx="12">
                  <c:v>1.1557500000000001E-3</c:v>
                </c:pt>
                <c:pt idx="13">
                  <c:v>1.1557500000000001E-3</c:v>
                </c:pt>
                <c:pt idx="14">
                  <c:v>1.1557500000000001E-3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F6-4758-9ED2-012E7168B6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0898896"/>
        <c:axId val="1570891216"/>
      </c:lineChart>
      <c:catAx>
        <c:axId val="157089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570891216"/>
        <c:crosses val="autoZero"/>
        <c:auto val="1"/>
        <c:lblAlgn val="ctr"/>
        <c:lblOffset val="100"/>
        <c:noMultiLvlLbl val="0"/>
      </c:catAx>
      <c:valAx>
        <c:axId val="1570891216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70898896"/>
        <c:crosses val="autoZero"/>
        <c:crossBetween val="between"/>
        <c:majorUnit val="2.0000000000000005E-3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sng" strike="noStrike" kern="1200" spc="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r>
              <a:rPr lang="en-US" altLang="ko-KR" sz="11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Metal Strap </a:t>
            </a:r>
            <a:r>
              <a:rPr lang="ko-KR" altLang="en-US" sz="11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불량</a:t>
            </a:r>
            <a:endParaRPr lang="en-US" altLang="ko-KR" sz="1100" b="1" u="sng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sng" strike="noStrike" kern="1200" spc="0" baseline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실적</c:v>
                </c:pt>
              </c:strCache>
            </c:strRef>
          </c:tx>
          <c:spPr>
            <a:ln w="6350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Sheet1!$B$2:$B$16</c:f>
              <c:numCache>
                <c:formatCode>0.00%</c:formatCode>
                <c:ptCount val="15"/>
                <c:pt idx="0">
                  <c:v>4.3305040706738266E-4</c:v>
                </c:pt>
                <c:pt idx="1">
                  <c:v>1.2430509996201788E-3</c:v>
                </c:pt>
                <c:pt idx="2">
                  <c:v>6.8279009594997666E-4</c:v>
                </c:pt>
                <c:pt idx="3">
                  <c:v>9.8584830656702187E-4</c:v>
                </c:pt>
                <c:pt idx="4">
                  <c:v>1.089969169443493E-3</c:v>
                </c:pt>
                <c:pt idx="5">
                  <c:v>4.9876775026405347E-4</c:v>
                </c:pt>
                <c:pt idx="7">
                  <c:v>1.025772534940377E-3</c:v>
                </c:pt>
                <c:pt idx="8">
                  <c:v>4.5940048237050649E-4</c:v>
                </c:pt>
                <c:pt idx="9">
                  <c:v>1.6861375406479586E-3</c:v>
                </c:pt>
                <c:pt idx="10">
                  <c:v>1.8155410312273057E-4</c:v>
                </c:pt>
                <c:pt idx="11">
                  <c:v>6.2617407639323729E-4</c:v>
                </c:pt>
                <c:pt idx="12">
                  <c:v>9.0078496975936175E-4</c:v>
                </c:pt>
                <c:pt idx="13">
                  <c:v>2.416626389560174E-4</c:v>
                </c:pt>
                <c:pt idx="14">
                  <c:v>4.3246360098025082E-4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78-411B-A872-26C2129AB4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</c:v>
                </c:pt>
              </c:strCache>
            </c:strRef>
          </c:tx>
          <c:spPr>
            <a:ln w="19050" cap="rnd">
              <a:solidFill>
                <a:srgbClr val="0000FF"/>
              </a:solidFill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Sheet1!$C$2:$C$16</c:f>
              <c:numCache>
                <c:formatCode>0.00%</c:formatCode>
                <c:ptCount val="15"/>
                <c:pt idx="0">
                  <c:v>6.5324999999999997E-4</c:v>
                </c:pt>
                <c:pt idx="1">
                  <c:v>6.5324999999999997E-4</c:v>
                </c:pt>
                <c:pt idx="2">
                  <c:v>6.5324999999999997E-4</c:v>
                </c:pt>
                <c:pt idx="3">
                  <c:v>6.5324999999999997E-4</c:v>
                </c:pt>
                <c:pt idx="4">
                  <c:v>6.5324999999999997E-4</c:v>
                </c:pt>
                <c:pt idx="5">
                  <c:v>6.5324999999999997E-4</c:v>
                </c:pt>
                <c:pt idx="7">
                  <c:v>6.5324999999999997E-4</c:v>
                </c:pt>
                <c:pt idx="8">
                  <c:v>6.5324999999999997E-4</c:v>
                </c:pt>
                <c:pt idx="9">
                  <c:v>6.5324999999999997E-4</c:v>
                </c:pt>
                <c:pt idx="10">
                  <c:v>6.5324999999999997E-4</c:v>
                </c:pt>
                <c:pt idx="11">
                  <c:v>6.5324999999999997E-4</c:v>
                </c:pt>
                <c:pt idx="12">
                  <c:v>6.5324999999999997E-4</c:v>
                </c:pt>
                <c:pt idx="13">
                  <c:v>6.5324999999999997E-4</c:v>
                </c:pt>
                <c:pt idx="14">
                  <c:v>6.5324999999999997E-4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78-411B-A872-26C2129AB4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0898896"/>
        <c:axId val="1570891216"/>
      </c:lineChart>
      <c:catAx>
        <c:axId val="157089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570891216"/>
        <c:crosses val="autoZero"/>
        <c:auto val="1"/>
        <c:lblAlgn val="ctr"/>
        <c:lblOffset val="100"/>
        <c:noMultiLvlLbl val="0"/>
      </c:catAx>
      <c:valAx>
        <c:axId val="1570891216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70898896"/>
        <c:crosses val="autoZero"/>
        <c:crossBetween val="between"/>
        <c:majorUnit val="2.0000000000000005E-3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sng" strike="noStrike" kern="1200" spc="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r>
              <a:rPr lang="en-US" altLang="ko-KR" sz="11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Ground</a:t>
            </a:r>
            <a:r>
              <a:rPr lang="en-US" altLang="ko-KR" sz="1100" b="1" u="sng" baseline="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Bonding</a:t>
            </a:r>
            <a:r>
              <a:rPr lang="en-US" altLang="ko-KR" sz="11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Test</a:t>
            </a:r>
            <a:r>
              <a:rPr lang="ko-KR" altLang="en-US" sz="11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불량</a:t>
            </a:r>
            <a:endParaRPr lang="en-US" altLang="ko-KR" sz="1100" b="1" u="sng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sng" strike="noStrike" kern="1200" spc="0" baseline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실적</c:v>
                </c:pt>
              </c:strCache>
            </c:strRef>
          </c:tx>
          <c:spPr>
            <a:ln w="6350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Sheet1!$B$2:$B$16</c:f>
              <c:numCache>
                <c:formatCode>0.00%</c:formatCode>
                <c:ptCount val="15"/>
                <c:pt idx="0">
                  <c:v>7.7962577962577967E-4</c:v>
                </c:pt>
                <c:pt idx="1">
                  <c:v>3.1084861672365556E-4</c:v>
                </c:pt>
                <c:pt idx="2">
                  <c:v>3.2310177705977385E-4</c:v>
                </c:pt>
                <c:pt idx="3">
                  <c:v>0</c:v>
                </c:pt>
                <c:pt idx="4">
                  <c:v>0</c:v>
                </c:pt>
                <c:pt idx="5">
                  <c:v>5.2816901408450699E-4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1.6348773841961854E-3</c:v>
                </c:pt>
                <c:pt idx="11">
                  <c:v>1.128668171557562E-3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06-45F5-8E9F-165948EEA5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</c:v>
                </c:pt>
              </c:strCache>
            </c:strRef>
          </c:tx>
          <c:spPr>
            <a:ln w="19050" cap="rnd">
              <a:solidFill>
                <a:srgbClr val="0000FF"/>
              </a:solidFill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Sheet1!$C$2:$C$16</c:f>
              <c:numCache>
                <c:formatCode>0.00%</c:formatCode>
                <c:ptCount val="15"/>
                <c:pt idx="0">
                  <c:v>1.5075000000000001E-4</c:v>
                </c:pt>
                <c:pt idx="1">
                  <c:v>1.5075000000000001E-4</c:v>
                </c:pt>
                <c:pt idx="2">
                  <c:v>1.5075000000000001E-4</c:v>
                </c:pt>
                <c:pt idx="3">
                  <c:v>1.5075000000000001E-4</c:v>
                </c:pt>
                <c:pt idx="4">
                  <c:v>1.5075000000000001E-4</c:v>
                </c:pt>
                <c:pt idx="5">
                  <c:v>1.5075000000000001E-4</c:v>
                </c:pt>
                <c:pt idx="7">
                  <c:v>1.5075000000000001E-4</c:v>
                </c:pt>
                <c:pt idx="8">
                  <c:v>1.5075000000000001E-4</c:v>
                </c:pt>
                <c:pt idx="9">
                  <c:v>1.5075000000000001E-4</c:v>
                </c:pt>
                <c:pt idx="10">
                  <c:v>1.5075000000000001E-4</c:v>
                </c:pt>
                <c:pt idx="11">
                  <c:v>1.5075000000000001E-4</c:v>
                </c:pt>
                <c:pt idx="12">
                  <c:v>1.5075000000000001E-4</c:v>
                </c:pt>
                <c:pt idx="13">
                  <c:v>1.5075000000000001E-4</c:v>
                </c:pt>
                <c:pt idx="14">
                  <c:v>1.5075000000000001E-4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06-45F5-8E9F-165948EEA5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0898896"/>
        <c:axId val="1570891216"/>
      </c:lineChart>
      <c:catAx>
        <c:axId val="157089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570891216"/>
        <c:crosses val="autoZero"/>
        <c:auto val="1"/>
        <c:lblAlgn val="ctr"/>
        <c:lblOffset val="100"/>
        <c:noMultiLvlLbl val="0"/>
      </c:catAx>
      <c:valAx>
        <c:axId val="1570891216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70898896"/>
        <c:crosses val="autoZero"/>
        <c:crossBetween val="between"/>
        <c:majorUnit val="2.0000000000000005E-3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sng" strike="noStrike" kern="1200" spc="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r>
              <a:rPr lang="en-US" altLang="ko-KR" sz="11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Leak Test</a:t>
            </a:r>
            <a:r>
              <a:rPr lang="ko-KR" altLang="en-US" sz="11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불량</a:t>
            </a:r>
            <a:endParaRPr lang="en-US" altLang="ko-KR" sz="1100" b="1" u="sng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sng" strike="noStrike" kern="1200" spc="0" baseline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실적</c:v>
                </c:pt>
              </c:strCache>
            </c:strRef>
          </c:tx>
          <c:spPr>
            <a:ln w="6350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Sheet1!$B$2:$B$16</c:f>
              <c:numCache>
                <c:formatCode>0.00%</c:formatCode>
                <c:ptCount val="15"/>
                <c:pt idx="0">
                  <c:v>5.3274428274428277E-3</c:v>
                </c:pt>
                <c:pt idx="1">
                  <c:v>1.1397782613200705E-3</c:v>
                </c:pt>
                <c:pt idx="2">
                  <c:v>3.1233171782444804E-3</c:v>
                </c:pt>
                <c:pt idx="3">
                  <c:v>1.9078508060669657E-4</c:v>
                </c:pt>
                <c:pt idx="4">
                  <c:v>4.6737707982800526E-4</c:v>
                </c:pt>
                <c:pt idx="5">
                  <c:v>1.3204225352112676E-3</c:v>
                </c:pt>
                <c:pt idx="7">
                  <c:v>0</c:v>
                </c:pt>
                <c:pt idx="8">
                  <c:v>6.8917987594762232E-4</c:v>
                </c:pt>
                <c:pt idx="9">
                  <c:v>1.083815028901734E-3</c:v>
                </c:pt>
                <c:pt idx="10">
                  <c:v>1.0899182561307902E-3</c:v>
                </c:pt>
                <c:pt idx="11">
                  <c:v>1.128668171557562E-3</c:v>
                </c:pt>
                <c:pt idx="12">
                  <c:v>3.8565368299267258E-4</c:v>
                </c:pt>
                <c:pt idx="13">
                  <c:v>1.4498006524102935E-3</c:v>
                </c:pt>
                <c:pt idx="14">
                  <c:v>2.1588946459412781E-3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9F-497F-8B7B-B60E6F4C6F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</c:v>
                </c:pt>
              </c:strCache>
            </c:strRef>
          </c:tx>
          <c:spPr>
            <a:ln w="19050" cap="rnd">
              <a:solidFill>
                <a:srgbClr val="0000FF"/>
              </a:solidFill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7">
                  <c:v>W15</c:v>
                </c:pt>
                <c:pt idx="8">
                  <c:v>W16</c:v>
                </c:pt>
                <c:pt idx="9">
                  <c:v>W17</c:v>
                </c:pt>
                <c:pt idx="10">
                  <c:v>W18</c:v>
                </c:pt>
                <c:pt idx="11">
                  <c:v>W19</c:v>
                </c:pt>
                <c:pt idx="12">
                  <c:v>W20</c:v>
                </c:pt>
                <c:pt idx="13">
                  <c:v>W21</c:v>
                </c:pt>
                <c:pt idx="14">
                  <c:v>W22</c:v>
                </c:pt>
              </c:strCache>
            </c:strRef>
          </c:cat>
          <c:val>
            <c:numRef>
              <c:f>Sheet1!$C$2:$C$16</c:f>
              <c:numCache>
                <c:formatCode>0.00%</c:formatCode>
                <c:ptCount val="15"/>
                <c:pt idx="0">
                  <c:v>6.0300000000000002E-4</c:v>
                </c:pt>
                <c:pt idx="1">
                  <c:v>6.0300000000000002E-4</c:v>
                </c:pt>
                <c:pt idx="2">
                  <c:v>6.0300000000000002E-4</c:v>
                </c:pt>
                <c:pt idx="3">
                  <c:v>6.0300000000000002E-4</c:v>
                </c:pt>
                <c:pt idx="4">
                  <c:v>6.0300000000000002E-4</c:v>
                </c:pt>
                <c:pt idx="5">
                  <c:v>6.0300000000000002E-4</c:v>
                </c:pt>
                <c:pt idx="7">
                  <c:v>6.0300000000000002E-4</c:v>
                </c:pt>
                <c:pt idx="8">
                  <c:v>6.0300000000000002E-4</c:v>
                </c:pt>
                <c:pt idx="9">
                  <c:v>6.0300000000000002E-4</c:v>
                </c:pt>
                <c:pt idx="10">
                  <c:v>6.0300000000000002E-4</c:v>
                </c:pt>
                <c:pt idx="11">
                  <c:v>6.0300000000000002E-4</c:v>
                </c:pt>
                <c:pt idx="12">
                  <c:v>6.0300000000000002E-4</c:v>
                </c:pt>
                <c:pt idx="13">
                  <c:v>6.0300000000000002E-4</c:v>
                </c:pt>
                <c:pt idx="14">
                  <c:v>6.0300000000000002E-4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9F-497F-8B7B-B60E6F4C6F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0898896"/>
        <c:axId val="1570891216"/>
      </c:lineChart>
      <c:catAx>
        <c:axId val="157089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570891216"/>
        <c:crosses val="autoZero"/>
        <c:auto val="1"/>
        <c:lblAlgn val="ctr"/>
        <c:lblOffset val="100"/>
        <c:noMultiLvlLbl val="0"/>
      </c:catAx>
      <c:valAx>
        <c:axId val="1570891216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70898896"/>
        <c:crosses val="autoZero"/>
        <c:crossBetween val="between"/>
        <c:majorUnit val="2.0000000000000005E-3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245022333942172"/>
                      <c:h val="0.3916529264938772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38C-41A1-823B-4AC83D1F7D71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95618207136014"/>
                      <c:h val="0.3916529264938772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038C-41A1-823B-4AC83D1F7D71}"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적용 전</c:v>
                </c:pt>
                <c:pt idx="1">
                  <c:v>적용 후</c:v>
                </c:pt>
              </c:strCache>
            </c:strRef>
          </c:cat>
          <c:val>
            <c:numRef>
              <c:f>Sheet1!$B$2:$B$3</c:f>
              <c:numCache>
                <c:formatCode>0.00_ </c:formatCode>
                <c:ptCount val="2"/>
                <c:pt idx="0">
                  <c:v>790.39</c:v>
                </c:pt>
                <c:pt idx="1">
                  <c:v>790.15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8C-41A1-823B-4AC83D1F7D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570898896"/>
        <c:axId val="1570891216"/>
      </c:barChart>
      <c:catAx>
        <c:axId val="157089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570891216"/>
        <c:crosses val="autoZero"/>
        <c:auto val="1"/>
        <c:lblAlgn val="ctr"/>
        <c:lblOffset val="100"/>
        <c:noMultiLvlLbl val="0"/>
      </c:catAx>
      <c:valAx>
        <c:axId val="1570891216"/>
        <c:scaling>
          <c:orientation val="minMax"/>
          <c:max val="791"/>
          <c:min val="788.5"/>
        </c:scaling>
        <c:delete val="0"/>
        <c:axPos val="l"/>
        <c:numFmt formatCode="0.00_ 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70898896"/>
        <c:crosses val="autoZero"/>
        <c:crossBetween val="between"/>
        <c:majorUnit val="2.0000000000000005E-3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245022333942172"/>
                      <c:h val="0.3916529264938772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38C-41A1-823B-4AC83D1F7D71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95618207136014"/>
                      <c:h val="0.3916529264938772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038C-41A1-823B-4AC83D1F7D71}"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적용 전</c:v>
                </c:pt>
                <c:pt idx="1">
                  <c:v>적용 후</c:v>
                </c:pt>
              </c:strCache>
            </c:strRef>
          </c:cat>
          <c:val>
            <c:numRef>
              <c:f>Sheet1!$B$2:$B$3</c:f>
              <c:numCache>
                <c:formatCode>0.00_ </c:formatCode>
                <c:ptCount val="2"/>
                <c:pt idx="0">
                  <c:v>0.26</c:v>
                </c:pt>
                <c:pt idx="1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8C-41A1-823B-4AC83D1F7D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570898896"/>
        <c:axId val="1570891216"/>
      </c:barChart>
      <c:catAx>
        <c:axId val="157089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570891216"/>
        <c:crosses val="autoZero"/>
        <c:auto val="1"/>
        <c:lblAlgn val="ctr"/>
        <c:lblOffset val="100"/>
        <c:noMultiLvlLbl val="0"/>
      </c:catAx>
      <c:valAx>
        <c:axId val="1570891216"/>
        <c:scaling>
          <c:orientation val="minMax"/>
          <c:max val="0.4"/>
          <c:min val="0.1"/>
        </c:scaling>
        <c:delete val="0"/>
        <c:axPos val="l"/>
        <c:numFmt formatCode="0.00_ 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70898896"/>
        <c:crosses val="autoZero"/>
        <c:crossBetween val="between"/>
        <c:majorUnit val="2.0000000000000005E-3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245022333942172"/>
                      <c:h val="0.3916529264938772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38C-41A1-823B-4AC83D1F7D71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95618207136014"/>
                      <c:h val="0.3916529264938772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038C-41A1-823B-4AC83D1F7D71}"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적용 전</c:v>
                </c:pt>
                <c:pt idx="1">
                  <c:v>적용 후</c:v>
                </c:pt>
              </c:strCache>
            </c:strRef>
          </c:cat>
          <c:val>
            <c:numRef>
              <c:f>Sheet1!$B$2:$B$3</c:f>
              <c:numCache>
                <c:formatCode>0.00_ </c:formatCode>
                <c:ptCount val="2"/>
                <c:pt idx="0">
                  <c:v>0.54600000000000004</c:v>
                </c:pt>
                <c:pt idx="1">
                  <c:v>0.23100000000000001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8C-41A1-823B-4AC83D1F7D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570898896"/>
        <c:axId val="1570891216"/>
      </c:barChart>
      <c:catAx>
        <c:axId val="157089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570891216"/>
        <c:crosses val="autoZero"/>
        <c:auto val="1"/>
        <c:lblAlgn val="ctr"/>
        <c:lblOffset val="100"/>
        <c:noMultiLvlLbl val="0"/>
      </c:catAx>
      <c:valAx>
        <c:axId val="1570891216"/>
        <c:scaling>
          <c:orientation val="minMax"/>
          <c:max val="1"/>
          <c:min val="0"/>
        </c:scaling>
        <c:delete val="0"/>
        <c:axPos val="l"/>
        <c:numFmt formatCode="0.00_ 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70898896"/>
        <c:crosses val="autoZero"/>
        <c:crossBetween val="between"/>
        <c:majorUnit val="2.0000000000000005E-3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 이력'!$D$3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'A 이력'!$A$4:$A$30</c:f>
              <c:numCache>
                <c:formatCode>d\-mmm</c:formatCode>
                <c:ptCount val="27"/>
                <c:pt idx="0">
                  <c:v>46073</c:v>
                </c:pt>
                <c:pt idx="1">
                  <c:v>46074</c:v>
                </c:pt>
                <c:pt idx="2">
                  <c:v>46075</c:v>
                </c:pt>
                <c:pt idx="3">
                  <c:v>46076</c:v>
                </c:pt>
                <c:pt idx="4">
                  <c:v>46077</c:v>
                </c:pt>
                <c:pt idx="5">
                  <c:v>46078</c:v>
                </c:pt>
                <c:pt idx="6">
                  <c:v>46079</c:v>
                </c:pt>
                <c:pt idx="7">
                  <c:v>46080</c:v>
                </c:pt>
                <c:pt idx="8">
                  <c:v>46081</c:v>
                </c:pt>
                <c:pt idx="9">
                  <c:v>46082</c:v>
                </c:pt>
                <c:pt idx="10">
                  <c:v>46083</c:v>
                </c:pt>
                <c:pt idx="11">
                  <c:v>46084</c:v>
                </c:pt>
                <c:pt idx="12">
                  <c:v>46085</c:v>
                </c:pt>
                <c:pt idx="13">
                  <c:v>46086</c:v>
                </c:pt>
                <c:pt idx="14">
                  <c:v>46087</c:v>
                </c:pt>
                <c:pt idx="15">
                  <c:v>46088</c:v>
                </c:pt>
                <c:pt idx="16">
                  <c:v>46089</c:v>
                </c:pt>
                <c:pt idx="17">
                  <c:v>46090</c:v>
                </c:pt>
                <c:pt idx="18">
                  <c:v>46091</c:v>
                </c:pt>
                <c:pt idx="19">
                  <c:v>46092</c:v>
                </c:pt>
                <c:pt idx="20">
                  <c:v>46093</c:v>
                </c:pt>
                <c:pt idx="21">
                  <c:v>46094</c:v>
                </c:pt>
                <c:pt idx="22">
                  <c:v>46095</c:v>
                </c:pt>
                <c:pt idx="23">
                  <c:v>46096</c:v>
                </c:pt>
                <c:pt idx="24">
                  <c:v>46097</c:v>
                </c:pt>
                <c:pt idx="25">
                  <c:v>46098</c:v>
                </c:pt>
                <c:pt idx="26">
                  <c:v>46099</c:v>
                </c:pt>
              </c:numCache>
            </c:numRef>
          </c:cat>
          <c:val>
            <c:numRef>
              <c:f>'A 이력'!$D$4:$D$30</c:f>
              <c:numCache>
                <c:formatCode>General</c:formatCode>
                <c:ptCount val="27"/>
                <c:pt idx="5">
                  <c:v>1</c:v>
                </c:pt>
                <c:pt idx="6">
                  <c:v>2</c:v>
                </c:pt>
                <c:pt idx="7">
                  <c:v>17</c:v>
                </c:pt>
                <c:pt idx="21">
                  <c:v>3</c:v>
                </c:pt>
                <c:pt idx="22">
                  <c:v>3</c:v>
                </c:pt>
                <c:pt idx="2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98-4BB9-AD63-F8C70CC48BDE}"/>
            </c:ext>
          </c:extLst>
        </c:ser>
        <c:ser>
          <c:idx val="1"/>
          <c:order val="1"/>
          <c:tx>
            <c:strRef>
              <c:f>'A 이력'!$E$3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'A 이력'!$A$4:$A$30</c:f>
              <c:numCache>
                <c:formatCode>d\-mmm</c:formatCode>
                <c:ptCount val="27"/>
                <c:pt idx="0">
                  <c:v>46073</c:v>
                </c:pt>
                <c:pt idx="1">
                  <c:v>46074</c:v>
                </c:pt>
                <c:pt idx="2">
                  <c:v>46075</c:v>
                </c:pt>
                <c:pt idx="3">
                  <c:v>46076</c:v>
                </c:pt>
                <c:pt idx="4">
                  <c:v>46077</c:v>
                </c:pt>
                <c:pt idx="5">
                  <c:v>46078</c:v>
                </c:pt>
                <c:pt idx="6">
                  <c:v>46079</c:v>
                </c:pt>
                <c:pt idx="7">
                  <c:v>46080</c:v>
                </c:pt>
                <c:pt idx="8">
                  <c:v>46081</c:v>
                </c:pt>
                <c:pt idx="9">
                  <c:v>46082</c:v>
                </c:pt>
                <c:pt idx="10">
                  <c:v>46083</c:v>
                </c:pt>
                <c:pt idx="11">
                  <c:v>46084</c:v>
                </c:pt>
                <c:pt idx="12">
                  <c:v>46085</c:v>
                </c:pt>
                <c:pt idx="13">
                  <c:v>46086</c:v>
                </c:pt>
                <c:pt idx="14">
                  <c:v>46087</c:v>
                </c:pt>
                <c:pt idx="15">
                  <c:v>46088</c:v>
                </c:pt>
                <c:pt idx="16">
                  <c:v>46089</c:v>
                </c:pt>
                <c:pt idx="17">
                  <c:v>46090</c:v>
                </c:pt>
                <c:pt idx="18">
                  <c:v>46091</c:v>
                </c:pt>
                <c:pt idx="19">
                  <c:v>46092</c:v>
                </c:pt>
                <c:pt idx="20">
                  <c:v>46093</c:v>
                </c:pt>
                <c:pt idx="21">
                  <c:v>46094</c:v>
                </c:pt>
                <c:pt idx="22">
                  <c:v>46095</c:v>
                </c:pt>
                <c:pt idx="23">
                  <c:v>46096</c:v>
                </c:pt>
                <c:pt idx="24">
                  <c:v>46097</c:v>
                </c:pt>
                <c:pt idx="25">
                  <c:v>46098</c:v>
                </c:pt>
                <c:pt idx="26">
                  <c:v>46099</c:v>
                </c:pt>
              </c:numCache>
            </c:numRef>
          </c:cat>
          <c:val>
            <c:numRef>
              <c:f>'A 이력'!$E$4:$E$30</c:f>
              <c:numCache>
                <c:formatCode>General</c:formatCode>
                <c:ptCount val="27"/>
                <c:pt idx="0">
                  <c:v>126</c:v>
                </c:pt>
                <c:pt idx="1">
                  <c:v>85</c:v>
                </c:pt>
                <c:pt idx="2">
                  <c:v>84</c:v>
                </c:pt>
                <c:pt idx="3">
                  <c:v>60</c:v>
                </c:pt>
                <c:pt idx="4">
                  <c:v>48</c:v>
                </c:pt>
                <c:pt idx="5">
                  <c:v>47</c:v>
                </c:pt>
                <c:pt idx="6">
                  <c:v>9</c:v>
                </c:pt>
                <c:pt idx="7">
                  <c:v>20</c:v>
                </c:pt>
                <c:pt idx="9">
                  <c:v>1</c:v>
                </c:pt>
                <c:pt idx="10">
                  <c:v>2</c:v>
                </c:pt>
                <c:pt idx="11">
                  <c:v>33</c:v>
                </c:pt>
                <c:pt idx="12">
                  <c:v>14</c:v>
                </c:pt>
                <c:pt idx="13">
                  <c:v>5</c:v>
                </c:pt>
                <c:pt idx="14">
                  <c:v>1</c:v>
                </c:pt>
                <c:pt idx="16">
                  <c:v>1</c:v>
                </c:pt>
                <c:pt idx="18">
                  <c:v>2</c:v>
                </c:pt>
                <c:pt idx="19">
                  <c:v>8</c:v>
                </c:pt>
                <c:pt idx="20">
                  <c:v>6</c:v>
                </c:pt>
                <c:pt idx="21">
                  <c:v>32</c:v>
                </c:pt>
                <c:pt idx="22">
                  <c:v>34</c:v>
                </c:pt>
                <c:pt idx="23">
                  <c:v>11</c:v>
                </c:pt>
                <c:pt idx="24">
                  <c:v>39</c:v>
                </c:pt>
                <c:pt idx="25">
                  <c:v>45</c:v>
                </c:pt>
                <c:pt idx="26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98-4BB9-AD63-F8C70CC48B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1413263599"/>
        <c:axId val="31229872"/>
      </c:barChart>
      <c:lineChart>
        <c:grouping val="standard"/>
        <c:varyColors val="0"/>
        <c:ser>
          <c:idx val="2"/>
          <c:order val="2"/>
          <c:tx>
            <c:strRef>
              <c:f>'A 이력'!$F$3</c:f>
              <c:strCache>
                <c:ptCount val="1"/>
                <c:pt idx="0">
                  <c:v>가압 지그 포지션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'A 이력'!$F$4:$F$30</c:f>
              <c:numCache>
                <c:formatCode>General</c:formatCode>
                <c:ptCount val="27"/>
                <c:pt idx="0">
                  <c:v>285.5</c:v>
                </c:pt>
                <c:pt idx="1">
                  <c:v>285.5</c:v>
                </c:pt>
                <c:pt idx="2">
                  <c:v>285.5</c:v>
                </c:pt>
                <c:pt idx="3">
                  <c:v>285.5</c:v>
                </c:pt>
                <c:pt idx="4">
                  <c:v>285.3</c:v>
                </c:pt>
                <c:pt idx="5">
                  <c:v>285.45</c:v>
                </c:pt>
                <c:pt idx="6">
                  <c:v>285.39999999999998</c:v>
                </c:pt>
                <c:pt idx="7">
                  <c:v>285.60000000000002</c:v>
                </c:pt>
                <c:pt idx="8">
                  <c:v>285.60000000000002</c:v>
                </c:pt>
                <c:pt idx="9">
                  <c:v>285.60000000000002</c:v>
                </c:pt>
                <c:pt idx="10">
                  <c:v>285.60000000000002</c:v>
                </c:pt>
                <c:pt idx="11">
                  <c:v>285.5</c:v>
                </c:pt>
                <c:pt idx="12">
                  <c:v>285.35000000000002</c:v>
                </c:pt>
                <c:pt idx="13">
                  <c:v>285.25</c:v>
                </c:pt>
                <c:pt idx="14">
                  <c:v>285.25</c:v>
                </c:pt>
                <c:pt idx="15">
                  <c:v>285.25</c:v>
                </c:pt>
                <c:pt idx="16">
                  <c:v>285.25</c:v>
                </c:pt>
                <c:pt idx="17">
                  <c:v>285.35000000000002</c:v>
                </c:pt>
                <c:pt idx="18">
                  <c:v>285.35000000000002</c:v>
                </c:pt>
                <c:pt idx="19">
                  <c:v>285.35000000000002</c:v>
                </c:pt>
                <c:pt idx="20">
                  <c:v>285.35000000000002</c:v>
                </c:pt>
                <c:pt idx="21">
                  <c:v>285.35000000000002</c:v>
                </c:pt>
                <c:pt idx="22">
                  <c:v>285.35000000000002</c:v>
                </c:pt>
                <c:pt idx="23">
                  <c:v>285.35000000000002</c:v>
                </c:pt>
                <c:pt idx="24">
                  <c:v>285.35000000000002</c:v>
                </c:pt>
                <c:pt idx="25">
                  <c:v>285.35000000000002</c:v>
                </c:pt>
                <c:pt idx="26">
                  <c:v>285.35000000000002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C98-4BB9-AD63-F8C70CC48B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7311311"/>
        <c:axId val="250000911"/>
      </c:lineChart>
      <c:dateAx>
        <c:axId val="1413263599"/>
        <c:scaling>
          <c:orientation val="minMax"/>
        </c:scaling>
        <c:delete val="0"/>
        <c:axPos val="b"/>
        <c:numFmt formatCode="d\-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1229872"/>
        <c:crosses val="autoZero"/>
        <c:auto val="1"/>
        <c:lblOffset val="100"/>
        <c:baseTimeUnit val="days"/>
      </c:dateAx>
      <c:valAx>
        <c:axId val="31229872"/>
        <c:scaling>
          <c:orientation val="minMax"/>
          <c:max val="13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13263599"/>
        <c:crosses val="autoZero"/>
        <c:crossBetween val="between"/>
      </c:valAx>
      <c:valAx>
        <c:axId val="250000911"/>
        <c:scaling>
          <c:orientation val="minMax"/>
          <c:max val="286"/>
          <c:min val="285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67311311"/>
        <c:crosses val="max"/>
        <c:crossBetween val="between"/>
      </c:valAx>
      <c:catAx>
        <c:axId val="1267311311"/>
        <c:scaling>
          <c:orientation val="minMax"/>
        </c:scaling>
        <c:delete val="1"/>
        <c:axPos val="b"/>
        <c:majorTickMark val="out"/>
        <c:minorTickMark val="none"/>
        <c:tickLblPos val="nextTo"/>
        <c:crossAx val="25000091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883454325608468"/>
          <c:y val="0.11748921700704229"/>
          <c:w val="0.52002075749805099"/>
          <c:h val="0.1029188351658536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4277847" cy="340915"/>
          </a:xfrm>
          <a:prstGeom prst="rect">
            <a:avLst/>
          </a:prstGeom>
        </p:spPr>
        <p:txBody>
          <a:bodyPr vert="horz" lIns="91019" tIns="45510" rIns="91019" bIns="4551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2518" y="4"/>
            <a:ext cx="4277847" cy="340915"/>
          </a:xfrm>
          <a:prstGeom prst="rect">
            <a:avLst/>
          </a:prstGeom>
        </p:spPr>
        <p:txBody>
          <a:bodyPr vert="horz" lIns="91019" tIns="45510" rIns="91019" bIns="45510" rtlCol="0"/>
          <a:lstStyle>
            <a:lvl1pPr algn="r">
              <a:defRPr sz="1200"/>
            </a:lvl1pPr>
          </a:lstStyle>
          <a:p>
            <a:fld id="{EE76E775-7121-402E-B524-E5D166D976BF}" type="datetimeFigureOut">
              <a:rPr lang="ko-KR" altLang="en-US" smtClean="0"/>
              <a:t>2026-06-16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6456760"/>
            <a:ext cx="4277847" cy="340915"/>
          </a:xfrm>
          <a:prstGeom prst="rect">
            <a:avLst/>
          </a:prstGeom>
        </p:spPr>
        <p:txBody>
          <a:bodyPr vert="horz" lIns="91019" tIns="45510" rIns="91019" bIns="4551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2518" y="6456760"/>
            <a:ext cx="4277847" cy="340915"/>
          </a:xfrm>
          <a:prstGeom prst="rect">
            <a:avLst/>
          </a:prstGeom>
        </p:spPr>
        <p:txBody>
          <a:bodyPr vert="horz" lIns="91019" tIns="45510" rIns="91019" bIns="45510" rtlCol="0" anchor="b"/>
          <a:lstStyle>
            <a:lvl1pPr algn="r">
              <a:defRPr sz="1200"/>
            </a:lvl1pPr>
          </a:lstStyle>
          <a:p>
            <a:fld id="{8DD93A58-78E5-491B-AE7A-7A354FB00BD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1555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4278154" cy="339884"/>
          </a:xfrm>
          <a:prstGeom prst="rect">
            <a:avLst/>
          </a:prstGeom>
        </p:spPr>
        <p:txBody>
          <a:bodyPr vert="horz" lIns="91019" tIns="45510" rIns="91019" bIns="4551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2226" y="3"/>
            <a:ext cx="4278154" cy="339884"/>
          </a:xfrm>
          <a:prstGeom prst="rect">
            <a:avLst/>
          </a:prstGeom>
        </p:spPr>
        <p:txBody>
          <a:bodyPr vert="horz" lIns="91019" tIns="45510" rIns="91019" bIns="45510" rtlCol="0"/>
          <a:lstStyle>
            <a:lvl1pPr algn="r">
              <a:defRPr sz="1200"/>
            </a:lvl1pPr>
          </a:lstStyle>
          <a:p>
            <a:fld id="{CDCF5A32-88BD-4754-A331-2567C4992D01}" type="datetimeFigureOut">
              <a:rPr lang="ko-KR" altLang="en-US" smtClean="0"/>
              <a:t>2026-06-16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98800" y="511175"/>
            <a:ext cx="3675063" cy="254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19" tIns="45510" rIns="91019" bIns="4551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267" y="3228896"/>
            <a:ext cx="7898130" cy="3058954"/>
          </a:xfrm>
          <a:prstGeom prst="rect">
            <a:avLst/>
          </a:prstGeom>
        </p:spPr>
        <p:txBody>
          <a:bodyPr vert="horz" lIns="91019" tIns="45510" rIns="91019" bIns="4551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278154" cy="339884"/>
          </a:xfrm>
          <a:prstGeom prst="rect">
            <a:avLst/>
          </a:prstGeom>
        </p:spPr>
        <p:txBody>
          <a:bodyPr vert="horz" lIns="91019" tIns="45510" rIns="91019" bIns="4551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2226" y="6456612"/>
            <a:ext cx="4278154" cy="339884"/>
          </a:xfrm>
          <a:prstGeom prst="rect">
            <a:avLst/>
          </a:prstGeom>
        </p:spPr>
        <p:txBody>
          <a:bodyPr vert="horz" lIns="91019" tIns="45510" rIns="91019" bIns="45510" rtlCol="0" anchor="b"/>
          <a:lstStyle>
            <a:lvl1pPr algn="r">
              <a:defRPr sz="1200"/>
            </a:lvl1pPr>
          </a:lstStyle>
          <a:p>
            <a:fld id="{FDE0B16E-5F23-4AD7-8FE9-923C4163D7B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1235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9127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20B583-EC6D-4C42-9094-DFEE4625B3BC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89127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265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164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0068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5283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164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721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0056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7679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8986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7895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7026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09587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80909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4503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9552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27229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22023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76573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43383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78438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92607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14974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25014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21793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84523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5988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8562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40267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25130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46438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99842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12820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2427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26565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44623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E0B16E-5F23-4AD7-8FE9-923C4163D7B9}" type="slidenum">
              <a:rPr lang="ko-KR" altLang="en-US" smtClean="0"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5117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50751" y="1863715"/>
            <a:ext cx="7189342" cy="584775"/>
          </a:xfrm>
        </p:spPr>
        <p:txBody>
          <a:bodyPr wrap="square" anchor="t">
            <a:sp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6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 dirty="0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23" name="내용 개체 틀 22"/>
          <p:cNvSpPr>
            <a:spLocks noGrp="1"/>
          </p:cNvSpPr>
          <p:nvPr>
            <p:ph sz="quarter" idx="11"/>
          </p:nvPr>
        </p:nvSpPr>
        <p:spPr>
          <a:xfrm>
            <a:off x="1208088" y="2565400"/>
            <a:ext cx="6961187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marL="457200" indent="0">
              <a:buNone/>
              <a:defRPr lang="ko-KR" altLang="en-US" dirty="0" smtClean="0"/>
            </a:lvl2pPr>
            <a:lvl3pPr marL="914400" indent="0">
              <a:buNone/>
              <a:defRPr lang="ko-KR" altLang="en-US" dirty="0" smtClean="0"/>
            </a:lvl3pPr>
            <a:lvl4pPr marL="1371600" indent="0">
              <a:buNone/>
              <a:defRPr lang="ko-KR" altLang="en-US" dirty="0" smtClean="0"/>
            </a:lvl4pPr>
            <a:lvl5pPr marL="1828800" indent="0">
              <a:buNone/>
              <a:defRPr lang="ko-KR" altLang="en-US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4" name="내용 개체 틀 22"/>
          <p:cNvSpPr>
            <a:spLocks noGrp="1"/>
          </p:cNvSpPr>
          <p:nvPr>
            <p:ph sz="quarter" idx="12"/>
          </p:nvPr>
        </p:nvSpPr>
        <p:spPr>
          <a:xfrm>
            <a:off x="1208088" y="5176203"/>
            <a:ext cx="6960333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200" indent="0">
              <a:buNone/>
              <a:defRPr lang="ko-KR" altLang="en-US" dirty="0" smtClean="0"/>
            </a:lvl2pPr>
            <a:lvl3pPr marL="914400" indent="0">
              <a:buNone/>
              <a:defRPr lang="ko-KR" altLang="en-US" dirty="0" smtClean="0"/>
            </a:lvl3pPr>
            <a:lvl4pPr marL="1371600" indent="0">
              <a:buNone/>
              <a:defRPr lang="ko-KR" altLang="en-US" dirty="0" smtClean="0"/>
            </a:lvl4pPr>
            <a:lvl5pPr marL="1828800" indent="0">
              <a:buNone/>
              <a:defRPr lang="ko-KR" altLang="en-US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grpSp>
          <p:nvGrpSpPr>
            <p:cNvPr id="12" name="그룹 11"/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7" name="직사각형 16"/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8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5" name="Picture 2" descr="C:\ECM\TEMP\부서함\Brand담당\CI 매뉴얼★\★로고파일-자회사名\14년ver\(주)LG\LG_가로조합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20332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간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65213" y="1917166"/>
            <a:ext cx="7848227" cy="523220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pPr lvl="0" algn="l"/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>
          <a:xfrm>
            <a:off x="1208088" y="2564904"/>
            <a:ext cx="7705725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>
              <a:defRPr lang="ko-KR" altLang="en-US" smtClean="0"/>
            </a:lvl2pPr>
            <a:lvl3pPr>
              <a:defRPr lang="ko-KR" altLang="en-US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42168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p</a:t>
            </a:r>
            <a:endParaRPr lang="ko-KR" altLang="en-US" dirty="0"/>
          </a:p>
        </p:txBody>
      </p:sp>
      <p:sp>
        <p:nvSpPr>
          <p:cNvPr id="9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 dirty="0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chemeClr val="tx1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 dirty="0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 dirty="0">
              <a:solidFill>
                <a:schemeClr val="tx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15" name="직사각형 14"/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6" name="Picture 3" descr="C:\ECM\TEMP\부서함\Brand담당\20년 연간업무계획\디지털 그래픽 모티브 개발★\★1st Manual Official Release\Graphic Asset_v1.0\1. Main motif - Solid color\png\Main_motif-LG_grey_solid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88574" b="66425"/>
            <a:stretch/>
          </p:blipFill>
          <p:spPr bwMode="auto">
            <a:xfrm>
              <a:off x="200025" y="188913"/>
              <a:ext cx="735032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3" descr="C:\ECM\TEMP\부서함\Brand담당\20년 연간업무계획\디지털 그래픽 모티브 개발★\★1st Manual Official Release\Graphic Asset_v1.0\1. Main motif - Solid color\png\Main_motif-LG_grey_solid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082" t="77634"/>
            <a:stretch/>
          </p:blipFill>
          <p:spPr bwMode="auto">
            <a:xfrm>
              <a:off x="8294844" y="5229088"/>
              <a:ext cx="1411131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1336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본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9765" y="170929"/>
            <a:ext cx="9516209" cy="3693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800" b="1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 algn="l"/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00026" y="620713"/>
            <a:ext cx="9303872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dirty="0" smtClean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50481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p</a:t>
            </a:r>
            <a:endParaRPr lang="ko-KR" altLang="en-US" dirty="0"/>
          </a:p>
        </p:txBody>
      </p:sp>
      <p:sp>
        <p:nvSpPr>
          <p:cNvPr id="12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 dirty="0">
                <a:solidFill>
                  <a:srgbClr val="595959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595959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 dirty="0">
                <a:solidFill>
                  <a:srgbClr val="595959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 dirty="0">
              <a:solidFill>
                <a:srgbClr val="595959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200025" y="544512"/>
            <a:ext cx="950595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200026" y="6654879"/>
            <a:ext cx="950594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026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50481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102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BAB2-A69D-4033-B2FE-2199B4E170F0}" type="datetimeFigureOut">
              <a:rPr lang="ko-KR" altLang="en-US" smtClean="0"/>
              <a:t>2026-06-16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50A2C-132B-4EBE-B941-A15BA3EF419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3989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4"/>
            <a:ext cx="8420100" cy="2387600"/>
          </a:xfrm>
        </p:spPr>
        <p:txBody>
          <a:bodyPr anchor="b"/>
          <a:lstStyle>
            <a:lvl1pPr algn="ctr">
              <a:defRPr sz="599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1" y="3602039"/>
            <a:ext cx="7429500" cy="1655762"/>
          </a:xfrm>
        </p:spPr>
        <p:txBody>
          <a:bodyPr/>
          <a:lstStyle>
            <a:lvl1pPr marL="0" indent="0" algn="ctr">
              <a:buNone/>
              <a:defRPr sz="2396"/>
            </a:lvl1pPr>
            <a:lvl2pPr marL="456468" indent="0" algn="ctr">
              <a:buNone/>
              <a:defRPr sz="1997"/>
            </a:lvl2pPr>
            <a:lvl3pPr marL="912937" indent="0" algn="ctr">
              <a:buNone/>
              <a:defRPr sz="1797"/>
            </a:lvl3pPr>
            <a:lvl4pPr marL="1369405" indent="0" algn="ctr">
              <a:buNone/>
              <a:defRPr sz="1597"/>
            </a:lvl4pPr>
            <a:lvl5pPr marL="1825874" indent="0" algn="ctr">
              <a:buNone/>
              <a:defRPr sz="1597"/>
            </a:lvl5pPr>
            <a:lvl6pPr marL="2282342" indent="0" algn="ctr">
              <a:buNone/>
              <a:defRPr sz="1597"/>
            </a:lvl6pPr>
            <a:lvl7pPr marL="2738811" indent="0" algn="ctr">
              <a:buNone/>
              <a:defRPr sz="1597"/>
            </a:lvl7pPr>
            <a:lvl8pPr marL="3195279" indent="0" algn="ctr">
              <a:buNone/>
              <a:defRPr sz="1597"/>
            </a:lvl8pPr>
            <a:lvl9pPr marL="3651748" indent="0" algn="ctr">
              <a:buNone/>
              <a:defRPr sz="1597"/>
            </a:lvl9pPr>
          </a:lstStyle>
          <a:p>
            <a:r>
              <a:rPr lang="ko-KR" alt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73B6B9FF-4F75-49DF-9480-1B1D50282FAC}" type="datetimeFigureOut">
              <a:rPr kumimoji="1" lang="ko-KR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HY헤드라인M" pitchFamily="18" charset="-127"/>
                <a:cs typeface="+mn-cs"/>
              </a:rPr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2026-06-16</a:t>
            </a:fld>
            <a:endParaRPr kumimoji="1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HY헤드라인M" pitchFamily="18" charset="-127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HY헤드라인M" pitchFamily="18" charset="-127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743E5186-5532-49BD-B0BB-890FA4486A86}" type="slidenum">
              <a:rPr kumimoji="1" lang="ko-KR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HY헤드라인M" pitchFamily="18" charset="-127"/>
                <a:cs typeface="+mn-cs"/>
              </a:rPr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1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HY헤드라인M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6338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8"/>
            <a:ext cx="2311400" cy="365125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A454D2CC-7468-4913-B6F4-4079B2900689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HY헤드라인M" pitchFamily="18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HY헤드라인M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3709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7135" y="6633855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5731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0" r:id="rId3"/>
    <p:sldLayoutId id="2147483662" r:id="rId4"/>
    <p:sldLayoutId id="2147483678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3016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2.xml"/><Relationship Id="rId5" Type="http://schemas.openxmlformats.org/officeDocument/2006/relationships/slide" Target="slide8.xml"/><Relationship Id="rId4" Type="http://schemas.openxmlformats.org/officeDocument/2006/relationships/slide" Target="slide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slide" Target="slide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slide" Target="slide6.xml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Relationship Id="rId9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13" Type="http://schemas.openxmlformats.org/officeDocument/2006/relationships/chart" Target="../charts/chart11.xml"/><Relationship Id="rId3" Type="http://schemas.openxmlformats.org/officeDocument/2006/relationships/slide" Target="slide6.xml"/><Relationship Id="rId7" Type="http://schemas.openxmlformats.org/officeDocument/2006/relationships/slide" Target="slide17.xml"/><Relationship Id="rId12" Type="http://schemas.openxmlformats.org/officeDocument/2006/relationships/chart" Target="../charts/char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4.xml"/><Relationship Id="rId11" Type="http://schemas.openxmlformats.org/officeDocument/2006/relationships/chart" Target="../charts/chart9.xml"/><Relationship Id="rId5" Type="http://schemas.openxmlformats.org/officeDocument/2006/relationships/slide" Target="slide15.xml"/><Relationship Id="rId10" Type="http://schemas.openxmlformats.org/officeDocument/2006/relationships/slide" Target="slide19.xml"/><Relationship Id="rId4" Type="http://schemas.openxmlformats.org/officeDocument/2006/relationships/slide" Target="slide13.xml"/><Relationship Id="rId9" Type="http://schemas.openxmlformats.org/officeDocument/2006/relationships/slide" Target="slide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slide" Target="slide12.xml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slide" Target="slide6.xml"/><Relationship Id="rId7" Type="http://schemas.openxmlformats.org/officeDocument/2006/relationships/slide" Target="slide2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4.xml"/><Relationship Id="rId5" Type="http://schemas.openxmlformats.org/officeDocument/2006/relationships/slide" Target="slide22.xml"/><Relationship Id="rId4" Type="http://schemas.openxmlformats.org/officeDocument/2006/relationships/slide" Target="slide26.xml"/><Relationship Id="rId9" Type="http://schemas.openxmlformats.org/officeDocument/2006/relationships/slide" Target="slide3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image" Target="../media/image40.png"/><Relationship Id="rId7" Type="http://schemas.openxmlformats.org/officeDocument/2006/relationships/image" Target="../media/image44.jpe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jpeg"/><Relationship Id="rId11" Type="http://schemas.openxmlformats.org/officeDocument/2006/relationships/slide" Target="slide21.xml"/><Relationship Id="rId5" Type="http://schemas.openxmlformats.org/officeDocument/2006/relationships/image" Target="../media/image42.png"/><Relationship Id="rId10" Type="http://schemas.openxmlformats.org/officeDocument/2006/relationships/image" Target="../media/image47.jpeg"/><Relationship Id="rId4" Type="http://schemas.openxmlformats.org/officeDocument/2006/relationships/image" Target="../media/image41.png"/><Relationship Id="rId9" Type="http://schemas.openxmlformats.org/officeDocument/2006/relationships/image" Target="../media/image46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9.png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slide" Target="slide2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jpeg"/><Relationship Id="rId5" Type="http://schemas.openxmlformats.org/officeDocument/2006/relationships/image" Target="../media/image55.jpeg"/><Relationship Id="rId10" Type="http://schemas.openxmlformats.org/officeDocument/2006/relationships/slide" Target="slide21.xml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0.png"/><Relationship Id="rId7" Type="http://schemas.openxmlformats.org/officeDocument/2006/relationships/image" Target="../media/image6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5" Type="http://schemas.openxmlformats.org/officeDocument/2006/relationships/image" Target="../media/image160.png"/><Relationship Id="rId9" Type="http://schemas.openxmlformats.org/officeDocument/2006/relationships/slide" Target="slide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7" Type="http://schemas.openxmlformats.org/officeDocument/2006/relationships/slide" Target="slide2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jpeg"/><Relationship Id="rId3" Type="http://schemas.openxmlformats.org/officeDocument/2006/relationships/image" Target="../media/image76.png"/><Relationship Id="rId7" Type="http://schemas.openxmlformats.org/officeDocument/2006/relationships/image" Target="../media/image7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0.png"/><Relationship Id="rId4" Type="http://schemas.openxmlformats.org/officeDocument/2006/relationships/image" Target="../media/image77.png"/><Relationship Id="rId9" Type="http://schemas.openxmlformats.org/officeDocument/2006/relationships/slide" Target="slide2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eg"/><Relationship Id="rId13" Type="http://schemas.openxmlformats.org/officeDocument/2006/relationships/slide" Target="slide21.xml"/><Relationship Id="rId3" Type="http://schemas.openxmlformats.org/officeDocument/2006/relationships/image" Target="../media/image80.png"/><Relationship Id="rId7" Type="http://schemas.openxmlformats.org/officeDocument/2006/relationships/image" Target="../media/image82.jpe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.jpeg"/><Relationship Id="rId11" Type="http://schemas.openxmlformats.org/officeDocument/2006/relationships/image" Target="../media/image86.png"/><Relationship Id="rId5" Type="http://schemas.openxmlformats.org/officeDocument/2006/relationships/image" Target="../media/image320.png"/><Relationship Id="rId10" Type="http://schemas.openxmlformats.org/officeDocument/2006/relationships/image" Target="../media/image85.jpeg"/><Relationship Id="rId9" Type="http://schemas.openxmlformats.org/officeDocument/2006/relationships/image" Target="../media/image84.jpe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chart" Target="../charts/chart12.xml"/><Relationship Id="rId3" Type="http://schemas.openxmlformats.org/officeDocument/2006/relationships/image" Target="../media/image88.jpeg"/><Relationship Id="rId7" Type="http://schemas.openxmlformats.org/officeDocument/2006/relationships/image" Target="../media/image92.png"/><Relationship Id="rId12" Type="http://schemas.openxmlformats.org/officeDocument/2006/relationships/image" Target="../media/image9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1.png"/><Relationship Id="rId11" Type="http://schemas.openxmlformats.org/officeDocument/2006/relationships/image" Target="../media/image580.png"/><Relationship Id="rId5" Type="http://schemas.openxmlformats.org/officeDocument/2006/relationships/image" Target="../media/image90.png"/><Relationship Id="rId4" Type="http://schemas.openxmlformats.org/officeDocument/2006/relationships/image" Target="../media/image89.jpeg"/><Relationship Id="rId14" Type="http://schemas.openxmlformats.org/officeDocument/2006/relationships/slide" Target="slide2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35.xml"/><Relationship Id="rId13" Type="http://schemas.openxmlformats.org/officeDocument/2006/relationships/slide" Target="slide36.xml"/><Relationship Id="rId18" Type="http://schemas.openxmlformats.org/officeDocument/2006/relationships/image" Target="../media/image103.png"/><Relationship Id="rId3" Type="http://schemas.openxmlformats.org/officeDocument/2006/relationships/slide" Target="slide6.xml"/><Relationship Id="rId7" Type="http://schemas.openxmlformats.org/officeDocument/2006/relationships/slide" Target="slide34.xml"/><Relationship Id="rId12" Type="http://schemas.openxmlformats.org/officeDocument/2006/relationships/image" Target="../media/image99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5.png"/><Relationship Id="rId11" Type="http://schemas.openxmlformats.org/officeDocument/2006/relationships/image" Target="../media/image98.png"/><Relationship Id="rId5" Type="http://schemas.openxmlformats.org/officeDocument/2006/relationships/image" Target="../media/image94.png"/><Relationship Id="rId15" Type="http://schemas.openxmlformats.org/officeDocument/2006/relationships/image" Target="../media/image100.png"/><Relationship Id="rId10" Type="http://schemas.openxmlformats.org/officeDocument/2006/relationships/image" Target="../media/image97.png"/><Relationship Id="rId4" Type="http://schemas.openxmlformats.org/officeDocument/2006/relationships/slide" Target="slide33.xml"/><Relationship Id="rId9" Type="http://schemas.openxmlformats.org/officeDocument/2006/relationships/image" Target="../media/image96.png"/><Relationship Id="rId14" Type="http://schemas.openxmlformats.org/officeDocument/2006/relationships/slide" Target="slide3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2.xml"/><Relationship Id="rId5" Type="http://schemas.openxmlformats.org/officeDocument/2006/relationships/image" Target="../media/image43.jpeg"/><Relationship Id="rId4" Type="http://schemas.openxmlformats.org/officeDocument/2006/relationships/image" Target="../media/image10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933757"/>
              </p:ext>
            </p:extLst>
          </p:nvPr>
        </p:nvGraphicFramePr>
        <p:xfrm>
          <a:off x="757142" y="4256541"/>
          <a:ext cx="8680771" cy="1188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8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9950">
                  <a:extLst>
                    <a:ext uri="{9D8B030D-6E8A-4147-A177-3AD203B41FA5}">
                      <a16:colId xmlns:a16="http://schemas.microsoft.com/office/drawing/2014/main" val="1093654615"/>
                    </a:ext>
                  </a:extLst>
                </a:gridCol>
              </a:tblGrid>
              <a:tr h="31878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3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일정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시간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3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논의 내용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3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 부문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3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발표자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787">
                <a:tc>
                  <a:txBody>
                    <a:bodyPr/>
                    <a:lstStyle/>
                    <a:p>
                      <a:pPr marL="0" marR="0" lvl="0" indent="0" algn="ctr" defTabSz="954088" rtl="0" eaLnBrk="0" fontAlgn="base" latinLnBrk="1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ko-KR" sz="1200" b="1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08:00 ~ 09:00</a:t>
                      </a:r>
                      <a:br>
                        <a:rPr kumimoji="0" lang="en-US" altLang="ko-KR" sz="1200" b="1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0" lang="en-US" altLang="ko-KR" sz="1200" b="1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(</a:t>
                      </a:r>
                      <a:r>
                        <a:rPr kumimoji="0" lang="ko-KR" altLang="en-US" sz="1200" b="1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한국</a:t>
                      </a:r>
                      <a:r>
                        <a:rPr kumimoji="0" lang="en-US" altLang="ko-KR" sz="1200" b="1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)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97500" marR="975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60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9207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3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3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모듈</a:t>
                      </a:r>
                      <a:r>
                        <a:rPr kumimoji="1" lang="en-US" altLang="ko-KR" sz="13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3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팩</a:t>
                      </a:r>
                      <a:r>
                        <a:rPr kumimoji="1" lang="en-US" altLang="ko-KR" sz="13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_DX </a:t>
                      </a:r>
                      <a:r>
                        <a:rPr kumimoji="1" lang="ko-KR" altLang="en-US" sz="13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완료 보고</a:t>
                      </a:r>
                      <a:br>
                        <a:rPr kumimoji="1" lang="en-US" altLang="ko-KR" sz="13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2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’26</a:t>
                      </a:r>
                      <a:r>
                        <a:rPr kumimoji="1" lang="ko-KR" altLang="en-US" sz="12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kumimoji="1" lang="en-US" altLang="ko-KR" sz="12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 </a:t>
                      </a:r>
                      <a:r>
                        <a:rPr kumimoji="1" lang="ko-KR" altLang="en-US" sz="12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추진 결과 및 활동 보고</a:t>
                      </a:r>
                      <a:endParaRPr kumimoji="1" lang="ko-KR" altLang="en-US" sz="1200" b="1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ESMI.Module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담당</a:t>
                      </a:r>
                      <a:endParaRPr kumimoji="0" lang="en-US" altLang="ko-KR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300" b="1" kern="120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하정호 님</a:t>
                      </a:r>
                      <a:endParaRPr lang="en-US" altLang="ko-KR" sz="1300" b="1" kern="1200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560511" y="2517336"/>
            <a:ext cx="9345489" cy="123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54088" rtl="0" eaLnBrk="0" fontAlgn="base" latinLnBrk="1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24000" algn="l"/>
              </a:tabLst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3.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참석 대상  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 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한국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	  CPO      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제조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DX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그룹장        자동보정담당        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FDC DX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담당        생산기획담당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54088" rtl="0" eaLnBrk="0" fontAlgn="base" latinLnBrk="1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24000" algn="l"/>
              </a:tabLst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54088" rtl="0" eaLnBrk="0" fontAlgn="base" latinLnBrk="1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24000" algn="l"/>
              </a:tabLst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                              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북미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	 ESMI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법인장       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ESMI.Module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담당         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ES</a:t>
            </a:r>
            <a:r>
              <a:rPr kumimoji="0"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OT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.Module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담당         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ESHD.Module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담당</a:t>
            </a:r>
            <a:b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3175553" y="504808"/>
            <a:ext cx="3549282" cy="461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397" tIns="45699" rIns="91397" bIns="45699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DX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과제 완료보고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모듈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팩</a:t>
            </a:r>
            <a:r>
              <a:rPr kumimoji="0" lang="en-US" altLang="ko-KR" sz="2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]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Line 22"/>
          <p:cNvSpPr>
            <a:spLocks noChangeShapeType="1"/>
          </p:cNvSpPr>
          <p:nvPr/>
        </p:nvSpPr>
        <p:spPr bwMode="auto">
          <a:xfrm flipV="1">
            <a:off x="3152823" y="976924"/>
            <a:ext cx="3572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05" tIns="45703" rIns="91405" bIns="45703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7" name="Text Box 3"/>
          <p:cNvSpPr txBox="1">
            <a:spLocks noChangeArrowheads="1"/>
          </p:cNvSpPr>
          <p:nvPr/>
        </p:nvSpPr>
        <p:spPr bwMode="auto">
          <a:xfrm>
            <a:off x="560511" y="1445506"/>
            <a:ext cx="5603384" cy="288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54088" rtl="0" eaLnBrk="0" fontAlgn="base" latinLnBrk="1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일         시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	: [</a:t>
            </a:r>
            <a:r>
              <a:rPr kumimoji="0" lang="ko-KR" altLang="en-US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한국</a:t>
            </a:r>
            <a:r>
              <a:rPr kumimoji="0" lang="en-US" altLang="ko-KR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] 6</a:t>
            </a:r>
            <a:r>
              <a:rPr kumimoji="0" lang="ko-KR" altLang="en-US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월 </a:t>
            </a:r>
            <a:r>
              <a:rPr kumimoji="0" lang="en-US" altLang="ko-KR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9</a:t>
            </a:r>
            <a:r>
              <a:rPr kumimoji="0" lang="ko-KR" altLang="en-US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일</a:t>
            </a:r>
            <a:r>
              <a:rPr kumimoji="0" lang="en-US" altLang="ko-KR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0" lang="ko-KR" altLang="en-US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화</a:t>
            </a:r>
            <a:r>
              <a:rPr kumimoji="0" lang="en-US" altLang="ko-KR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 08:00 ~ 09:00,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[</a:t>
            </a:r>
            <a:r>
              <a:rPr kumimoji="0" lang="ko-KR" altLang="en-US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북미</a:t>
            </a:r>
            <a:r>
              <a:rPr kumimoji="0" lang="en-US" altLang="ko-KR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] 6</a:t>
            </a:r>
            <a:r>
              <a:rPr kumimoji="0" lang="ko-KR" altLang="en-US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월 </a:t>
            </a:r>
            <a:r>
              <a:rPr kumimoji="0" lang="en-US" altLang="ko-KR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8</a:t>
            </a:r>
            <a:r>
              <a:rPr kumimoji="0" lang="ko-KR" altLang="en-US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일</a:t>
            </a:r>
            <a:r>
              <a:rPr kumimoji="0" lang="en-US" altLang="ko-KR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0" lang="ko-KR" altLang="en-US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월</a:t>
            </a:r>
            <a:r>
              <a:rPr kumimoji="0" lang="en-US" altLang="ko-KR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 19:00 ~ 20:00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560511" y="2019318"/>
            <a:ext cx="5237751" cy="288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54088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54088" rtl="0" eaLnBrk="0" fontAlgn="base" latinLnBrk="1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장         소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	: </a:t>
            </a:r>
            <a:r>
              <a:rPr kumimoji="0"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OC4</a:t>
            </a:r>
            <a:r>
              <a:rPr kumimoji="0"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동 대회의실 </a:t>
            </a:r>
            <a:r>
              <a:rPr kumimoji="0"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화상 회의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560511" y="3927076"/>
            <a:ext cx="771099" cy="288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defTabSz="955675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55675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55675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55675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55675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55675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4. Agenda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007437" y="2764865"/>
            <a:ext cx="6687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최석원 님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3" name="Rectangle 36"/>
          <p:cNvSpPr>
            <a:spLocks noChangeArrowheads="1"/>
          </p:cNvSpPr>
          <p:nvPr/>
        </p:nvSpPr>
        <p:spPr bwMode="auto">
          <a:xfrm>
            <a:off x="3661562" y="2086447"/>
            <a:ext cx="213670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회의번호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2519 543 4608 (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비밀번호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 3347)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F61058-AF29-844F-612D-9A504C8100A6}"/>
              </a:ext>
            </a:extLst>
          </p:cNvPr>
          <p:cNvSpPr/>
          <p:nvPr/>
        </p:nvSpPr>
        <p:spPr>
          <a:xfrm>
            <a:off x="3152823" y="2764865"/>
            <a:ext cx="6687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김민수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님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DBF52F6-2799-0E80-98FD-B26027BDFEA9}"/>
              </a:ext>
            </a:extLst>
          </p:cNvPr>
          <p:cNvSpPr/>
          <p:nvPr/>
        </p:nvSpPr>
        <p:spPr>
          <a:xfrm>
            <a:off x="5724387" y="2764865"/>
            <a:ext cx="6687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민경춘 님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6745FD-24F6-304C-9A73-7824B3EB7292}"/>
              </a:ext>
            </a:extLst>
          </p:cNvPr>
          <p:cNvSpPr/>
          <p:nvPr/>
        </p:nvSpPr>
        <p:spPr>
          <a:xfrm>
            <a:off x="3594870" y="3445795"/>
            <a:ext cx="6687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하정호 님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D1F35D-E6CB-D776-1602-A14D2D746682}"/>
              </a:ext>
            </a:extLst>
          </p:cNvPr>
          <p:cNvSpPr/>
          <p:nvPr/>
        </p:nvSpPr>
        <p:spPr>
          <a:xfrm>
            <a:off x="4409134" y="2764865"/>
            <a:ext cx="6687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송무강 님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2E871D-8A6A-C489-ECBA-0077D4BF79D6}"/>
              </a:ext>
            </a:extLst>
          </p:cNvPr>
          <p:cNvSpPr/>
          <p:nvPr/>
        </p:nvSpPr>
        <p:spPr>
          <a:xfrm>
            <a:off x="6984139" y="2764865"/>
            <a:ext cx="6687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장수욱 님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64798A-68DB-AF2E-7CB4-954782CD9A2C}"/>
              </a:ext>
            </a:extLst>
          </p:cNvPr>
          <p:cNvSpPr/>
          <p:nvPr/>
        </p:nvSpPr>
        <p:spPr>
          <a:xfrm>
            <a:off x="5266275" y="3445795"/>
            <a:ext cx="6687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박헌병 님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A5A3ED4-3EC1-E286-90E3-F8F08E02082F}"/>
              </a:ext>
            </a:extLst>
          </p:cNvPr>
          <p:cNvSpPr/>
          <p:nvPr/>
        </p:nvSpPr>
        <p:spPr>
          <a:xfrm>
            <a:off x="6901016" y="3445795"/>
            <a:ext cx="6687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이강일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님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E01300-E293-D15C-AEAB-9BA63F929954}"/>
              </a:ext>
            </a:extLst>
          </p:cNvPr>
          <p:cNvSpPr/>
          <p:nvPr/>
        </p:nvSpPr>
        <p:spPr>
          <a:xfrm>
            <a:off x="2238305" y="3445795"/>
            <a:ext cx="6687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최대식 님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5555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FD469FA4-5D4F-4C99-A54E-23C5C3499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5540"/>
            <a:ext cx="9546993" cy="6092866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308AE987-1CF7-484C-95E4-2C5DC385A3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705" y="473869"/>
            <a:ext cx="2511471" cy="386380"/>
          </a:xfrm>
          <a:prstGeom prst="rect">
            <a:avLst/>
          </a:prstGeom>
        </p:spPr>
      </p:pic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8342011B-A266-4099-805F-3F1DF14323AC}"/>
              </a:ext>
            </a:extLst>
          </p:cNvPr>
          <p:cNvSpPr txBox="1">
            <a:spLocks/>
          </p:cNvSpPr>
          <p:nvPr/>
        </p:nvSpPr>
        <p:spPr>
          <a:xfrm>
            <a:off x="2796502" y="5748624"/>
            <a:ext cx="4305633" cy="307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MI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생산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추진팀｜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2026. 06. 09 (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화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4936FD7-A094-3500-29CD-4B096D228471}"/>
              </a:ext>
            </a:extLst>
          </p:cNvPr>
          <p:cNvCxnSpPr/>
          <p:nvPr/>
        </p:nvCxnSpPr>
        <p:spPr>
          <a:xfrm>
            <a:off x="3172810" y="2680226"/>
            <a:ext cx="35812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6ACCAB59-6883-E247-4738-76B83F4EAA02}"/>
              </a:ext>
            </a:extLst>
          </p:cNvPr>
          <p:cNvSpPr txBox="1">
            <a:spLocks noChangeArrowheads="1"/>
          </p:cNvSpPr>
          <p:nvPr/>
        </p:nvSpPr>
        <p:spPr>
          <a:xfrm>
            <a:off x="3540023" y="3555086"/>
            <a:ext cx="2864070" cy="16373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0.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진행 개요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과제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Team Chart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2. ESS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모듈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팩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DX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과제 현황</a:t>
            </a:r>
            <a:b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- 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자동보정 과제 완료 보고</a:t>
            </a:r>
            <a:b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- </a:t>
            </a: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FDC 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과제 완료 보고</a:t>
            </a:r>
            <a:b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- </a:t>
            </a:r>
            <a:r>
              <a:rPr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과제 관리 지표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3.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과제 확산전개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(ESOT)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로드맵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F8D8D23-B403-8117-C572-02EE50204AEF}"/>
              </a:ext>
            </a:extLst>
          </p:cNvPr>
          <p:cNvSpPr/>
          <p:nvPr/>
        </p:nvSpPr>
        <p:spPr>
          <a:xfrm>
            <a:off x="3289615" y="3429000"/>
            <a:ext cx="3326770" cy="1858883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16DF3E68-2DFB-863B-FC56-8E8E6C9568D1}"/>
              </a:ext>
            </a:extLst>
          </p:cNvPr>
          <p:cNvSpPr txBox="1">
            <a:spLocks noChangeArrowheads="1"/>
          </p:cNvSpPr>
          <p:nvPr/>
        </p:nvSpPr>
        <p:spPr>
          <a:xfrm>
            <a:off x="4612472" y="3321278"/>
            <a:ext cx="681056" cy="21544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[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목 차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93647D-8D1B-E6D1-308F-477BA3415931}"/>
              </a:ext>
            </a:extLst>
          </p:cNvPr>
          <p:cNvSpPr txBox="1"/>
          <p:nvPr/>
        </p:nvSpPr>
        <p:spPr>
          <a:xfrm>
            <a:off x="-12700" y="2087398"/>
            <a:ext cx="9918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DX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과제 </a:t>
            </a:r>
            <a:r>
              <a:rPr lang="ko-KR" altLang="en-US" sz="3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완료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보고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E1349C-D64B-745C-F236-A0B1BF41E947}"/>
              </a:ext>
            </a:extLst>
          </p:cNvPr>
          <p:cNvSpPr txBox="1"/>
          <p:nvPr/>
        </p:nvSpPr>
        <p:spPr>
          <a:xfrm>
            <a:off x="4088" y="2740858"/>
            <a:ext cx="991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</a:t>
            </a:r>
            <a:r>
              <a:rPr lang="en-US" altLang="ko-KR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MI</a:t>
            </a:r>
            <a:r>
              <a:rPr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ESS</a:t>
            </a:r>
            <a:r>
              <a:rPr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모듈</a:t>
            </a:r>
            <a:r>
              <a:rPr lang="en-US" altLang="ko-KR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팩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직행률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&amp;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가동률 개선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]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958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보고에 앞서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2382B-B5A0-6096-BE30-3584F05E984E}"/>
              </a:ext>
            </a:extLst>
          </p:cNvPr>
          <p:cNvSpPr txBox="1"/>
          <p:nvPr/>
        </p:nvSpPr>
        <p:spPr>
          <a:xfrm>
            <a:off x="272480" y="1412776"/>
            <a:ext cx="94330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이번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운영을 통해서 여러 가지 얻은 것이 많고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성과가 있었습니다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가장 큰 성과는 모듈 주재원 및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Eng’r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들이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‘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’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‘FDC’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 정말 필요한 시스템이라 느끼고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</a:p>
          <a:p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진행을 할 수록 법인 인원들이 추가 아이템을 검토하고 제안하는 것이 많아졌습니다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- </a:t>
            </a:r>
            <a:r>
              <a:rPr lang="ko-KR" altLang="en-US" sz="14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같이 참여한 본사 담당자들도 </a:t>
            </a:r>
            <a:r>
              <a:rPr lang="en-US" altLang="ko-KR" sz="14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ESS </a:t>
            </a:r>
            <a:r>
              <a:rPr lang="ko-KR" altLang="en-US" sz="14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모듈</a:t>
            </a:r>
            <a:r>
              <a:rPr lang="en-US" altLang="ko-KR" sz="14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4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팩 공정에 대한 스터디를 많이 하였고</a:t>
            </a:r>
            <a:r>
              <a:rPr lang="en-US" altLang="ko-KR" sz="14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</a:p>
          <a:p>
            <a:r>
              <a:rPr lang="en-US" altLang="ko-KR" sz="14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</a:t>
            </a:r>
            <a:r>
              <a:rPr lang="ko-KR" altLang="en-US" sz="14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 인원들 또한 시스템을 이해하기 위해 노력한 결과라 생각됩니다</a:t>
            </a:r>
            <a:r>
              <a:rPr lang="en-US" altLang="ko-KR" sz="14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‘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’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잘 활용한다면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 및 설비 설계 시 놓쳤던 항목을 적은 비용으로 보완할 수 있음을 확인하였고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 부분은 본사 제품 개발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개발 인원들에게 전파되면 좋을 것 같습니다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b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‘FDC’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는 시스템 셋업만 되어 있는 상태였으나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DX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운영 및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본사 출장자를 통해서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제대로 활용 할 수 있는 기반을 만들었고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신규 개선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Item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발굴하여 적용 중에 있습니다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b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b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앞으로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‘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’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‘FDC’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등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운영에 대해 모듈 내부적으로 활용도를 올리고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운영의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Ownership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갖고 필요한 사항은 적극적으로 의견을 내어 진행하도록 하겠습니다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en-US" altLang="ko-KR" sz="1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40F06-598B-9DEE-7355-B533C3DADC65}"/>
              </a:ext>
            </a:extLst>
          </p:cNvPr>
          <p:cNvSpPr txBox="1"/>
          <p:nvPr/>
        </p:nvSpPr>
        <p:spPr>
          <a:xfrm>
            <a:off x="1307487" y="3330097"/>
            <a:ext cx="30909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Pack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제품기술팀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Pack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설비기술팀에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내용 공유함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52D9E6-658B-F8FB-35FD-ACAEA082AEF9}"/>
              </a:ext>
            </a:extLst>
          </p:cNvPr>
          <p:cNvSpPr txBox="1"/>
          <p:nvPr/>
        </p:nvSpPr>
        <p:spPr>
          <a:xfrm>
            <a:off x="3728864" y="4298554"/>
            <a:ext cx="28809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BFA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체결기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피더기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리드용접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Gap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 감지 등</a:t>
            </a:r>
          </a:p>
        </p:txBody>
      </p:sp>
    </p:spTree>
    <p:extLst>
      <p:ext uri="{BB962C8B-B14F-4D97-AF65-F5344CB8AC3E}">
        <p14:creationId xmlns:p14="http://schemas.microsoft.com/office/powerpoint/2010/main" val="3091781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189765" y="170929"/>
            <a:ext cx="9516209" cy="369332"/>
          </a:xfrm>
        </p:spPr>
        <p:txBody>
          <a:bodyPr/>
          <a:lstStyle/>
          <a:p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0.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개요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1CF3DD-27E1-4EB6-B3BB-E8F08B8903D6}"/>
              </a:ext>
            </a:extLst>
          </p:cNvPr>
          <p:cNvSpPr txBox="1"/>
          <p:nvPr/>
        </p:nvSpPr>
        <p:spPr>
          <a:xfrm>
            <a:off x="196281" y="620688"/>
            <a:ext cx="9581255" cy="5892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ESS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모듈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팩은 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ESMI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를 대표법인으로 하여 직행불량률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생산가동률을 개선하고 유지 관리하기 위한 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과제를 도출하였습니다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b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’26.5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중 기능 검증 및 과제 적용 후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성과 검증 모니터링 하고 있으며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ESOT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는 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’26.8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월까지 확산 전개 진행하고자 합니다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BFA9F-B840-F810-1F80-149C08FC2EC7}"/>
              </a:ext>
            </a:extLst>
          </p:cNvPr>
          <p:cNvSpPr txBox="1"/>
          <p:nvPr/>
        </p:nvSpPr>
        <p:spPr>
          <a:xfrm>
            <a:off x="989148" y="1432060"/>
            <a:ext cx="8809854" cy="7232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88900" marR="0" lvl="0" indent="-88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ESS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모듈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팩은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’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26.1/9 DX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과제 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Kick-off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시작으로 매주 법인과 본사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DX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DX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추진팀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간 정기 협의체를 진행하였습니다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정기 협의체를 통해 과제 선정 및 진행 방향 수립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유효 인자 및 데이터 분석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Logic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및 검증 등 과제 적용을 위해 논의하였고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’26.5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출장 대응하여 전사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/FDC)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적용 및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항목 추가 발굴 진행하였습니다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FC05F-A65C-0D68-7883-E49695D39A83}"/>
              </a:ext>
            </a:extLst>
          </p:cNvPr>
          <p:cNvSpPr txBox="1"/>
          <p:nvPr/>
        </p:nvSpPr>
        <p:spPr>
          <a:xfrm>
            <a:off x="989148" y="2377506"/>
            <a:ext cx="8809854" cy="53860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88900" marR="0" lvl="0" indent="-88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직행률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97%,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생산가동률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90%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를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Target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으로 사업계획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직행률 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94.5%,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생산가동률 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85.0%_6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대비 초과한 목표로 수립하였습니다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세부 항목별 개선 목표를 아래와 같이 수립하였고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5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실적 기준 직행률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98.2%,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생산가동률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90.2%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달성하였습니다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F1383B-089F-96A4-BD31-B9AAC926C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267810"/>
              </p:ext>
            </p:extLst>
          </p:nvPr>
        </p:nvGraphicFramePr>
        <p:xfrm>
          <a:off x="1361564" y="2915978"/>
          <a:ext cx="5823683" cy="11752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0864">
                  <a:extLst>
                    <a:ext uri="{9D8B030D-6E8A-4147-A177-3AD203B41FA5}">
                      <a16:colId xmlns:a16="http://schemas.microsoft.com/office/drawing/2014/main" val="2183134174"/>
                    </a:ext>
                  </a:extLst>
                </a:gridCol>
                <a:gridCol w="1050864">
                  <a:extLst>
                    <a:ext uri="{9D8B030D-6E8A-4147-A177-3AD203B41FA5}">
                      <a16:colId xmlns:a16="http://schemas.microsoft.com/office/drawing/2014/main" val="15790294"/>
                    </a:ext>
                  </a:extLst>
                </a:gridCol>
                <a:gridCol w="1332257">
                  <a:extLst>
                    <a:ext uri="{9D8B030D-6E8A-4147-A177-3AD203B41FA5}">
                      <a16:colId xmlns:a16="http://schemas.microsoft.com/office/drawing/2014/main" val="1062414256"/>
                    </a:ext>
                  </a:extLst>
                </a:gridCol>
                <a:gridCol w="780862">
                  <a:extLst>
                    <a:ext uri="{9D8B030D-6E8A-4147-A177-3AD203B41FA5}">
                      <a16:colId xmlns:a16="http://schemas.microsoft.com/office/drawing/2014/main" val="120357950"/>
                    </a:ext>
                  </a:extLst>
                </a:gridCol>
                <a:gridCol w="1608836">
                  <a:extLst>
                    <a:ext uri="{9D8B030D-6E8A-4147-A177-3AD203B41FA5}">
                      <a16:colId xmlns:a16="http://schemas.microsoft.com/office/drawing/2014/main" val="1886785178"/>
                    </a:ext>
                  </a:extLst>
                </a:gridCol>
              </a:tblGrid>
              <a:tr h="235045">
                <a:tc gridSpan="2">
                  <a:txBody>
                    <a:bodyPr/>
                    <a:lstStyle/>
                    <a:p>
                      <a:pPr marL="0" indent="0"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목표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실적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146516"/>
                  </a:ext>
                </a:extLst>
              </a:tr>
              <a:tr h="235045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직행불량률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전폭 상한 불량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0.66%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0.1%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(85%p)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352131"/>
                  </a:ext>
                </a:extLst>
              </a:tr>
              <a:tr h="23504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불량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0.35%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0.2%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(43%p)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BFA &amp; Metal Strap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987917"/>
                  </a:ext>
                </a:extLst>
              </a:tr>
              <a:tr h="23504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가성 불량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0.61%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0.1%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(84%p)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*0.18%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Ground Bonding &amp; Leak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206869"/>
                  </a:ext>
                </a:extLst>
              </a:tr>
              <a:tr h="2350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생산가동률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 부동률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1.91%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0.5%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(74%p)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02512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E2D12A0-C150-A36F-0822-3AA841658BD8}"/>
              </a:ext>
            </a:extLst>
          </p:cNvPr>
          <p:cNvSpPr txBox="1"/>
          <p:nvPr/>
        </p:nvSpPr>
        <p:spPr>
          <a:xfrm>
            <a:off x="989148" y="4340774"/>
            <a:ext cx="8809854" cy="184665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88900" marR="0" lvl="0" indent="-88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ESMI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과제 모니터링 및 성과 검증</a:t>
            </a:r>
            <a:endParaRPr lang="en-US" altLang="ko-KR" sz="12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양산 적용 후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Side Effect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점검 및 안정화 모니터링</a:t>
            </a:r>
            <a:endParaRPr lang="en-US" altLang="ko-KR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과제 성과 검증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선정된 관리 지표 기준 다빈치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W/F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구성을 통해 공정 산포 및 이상 여부 검증</a:t>
            </a:r>
            <a:endParaRPr lang="en-US" altLang="ko-KR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과제 고도화 및 과제 추가 발굴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endParaRPr lang="en-US" altLang="ko-KR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ESOT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확산 전개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 전개 위한 사전 준비 진행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APC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및 제작 사양 논의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FDC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관련 개소 데이터 연동 및 정합성 검증 등</a:t>
            </a:r>
            <a:endParaRPr lang="en-US" altLang="ko-KR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 - ’26.8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월 확산 전개 및 검증 방안 수립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4EE7A7-1CAA-3BBC-673F-8BE8314AC431}"/>
              </a:ext>
            </a:extLst>
          </p:cNvPr>
          <p:cNvSpPr/>
          <p:nvPr/>
        </p:nvSpPr>
        <p:spPr>
          <a:xfrm>
            <a:off x="273818" y="1426223"/>
            <a:ext cx="695647" cy="7425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개요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8C063A-2082-5D7B-FB70-434A01037085}"/>
              </a:ext>
            </a:extLst>
          </p:cNvPr>
          <p:cNvSpPr/>
          <p:nvPr/>
        </p:nvSpPr>
        <p:spPr>
          <a:xfrm>
            <a:off x="273818" y="2403046"/>
            <a:ext cx="695647" cy="174603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 및 현황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3FB7AC-6618-6E11-E5C7-A16E4CD55426}"/>
              </a:ext>
            </a:extLst>
          </p:cNvPr>
          <p:cNvSpPr/>
          <p:nvPr/>
        </p:nvSpPr>
        <p:spPr>
          <a:xfrm>
            <a:off x="273818" y="4366314"/>
            <a:ext cx="695647" cy="183904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향후 계획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6A49EC-7AAA-3B08-F443-C8BAF714CEA8}"/>
              </a:ext>
            </a:extLst>
          </p:cNvPr>
          <p:cNvSpPr/>
          <p:nvPr/>
        </p:nvSpPr>
        <p:spPr>
          <a:xfrm>
            <a:off x="7104058" y="3620459"/>
            <a:ext cx="2745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000" lvl="0" fontAlgn="ctr">
              <a:defRPr/>
            </a:pP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Ground Bonding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검사기 통신 이슈로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일시 불량 증가</a:t>
            </a:r>
            <a:b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(3~4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0.05%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미만 수준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665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189765" y="170929"/>
            <a:ext cx="9516209" cy="369332"/>
          </a:xfrm>
        </p:spPr>
        <p:txBody>
          <a:bodyPr/>
          <a:lstStyle/>
          <a:p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Team Chart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8C13CB19-0E35-4D8F-AB9D-5B23851DE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280392"/>
              </p:ext>
            </p:extLst>
          </p:nvPr>
        </p:nvGraphicFramePr>
        <p:xfrm>
          <a:off x="7609735" y="1729854"/>
          <a:ext cx="1800000" cy="778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76923">
                  <a:extLst>
                    <a:ext uri="{9D8B030D-6E8A-4147-A177-3AD203B41FA5}">
                      <a16:colId xmlns:a16="http://schemas.microsoft.com/office/drawing/2014/main" val="2183134174"/>
                    </a:ext>
                  </a:extLst>
                </a:gridCol>
                <a:gridCol w="623077">
                  <a:extLst>
                    <a:ext uri="{9D8B030D-6E8A-4147-A177-3AD203B41FA5}">
                      <a16:colId xmlns:a16="http://schemas.microsoft.com/office/drawing/2014/main" val="1062414256"/>
                    </a:ext>
                  </a:extLst>
                </a:gridCol>
              </a:tblGrid>
              <a:tr h="130436">
                <a:tc gridSpan="2">
                  <a:txBody>
                    <a:bodyPr/>
                    <a:lstStyle/>
                    <a:p>
                      <a:pPr marL="0" indent="0"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PM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937" marR="8937" marT="8937" marB="0" anchor="ctr"/>
                </a:tc>
                <a:extLst>
                  <a:ext uri="{0D108BD9-81ED-4DB2-BD59-A6C34878D82A}">
                    <a16:rowId xmlns:a16="http://schemas.microsoft.com/office/drawing/2014/main" val="2283146516"/>
                  </a:ext>
                </a:extLst>
              </a:tr>
              <a:tr h="130436">
                <a:tc rowSpan="2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추진팀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김태경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352131"/>
                  </a:ext>
                </a:extLst>
              </a:tr>
              <a:tr h="130436">
                <a:tc vMerge="1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조민규</a:t>
                      </a:r>
                      <a:b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출장 대응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760435"/>
                  </a:ext>
                </a:extLst>
              </a:tr>
            </a:tbl>
          </a:graphicData>
        </a:graphic>
      </p:graphicFrame>
      <p:sp>
        <p:nvSpPr>
          <p:cNvPr id="21" name="Rectangle 188">
            <a:extLst>
              <a:ext uri="{FF2B5EF4-FFF2-40B4-BE49-F238E27FC236}">
                <a16:creationId xmlns:a16="http://schemas.microsoft.com/office/drawing/2014/main" id="{DD8BD0CF-D1D1-45D7-8AC2-FFDDFFEB5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616" y="1521986"/>
            <a:ext cx="4897437" cy="28277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  <a:buFontTx/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Champion : MI 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하정호 담당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(ESS)</a:t>
            </a:r>
            <a:endParaRPr lang="ko-KR" altLang="en-US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2" name="Rectangle 188">
            <a:extLst>
              <a:ext uri="{FF2B5EF4-FFF2-40B4-BE49-F238E27FC236}">
                <a16:creationId xmlns:a16="http://schemas.microsoft.com/office/drawing/2014/main" id="{2ACCE791-207A-40DA-B2BE-03659F5D4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124" y="3460940"/>
            <a:ext cx="3662503" cy="288000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  <a:buFontTx/>
              <a:buNone/>
              <a:defRPr/>
            </a:pPr>
            <a:r>
              <a:rPr lang="en-US" altLang="ko-KR" sz="1200" dirty="0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CPO</a:t>
            </a:r>
          </a:p>
        </p:txBody>
      </p:sp>
      <p:cxnSp>
        <p:nvCxnSpPr>
          <p:cNvPr id="23" name="꺾인 연결선 7">
            <a:extLst>
              <a:ext uri="{FF2B5EF4-FFF2-40B4-BE49-F238E27FC236}">
                <a16:creationId xmlns:a16="http://schemas.microsoft.com/office/drawing/2014/main" id="{13E4AB53-EC86-4029-9494-81721EE5D94A}"/>
              </a:ext>
            </a:extLst>
          </p:cNvPr>
          <p:cNvCxnSpPr>
            <a:cxnSpLocks noChangeShapeType="1"/>
            <a:stCxn id="21" idx="2"/>
            <a:endCxn id="22" idx="0"/>
          </p:cNvCxnSpPr>
          <p:nvPr/>
        </p:nvCxnSpPr>
        <p:spPr bwMode="auto">
          <a:xfrm rot="5400000">
            <a:off x="2271764" y="1787369"/>
            <a:ext cx="1656184" cy="1690959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</p:spPr>
      </p:cxnSp>
      <p:cxnSp>
        <p:nvCxnSpPr>
          <p:cNvPr id="24" name="꺾인 연결선 13">
            <a:extLst>
              <a:ext uri="{FF2B5EF4-FFF2-40B4-BE49-F238E27FC236}">
                <a16:creationId xmlns:a16="http://schemas.microsoft.com/office/drawing/2014/main" id="{2312B5DC-BE71-4D44-9A61-D05A59E3529C}"/>
              </a:ext>
            </a:extLst>
          </p:cNvPr>
          <p:cNvCxnSpPr>
            <a:cxnSpLocks noChangeShapeType="1"/>
            <a:stCxn id="21" idx="2"/>
            <a:endCxn id="25" idx="0"/>
          </p:cNvCxnSpPr>
          <p:nvPr/>
        </p:nvCxnSpPr>
        <p:spPr bwMode="auto">
          <a:xfrm rot="16200000" flipH="1">
            <a:off x="3726077" y="2024013"/>
            <a:ext cx="1660575" cy="1222059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</p:spPr>
      </p:cxnSp>
      <p:sp>
        <p:nvSpPr>
          <p:cNvPr id="25" name="Rectangle 188">
            <a:extLst>
              <a:ext uri="{FF2B5EF4-FFF2-40B4-BE49-F238E27FC236}">
                <a16:creationId xmlns:a16="http://schemas.microsoft.com/office/drawing/2014/main" id="{59AF9F04-826D-4889-837F-F8388806E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2920" y="3465331"/>
            <a:ext cx="1868948" cy="288000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  <a:buFontTx/>
              <a:buNone/>
              <a:defRPr/>
            </a:pPr>
            <a:r>
              <a:rPr lang="ko-KR" altLang="en-US" sz="1200" dirty="0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제조</a:t>
            </a:r>
            <a:r>
              <a:rPr lang="en-US" altLang="ko-KR" sz="1200" dirty="0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DX</a:t>
            </a:r>
            <a:r>
              <a:rPr lang="ko-KR" altLang="en-US" sz="1200" dirty="0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그룹</a:t>
            </a:r>
            <a:endParaRPr lang="en-US" altLang="ko-KR" sz="1200" dirty="0">
              <a:solidFill>
                <a:srgbClr val="595959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03E0196B-A9DE-4876-BA80-3988D01E7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67407"/>
              </p:ext>
            </p:extLst>
          </p:nvPr>
        </p:nvGraphicFramePr>
        <p:xfrm>
          <a:off x="423125" y="3843882"/>
          <a:ext cx="1800001" cy="1425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8462">
                  <a:extLst>
                    <a:ext uri="{9D8B030D-6E8A-4147-A177-3AD203B41FA5}">
                      <a16:colId xmlns:a16="http://schemas.microsoft.com/office/drawing/2014/main" val="2183134174"/>
                    </a:ext>
                  </a:extLst>
                </a:gridCol>
                <a:gridCol w="588462">
                  <a:extLst>
                    <a:ext uri="{9D8B030D-6E8A-4147-A177-3AD203B41FA5}">
                      <a16:colId xmlns:a16="http://schemas.microsoft.com/office/drawing/2014/main" val="15790294"/>
                    </a:ext>
                  </a:extLst>
                </a:gridCol>
                <a:gridCol w="623077">
                  <a:extLst>
                    <a:ext uri="{9D8B030D-6E8A-4147-A177-3AD203B41FA5}">
                      <a16:colId xmlns:a16="http://schemas.microsoft.com/office/drawing/2014/main" val="1062414256"/>
                    </a:ext>
                  </a:extLst>
                </a:gridCol>
              </a:tblGrid>
              <a:tr h="156938">
                <a:tc gridSpan="3">
                  <a:txBody>
                    <a:bodyPr/>
                    <a:lstStyle/>
                    <a:p>
                      <a:pPr marL="36000"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대표 법인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937" marR="8937" marT="8937" marB="0" anchor="ctr"/>
                </a:tc>
                <a:extLst>
                  <a:ext uri="{0D108BD9-81ED-4DB2-BD59-A6C34878D82A}">
                    <a16:rowId xmlns:a16="http://schemas.microsoft.com/office/drawing/2014/main" val="2283146516"/>
                  </a:ext>
                </a:extLst>
              </a:tr>
              <a:tr h="156938">
                <a:tc rowSpan="6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ESMI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공정기술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이정진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352131"/>
                  </a:ext>
                </a:extLst>
              </a:tr>
              <a:tr h="1569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김갑형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256834"/>
                  </a:ext>
                </a:extLst>
              </a:tr>
              <a:tr h="1569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신우재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8975879"/>
                  </a:ext>
                </a:extLst>
              </a:tr>
              <a:tr h="1569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임상훈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32220"/>
                  </a:ext>
                </a:extLst>
              </a:tr>
              <a:tr h="1569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오민우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563127"/>
                  </a:ext>
                </a:extLst>
              </a:tr>
              <a:tr h="15693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설비기술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안수준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005571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E98C95CE-0656-463F-9943-0025089BB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044331"/>
              </p:ext>
            </p:extLst>
          </p:nvPr>
        </p:nvGraphicFramePr>
        <p:xfrm>
          <a:off x="4232920" y="3843882"/>
          <a:ext cx="1868947" cy="1724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45870">
                  <a:extLst>
                    <a:ext uri="{9D8B030D-6E8A-4147-A177-3AD203B41FA5}">
                      <a16:colId xmlns:a16="http://schemas.microsoft.com/office/drawing/2014/main" val="2183134174"/>
                    </a:ext>
                  </a:extLst>
                </a:gridCol>
                <a:gridCol w="623077">
                  <a:extLst>
                    <a:ext uri="{9D8B030D-6E8A-4147-A177-3AD203B41FA5}">
                      <a16:colId xmlns:a16="http://schemas.microsoft.com/office/drawing/2014/main" val="1062414256"/>
                    </a:ext>
                  </a:extLst>
                </a:gridCol>
              </a:tblGrid>
              <a:tr h="133807">
                <a:tc gridSpan="2">
                  <a:txBody>
                    <a:bodyPr/>
                    <a:lstStyle/>
                    <a:p>
                      <a:pPr marL="36000" algn="ctr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자동보정담당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937" marR="8937" marT="8937" marB="0" anchor="ctr"/>
                </a:tc>
                <a:extLst>
                  <a:ext uri="{0D108BD9-81ED-4DB2-BD59-A6C34878D82A}">
                    <a16:rowId xmlns:a16="http://schemas.microsoft.com/office/drawing/2014/main" val="2283146516"/>
                  </a:ext>
                </a:extLst>
              </a:tr>
              <a:tr h="133807">
                <a:tc rowSpan="2">
                  <a:txBody>
                    <a:bodyPr/>
                    <a:lstStyle/>
                    <a:p>
                      <a:pPr marL="36000"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자동보정선행개발팀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신재우</a:t>
                      </a:r>
                      <a:b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출장 대응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352131"/>
                  </a:ext>
                </a:extLst>
              </a:tr>
              <a:tr h="133807">
                <a:tc vMerge="1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조동현</a:t>
                      </a:r>
                      <a:b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출장 대응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970722"/>
                  </a:ext>
                </a:extLst>
              </a:tr>
              <a:tr h="133807">
                <a:tc gridSpan="2">
                  <a:txBody>
                    <a:bodyPr/>
                    <a:lstStyle/>
                    <a:p>
                      <a:pPr marL="36000"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DX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36000"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937" marR="8937" marT="8937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760435"/>
                  </a:ext>
                </a:extLst>
              </a:tr>
              <a:tr h="133807">
                <a:tc rowSpan="2">
                  <a:txBody>
                    <a:bodyPr/>
                    <a:lstStyle/>
                    <a:p>
                      <a:pPr marL="36000"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안찬수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296027"/>
                  </a:ext>
                </a:extLst>
              </a:tr>
              <a:tr h="133807"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박종찬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출장 대응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097855"/>
                  </a:ext>
                </a:extLst>
              </a:tr>
            </a:tbl>
          </a:graphicData>
        </a:graphic>
      </p:graphicFrame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9199F1B9-4A05-4A0A-8314-6230CA228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502770"/>
              </p:ext>
            </p:extLst>
          </p:nvPr>
        </p:nvGraphicFramePr>
        <p:xfrm>
          <a:off x="6245057" y="3843882"/>
          <a:ext cx="1868947" cy="610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45870">
                  <a:extLst>
                    <a:ext uri="{9D8B030D-6E8A-4147-A177-3AD203B41FA5}">
                      <a16:colId xmlns:a16="http://schemas.microsoft.com/office/drawing/2014/main" val="2183134174"/>
                    </a:ext>
                  </a:extLst>
                </a:gridCol>
                <a:gridCol w="623077">
                  <a:extLst>
                    <a:ext uri="{9D8B030D-6E8A-4147-A177-3AD203B41FA5}">
                      <a16:colId xmlns:a16="http://schemas.microsoft.com/office/drawing/2014/main" val="1062414256"/>
                    </a:ext>
                  </a:extLst>
                </a:gridCol>
              </a:tblGrid>
              <a:tr h="133807">
                <a:tc gridSpan="2">
                  <a:txBody>
                    <a:bodyPr/>
                    <a:lstStyle/>
                    <a:p>
                      <a:pPr marL="36000" algn="ctr" fontAlgn="ctr"/>
                      <a:r>
                        <a:rPr lang="en-US" sz="11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Pack</a:t>
                      </a:r>
                      <a:r>
                        <a:rPr lang="ko-KR" altLang="en-US" sz="11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공정혁신담당</a:t>
                      </a:r>
                      <a:endParaRPr lang="en-US" sz="11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36000"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937" marR="8937" marT="8937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760435"/>
                  </a:ext>
                </a:extLst>
              </a:tr>
              <a:tr h="133807">
                <a:tc rowSpan="2">
                  <a:txBody>
                    <a:bodyPr/>
                    <a:lstStyle/>
                    <a:p>
                      <a:pPr marL="36000" algn="ctr" fontAlgn="ctr"/>
                      <a:r>
                        <a:rPr lang="en-US" altLang="ko-KR" sz="11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Pack</a:t>
                      </a:r>
                      <a:r>
                        <a:rPr lang="ko-KR" altLang="en-US" sz="11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검사기술팀</a:t>
                      </a:r>
                      <a:endParaRPr lang="en-US" sz="11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조해성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296027"/>
                  </a:ext>
                </a:extLst>
              </a:tr>
              <a:tr h="133807"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이점열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22353"/>
                  </a:ext>
                </a:extLst>
              </a:tr>
            </a:tbl>
          </a:graphicData>
        </a:graphic>
      </p:graphicFrame>
      <p:cxnSp>
        <p:nvCxnSpPr>
          <p:cNvPr id="33" name="꺾인 연결선 13">
            <a:extLst>
              <a:ext uri="{FF2B5EF4-FFF2-40B4-BE49-F238E27FC236}">
                <a16:creationId xmlns:a16="http://schemas.microsoft.com/office/drawing/2014/main" id="{59C5F39C-2DEB-428B-884F-6FC6EEDE5101}"/>
              </a:ext>
            </a:extLst>
          </p:cNvPr>
          <p:cNvCxnSpPr>
            <a:cxnSpLocks noChangeShapeType="1"/>
            <a:stCxn id="21" idx="2"/>
            <a:endCxn id="7" idx="0"/>
          </p:cNvCxnSpPr>
          <p:nvPr/>
        </p:nvCxnSpPr>
        <p:spPr bwMode="auto">
          <a:xfrm rot="16200000" flipH="1">
            <a:off x="4729531" y="1020559"/>
            <a:ext cx="1660575" cy="3228967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21CF3DD-27E1-4EB6-B3BB-E8F08B8903D6}"/>
              </a:ext>
            </a:extLst>
          </p:cNvPr>
          <p:cNvSpPr txBox="1"/>
          <p:nvPr/>
        </p:nvSpPr>
        <p:spPr>
          <a:xfrm>
            <a:off x="196281" y="620688"/>
            <a:ext cx="9581255" cy="58439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대표 법인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(ESMI)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공정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담당자와 제조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DX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그룹간 주간 정기 협의체 운영을 통해 과제 진척 관리 및 적용을 진행하였고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ESOT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에도 확산전개를 진행 하겠습니다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F4E9E13-F70D-567B-4754-062F0575A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034014"/>
              </p:ext>
            </p:extLst>
          </p:nvPr>
        </p:nvGraphicFramePr>
        <p:xfrm>
          <a:off x="2285628" y="3843882"/>
          <a:ext cx="1800001" cy="81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8462">
                  <a:extLst>
                    <a:ext uri="{9D8B030D-6E8A-4147-A177-3AD203B41FA5}">
                      <a16:colId xmlns:a16="http://schemas.microsoft.com/office/drawing/2014/main" val="2183134174"/>
                    </a:ext>
                  </a:extLst>
                </a:gridCol>
                <a:gridCol w="588462">
                  <a:extLst>
                    <a:ext uri="{9D8B030D-6E8A-4147-A177-3AD203B41FA5}">
                      <a16:colId xmlns:a16="http://schemas.microsoft.com/office/drawing/2014/main" val="2575023627"/>
                    </a:ext>
                  </a:extLst>
                </a:gridCol>
                <a:gridCol w="623077">
                  <a:extLst>
                    <a:ext uri="{9D8B030D-6E8A-4147-A177-3AD203B41FA5}">
                      <a16:colId xmlns:a16="http://schemas.microsoft.com/office/drawing/2014/main" val="1062414256"/>
                    </a:ext>
                  </a:extLst>
                </a:gridCol>
              </a:tblGrid>
              <a:tr h="156938">
                <a:tc gridSpan="3">
                  <a:txBody>
                    <a:bodyPr/>
                    <a:lstStyle/>
                    <a:p>
                      <a:pPr marL="36000" algn="ctr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확산 전개 법인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937" marR="8937" marT="8937" marB="0" anchor="ctr"/>
                </a:tc>
                <a:extLst>
                  <a:ext uri="{0D108BD9-81ED-4DB2-BD59-A6C34878D82A}">
                    <a16:rowId xmlns:a16="http://schemas.microsoft.com/office/drawing/2014/main" val="2283146516"/>
                  </a:ext>
                </a:extLst>
              </a:tr>
              <a:tr h="156938">
                <a:tc rowSpan="3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ESOT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공정기술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/>
                      <a:r>
                        <a:rPr lang="ko-KR" altLang="en-US" sz="11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심동욱</a:t>
                      </a:r>
                      <a:endParaRPr lang="en-US" sz="11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112553"/>
                  </a:ext>
                </a:extLst>
              </a:tr>
              <a:tr h="156938">
                <a:tc vMerge="1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설비기술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/>
                      <a:r>
                        <a:rPr lang="ko-KR" altLang="en-US" sz="11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김재홍</a:t>
                      </a:r>
                      <a:endParaRPr lang="en-US" sz="11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0677324"/>
                  </a:ext>
                </a:extLst>
              </a:tr>
              <a:tr h="156938"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/>
                      <a:r>
                        <a:rPr lang="ko-KR" altLang="en-US" sz="11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노명호</a:t>
                      </a:r>
                      <a:endParaRPr lang="en-US" sz="11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876350"/>
                  </a:ext>
                </a:extLst>
              </a:tr>
            </a:tbl>
          </a:graphicData>
        </a:graphic>
      </p:graphicFrame>
      <p:sp>
        <p:nvSpPr>
          <p:cNvPr id="7" name="Rectangle 188">
            <a:extLst>
              <a:ext uri="{FF2B5EF4-FFF2-40B4-BE49-F238E27FC236}">
                <a16:creationId xmlns:a16="http://schemas.microsoft.com/office/drawing/2014/main" id="{AF6B222B-1C12-D650-A633-64E955F52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9828" y="3465331"/>
            <a:ext cx="1868948" cy="288000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000" b="1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  <a:buFontTx/>
              <a:buNone/>
              <a:defRPr/>
            </a:pPr>
            <a:r>
              <a:rPr lang="en-US" altLang="ko-KR" sz="1200" dirty="0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Pack</a:t>
            </a:r>
            <a:r>
              <a:rPr lang="ko-KR" altLang="en-US" sz="1200" dirty="0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기술그룹</a:t>
            </a:r>
            <a:endParaRPr lang="en-US" altLang="ko-KR" sz="1200" dirty="0">
              <a:solidFill>
                <a:srgbClr val="595959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FA77A1-08C0-98E6-E464-E5F38EF60E86}"/>
              </a:ext>
            </a:extLst>
          </p:cNvPr>
          <p:cNvSpPr txBox="1"/>
          <p:nvPr/>
        </p:nvSpPr>
        <p:spPr>
          <a:xfrm>
            <a:off x="275922" y="5701250"/>
            <a:ext cx="48747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대표 법인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(DX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Solution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선검증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: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주간 업무 미팅 참여 필수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 전개 법인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: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주간 업무 미팅 참여 선택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챔피언 주관 월간 리뷰 참여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실무자 정기 협의체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ESS(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북미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19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한국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08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/09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8160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2. ESS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모듈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팩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58439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ESS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모듈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팩 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DX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과제는 대표 법인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(ESMI) 5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중 기능 검증 및 적용하였으며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성과 검증을 위해 지속 모니터링 하겠습니다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b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- </a:t>
            </a:r>
            <a:r>
              <a:rPr kumimoji="1" lang="ko-KR" altLang="en-US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성과 검증을 위해 관리 지표를 선정하고</a:t>
            </a:r>
            <a:r>
              <a:rPr kumimoji="1" lang="en-US" altLang="ko-KR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kumimoji="1" lang="ko-KR" altLang="en-US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공정 산포 및 이상 모니터링을 다빈치 </a:t>
            </a:r>
            <a:r>
              <a:rPr kumimoji="1" lang="en-US" altLang="ko-KR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W/F</a:t>
            </a:r>
            <a:r>
              <a:rPr kumimoji="1" lang="ko-KR" altLang="en-US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 관리할 수 있도록 하겠습니다</a:t>
            </a:r>
            <a:r>
              <a:rPr kumimoji="1" lang="en-US" altLang="ko-KR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kumimoji="1" lang="en-US" altLang="ko-KR" sz="13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22" name="내용 개체 틀 6">
            <a:extLst>
              <a:ext uri="{FF2B5EF4-FFF2-40B4-BE49-F238E27FC236}">
                <a16:creationId xmlns:a16="http://schemas.microsoft.com/office/drawing/2014/main" id="{69287737-F91D-E7DB-22D3-31FFAFB938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7552339"/>
              </p:ext>
            </p:extLst>
          </p:nvPr>
        </p:nvGraphicFramePr>
        <p:xfrm>
          <a:off x="137717" y="1484656"/>
          <a:ext cx="9652183" cy="4408320"/>
        </p:xfrm>
        <a:graphic>
          <a:graphicData uri="http://schemas.openxmlformats.org/drawingml/2006/table">
            <a:tbl>
              <a:tblPr firstRow="1" bandRow="1"/>
              <a:tblGrid>
                <a:gridCol w="431287">
                  <a:extLst>
                    <a:ext uri="{9D8B030D-6E8A-4147-A177-3AD203B41FA5}">
                      <a16:colId xmlns:a16="http://schemas.microsoft.com/office/drawing/2014/main" val="2401416873"/>
                    </a:ext>
                  </a:extLst>
                </a:gridCol>
                <a:gridCol w="1560000">
                  <a:extLst>
                    <a:ext uri="{9D8B030D-6E8A-4147-A177-3AD203B41FA5}">
                      <a16:colId xmlns:a16="http://schemas.microsoft.com/office/drawing/2014/main" val="3385856475"/>
                    </a:ext>
                  </a:extLst>
                </a:gridCol>
                <a:gridCol w="1728275">
                  <a:extLst>
                    <a:ext uri="{9D8B030D-6E8A-4147-A177-3AD203B41FA5}">
                      <a16:colId xmlns:a16="http://schemas.microsoft.com/office/drawing/2014/main" val="2692268080"/>
                    </a:ext>
                  </a:extLst>
                </a:gridCol>
                <a:gridCol w="925000">
                  <a:extLst>
                    <a:ext uri="{9D8B030D-6E8A-4147-A177-3AD203B41FA5}">
                      <a16:colId xmlns:a16="http://schemas.microsoft.com/office/drawing/2014/main" val="3771899823"/>
                    </a:ext>
                  </a:extLst>
                </a:gridCol>
                <a:gridCol w="2680775">
                  <a:extLst>
                    <a:ext uri="{9D8B030D-6E8A-4147-A177-3AD203B41FA5}">
                      <a16:colId xmlns:a16="http://schemas.microsoft.com/office/drawing/2014/main" val="1186992123"/>
                    </a:ext>
                  </a:extLst>
                </a:gridCol>
                <a:gridCol w="542413">
                  <a:extLst>
                    <a:ext uri="{9D8B030D-6E8A-4147-A177-3AD203B41FA5}">
                      <a16:colId xmlns:a16="http://schemas.microsoft.com/office/drawing/2014/main" val="2166072186"/>
                    </a:ext>
                  </a:extLst>
                </a:gridCol>
                <a:gridCol w="560297">
                  <a:extLst>
                    <a:ext uri="{9D8B030D-6E8A-4147-A177-3AD203B41FA5}">
                      <a16:colId xmlns:a16="http://schemas.microsoft.com/office/drawing/2014/main" val="33025315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19417741"/>
                    </a:ext>
                  </a:extLst>
                </a:gridCol>
              </a:tblGrid>
              <a:tr h="196245"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en-US" altLang="ko-KR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과제명</a:t>
                      </a:r>
                      <a:endParaRPr lang="en-US" altLang="ko-KR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Issue </a:t>
                      </a:r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사항</a:t>
                      </a:r>
                      <a:endParaRPr lang="en-US" altLang="ko-KR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세부 진행 내용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솔루션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br>
                        <a:rPr lang="en-US" altLang="ko-KR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 </a:t>
                      </a:r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과제 효과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096874"/>
                  </a:ext>
                </a:extLst>
              </a:tr>
              <a:tr h="389311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CMA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가압력 자동보정 및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Pallet Air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공급 이상감지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전폭 불량 개선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관리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 두께 및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Pallet Air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공급 실린더 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고정력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 인한 전폭 불량 발생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원인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Cell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두께 변화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    Pallet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공압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고정력 편차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전폭 상한 불량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0.66%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0.1%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 5</a:t>
                      </a:r>
                      <a:r>
                        <a:rPr lang="ko-KR" altLang="en-US" sz="10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0.00%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TRF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가압거리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가압시간 조건별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Test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 후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Pallet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CMA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전폭 두께에 따른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CMA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개별 가압 보정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(APC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적용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5/5 ~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전폭 산포 개선</a:t>
                      </a:r>
                      <a:b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평균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790.39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790.15mm,</a:t>
                      </a:r>
                      <a:b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표준편차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0.26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0.19mm)</a:t>
                      </a:r>
                      <a:b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 2.65</a:t>
                      </a:r>
                      <a:r>
                        <a:rPr lang="ko-KR" altLang="en-US" sz="9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비용 절감</a:t>
                      </a:r>
                      <a:br>
                        <a:rPr lang="en-US" altLang="ko-KR" sz="9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(Pallet</a:t>
                      </a:r>
                      <a:r>
                        <a:rPr lang="ko-KR" altLang="en-US" sz="9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교체 비용</a:t>
                      </a:r>
                      <a:r>
                        <a:rPr lang="en-US" altLang="ko-KR" sz="9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579761"/>
                  </a:ext>
                </a:extLst>
              </a:tr>
              <a:tr h="196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Air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공급 실린더 이상 감지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Pallet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가압 블록 이상 감지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추가 발굴 항목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(5/5)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4/16 ~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6/5 ~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Pallet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가압 이상 감지</a:t>
                      </a:r>
                      <a:b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전폭 센서 및 체결 보정량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136418"/>
                  </a:ext>
                </a:extLst>
              </a:tr>
              <a:tr h="31910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</a:t>
                      </a: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</a:t>
                      </a: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 값 기반</a:t>
                      </a:r>
                      <a:b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End Plate </a:t>
                      </a: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위치</a:t>
                      </a:r>
                      <a:b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자동보정 및 관리선 알람 설정</a:t>
                      </a:r>
                      <a:b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불량 개선</a:t>
                      </a: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관리</a:t>
                      </a: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Offset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 가능 범위 초과로 인한 체결 불량 발생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원인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E/P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Hole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공차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    Pallet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안착 위치 틀어짐 등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불량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(BFA,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Metal Strap)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0.35%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0.2%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 5</a:t>
                      </a:r>
                      <a:r>
                        <a:rPr lang="ko-KR" altLang="en-US" sz="10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0.18%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Metal Strap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Station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구분하여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E/P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부착 위치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축 자동보정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(APC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적용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5/5 ~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공정 산포 개선</a:t>
                      </a:r>
                      <a:b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(Offset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평균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0.546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0.231mm)</a:t>
                      </a:r>
                      <a:br>
                        <a:rPr lang="en-US" altLang="ko-KR" sz="8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 2.90</a:t>
                      </a:r>
                      <a:r>
                        <a:rPr lang="ko-KR" altLang="en-US" sz="9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비용 절감</a:t>
                      </a:r>
                      <a:br>
                        <a:rPr lang="en-US" altLang="ko-KR" sz="9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 기구부 개선 비용</a:t>
                      </a:r>
                      <a:r>
                        <a:rPr lang="en-US" altLang="ko-KR" sz="9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407172"/>
                  </a:ext>
                </a:extLst>
              </a:tr>
              <a:tr h="1965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E/P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틀어짐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티칭 위치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&amp;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 렌즈 이상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Y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축 이동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(TRF, Start Lift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틀어짐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)_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추가 발굴 항목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(5/8)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4/1 ~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5/9 ~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원인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조치 유형 감지</a:t>
                      </a:r>
                      <a:b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위치 보정량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961813"/>
                  </a:ext>
                </a:extLst>
              </a:tr>
              <a:tr h="2840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레진 도포 자동보정을 통한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레진 무게 산포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소모량 최적화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레진 도포량 저감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필요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피드백 자동보정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실시간 산포 기반 자동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Target 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설정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무게 하한 헌팅 예측 보정 기반 소모량 절감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(ESS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라인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_APC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적용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5/4 ~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Resin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소모량 개선</a:t>
                      </a:r>
                      <a:b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5,141 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5,068g),</a:t>
                      </a:r>
                      <a:b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5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 1.14</a:t>
                      </a:r>
                      <a:r>
                        <a:rPr lang="ko-KR" altLang="en-US" sz="85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</a:t>
                      </a:r>
                      <a:r>
                        <a:rPr lang="en-US" altLang="ko-KR" sz="85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5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절감 효과</a:t>
                      </a:r>
                      <a:endParaRPr lang="en-US" altLang="ko-KR" sz="8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832237"/>
                  </a:ext>
                </a:extLst>
              </a:tr>
              <a:tr h="28400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피드백 자동보정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실시간 산포 기반 자동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Target 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설정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무게 하한 헌팅 예측 보정 기반 소모량 절감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(Toyota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라인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_APC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적용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기능 적용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(6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Resin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소모량 개선</a:t>
                      </a:r>
                      <a:b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480 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461g)</a:t>
                      </a:r>
                      <a:b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5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 2.10</a:t>
                      </a:r>
                      <a:r>
                        <a:rPr lang="ko-KR" altLang="en-US" sz="85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</a:t>
                      </a:r>
                      <a:r>
                        <a:rPr lang="en-US" altLang="ko-KR" sz="85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5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절감 효과</a:t>
                      </a:r>
                      <a:endParaRPr lang="en-US" altLang="ko-KR" sz="8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695139"/>
                  </a:ext>
                </a:extLst>
              </a:tr>
              <a:tr h="2840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타 법인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참고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FDC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적용을 통한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 부동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/Issue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사전 감지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 증대에 따른 프로그램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무언 정지 등 부동 발생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1.91%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0.5%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 5</a:t>
                      </a:r>
                      <a:r>
                        <a:rPr lang="ko-KR" altLang="en-US" sz="10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0.03%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Vision Gray Value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PC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이상감지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(CPU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점유율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온도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RAM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사용률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DISK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저장량 등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Data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연동 및 모델링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6/8 ~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부동 사전 감지하여</a:t>
                      </a:r>
                      <a:b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및 유지 관리</a:t>
                      </a:r>
                      <a:b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후 모니터링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488353"/>
                  </a:ext>
                </a:extLst>
              </a:tr>
              <a:tr h="19659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기존 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응용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가성 불량 이상 감지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EOL G/B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(Pin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저항 증가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Leak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실링 패드 마모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가성 불량 발생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가성 불량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(G/B, Leak)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0.61%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0.1%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 5</a:t>
                      </a:r>
                      <a:r>
                        <a:rPr lang="ko-KR" altLang="en-US" sz="10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0.18%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G/B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Test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Pin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저항 값 연동 후 알람 적용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Pin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 전류 인가 케이블 소손 이상 감지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3/20 ~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5/4 ~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케이블 소손 이상 감지</a:t>
                      </a:r>
                      <a:b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Pin 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저항 산포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143208"/>
                  </a:ext>
                </a:extLst>
              </a:tr>
              <a:tr h="1743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Leak Test :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실링 패드 마모 기인 이상 감지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4/28 ~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실링 패드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CBM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</a:t>
                      </a:r>
                      <a:b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유량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09441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15D9120-9715-D9C3-1B31-2B0BE833188F}"/>
              </a:ext>
            </a:extLst>
          </p:cNvPr>
          <p:cNvSpPr txBox="1"/>
          <p:nvPr/>
        </p:nvSpPr>
        <p:spPr>
          <a:xfrm>
            <a:off x="56456" y="1202207"/>
            <a:ext cx="1143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과제 항목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A5ADA-6A3B-B23C-3E7C-355DA0304EBD}"/>
              </a:ext>
            </a:extLst>
          </p:cNvPr>
          <p:cNvSpPr txBox="1"/>
          <p:nvPr/>
        </p:nvSpPr>
        <p:spPr>
          <a:xfrm>
            <a:off x="146505" y="5923383"/>
            <a:ext cx="13500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 과제 완료 보고</a:t>
            </a:r>
          </a:p>
        </p:txBody>
      </p:sp>
      <p:sp>
        <p:nvSpPr>
          <p:cNvPr id="4" name="실행 단추: 앞으로 또는 다음으로 이동 3">
            <a:hlinkClick r:id="rId3" action="ppaction://hlinksldjump"/>
            <a:extLst>
              <a:ext uri="{FF2B5EF4-FFF2-40B4-BE49-F238E27FC236}">
                <a16:creationId xmlns:a16="http://schemas.microsoft.com/office/drawing/2014/main" id="{ED458E56-7284-E948-E4DB-2B1F65C9AE1A}"/>
              </a:ext>
            </a:extLst>
          </p:cNvPr>
          <p:cNvSpPr/>
          <p:nvPr/>
        </p:nvSpPr>
        <p:spPr>
          <a:xfrm>
            <a:off x="1784664" y="5962665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C638AC-DDAA-40FD-86C3-12DCF10E3C8C}"/>
              </a:ext>
            </a:extLst>
          </p:cNvPr>
          <p:cNvSpPr txBox="1"/>
          <p:nvPr/>
        </p:nvSpPr>
        <p:spPr>
          <a:xfrm>
            <a:off x="9906000" y="1846565"/>
            <a:ext cx="26798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CMA</a:t>
            </a:r>
            <a:r>
              <a:rPr lang="ko-KR" altLang="en-US" sz="900" b="0" i="0" u="none" strike="noStrike" baseline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전폭 </a:t>
            </a:r>
            <a:r>
              <a:rPr lang="en-US" altLang="ko-KR" sz="900" b="0" i="0" u="none" strike="noStrike" baseline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Spec</a:t>
            </a:r>
            <a:r>
              <a:rPr lang="ko-KR" altLang="en-US" sz="900" b="0" i="0" u="none" strike="noStrike" baseline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b="0" i="0" u="none" strike="noStrike" baseline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789.5mm ~ 791.8mm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4C377-B840-4FC7-60C9-898E02421F95}"/>
              </a:ext>
            </a:extLst>
          </p:cNvPr>
          <p:cNvSpPr txBox="1"/>
          <p:nvPr/>
        </p:nvSpPr>
        <p:spPr>
          <a:xfrm>
            <a:off x="146505" y="6146442"/>
            <a:ext cx="11352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FDC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과제 완료 보고</a:t>
            </a:r>
          </a:p>
        </p:txBody>
      </p:sp>
      <p:sp>
        <p:nvSpPr>
          <p:cNvPr id="11" name="실행 단추: 앞으로 또는 다음으로 이동 10">
            <a:hlinkClick r:id="rId4" action="ppaction://hlinksldjump"/>
            <a:extLst>
              <a:ext uri="{FF2B5EF4-FFF2-40B4-BE49-F238E27FC236}">
                <a16:creationId xmlns:a16="http://schemas.microsoft.com/office/drawing/2014/main" id="{F7AD3D31-F7E1-DB21-5636-6F204D2367FA}"/>
              </a:ext>
            </a:extLst>
          </p:cNvPr>
          <p:cNvSpPr/>
          <p:nvPr/>
        </p:nvSpPr>
        <p:spPr>
          <a:xfrm>
            <a:off x="1784664" y="6185724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5648D0-6495-8997-188B-6CB6BAE28774}"/>
              </a:ext>
            </a:extLst>
          </p:cNvPr>
          <p:cNvSpPr txBox="1"/>
          <p:nvPr/>
        </p:nvSpPr>
        <p:spPr>
          <a:xfrm>
            <a:off x="1219958" y="1224894"/>
            <a:ext cx="19239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MI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JF2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모듈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팩 직행률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&amp;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가동률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Trend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실행 단추: 앞으로 또는 다음으로 이동 17">
            <a:hlinkClick r:id="rId5" action="ppaction://hlinksldjump"/>
            <a:extLst>
              <a:ext uri="{FF2B5EF4-FFF2-40B4-BE49-F238E27FC236}">
                <a16:creationId xmlns:a16="http://schemas.microsoft.com/office/drawing/2014/main" id="{F711B00E-F703-FF82-C1AB-B8ACD849A11C}"/>
              </a:ext>
            </a:extLst>
          </p:cNvPr>
          <p:cNvSpPr/>
          <p:nvPr/>
        </p:nvSpPr>
        <p:spPr>
          <a:xfrm>
            <a:off x="3103272" y="1273141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58100-5058-7DB9-01CB-DEE0210B8C49}"/>
              </a:ext>
            </a:extLst>
          </p:cNvPr>
          <p:cNvSpPr txBox="1"/>
          <p:nvPr/>
        </p:nvSpPr>
        <p:spPr>
          <a:xfrm>
            <a:off x="146505" y="6368309"/>
            <a:ext cx="16610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모듈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팩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관리 지표 선정</a:t>
            </a:r>
          </a:p>
        </p:txBody>
      </p:sp>
      <p:sp>
        <p:nvSpPr>
          <p:cNvPr id="6" name="실행 단추: 앞으로 또는 다음으로 이동 5">
            <a:hlinkClick r:id="rId6" action="ppaction://hlinksldjump"/>
            <a:extLst>
              <a:ext uri="{FF2B5EF4-FFF2-40B4-BE49-F238E27FC236}">
                <a16:creationId xmlns:a16="http://schemas.microsoft.com/office/drawing/2014/main" id="{81DD995C-335F-A432-666D-3650D0A74FFA}"/>
              </a:ext>
            </a:extLst>
          </p:cNvPr>
          <p:cNvSpPr/>
          <p:nvPr/>
        </p:nvSpPr>
        <p:spPr>
          <a:xfrm>
            <a:off x="1784664" y="6407591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96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제목 4">
            <a:extLst>
              <a:ext uri="{FF2B5EF4-FFF2-40B4-BE49-F238E27FC236}">
                <a16:creationId xmlns:a16="http://schemas.microsoft.com/office/drawing/2014/main" id="{A1A4B003-5BEA-2380-CF4B-12FA1C77694C}"/>
              </a:ext>
            </a:extLst>
          </p:cNvPr>
          <p:cNvSpPr txBox="1">
            <a:spLocks/>
          </p:cNvSpPr>
          <p:nvPr/>
        </p:nvSpPr>
        <p:spPr>
          <a:xfrm>
            <a:off x="189765" y="170929"/>
            <a:ext cx="5771347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1800" b="1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</a:lstStyle>
          <a:p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3. DX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확산전개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(ESOT)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로드맵</a:t>
            </a:r>
          </a:p>
        </p:txBody>
      </p:sp>
      <p:graphicFrame>
        <p:nvGraphicFramePr>
          <p:cNvPr id="131" name="표 130">
            <a:extLst>
              <a:ext uri="{FF2B5EF4-FFF2-40B4-BE49-F238E27FC236}">
                <a16:creationId xmlns:a16="http://schemas.microsoft.com/office/drawing/2014/main" id="{B2AB6F43-5304-3508-8ED2-7C22874C0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160084"/>
              </p:ext>
            </p:extLst>
          </p:nvPr>
        </p:nvGraphicFramePr>
        <p:xfrm>
          <a:off x="84306" y="1728379"/>
          <a:ext cx="9648133" cy="3932182"/>
        </p:xfrm>
        <a:graphic>
          <a:graphicData uri="http://schemas.openxmlformats.org/drawingml/2006/table">
            <a:tbl>
              <a:tblPr firstRow="1" bandRow="1"/>
              <a:tblGrid>
                <a:gridCol w="692230">
                  <a:extLst>
                    <a:ext uri="{9D8B030D-6E8A-4147-A177-3AD203B41FA5}">
                      <a16:colId xmlns:a16="http://schemas.microsoft.com/office/drawing/2014/main" val="289437817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54883849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82313996"/>
                    </a:ext>
                  </a:extLst>
                </a:gridCol>
                <a:gridCol w="731071">
                  <a:extLst>
                    <a:ext uri="{9D8B030D-6E8A-4147-A177-3AD203B41FA5}">
                      <a16:colId xmlns:a16="http://schemas.microsoft.com/office/drawing/2014/main" val="2072260960"/>
                    </a:ext>
                  </a:extLst>
                </a:gridCol>
                <a:gridCol w="731071">
                  <a:extLst>
                    <a:ext uri="{9D8B030D-6E8A-4147-A177-3AD203B41FA5}">
                      <a16:colId xmlns:a16="http://schemas.microsoft.com/office/drawing/2014/main" val="2640139454"/>
                    </a:ext>
                  </a:extLst>
                </a:gridCol>
                <a:gridCol w="731071">
                  <a:extLst>
                    <a:ext uri="{9D8B030D-6E8A-4147-A177-3AD203B41FA5}">
                      <a16:colId xmlns:a16="http://schemas.microsoft.com/office/drawing/2014/main" val="2455882077"/>
                    </a:ext>
                  </a:extLst>
                </a:gridCol>
                <a:gridCol w="731071">
                  <a:extLst>
                    <a:ext uri="{9D8B030D-6E8A-4147-A177-3AD203B41FA5}">
                      <a16:colId xmlns:a16="http://schemas.microsoft.com/office/drawing/2014/main" val="1540952844"/>
                    </a:ext>
                  </a:extLst>
                </a:gridCol>
                <a:gridCol w="731071">
                  <a:extLst>
                    <a:ext uri="{9D8B030D-6E8A-4147-A177-3AD203B41FA5}">
                      <a16:colId xmlns:a16="http://schemas.microsoft.com/office/drawing/2014/main" val="645606336"/>
                    </a:ext>
                  </a:extLst>
                </a:gridCol>
                <a:gridCol w="731071">
                  <a:extLst>
                    <a:ext uri="{9D8B030D-6E8A-4147-A177-3AD203B41FA5}">
                      <a16:colId xmlns:a16="http://schemas.microsoft.com/office/drawing/2014/main" val="1677815921"/>
                    </a:ext>
                  </a:extLst>
                </a:gridCol>
                <a:gridCol w="731071">
                  <a:extLst>
                    <a:ext uri="{9D8B030D-6E8A-4147-A177-3AD203B41FA5}">
                      <a16:colId xmlns:a16="http://schemas.microsoft.com/office/drawing/2014/main" val="2103937845"/>
                    </a:ext>
                  </a:extLst>
                </a:gridCol>
                <a:gridCol w="731071">
                  <a:extLst>
                    <a:ext uri="{9D8B030D-6E8A-4147-A177-3AD203B41FA5}">
                      <a16:colId xmlns:a16="http://schemas.microsoft.com/office/drawing/2014/main" val="2674455538"/>
                    </a:ext>
                  </a:extLst>
                </a:gridCol>
                <a:gridCol w="731071">
                  <a:extLst>
                    <a:ext uri="{9D8B030D-6E8A-4147-A177-3AD203B41FA5}">
                      <a16:colId xmlns:a16="http://schemas.microsoft.com/office/drawing/2014/main" val="3858726561"/>
                    </a:ext>
                  </a:extLst>
                </a:gridCol>
              </a:tblGrid>
              <a:tr h="17548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과제</a:t>
                      </a:r>
                      <a:b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(ESOT)</a:t>
                      </a:r>
                      <a:endParaRPr lang="ko-KR" altLang="en-US" sz="11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실행 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담당부서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26.2Q</a:t>
                      </a:r>
                      <a:endParaRPr lang="ko-KR" altLang="en-US" sz="11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26.3Q</a:t>
                      </a:r>
                      <a:endParaRPr lang="ko-KR" altLang="en-US" sz="11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26.4Q</a:t>
                      </a:r>
                      <a:endParaRPr lang="ko-KR" altLang="en-US" sz="11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69522"/>
                  </a:ext>
                </a:extLst>
              </a:tr>
              <a:tr h="1769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641244"/>
                  </a:ext>
                </a:extLst>
              </a:tr>
              <a:tr h="35797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체결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Vision</a:t>
                      </a:r>
                      <a:b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보정 활용</a:t>
                      </a:r>
                      <a:b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E/P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틀어짐</a:t>
                      </a:r>
                      <a:b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감지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분석 및 인자 도출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/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01883"/>
                  </a:ext>
                </a:extLst>
              </a:tr>
              <a:tr h="357979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모델링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검토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추진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98026"/>
                  </a:ext>
                </a:extLst>
              </a:tr>
              <a:tr h="357979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레진 도포 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분석 및 인자 도출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535355"/>
                  </a:ext>
                </a:extLst>
              </a:tr>
              <a:tr h="357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APC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PLC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수정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152541"/>
                  </a:ext>
                </a:extLst>
              </a:tr>
              <a:tr h="357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기능 검증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효과 검증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추진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450571"/>
                  </a:ext>
                </a:extLst>
              </a:tr>
              <a:tr h="35797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Vision FDC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연동 및</a:t>
                      </a:r>
                      <a:b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모델링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검토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추진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534737"/>
                  </a:ext>
                </a:extLst>
              </a:tr>
              <a:tr h="357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기능 검증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효과 검증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추진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120275"/>
                  </a:ext>
                </a:extLst>
              </a:tr>
              <a:tr h="35797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검사 가성</a:t>
                      </a:r>
                      <a:b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불량 </a:t>
                      </a:r>
                      <a:b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감지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분석 및 인자 도출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/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910158"/>
                  </a:ext>
                </a:extLst>
              </a:tr>
              <a:tr h="357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모델링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검증</a:t>
                      </a:r>
                      <a:b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(Ground Bonding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Pin)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/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399246"/>
                  </a:ext>
                </a:extLst>
              </a:tr>
              <a:tr h="35797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모델링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검증</a:t>
                      </a:r>
                      <a:b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(Leak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검사 실링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Pad)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/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026314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65A0C0D8-F330-40D0-3DC5-7124D6D45533}"/>
              </a:ext>
            </a:extLst>
          </p:cNvPr>
          <p:cNvSpPr txBox="1"/>
          <p:nvPr/>
        </p:nvSpPr>
        <p:spPr>
          <a:xfrm>
            <a:off x="4620668" y="1457849"/>
            <a:ext cx="41239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6/9</a:t>
            </a:r>
            <a:endParaRPr lang="ko-KR" altLang="en-US" sz="900" dirty="0">
              <a:solidFill>
                <a:srgbClr val="C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C07D40E6-F24E-FCBB-4ADA-0EB48A810AE7}"/>
              </a:ext>
            </a:extLst>
          </p:cNvPr>
          <p:cNvGrpSpPr/>
          <p:nvPr/>
        </p:nvGrpSpPr>
        <p:grpSpPr>
          <a:xfrm>
            <a:off x="7824671" y="1412776"/>
            <a:ext cx="1945629" cy="276999"/>
            <a:chOff x="7725308" y="853773"/>
            <a:chExt cx="1945629" cy="276999"/>
          </a:xfrm>
        </p:grpSpPr>
        <p:sp>
          <p:nvSpPr>
            <p:cNvPr id="134" name="화살표: 오각형 133">
              <a:extLst>
                <a:ext uri="{FF2B5EF4-FFF2-40B4-BE49-F238E27FC236}">
                  <a16:creationId xmlns:a16="http://schemas.microsoft.com/office/drawing/2014/main" id="{D880759C-A0CD-6141-593F-13CED2B3816B}"/>
                </a:ext>
              </a:extLst>
            </p:cNvPr>
            <p:cNvSpPr/>
            <p:nvPr/>
          </p:nvSpPr>
          <p:spPr>
            <a:xfrm>
              <a:off x="8274332" y="910323"/>
              <a:ext cx="409085" cy="170822"/>
            </a:xfrm>
            <a:prstGeom prst="homePlate">
              <a:avLst>
                <a:gd name="adj" fmla="val 18270"/>
              </a:avLst>
            </a:prstGeom>
            <a:solidFill>
              <a:srgbClr val="FFFFFF">
                <a:lumMod val="85000"/>
              </a:srgbClr>
            </a:solidFill>
            <a:ln w="31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완료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35" name="화살표: 오각형 134">
              <a:extLst>
                <a:ext uri="{FF2B5EF4-FFF2-40B4-BE49-F238E27FC236}">
                  <a16:creationId xmlns:a16="http://schemas.microsoft.com/office/drawing/2014/main" id="{56C271C7-C110-4BDB-20D0-1956B70572C7}"/>
                </a:ext>
              </a:extLst>
            </p:cNvPr>
            <p:cNvSpPr/>
            <p:nvPr/>
          </p:nvSpPr>
          <p:spPr>
            <a:xfrm>
              <a:off x="8768092" y="910323"/>
              <a:ext cx="409085" cy="170822"/>
            </a:xfrm>
            <a:prstGeom prst="homePlate">
              <a:avLst>
                <a:gd name="adj" fmla="val 18270"/>
              </a:avLst>
            </a:prstGeom>
            <a:noFill/>
            <a:ln w="31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진행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36" name="화살표: 오각형 135">
              <a:extLst>
                <a:ext uri="{FF2B5EF4-FFF2-40B4-BE49-F238E27FC236}">
                  <a16:creationId xmlns:a16="http://schemas.microsoft.com/office/drawing/2014/main" id="{9573C14A-1081-A3CC-26AB-C77D2806606F}"/>
                </a:ext>
              </a:extLst>
            </p:cNvPr>
            <p:cNvSpPr/>
            <p:nvPr/>
          </p:nvSpPr>
          <p:spPr>
            <a:xfrm>
              <a:off x="9261852" y="908720"/>
              <a:ext cx="409085" cy="170822"/>
            </a:xfrm>
            <a:prstGeom prst="homePlate">
              <a:avLst>
                <a:gd name="adj" fmla="val 18270"/>
              </a:avLst>
            </a:prstGeom>
            <a:noFill/>
            <a:ln w="3175" cap="flat" cmpd="sng" algn="ctr">
              <a:solidFill>
                <a:srgbClr val="000000"/>
              </a:solidFill>
              <a:prstDash val="dash"/>
              <a:miter lim="800000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착수전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55E45368-5E7B-EBCB-396B-F1D1BDA6CCE4}"/>
                </a:ext>
              </a:extLst>
            </p:cNvPr>
            <p:cNvSpPr/>
            <p:nvPr/>
          </p:nvSpPr>
          <p:spPr>
            <a:xfrm>
              <a:off x="7725308" y="853773"/>
              <a:ext cx="53091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[</a:t>
              </a: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범례</a:t>
              </a: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]</a:t>
              </a: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B785D3C6-AD53-9E9A-D341-44ADEE593768}"/>
              </a:ext>
            </a:extLst>
          </p:cNvPr>
          <p:cNvCxnSpPr>
            <a:cxnSpLocks/>
          </p:cNvCxnSpPr>
          <p:nvPr/>
        </p:nvCxnSpPr>
        <p:spPr>
          <a:xfrm>
            <a:off x="4818936" y="1708306"/>
            <a:ext cx="0" cy="3998297"/>
          </a:xfrm>
          <a:prstGeom prst="line">
            <a:avLst/>
          </a:prstGeom>
          <a:ln w="12700">
            <a:solidFill>
              <a:srgbClr val="C00000"/>
            </a:solidFill>
            <a:prstDash val="dash"/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TextBox 237">
            <a:extLst>
              <a:ext uri="{FF2B5EF4-FFF2-40B4-BE49-F238E27FC236}">
                <a16:creationId xmlns:a16="http://schemas.microsoft.com/office/drawing/2014/main" id="{A11BE5ED-2392-3117-AE3C-368364E656E1}"/>
              </a:ext>
            </a:extLst>
          </p:cNvPr>
          <p:cNvSpPr txBox="1"/>
          <p:nvPr/>
        </p:nvSpPr>
        <p:spPr>
          <a:xfrm>
            <a:off x="179439" y="1457849"/>
            <a:ext cx="11448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 전개 대상 검토</a:t>
            </a:r>
          </a:p>
        </p:txBody>
      </p:sp>
      <p:sp>
        <p:nvSpPr>
          <p:cNvPr id="239" name="실행 단추: 앞으로 또는 다음으로 이동 238">
            <a:hlinkClick r:id="rId3" action="ppaction://hlinksldjump"/>
            <a:extLst>
              <a:ext uri="{FF2B5EF4-FFF2-40B4-BE49-F238E27FC236}">
                <a16:creationId xmlns:a16="http://schemas.microsoft.com/office/drawing/2014/main" id="{47AD10C8-663E-4F48-F28D-8DD53D0C60FE}"/>
              </a:ext>
            </a:extLst>
          </p:cNvPr>
          <p:cNvSpPr/>
          <p:nvPr/>
        </p:nvSpPr>
        <p:spPr>
          <a:xfrm>
            <a:off x="1280592" y="1506096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2" name="화살표: 오각형 31">
            <a:extLst>
              <a:ext uri="{FF2B5EF4-FFF2-40B4-BE49-F238E27FC236}">
                <a16:creationId xmlns:a16="http://schemas.microsoft.com/office/drawing/2014/main" id="{4A3831CF-9133-AAC0-1A2C-4FBCBBBE2A8B}"/>
              </a:ext>
            </a:extLst>
          </p:cNvPr>
          <p:cNvSpPr/>
          <p:nvPr/>
        </p:nvSpPr>
        <p:spPr>
          <a:xfrm>
            <a:off x="4921685" y="2817697"/>
            <a:ext cx="451450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요건 정의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논의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AF9F6F-077E-CF28-6901-967C932988A3}"/>
              </a:ext>
            </a:extLst>
          </p:cNvPr>
          <p:cNvSpPr txBox="1"/>
          <p:nvPr/>
        </p:nvSpPr>
        <p:spPr>
          <a:xfrm>
            <a:off x="5051903" y="2997552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~6/30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A25BAB-7591-4715-0325-950EADE94BAD}"/>
              </a:ext>
            </a:extLst>
          </p:cNvPr>
          <p:cNvSpPr txBox="1"/>
          <p:nvPr/>
        </p:nvSpPr>
        <p:spPr>
          <a:xfrm>
            <a:off x="5754681" y="3357072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~7/31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8" name="화살표: 오각형 37">
            <a:extLst>
              <a:ext uri="{FF2B5EF4-FFF2-40B4-BE49-F238E27FC236}">
                <a16:creationId xmlns:a16="http://schemas.microsoft.com/office/drawing/2014/main" id="{F22A0B9D-CF82-E2DA-0241-6EEA38759DE9}"/>
              </a:ext>
            </a:extLst>
          </p:cNvPr>
          <p:cNvSpPr/>
          <p:nvPr/>
        </p:nvSpPr>
        <p:spPr>
          <a:xfrm>
            <a:off x="6035632" y="3539276"/>
            <a:ext cx="430537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기능검증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5F570B-F866-3BB3-A525-70979D9EFE68}"/>
              </a:ext>
            </a:extLst>
          </p:cNvPr>
          <p:cNvSpPr txBox="1"/>
          <p:nvPr/>
        </p:nvSpPr>
        <p:spPr>
          <a:xfrm>
            <a:off x="6133599" y="3715156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~8/15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0" name="화살표: 오각형 39">
            <a:extLst>
              <a:ext uri="{FF2B5EF4-FFF2-40B4-BE49-F238E27FC236}">
                <a16:creationId xmlns:a16="http://schemas.microsoft.com/office/drawing/2014/main" id="{F7A26569-8B34-4116-D91D-B8967C544B50}"/>
              </a:ext>
            </a:extLst>
          </p:cNvPr>
          <p:cNvSpPr/>
          <p:nvPr/>
        </p:nvSpPr>
        <p:spPr>
          <a:xfrm>
            <a:off x="6417928" y="3539276"/>
            <a:ext cx="451451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효과 검증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4" name="화살표: 오각형 43">
            <a:extLst>
              <a:ext uri="{FF2B5EF4-FFF2-40B4-BE49-F238E27FC236}">
                <a16:creationId xmlns:a16="http://schemas.microsoft.com/office/drawing/2014/main" id="{FA16C8F8-807E-6BED-7534-E3AAD989A6FB}"/>
              </a:ext>
            </a:extLst>
          </p:cNvPr>
          <p:cNvSpPr/>
          <p:nvPr/>
        </p:nvSpPr>
        <p:spPr>
          <a:xfrm>
            <a:off x="5348508" y="3173241"/>
            <a:ext cx="705054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APC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PLC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수정 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6A0DB3-431C-AB4F-9ED1-F749BED37CF6}"/>
              </a:ext>
            </a:extLst>
          </p:cNvPr>
          <p:cNvSpPr txBox="1"/>
          <p:nvPr/>
        </p:nvSpPr>
        <p:spPr>
          <a:xfrm>
            <a:off x="5041957" y="2635322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~6/3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8" name="화살표: 오각형 47">
            <a:extLst>
              <a:ext uri="{FF2B5EF4-FFF2-40B4-BE49-F238E27FC236}">
                <a16:creationId xmlns:a16="http://schemas.microsoft.com/office/drawing/2014/main" id="{B8D9B444-A9EE-76D3-5E69-89284229C22B}"/>
              </a:ext>
            </a:extLst>
          </p:cNvPr>
          <p:cNvSpPr/>
          <p:nvPr/>
        </p:nvSpPr>
        <p:spPr>
          <a:xfrm>
            <a:off x="5349188" y="2459442"/>
            <a:ext cx="394247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모델링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3B2FF7-9402-6FA5-619F-C998CE28BC06}"/>
              </a:ext>
            </a:extLst>
          </p:cNvPr>
          <p:cNvSpPr txBox="1"/>
          <p:nvPr/>
        </p:nvSpPr>
        <p:spPr>
          <a:xfrm>
            <a:off x="5449352" y="2635322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~7/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5" name="화살표: 오각형 54">
            <a:extLst>
              <a:ext uri="{FF2B5EF4-FFF2-40B4-BE49-F238E27FC236}">
                <a16:creationId xmlns:a16="http://schemas.microsoft.com/office/drawing/2014/main" id="{EE8B0133-B7B4-8489-55CE-F3ACC88E0A42}"/>
              </a:ext>
            </a:extLst>
          </p:cNvPr>
          <p:cNvSpPr/>
          <p:nvPr/>
        </p:nvSpPr>
        <p:spPr>
          <a:xfrm>
            <a:off x="4899595" y="2459442"/>
            <a:ext cx="443288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Tag List,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연동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52" name="화살표: 오각형 251">
            <a:extLst>
              <a:ext uri="{FF2B5EF4-FFF2-40B4-BE49-F238E27FC236}">
                <a16:creationId xmlns:a16="http://schemas.microsoft.com/office/drawing/2014/main" id="{678BC5A5-37F2-1DC8-3C8E-3EF735BAF71E}"/>
              </a:ext>
            </a:extLst>
          </p:cNvPr>
          <p:cNvSpPr/>
          <p:nvPr/>
        </p:nvSpPr>
        <p:spPr>
          <a:xfrm>
            <a:off x="5188886" y="2093057"/>
            <a:ext cx="844233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양산 중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Data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D48D8775-7A4A-58F6-4F7C-B6D2E5E59821}"/>
              </a:ext>
            </a:extLst>
          </p:cNvPr>
          <p:cNvSpPr txBox="1"/>
          <p:nvPr/>
        </p:nvSpPr>
        <p:spPr>
          <a:xfrm>
            <a:off x="5754681" y="2264961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~7/31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56" name="화살표: 오각형 255">
            <a:extLst>
              <a:ext uri="{FF2B5EF4-FFF2-40B4-BE49-F238E27FC236}">
                <a16:creationId xmlns:a16="http://schemas.microsoft.com/office/drawing/2014/main" id="{6A098B05-3783-C682-BB53-1CE13A148765}"/>
              </a:ext>
            </a:extLst>
          </p:cNvPr>
          <p:cNvSpPr/>
          <p:nvPr/>
        </p:nvSpPr>
        <p:spPr>
          <a:xfrm>
            <a:off x="5698845" y="2459442"/>
            <a:ext cx="394247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알람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C8A4683D-2426-2D83-1E63-5025A3834568}"/>
              </a:ext>
            </a:extLst>
          </p:cNvPr>
          <p:cNvSpPr txBox="1"/>
          <p:nvPr/>
        </p:nvSpPr>
        <p:spPr>
          <a:xfrm>
            <a:off x="5754681" y="2635322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~7/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58" name="화살표: 오각형 257">
            <a:extLst>
              <a:ext uri="{FF2B5EF4-FFF2-40B4-BE49-F238E27FC236}">
                <a16:creationId xmlns:a16="http://schemas.microsoft.com/office/drawing/2014/main" id="{9243694E-CEF3-97F5-E3E8-6F06BB60432E}"/>
              </a:ext>
            </a:extLst>
          </p:cNvPr>
          <p:cNvSpPr/>
          <p:nvPr/>
        </p:nvSpPr>
        <p:spPr>
          <a:xfrm>
            <a:off x="6076474" y="2464129"/>
            <a:ext cx="759644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효과검증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0FAF08FE-DAF3-B8B5-51C5-4E19C3261A2C}"/>
              </a:ext>
            </a:extLst>
          </p:cNvPr>
          <p:cNvSpPr txBox="1"/>
          <p:nvPr/>
        </p:nvSpPr>
        <p:spPr>
          <a:xfrm>
            <a:off x="6502286" y="2636033"/>
            <a:ext cx="4327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~8/31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2299664D-AB5C-9E97-D917-CB5875CC31A9}"/>
              </a:ext>
            </a:extLst>
          </p:cNvPr>
          <p:cNvSpPr txBox="1"/>
          <p:nvPr/>
        </p:nvSpPr>
        <p:spPr>
          <a:xfrm>
            <a:off x="6537176" y="3715156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~8/31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76B62DD0-6593-81E6-C26C-6FF0CEB96304}"/>
              </a:ext>
            </a:extLst>
          </p:cNvPr>
          <p:cNvSpPr txBox="1"/>
          <p:nvPr/>
        </p:nvSpPr>
        <p:spPr>
          <a:xfrm>
            <a:off x="196281" y="620688"/>
            <a:ext cx="9581255" cy="57214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ESOT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 전개는 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8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Target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으로 진행하고자 하며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지속 모니터링 및 고도화 하겠습니다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r>
              <a:rPr kumimoji="1"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(SOP 6/22~)</a:t>
            </a:r>
            <a:b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ESMI </a:t>
            </a:r>
            <a:r>
              <a:rPr kumimoji="1" lang="ko-KR" altLang="en-US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대비 설비 사양 변경 적용</a:t>
            </a:r>
            <a:r>
              <a:rPr kumimoji="1" lang="en-US" altLang="ko-KR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(CCPS, AMR </a:t>
            </a:r>
            <a:r>
              <a:rPr kumimoji="1" lang="ko-KR" altLang="en-US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물류 등</a:t>
            </a:r>
            <a:r>
              <a:rPr kumimoji="1" lang="en-US" altLang="ko-KR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으로 양산 운영하면서 신규 과제 발굴</a:t>
            </a:r>
            <a:r>
              <a:rPr kumimoji="1" lang="en-US" altLang="ko-KR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검토하여 적용 하겠습니다</a:t>
            </a:r>
            <a:r>
              <a:rPr kumimoji="1" lang="en-US" altLang="ko-KR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7A8F01D4-20E8-091F-048F-0607848A1784}"/>
              </a:ext>
            </a:extLst>
          </p:cNvPr>
          <p:cNvSpPr txBox="1"/>
          <p:nvPr/>
        </p:nvSpPr>
        <p:spPr>
          <a:xfrm>
            <a:off x="5042938" y="4070423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~6/30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2DEBBE3D-B74A-E282-1E81-626969646CB7}"/>
              </a:ext>
            </a:extLst>
          </p:cNvPr>
          <p:cNvSpPr txBox="1"/>
          <p:nvPr/>
        </p:nvSpPr>
        <p:spPr>
          <a:xfrm>
            <a:off x="5449352" y="4076691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~7/15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B267005-DEC6-A711-4AE9-9AC4CC5FF701}"/>
              </a:ext>
            </a:extLst>
          </p:cNvPr>
          <p:cNvSpPr txBox="1"/>
          <p:nvPr/>
        </p:nvSpPr>
        <p:spPr>
          <a:xfrm>
            <a:off x="5754681" y="4076691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~7/31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5" name="화살표: 오각형 264">
            <a:extLst>
              <a:ext uri="{FF2B5EF4-FFF2-40B4-BE49-F238E27FC236}">
                <a16:creationId xmlns:a16="http://schemas.microsoft.com/office/drawing/2014/main" id="{4C958E93-E0B3-D1FF-01E5-E3285251FB57}"/>
              </a:ext>
            </a:extLst>
          </p:cNvPr>
          <p:cNvSpPr/>
          <p:nvPr/>
        </p:nvSpPr>
        <p:spPr>
          <a:xfrm>
            <a:off x="6091983" y="3900811"/>
            <a:ext cx="314567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알람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10C5F78A-6E88-8180-B70B-59C36D2D57DA}"/>
              </a:ext>
            </a:extLst>
          </p:cNvPr>
          <p:cNvSpPr txBox="1"/>
          <p:nvPr/>
        </p:nvSpPr>
        <p:spPr>
          <a:xfrm>
            <a:off x="6111959" y="4076691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~8/15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7" name="화살표: 오각형 266">
            <a:extLst>
              <a:ext uri="{FF2B5EF4-FFF2-40B4-BE49-F238E27FC236}">
                <a16:creationId xmlns:a16="http://schemas.microsoft.com/office/drawing/2014/main" id="{3E373CB0-89C2-1FC4-385B-DFEF40FEA1EF}"/>
              </a:ext>
            </a:extLst>
          </p:cNvPr>
          <p:cNvSpPr/>
          <p:nvPr/>
        </p:nvSpPr>
        <p:spPr>
          <a:xfrm>
            <a:off x="6076475" y="4251768"/>
            <a:ext cx="763720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검증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B28B33D2-FB0A-36DE-0504-485DB4D842A4}"/>
              </a:ext>
            </a:extLst>
          </p:cNvPr>
          <p:cNvSpPr txBox="1"/>
          <p:nvPr/>
        </p:nvSpPr>
        <p:spPr>
          <a:xfrm>
            <a:off x="6537176" y="4427648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~8/31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9" name="화살표: 오각형 268">
            <a:extLst>
              <a:ext uri="{FF2B5EF4-FFF2-40B4-BE49-F238E27FC236}">
                <a16:creationId xmlns:a16="http://schemas.microsoft.com/office/drawing/2014/main" id="{D73D4890-CCE6-0E21-D9D6-5F8CED8BFDE0}"/>
              </a:ext>
            </a:extLst>
          </p:cNvPr>
          <p:cNvSpPr/>
          <p:nvPr/>
        </p:nvSpPr>
        <p:spPr>
          <a:xfrm>
            <a:off x="4951067" y="3898519"/>
            <a:ext cx="447034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</a:t>
            </a:r>
            <a:r>
              <a:rPr lang="ko-KR" altLang="en-US" sz="7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연동</a:t>
            </a:r>
            <a:br>
              <a:rPr lang="en-US" altLang="ko-KR" sz="7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7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개소 검토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71" name="화살표: 오각형 270">
            <a:extLst>
              <a:ext uri="{FF2B5EF4-FFF2-40B4-BE49-F238E27FC236}">
                <a16:creationId xmlns:a16="http://schemas.microsoft.com/office/drawing/2014/main" id="{F53E3E7A-B02D-460E-2492-6FB7309DF322}"/>
              </a:ext>
            </a:extLst>
          </p:cNvPr>
          <p:cNvSpPr/>
          <p:nvPr/>
        </p:nvSpPr>
        <p:spPr>
          <a:xfrm>
            <a:off x="5351707" y="3900811"/>
            <a:ext cx="447034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Tag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List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72" name="화살표: 오각형 271">
            <a:extLst>
              <a:ext uri="{FF2B5EF4-FFF2-40B4-BE49-F238E27FC236}">
                <a16:creationId xmlns:a16="http://schemas.microsoft.com/office/drawing/2014/main" id="{0B3FC908-3603-991D-DC09-9A3DF99A65AA}"/>
              </a:ext>
            </a:extLst>
          </p:cNvPr>
          <p:cNvSpPr/>
          <p:nvPr/>
        </p:nvSpPr>
        <p:spPr>
          <a:xfrm>
            <a:off x="5733485" y="3900811"/>
            <a:ext cx="371391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모델링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73" name="화살표: 오각형 272">
            <a:extLst>
              <a:ext uri="{FF2B5EF4-FFF2-40B4-BE49-F238E27FC236}">
                <a16:creationId xmlns:a16="http://schemas.microsoft.com/office/drawing/2014/main" id="{B7985882-C2FE-0453-4943-2E68F1F7E76E}"/>
              </a:ext>
            </a:extLst>
          </p:cNvPr>
          <p:cNvSpPr/>
          <p:nvPr/>
        </p:nvSpPr>
        <p:spPr>
          <a:xfrm>
            <a:off x="4995210" y="4600171"/>
            <a:ext cx="724662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Data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 및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W/F Trend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점검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E143B409-27F1-30A9-B656-3DE84AC056BE}"/>
              </a:ext>
            </a:extLst>
          </p:cNvPr>
          <p:cNvSpPr txBox="1"/>
          <p:nvPr/>
        </p:nvSpPr>
        <p:spPr>
          <a:xfrm>
            <a:off x="5449352" y="4772075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~7/15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75" name="화살표: 오각형 274">
            <a:extLst>
              <a:ext uri="{FF2B5EF4-FFF2-40B4-BE49-F238E27FC236}">
                <a16:creationId xmlns:a16="http://schemas.microsoft.com/office/drawing/2014/main" id="{86293B53-80FE-61CD-481C-C3C377572C27}"/>
              </a:ext>
            </a:extLst>
          </p:cNvPr>
          <p:cNvSpPr/>
          <p:nvPr/>
        </p:nvSpPr>
        <p:spPr>
          <a:xfrm>
            <a:off x="5086168" y="4967030"/>
            <a:ext cx="682152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연결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모델링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6CDE8711-730B-3021-FE16-34AC68D2A019}"/>
              </a:ext>
            </a:extLst>
          </p:cNvPr>
          <p:cNvSpPr txBox="1"/>
          <p:nvPr/>
        </p:nvSpPr>
        <p:spPr>
          <a:xfrm>
            <a:off x="5449352" y="5138934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~7/15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77" name="화살표: 오각형 276">
            <a:extLst>
              <a:ext uri="{FF2B5EF4-FFF2-40B4-BE49-F238E27FC236}">
                <a16:creationId xmlns:a16="http://schemas.microsoft.com/office/drawing/2014/main" id="{753F7568-F77F-D025-844A-EBD6B0AAA364}"/>
              </a:ext>
            </a:extLst>
          </p:cNvPr>
          <p:cNvSpPr/>
          <p:nvPr/>
        </p:nvSpPr>
        <p:spPr>
          <a:xfrm>
            <a:off x="5773585" y="4967030"/>
            <a:ext cx="284286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알람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B7C3234B-8DEF-B66A-AC29-34F54C1921E3}"/>
              </a:ext>
            </a:extLst>
          </p:cNvPr>
          <p:cNvSpPr txBox="1"/>
          <p:nvPr/>
        </p:nvSpPr>
        <p:spPr>
          <a:xfrm>
            <a:off x="5754681" y="5138934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~7/31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353587D6-DDE7-73C5-1784-2099FBEA7693}"/>
              </a:ext>
            </a:extLst>
          </p:cNvPr>
          <p:cNvSpPr txBox="1"/>
          <p:nvPr/>
        </p:nvSpPr>
        <p:spPr>
          <a:xfrm>
            <a:off x="6537176" y="5138934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~8/31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89" name="화살표: 오각형 288">
            <a:extLst>
              <a:ext uri="{FF2B5EF4-FFF2-40B4-BE49-F238E27FC236}">
                <a16:creationId xmlns:a16="http://schemas.microsoft.com/office/drawing/2014/main" id="{BE2B2929-79DB-C375-C5DE-0C44080F0BF2}"/>
              </a:ext>
            </a:extLst>
          </p:cNvPr>
          <p:cNvSpPr/>
          <p:nvPr/>
        </p:nvSpPr>
        <p:spPr>
          <a:xfrm>
            <a:off x="6076474" y="4967030"/>
            <a:ext cx="720047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검증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1" name="화살표: 오각형 290">
            <a:extLst>
              <a:ext uri="{FF2B5EF4-FFF2-40B4-BE49-F238E27FC236}">
                <a16:creationId xmlns:a16="http://schemas.microsoft.com/office/drawing/2014/main" id="{57884D84-436A-4B68-E27E-574B4D7F965F}"/>
              </a:ext>
            </a:extLst>
          </p:cNvPr>
          <p:cNvSpPr/>
          <p:nvPr/>
        </p:nvSpPr>
        <p:spPr>
          <a:xfrm>
            <a:off x="5673080" y="4600171"/>
            <a:ext cx="1152000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Leak Data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모니터링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E64DDF2D-E221-56C1-74A2-E8246BBDE45A}"/>
              </a:ext>
            </a:extLst>
          </p:cNvPr>
          <p:cNvSpPr txBox="1"/>
          <p:nvPr/>
        </p:nvSpPr>
        <p:spPr>
          <a:xfrm>
            <a:off x="6537176" y="4772075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~8/31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5" name="화살표: 오각형 294">
            <a:extLst>
              <a:ext uri="{FF2B5EF4-FFF2-40B4-BE49-F238E27FC236}">
                <a16:creationId xmlns:a16="http://schemas.microsoft.com/office/drawing/2014/main" id="{A0951211-230A-B2AE-1927-6F4F9EEBFB6F}"/>
              </a:ext>
            </a:extLst>
          </p:cNvPr>
          <p:cNvSpPr/>
          <p:nvPr/>
        </p:nvSpPr>
        <p:spPr>
          <a:xfrm>
            <a:off x="5086168" y="5324929"/>
            <a:ext cx="682152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연결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모델링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A040A5E2-9729-65B5-C81B-802E919716E8}"/>
              </a:ext>
            </a:extLst>
          </p:cNvPr>
          <p:cNvSpPr txBox="1"/>
          <p:nvPr/>
        </p:nvSpPr>
        <p:spPr>
          <a:xfrm>
            <a:off x="5449352" y="5506069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~7/15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7" name="화살표: 오각형 296">
            <a:extLst>
              <a:ext uri="{FF2B5EF4-FFF2-40B4-BE49-F238E27FC236}">
                <a16:creationId xmlns:a16="http://schemas.microsoft.com/office/drawing/2014/main" id="{3B5BBBC6-165A-6090-251F-3A7B595FEF88}"/>
              </a:ext>
            </a:extLst>
          </p:cNvPr>
          <p:cNvSpPr/>
          <p:nvPr/>
        </p:nvSpPr>
        <p:spPr>
          <a:xfrm>
            <a:off x="5773585" y="5324929"/>
            <a:ext cx="284286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알람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E0C4816C-D218-0B29-F16D-97CFFBF59199}"/>
              </a:ext>
            </a:extLst>
          </p:cNvPr>
          <p:cNvSpPr txBox="1"/>
          <p:nvPr/>
        </p:nvSpPr>
        <p:spPr>
          <a:xfrm>
            <a:off x="5754681" y="5506069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~7/31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77DBD060-96B0-A693-A53B-984DE4433589}"/>
              </a:ext>
            </a:extLst>
          </p:cNvPr>
          <p:cNvSpPr txBox="1"/>
          <p:nvPr/>
        </p:nvSpPr>
        <p:spPr>
          <a:xfrm>
            <a:off x="6537176" y="5506069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~8/31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0" name="화살표: 오각형 299">
            <a:extLst>
              <a:ext uri="{FF2B5EF4-FFF2-40B4-BE49-F238E27FC236}">
                <a16:creationId xmlns:a16="http://schemas.microsoft.com/office/drawing/2014/main" id="{D1DBEBFA-687A-DC67-2C2C-8D88C29A4875}"/>
              </a:ext>
            </a:extLst>
          </p:cNvPr>
          <p:cNvSpPr/>
          <p:nvPr/>
        </p:nvSpPr>
        <p:spPr>
          <a:xfrm>
            <a:off x="6076474" y="5324929"/>
            <a:ext cx="720047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</a:t>
            </a:r>
            <a:b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검증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ECD9D5-6320-62A8-1E53-0CB7C3063398}"/>
              </a:ext>
            </a:extLst>
          </p:cNvPr>
          <p:cNvSpPr txBox="1"/>
          <p:nvPr/>
        </p:nvSpPr>
        <p:spPr>
          <a:xfrm>
            <a:off x="1490225" y="1457849"/>
            <a:ext cx="10823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 전개 지원 방안</a:t>
            </a:r>
          </a:p>
        </p:txBody>
      </p:sp>
      <p:sp>
        <p:nvSpPr>
          <p:cNvPr id="8" name="실행 단추: 앞으로 또는 다음으로 이동 7">
            <a:hlinkClick r:id="rId4" action="ppaction://hlinksldjump"/>
            <a:extLst>
              <a:ext uri="{FF2B5EF4-FFF2-40B4-BE49-F238E27FC236}">
                <a16:creationId xmlns:a16="http://schemas.microsoft.com/office/drawing/2014/main" id="{74B196CB-A042-46CA-DD1D-20EC38DE5E34}"/>
              </a:ext>
            </a:extLst>
          </p:cNvPr>
          <p:cNvSpPr/>
          <p:nvPr/>
        </p:nvSpPr>
        <p:spPr>
          <a:xfrm>
            <a:off x="2513248" y="1506096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화살표: 오각형 8">
            <a:extLst>
              <a:ext uri="{FF2B5EF4-FFF2-40B4-BE49-F238E27FC236}">
                <a16:creationId xmlns:a16="http://schemas.microsoft.com/office/drawing/2014/main" id="{F53157CC-63D1-1CC5-8E34-A6D97B77564D}"/>
              </a:ext>
            </a:extLst>
          </p:cNvPr>
          <p:cNvSpPr/>
          <p:nvPr/>
        </p:nvSpPr>
        <p:spPr>
          <a:xfrm>
            <a:off x="6836118" y="2098084"/>
            <a:ext cx="2896321" cy="3581624"/>
          </a:xfrm>
          <a:prstGeom prst="homePlate">
            <a:avLst>
              <a:gd name="adj" fmla="val 19013"/>
            </a:avLst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성과 검증 및 관리 지표 모니터링</a:t>
            </a:r>
            <a:b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(9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~)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" name="화살표: 오각형 11">
            <a:extLst>
              <a:ext uri="{FF2B5EF4-FFF2-40B4-BE49-F238E27FC236}">
                <a16:creationId xmlns:a16="http://schemas.microsoft.com/office/drawing/2014/main" id="{EEEA5B8A-8BEE-3BFD-512C-90449778AB78}"/>
              </a:ext>
            </a:extLst>
          </p:cNvPr>
          <p:cNvSpPr/>
          <p:nvPr/>
        </p:nvSpPr>
        <p:spPr>
          <a:xfrm>
            <a:off x="5328065" y="2819842"/>
            <a:ext cx="705054" cy="234000"/>
          </a:xfrm>
          <a:prstGeom prst="homePlate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양산 중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Data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E4254-4E9A-8D64-37BD-C84A04480A1A}"/>
              </a:ext>
            </a:extLst>
          </p:cNvPr>
          <p:cNvSpPr txBox="1"/>
          <p:nvPr/>
        </p:nvSpPr>
        <p:spPr>
          <a:xfrm>
            <a:off x="5754681" y="2991746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~7/31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862781-50A0-198D-0FB0-E1E40F802AB9}"/>
              </a:ext>
            </a:extLst>
          </p:cNvPr>
          <p:cNvSpPr txBox="1"/>
          <p:nvPr/>
        </p:nvSpPr>
        <p:spPr>
          <a:xfrm>
            <a:off x="2359888" y="1098927"/>
            <a:ext cx="5033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CCPS(Continuous Cell Production System) : Cell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검사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~ R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벤딩 공정을 무정지 흐름 방식으로 최적화하는 기술</a:t>
            </a:r>
            <a:b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AMR(Autonomous Mobile Robots) 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FF13A-F990-8B27-B417-29D1AE8FA2CD}"/>
              </a:ext>
            </a:extLst>
          </p:cNvPr>
          <p:cNvSpPr txBox="1"/>
          <p:nvPr/>
        </p:nvSpPr>
        <p:spPr>
          <a:xfrm>
            <a:off x="9906000" y="836712"/>
            <a:ext cx="267984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Stop&amp;Go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방식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(ESMI)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Cell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검사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~ R Bending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까지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4 Pitch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 이동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이후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Spray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도포부터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Stacking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까지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8 Pitch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 공급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85A956-9920-A067-B5CA-91B3F5AA14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601" y="1471845"/>
            <a:ext cx="3692996" cy="282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35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JF2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직행률 및 가동률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Trend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33066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JF2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모듈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팩의 직행률 지속 개선 중이며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DX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과제 적용을 통해 개선 및 유지 될 수 있도록 지속 모니터링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관리 하겠음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04265-5D21-9E44-F602-844195C22379}"/>
              </a:ext>
            </a:extLst>
          </p:cNvPr>
          <p:cNvSpPr txBox="1"/>
          <p:nvPr/>
        </p:nvSpPr>
        <p:spPr>
          <a:xfrm>
            <a:off x="262266" y="1351130"/>
            <a:ext cx="1489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JF2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모듈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팩 직행률</a:t>
            </a:r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A7D58109-1DD0-0E50-41D2-A6BF668957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7406149"/>
              </p:ext>
            </p:extLst>
          </p:nvPr>
        </p:nvGraphicFramePr>
        <p:xfrm>
          <a:off x="438519" y="1503319"/>
          <a:ext cx="9073008" cy="21856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DA9A6EF-B12D-2D37-58F8-2D2D52A74E86}"/>
              </a:ext>
            </a:extLst>
          </p:cNvPr>
          <p:cNvSpPr txBox="1"/>
          <p:nvPr/>
        </p:nvSpPr>
        <p:spPr>
          <a:xfrm>
            <a:off x="0" y="1830304"/>
            <a:ext cx="9116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도전 목표 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97.0%</a:t>
            </a:r>
            <a:endParaRPr lang="ko-KR" altLang="en-US" sz="9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8DDB-954D-C120-D6CB-BB692EDE6CDB}"/>
              </a:ext>
            </a:extLst>
          </p:cNvPr>
          <p:cNvSpPr txBox="1"/>
          <p:nvPr/>
        </p:nvSpPr>
        <p:spPr>
          <a:xfrm>
            <a:off x="262266" y="1118901"/>
            <a:ext cx="12041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기준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 25.12/1 ~ 26.5/31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65E3DF-984B-DBF4-9A7A-5D637A4B4EAC}"/>
              </a:ext>
            </a:extLst>
          </p:cNvPr>
          <p:cNvSpPr txBox="1"/>
          <p:nvPr/>
        </p:nvSpPr>
        <p:spPr>
          <a:xfrm>
            <a:off x="0" y="2593201"/>
            <a:ext cx="911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사업계획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956B65-96C8-C113-09E3-49CC3998A5B4}"/>
              </a:ext>
            </a:extLst>
          </p:cNvPr>
          <p:cNvSpPr txBox="1"/>
          <p:nvPr/>
        </p:nvSpPr>
        <p:spPr>
          <a:xfrm>
            <a:off x="262266" y="3861048"/>
            <a:ext cx="1758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JF2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모듈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팩 생산가동률</a:t>
            </a:r>
          </a:p>
        </p:txBody>
      </p:sp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378F3D47-E38D-3778-9446-44CB9E2EED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4468244"/>
              </p:ext>
            </p:extLst>
          </p:nvPr>
        </p:nvGraphicFramePr>
        <p:xfrm>
          <a:off x="438519" y="4138047"/>
          <a:ext cx="9073008" cy="21856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02153E3-70E6-0A87-5E38-FC3D0309503D}"/>
              </a:ext>
            </a:extLst>
          </p:cNvPr>
          <p:cNvSpPr txBox="1"/>
          <p:nvPr/>
        </p:nvSpPr>
        <p:spPr>
          <a:xfrm>
            <a:off x="0" y="4394796"/>
            <a:ext cx="9116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도전 목표 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90.0%</a:t>
            </a:r>
            <a:endParaRPr lang="ko-KR" altLang="en-US" sz="9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6764CC-3EE3-15CD-6592-09CC68CEE72F}"/>
              </a:ext>
            </a:extLst>
          </p:cNvPr>
          <p:cNvSpPr txBox="1"/>
          <p:nvPr/>
        </p:nvSpPr>
        <p:spPr>
          <a:xfrm>
            <a:off x="0" y="5227929"/>
            <a:ext cx="911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사업계획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</a:t>
            </a:r>
          </a:p>
        </p:txBody>
      </p:sp>
    </p:spTree>
    <p:extLst>
      <p:ext uri="{BB962C8B-B14F-4D97-AF65-F5344CB8AC3E}">
        <p14:creationId xmlns:p14="http://schemas.microsoft.com/office/powerpoint/2010/main" val="3848739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DX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대상 직행불량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Trend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9A50BE-2487-7145-2715-C8F45C10FC7C}"/>
              </a:ext>
            </a:extLst>
          </p:cNvPr>
          <p:cNvSpPr txBox="1"/>
          <p:nvPr/>
        </p:nvSpPr>
        <p:spPr>
          <a:xfrm>
            <a:off x="196281" y="620688"/>
            <a:ext cx="9581255" cy="33066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대상 직행불량률은 개선 추세에 있으며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지속적인 개선을 위해 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기반 모니터링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관리 하겠음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7DB1401B-0982-E308-E4DE-0A39C3D7E1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2850113"/>
              </p:ext>
            </p:extLst>
          </p:nvPr>
        </p:nvGraphicFramePr>
        <p:xfrm>
          <a:off x="560512" y="1187209"/>
          <a:ext cx="4176464" cy="1687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30D3FF1D-A343-ACF4-EF83-9791AF4AD7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725660"/>
              </p:ext>
            </p:extLst>
          </p:nvPr>
        </p:nvGraphicFramePr>
        <p:xfrm>
          <a:off x="5169026" y="1187209"/>
          <a:ext cx="4176464" cy="1687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D911C4CA-7D21-EB28-65F2-5479F3C09A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7780222"/>
              </p:ext>
            </p:extLst>
          </p:nvPr>
        </p:nvGraphicFramePr>
        <p:xfrm>
          <a:off x="560512" y="2976564"/>
          <a:ext cx="4176464" cy="1687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B1C62335-DFBB-48A2-A15D-32B27CA8AC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3870780"/>
              </p:ext>
            </p:extLst>
          </p:nvPr>
        </p:nvGraphicFramePr>
        <p:xfrm>
          <a:off x="5169026" y="2976564"/>
          <a:ext cx="4176464" cy="1687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53AD8615-9C3A-2AE5-94A5-ADE0E6A1E0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508246"/>
              </p:ext>
            </p:extLst>
          </p:nvPr>
        </p:nvGraphicFramePr>
        <p:xfrm>
          <a:off x="560512" y="4765919"/>
          <a:ext cx="4176464" cy="1687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5E310542-D2FB-851F-BBC5-5B8A79E435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4829874"/>
              </p:ext>
            </p:extLst>
          </p:nvPr>
        </p:nvGraphicFramePr>
        <p:xfrm>
          <a:off x="5169026" y="4765919"/>
          <a:ext cx="4176464" cy="1687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0359990-23C2-EF3E-73DA-F2EB6D984F1E}"/>
              </a:ext>
            </a:extLst>
          </p:cNvPr>
          <p:cNvSpPr txBox="1"/>
          <p:nvPr/>
        </p:nvSpPr>
        <p:spPr>
          <a:xfrm>
            <a:off x="416496" y="2348785"/>
            <a:ext cx="4523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ko-KR" sz="9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0.11%</a:t>
            </a:r>
            <a:endParaRPr lang="ko-KR" altLang="en-US" sz="900" b="1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27D5BF-8BE5-8D12-316C-DF77C8018C2E}"/>
              </a:ext>
            </a:extLst>
          </p:cNvPr>
          <p:cNvSpPr txBox="1"/>
          <p:nvPr/>
        </p:nvSpPr>
        <p:spPr>
          <a:xfrm>
            <a:off x="5004838" y="2366715"/>
            <a:ext cx="4523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ko-KR" sz="9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0.05%</a:t>
            </a:r>
            <a:endParaRPr lang="ko-KR" altLang="en-US" sz="900" b="1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9310EF-57C5-AE10-A9B8-9A30ABD3EBF8}"/>
              </a:ext>
            </a:extLst>
          </p:cNvPr>
          <p:cNvSpPr txBox="1"/>
          <p:nvPr/>
        </p:nvSpPr>
        <p:spPr>
          <a:xfrm>
            <a:off x="416496" y="4174569"/>
            <a:ext cx="4523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ko-KR" sz="9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0.12%</a:t>
            </a:r>
            <a:endParaRPr lang="ko-KR" altLang="en-US" sz="900" b="1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8E3D09-C43E-7CC2-FDF8-4F93A8957A68}"/>
              </a:ext>
            </a:extLst>
          </p:cNvPr>
          <p:cNvSpPr txBox="1"/>
          <p:nvPr/>
        </p:nvSpPr>
        <p:spPr>
          <a:xfrm>
            <a:off x="5004838" y="3990256"/>
            <a:ext cx="4523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ko-KR" sz="9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0.07%</a:t>
            </a:r>
            <a:endParaRPr lang="ko-KR" altLang="en-US" sz="900" b="1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1ADB2C-8F18-221D-B7F4-E7429AA374B8}"/>
              </a:ext>
            </a:extLst>
          </p:cNvPr>
          <p:cNvSpPr txBox="1"/>
          <p:nvPr/>
        </p:nvSpPr>
        <p:spPr>
          <a:xfrm>
            <a:off x="416496" y="5987834"/>
            <a:ext cx="4523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ko-KR" sz="9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0.02%</a:t>
            </a:r>
            <a:endParaRPr lang="ko-KR" altLang="en-US" sz="900" b="1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5EA63D-E3EA-20F7-0939-996B3DEAB27F}"/>
              </a:ext>
            </a:extLst>
          </p:cNvPr>
          <p:cNvSpPr txBox="1"/>
          <p:nvPr/>
        </p:nvSpPr>
        <p:spPr>
          <a:xfrm>
            <a:off x="5004838" y="5950239"/>
            <a:ext cx="4523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ko-KR" sz="900" b="1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0.06%</a:t>
            </a:r>
            <a:endParaRPr lang="ko-KR" altLang="en-US" sz="900" b="1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70F738-46C6-7331-7D82-4D27F959D6A3}"/>
              </a:ext>
            </a:extLst>
          </p:cNvPr>
          <p:cNvSpPr txBox="1"/>
          <p:nvPr/>
        </p:nvSpPr>
        <p:spPr>
          <a:xfrm>
            <a:off x="3500358" y="5124454"/>
            <a:ext cx="14526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검사기 커뮤니케이션 이슈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524A8-4881-A011-4224-C3D01772BAC8}"/>
              </a:ext>
            </a:extLst>
          </p:cNvPr>
          <p:cNvSpPr txBox="1"/>
          <p:nvPr/>
        </p:nvSpPr>
        <p:spPr>
          <a:xfrm>
            <a:off x="8337376" y="5228873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히트 싱크 평탄도 이슈로 인한 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실링 패드 손상 가속화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C921E9-886D-AFB0-0B00-72F62DB5CBA5}"/>
              </a:ext>
            </a:extLst>
          </p:cNvPr>
          <p:cNvSpPr txBox="1"/>
          <p:nvPr/>
        </p:nvSpPr>
        <p:spPr>
          <a:xfrm>
            <a:off x="7870913" y="3295813"/>
            <a:ext cx="11865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Start Lift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평탄도 이슈 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5146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 전개 대상 검토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33066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MI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과제에 대해 법인별 확산 전개 필요 여부 확인 하였으며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아래 과제 대상 추가 논의 및 전개 진행하겠음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22" name="내용 개체 틀 6">
            <a:extLst>
              <a:ext uri="{FF2B5EF4-FFF2-40B4-BE49-F238E27FC236}">
                <a16:creationId xmlns:a16="http://schemas.microsoft.com/office/drawing/2014/main" id="{69287737-F91D-E7DB-22D3-31FFAFB938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5479794"/>
              </p:ext>
            </p:extLst>
          </p:nvPr>
        </p:nvGraphicFramePr>
        <p:xfrm>
          <a:off x="344488" y="1398739"/>
          <a:ext cx="9264236" cy="4247406"/>
        </p:xfrm>
        <a:graphic>
          <a:graphicData uri="http://schemas.openxmlformats.org/drawingml/2006/table">
            <a:tbl>
              <a:tblPr firstRow="1" bandRow="1"/>
              <a:tblGrid>
                <a:gridCol w="556612">
                  <a:extLst>
                    <a:ext uri="{9D8B030D-6E8A-4147-A177-3AD203B41FA5}">
                      <a16:colId xmlns:a16="http://schemas.microsoft.com/office/drawing/2014/main" val="2401416873"/>
                    </a:ext>
                  </a:extLst>
                </a:gridCol>
                <a:gridCol w="2062964">
                  <a:extLst>
                    <a:ext uri="{9D8B030D-6E8A-4147-A177-3AD203B41FA5}">
                      <a16:colId xmlns:a16="http://schemas.microsoft.com/office/drawing/2014/main" val="3385856475"/>
                    </a:ext>
                  </a:extLst>
                </a:gridCol>
                <a:gridCol w="1916928">
                  <a:extLst>
                    <a:ext uri="{9D8B030D-6E8A-4147-A177-3AD203B41FA5}">
                      <a16:colId xmlns:a16="http://schemas.microsoft.com/office/drawing/2014/main" val="1186992123"/>
                    </a:ext>
                  </a:extLst>
                </a:gridCol>
                <a:gridCol w="542413">
                  <a:extLst>
                    <a:ext uri="{9D8B030D-6E8A-4147-A177-3AD203B41FA5}">
                      <a16:colId xmlns:a16="http://schemas.microsoft.com/office/drawing/2014/main" val="2166072186"/>
                    </a:ext>
                  </a:extLst>
                </a:gridCol>
                <a:gridCol w="515273">
                  <a:extLst>
                    <a:ext uri="{9D8B030D-6E8A-4147-A177-3AD203B41FA5}">
                      <a16:colId xmlns:a16="http://schemas.microsoft.com/office/drawing/2014/main" val="330253156"/>
                    </a:ext>
                  </a:extLst>
                </a:gridCol>
                <a:gridCol w="515273">
                  <a:extLst>
                    <a:ext uri="{9D8B030D-6E8A-4147-A177-3AD203B41FA5}">
                      <a16:colId xmlns:a16="http://schemas.microsoft.com/office/drawing/2014/main" val="123789283"/>
                    </a:ext>
                  </a:extLst>
                </a:gridCol>
                <a:gridCol w="515273">
                  <a:extLst>
                    <a:ext uri="{9D8B030D-6E8A-4147-A177-3AD203B41FA5}">
                      <a16:colId xmlns:a16="http://schemas.microsoft.com/office/drawing/2014/main" val="119417741"/>
                    </a:ext>
                  </a:extLst>
                </a:gridCol>
                <a:gridCol w="2639500">
                  <a:extLst>
                    <a:ext uri="{9D8B030D-6E8A-4147-A177-3AD203B41FA5}">
                      <a16:colId xmlns:a16="http://schemas.microsoft.com/office/drawing/2014/main" val="2321359876"/>
                    </a:ext>
                  </a:extLst>
                </a:gridCol>
              </a:tblGrid>
              <a:tr h="320460">
                <a:tc rowSpan="2">
                  <a:txBody>
                    <a:bodyPr/>
                    <a:lstStyle/>
                    <a:p>
                      <a:pPr marL="0" indent="0" algn="ctr" latinLnBrk="1"/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en-US" altLang="ko-KR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과제명</a:t>
                      </a:r>
                      <a:endParaRPr lang="en-US" altLang="ko-KR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세부 진행 내용</a:t>
                      </a:r>
                      <a:br>
                        <a:rPr lang="en-US" altLang="ko-KR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(ESMI)</a:t>
                      </a:r>
                      <a:endParaRPr lang="ko-KR" altLang="en-US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솔루션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확산 전개 필요 여부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096874"/>
                  </a:ext>
                </a:extLst>
              </a:tr>
              <a:tr h="178980">
                <a:tc vMerge="1">
                  <a:txBody>
                    <a:bodyPr/>
                    <a:lstStyle/>
                    <a:p>
                      <a:pPr marL="0" indent="0" algn="ctr" latinLnBrk="1"/>
                      <a:endParaRPr lang="en-US" altLang="ko-KR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ESOT</a:t>
                      </a:r>
                      <a:endParaRPr lang="ko-KR" altLang="en-US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ESHD</a:t>
                      </a:r>
                      <a:endParaRPr lang="ko-KR" altLang="en-US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PW_IL</a:t>
                      </a:r>
                      <a:endParaRPr lang="ko-KR" altLang="en-US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425912"/>
                  </a:ext>
                </a:extLst>
              </a:tr>
              <a:tr h="463763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 개발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CMA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가압력 자동보정 및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Pallet Air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공급 이상감지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전폭 불량 개선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관리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Pallet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CMA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전폭 두께에 따른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CMA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개별 가압보정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적용가능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(Edge PC)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OT/HD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CMA Pallet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가압이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‘CAM’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방식으로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     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전폭 균일 제어 가능하여 해당 과제 불필요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PW_IL : Edge PC (Vision PC)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적용 가능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579761"/>
                  </a:ext>
                </a:extLst>
              </a:tr>
              <a:tr h="3951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Air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공급 실린더 및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Pallet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가압 블록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 감지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적용불가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136418"/>
                  </a:ext>
                </a:extLst>
              </a:tr>
              <a:tr h="3951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</a:t>
                      </a: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</a:t>
                      </a: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 값 기반 </a:t>
                      </a: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End Plate</a:t>
                      </a:r>
                      <a:b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위치 자동보정 및 관리선 알람 설정</a:t>
                      </a:r>
                      <a:b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불량 개선</a:t>
                      </a: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관리</a:t>
                      </a: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Metal Strap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Station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구분하여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E/P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부착 위치 및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축 자동보정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양산 후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검토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적용가능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(Edge PC)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적용가능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(Edge PC)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OT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 후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E/P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위치 틀어짐 모니터링하여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검토 후 적용 예정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HD/PW_IL : Edge PC (Vision PC)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적용 가능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407172"/>
                  </a:ext>
                </a:extLst>
              </a:tr>
              <a:tr h="4600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E/P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틀어짐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티칭 위치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&amp;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 렌즈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Y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축 이동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(TRF, Start Lift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틀어짐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확산전개 대상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적용불가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적용불가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961813"/>
                  </a:ext>
                </a:extLst>
              </a:tr>
              <a:tr h="58091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레진 도포 자동보정을 통한 레진 무게 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산포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소모량 최적화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피드백 자동보정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실시간 산포 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자동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Target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설정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무게 하한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헌팅 예측 보정 기반 소모량 절감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확산전개 대상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적용가능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(Edge PC)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적용가능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(Edge PC)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HD/PW_IL : Edge PC (Vision PC)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적용 가능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WA :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 모듈 설비 수평전개 진행 예정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(Ford)</a:t>
                      </a:r>
                      <a:b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  Renault CTP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는 실 무게 로드셀 측정 불가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695139"/>
                  </a:ext>
                </a:extLst>
              </a:tr>
              <a:tr h="5809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타 법인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참고 사례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FDC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적용을 통한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 부동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/Issue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사전 감지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Vision Gray Value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PC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이상감지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(CPU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점유율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온도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RAM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사용률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DISK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저장량 등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Data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연동 및 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모델링 적용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확산전개 대상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적용불가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적용불가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HD :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시스템 활용 대상 최종 선정 후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FDC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논의 필요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488353"/>
                  </a:ext>
                </a:extLst>
              </a:tr>
              <a:tr h="7180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기존 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응용 사례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가성 불량 이상 감지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G/B Test :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Pin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저항 값 연동 후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알람 적용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Pin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 전류 인가 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케이블 소손 이상 감지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Leak Test :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실링 패드 마모 기인 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 감지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확산전개 대상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적용불가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적용불가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14320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15D9120-9715-D9C3-1B31-2B0BE833188F}"/>
              </a:ext>
            </a:extLst>
          </p:cNvPr>
          <p:cNvSpPr txBox="1"/>
          <p:nvPr/>
        </p:nvSpPr>
        <p:spPr>
          <a:xfrm>
            <a:off x="262266" y="1062498"/>
            <a:ext cx="1143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과제 항목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F41732-7C66-F158-EB39-11D519E071E4}"/>
              </a:ext>
            </a:extLst>
          </p:cNvPr>
          <p:cNvSpPr txBox="1"/>
          <p:nvPr/>
        </p:nvSpPr>
        <p:spPr>
          <a:xfrm>
            <a:off x="5520099" y="5643318"/>
            <a:ext cx="415690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HD :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외주 운영 계약 및 시스템 활용 최종 선정 이후 논의 필요</a:t>
            </a:r>
            <a:b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(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현재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MES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만 활용 협의되어 추가 확인 필요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자동보정은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Edge PC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적용 가능</a:t>
            </a:r>
            <a:b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PW_IL :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진행 간 비용 처리 협의 필요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(w. ESMI.Pack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외주담당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FDC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시스템 미활용으로 불가하며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자동보정은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Edge PC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적용 가능</a:t>
            </a:r>
          </a:p>
        </p:txBody>
      </p:sp>
      <p:sp>
        <p:nvSpPr>
          <p:cNvPr id="2" name="실행 단추: 홈으로 이동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3E165D0-C970-27B9-356F-09E5ED3A0EE2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DD1607F7-11C0-F08F-24C0-01ED9E7C0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432566"/>
              </p:ext>
            </p:extLst>
          </p:nvPr>
        </p:nvGraphicFramePr>
        <p:xfrm>
          <a:off x="344488" y="5844361"/>
          <a:ext cx="1816573" cy="602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125">
                  <a:extLst>
                    <a:ext uri="{9D8B030D-6E8A-4147-A177-3AD203B41FA5}">
                      <a16:colId xmlns:a16="http://schemas.microsoft.com/office/drawing/2014/main" val="1955248135"/>
                    </a:ext>
                  </a:extLst>
                </a:gridCol>
                <a:gridCol w="353862">
                  <a:extLst>
                    <a:ext uri="{9D8B030D-6E8A-4147-A177-3AD203B41FA5}">
                      <a16:colId xmlns:a16="http://schemas.microsoft.com/office/drawing/2014/main" val="2988238009"/>
                    </a:ext>
                  </a:extLst>
                </a:gridCol>
                <a:gridCol w="353862">
                  <a:extLst>
                    <a:ext uri="{9D8B030D-6E8A-4147-A177-3AD203B41FA5}">
                      <a16:colId xmlns:a16="http://schemas.microsoft.com/office/drawing/2014/main" val="2426388598"/>
                    </a:ext>
                  </a:extLst>
                </a:gridCol>
                <a:gridCol w="353862">
                  <a:extLst>
                    <a:ext uri="{9D8B030D-6E8A-4147-A177-3AD203B41FA5}">
                      <a16:colId xmlns:a16="http://schemas.microsoft.com/office/drawing/2014/main" val="1095311046"/>
                    </a:ext>
                  </a:extLst>
                </a:gridCol>
                <a:gridCol w="353862">
                  <a:extLst>
                    <a:ext uri="{9D8B030D-6E8A-4147-A177-3AD203B41FA5}">
                      <a16:colId xmlns:a16="http://schemas.microsoft.com/office/drawing/2014/main" val="693720560"/>
                    </a:ext>
                  </a:extLst>
                </a:gridCol>
              </a:tblGrid>
              <a:tr h="200879">
                <a:tc gridSpan="5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※ ESS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모듈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Line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 현황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087698"/>
                  </a:ext>
                </a:extLst>
              </a:tr>
              <a:tr h="200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Site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ESMI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ESOT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ESHD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PW_IL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561922"/>
                  </a:ext>
                </a:extLst>
              </a:tr>
              <a:tr h="200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Line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001874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A5F72C15-D238-B3F1-9CC6-71571A8E4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5568" y="1408448"/>
            <a:ext cx="4016896" cy="242072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3236FCB-43F1-D0F6-4682-35489D998A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5568" y="4029521"/>
            <a:ext cx="4953000" cy="142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60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 전개 지원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5892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ESMI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사례 기반으로 자동보정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&amp; FDC DX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운영에 대한 프로세스를 정의하고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준비 필요 항목을 사전 논의하여 빠르게</a:t>
            </a:r>
            <a:b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 전개 지원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하고자 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실행 단추: 홈으로 이동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3E165D0-C970-27B9-356F-09E5ED3A0EE2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D5357F3-D6D4-2520-8DB2-A3F00BA9D217}"/>
              </a:ext>
            </a:extLst>
          </p:cNvPr>
          <p:cNvCxnSpPr>
            <a:cxnSpLocks/>
          </p:cNvCxnSpPr>
          <p:nvPr/>
        </p:nvCxnSpPr>
        <p:spPr>
          <a:xfrm>
            <a:off x="4953000" y="1322838"/>
            <a:ext cx="0" cy="509463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335343A-FDB4-8C34-4897-7A8AAB3F23C3}"/>
              </a:ext>
            </a:extLst>
          </p:cNvPr>
          <p:cNvSpPr txBox="1"/>
          <p:nvPr/>
        </p:nvSpPr>
        <p:spPr>
          <a:xfrm>
            <a:off x="1920396" y="1269048"/>
            <a:ext cx="1027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ko-KR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자동보정 </a:t>
            </a:r>
            <a:r>
              <a:rPr kumimoji="1" lang="ko-KR" altLang="en-US" sz="1200" b="1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</a:t>
            </a:r>
            <a:endParaRPr kumimoji="1" lang="ko-KR" altLang="en-US" sz="12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AF939F-894C-1226-B16D-46FC3C958348}"/>
              </a:ext>
            </a:extLst>
          </p:cNvPr>
          <p:cNvSpPr txBox="1"/>
          <p:nvPr/>
        </p:nvSpPr>
        <p:spPr>
          <a:xfrm>
            <a:off x="6884393" y="1269048"/>
            <a:ext cx="748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en-US" altLang="ko-KR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 </a:t>
            </a:r>
            <a:r>
              <a:rPr kumimoji="1" lang="ko-KR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과제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24719B9-1814-218E-BB65-EC28EF52025F}"/>
              </a:ext>
            </a:extLst>
          </p:cNvPr>
          <p:cNvSpPr/>
          <p:nvPr/>
        </p:nvSpPr>
        <p:spPr>
          <a:xfrm>
            <a:off x="978762" y="1620090"/>
            <a:ext cx="1008112" cy="467974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Data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및</a:t>
            </a:r>
            <a:b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유효 인자 선정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63F403-1EBF-C8FC-6DD2-D0B215714BAC}"/>
              </a:ext>
            </a:extLst>
          </p:cNvPr>
          <p:cNvSpPr txBox="1"/>
          <p:nvPr/>
        </p:nvSpPr>
        <p:spPr>
          <a:xfrm>
            <a:off x="2558555" y="1591251"/>
            <a:ext cx="1210588" cy="484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유효 인자 검토 및 제안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인자 기반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Data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022B642-8493-42D7-4AB9-AE5D6C036F8D}"/>
              </a:ext>
            </a:extLst>
          </p:cNvPr>
          <p:cNvSpPr/>
          <p:nvPr/>
        </p:nvSpPr>
        <p:spPr>
          <a:xfrm>
            <a:off x="2144437" y="1670519"/>
            <a:ext cx="432048" cy="1440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A026D59-27BC-4A35-62CE-AC04E1AAA0C9}"/>
              </a:ext>
            </a:extLst>
          </p:cNvPr>
          <p:cNvSpPr/>
          <p:nvPr/>
        </p:nvSpPr>
        <p:spPr>
          <a:xfrm>
            <a:off x="2144437" y="1883804"/>
            <a:ext cx="432048" cy="144016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72451C-8BD5-0D67-0201-097DA13A9E28}"/>
              </a:ext>
            </a:extLst>
          </p:cNvPr>
          <p:cNvSpPr/>
          <p:nvPr/>
        </p:nvSpPr>
        <p:spPr>
          <a:xfrm>
            <a:off x="978762" y="2355165"/>
            <a:ext cx="1008112" cy="46797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유효 인자</a:t>
            </a:r>
            <a:b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Test/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검증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9EC423-30B2-3EB8-8600-BD4721B44EB1}"/>
              </a:ext>
            </a:extLst>
          </p:cNvPr>
          <p:cNvSpPr txBox="1"/>
          <p:nvPr/>
        </p:nvSpPr>
        <p:spPr>
          <a:xfrm>
            <a:off x="2558555" y="2327871"/>
            <a:ext cx="1651414" cy="484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유효 인자 대상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Test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제안 및 검증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Test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후 결과 공유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DBAEB4B-7F7E-D55B-5E6A-A772144E196E}"/>
              </a:ext>
            </a:extLst>
          </p:cNvPr>
          <p:cNvSpPr/>
          <p:nvPr/>
        </p:nvSpPr>
        <p:spPr>
          <a:xfrm>
            <a:off x="2144437" y="2621395"/>
            <a:ext cx="432048" cy="1440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E849925-7C9A-0A99-CCE0-2C9DD7319E8A}"/>
              </a:ext>
            </a:extLst>
          </p:cNvPr>
          <p:cNvSpPr/>
          <p:nvPr/>
        </p:nvSpPr>
        <p:spPr>
          <a:xfrm>
            <a:off x="2144437" y="2412211"/>
            <a:ext cx="432048" cy="144016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2331CBA-F3B7-0617-041A-4DC5D78F6C55}"/>
              </a:ext>
            </a:extLst>
          </p:cNvPr>
          <p:cNvCxnSpPr>
            <a:stCxn id="31" idx="2"/>
            <a:endCxn id="39" idx="0"/>
          </p:cNvCxnSpPr>
          <p:nvPr/>
        </p:nvCxnSpPr>
        <p:spPr>
          <a:xfrm>
            <a:off x="1482818" y="2088064"/>
            <a:ext cx="0" cy="2671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81E23EE-647D-6001-31E5-B60D26DB776B}"/>
              </a:ext>
            </a:extLst>
          </p:cNvPr>
          <p:cNvSpPr/>
          <p:nvPr/>
        </p:nvSpPr>
        <p:spPr>
          <a:xfrm>
            <a:off x="1667276" y="3090240"/>
            <a:ext cx="1008112" cy="46797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 위한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APC </a:t>
            </a:r>
            <a:r>
              <a:rPr lang="ko-KR" altLang="en-US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투자</a:t>
            </a:r>
            <a:r>
              <a:rPr lang="en-US" altLang="ko-KR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D53F0BC-7BD5-78D4-257B-F48239A2B0BB}"/>
              </a:ext>
            </a:extLst>
          </p:cNvPr>
          <p:cNvSpPr/>
          <p:nvPr/>
        </p:nvSpPr>
        <p:spPr>
          <a:xfrm>
            <a:off x="272480" y="3090240"/>
            <a:ext cx="1008112" cy="46797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Logic</a:t>
            </a:r>
            <a:b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검토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FFDB6B37-F873-0BBC-892A-5BCC90791102}"/>
              </a:ext>
            </a:extLst>
          </p:cNvPr>
          <p:cNvCxnSpPr>
            <a:stCxn id="39" idx="2"/>
            <a:endCxn id="47" idx="0"/>
          </p:cNvCxnSpPr>
          <p:nvPr/>
        </p:nvCxnSpPr>
        <p:spPr>
          <a:xfrm rot="5400000">
            <a:off x="996127" y="2603548"/>
            <a:ext cx="267101" cy="706282"/>
          </a:xfrm>
          <a:prstGeom prst="bentConnector3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045E7C45-270F-9028-C8C9-0D769E6E62F1}"/>
              </a:ext>
            </a:extLst>
          </p:cNvPr>
          <p:cNvCxnSpPr>
            <a:cxnSpLocks/>
            <a:stCxn id="39" idx="2"/>
            <a:endCxn id="46" idx="0"/>
          </p:cNvCxnSpPr>
          <p:nvPr/>
        </p:nvCxnSpPr>
        <p:spPr>
          <a:xfrm rot="16200000" flipH="1">
            <a:off x="1693525" y="2612432"/>
            <a:ext cx="267101" cy="688514"/>
          </a:xfrm>
          <a:prstGeom prst="bentConnector3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2FE8683-18B8-4EA1-76B8-18E4AACC104C}"/>
              </a:ext>
            </a:extLst>
          </p:cNvPr>
          <p:cNvSpPr txBox="1"/>
          <p:nvPr/>
        </p:nvSpPr>
        <p:spPr>
          <a:xfrm>
            <a:off x="3234517" y="2961380"/>
            <a:ext cx="1568058" cy="692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APC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요건 정의 및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Logic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APC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개발 및 투자 심의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투자비 확보 및 집행 품의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(PI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팀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F9EB2B1B-7C38-45E3-C036-127CBFC0A5F3}"/>
              </a:ext>
            </a:extLst>
          </p:cNvPr>
          <p:cNvSpPr/>
          <p:nvPr/>
        </p:nvSpPr>
        <p:spPr>
          <a:xfrm>
            <a:off x="2820399" y="3047398"/>
            <a:ext cx="432048" cy="144016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FE119FE3-2987-5FF9-9FB3-C68BD210A942}"/>
              </a:ext>
            </a:extLst>
          </p:cNvPr>
          <p:cNvSpPr/>
          <p:nvPr/>
        </p:nvSpPr>
        <p:spPr>
          <a:xfrm>
            <a:off x="2820399" y="3452263"/>
            <a:ext cx="432048" cy="1440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6A6350BD-E480-905E-78BC-54970EF29B08}"/>
              </a:ext>
            </a:extLst>
          </p:cNvPr>
          <p:cNvSpPr/>
          <p:nvPr/>
        </p:nvSpPr>
        <p:spPr>
          <a:xfrm>
            <a:off x="2820399" y="3243461"/>
            <a:ext cx="432048" cy="14401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DX</a:t>
            </a:r>
            <a:endParaRPr lang="ko-KR" altLang="en-US" sz="8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9A95885-F7D3-8287-6B59-AB2204B8E369}"/>
              </a:ext>
            </a:extLst>
          </p:cNvPr>
          <p:cNvSpPr/>
          <p:nvPr/>
        </p:nvSpPr>
        <p:spPr>
          <a:xfrm>
            <a:off x="978762" y="3825315"/>
            <a:ext cx="1008112" cy="46797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PLC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수정 위한 제작사양서 검토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30C7874-271F-AE45-E323-68238FFE5EF0}"/>
              </a:ext>
            </a:extLst>
          </p:cNvPr>
          <p:cNvSpPr txBox="1"/>
          <p:nvPr/>
        </p:nvSpPr>
        <p:spPr>
          <a:xfrm>
            <a:off x="2558555" y="3798293"/>
            <a:ext cx="1882247" cy="484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제작사양서 검토 및 논의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(w.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업체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PLC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수정 범위 및 투자 필요 여부 검토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541762CB-A4B5-CD83-B0E9-438A8CAF1D8F}"/>
              </a:ext>
            </a:extLst>
          </p:cNvPr>
          <p:cNvSpPr/>
          <p:nvPr/>
        </p:nvSpPr>
        <p:spPr>
          <a:xfrm>
            <a:off x="2144437" y="4091817"/>
            <a:ext cx="432048" cy="1440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DDF5759-CC41-8402-0175-CFF65A3ED58F}"/>
              </a:ext>
            </a:extLst>
          </p:cNvPr>
          <p:cNvSpPr/>
          <p:nvPr/>
        </p:nvSpPr>
        <p:spPr>
          <a:xfrm>
            <a:off x="2144437" y="3882633"/>
            <a:ext cx="432048" cy="144016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6B948EF-4B90-F42D-AC26-ABA802744334}"/>
              </a:ext>
            </a:extLst>
          </p:cNvPr>
          <p:cNvSpPr/>
          <p:nvPr/>
        </p:nvSpPr>
        <p:spPr>
          <a:xfrm>
            <a:off x="978762" y="4560390"/>
            <a:ext cx="1008112" cy="46797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PLC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수정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87926BE-968B-C650-8584-30AB632CFFB0}"/>
              </a:ext>
            </a:extLst>
          </p:cNvPr>
          <p:cNvSpPr/>
          <p:nvPr/>
        </p:nvSpPr>
        <p:spPr>
          <a:xfrm>
            <a:off x="978762" y="5295465"/>
            <a:ext cx="1008112" cy="46797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Logic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0D761B6-3FCB-337B-DF00-11563E36543C}"/>
              </a:ext>
            </a:extLst>
          </p:cNvPr>
          <p:cNvSpPr/>
          <p:nvPr/>
        </p:nvSpPr>
        <p:spPr>
          <a:xfrm>
            <a:off x="978762" y="6030541"/>
            <a:ext cx="1008112" cy="46797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 및</a:t>
            </a:r>
            <a:b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효과 검증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971B9A25-EAB7-60DC-D5C6-C0861B96EDB6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>
            <a:off x="1482818" y="4293289"/>
            <a:ext cx="0" cy="2671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FDD14A90-1888-2176-50BA-E164217CD3CF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>
            <a:off x="1482818" y="5028364"/>
            <a:ext cx="0" cy="2671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D50BD7BA-4A2B-250C-A9A6-BB6C73BBED71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>
            <a:off x="1482818" y="5763439"/>
            <a:ext cx="0" cy="26710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B1884193-792C-8979-37CB-643D32ACEAE1}"/>
              </a:ext>
            </a:extLst>
          </p:cNvPr>
          <p:cNvSpPr txBox="1"/>
          <p:nvPr/>
        </p:nvSpPr>
        <p:spPr>
          <a:xfrm>
            <a:off x="2558555" y="4537649"/>
            <a:ext cx="1638590" cy="484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PLC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수정 작업 및 검수 진행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APC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↔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PLC Data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이상 여부 검토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0691E306-FCDB-DFDA-DABE-C576BBBDE267}"/>
              </a:ext>
            </a:extLst>
          </p:cNvPr>
          <p:cNvSpPr/>
          <p:nvPr/>
        </p:nvSpPr>
        <p:spPr>
          <a:xfrm>
            <a:off x="2144437" y="4629095"/>
            <a:ext cx="432048" cy="1440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686B226-6775-2CDC-A763-94AA2CC546AB}"/>
              </a:ext>
            </a:extLst>
          </p:cNvPr>
          <p:cNvSpPr txBox="1"/>
          <p:nvPr/>
        </p:nvSpPr>
        <p:spPr>
          <a:xfrm>
            <a:off x="2558555" y="5266695"/>
            <a:ext cx="1483098" cy="484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Logic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및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Side Effect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점검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Side Effect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Parameter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점검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747451E7-DB21-BF1E-999A-F29B5491B157}"/>
              </a:ext>
            </a:extLst>
          </p:cNvPr>
          <p:cNvSpPr/>
          <p:nvPr/>
        </p:nvSpPr>
        <p:spPr>
          <a:xfrm>
            <a:off x="2144437" y="5569184"/>
            <a:ext cx="432048" cy="1440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1EE9BC42-14D6-1EC0-CCA9-C0BCF5A4F154}"/>
              </a:ext>
            </a:extLst>
          </p:cNvPr>
          <p:cNvSpPr/>
          <p:nvPr/>
        </p:nvSpPr>
        <p:spPr>
          <a:xfrm>
            <a:off x="2144437" y="5360000"/>
            <a:ext cx="432048" cy="144016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E586B58-1EE6-C7DF-85AF-76CCEAF6D038}"/>
              </a:ext>
            </a:extLst>
          </p:cNvPr>
          <p:cNvSpPr txBox="1"/>
          <p:nvPr/>
        </p:nvSpPr>
        <p:spPr>
          <a:xfrm>
            <a:off x="2558555" y="6120479"/>
            <a:ext cx="1184940" cy="2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 및 효과 검증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CBE49C7C-1BF6-BA2A-E192-7C827A4313CC}"/>
              </a:ext>
            </a:extLst>
          </p:cNvPr>
          <p:cNvSpPr/>
          <p:nvPr/>
        </p:nvSpPr>
        <p:spPr>
          <a:xfrm>
            <a:off x="2144437" y="6305687"/>
            <a:ext cx="432048" cy="1440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0B83D9FC-CE8C-203D-1FF5-4338E606A31F}"/>
              </a:ext>
            </a:extLst>
          </p:cNvPr>
          <p:cNvSpPr/>
          <p:nvPr/>
        </p:nvSpPr>
        <p:spPr>
          <a:xfrm>
            <a:off x="2144437" y="6096503"/>
            <a:ext cx="432048" cy="144016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2F3E0D9-738C-36AB-F7D6-CA6C2BF3C4B4}"/>
              </a:ext>
            </a:extLst>
          </p:cNvPr>
          <p:cNvSpPr/>
          <p:nvPr/>
        </p:nvSpPr>
        <p:spPr>
          <a:xfrm>
            <a:off x="5673080" y="1620090"/>
            <a:ext cx="1008112" cy="467974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Data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및</a:t>
            </a:r>
            <a:b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유효 인자 선정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C3F1C8D-151C-4BE0-0CD6-D8B4DD72A9C4}"/>
              </a:ext>
            </a:extLst>
          </p:cNvPr>
          <p:cNvSpPr txBox="1"/>
          <p:nvPr/>
        </p:nvSpPr>
        <p:spPr>
          <a:xfrm>
            <a:off x="7471082" y="1591251"/>
            <a:ext cx="1210588" cy="484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유효 인자 검토 및 제안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인자 기반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Data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</a:t>
            </a: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7750D40F-5903-B586-BEE2-722953680B64}"/>
              </a:ext>
            </a:extLst>
          </p:cNvPr>
          <p:cNvSpPr/>
          <p:nvPr/>
        </p:nvSpPr>
        <p:spPr>
          <a:xfrm>
            <a:off x="7056964" y="1670519"/>
            <a:ext cx="432048" cy="1440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301A0CB-7D70-DC05-6C07-17047298D706}"/>
              </a:ext>
            </a:extLst>
          </p:cNvPr>
          <p:cNvSpPr/>
          <p:nvPr/>
        </p:nvSpPr>
        <p:spPr>
          <a:xfrm>
            <a:off x="5673080" y="2355165"/>
            <a:ext cx="1008112" cy="46797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연동 개소 검토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E720342-116A-AC9B-7F1A-C236C4509EF5}"/>
              </a:ext>
            </a:extLst>
          </p:cNvPr>
          <p:cNvSpPr txBox="1"/>
          <p:nvPr/>
        </p:nvSpPr>
        <p:spPr>
          <a:xfrm>
            <a:off x="7471082" y="2967960"/>
            <a:ext cx="2153154" cy="692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Tag List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 및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연동 요청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정합성 검증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Tag List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연동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연동 후 데이터 정합성 검증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D363793A-FD44-43FA-1B69-94630265BC10}"/>
              </a:ext>
            </a:extLst>
          </p:cNvPr>
          <p:cNvSpPr/>
          <p:nvPr/>
        </p:nvSpPr>
        <p:spPr>
          <a:xfrm>
            <a:off x="7056964" y="3052300"/>
            <a:ext cx="432048" cy="1440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A9E1706B-1F96-418C-A29E-8437E06E09E0}"/>
              </a:ext>
            </a:extLst>
          </p:cNvPr>
          <p:cNvCxnSpPr>
            <a:stCxn id="91" idx="2"/>
            <a:endCxn id="95" idx="0"/>
          </p:cNvCxnSpPr>
          <p:nvPr/>
        </p:nvCxnSpPr>
        <p:spPr>
          <a:xfrm>
            <a:off x="6177136" y="2088064"/>
            <a:ext cx="0" cy="2671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C8AB04D4-E9DF-7F51-9367-AEFFDD8FC5FA}"/>
              </a:ext>
            </a:extLst>
          </p:cNvPr>
          <p:cNvSpPr/>
          <p:nvPr/>
        </p:nvSpPr>
        <p:spPr>
          <a:xfrm>
            <a:off x="5673080" y="3090240"/>
            <a:ext cx="1008112" cy="467974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대상 개소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lang="ko-KR" altLang="en-US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연동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E48D3BA5-8154-2EA1-9BFE-43FAB4543C59}"/>
              </a:ext>
            </a:extLst>
          </p:cNvPr>
          <p:cNvSpPr/>
          <p:nvPr/>
        </p:nvSpPr>
        <p:spPr>
          <a:xfrm>
            <a:off x="5673080" y="3825315"/>
            <a:ext cx="1008112" cy="467974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모델링 시뮬레이션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963A2FF9-5BA7-985B-EF0B-AD770F281184}"/>
              </a:ext>
            </a:extLst>
          </p:cNvPr>
          <p:cNvSpPr/>
          <p:nvPr/>
        </p:nvSpPr>
        <p:spPr>
          <a:xfrm>
            <a:off x="5673080" y="4560390"/>
            <a:ext cx="1008112" cy="467974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</a:t>
            </a:r>
            <a:r>
              <a:rPr lang="ko-KR" altLang="en-US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모델링</a:t>
            </a:r>
            <a:br>
              <a:rPr lang="en-US" altLang="ko-KR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및 모니터링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06B2EBC3-1EAD-CEBF-D856-A5A70DC0B482}"/>
              </a:ext>
            </a:extLst>
          </p:cNvPr>
          <p:cNvSpPr/>
          <p:nvPr/>
        </p:nvSpPr>
        <p:spPr>
          <a:xfrm>
            <a:off x="5673080" y="5295465"/>
            <a:ext cx="1008112" cy="467974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</a:t>
            </a:r>
            <a:r>
              <a:rPr lang="ko-KR" altLang="en-US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알람 적용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BC9491B-7BA3-66C1-E550-B5B9C2FF98E3}"/>
              </a:ext>
            </a:extLst>
          </p:cNvPr>
          <p:cNvSpPr/>
          <p:nvPr/>
        </p:nvSpPr>
        <p:spPr>
          <a:xfrm>
            <a:off x="5673080" y="6030541"/>
            <a:ext cx="1008112" cy="467974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 및</a:t>
            </a:r>
            <a:b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효과 검증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6DE37CD6-68A8-CFDE-8CD3-9948EE80F522}"/>
              </a:ext>
            </a:extLst>
          </p:cNvPr>
          <p:cNvCxnSpPr>
            <a:cxnSpLocks/>
            <a:stCxn id="108" idx="2"/>
            <a:endCxn id="112" idx="0"/>
          </p:cNvCxnSpPr>
          <p:nvPr/>
        </p:nvCxnSpPr>
        <p:spPr>
          <a:xfrm>
            <a:off x="6177136" y="4293289"/>
            <a:ext cx="0" cy="2671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2D93AA57-795C-E2BF-3AEC-527D1339B679}"/>
              </a:ext>
            </a:extLst>
          </p:cNvPr>
          <p:cNvCxnSpPr>
            <a:cxnSpLocks/>
            <a:stCxn id="112" idx="2"/>
            <a:endCxn id="113" idx="0"/>
          </p:cNvCxnSpPr>
          <p:nvPr/>
        </p:nvCxnSpPr>
        <p:spPr>
          <a:xfrm>
            <a:off x="6177136" y="5028364"/>
            <a:ext cx="0" cy="2671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852129BA-BA9A-C419-F22B-7B92B1A25779}"/>
              </a:ext>
            </a:extLst>
          </p:cNvPr>
          <p:cNvCxnSpPr>
            <a:cxnSpLocks/>
            <a:stCxn id="113" idx="2"/>
            <a:endCxn id="114" idx="0"/>
          </p:cNvCxnSpPr>
          <p:nvPr/>
        </p:nvCxnSpPr>
        <p:spPr>
          <a:xfrm>
            <a:off x="6177136" y="5763439"/>
            <a:ext cx="0" cy="26710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92D2678C-1A0C-D822-38B4-4FE0D7AB6D72}"/>
              </a:ext>
            </a:extLst>
          </p:cNvPr>
          <p:cNvSpPr/>
          <p:nvPr/>
        </p:nvSpPr>
        <p:spPr>
          <a:xfrm>
            <a:off x="7056964" y="1883804"/>
            <a:ext cx="432048" cy="144016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FDC DX</a:t>
            </a:r>
            <a:endParaRPr lang="ko-KR" altLang="en-US" sz="8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27" name="연결선: 꺾임 126">
            <a:extLst>
              <a:ext uri="{FF2B5EF4-FFF2-40B4-BE49-F238E27FC236}">
                <a16:creationId xmlns:a16="http://schemas.microsoft.com/office/drawing/2014/main" id="{158FBA84-2DC6-CC0E-6307-AFD9912A03D7}"/>
              </a:ext>
            </a:extLst>
          </p:cNvPr>
          <p:cNvCxnSpPr>
            <a:cxnSpLocks/>
            <a:stCxn id="47" idx="2"/>
            <a:endCxn id="63" idx="0"/>
          </p:cNvCxnSpPr>
          <p:nvPr/>
        </p:nvCxnSpPr>
        <p:spPr>
          <a:xfrm rot="16200000" flipH="1">
            <a:off x="996127" y="3338623"/>
            <a:ext cx="267101" cy="706282"/>
          </a:xfrm>
          <a:prstGeom prst="bentConnector3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57E93B3E-1A4D-7326-5C8C-27FB8D20DAE0}"/>
              </a:ext>
            </a:extLst>
          </p:cNvPr>
          <p:cNvCxnSpPr>
            <a:cxnSpLocks/>
            <a:stCxn id="46" idx="2"/>
            <a:endCxn id="63" idx="0"/>
          </p:cNvCxnSpPr>
          <p:nvPr/>
        </p:nvCxnSpPr>
        <p:spPr>
          <a:xfrm rot="5400000">
            <a:off x="1693525" y="3347507"/>
            <a:ext cx="267101" cy="688514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0F708DE8-8D5E-DECC-E256-742B34A68059}"/>
              </a:ext>
            </a:extLst>
          </p:cNvPr>
          <p:cNvSpPr/>
          <p:nvPr/>
        </p:nvSpPr>
        <p:spPr>
          <a:xfrm>
            <a:off x="7056964" y="3262479"/>
            <a:ext cx="432048" cy="14401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</a:t>
            </a:r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DX</a:t>
            </a:r>
            <a:endParaRPr lang="ko-KR" altLang="en-US" sz="8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8E07616B-6007-D70A-C833-BE416C184F2D}"/>
              </a:ext>
            </a:extLst>
          </p:cNvPr>
          <p:cNvSpPr/>
          <p:nvPr/>
        </p:nvSpPr>
        <p:spPr>
          <a:xfrm>
            <a:off x="7056964" y="3463195"/>
            <a:ext cx="432048" cy="144016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FDC DX</a:t>
            </a:r>
            <a:endParaRPr lang="ko-KR" altLang="en-US" sz="8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799E83BD-5869-5001-DF16-8B27E656228E}"/>
              </a:ext>
            </a:extLst>
          </p:cNvPr>
          <p:cNvCxnSpPr>
            <a:cxnSpLocks/>
            <a:stCxn id="95" idx="2"/>
            <a:endCxn id="100" idx="0"/>
          </p:cNvCxnSpPr>
          <p:nvPr/>
        </p:nvCxnSpPr>
        <p:spPr>
          <a:xfrm>
            <a:off x="6177136" y="2823139"/>
            <a:ext cx="0" cy="2671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73EC3470-991C-15BC-03C5-EAE8DE2E1D6D}"/>
              </a:ext>
            </a:extLst>
          </p:cNvPr>
          <p:cNvSpPr txBox="1"/>
          <p:nvPr/>
        </p:nvSpPr>
        <p:spPr>
          <a:xfrm>
            <a:off x="7471082" y="3806970"/>
            <a:ext cx="1313180" cy="484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 감지 필요 시점 검토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모델링 시뮬레이션</a:t>
            </a:r>
          </a:p>
        </p:txBody>
      </p: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AEB9AC46-B867-6A51-8937-267718E95EA6}"/>
              </a:ext>
            </a:extLst>
          </p:cNvPr>
          <p:cNvCxnSpPr>
            <a:cxnSpLocks/>
            <a:stCxn id="100" idx="2"/>
            <a:endCxn id="108" idx="0"/>
          </p:cNvCxnSpPr>
          <p:nvPr/>
        </p:nvCxnSpPr>
        <p:spPr>
          <a:xfrm>
            <a:off x="6177136" y="3558214"/>
            <a:ext cx="0" cy="2671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F64B6C5E-5F4F-CC50-0023-3054E81AC66A}"/>
              </a:ext>
            </a:extLst>
          </p:cNvPr>
          <p:cNvSpPr txBox="1"/>
          <p:nvPr/>
        </p:nvSpPr>
        <p:spPr>
          <a:xfrm>
            <a:off x="7471082" y="2403246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 감지 위한 필요 개소 검토</a:t>
            </a:r>
            <a:b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개소 연동 시 투자 필요 여부 포함</a:t>
            </a:r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422C89C1-8145-98BA-F172-B7972FADF2F7}"/>
              </a:ext>
            </a:extLst>
          </p:cNvPr>
          <p:cNvSpPr/>
          <p:nvPr/>
        </p:nvSpPr>
        <p:spPr>
          <a:xfrm>
            <a:off x="7056964" y="2414900"/>
            <a:ext cx="432048" cy="1440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BCB183D9-3176-A9CA-7720-3F70F477E3A6}"/>
              </a:ext>
            </a:extLst>
          </p:cNvPr>
          <p:cNvSpPr/>
          <p:nvPr/>
        </p:nvSpPr>
        <p:spPr>
          <a:xfrm>
            <a:off x="7056964" y="2628185"/>
            <a:ext cx="432048" cy="144016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FDC DX</a:t>
            </a:r>
            <a:endParaRPr lang="ko-KR" altLang="en-US" sz="8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973D07C-D81F-E316-228D-E16A388EA1F0}"/>
              </a:ext>
            </a:extLst>
          </p:cNvPr>
          <p:cNvSpPr txBox="1"/>
          <p:nvPr/>
        </p:nvSpPr>
        <p:spPr>
          <a:xfrm>
            <a:off x="7471082" y="4633309"/>
            <a:ext cx="1287532" cy="2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모델링 적용 및 모니터링</a:t>
            </a:r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B0E58EC4-1B43-743C-8315-033B2580617F}"/>
              </a:ext>
            </a:extLst>
          </p:cNvPr>
          <p:cNvSpPr/>
          <p:nvPr/>
        </p:nvSpPr>
        <p:spPr>
          <a:xfrm>
            <a:off x="7056964" y="4726652"/>
            <a:ext cx="432048" cy="144016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FDC DX</a:t>
            </a:r>
            <a:endParaRPr lang="ko-KR" altLang="en-US" sz="8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86324-7258-59FA-158E-93ABD4503ACA}"/>
              </a:ext>
            </a:extLst>
          </p:cNvPr>
          <p:cNvSpPr txBox="1"/>
          <p:nvPr/>
        </p:nvSpPr>
        <p:spPr>
          <a:xfrm>
            <a:off x="7471082" y="5366505"/>
            <a:ext cx="979755" cy="2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알람 적용 및 운영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26B7B-D71E-6BD1-B1FA-DA8A9DD4709D}"/>
              </a:ext>
            </a:extLst>
          </p:cNvPr>
          <p:cNvSpPr txBox="1"/>
          <p:nvPr/>
        </p:nvSpPr>
        <p:spPr>
          <a:xfrm>
            <a:off x="7471082" y="6092452"/>
            <a:ext cx="1184940" cy="2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 및 효과 검증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220D30E-4F91-9EC3-D8E0-4E9B6EE23369}"/>
              </a:ext>
            </a:extLst>
          </p:cNvPr>
          <p:cNvSpPr/>
          <p:nvPr/>
        </p:nvSpPr>
        <p:spPr>
          <a:xfrm>
            <a:off x="7056964" y="6282425"/>
            <a:ext cx="432048" cy="1440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5C3FFCF-D2D9-6056-7586-DBB0393D579D}"/>
              </a:ext>
            </a:extLst>
          </p:cNvPr>
          <p:cNvSpPr/>
          <p:nvPr/>
        </p:nvSpPr>
        <p:spPr>
          <a:xfrm>
            <a:off x="7056964" y="6073809"/>
            <a:ext cx="432048" cy="144016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FDC DX</a:t>
            </a:r>
            <a:endParaRPr lang="ko-KR" altLang="en-US" sz="8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55380C9-9D1F-FEC1-E9ED-6118BD0458CE}"/>
              </a:ext>
            </a:extLst>
          </p:cNvPr>
          <p:cNvSpPr/>
          <p:nvPr/>
        </p:nvSpPr>
        <p:spPr>
          <a:xfrm>
            <a:off x="7056964" y="3885950"/>
            <a:ext cx="432048" cy="1440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5C102F4-AA14-B7E9-35F4-13056E93CC77}"/>
              </a:ext>
            </a:extLst>
          </p:cNvPr>
          <p:cNvSpPr/>
          <p:nvPr/>
        </p:nvSpPr>
        <p:spPr>
          <a:xfrm>
            <a:off x="7056964" y="4099235"/>
            <a:ext cx="432048" cy="144016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FDC DX</a:t>
            </a:r>
            <a:endParaRPr lang="ko-KR" altLang="en-US" sz="8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C7E0686-63F5-2DA4-914B-FC51D37E354B}"/>
              </a:ext>
            </a:extLst>
          </p:cNvPr>
          <p:cNvSpPr/>
          <p:nvPr/>
        </p:nvSpPr>
        <p:spPr>
          <a:xfrm>
            <a:off x="2144437" y="4822626"/>
            <a:ext cx="432048" cy="144016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9B2FC30-E055-22B2-90DC-4799EC8E93C2}"/>
              </a:ext>
            </a:extLst>
          </p:cNvPr>
          <p:cNvSpPr/>
          <p:nvPr/>
        </p:nvSpPr>
        <p:spPr>
          <a:xfrm>
            <a:off x="7056964" y="5577066"/>
            <a:ext cx="432048" cy="14401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3D823F3-0BBF-1206-0976-E9389A44C499}"/>
              </a:ext>
            </a:extLst>
          </p:cNvPr>
          <p:cNvSpPr/>
          <p:nvPr/>
        </p:nvSpPr>
        <p:spPr>
          <a:xfrm>
            <a:off x="7056964" y="5368450"/>
            <a:ext cx="432048" cy="144016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8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FDC DX</a:t>
            </a:r>
            <a:endParaRPr lang="ko-KR" altLang="en-US" sz="8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3298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28C4241-11ED-276E-C821-4364E9285402}"/>
              </a:ext>
            </a:extLst>
          </p:cNvPr>
          <p:cNvSpPr txBox="1"/>
          <p:nvPr/>
        </p:nvSpPr>
        <p:spPr>
          <a:xfrm>
            <a:off x="5739419" y="1937630"/>
            <a:ext cx="96866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Target : 790.0</a:t>
            </a:r>
            <a:r>
              <a:rPr lang="en-US" altLang="ko-KR" sz="900" i="0" dirty="0">
                <a:solidFill>
                  <a:srgbClr val="006600"/>
                </a:solidFill>
              </a:rPr>
              <a:t>mm</a:t>
            </a:r>
            <a:endParaRPr kumimoji="1" lang="en-US" altLang="ko-KR" sz="90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 과제 완료 보고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5892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총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건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(DX 3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건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수평전개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건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 항목을 개발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적용하여 공정 개선 및 비용 효과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(8.79</a:t>
            </a: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억 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+ α)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를 확보하였고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는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계획 대비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 단축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(6</a:t>
            </a: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월 → 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하여 개발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완료하였고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동일 설비를 보유한 타 법인 수평전개 진행하겠습니다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5" name="사각형 설명선 24">
            <a:extLst>
              <a:ext uri="{FF2B5EF4-FFF2-40B4-BE49-F238E27FC236}">
                <a16:creationId xmlns:a16="http://schemas.microsoft.com/office/drawing/2014/main" id="{3836A01F-96F9-B6A9-3E5C-1CA5E652CD00}"/>
              </a:ext>
            </a:extLst>
          </p:cNvPr>
          <p:cNvSpPr/>
          <p:nvPr/>
        </p:nvSpPr>
        <p:spPr bwMode="auto">
          <a:xfrm>
            <a:off x="234051" y="1555232"/>
            <a:ext cx="9310547" cy="790169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8000" anchor="t"/>
          <a:lstStyle/>
          <a:p>
            <a:pPr marL="171450" lvl="1" indent="-171450" defTabSz="1042298" fontAlgn="base" latinLnBrk="0">
              <a:spcBef>
                <a:spcPts val="12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근본 원인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(1) Pallet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실린더 고정 구조 및 활성화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Cell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두께 변화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                (2) Pallet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별 공압 편차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해결 방안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Pallet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교체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실린더 고정 방식 →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CAM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고정 방식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en-US" altLang="ko-KR" sz="1100" u="sng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2.75</a:t>
            </a:r>
            <a:r>
              <a:rPr kumimoji="1" lang="ko-KR" altLang="en-US" sz="1100" u="sng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en-US" altLang="ko-KR" sz="11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A283594-6E6C-9AF2-6BC8-6EEF82322E1C}"/>
              </a:ext>
            </a:extLst>
          </p:cNvPr>
          <p:cNvSpPr/>
          <p:nvPr/>
        </p:nvSpPr>
        <p:spPr>
          <a:xfrm>
            <a:off x="271763" y="1246287"/>
            <a:ext cx="5467657" cy="33119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CMA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가압 자동보정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Pallet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별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CMA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전폭 불량 및 산포 개선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1" lang="ko-KR" alt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양산 적용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5F6DF2F-86F4-F835-C952-AA55DE9E6F44}"/>
              </a:ext>
            </a:extLst>
          </p:cNvPr>
          <p:cNvSpPr/>
          <p:nvPr/>
        </p:nvSpPr>
        <p:spPr>
          <a:xfrm>
            <a:off x="5959711" y="1241305"/>
            <a:ext cx="3844165" cy="33082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효과</a:t>
            </a:r>
          </a:p>
        </p:txBody>
      </p:sp>
      <p:sp>
        <p:nvSpPr>
          <p:cNvPr id="109" name="사각형 설명선 24">
            <a:extLst>
              <a:ext uri="{FF2B5EF4-FFF2-40B4-BE49-F238E27FC236}">
                <a16:creationId xmlns:a16="http://schemas.microsoft.com/office/drawing/2014/main" id="{9914DC0E-C8FB-2EE8-4B23-733921795CA2}"/>
              </a:ext>
            </a:extLst>
          </p:cNvPr>
          <p:cNvSpPr/>
          <p:nvPr/>
        </p:nvSpPr>
        <p:spPr bwMode="auto">
          <a:xfrm>
            <a:off x="5959710" y="1555232"/>
            <a:ext cx="3946290" cy="1096954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8000" anchor="t"/>
          <a:lstStyle/>
          <a:p>
            <a:pPr marL="180000" lvl="1" indent="-180000" defTabSz="1042298" fontAlgn="base" latinLnBrk="0"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CMA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전폭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(Spec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789.5~791.8mm)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공정 산포 개선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kumimoji="1" lang="en-US" altLang="ko-KR" sz="11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180000" lvl="1" indent="-180000" defTabSz="1042298" fontAlgn="base" latinLnBrk="0"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자동보정 적용을 통한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Pallet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전수 교체 비용 대체 및 최소화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100" i="1" kern="0" dirty="0">
                <a:solidFill>
                  <a:srgbClr val="4472C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▷비용 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효과 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2.65</a:t>
            </a:r>
            <a:r>
              <a:rPr kumimoji="1" lang="ko-KR" altLang="en-US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 절감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(2.75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 → 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0.1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 대체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b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Global 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법인 기준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en-US" altLang="ko-KR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13.25</a:t>
            </a:r>
            <a:r>
              <a:rPr kumimoji="1" lang="ko-KR" altLang="en-US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 절감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(MI 1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Line, PW 4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Line)</a:t>
            </a:r>
            <a:endParaRPr kumimoji="1" lang="en-US" altLang="ko-KR" sz="11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12" name="표 111">
            <a:extLst>
              <a:ext uri="{FF2B5EF4-FFF2-40B4-BE49-F238E27FC236}">
                <a16:creationId xmlns:a16="http://schemas.microsoft.com/office/drawing/2014/main" id="{F73C3B88-D9C8-84FC-55C5-EE6F6288B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953540"/>
              </p:ext>
            </p:extLst>
          </p:nvPr>
        </p:nvGraphicFramePr>
        <p:xfrm>
          <a:off x="1310386" y="2306577"/>
          <a:ext cx="3151326" cy="606300"/>
        </p:xfrm>
        <a:graphic>
          <a:graphicData uri="http://schemas.openxmlformats.org/drawingml/2006/table">
            <a:tbl>
              <a:tblPr firstRow="1" bandRow="1"/>
              <a:tblGrid>
                <a:gridCol w="834302">
                  <a:extLst>
                    <a:ext uri="{9D8B030D-6E8A-4147-A177-3AD203B41FA5}">
                      <a16:colId xmlns:a16="http://schemas.microsoft.com/office/drawing/2014/main" val="4272883062"/>
                    </a:ext>
                  </a:extLst>
                </a:gridCol>
                <a:gridCol w="1158512">
                  <a:extLst>
                    <a:ext uri="{9D8B030D-6E8A-4147-A177-3AD203B41FA5}">
                      <a16:colId xmlns:a16="http://schemas.microsoft.com/office/drawing/2014/main" val="3881709768"/>
                    </a:ext>
                  </a:extLst>
                </a:gridCol>
                <a:gridCol w="1158512">
                  <a:extLst>
                    <a:ext uri="{9D8B030D-6E8A-4147-A177-3AD203B41FA5}">
                      <a16:colId xmlns:a16="http://schemas.microsoft.com/office/drawing/2014/main" val="1925519714"/>
                    </a:ext>
                  </a:extLst>
                </a:gridCol>
              </a:tblGrid>
              <a:tr h="2021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방식 비교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실린더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(ESMI)</a:t>
                      </a:r>
                      <a:endParaRPr lang="ko-KR" altLang="en-US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CAM(ESOT)</a:t>
                      </a:r>
                      <a:endParaRPr lang="ko-KR" altLang="en-US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722048"/>
                  </a:ext>
                </a:extLst>
              </a:tr>
              <a:tr h="2021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위치 정밀도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매우 높음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801558"/>
                  </a:ext>
                </a:extLst>
              </a:tr>
              <a:tr h="2021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고정 방식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직선 운동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공압 고정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수직 운동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기계적 고정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46500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7884F7A2-E5D8-5B36-96CA-7EA07C778DF3}"/>
              </a:ext>
            </a:extLst>
          </p:cNvPr>
          <p:cNvSpPr txBox="1"/>
          <p:nvPr/>
        </p:nvSpPr>
        <p:spPr>
          <a:xfrm>
            <a:off x="3674786" y="2069936"/>
            <a:ext cx="1661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※ Pallet 25</a:t>
            </a: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 </a:t>
            </a: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x 0.11</a:t>
            </a: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</a:t>
            </a:r>
            <a:b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(OT</a:t>
            </a: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법인 발주가</a:t>
            </a: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F2E77FF-EB39-C8B0-65B9-80303C252CF0}"/>
              </a:ext>
            </a:extLst>
          </p:cNvPr>
          <p:cNvSpPr txBox="1"/>
          <p:nvPr/>
        </p:nvSpPr>
        <p:spPr>
          <a:xfrm>
            <a:off x="9984948" y="6265912"/>
            <a:ext cx="182038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※ 1 Station </a:t>
            </a: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기구부 개선 금액 기준</a:t>
            </a:r>
          </a:p>
        </p:txBody>
      </p:sp>
      <p:sp>
        <p:nvSpPr>
          <p:cNvPr id="115" name="사각형 설명선 24">
            <a:extLst>
              <a:ext uri="{FF2B5EF4-FFF2-40B4-BE49-F238E27FC236}">
                <a16:creationId xmlns:a16="http://schemas.microsoft.com/office/drawing/2014/main" id="{EE9A974B-3742-132E-DC9C-CB2538253A4D}"/>
              </a:ext>
            </a:extLst>
          </p:cNvPr>
          <p:cNvSpPr/>
          <p:nvPr/>
        </p:nvSpPr>
        <p:spPr bwMode="auto">
          <a:xfrm>
            <a:off x="234051" y="3349411"/>
            <a:ext cx="9310547" cy="1327456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8000" anchor="t"/>
          <a:lstStyle/>
          <a:p>
            <a:pPr marL="171450" lvl="1" indent="-171450" defTabSz="1042298" fontAlgn="base" latinLnBrk="0">
              <a:spcBef>
                <a:spcPts val="12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CTP(Cell-to-Pack)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면도포 설비 대상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레진 무게 자동보정을 통한 재료비 절감 진행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산포 원인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(1)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경시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주변 온도 등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변화로 인한 레진 점도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토출압 변동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                (2)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재료 내 기포 혼입으로 인한 무게 하한 헌팅 발생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해결 방안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(1) Feedback </a:t>
            </a: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보정을 통해 재료 경시성</a:t>
            </a:r>
            <a: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주변 온도 등</a:t>
            </a:r>
            <a: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에 의한 산포 최소화</a:t>
            </a:r>
            <a:b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                (2) </a:t>
            </a: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예측 보정을 통해 무게 하한 헌팅 방지 </a:t>
            </a:r>
            <a: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기포多 → </a:t>
            </a:r>
            <a:r>
              <a:rPr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예압 헌팅 → 무게 헌팅</a:t>
            </a: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b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                (3) </a:t>
            </a: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실시간 산포 기반</a:t>
            </a:r>
            <a: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Spec </a:t>
            </a: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내 레진 소모량 최소화를 위한 자동 </a:t>
            </a:r>
            <a: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Target </a:t>
            </a: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설정</a:t>
            </a:r>
            <a:b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kumimoji="1" lang="en-US" altLang="ko-KR" sz="11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5252F175-A6A7-F3E4-B9C9-90672DD770E9}"/>
              </a:ext>
            </a:extLst>
          </p:cNvPr>
          <p:cNvSpPr/>
          <p:nvPr/>
        </p:nvSpPr>
        <p:spPr>
          <a:xfrm>
            <a:off x="271763" y="3040466"/>
            <a:ext cx="5467657" cy="33119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레진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무게 자동보정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산포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소모량 최적화를 통한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원가절감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1" lang="ko-KR" alt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양산 적용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238E0B2C-C690-0636-A4A5-E0FA2CD9836C}"/>
              </a:ext>
            </a:extLst>
          </p:cNvPr>
          <p:cNvSpPr/>
          <p:nvPr/>
        </p:nvSpPr>
        <p:spPr>
          <a:xfrm>
            <a:off x="5959711" y="3035484"/>
            <a:ext cx="3844165" cy="33082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효과</a:t>
            </a:r>
          </a:p>
        </p:txBody>
      </p:sp>
      <p:sp>
        <p:nvSpPr>
          <p:cNvPr id="119" name="사각형 설명선 24">
            <a:extLst>
              <a:ext uri="{FF2B5EF4-FFF2-40B4-BE49-F238E27FC236}">
                <a16:creationId xmlns:a16="http://schemas.microsoft.com/office/drawing/2014/main" id="{C889E270-7E49-E2A6-11E0-34180DA3C7AC}"/>
              </a:ext>
            </a:extLst>
          </p:cNvPr>
          <p:cNvSpPr/>
          <p:nvPr/>
        </p:nvSpPr>
        <p:spPr bwMode="auto">
          <a:xfrm>
            <a:off x="5959710" y="3349411"/>
            <a:ext cx="3946290" cy="1367070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8000" anchor="t"/>
          <a:lstStyle/>
          <a:p>
            <a:pPr marL="180000" lvl="1" indent="-180000" defTabSz="1042298" fontAlgn="base" latinLnBrk="0"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Pack Resin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소모량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5,141g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5,068g (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레진 소모량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73g/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개 ↓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100" i="1" kern="0" dirty="0">
                <a:solidFill>
                  <a:srgbClr val="4472C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▷비용 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효과 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연 </a:t>
            </a:r>
            <a:r>
              <a:rPr kumimoji="1" lang="en-US" altLang="ko-KR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1.14</a:t>
            </a:r>
            <a:r>
              <a:rPr kumimoji="1" lang="ko-KR" altLang="en-US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 절감</a:t>
            </a:r>
            <a:b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Global 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자사 법인 기준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연 </a:t>
            </a:r>
            <a:r>
              <a:rPr kumimoji="1" lang="en-US" altLang="ko-KR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5.7</a:t>
            </a:r>
            <a:r>
              <a:rPr kumimoji="1" lang="ko-KR" altLang="en-US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 절감 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(+ OT 1Line, HD 3 Line)</a:t>
            </a:r>
            <a:b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Global 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외주 법인 포함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연 </a:t>
            </a:r>
            <a:r>
              <a:rPr kumimoji="1" lang="en-US" altLang="ko-KR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10.3</a:t>
            </a:r>
            <a:r>
              <a:rPr kumimoji="1" lang="ko-KR" altLang="en-US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 절감 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(+ PW 4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Line)</a:t>
            </a:r>
          </a:p>
          <a:p>
            <a:pPr marL="180000" lvl="1" indent="-180000" defTabSz="1042298" fontAlgn="base" latinLnBrk="0"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endParaRPr kumimoji="1" lang="en-US" altLang="ko-KR" sz="11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1" defTabSz="1042298" fontAlgn="base" latinLnBrk="0">
              <a:spcAft>
                <a:spcPct val="0"/>
              </a:spcAft>
              <a:defRPr/>
            </a:pP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kumimoji="1" lang="en-US" altLang="ko-KR" sz="11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180000" lvl="1" indent="-180000" defTabSz="1042298" fontAlgn="base" latinLnBrk="0"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자동차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Module Resin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소모량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480g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461g (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레진 소모량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19g/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개 ↓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100" i="1" kern="0" dirty="0">
                <a:solidFill>
                  <a:srgbClr val="4472C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▷비용 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효과 </a:t>
            </a:r>
            <a:r>
              <a:rPr kumimoji="1" lang="en-US" altLang="ko-KR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sz="1100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연</a:t>
            </a:r>
            <a:r>
              <a:rPr kumimoji="1" lang="ko-KR" altLang="en-US" sz="1100" b="1" i="1" kern="0" dirty="0">
                <a:solidFill>
                  <a:srgbClr val="2E75B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b="1" i="1" kern="0" dirty="0">
                <a:solidFill>
                  <a:srgbClr val="2E75B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2.10</a:t>
            </a:r>
            <a:r>
              <a:rPr kumimoji="1" lang="ko-KR" altLang="en-US" sz="1100" b="1" i="1" kern="0" dirty="0">
                <a:solidFill>
                  <a:srgbClr val="2E75B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 절</a:t>
            </a:r>
            <a:r>
              <a:rPr kumimoji="1" lang="ko-KR" altLang="en-US" sz="1100" b="1" i="1" kern="0" dirty="0">
                <a:solidFill>
                  <a:srgbClr val="5B9BD5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감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kumimoji="1" lang="en-US" altLang="ko-KR" sz="1100" b="1" i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2A070F9-CBC8-32D0-71B6-82F275641E7A}"/>
              </a:ext>
            </a:extLst>
          </p:cNvPr>
          <p:cNvSpPr txBox="1"/>
          <p:nvPr/>
        </p:nvSpPr>
        <p:spPr>
          <a:xfrm>
            <a:off x="7777751" y="3542662"/>
            <a:ext cx="169382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※ 13.2</a:t>
            </a: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만개 기준</a:t>
            </a: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연 </a:t>
            </a: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Pack </a:t>
            </a: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생산량</a:t>
            </a: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90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2" name="사각형 설명선 24">
            <a:extLst>
              <a:ext uri="{FF2B5EF4-FFF2-40B4-BE49-F238E27FC236}">
                <a16:creationId xmlns:a16="http://schemas.microsoft.com/office/drawing/2014/main" id="{2662C202-369C-44BB-A30B-CDE60D06AFC0}"/>
              </a:ext>
            </a:extLst>
          </p:cNvPr>
          <p:cNvSpPr/>
          <p:nvPr/>
        </p:nvSpPr>
        <p:spPr bwMode="auto">
          <a:xfrm>
            <a:off x="234051" y="5284374"/>
            <a:ext cx="5725659" cy="914501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8000" anchor="t"/>
          <a:lstStyle/>
          <a:p>
            <a:pPr marL="171450" lvl="1" indent="-171450" defTabSz="1042298" fontAlgn="base" latinLnBrk="0">
              <a:spcBef>
                <a:spcPts val="12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과제 배경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체결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Offset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의 보정 가능 범위 초과로 인한 불량 방지를 위해 부품 로딩 위치 수동 변경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근본 원인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(1)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부품 공차 누적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(2)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수평도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조립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Table, Start Lift)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해결 방안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(1)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기구부 개선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고정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IP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기준 조립 → 부품 조립 설비 기준점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보정 기능 추가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               </a:t>
            </a:r>
            <a: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(2) </a:t>
            </a: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자동보정 </a:t>
            </a:r>
            <a: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체결 </a:t>
            </a:r>
            <a: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Vision Offset </a:t>
            </a: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기반</a:t>
            </a:r>
            <a: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부품</a:t>
            </a:r>
            <a:r>
              <a:rPr kumimoji="1" lang="en-US" altLang="ko-KR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11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로딩 위치 상시 제어</a:t>
            </a:r>
            <a:endParaRPr kumimoji="1" lang="en-US" altLang="ko-KR" sz="11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25031C0E-F74D-F711-142D-CB2EA3E6C8E4}"/>
              </a:ext>
            </a:extLst>
          </p:cNvPr>
          <p:cNvSpPr/>
          <p:nvPr/>
        </p:nvSpPr>
        <p:spPr>
          <a:xfrm>
            <a:off x="271763" y="4975429"/>
            <a:ext cx="5467657" cy="33119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Metal Strap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체결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Y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축 자동보정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공정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Offset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산포 관리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1" lang="ko-KR" alt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양산 적용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66EC0122-5B7B-91AA-B8AD-2FD45F296297}"/>
              </a:ext>
            </a:extLst>
          </p:cNvPr>
          <p:cNvSpPr/>
          <p:nvPr/>
        </p:nvSpPr>
        <p:spPr>
          <a:xfrm>
            <a:off x="5959711" y="4970447"/>
            <a:ext cx="3844165" cy="33082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효과</a:t>
            </a:r>
          </a:p>
        </p:txBody>
      </p:sp>
      <p:sp>
        <p:nvSpPr>
          <p:cNvPr id="126" name="사각형 설명선 24">
            <a:extLst>
              <a:ext uri="{FF2B5EF4-FFF2-40B4-BE49-F238E27FC236}">
                <a16:creationId xmlns:a16="http://schemas.microsoft.com/office/drawing/2014/main" id="{1273EAF7-10D0-E081-E51B-F1E2E087F9D2}"/>
              </a:ext>
            </a:extLst>
          </p:cNvPr>
          <p:cNvSpPr/>
          <p:nvPr/>
        </p:nvSpPr>
        <p:spPr bwMode="auto">
          <a:xfrm>
            <a:off x="5959710" y="5284374"/>
            <a:ext cx="3946290" cy="1096954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8000" anchor="t"/>
          <a:lstStyle/>
          <a:p>
            <a:pPr marL="180000" lvl="1" indent="-180000" defTabSz="1042298" fontAlgn="base" latinLnBrk="0"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Busbar, Metal Strap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체결 공정 산포 개선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체결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Offset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평균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kumimoji="1" lang="en-US" altLang="ko-KR" sz="1100" i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80000" lvl="1" indent="-180000" defTabSz="1042298" fontAlgn="base" latinLnBrk="0"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endParaRPr kumimoji="1" lang="en-US" altLang="ko-KR" sz="1100" i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80000" lvl="1" indent="-180000" defTabSz="1042298" fontAlgn="base" latinLnBrk="0"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endParaRPr kumimoji="1" lang="en-US" altLang="ko-KR" sz="1100" i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80000" lvl="1" indent="-180000" defTabSz="1042298" fontAlgn="base" latinLnBrk="0"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endParaRPr kumimoji="1" lang="en-US" altLang="ko-KR" sz="11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180000" lvl="1" indent="-180000" defTabSz="1042298" fontAlgn="base" latinLnBrk="0"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자동보정 적용을 통한 설비 기구부 개선 비용 대체</a:t>
            </a:r>
            <a:b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100" i="1" kern="0" dirty="0">
                <a:solidFill>
                  <a:srgbClr val="4472C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▷비용</a:t>
            </a:r>
            <a:r>
              <a:rPr kumimoji="1" lang="ko-KR" altLang="en-US" sz="1100" i="1" kern="0" dirty="0">
                <a:solidFill>
                  <a:srgbClr val="2E75B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효과 </a:t>
            </a:r>
            <a:r>
              <a:rPr kumimoji="1" lang="en-US" altLang="ko-KR" sz="1100" i="1" kern="0" dirty="0">
                <a:solidFill>
                  <a:srgbClr val="2E75B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sz="1100" i="1" kern="0" dirty="0">
                <a:solidFill>
                  <a:srgbClr val="2E75B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b="1" i="1" kern="0" dirty="0">
                <a:solidFill>
                  <a:srgbClr val="2E75B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2.9</a:t>
            </a:r>
            <a:r>
              <a:rPr kumimoji="1" lang="ko-KR" altLang="en-US" sz="1100" b="1" i="1" kern="0" dirty="0">
                <a:solidFill>
                  <a:srgbClr val="2E75B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 절감 </a:t>
            </a:r>
            <a:r>
              <a:rPr kumimoji="1" lang="en-US" altLang="ko-KR" sz="1100" i="1" kern="0" dirty="0">
                <a:solidFill>
                  <a:srgbClr val="2E75B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(3.0</a:t>
            </a:r>
            <a:r>
              <a:rPr kumimoji="1" lang="ko-KR" altLang="en-US" sz="1100" i="1" kern="0" dirty="0">
                <a:solidFill>
                  <a:srgbClr val="2E75B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 → </a:t>
            </a:r>
            <a:r>
              <a:rPr kumimoji="1" lang="en-US" altLang="ko-KR" sz="1100" i="1" kern="0" dirty="0">
                <a:solidFill>
                  <a:srgbClr val="2E75B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0.1</a:t>
            </a:r>
            <a:r>
              <a:rPr kumimoji="1" lang="ko-KR" altLang="en-US" sz="1100" i="1" kern="0" dirty="0">
                <a:solidFill>
                  <a:srgbClr val="2E75B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억으로 대체</a:t>
            </a:r>
            <a:r>
              <a:rPr kumimoji="1" lang="en-US" altLang="ko-KR" sz="1100" i="1" kern="0" dirty="0">
                <a:solidFill>
                  <a:srgbClr val="2E75B6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en-US" altLang="ko-KR" sz="1100" b="1" i="1" kern="0" dirty="0">
              <a:solidFill>
                <a:srgbClr val="2E75B6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4BDDF023-4C42-13B7-8374-9DB950D58E40}"/>
              </a:ext>
            </a:extLst>
          </p:cNvPr>
          <p:cNvSpPr/>
          <p:nvPr/>
        </p:nvSpPr>
        <p:spPr>
          <a:xfrm>
            <a:off x="9954660" y="5490115"/>
            <a:ext cx="3899718" cy="65299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▷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CMA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가압보정 →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Busbar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X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축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 Metal Strap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X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축 에 영향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▷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Metal Strap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 →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Busbar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Z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축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 Metal Strap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Y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축 에 영향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※ Busbar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(X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축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Z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축 연관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), Metal Strap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(X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축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Y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축 </a:t>
            </a:r>
            <a:r>
              <a:rPr lang="ko-KR" altLang="en-US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연관</a:t>
            </a:r>
            <a:r>
              <a:rPr lang="en-US" altLang="ko-KR" sz="10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9" name="사각형 설명선 24">
            <a:extLst>
              <a:ext uri="{FF2B5EF4-FFF2-40B4-BE49-F238E27FC236}">
                <a16:creationId xmlns:a16="http://schemas.microsoft.com/office/drawing/2014/main" id="{36E4F372-C718-0939-842B-3680334AFA58}"/>
              </a:ext>
            </a:extLst>
          </p:cNvPr>
          <p:cNvSpPr/>
          <p:nvPr/>
        </p:nvSpPr>
        <p:spPr bwMode="auto">
          <a:xfrm>
            <a:off x="234051" y="4617540"/>
            <a:ext cx="5277443" cy="452098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8000" anchor="t"/>
          <a:lstStyle/>
          <a:p>
            <a:pPr marL="171450" lvl="1" indent="-171450" defTabSz="1042298" fontAlgn="base" latinLnBrk="0">
              <a:spcBef>
                <a:spcPts val="12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자동차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U-Frame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선도포 설비 대상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레진 무게 자동보정 수평전개 완료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(MI 4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동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Toyota</a:t>
            </a:r>
            <a:r>
              <a:rPr kumimoji="1" lang="ko-KR" altLang="en-US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Line)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021D7CD-AC7D-7D16-1B85-E8F2A8174F46}"/>
              </a:ext>
            </a:extLst>
          </p:cNvPr>
          <p:cNvSpPr txBox="1"/>
          <p:nvPr/>
        </p:nvSpPr>
        <p:spPr>
          <a:xfrm>
            <a:off x="7292296" y="24029"/>
            <a:ext cx="2323226" cy="4117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ko-KR" altLang="en-US" sz="900" b="1" i="0" dirty="0">
                <a:solidFill>
                  <a:srgbClr val="006600"/>
                </a:solidFill>
              </a:rPr>
              <a:t>대상</a:t>
            </a:r>
            <a:r>
              <a:rPr lang="en-US" altLang="ko-KR" sz="900" b="1" i="0" dirty="0">
                <a:solidFill>
                  <a:srgbClr val="006600"/>
                </a:solidFill>
              </a:rPr>
              <a:t>: ESMI 4</a:t>
            </a:r>
            <a:r>
              <a:rPr lang="ko-KR" altLang="en-US" sz="900" b="1" i="0" dirty="0">
                <a:solidFill>
                  <a:srgbClr val="006600"/>
                </a:solidFill>
              </a:rPr>
              <a:t>동 </a:t>
            </a:r>
            <a:r>
              <a:rPr lang="en-US" altLang="ko-KR" sz="900" b="1" i="0" dirty="0">
                <a:solidFill>
                  <a:srgbClr val="006600"/>
                </a:solidFill>
              </a:rPr>
              <a:t>ESS #1, Module #1 </a:t>
            </a:r>
          </a:p>
          <a:p>
            <a:pPr algn="r">
              <a:lnSpc>
                <a:spcPct val="120000"/>
              </a:lnSpc>
            </a:pPr>
            <a:r>
              <a:rPr lang="ko-KR" altLang="en-US" sz="900" b="1" i="0" dirty="0">
                <a:solidFill>
                  <a:srgbClr val="006600"/>
                </a:solidFill>
              </a:rPr>
              <a:t>자동보정선행개발팀</a:t>
            </a:r>
          </a:p>
        </p:txBody>
      </p:sp>
      <p:sp>
        <p:nvSpPr>
          <p:cNvPr id="152" name="실행 단추: 앞으로 또는 다음으로 이동 151">
            <a:hlinkClick r:id="rId4" action="ppaction://hlinksldjump"/>
            <a:extLst>
              <a:ext uri="{FF2B5EF4-FFF2-40B4-BE49-F238E27FC236}">
                <a16:creationId xmlns:a16="http://schemas.microsoft.com/office/drawing/2014/main" id="{C947BDAB-F998-358B-8B4C-8E0C85AB500F}"/>
              </a:ext>
            </a:extLst>
          </p:cNvPr>
          <p:cNvSpPr/>
          <p:nvPr/>
        </p:nvSpPr>
        <p:spPr>
          <a:xfrm>
            <a:off x="508600" y="1783411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4" name="실행 단추: 앞으로 또는 다음으로 이동 153">
            <a:hlinkClick r:id="rId5" action="ppaction://hlinksldjump"/>
            <a:extLst>
              <a:ext uri="{FF2B5EF4-FFF2-40B4-BE49-F238E27FC236}">
                <a16:creationId xmlns:a16="http://schemas.microsoft.com/office/drawing/2014/main" id="{BD7F0A6A-5C23-1960-AFD3-51347E586FDA}"/>
              </a:ext>
            </a:extLst>
          </p:cNvPr>
          <p:cNvSpPr/>
          <p:nvPr/>
        </p:nvSpPr>
        <p:spPr>
          <a:xfrm>
            <a:off x="4977383" y="3410687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BC058FF-4681-E4EF-99EA-91E0F2D73D28}"/>
              </a:ext>
            </a:extLst>
          </p:cNvPr>
          <p:cNvSpPr txBox="1"/>
          <p:nvPr/>
        </p:nvSpPr>
        <p:spPr>
          <a:xfrm>
            <a:off x="5202162" y="1292223"/>
            <a:ext cx="4465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결과</a:t>
            </a:r>
            <a:endParaRPr kumimoji="1" lang="en-US" altLang="ko-KR" sz="90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A620DDA-3C3C-F9F4-BF80-282D931994F0}"/>
              </a:ext>
            </a:extLst>
          </p:cNvPr>
          <p:cNvSpPr txBox="1"/>
          <p:nvPr/>
        </p:nvSpPr>
        <p:spPr>
          <a:xfrm>
            <a:off x="5202162" y="3087601"/>
            <a:ext cx="4465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결과</a:t>
            </a:r>
            <a:endParaRPr kumimoji="1" lang="en-US" altLang="ko-KR" sz="90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3" name="실행 단추: 앞으로 또는 다음으로 이동 152">
            <a:hlinkClick r:id="rId6" action="ppaction://hlinksldjump"/>
            <a:extLst>
              <a:ext uri="{FF2B5EF4-FFF2-40B4-BE49-F238E27FC236}">
                <a16:creationId xmlns:a16="http://schemas.microsoft.com/office/drawing/2014/main" id="{B138C6C8-CEA7-1BFA-1470-06FE7B4C37FE}"/>
              </a:ext>
            </a:extLst>
          </p:cNvPr>
          <p:cNvSpPr/>
          <p:nvPr/>
        </p:nvSpPr>
        <p:spPr>
          <a:xfrm>
            <a:off x="5554039" y="1333276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6" name="실행 단추: 앞으로 또는 다음으로 이동 155">
            <a:hlinkClick r:id="rId7" action="ppaction://hlinksldjump"/>
            <a:extLst>
              <a:ext uri="{FF2B5EF4-FFF2-40B4-BE49-F238E27FC236}">
                <a16:creationId xmlns:a16="http://schemas.microsoft.com/office/drawing/2014/main" id="{75A49DF7-1016-0F4F-E066-3F96925B77FA}"/>
              </a:ext>
            </a:extLst>
          </p:cNvPr>
          <p:cNvSpPr/>
          <p:nvPr/>
        </p:nvSpPr>
        <p:spPr>
          <a:xfrm>
            <a:off x="5554039" y="3128654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8" name="실행 단추: 앞으로 또는 다음으로 이동 157">
            <a:hlinkClick r:id="rId8" action="ppaction://hlinksldjump"/>
            <a:extLst>
              <a:ext uri="{FF2B5EF4-FFF2-40B4-BE49-F238E27FC236}">
                <a16:creationId xmlns:a16="http://schemas.microsoft.com/office/drawing/2014/main" id="{143AE947-2ECF-C405-0CA2-6258C83A19C8}"/>
              </a:ext>
            </a:extLst>
          </p:cNvPr>
          <p:cNvSpPr/>
          <p:nvPr/>
        </p:nvSpPr>
        <p:spPr>
          <a:xfrm>
            <a:off x="5398992" y="4684826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9E5C7FF-F33A-006A-F096-2442ECA3C571}"/>
              </a:ext>
            </a:extLst>
          </p:cNvPr>
          <p:cNvSpPr txBox="1"/>
          <p:nvPr/>
        </p:nvSpPr>
        <p:spPr>
          <a:xfrm>
            <a:off x="5202162" y="5026902"/>
            <a:ext cx="4465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결과</a:t>
            </a:r>
            <a:endParaRPr kumimoji="1" lang="en-US" altLang="ko-KR" sz="90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0" name="실행 단추: 앞으로 또는 다음으로 이동 159">
            <a:hlinkClick r:id="rId9" action="ppaction://hlinksldjump"/>
            <a:extLst>
              <a:ext uri="{FF2B5EF4-FFF2-40B4-BE49-F238E27FC236}">
                <a16:creationId xmlns:a16="http://schemas.microsoft.com/office/drawing/2014/main" id="{2508524C-4C8B-7E88-079E-E762486E46E7}"/>
              </a:ext>
            </a:extLst>
          </p:cNvPr>
          <p:cNvSpPr/>
          <p:nvPr/>
        </p:nvSpPr>
        <p:spPr>
          <a:xfrm>
            <a:off x="5554039" y="5067955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1" name="실행 단추: 앞으로 또는 다음으로 이동 160">
            <a:hlinkClick r:id="rId10" action="ppaction://hlinksldjump"/>
            <a:extLst>
              <a:ext uri="{FF2B5EF4-FFF2-40B4-BE49-F238E27FC236}">
                <a16:creationId xmlns:a16="http://schemas.microsoft.com/office/drawing/2014/main" id="{143204B6-754C-A0F7-F970-FCA5B94CF7AB}"/>
              </a:ext>
            </a:extLst>
          </p:cNvPr>
          <p:cNvSpPr/>
          <p:nvPr/>
        </p:nvSpPr>
        <p:spPr>
          <a:xfrm>
            <a:off x="325454" y="5672613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F384AE71-C91F-8AF3-89AA-DD4601ABB5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1163375"/>
              </p:ext>
            </p:extLst>
          </p:nvPr>
        </p:nvGraphicFramePr>
        <p:xfrm>
          <a:off x="6458777" y="1736956"/>
          <a:ext cx="1382425" cy="767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CFAC013E-B459-D736-5A07-8F8ECBF062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276236"/>
              </p:ext>
            </p:extLst>
          </p:nvPr>
        </p:nvGraphicFramePr>
        <p:xfrm>
          <a:off x="8014975" y="1736956"/>
          <a:ext cx="1382425" cy="767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0A9E4BA-72C6-17AD-8448-89A5898AD5B4}"/>
              </a:ext>
            </a:extLst>
          </p:cNvPr>
          <p:cNvSpPr/>
          <p:nvPr/>
        </p:nvSpPr>
        <p:spPr>
          <a:xfrm>
            <a:off x="6258109" y="1793240"/>
            <a:ext cx="432048" cy="14401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평균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A2552D8-E61D-267F-3366-29C3E8294AE8}"/>
              </a:ext>
            </a:extLst>
          </p:cNvPr>
          <p:cNvSpPr/>
          <p:nvPr/>
        </p:nvSpPr>
        <p:spPr>
          <a:xfrm>
            <a:off x="7825846" y="1793240"/>
            <a:ext cx="432048" cy="14401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표준편차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980B56-937A-0801-8A75-85A0D9C452D3}"/>
              </a:ext>
            </a:extLst>
          </p:cNvPr>
          <p:cNvSpPr txBox="1"/>
          <p:nvPr/>
        </p:nvSpPr>
        <p:spPr>
          <a:xfrm>
            <a:off x="7777751" y="4712720"/>
            <a:ext cx="19737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※ 76</a:t>
            </a: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만개 기준</a:t>
            </a: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연 </a:t>
            </a: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Module </a:t>
            </a: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생산량</a:t>
            </a: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90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9AFAEFFD-0226-9DD8-A4C0-AFE5F7A19C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0192897"/>
              </p:ext>
            </p:extLst>
          </p:nvPr>
        </p:nvGraphicFramePr>
        <p:xfrm>
          <a:off x="6231214" y="5441568"/>
          <a:ext cx="1382425" cy="767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7AADCF0-8EDE-8B0D-3E98-CAAFD1C1E102}"/>
              </a:ext>
            </a:extLst>
          </p:cNvPr>
          <p:cNvSpPr/>
          <p:nvPr/>
        </p:nvSpPr>
        <p:spPr>
          <a:xfrm>
            <a:off x="6030546" y="5497852"/>
            <a:ext cx="432048" cy="14401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평균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12DC9A-F5F4-C51D-F0FD-E7E227B06208}"/>
              </a:ext>
            </a:extLst>
          </p:cNvPr>
          <p:cNvSpPr txBox="1"/>
          <p:nvPr/>
        </p:nvSpPr>
        <p:spPr>
          <a:xfrm>
            <a:off x="5520821" y="5641544"/>
            <a:ext cx="96866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Target : 0.0</a:t>
            </a:r>
            <a:r>
              <a:rPr lang="en-US" altLang="ko-KR" sz="900" i="0" dirty="0">
                <a:solidFill>
                  <a:srgbClr val="006600"/>
                </a:solidFill>
              </a:rPr>
              <a:t>mm</a:t>
            </a:r>
            <a:endParaRPr kumimoji="1" lang="en-US" altLang="ko-KR" sz="90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BE633A6-DB57-E309-425D-4D370EF37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842363"/>
              </p:ext>
            </p:extLst>
          </p:nvPr>
        </p:nvGraphicFramePr>
        <p:xfrm>
          <a:off x="7525468" y="5569860"/>
          <a:ext cx="2272850" cy="518160"/>
        </p:xfrm>
        <a:graphic>
          <a:graphicData uri="http://schemas.openxmlformats.org/drawingml/2006/table">
            <a:tbl>
              <a:tblPr firstRow="1" bandRow="1"/>
              <a:tblGrid>
                <a:gridCol w="488974">
                  <a:extLst>
                    <a:ext uri="{9D8B030D-6E8A-4147-A177-3AD203B41FA5}">
                      <a16:colId xmlns:a16="http://schemas.microsoft.com/office/drawing/2014/main" val="4272883062"/>
                    </a:ext>
                  </a:extLst>
                </a:gridCol>
                <a:gridCol w="445969">
                  <a:extLst>
                    <a:ext uri="{9D8B030D-6E8A-4147-A177-3AD203B41FA5}">
                      <a16:colId xmlns:a16="http://schemas.microsoft.com/office/drawing/2014/main" val="3881709768"/>
                    </a:ext>
                  </a:extLst>
                </a:gridCol>
                <a:gridCol w="445969">
                  <a:extLst>
                    <a:ext uri="{9D8B030D-6E8A-4147-A177-3AD203B41FA5}">
                      <a16:colId xmlns:a16="http://schemas.microsoft.com/office/drawing/2014/main" val="819037612"/>
                    </a:ext>
                  </a:extLst>
                </a:gridCol>
                <a:gridCol w="445969">
                  <a:extLst>
                    <a:ext uri="{9D8B030D-6E8A-4147-A177-3AD203B41FA5}">
                      <a16:colId xmlns:a16="http://schemas.microsoft.com/office/drawing/2014/main" val="1925519714"/>
                    </a:ext>
                  </a:extLst>
                </a:gridCol>
                <a:gridCol w="445969">
                  <a:extLst>
                    <a:ext uri="{9D8B030D-6E8A-4147-A177-3AD203B41FA5}">
                      <a16:colId xmlns:a16="http://schemas.microsoft.com/office/drawing/2014/main" val="3926352054"/>
                    </a:ext>
                  </a:extLst>
                </a:gridCol>
              </a:tblGrid>
              <a:tr h="125016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Busbar 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Metal Strap 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722048"/>
                  </a:ext>
                </a:extLst>
              </a:tr>
              <a:tr h="125016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후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후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801558"/>
                  </a:ext>
                </a:extLst>
              </a:tr>
              <a:tr h="1602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</a:t>
                      </a:r>
                      <a:b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0.43%</a:t>
                      </a:r>
                      <a:endParaRPr lang="ko-KR" altLang="en-US" sz="8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0.17%</a:t>
                      </a:r>
                      <a:b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▼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0.26%p)</a:t>
                      </a:r>
                      <a:endParaRPr lang="ko-KR" altLang="en-US" sz="8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0.11%</a:t>
                      </a:r>
                      <a:endParaRPr lang="ko-KR" altLang="en-US" sz="8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0.06%</a:t>
                      </a:r>
                      <a:b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▼</a:t>
                      </a:r>
                      <a:r>
                        <a:rPr lang="en-US" altLang="ko-KR" sz="8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0.05%p)</a:t>
                      </a:r>
                      <a:endParaRPr lang="ko-KR" altLang="en-US" sz="8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4650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B1028D-9C2D-C9B6-C393-430B0AD8F5C2}"/>
              </a:ext>
            </a:extLst>
          </p:cNvPr>
          <p:cNvSpPr txBox="1"/>
          <p:nvPr/>
        </p:nvSpPr>
        <p:spPr>
          <a:xfrm>
            <a:off x="8859650" y="2582834"/>
            <a:ext cx="12936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※ APC </a:t>
            </a: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투자비 </a:t>
            </a: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0.1</a:t>
            </a: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</a:t>
            </a:r>
          </a:p>
        </p:txBody>
      </p:sp>
    </p:spTree>
    <p:extLst>
      <p:ext uri="{BB962C8B-B14F-4D97-AF65-F5344CB8AC3E}">
        <p14:creationId xmlns:p14="http://schemas.microsoft.com/office/powerpoint/2010/main" val="1503606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Pallet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별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CMA Width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편차 현황 및 원인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5892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ESMI CMA Pallet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의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Cylinder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고정 방식 상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(1)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활성화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Cell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두께 변화에 의한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CMA Width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값의 선형적 증가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 (2) Pallet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별 고정력 편차가</a:t>
            </a:r>
            <a:b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존재하며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ESOT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와 같이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CAM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고정 방식을 사용하면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활성화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Cell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두께 또는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Pallet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별 공압력 편차가 없을 것으로 예상됨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8489E9F-2509-7AA2-3EF1-23860A8ED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" y="1679010"/>
            <a:ext cx="9326880" cy="46331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F0706D-8089-E536-64E8-7CBDF30C764A}"/>
              </a:ext>
            </a:extLst>
          </p:cNvPr>
          <p:cNvSpPr txBox="1"/>
          <p:nvPr/>
        </p:nvSpPr>
        <p:spPr>
          <a:xfrm>
            <a:off x="4915674" y="5565769"/>
            <a:ext cx="3703225" cy="2462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900" b="1" i="0" kern="0">
                <a:solidFill>
                  <a:srgbClr val="FFFF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(1) X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축</a:t>
            </a: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활성화 </a:t>
            </a: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Cell 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두께 </a:t>
            </a: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40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개의 합</a:t>
            </a: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 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증가 → </a:t>
            </a: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Y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축</a:t>
            </a: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(CMA Width) 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선형 증가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6B306A39-4628-2446-21A9-F342F8B70D6B}"/>
              </a:ext>
            </a:extLst>
          </p:cNvPr>
          <p:cNvCxnSpPr>
            <a:cxnSpLocks/>
          </p:cNvCxnSpPr>
          <p:nvPr/>
        </p:nvCxnSpPr>
        <p:spPr>
          <a:xfrm flipV="1">
            <a:off x="1512082" y="4744016"/>
            <a:ext cx="7360314" cy="110681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BB88F68-51C7-2FAB-4638-A7058C489615}"/>
              </a:ext>
            </a:extLst>
          </p:cNvPr>
          <p:cNvSpPr txBox="1"/>
          <p:nvPr/>
        </p:nvSpPr>
        <p:spPr>
          <a:xfrm>
            <a:off x="732741" y="5432079"/>
            <a:ext cx="2263213" cy="2462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900" b="1" i="0" kern="0">
                <a:solidFill>
                  <a:srgbClr val="FFFF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(2) Pallet 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별 </a:t>
            </a: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Y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축</a:t>
            </a: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(CMA Width) Trend 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편차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6A845B7-6499-68F4-EF67-6651EE7D4FA0}"/>
              </a:ext>
            </a:extLst>
          </p:cNvPr>
          <p:cNvCxnSpPr>
            <a:cxnSpLocks/>
          </p:cNvCxnSpPr>
          <p:nvPr/>
        </p:nvCxnSpPr>
        <p:spPr>
          <a:xfrm>
            <a:off x="705971" y="3630440"/>
            <a:ext cx="0" cy="814811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DAF71AE-718C-2B1F-A7F1-07BCE87706F5}"/>
              </a:ext>
            </a:extLst>
          </p:cNvPr>
          <p:cNvCxnSpPr>
            <a:cxnSpLocks/>
          </p:cNvCxnSpPr>
          <p:nvPr/>
        </p:nvCxnSpPr>
        <p:spPr>
          <a:xfrm>
            <a:off x="705971" y="4445251"/>
            <a:ext cx="0" cy="986828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6C84CD28-00FE-AD5F-6D72-EC01C53206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245" b="71962"/>
          <a:stretch/>
        </p:blipFill>
        <p:spPr>
          <a:xfrm>
            <a:off x="8150288" y="2302383"/>
            <a:ext cx="1371791" cy="172016"/>
          </a:xfrm>
          <a:prstGeom prst="rect">
            <a:avLst/>
          </a:prstGeom>
          <a:noFill/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272937A-1034-BB86-F69B-42BB01CDE1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0057" b="56157"/>
          <a:stretch/>
        </p:blipFill>
        <p:spPr>
          <a:xfrm>
            <a:off x="8150288" y="3074644"/>
            <a:ext cx="1371791" cy="171678"/>
          </a:xfrm>
          <a:prstGeom prst="rect">
            <a:avLst/>
          </a:prstGeom>
          <a:noFill/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D8C56D0-335D-83C9-D7A7-4F44A6BDB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6225"/>
          <a:stretch/>
        </p:blipFill>
        <p:spPr>
          <a:xfrm>
            <a:off x="8150288" y="3866654"/>
            <a:ext cx="1371791" cy="171191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EFC1EB5-0C14-30CC-B31F-DA81A6C6F661}"/>
              </a:ext>
            </a:extLst>
          </p:cNvPr>
          <p:cNvSpPr txBox="1"/>
          <p:nvPr/>
        </p:nvSpPr>
        <p:spPr>
          <a:xfrm>
            <a:off x="218010" y="1351820"/>
            <a:ext cx="4953000" cy="296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2C3238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▷ </a:t>
            </a:r>
            <a:r>
              <a:rPr lang="en-US" altLang="ko-KR" sz="1200" dirty="0">
                <a:solidFill>
                  <a:srgbClr val="2C3238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 Pack #1 (ESS</a:t>
            </a:r>
            <a:r>
              <a:rPr lang="ko-KR" altLang="en-US" sz="1200" dirty="0">
                <a:solidFill>
                  <a:srgbClr val="2C3238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2C3238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JF2)</a:t>
            </a:r>
            <a:r>
              <a:rPr lang="ko-KR" altLang="en-US" sz="1200" dirty="0">
                <a:solidFill>
                  <a:srgbClr val="2C3238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2C3238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dirty="0">
                <a:solidFill>
                  <a:srgbClr val="2C3238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2C3238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‘26.04.01~20 / Pallet </a:t>
            </a:r>
            <a:r>
              <a:rPr lang="ko-KR" altLang="en-US" sz="1200" dirty="0">
                <a:solidFill>
                  <a:srgbClr val="2C3238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별 </a:t>
            </a:r>
            <a:r>
              <a:rPr lang="en-US" altLang="ko-KR" sz="1200" dirty="0">
                <a:solidFill>
                  <a:srgbClr val="2C3238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CMA Width </a:t>
            </a:r>
            <a:r>
              <a:rPr lang="ko-KR" altLang="en-US" sz="1200" dirty="0">
                <a:solidFill>
                  <a:srgbClr val="2C3238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측정 데이터</a:t>
            </a:r>
            <a:endParaRPr lang="en-US" altLang="ko-KR" sz="1200" dirty="0">
              <a:solidFill>
                <a:srgbClr val="2C3238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9154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CMA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가압 자동보정 결과</a:t>
            </a: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8D6B144-13D5-DAA0-7865-A0FA67C727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"/>
          <a:stretch/>
        </p:blipFill>
        <p:spPr bwMode="auto">
          <a:xfrm>
            <a:off x="218010" y="1808516"/>
            <a:ext cx="9383190" cy="207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7937941A-762E-5239-BAD9-FB33687D32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84"/>
          <a:stretch/>
        </p:blipFill>
        <p:spPr bwMode="auto">
          <a:xfrm>
            <a:off x="218010" y="4152767"/>
            <a:ext cx="9397512" cy="2195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EA3D98-7CB1-51DF-6EE5-8BE493FC19E9}"/>
              </a:ext>
            </a:extLst>
          </p:cNvPr>
          <p:cNvSpPr txBox="1"/>
          <p:nvPr/>
        </p:nvSpPr>
        <p:spPr>
          <a:xfrm>
            <a:off x="218010" y="558205"/>
            <a:ext cx="5599086" cy="739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▷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MI Pack #1 (ESS JF2) / ‘26.05.01 ~ 05.11 / Pallet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별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CMA Width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측정 데이터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▷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CMA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전폭 제품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Spec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상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Target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값인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790mm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 자동보정 진행</a:t>
            </a:r>
            <a:endParaRPr lang="en-US" altLang="ko-KR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457200" latinLnBrk="0">
              <a:lnSpc>
                <a:spcPct val="120000"/>
              </a:lnSpc>
              <a:defRPr/>
            </a:pP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▷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Pallet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별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CMA Width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측정 데이터 트렌드 변화 및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Box Plot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분포 비교</a:t>
            </a:r>
            <a:endParaRPr lang="en-US" altLang="ko-KR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8582F-6632-0A4D-207E-6FC73AE8C616}"/>
              </a:ext>
            </a:extLst>
          </p:cNvPr>
          <p:cNvSpPr txBox="1"/>
          <p:nvPr/>
        </p:nvSpPr>
        <p:spPr>
          <a:xfrm>
            <a:off x="4559339" y="1607455"/>
            <a:ext cx="1520369" cy="2308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900" b="1" i="0" kern="0">
                <a:solidFill>
                  <a:srgbClr val="FFFF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→</a:t>
            </a:r>
            <a:r>
              <a:rPr lang="en-US" altLang="ko-KR" dirty="0"/>
              <a:t> Pallet </a:t>
            </a:r>
            <a:r>
              <a:rPr lang="ko-KR" altLang="en-US" dirty="0"/>
              <a:t>별 </a:t>
            </a:r>
            <a:r>
              <a:rPr lang="en-US" altLang="ko-KR" dirty="0"/>
              <a:t>APC </a:t>
            </a:r>
            <a:r>
              <a:rPr lang="ko-KR" altLang="en-US" dirty="0"/>
              <a:t>자동보정 </a:t>
            </a:r>
            <a:r>
              <a:rPr lang="en-US" altLang="ko-KR" dirty="0"/>
              <a:t>ON</a:t>
            </a:r>
            <a:endParaRPr kumimoji="1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149BE9-CE13-6EB1-C5A7-A75EB2947F25}"/>
              </a:ext>
            </a:extLst>
          </p:cNvPr>
          <p:cNvSpPr txBox="1"/>
          <p:nvPr/>
        </p:nvSpPr>
        <p:spPr>
          <a:xfrm>
            <a:off x="2774533" y="1607455"/>
            <a:ext cx="1757647" cy="2308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900" b="1" i="0" kern="0">
                <a:solidFill>
                  <a:srgbClr val="FFFF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Cell </a:t>
            </a:r>
            <a:r>
              <a:rPr lang="ko-KR" altLang="en-US" dirty="0"/>
              <a:t>두께 기반 </a:t>
            </a:r>
            <a:r>
              <a:rPr lang="en-US" altLang="ko-KR" dirty="0"/>
              <a:t>PLC </a:t>
            </a:r>
            <a:r>
              <a:rPr lang="ko-KR" altLang="en-US" dirty="0"/>
              <a:t>자동보정 </a:t>
            </a:r>
            <a:r>
              <a:rPr lang="en-US" altLang="ko-KR" dirty="0"/>
              <a:t>ON </a:t>
            </a:r>
            <a:r>
              <a:rPr lang="ko-KR" altLang="en-US" dirty="0"/>
              <a:t>←</a:t>
            </a:r>
            <a:endParaRPr kumimoji="1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4F13EC-E7BC-9C94-9542-7986233D62DF}"/>
              </a:ext>
            </a:extLst>
          </p:cNvPr>
          <p:cNvSpPr txBox="1"/>
          <p:nvPr/>
        </p:nvSpPr>
        <p:spPr>
          <a:xfrm>
            <a:off x="537652" y="3995365"/>
            <a:ext cx="2363708" cy="2308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900" b="1" i="0" kern="0">
                <a:solidFill>
                  <a:srgbClr val="FFFF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자동보정 전</a:t>
            </a:r>
            <a:r>
              <a:rPr lang="en-US" altLang="ko-KR" dirty="0"/>
              <a:t>/</a:t>
            </a:r>
            <a:r>
              <a:rPr lang="ko-KR" altLang="en-US" dirty="0"/>
              <a:t>후 </a:t>
            </a:r>
            <a:r>
              <a:rPr lang="en-US" altLang="ko-KR" dirty="0"/>
              <a:t>Pallet </a:t>
            </a:r>
            <a:r>
              <a:rPr lang="ko-KR" altLang="en-US" dirty="0"/>
              <a:t>별 </a:t>
            </a:r>
            <a:r>
              <a:rPr lang="en-US" altLang="ko-KR" dirty="0"/>
              <a:t>CMA Width </a:t>
            </a:r>
            <a:r>
              <a:rPr lang="ko-KR" altLang="en-US" dirty="0"/>
              <a:t>편차 </a:t>
            </a:r>
            <a:r>
              <a:rPr lang="en-US" altLang="ko-KR" dirty="0"/>
              <a:t>Boxplot</a:t>
            </a:r>
            <a:endParaRPr kumimoji="1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9631650-3D93-CE62-974A-055AA78FA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3676" y="4289056"/>
            <a:ext cx="819264" cy="4667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FBBAA1-889B-97C5-ADD2-676C4DB2A651}"/>
              </a:ext>
            </a:extLst>
          </p:cNvPr>
          <p:cNvSpPr txBox="1"/>
          <p:nvPr/>
        </p:nvSpPr>
        <p:spPr>
          <a:xfrm>
            <a:off x="2693383" y="1808516"/>
            <a:ext cx="2170339" cy="2455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i="0" dirty="0">
                <a:solidFill>
                  <a:srgbClr val="006600"/>
                </a:solidFill>
              </a:rPr>
              <a:t>40Cell</a:t>
            </a:r>
            <a:r>
              <a:rPr lang="ko-KR" altLang="en-US" sz="900" i="0" dirty="0">
                <a:solidFill>
                  <a:srgbClr val="006600"/>
                </a:solidFill>
              </a:rPr>
              <a:t> 두께 합 평균 </a:t>
            </a:r>
            <a:r>
              <a:rPr lang="en-US" altLang="ko-KR" sz="900" i="0" dirty="0">
                <a:solidFill>
                  <a:srgbClr val="006600"/>
                </a:solidFill>
              </a:rPr>
              <a:t>: 708.6mm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041D42-362E-9EEB-B036-0270CB4E527E}"/>
              </a:ext>
            </a:extLst>
          </p:cNvPr>
          <p:cNvSpPr txBox="1"/>
          <p:nvPr/>
        </p:nvSpPr>
        <p:spPr>
          <a:xfrm>
            <a:off x="4212452" y="1808516"/>
            <a:ext cx="2170339" cy="2455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i="0" dirty="0">
                <a:solidFill>
                  <a:srgbClr val="006600"/>
                </a:solidFill>
              </a:rPr>
              <a:t>40Cell</a:t>
            </a:r>
            <a:r>
              <a:rPr lang="ko-KR" altLang="en-US" sz="900" i="0" dirty="0">
                <a:solidFill>
                  <a:srgbClr val="006600"/>
                </a:solidFill>
              </a:rPr>
              <a:t> 두께 합 평균 </a:t>
            </a:r>
            <a:r>
              <a:rPr lang="en-US" altLang="ko-KR" sz="900" i="0" dirty="0">
                <a:solidFill>
                  <a:srgbClr val="006600"/>
                </a:solidFill>
              </a:rPr>
              <a:t>: 708.5mm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343158C-0760-A158-3C66-288FEF04636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738" b="5514"/>
          <a:stretch/>
        </p:blipFill>
        <p:spPr>
          <a:xfrm>
            <a:off x="7010606" y="784902"/>
            <a:ext cx="2469980" cy="85590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CBFAEBD-EA75-A2B4-EB32-F250EC0B5E41}"/>
              </a:ext>
            </a:extLst>
          </p:cNvPr>
          <p:cNvSpPr txBox="1"/>
          <p:nvPr/>
        </p:nvSpPr>
        <p:spPr>
          <a:xfrm>
            <a:off x="9234364" y="753778"/>
            <a:ext cx="492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실린더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고정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1F44A0-B953-BC5F-4951-05DDFF4AB700}"/>
              </a:ext>
            </a:extLst>
          </p:cNvPr>
          <p:cNvSpPr txBox="1"/>
          <p:nvPr/>
        </p:nvSpPr>
        <p:spPr>
          <a:xfrm>
            <a:off x="7965254" y="683171"/>
            <a:ext cx="6254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CMA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A6EDAFA-8EB6-9D2A-79A3-DB2AAA298F91}"/>
              </a:ext>
            </a:extLst>
          </p:cNvPr>
          <p:cNvCxnSpPr>
            <a:cxnSpLocks/>
          </p:cNvCxnSpPr>
          <p:nvPr/>
        </p:nvCxnSpPr>
        <p:spPr>
          <a:xfrm>
            <a:off x="4559339" y="1778036"/>
            <a:ext cx="0" cy="190851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49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CTP(Cell to Pack)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레진 도포 자동보정을 통한 레진 무게 산포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소모량 최적화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33066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실시간 레진 토출량 변화를 분석하고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피드백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&amp;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예측 보정 로직을 동시 적용하는 레진 무게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(CTQ)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산포 및 소모량 최적화 자동보정을 개발함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" name="사각형 설명선 24">
            <a:extLst>
              <a:ext uri="{FF2B5EF4-FFF2-40B4-BE49-F238E27FC236}">
                <a16:creationId xmlns:a16="http://schemas.microsoft.com/office/drawing/2014/main" id="{2957DDA4-148B-19DF-407E-84719714C354}"/>
              </a:ext>
            </a:extLst>
          </p:cNvPr>
          <p:cNvSpPr/>
          <p:nvPr/>
        </p:nvSpPr>
        <p:spPr bwMode="auto">
          <a:xfrm>
            <a:off x="159789" y="2707785"/>
            <a:ext cx="5353487" cy="1765143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8000" anchor="t"/>
          <a:lstStyle/>
          <a:p>
            <a:pPr defTabSz="457200" latinLnBrk="0">
              <a:lnSpc>
                <a:spcPct val="130000"/>
              </a:lnSpc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1) </a:t>
            </a: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Feedback </a:t>
            </a:r>
            <a:r>
              <a:rPr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보정</a:t>
            </a:r>
            <a:r>
              <a:rPr lang="en-US" altLang="ko-KR" sz="1100" b="1" dirty="0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제어주기마다</a:t>
            </a: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보정을 통해 재료 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경시성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주변 온도 등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 의한 산포 최소화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2) </a:t>
            </a:r>
            <a:r>
              <a:rPr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예측 보정 </a:t>
            </a: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원재료 내 기포 혼입으로 인한 예압 거리 헌팅 → 무게 하한 헌팅 현상 제거</a:t>
            </a:r>
            <a:endParaRPr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1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1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실시간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Target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 설정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Zero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조건 하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무게 산포 기반 실시간 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Target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최적화</a:t>
            </a: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AC86382-CEB8-C8F8-8CBD-F4C31D17796B}"/>
              </a:ext>
            </a:extLst>
          </p:cNvPr>
          <p:cNvSpPr/>
          <p:nvPr/>
        </p:nvSpPr>
        <p:spPr>
          <a:xfrm>
            <a:off x="215779" y="2427497"/>
            <a:ext cx="5257923" cy="3311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2. APC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시스템 기반 자동보정 로직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F7F5CD4-1E2E-B8E4-BDF4-14D89AEF1D6D}"/>
              </a:ext>
            </a:extLst>
          </p:cNvPr>
          <p:cNvSpPr/>
          <p:nvPr/>
        </p:nvSpPr>
        <p:spPr>
          <a:xfrm>
            <a:off x="5660801" y="938706"/>
            <a:ext cx="4125090" cy="33119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Simulation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예상 효과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FC1A5A-2F4F-F320-2EBE-BFE66EBF5D20}"/>
              </a:ext>
            </a:extLst>
          </p:cNvPr>
          <p:cNvSpPr/>
          <p:nvPr/>
        </p:nvSpPr>
        <p:spPr>
          <a:xfrm>
            <a:off x="215779" y="938706"/>
            <a:ext cx="5257924" cy="3311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1. ESS Pack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레진 도포 공정 배경 및 개선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Point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EB9F9EC-3A8D-CEAC-59FE-9E98DEDFD290}"/>
              </a:ext>
            </a:extLst>
          </p:cNvPr>
          <p:cNvSpPr/>
          <p:nvPr/>
        </p:nvSpPr>
        <p:spPr>
          <a:xfrm>
            <a:off x="5660802" y="5727292"/>
            <a:ext cx="4087090" cy="33082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진행 일정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EB501CA-0FC3-00DD-EEFD-274680691302}"/>
              </a:ext>
            </a:extLst>
          </p:cNvPr>
          <p:cNvGrpSpPr/>
          <p:nvPr/>
        </p:nvGrpSpPr>
        <p:grpSpPr>
          <a:xfrm>
            <a:off x="220246" y="1344400"/>
            <a:ext cx="1717791" cy="836509"/>
            <a:chOff x="220246" y="1517724"/>
            <a:chExt cx="1717791" cy="836509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19BF6B30-20A0-81FB-BB25-BEF3D49D2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3645" y="1611578"/>
              <a:ext cx="1314392" cy="742655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3D1F1D4-5F59-6E30-82F4-5BB05AD66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9783" r="29755" b="12060"/>
            <a:stretch/>
          </p:blipFill>
          <p:spPr>
            <a:xfrm>
              <a:off x="220246" y="1517724"/>
              <a:ext cx="549908" cy="657479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B0B6D24-A4FF-BAB3-C511-FCE40CE4E812}"/>
              </a:ext>
            </a:extLst>
          </p:cNvPr>
          <p:cNvSpPr txBox="1"/>
          <p:nvPr/>
        </p:nvSpPr>
        <p:spPr>
          <a:xfrm>
            <a:off x="236200" y="2154354"/>
            <a:ext cx="1722257" cy="2455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Pack </a:t>
            </a: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레진 면도포 공정</a:t>
            </a:r>
            <a:endParaRPr kumimoji="1" lang="en-US" altLang="ko-KR" sz="90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" name="사각형 설명선 24">
            <a:extLst>
              <a:ext uri="{FF2B5EF4-FFF2-40B4-BE49-F238E27FC236}">
                <a16:creationId xmlns:a16="http://schemas.microsoft.com/office/drawing/2014/main" id="{BDD38800-0B1F-ABBC-A500-4209427D895F}"/>
              </a:ext>
            </a:extLst>
          </p:cNvPr>
          <p:cNvSpPr/>
          <p:nvPr/>
        </p:nvSpPr>
        <p:spPr bwMode="auto">
          <a:xfrm>
            <a:off x="2000671" y="1336414"/>
            <a:ext cx="3351921" cy="280962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8000" anchor="t"/>
          <a:lstStyle/>
          <a:p>
            <a:pPr marL="0" lvl="1" defTabSz="1042298" fontAlgn="base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defRPr/>
            </a:pP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▷ 경시</a:t>
            </a: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주변 온도 등</a:t>
            </a: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 </a:t>
            </a: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변화로 인한 레진 점도</a:t>
            </a: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토출압 변동</a:t>
            </a:r>
            <a:endParaRPr kumimoji="1" lang="en-US" altLang="ko-KR" sz="1100" kern="0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1" defTabSz="1042298" fontAlgn="base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defRPr/>
            </a:pP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 </a:t>
            </a: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→ 레진 정량 토출 어려움</a:t>
            </a: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→ 산포 발생</a:t>
            </a:r>
            <a:endParaRPr kumimoji="1" lang="en-US" altLang="ko-KR" sz="1100" kern="0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1" defTabSz="1042298" fontAlgn="base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defRPr/>
            </a:pP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▷ 개선 </a:t>
            </a: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Point : </a:t>
            </a: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레진 무게</a:t>
            </a: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(CTQ) </a:t>
            </a: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품질 산포 최소화</a:t>
            </a: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</a:t>
            </a:r>
          </a:p>
          <a:p>
            <a:pPr marL="0" lvl="1" defTabSz="1042298" fontAlgn="base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defRPr/>
            </a:pP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                     </a:t>
            </a: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원가절감</a:t>
            </a: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공정 관리 포인트 최소화</a:t>
            </a:r>
            <a:endParaRPr kumimoji="1" lang="en-US" altLang="ko-KR" sz="1100" kern="0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D312F68-B6CC-93E5-4DB7-FC9DE948651B}"/>
              </a:ext>
            </a:extLst>
          </p:cNvPr>
          <p:cNvGrpSpPr/>
          <p:nvPr/>
        </p:nvGrpSpPr>
        <p:grpSpPr>
          <a:xfrm>
            <a:off x="495244" y="5236175"/>
            <a:ext cx="4654047" cy="1364413"/>
            <a:chOff x="403249" y="5281439"/>
            <a:chExt cx="4477663" cy="1364413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16021BF-C5B8-D963-9B9E-1FE276ABE724}"/>
                </a:ext>
              </a:extLst>
            </p:cNvPr>
            <p:cNvSpPr/>
            <p:nvPr/>
          </p:nvSpPr>
          <p:spPr>
            <a:xfrm>
              <a:off x="571227" y="5281439"/>
              <a:ext cx="3981662" cy="1364413"/>
            </a:xfrm>
            <a:prstGeom prst="rect">
              <a:avLst/>
            </a:prstGeom>
            <a:pattFill prst="dotGrid">
              <a:fgClr>
                <a:srgbClr val="E7E6E6">
                  <a:lumMod val="20000"/>
                  <a:lumOff val="80000"/>
                </a:srgbClr>
              </a:fgClr>
              <a:bgClr>
                <a:sysClr val="window" lastClr="FFFFFF"/>
              </a:bgClr>
            </a:pattFill>
            <a:ln w="190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58242A-C103-55D0-2145-3ADD53286AC9}"/>
                </a:ext>
              </a:extLst>
            </p:cNvPr>
            <p:cNvSpPr txBox="1"/>
            <p:nvPr/>
          </p:nvSpPr>
          <p:spPr>
            <a:xfrm>
              <a:off x="403249" y="5311920"/>
              <a:ext cx="167978" cy="96950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USL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3ECFEEB-9438-2118-9138-05477EA598D3}"/>
                </a:ext>
              </a:extLst>
            </p:cNvPr>
            <p:cNvSpPr txBox="1"/>
            <p:nvPr/>
          </p:nvSpPr>
          <p:spPr>
            <a:xfrm>
              <a:off x="403249" y="6478542"/>
              <a:ext cx="167978" cy="96950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LSL</a:t>
              </a: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8359024E-6794-2287-3744-FAD6B829E36F}"/>
                </a:ext>
              </a:extLst>
            </p:cNvPr>
            <p:cNvCxnSpPr>
              <a:cxnSpLocks/>
            </p:cNvCxnSpPr>
            <p:nvPr/>
          </p:nvCxnSpPr>
          <p:spPr>
            <a:xfrm>
              <a:off x="584159" y="6530294"/>
              <a:ext cx="3981661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EC03207-6427-14DF-7109-E8474E992501}"/>
                </a:ext>
              </a:extLst>
            </p:cNvPr>
            <p:cNvSpPr/>
            <p:nvPr/>
          </p:nvSpPr>
          <p:spPr>
            <a:xfrm>
              <a:off x="624590" y="5750298"/>
              <a:ext cx="37584" cy="7277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73AF9121-5035-5944-8A06-684C818CAB81}"/>
                </a:ext>
              </a:extLst>
            </p:cNvPr>
            <p:cNvSpPr/>
            <p:nvPr/>
          </p:nvSpPr>
          <p:spPr>
            <a:xfrm>
              <a:off x="733380" y="5955636"/>
              <a:ext cx="37584" cy="7277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AADFBCE-61EB-CA17-A1B2-5315F926F58C}"/>
                </a:ext>
              </a:extLst>
            </p:cNvPr>
            <p:cNvSpPr/>
            <p:nvPr/>
          </p:nvSpPr>
          <p:spPr>
            <a:xfrm>
              <a:off x="842168" y="5870587"/>
              <a:ext cx="37584" cy="7277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FCC8F51-56F3-595B-CB7C-D13C56436791}"/>
                </a:ext>
              </a:extLst>
            </p:cNvPr>
            <p:cNvSpPr/>
            <p:nvPr/>
          </p:nvSpPr>
          <p:spPr>
            <a:xfrm>
              <a:off x="950957" y="5804207"/>
              <a:ext cx="37584" cy="7277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CE4FE865-F7F0-9E7E-0799-DAB9F691509E}"/>
                </a:ext>
              </a:extLst>
            </p:cNvPr>
            <p:cNvSpPr/>
            <p:nvPr/>
          </p:nvSpPr>
          <p:spPr>
            <a:xfrm>
              <a:off x="1059745" y="5804207"/>
              <a:ext cx="37584" cy="7277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C101161D-DB8D-E436-1D3E-3DE9A53D6587}"/>
                </a:ext>
              </a:extLst>
            </p:cNvPr>
            <p:cNvSpPr/>
            <p:nvPr/>
          </p:nvSpPr>
          <p:spPr>
            <a:xfrm>
              <a:off x="1168532" y="5922219"/>
              <a:ext cx="37584" cy="7277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36C6B797-D76F-97C3-B5AC-E73A7E3A0CF6}"/>
                </a:ext>
              </a:extLst>
            </p:cNvPr>
            <p:cNvSpPr/>
            <p:nvPr/>
          </p:nvSpPr>
          <p:spPr>
            <a:xfrm>
              <a:off x="1264730" y="5891392"/>
              <a:ext cx="37584" cy="7277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499EB5B-71C9-F77E-BC99-DAD3988DCE28}"/>
                </a:ext>
              </a:extLst>
            </p:cNvPr>
            <p:cNvSpPr/>
            <p:nvPr/>
          </p:nvSpPr>
          <p:spPr>
            <a:xfrm>
              <a:off x="1353553" y="5808212"/>
              <a:ext cx="37584" cy="7277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03CBF94-D41C-2DB3-4B31-2C8BA66ED4AB}"/>
                </a:ext>
              </a:extLst>
            </p:cNvPr>
            <p:cNvSpPr/>
            <p:nvPr/>
          </p:nvSpPr>
          <p:spPr>
            <a:xfrm>
              <a:off x="1401695" y="5957666"/>
              <a:ext cx="37584" cy="7277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0C821073-899F-C251-4763-01CFD4719589}"/>
                </a:ext>
              </a:extLst>
            </p:cNvPr>
            <p:cNvSpPr/>
            <p:nvPr/>
          </p:nvSpPr>
          <p:spPr>
            <a:xfrm>
              <a:off x="1532831" y="5687161"/>
              <a:ext cx="37584" cy="7277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EB7A816E-5FC9-B346-6188-D43F2C0F7322}"/>
                </a:ext>
              </a:extLst>
            </p:cNvPr>
            <p:cNvSpPr/>
            <p:nvPr/>
          </p:nvSpPr>
          <p:spPr>
            <a:xfrm>
              <a:off x="1446438" y="5743100"/>
              <a:ext cx="37584" cy="7277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87DA4186-C0B7-9F3E-A0CD-26E2A3566526}"/>
                </a:ext>
              </a:extLst>
            </p:cNvPr>
            <p:cNvCxnSpPr>
              <a:cxnSpLocks/>
            </p:cNvCxnSpPr>
            <p:nvPr/>
          </p:nvCxnSpPr>
          <p:spPr>
            <a:xfrm>
              <a:off x="584158" y="5845098"/>
              <a:ext cx="94867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0BB7CC3-967B-6A92-20AA-847E143E2618}"/>
                </a:ext>
              </a:extLst>
            </p:cNvPr>
            <p:cNvSpPr txBox="1"/>
            <p:nvPr/>
          </p:nvSpPr>
          <p:spPr>
            <a:xfrm>
              <a:off x="1477720" y="5739247"/>
              <a:ext cx="687782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② 제어 평균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D3F02DF-C3EE-72A7-4D8B-4AEC4F610706}"/>
                </a:ext>
              </a:extLst>
            </p:cNvPr>
            <p:cNvSpPr txBox="1"/>
            <p:nvPr/>
          </p:nvSpPr>
          <p:spPr>
            <a:xfrm>
              <a:off x="2950025" y="5879231"/>
              <a:ext cx="1103422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1414F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자동 </a:t>
              </a: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1414F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Target 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A14C8D6F-AAC8-57C4-064A-6FFE7C960F92}"/>
                </a:ext>
              </a:extLst>
            </p:cNvPr>
            <p:cNvCxnSpPr/>
            <p:nvPr/>
          </p:nvCxnSpPr>
          <p:spPr>
            <a:xfrm>
              <a:off x="584158" y="5375294"/>
              <a:ext cx="398166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A9C743F7-CFC3-3190-766E-2BAFC9FB0BF1}"/>
                </a:ext>
              </a:extLst>
            </p:cNvPr>
            <p:cNvCxnSpPr/>
            <p:nvPr/>
          </p:nvCxnSpPr>
          <p:spPr>
            <a:xfrm>
              <a:off x="584158" y="6533475"/>
              <a:ext cx="398166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725958D5-0031-AA01-A5CB-0B74C84853BF}"/>
                </a:ext>
              </a:extLst>
            </p:cNvPr>
            <p:cNvCxnSpPr>
              <a:cxnSpLocks/>
            </p:cNvCxnSpPr>
            <p:nvPr/>
          </p:nvCxnSpPr>
          <p:spPr>
            <a:xfrm>
              <a:off x="584159" y="5969085"/>
              <a:ext cx="1521531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dash"/>
              <a:miter lim="800000"/>
            </a:ln>
            <a:effectLst/>
          </p:spPr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27CF99D-E65F-B72C-7382-EF85454804DA}"/>
                </a:ext>
              </a:extLst>
            </p:cNvPr>
            <p:cNvSpPr txBox="1"/>
            <p:nvPr/>
          </p:nvSpPr>
          <p:spPr>
            <a:xfrm>
              <a:off x="1452636" y="5952402"/>
              <a:ext cx="847058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① 이전 </a:t>
              </a: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Target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A7A30B6D-7581-996D-E365-97BBC54E0EC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08425" y="5838362"/>
              <a:ext cx="38940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8BAAEC7-078F-F886-C84A-B993B401A99B}"/>
                </a:ext>
              </a:extLst>
            </p:cNvPr>
            <p:cNvSpPr txBox="1"/>
            <p:nvPr/>
          </p:nvSpPr>
          <p:spPr>
            <a:xfrm>
              <a:off x="978318" y="5452786"/>
              <a:ext cx="687782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③ 표준 편차</a:t>
              </a:r>
            </a:p>
          </p:txBody>
        </p:sp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C77B83D1-3103-86DF-316A-2B8C3E603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74443" y="5319221"/>
              <a:ext cx="1159760" cy="463035"/>
            </a:xfrm>
            <a:prstGeom prst="rect">
              <a:avLst/>
            </a:prstGeom>
          </p:spPr>
        </p:pic>
        <p:pic>
          <p:nvPicPr>
            <p:cNvPr id="51" name="Picture 6" descr="Content - Normal distribution">
              <a:extLst>
                <a:ext uri="{FF2B5EF4-FFF2-40B4-BE49-F238E27FC236}">
                  <a16:creationId xmlns:a16="http://schemas.microsoft.com/office/drawing/2014/main" id="{BD1DB924-C1A7-209B-8AC6-7B32DEB187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434977" y="5882745"/>
              <a:ext cx="693205" cy="451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191DCBC-5369-52BF-7E31-A51983C12896}"/>
                </a:ext>
              </a:extLst>
            </p:cNvPr>
            <p:cNvCxnSpPr>
              <a:cxnSpLocks/>
            </p:cNvCxnSpPr>
            <p:nvPr/>
          </p:nvCxnSpPr>
          <p:spPr>
            <a:xfrm>
              <a:off x="2860272" y="6108546"/>
              <a:ext cx="1521531" cy="0"/>
            </a:xfrm>
            <a:prstGeom prst="line">
              <a:avLst/>
            </a:prstGeom>
            <a:noFill/>
            <a:ln w="15875" cap="flat" cmpd="sng" algn="ctr">
              <a:solidFill>
                <a:srgbClr val="0000FF"/>
              </a:solidFill>
              <a:prstDash val="dash"/>
              <a:miter lim="800000"/>
            </a:ln>
            <a:effectLst/>
          </p:spPr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F0FBC40C-3F6E-B0B5-7B35-595395E3768C}"/>
                </a:ext>
              </a:extLst>
            </p:cNvPr>
            <p:cNvCxnSpPr>
              <a:cxnSpLocks/>
            </p:cNvCxnSpPr>
            <p:nvPr/>
          </p:nvCxnSpPr>
          <p:spPr>
            <a:xfrm>
              <a:off x="2860272" y="6379551"/>
              <a:ext cx="227493" cy="0"/>
            </a:xfrm>
            <a:prstGeom prst="line">
              <a:avLst/>
            </a:prstGeom>
            <a:noFill/>
            <a:ln w="15875" cap="flat" cmpd="sng" algn="ctr">
              <a:solidFill>
                <a:srgbClr val="0000FF"/>
              </a:solidFill>
              <a:prstDash val="dash"/>
              <a:miter lim="800000"/>
            </a:ln>
            <a:effectLst/>
          </p:spPr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B80810F7-E430-DBF1-2EE4-7B1CB009DC52}"/>
                </a:ext>
              </a:extLst>
            </p:cNvPr>
            <p:cNvCxnSpPr>
              <a:cxnSpLocks/>
            </p:cNvCxnSpPr>
            <p:nvPr/>
          </p:nvCxnSpPr>
          <p:spPr>
            <a:xfrm>
              <a:off x="3007245" y="6145077"/>
              <a:ext cx="0" cy="204479"/>
            </a:xfrm>
            <a:prstGeom prst="straightConnector1">
              <a:avLst/>
            </a:prstGeom>
            <a:ln>
              <a:solidFill>
                <a:srgbClr val="1414FE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A533F579-9E98-3769-B44E-262479B8A350}"/>
                </a:ext>
              </a:extLst>
            </p:cNvPr>
            <p:cNvCxnSpPr>
              <a:cxnSpLocks/>
            </p:cNvCxnSpPr>
            <p:nvPr/>
          </p:nvCxnSpPr>
          <p:spPr>
            <a:xfrm>
              <a:off x="3007245" y="6385437"/>
              <a:ext cx="0" cy="142582"/>
            </a:xfrm>
            <a:prstGeom prst="straightConnector1">
              <a:avLst/>
            </a:prstGeom>
            <a:ln>
              <a:solidFill>
                <a:srgbClr val="1414FE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EE653C3-B2B8-D175-4DF4-C1DFAF4FBB1C}"/>
                </a:ext>
              </a:extLst>
            </p:cNvPr>
            <p:cNvSpPr txBox="1"/>
            <p:nvPr/>
          </p:nvSpPr>
          <p:spPr>
            <a:xfrm>
              <a:off x="3035635" y="6194993"/>
              <a:ext cx="834586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1200" cap="none" spc="0" normalizeH="0" baseline="0" noProof="0" dirty="0">
                  <a:ln>
                    <a:noFill/>
                  </a:ln>
                  <a:solidFill>
                    <a:srgbClr val="1414F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  <a:sym typeface="Wingdings" panose="05000000000000000000" pitchFamily="2" charset="2"/>
                </a:rPr>
                <a:t>6</a:t>
              </a:r>
              <a:r>
                <a:rPr kumimoji="0" lang="ko-KR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srgbClr val="1414F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  <a:sym typeface="Wingdings" panose="05000000000000000000" pitchFamily="2" charset="2"/>
                </a:rPr>
                <a:t>𝜎 </a:t>
              </a:r>
              <a:r>
                <a:rPr kumimoji="0" lang="en-US" altLang="ko-KR" sz="800" i="0" u="none" strike="noStrike" kern="1200" cap="none" spc="0" normalizeH="0" baseline="0" noProof="0" dirty="0">
                  <a:ln>
                    <a:noFill/>
                  </a:ln>
                  <a:solidFill>
                    <a:srgbClr val="1414F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  <a:sym typeface="Wingdings" panose="05000000000000000000" pitchFamily="2" charset="2"/>
                </a:rPr>
                <a:t>(6*</a:t>
              </a:r>
              <a:r>
                <a:rPr kumimoji="0" lang="ko-KR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srgbClr val="1414F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  <a:sym typeface="Wingdings" panose="05000000000000000000" pitchFamily="2" charset="2"/>
                </a:rPr>
                <a:t>③표준편차</a:t>
              </a:r>
              <a:r>
                <a:rPr kumimoji="0" lang="en-US" altLang="ko-KR" sz="800" i="0" u="none" strike="noStrike" kern="1200" cap="none" spc="0" normalizeH="0" baseline="0" noProof="0" dirty="0">
                  <a:ln>
                    <a:noFill/>
                  </a:ln>
                  <a:solidFill>
                    <a:srgbClr val="1414F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  <a:sym typeface="Wingdings" panose="05000000000000000000" pitchFamily="2" charset="2"/>
                </a:rPr>
                <a:t>)</a:t>
              </a:r>
              <a:endPara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9026A439-DF15-31B9-9389-9BC1DDB0DC87}"/>
                </a:ext>
              </a:extLst>
            </p:cNvPr>
            <p:cNvSpPr/>
            <p:nvPr/>
          </p:nvSpPr>
          <p:spPr>
            <a:xfrm>
              <a:off x="3680137" y="6077047"/>
              <a:ext cx="37584" cy="7277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6FC513D5-AC98-5037-7B48-543A8866F584}"/>
                </a:ext>
              </a:extLst>
            </p:cNvPr>
            <p:cNvSpPr/>
            <p:nvPr/>
          </p:nvSpPr>
          <p:spPr>
            <a:xfrm>
              <a:off x="3443791" y="6056209"/>
              <a:ext cx="37584" cy="7277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BE81D331-8F63-E9DF-0756-5BEBC78A78BC}"/>
                </a:ext>
              </a:extLst>
            </p:cNvPr>
            <p:cNvSpPr/>
            <p:nvPr/>
          </p:nvSpPr>
          <p:spPr>
            <a:xfrm>
              <a:off x="3522574" y="6108691"/>
              <a:ext cx="37584" cy="7277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30F8B8AF-CDD2-E460-BF32-481462FC9A63}"/>
                </a:ext>
              </a:extLst>
            </p:cNvPr>
            <p:cNvSpPr/>
            <p:nvPr/>
          </p:nvSpPr>
          <p:spPr>
            <a:xfrm>
              <a:off x="3601356" y="6051589"/>
              <a:ext cx="37584" cy="7277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AD15FE8-6467-E784-3E2B-FCEC23E7B3AC}"/>
                </a:ext>
              </a:extLst>
            </p:cNvPr>
            <p:cNvSpPr/>
            <p:nvPr/>
          </p:nvSpPr>
          <p:spPr>
            <a:xfrm>
              <a:off x="3758919" y="5969292"/>
              <a:ext cx="37584" cy="7277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2BBA7214-1CAD-078F-EAA9-C32236CBFEEB}"/>
                </a:ext>
              </a:extLst>
            </p:cNvPr>
            <p:cNvSpPr/>
            <p:nvPr/>
          </p:nvSpPr>
          <p:spPr>
            <a:xfrm>
              <a:off x="3837700" y="6057365"/>
              <a:ext cx="37584" cy="7277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3591325A-B998-06F6-64EA-71E54DDCC096}"/>
                </a:ext>
              </a:extLst>
            </p:cNvPr>
            <p:cNvSpPr/>
            <p:nvPr/>
          </p:nvSpPr>
          <p:spPr>
            <a:xfrm>
              <a:off x="3916482" y="5960294"/>
              <a:ext cx="37584" cy="7277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B41D8D7D-5660-2EE7-CEBC-B68D19F95991}"/>
                </a:ext>
              </a:extLst>
            </p:cNvPr>
            <p:cNvSpPr/>
            <p:nvPr/>
          </p:nvSpPr>
          <p:spPr>
            <a:xfrm>
              <a:off x="3995265" y="6079682"/>
              <a:ext cx="37584" cy="7277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E42CDF10-AE52-CFB6-C250-FC7D55D45428}"/>
                </a:ext>
              </a:extLst>
            </p:cNvPr>
            <p:cNvSpPr/>
            <p:nvPr/>
          </p:nvSpPr>
          <p:spPr>
            <a:xfrm>
              <a:off x="4074046" y="6145077"/>
              <a:ext cx="37584" cy="7277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B3056993-3ECC-6E6D-A47D-DDC8F4C64347}"/>
                </a:ext>
              </a:extLst>
            </p:cNvPr>
            <p:cNvSpPr/>
            <p:nvPr/>
          </p:nvSpPr>
          <p:spPr>
            <a:xfrm>
              <a:off x="4152827" y="6025481"/>
              <a:ext cx="37584" cy="7277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C0471FA8-F95A-6548-5CDD-784F39149F0A}"/>
                </a:ext>
              </a:extLst>
            </p:cNvPr>
            <p:cNvSpPr/>
            <p:nvPr/>
          </p:nvSpPr>
          <p:spPr>
            <a:xfrm>
              <a:off x="4226548" y="6079682"/>
              <a:ext cx="37584" cy="7277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47951E08-B205-F2F5-5CF0-7881EC9F7CE0}"/>
                </a:ext>
              </a:extLst>
            </p:cNvPr>
            <p:cNvSpPr/>
            <p:nvPr/>
          </p:nvSpPr>
          <p:spPr>
            <a:xfrm>
              <a:off x="4306768" y="6079682"/>
              <a:ext cx="37584" cy="7277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69" name="화살표: 아래쪽 68">
              <a:extLst>
                <a:ext uri="{FF2B5EF4-FFF2-40B4-BE49-F238E27FC236}">
                  <a16:creationId xmlns:a16="http://schemas.microsoft.com/office/drawing/2014/main" id="{D576FAC0-764B-5196-3BA3-B7D07B951798}"/>
                </a:ext>
              </a:extLst>
            </p:cNvPr>
            <p:cNvSpPr/>
            <p:nvPr/>
          </p:nvSpPr>
          <p:spPr>
            <a:xfrm rot="17435676">
              <a:off x="2221362" y="5848658"/>
              <a:ext cx="235809" cy="284546"/>
            </a:xfrm>
            <a:prstGeom prst="downArrow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185DF47-5956-79AD-C3D2-CC67FBF8B681}"/>
                </a:ext>
              </a:extLst>
            </p:cNvPr>
            <p:cNvSpPr txBox="1"/>
            <p:nvPr/>
          </p:nvSpPr>
          <p:spPr>
            <a:xfrm>
              <a:off x="3064726" y="6391963"/>
              <a:ext cx="1816186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414F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제어 해상도를 고려한 편차 </a:t>
              </a: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414F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(|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414F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②</a:t>
              </a: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414F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- 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414F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①</a:t>
              </a: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414F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|)</a:t>
              </a: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6EE8DA22-50E7-98F8-9692-59F7485942FF}"/>
              </a:ext>
            </a:extLst>
          </p:cNvPr>
          <p:cNvCxnSpPr>
            <a:cxnSpLocks/>
          </p:cNvCxnSpPr>
          <p:nvPr/>
        </p:nvCxnSpPr>
        <p:spPr>
          <a:xfrm>
            <a:off x="5889104" y="6241094"/>
            <a:ext cx="3600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FD30D5CF-7D36-B3ED-09C5-56B6D164BD65}"/>
              </a:ext>
            </a:extLst>
          </p:cNvPr>
          <p:cNvSpPr/>
          <p:nvPr/>
        </p:nvSpPr>
        <p:spPr>
          <a:xfrm>
            <a:off x="6075530" y="6097094"/>
            <a:ext cx="288000" cy="28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~2/6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156AAA0E-3DFA-E2EF-6A73-D3328B377021}"/>
              </a:ext>
            </a:extLst>
          </p:cNvPr>
          <p:cNvSpPr/>
          <p:nvPr/>
        </p:nvSpPr>
        <p:spPr>
          <a:xfrm>
            <a:off x="6771379" y="6097094"/>
            <a:ext cx="288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</a:t>
            </a:r>
            <a:r>
              <a:rPr lang="en-US" altLang="ko-KR" sz="7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/2</a:t>
            </a:r>
            <a:r>
              <a:rPr lang="en-US" altLang="ko-KR" sz="7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CAA1BE69-DC3C-EF1E-53E8-CDCE2409315A}"/>
              </a:ext>
            </a:extLst>
          </p:cNvPr>
          <p:cNvSpPr/>
          <p:nvPr/>
        </p:nvSpPr>
        <p:spPr>
          <a:xfrm>
            <a:off x="7507451" y="6097094"/>
            <a:ext cx="288000" cy="288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~4/23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4154045F-D150-AD78-6673-93BA2561DBEB}"/>
              </a:ext>
            </a:extLst>
          </p:cNvPr>
          <p:cNvSpPr/>
          <p:nvPr/>
        </p:nvSpPr>
        <p:spPr>
          <a:xfrm>
            <a:off x="8909492" y="6097094"/>
            <a:ext cx="288000" cy="2880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5/5~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97F7EE7-0D16-1024-7BB1-EF369B8929CD}"/>
              </a:ext>
            </a:extLst>
          </p:cNvPr>
          <p:cNvSpPr txBox="1"/>
          <p:nvPr/>
        </p:nvSpPr>
        <p:spPr>
          <a:xfrm>
            <a:off x="5932436" y="6343754"/>
            <a:ext cx="5741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검토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3A5307-BC3E-7FFB-1FB1-968005DC575C}"/>
              </a:ext>
            </a:extLst>
          </p:cNvPr>
          <p:cNvSpPr txBox="1"/>
          <p:nvPr/>
        </p:nvSpPr>
        <p:spPr>
          <a:xfrm>
            <a:off x="6524886" y="6343754"/>
            <a:ext cx="7809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로직 검토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제작사양 논의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8F6B7C3-5A62-647C-86EB-EBAE36797E96}"/>
              </a:ext>
            </a:extLst>
          </p:cNvPr>
          <p:cNvSpPr txBox="1"/>
          <p:nvPr/>
        </p:nvSpPr>
        <p:spPr>
          <a:xfrm>
            <a:off x="8751593" y="6343754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효과 검증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2C3F2FD-B524-1C50-F55E-F087D0B3BAEF}"/>
              </a:ext>
            </a:extLst>
          </p:cNvPr>
          <p:cNvSpPr txBox="1"/>
          <p:nvPr/>
        </p:nvSpPr>
        <p:spPr>
          <a:xfrm>
            <a:off x="7137276" y="6343754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(APC, PLC,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3021227-820B-0133-EFD1-79684F97C598}"/>
              </a:ext>
            </a:extLst>
          </p:cNvPr>
          <p:cNvSpPr/>
          <p:nvPr/>
        </p:nvSpPr>
        <p:spPr>
          <a:xfrm>
            <a:off x="8229907" y="6097094"/>
            <a:ext cx="288000" cy="288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~5/1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E9C508D-7158-0CAB-AFA8-4B487B38DA53}"/>
              </a:ext>
            </a:extLst>
          </p:cNvPr>
          <p:cNvSpPr txBox="1"/>
          <p:nvPr/>
        </p:nvSpPr>
        <p:spPr>
          <a:xfrm>
            <a:off x="8045683" y="6343754"/>
            <a:ext cx="665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연계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적용 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Test</a:t>
            </a: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3FCF4518-D747-76FF-DDEB-D5284B94DF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4477" y="1285463"/>
            <a:ext cx="3367286" cy="991681"/>
          </a:xfrm>
          <a:prstGeom prst="rect">
            <a:avLst/>
          </a:prstGeom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C6CFD22F-843C-4DCE-6463-1165BB4CF1D4}"/>
              </a:ext>
            </a:extLst>
          </p:cNvPr>
          <p:cNvSpPr/>
          <p:nvPr/>
        </p:nvSpPr>
        <p:spPr>
          <a:xfrm>
            <a:off x="5601072" y="1675320"/>
            <a:ext cx="706002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평균 </a:t>
            </a:r>
            <a:r>
              <a:rPr lang="en-US" altLang="ko-KR" sz="7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5,141g</a:t>
            </a:r>
            <a:endParaRPr lang="ko-KR" altLang="en-US" sz="7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E06667F-A280-9F0E-C321-2A4216702E63}"/>
              </a:ext>
            </a:extLst>
          </p:cNvPr>
          <p:cNvSpPr/>
          <p:nvPr/>
        </p:nvSpPr>
        <p:spPr>
          <a:xfrm>
            <a:off x="8573300" y="1283508"/>
            <a:ext cx="1028463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RAW DATA</a:t>
            </a:r>
            <a:endParaRPr lang="ko-KR" altLang="en-US" sz="8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42CD1631-2B31-954E-5BC7-209711BB1D32}"/>
              </a:ext>
            </a:extLst>
          </p:cNvPr>
          <p:cNvCxnSpPr>
            <a:cxnSpLocks/>
          </p:cNvCxnSpPr>
          <p:nvPr/>
        </p:nvCxnSpPr>
        <p:spPr>
          <a:xfrm>
            <a:off x="8620646" y="1355516"/>
            <a:ext cx="32153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8F49903-05C3-A423-5EF3-0B458A2DA962}"/>
              </a:ext>
            </a:extLst>
          </p:cNvPr>
          <p:cNvSpPr/>
          <p:nvPr/>
        </p:nvSpPr>
        <p:spPr>
          <a:xfrm>
            <a:off x="7149866" y="1828176"/>
            <a:ext cx="905317" cy="153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7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/>
              </a:rPr>
              <a:t>표준편차 </a:t>
            </a:r>
            <a:r>
              <a:rPr lang="en-US" altLang="ko-KR" sz="7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/>
              </a:rPr>
              <a:t>: 17.12</a:t>
            </a:r>
            <a:endParaRPr lang="ko-KR" altLang="en-US" sz="7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D45F9EA-0B53-43E5-21CF-73EA55827288}"/>
              </a:ext>
            </a:extLst>
          </p:cNvPr>
          <p:cNvSpPr txBox="1"/>
          <p:nvPr/>
        </p:nvSpPr>
        <p:spPr>
          <a:xfrm>
            <a:off x="5658140" y="1262044"/>
            <a:ext cx="706001" cy="209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i="0" dirty="0">
                <a:solidFill>
                  <a:srgbClr val="FF0000"/>
                </a:solidFill>
              </a:rPr>
              <a:t>USL </a:t>
            </a:r>
            <a:r>
              <a:rPr kumimoji="1" lang="en-US" altLang="ko-KR" sz="700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(5,300g)</a:t>
            </a: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8A3D5D33-6C4F-4A6C-7EA3-1D8FAF5F5A06}"/>
              </a:ext>
            </a:extLst>
          </p:cNvPr>
          <p:cNvCxnSpPr/>
          <p:nvPr/>
        </p:nvCxnSpPr>
        <p:spPr>
          <a:xfrm>
            <a:off x="6279668" y="1288913"/>
            <a:ext cx="33220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D49FC48E-889F-8424-74CC-99714067598D}"/>
              </a:ext>
            </a:extLst>
          </p:cNvPr>
          <p:cNvCxnSpPr/>
          <p:nvPr/>
        </p:nvCxnSpPr>
        <p:spPr>
          <a:xfrm>
            <a:off x="6279668" y="2236650"/>
            <a:ext cx="33220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52990F73-C8C9-4006-9116-112D6387A0DF}"/>
              </a:ext>
            </a:extLst>
          </p:cNvPr>
          <p:cNvSpPr txBox="1"/>
          <p:nvPr/>
        </p:nvSpPr>
        <p:spPr>
          <a:xfrm>
            <a:off x="5658140" y="2067507"/>
            <a:ext cx="706001" cy="209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i="0" dirty="0">
                <a:solidFill>
                  <a:srgbClr val="FF0000"/>
                </a:solidFill>
              </a:rPr>
              <a:t>LSL </a:t>
            </a:r>
            <a:r>
              <a:rPr kumimoji="1" lang="en-US" altLang="ko-KR" sz="700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(5,000g)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3B2F4C5D-FB14-BB39-66B3-FCB62AE9FB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188" y="2288083"/>
            <a:ext cx="3347971" cy="986907"/>
          </a:xfrm>
          <a:prstGeom prst="rect">
            <a:avLst/>
          </a:prstGeom>
        </p:spPr>
      </p:pic>
      <p:sp>
        <p:nvSpPr>
          <p:cNvPr id="92" name="직사각형 91">
            <a:extLst>
              <a:ext uri="{FF2B5EF4-FFF2-40B4-BE49-F238E27FC236}">
                <a16:creationId xmlns:a16="http://schemas.microsoft.com/office/drawing/2014/main" id="{60AEC127-DCFC-8669-6DD7-0F95121C4D76}"/>
              </a:ext>
            </a:extLst>
          </p:cNvPr>
          <p:cNvSpPr/>
          <p:nvPr/>
        </p:nvSpPr>
        <p:spPr>
          <a:xfrm>
            <a:off x="8563068" y="2300441"/>
            <a:ext cx="1028463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피드백 보정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724B83E7-D1B6-2527-C54F-19CC6CFEA2EB}"/>
              </a:ext>
            </a:extLst>
          </p:cNvPr>
          <p:cNvSpPr/>
          <p:nvPr/>
        </p:nvSpPr>
        <p:spPr>
          <a:xfrm>
            <a:off x="7149866" y="2830796"/>
            <a:ext cx="905317" cy="153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/>
              </a:rPr>
              <a:t>표준편차 </a:t>
            </a:r>
            <a:r>
              <a:rPr lang="en-US" altLang="ko-KR" sz="7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/>
              </a:rPr>
              <a:t>:  9.78</a:t>
            </a:r>
            <a:endParaRPr lang="ko-KR" altLang="en-US" sz="7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B836BBA-EEBB-1F83-266A-4C60B980EC25}"/>
              </a:ext>
            </a:extLst>
          </p:cNvPr>
          <p:cNvSpPr/>
          <p:nvPr/>
        </p:nvSpPr>
        <p:spPr>
          <a:xfrm>
            <a:off x="5601072" y="2639130"/>
            <a:ext cx="706002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평균 </a:t>
            </a:r>
            <a:r>
              <a:rPr lang="en-US" altLang="ko-KR" sz="7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5,141g</a:t>
            </a:r>
            <a:endParaRPr lang="ko-KR" altLang="en-US" sz="7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2B04FEE8-B8D9-6956-56D5-C98B23B529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3562" y="3308956"/>
            <a:ext cx="3347970" cy="987194"/>
          </a:xfrm>
          <a:prstGeom prst="rect">
            <a:avLst/>
          </a:prstGeom>
        </p:spPr>
      </p:pic>
      <p:sp>
        <p:nvSpPr>
          <p:cNvPr id="96" name="직사각형 95">
            <a:extLst>
              <a:ext uri="{FF2B5EF4-FFF2-40B4-BE49-F238E27FC236}">
                <a16:creationId xmlns:a16="http://schemas.microsoft.com/office/drawing/2014/main" id="{42E11D97-AD9F-7DCE-B888-85ADBFC3FED4}"/>
              </a:ext>
            </a:extLst>
          </p:cNvPr>
          <p:cNvSpPr/>
          <p:nvPr/>
        </p:nvSpPr>
        <p:spPr>
          <a:xfrm>
            <a:off x="8483288" y="3316015"/>
            <a:ext cx="1103615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헌팅 예측 보정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9DEDE458-60EA-1DDC-F8EA-66982D705A48}"/>
              </a:ext>
            </a:extLst>
          </p:cNvPr>
          <p:cNvCxnSpPr>
            <a:cxnSpLocks/>
          </p:cNvCxnSpPr>
          <p:nvPr/>
        </p:nvCxnSpPr>
        <p:spPr>
          <a:xfrm>
            <a:off x="8529643" y="3388023"/>
            <a:ext cx="321532" cy="0"/>
          </a:xfrm>
          <a:prstGeom prst="line">
            <a:avLst/>
          </a:prstGeom>
          <a:ln w="28575">
            <a:solidFill>
              <a:srgbClr val="8064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B3257F3-179A-4C30-D54F-D20F1E47DB22}"/>
              </a:ext>
            </a:extLst>
          </p:cNvPr>
          <p:cNvSpPr/>
          <p:nvPr/>
        </p:nvSpPr>
        <p:spPr>
          <a:xfrm>
            <a:off x="7149866" y="3840178"/>
            <a:ext cx="905317" cy="153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/>
              </a:rPr>
              <a:t>표준편차 </a:t>
            </a:r>
            <a:r>
              <a:rPr lang="en-US" altLang="ko-KR" sz="7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/>
              </a:rPr>
              <a:t>: 9.41</a:t>
            </a:r>
            <a:endParaRPr lang="ko-KR" altLang="en-US" sz="7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F4B0BC1D-10FF-8177-081D-A3A895C6B3DD}"/>
              </a:ext>
            </a:extLst>
          </p:cNvPr>
          <p:cNvSpPr/>
          <p:nvPr/>
        </p:nvSpPr>
        <p:spPr>
          <a:xfrm>
            <a:off x="5601072" y="3627152"/>
            <a:ext cx="706002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평균 </a:t>
            </a:r>
            <a:r>
              <a:rPr lang="en-US" altLang="ko-KR" sz="7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5,141g</a:t>
            </a:r>
            <a:endParaRPr lang="ko-KR" altLang="en-US" sz="7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258B5FE2-2C25-F85A-AB7E-4D829C2BC9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4477" y="4297745"/>
            <a:ext cx="3352426" cy="992691"/>
          </a:xfrm>
          <a:prstGeom prst="rect">
            <a:avLst/>
          </a:prstGeom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D2833397-5E40-F143-9AE5-9B2DC6847692}"/>
              </a:ext>
            </a:extLst>
          </p:cNvPr>
          <p:cNvSpPr/>
          <p:nvPr/>
        </p:nvSpPr>
        <p:spPr>
          <a:xfrm>
            <a:off x="8482868" y="4295790"/>
            <a:ext cx="1103616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 </a:t>
            </a:r>
            <a:r>
              <a:rPr lang="ko-KR" altLang="en-US" sz="8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최적화</a:t>
            </a: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034ABE1E-0DA8-C063-CB74-2AAE9AFDCAAF}"/>
              </a:ext>
            </a:extLst>
          </p:cNvPr>
          <p:cNvCxnSpPr>
            <a:cxnSpLocks/>
          </p:cNvCxnSpPr>
          <p:nvPr/>
        </p:nvCxnSpPr>
        <p:spPr>
          <a:xfrm>
            <a:off x="8529643" y="4367798"/>
            <a:ext cx="321532" cy="0"/>
          </a:xfrm>
          <a:prstGeom prst="line">
            <a:avLst/>
          </a:prstGeom>
          <a:ln w="28575">
            <a:solidFill>
              <a:srgbClr val="F9AC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341AAF2F-96BB-9109-82B8-2A1C41FBD904}"/>
              </a:ext>
            </a:extLst>
          </p:cNvPr>
          <p:cNvCxnSpPr>
            <a:cxnSpLocks/>
          </p:cNvCxnSpPr>
          <p:nvPr/>
        </p:nvCxnSpPr>
        <p:spPr>
          <a:xfrm>
            <a:off x="8620646" y="2367858"/>
            <a:ext cx="321532" cy="0"/>
          </a:xfrm>
          <a:prstGeom prst="line">
            <a:avLst/>
          </a:prstGeom>
          <a:ln w="28575">
            <a:solidFill>
              <a:srgbClr val="EC64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C8C4A87-CA9E-924D-D9D5-34070FB10570}"/>
              </a:ext>
            </a:extLst>
          </p:cNvPr>
          <p:cNvSpPr/>
          <p:nvPr/>
        </p:nvSpPr>
        <p:spPr>
          <a:xfrm>
            <a:off x="5601072" y="4979150"/>
            <a:ext cx="706002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평균 </a:t>
            </a:r>
            <a:r>
              <a:rPr lang="en-US" altLang="ko-KR" sz="700" b="1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5,068g</a:t>
            </a:r>
            <a:endParaRPr lang="ko-KR" altLang="en-US" sz="700" b="1" dirty="0">
              <a:solidFill>
                <a:srgbClr val="0000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3EB7095-1A3A-37CE-3956-CA3FA0322DE4}"/>
              </a:ext>
            </a:extLst>
          </p:cNvPr>
          <p:cNvSpPr/>
          <p:nvPr/>
        </p:nvSpPr>
        <p:spPr>
          <a:xfrm>
            <a:off x="7149866" y="4825166"/>
            <a:ext cx="905317" cy="153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700" b="1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/>
              </a:rPr>
              <a:t>표준편차 </a:t>
            </a:r>
            <a:r>
              <a:rPr lang="en-US" altLang="ko-KR" sz="700" b="1" dirty="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/>
              </a:rPr>
              <a:t>: 9.41</a:t>
            </a:r>
            <a:endParaRPr lang="ko-KR" altLang="en-US" sz="700" b="1" dirty="0">
              <a:solidFill>
                <a:srgbClr val="0000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5AAE4EE0-3472-90A1-27BC-ADFDDAF43E8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14653" y="3211875"/>
            <a:ext cx="2442970" cy="820491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94C1EF15-4418-D8A4-BF98-8A4A3B1E1E6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4653" y="4081667"/>
            <a:ext cx="2442970" cy="820491"/>
          </a:xfrm>
          <a:prstGeom prst="rect">
            <a:avLst/>
          </a:prstGeom>
        </p:spPr>
      </p:pic>
      <p:sp>
        <p:nvSpPr>
          <p:cNvPr id="108" name="타원 107">
            <a:extLst>
              <a:ext uri="{FF2B5EF4-FFF2-40B4-BE49-F238E27FC236}">
                <a16:creationId xmlns:a16="http://schemas.microsoft.com/office/drawing/2014/main" id="{5AC1219F-7A5F-4C75-D71B-C8875F86B4F2}"/>
              </a:ext>
            </a:extLst>
          </p:cNvPr>
          <p:cNvSpPr/>
          <p:nvPr/>
        </p:nvSpPr>
        <p:spPr>
          <a:xfrm>
            <a:off x="3510101" y="3676689"/>
            <a:ext cx="1252073" cy="160399"/>
          </a:xfrm>
          <a:prstGeom prst="ellipse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5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6EBC5E7A-67FB-5C71-DA9A-5CE1DBA67720}"/>
              </a:ext>
            </a:extLst>
          </p:cNvPr>
          <p:cNvCxnSpPr>
            <a:cxnSpLocks/>
            <a:stCxn id="108" idx="4"/>
            <a:endCxn id="119" idx="0"/>
          </p:cNvCxnSpPr>
          <p:nvPr/>
        </p:nvCxnSpPr>
        <p:spPr>
          <a:xfrm>
            <a:off x="4136138" y="3837088"/>
            <a:ext cx="0" cy="687609"/>
          </a:xfrm>
          <a:prstGeom prst="straightConnector1">
            <a:avLst/>
          </a:prstGeom>
          <a:ln w="127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0" name="Table 47">
            <a:extLst>
              <a:ext uri="{FF2B5EF4-FFF2-40B4-BE49-F238E27FC236}">
                <a16:creationId xmlns:a16="http://schemas.microsoft.com/office/drawing/2014/main" id="{B6D1E56D-E072-FC32-DB98-320DC838B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476168"/>
              </p:ext>
            </p:extLst>
          </p:nvPr>
        </p:nvGraphicFramePr>
        <p:xfrm>
          <a:off x="6270776" y="5300433"/>
          <a:ext cx="3318442" cy="365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3688">
                  <a:extLst>
                    <a:ext uri="{9D8B030D-6E8A-4147-A177-3AD203B41FA5}">
                      <a16:colId xmlns:a16="http://schemas.microsoft.com/office/drawing/2014/main" val="3940640600"/>
                    </a:ext>
                  </a:extLst>
                </a:gridCol>
                <a:gridCol w="515643">
                  <a:extLst>
                    <a:ext uri="{9D8B030D-6E8A-4147-A177-3AD203B41FA5}">
                      <a16:colId xmlns:a16="http://schemas.microsoft.com/office/drawing/2014/main" val="3985190948"/>
                    </a:ext>
                  </a:extLst>
                </a:gridCol>
                <a:gridCol w="515643">
                  <a:extLst>
                    <a:ext uri="{9D8B030D-6E8A-4147-A177-3AD203B41FA5}">
                      <a16:colId xmlns:a16="http://schemas.microsoft.com/office/drawing/2014/main" val="559500250"/>
                    </a:ext>
                  </a:extLst>
                </a:gridCol>
                <a:gridCol w="515643">
                  <a:extLst>
                    <a:ext uri="{9D8B030D-6E8A-4147-A177-3AD203B41FA5}">
                      <a16:colId xmlns:a16="http://schemas.microsoft.com/office/drawing/2014/main" val="3921702627"/>
                    </a:ext>
                  </a:extLst>
                </a:gridCol>
                <a:gridCol w="1107825">
                  <a:extLst>
                    <a:ext uri="{9D8B030D-6E8A-4147-A177-3AD203B41FA5}">
                      <a16:colId xmlns:a16="http://schemas.microsoft.com/office/drawing/2014/main" val="31047309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MI Pack#1</a:t>
                      </a:r>
                    </a:p>
                  </a:txBody>
                  <a:tcPr marL="4620" marR="4620" marT="4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Before</a:t>
                      </a: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After</a:t>
                      </a: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Effect</a:t>
                      </a:r>
                    </a:p>
                  </a:txBody>
                  <a:tcPr marL="4620" marR="4620" marT="4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원가 절감 효과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8184" marR="8184" marT="420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805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레진 무게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5,141g</a:t>
                      </a: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5,068g</a:t>
                      </a: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▽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73g</a:t>
                      </a: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1.14</a:t>
                      </a:r>
                      <a:r>
                        <a:rPr lang="ko-KR" alt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억 </a:t>
                      </a:r>
                      <a:r>
                        <a:rPr lang="en-US" altLang="ko-KR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년</a:t>
                      </a:r>
                      <a:r>
                        <a:rPr lang="en-US" altLang="ko-KR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대</a:t>
                      </a:r>
                      <a:r>
                        <a:rPr lang="en-US" altLang="ko-KR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)_13.2</a:t>
                      </a:r>
                      <a:r>
                        <a:rPr lang="ko-KR" alt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만개</a:t>
                      </a:r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352738"/>
                  </a:ext>
                </a:extLst>
              </a:tr>
            </a:tbl>
          </a:graphicData>
        </a:graphic>
      </p:graphicFrame>
      <p:pic>
        <p:nvPicPr>
          <p:cNvPr id="111" name="그림 110">
            <a:extLst>
              <a:ext uri="{FF2B5EF4-FFF2-40B4-BE49-F238E27FC236}">
                <a16:creationId xmlns:a16="http://schemas.microsoft.com/office/drawing/2014/main" id="{FCD2E479-CDB3-8952-6AFD-8BD2CEAA11D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5091" r="28336"/>
          <a:stretch/>
        </p:blipFill>
        <p:spPr>
          <a:xfrm>
            <a:off x="270391" y="3251466"/>
            <a:ext cx="1363491" cy="1650692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00BF189F-8FC2-5746-57FC-6BAB269785A3}"/>
              </a:ext>
            </a:extLst>
          </p:cNvPr>
          <p:cNvSpPr txBox="1"/>
          <p:nvPr/>
        </p:nvSpPr>
        <p:spPr>
          <a:xfrm>
            <a:off x="1651090" y="3553578"/>
            <a:ext cx="834586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플런저 펌프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16F09E7-8DC7-9B9E-C3A1-897659A419B3}"/>
              </a:ext>
            </a:extLst>
          </p:cNvPr>
          <p:cNvSpPr txBox="1"/>
          <p:nvPr/>
        </p:nvSpPr>
        <p:spPr>
          <a:xfrm>
            <a:off x="1771890" y="3902250"/>
            <a:ext cx="11845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토출 시작 위치</a:t>
            </a:r>
            <a:endParaRPr lang="en-US" altLang="ko-KR" sz="800" dirty="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정해진 토출 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시작압력을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충족시키는 펌프 전진 거리</a:t>
            </a:r>
            <a:endParaRPr lang="en-US" altLang="ko-KR" sz="8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→ 예압 거리 </a:t>
            </a:r>
            <a:r>
              <a:rPr lang="en-US" altLang="ko-KR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헌팅 발생</a:t>
            </a:r>
            <a:r>
              <a:rPr lang="en-US" altLang="ko-KR" sz="8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487BCA4-4CFD-59EB-5B50-4B20297C6848}"/>
              </a:ext>
            </a:extLst>
          </p:cNvPr>
          <p:cNvSpPr txBox="1"/>
          <p:nvPr/>
        </p:nvSpPr>
        <p:spPr>
          <a:xfrm>
            <a:off x="1771890" y="4423378"/>
            <a:ext cx="1048245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토출 완료 위치</a:t>
            </a:r>
            <a:endParaRPr lang="en-US" altLang="ko-KR" sz="800" dirty="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토출 시작 위치 기준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정해진 수치만큼 이동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7617661D-8A40-E7DA-04DD-8710F708E52D}"/>
              </a:ext>
            </a:extLst>
          </p:cNvPr>
          <p:cNvCxnSpPr>
            <a:cxnSpLocks/>
          </p:cNvCxnSpPr>
          <p:nvPr/>
        </p:nvCxnSpPr>
        <p:spPr>
          <a:xfrm flipH="1">
            <a:off x="1425490" y="3963335"/>
            <a:ext cx="304689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338258BD-09EB-EDAF-12C6-58D64740F2D6}"/>
              </a:ext>
            </a:extLst>
          </p:cNvPr>
          <p:cNvCxnSpPr>
            <a:cxnSpLocks/>
          </p:cNvCxnSpPr>
          <p:nvPr/>
        </p:nvCxnSpPr>
        <p:spPr>
          <a:xfrm flipH="1">
            <a:off x="1425490" y="4488393"/>
            <a:ext cx="304689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32F21244-6F17-53F2-8FC5-20CDC5CD9EE2}"/>
              </a:ext>
            </a:extLst>
          </p:cNvPr>
          <p:cNvSpPr txBox="1"/>
          <p:nvPr/>
        </p:nvSpPr>
        <p:spPr>
          <a:xfrm>
            <a:off x="3050967" y="3792563"/>
            <a:ext cx="2170339" cy="2455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altLang="ko-KR" sz="900" i="0" dirty="0">
                <a:solidFill>
                  <a:srgbClr val="006600"/>
                </a:solidFill>
              </a:rPr>
              <a:t>Raw</a:t>
            </a:r>
            <a:r>
              <a:rPr lang="ko-KR" altLang="en-US" sz="900" i="0" dirty="0">
                <a:solidFill>
                  <a:srgbClr val="006600"/>
                </a:solidFill>
              </a:rPr>
              <a:t> </a:t>
            </a:r>
            <a:r>
              <a:rPr lang="en-US" altLang="ko-KR" sz="900" i="0" dirty="0">
                <a:solidFill>
                  <a:srgbClr val="006600"/>
                </a:solidFill>
              </a:rPr>
              <a:t>Data</a:t>
            </a:r>
            <a:r>
              <a:rPr lang="ko-KR" altLang="en-US" sz="900" i="0" dirty="0">
                <a:solidFill>
                  <a:srgbClr val="006600"/>
                </a:solidFill>
              </a:rPr>
              <a:t> </a:t>
            </a:r>
            <a:r>
              <a:rPr lang="en-US" altLang="ko-KR" sz="900" i="0" dirty="0">
                <a:solidFill>
                  <a:srgbClr val="006600"/>
                </a:solidFill>
              </a:rPr>
              <a:t>(</a:t>
            </a:r>
            <a:r>
              <a:rPr lang="ko-KR" altLang="en-US" sz="900" i="0" dirty="0">
                <a:solidFill>
                  <a:srgbClr val="006600"/>
                </a:solidFill>
              </a:rPr>
              <a:t>무게 하한 헌팅 발생</a:t>
            </a:r>
            <a:r>
              <a:rPr lang="en-US" altLang="ko-KR" sz="900" i="0" dirty="0">
                <a:solidFill>
                  <a:srgbClr val="006600"/>
                </a:solidFill>
              </a:rPr>
              <a:t>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ECC0ABA-B85C-A1C9-C528-38D6C422FB89}"/>
              </a:ext>
            </a:extLst>
          </p:cNvPr>
          <p:cNvSpPr txBox="1"/>
          <p:nvPr/>
        </p:nvSpPr>
        <p:spPr>
          <a:xfrm>
            <a:off x="3050967" y="4675191"/>
            <a:ext cx="2170339" cy="2455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altLang="ko-KR" sz="900" i="0" dirty="0">
                <a:solidFill>
                  <a:srgbClr val="006600"/>
                </a:solidFill>
              </a:rPr>
              <a:t>Simulation</a:t>
            </a:r>
            <a:r>
              <a:rPr lang="ko-KR" altLang="en-US" sz="900" i="0" dirty="0">
                <a:solidFill>
                  <a:srgbClr val="006600"/>
                </a:solidFill>
              </a:rPr>
              <a:t> </a:t>
            </a:r>
            <a:r>
              <a:rPr lang="en-US" altLang="ko-KR" sz="900" i="0" dirty="0">
                <a:solidFill>
                  <a:srgbClr val="006600"/>
                </a:solidFill>
              </a:rPr>
              <a:t>Data</a:t>
            </a:r>
            <a:r>
              <a:rPr lang="ko-KR" altLang="en-US" sz="900" i="0" dirty="0">
                <a:solidFill>
                  <a:srgbClr val="006600"/>
                </a:solidFill>
              </a:rPr>
              <a:t> </a:t>
            </a:r>
            <a:r>
              <a:rPr lang="en-US" altLang="ko-KR" sz="900" i="0" dirty="0">
                <a:solidFill>
                  <a:srgbClr val="006600"/>
                </a:solidFill>
              </a:rPr>
              <a:t>(</a:t>
            </a:r>
            <a:r>
              <a:rPr lang="ko-KR" altLang="en-US" sz="900" i="0" dirty="0">
                <a:solidFill>
                  <a:srgbClr val="006600"/>
                </a:solidFill>
              </a:rPr>
              <a:t>헌팅 제거</a:t>
            </a:r>
            <a:r>
              <a:rPr lang="en-US" altLang="ko-KR" sz="900" i="0" dirty="0">
                <a:solidFill>
                  <a:srgbClr val="006600"/>
                </a:solidFill>
              </a:rPr>
              <a:t>)</a:t>
            </a: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420C7E6C-8047-139C-79DC-30663071F9A4}"/>
              </a:ext>
            </a:extLst>
          </p:cNvPr>
          <p:cNvSpPr/>
          <p:nvPr/>
        </p:nvSpPr>
        <p:spPr>
          <a:xfrm>
            <a:off x="3510101" y="4524697"/>
            <a:ext cx="1252073" cy="160399"/>
          </a:xfrm>
          <a:prstGeom prst="ellipse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500" dirty="0">
              <a:solidFill>
                <a:schemeClr val="tx1"/>
              </a:solidFill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B8B1B871-42B1-2F3B-7E79-502CBC0F9F42}"/>
              </a:ext>
            </a:extLst>
          </p:cNvPr>
          <p:cNvCxnSpPr>
            <a:cxnSpLocks/>
            <a:endCxn id="108" idx="2"/>
          </p:cNvCxnSpPr>
          <p:nvPr/>
        </p:nvCxnSpPr>
        <p:spPr>
          <a:xfrm flipV="1">
            <a:off x="2758997" y="3756889"/>
            <a:ext cx="751104" cy="571574"/>
          </a:xfrm>
          <a:prstGeom prst="straightConnector1">
            <a:avLst/>
          </a:prstGeom>
          <a:ln w="127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181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모듈 공정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Resin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무게 자동보정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5892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원가 절감을 주요 목표로 설정하고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산포를 실시간으로 고려해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Target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을 하한에 근접하게 자동 설정하는 방식으로 자동보정 로직을 개발 하였고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’25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년 하반기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WA EV2020 CMA 4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호기 검증 완료하였고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MI Module Toyata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라인에 수평전개 및 검증 완료하였음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FE4DCB9-9722-5F0D-C657-CDAB7BDE5CA4}"/>
              </a:ext>
            </a:extLst>
          </p:cNvPr>
          <p:cNvSpPr/>
          <p:nvPr/>
        </p:nvSpPr>
        <p:spPr>
          <a:xfrm>
            <a:off x="233031" y="1237767"/>
            <a:ext cx="5201611" cy="3311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1. ESWA Resin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 자동보정 적용 결과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3DE49D1-DC1F-DF4C-C157-FE8ACA333267}"/>
              </a:ext>
            </a:extLst>
          </p:cNvPr>
          <p:cNvSpPr/>
          <p:nvPr/>
        </p:nvSpPr>
        <p:spPr>
          <a:xfrm>
            <a:off x="5522777" y="1237767"/>
            <a:ext cx="4259577" cy="33119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1)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레진 무게 자동 보정 로직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94CC55-0D4D-2562-BB52-8E4E846A8E50}"/>
              </a:ext>
            </a:extLst>
          </p:cNvPr>
          <p:cNvSpPr/>
          <p:nvPr/>
        </p:nvSpPr>
        <p:spPr>
          <a:xfrm>
            <a:off x="233031" y="3460321"/>
            <a:ext cx="5201611" cy="3311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2. Resin Target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자동보정 로직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Concept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3E714-9FB7-8511-E3F5-AD26C626318A}"/>
              </a:ext>
            </a:extLst>
          </p:cNvPr>
          <p:cNvSpPr txBox="1"/>
          <p:nvPr/>
        </p:nvSpPr>
        <p:spPr>
          <a:xfrm>
            <a:off x="5687210" y="1799777"/>
            <a:ext cx="586777" cy="2455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CTP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DF9B58-ABE9-74E8-1097-0256566B92FA}"/>
                  </a:ext>
                </a:extLst>
              </p:cNvPr>
              <p:cNvSpPr txBox="1"/>
              <p:nvPr/>
            </p:nvSpPr>
            <p:spPr>
              <a:xfrm>
                <a:off x="5475194" y="1873628"/>
                <a:ext cx="4389544" cy="403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ko-KR" sz="1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G스마트체 Regular" panose="020B0600000101010101" pitchFamily="50" charset="-127"/>
                        <a:cs typeface="+mn-cs"/>
                      </a:rPr>
                      <m:t>Offset</m:t>
                    </m:r>
                    <m:r>
                      <a:rPr kumimoji="0" lang="en-US" altLang="ko-KR" sz="1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G스마트체 Regular" panose="020B0600000101010101" pitchFamily="50" charset="-127"/>
                        <a:cs typeface="+mn-cs"/>
                      </a:rPr>
                      <m:t>(</m:t>
                    </m:r>
                    <m:r>
                      <m:rPr>
                        <m:sty m:val="p"/>
                      </m:rPr>
                      <a:rPr kumimoji="0" lang="en-US" altLang="ko-KR" sz="1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G스마트체 Regular" panose="020B0600000101010101" pitchFamily="50" charset="-127"/>
                        <a:cs typeface="+mn-cs"/>
                      </a:rPr>
                      <m:t>g</m:t>
                    </m:r>
                    <m:r>
                      <a:rPr kumimoji="0" lang="en-US" altLang="ko-KR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G스마트체 Regular" panose="020B0600000101010101" pitchFamily="50" charset="-127"/>
                        <a:cs typeface="+mn-cs"/>
                      </a:rPr>
                      <m:t>/</m:t>
                    </m:r>
                    <m:r>
                      <a:rPr kumimoji="0" lang="en-US" altLang="ko-KR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G스마트체 Regular" panose="020B0600000101010101" pitchFamily="50" charset="-127"/>
                        <a:cs typeface="+mn-cs"/>
                      </a:rPr>
                      <m:t>𝑠</m:t>
                    </m:r>
                    <m:r>
                      <a:rPr kumimoji="0" lang="en-US" altLang="ko-KR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G스마트체 Regular" panose="020B0600000101010101" pitchFamily="50" charset="-127"/>
                        <a:cs typeface="+mn-cs"/>
                      </a:rPr>
                      <m:t>)</m:t>
                    </m:r>
                    <m:r>
                      <a:rPr kumimoji="0" lang="en-US" altLang="ko-KR" sz="1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G스마트체 Regular" panose="020B0600000101010101" pitchFamily="50" charset="-127"/>
                        <a:cs typeface="+mn-cs"/>
                      </a:rPr>
                      <m:t> =</m:t>
                    </m:r>
                    <m:f>
                      <m:fPr>
                        <m:ctrlP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𝑊𝑒𝑖𝑔h𝑡</m:t>
                        </m:r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 </m:t>
                        </m:r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𝐸𝑟𝑟𝑜𝑟</m:t>
                        </m:r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0" lang="en-US" altLang="ko-K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ko-K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  <a:cs typeface="+mn-cs"/>
                              </a:rPr>
                              <m:t>𝑇𝑎𝑟𝑔𝑒𝑡</m:t>
                            </m:r>
                            <m:r>
                              <a:rPr kumimoji="0" lang="en-US" altLang="ko-K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  <a:cs typeface="+mn-cs"/>
                              </a:rPr>
                              <m:t>  </m:t>
                            </m:r>
                            <m:r>
                              <a:rPr kumimoji="0" lang="en-US" altLang="ko-K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  <a:cs typeface="+mn-cs"/>
                              </a:rPr>
                              <m:t>𝑤𝑒𝑖𝑔h𝑡</m:t>
                            </m:r>
                            <m:r>
                              <a:rPr kumimoji="0" lang="en-US" altLang="ko-K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  <a:cs typeface="+mn-cs"/>
                              </a:rPr>
                              <m:t> −</m:t>
                            </m:r>
                            <m:r>
                              <a:rPr kumimoji="0" lang="en-US" altLang="ko-K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  <a:cs typeface="+mn-cs"/>
                              </a:rPr>
                              <m:t>𝐴𝑣𝑔</m:t>
                            </m:r>
                            <m:r>
                              <a:rPr kumimoji="0" lang="en-US" altLang="ko-K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ko-K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  <a:cs typeface="+mn-cs"/>
                              </a:rPr>
                              <m:t>𝑤𝑒𝑖𝑔h𝑡</m:t>
                            </m:r>
                          </m:e>
                        </m:d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[</m:t>
                        </m:r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𝑔</m:t>
                        </m:r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]</m:t>
                        </m:r>
                      </m:num>
                      <m:den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𝐷𝑖𝑠𝑝𝑒𝑛𝑠𝑖𝑛𝑔</m:t>
                        </m:r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 </m:t>
                        </m:r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𝑇𝑖𝑚𝑒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0" lang="en-US" altLang="ko-K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ko-K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  <a:cs typeface="+mn-cs"/>
                              </a:rPr>
                              <m:t>𝑠</m:t>
                            </m:r>
                          </m:e>
                        </m:d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 ∗</m:t>
                        </m:r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𝑁𝑜𝑧𝑧𝑙𝑒</m:t>
                        </m:r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 </m:t>
                        </m:r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𝑁𝑜</m:t>
                        </m:r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.[</m:t>
                        </m:r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𝐸𝐴</m:t>
                        </m:r>
                        <m:r>
                          <a:rPr kumimoji="0" lang="en-US" altLang="ko-K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  <a:cs typeface="+mn-cs"/>
                          </a:rPr>
                          <m:t>]</m:t>
                        </m:r>
                      </m:den>
                    </m:f>
                    <m:r>
                      <a:rPr kumimoji="0" lang="en-US" altLang="ko-KR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G스마트체 Regular" panose="020B0600000101010101" pitchFamily="50" charset="-127"/>
                        <a:cs typeface="+mn-cs"/>
                      </a:rPr>
                      <m:t> ∗</m:t>
                    </m:r>
                    <m:r>
                      <a:rPr kumimoji="0" lang="en-US" altLang="ko-KR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G스마트체 Regular" panose="020B0600000101010101" pitchFamily="50" charset="-127"/>
                        <a:cs typeface="+mn-cs"/>
                      </a:rPr>
                      <m:t>𝐺𝑎𝑖𝑛</m:t>
                    </m:r>
                    <m:r>
                      <a:rPr kumimoji="0" lang="en-US" altLang="ko-KR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G스마트체 Regular" panose="020B0600000101010101" pitchFamily="50" charset="-127"/>
                        <a:cs typeface="+mn-cs"/>
                      </a:rPr>
                      <m:t> </m:t>
                    </m:r>
                  </m:oMath>
                </a14:m>
                <a:endPara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DF9B58-ABE9-74E8-1097-0256566B9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194" y="1873628"/>
                <a:ext cx="4389544" cy="4032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47493F1-8EF1-E988-6793-9E2CE66F9DA5}"/>
              </a:ext>
            </a:extLst>
          </p:cNvPr>
          <p:cNvSpPr txBox="1"/>
          <p:nvPr/>
        </p:nvSpPr>
        <p:spPr>
          <a:xfrm>
            <a:off x="5472243" y="1621218"/>
            <a:ext cx="43895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보정량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산출 수식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5B4EE3-49AD-B7C0-0621-41D071A486C7}"/>
              </a:ext>
            </a:extLst>
          </p:cNvPr>
          <p:cNvSpPr txBox="1"/>
          <p:nvPr/>
        </p:nvSpPr>
        <p:spPr>
          <a:xfrm>
            <a:off x="7699426" y="1722904"/>
            <a:ext cx="586777" cy="2455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CTQ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806B35-1E1B-7034-147D-904FF6776AA4}"/>
              </a:ext>
            </a:extLst>
          </p:cNvPr>
          <p:cNvSpPr/>
          <p:nvPr/>
        </p:nvSpPr>
        <p:spPr>
          <a:xfrm>
            <a:off x="5597187" y="2819266"/>
            <a:ext cx="766822" cy="281888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평균 무게 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(g)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6FF425-C2BB-F8B8-BBEC-C8629CD56C81}"/>
              </a:ext>
            </a:extLst>
          </p:cNvPr>
          <p:cNvSpPr/>
          <p:nvPr/>
        </p:nvSpPr>
        <p:spPr>
          <a:xfrm>
            <a:off x="6656795" y="2819266"/>
            <a:ext cx="766822" cy="281888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보정량 산출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(g/s)</a:t>
            </a:r>
          </a:p>
        </p:txBody>
      </p:sp>
      <p:sp>
        <p:nvSpPr>
          <p:cNvPr id="13" name="순서도: 판단 12">
            <a:extLst>
              <a:ext uri="{FF2B5EF4-FFF2-40B4-BE49-F238E27FC236}">
                <a16:creationId xmlns:a16="http://schemas.microsoft.com/office/drawing/2014/main" id="{3E11D478-BB3E-0F5F-EF7D-6092EAD8BDFB}"/>
              </a:ext>
            </a:extLst>
          </p:cNvPr>
          <p:cNvSpPr/>
          <p:nvPr/>
        </p:nvSpPr>
        <p:spPr>
          <a:xfrm>
            <a:off x="7716403" y="2734699"/>
            <a:ext cx="869066" cy="451022"/>
          </a:xfrm>
          <a:prstGeom prst="flowChartDecision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보정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필요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?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1BBB5EF3-9CF4-CF9B-BB44-462CACA6D0D2}"/>
              </a:ext>
            </a:extLst>
          </p:cNvPr>
          <p:cNvSpPr/>
          <p:nvPr/>
        </p:nvSpPr>
        <p:spPr>
          <a:xfrm>
            <a:off x="8878256" y="2819266"/>
            <a:ext cx="766822" cy="281888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토출 속도</a:t>
            </a:r>
            <a:endParaRPr kumimoji="0" lang="en-US" altLang="ko-KR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보정 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(g/s)</a:t>
            </a:r>
          </a:p>
        </p:txBody>
      </p: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FF41322D-F74F-E30A-9306-590C10E86FCE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6364009" y="2960210"/>
            <a:ext cx="292786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D5A51224-4A2A-65AD-564A-472AE9695413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7423617" y="2960210"/>
            <a:ext cx="292786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9C92C9BF-BC2B-B98C-7C2C-C4460A5B7EC8}"/>
              </a:ext>
            </a:extLst>
          </p:cNvPr>
          <p:cNvCxnSpPr>
            <a:cxnSpLocks/>
            <a:stCxn id="13" idx="3"/>
            <a:endCxn id="121" idx="1"/>
          </p:cNvCxnSpPr>
          <p:nvPr/>
        </p:nvCxnSpPr>
        <p:spPr>
          <a:xfrm>
            <a:off x="8585469" y="2960210"/>
            <a:ext cx="292787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연결선: 꺾임 124">
            <a:extLst>
              <a:ext uri="{FF2B5EF4-FFF2-40B4-BE49-F238E27FC236}">
                <a16:creationId xmlns:a16="http://schemas.microsoft.com/office/drawing/2014/main" id="{F984FEB3-CE1C-4502-17E0-FF54BBC33195}"/>
              </a:ext>
            </a:extLst>
          </p:cNvPr>
          <p:cNvCxnSpPr>
            <a:stCxn id="13" idx="2"/>
            <a:endCxn id="9" idx="2"/>
          </p:cNvCxnSpPr>
          <p:nvPr/>
        </p:nvCxnSpPr>
        <p:spPr>
          <a:xfrm rot="5400000" flipH="1">
            <a:off x="7023483" y="2058269"/>
            <a:ext cx="84567" cy="2170338"/>
          </a:xfrm>
          <a:prstGeom prst="bentConnector3">
            <a:avLst>
              <a:gd name="adj1" fmla="val -1802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8B422B1E-557E-27DD-45B5-BE105D968083}"/>
              </a:ext>
            </a:extLst>
          </p:cNvPr>
          <p:cNvSpPr txBox="1"/>
          <p:nvPr/>
        </p:nvSpPr>
        <p:spPr>
          <a:xfrm>
            <a:off x="7013591" y="3343399"/>
            <a:ext cx="1143463" cy="2455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E1164AB-908E-E004-11C7-76B56B445744}"/>
              </a:ext>
            </a:extLst>
          </p:cNvPr>
          <p:cNvSpPr txBox="1"/>
          <p:nvPr/>
        </p:nvSpPr>
        <p:spPr>
          <a:xfrm>
            <a:off x="5415916" y="2604832"/>
            <a:ext cx="2188971" cy="2455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N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 평균 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제어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~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무게 측정 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Delay: 1~2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 고려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49DDE09-E1CF-3FF4-BBEB-F98C2B20BF89}"/>
              </a:ext>
            </a:extLst>
          </p:cNvPr>
          <p:cNvSpPr txBox="1"/>
          <p:nvPr/>
        </p:nvSpPr>
        <p:spPr>
          <a:xfrm>
            <a:off x="5472243" y="2369588"/>
            <a:ext cx="43895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자동보정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Flow Chart]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0910E875-F822-8E69-1E43-65CFF438D273}"/>
              </a:ext>
            </a:extLst>
          </p:cNvPr>
          <p:cNvSpPr/>
          <p:nvPr/>
        </p:nvSpPr>
        <p:spPr>
          <a:xfrm>
            <a:off x="5522777" y="3450159"/>
            <a:ext cx="4259577" cy="33119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2)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실시간 산포 기반 자동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Target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설정 로직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47EF6EF7-F6BB-5172-28D0-7FD45913F5FE}"/>
              </a:ext>
            </a:extLst>
          </p:cNvPr>
          <p:cNvSpPr/>
          <p:nvPr/>
        </p:nvSpPr>
        <p:spPr>
          <a:xfrm>
            <a:off x="5688604" y="3849904"/>
            <a:ext cx="3981662" cy="1459904"/>
          </a:xfrm>
          <a:prstGeom prst="rect">
            <a:avLst/>
          </a:prstGeom>
          <a:pattFill prst="dotGrid">
            <a:fgClr>
              <a:srgbClr val="E7E6E6">
                <a:lumMod val="20000"/>
                <a:lumOff val="80000"/>
              </a:srgbClr>
            </a:fgClr>
            <a:bgClr>
              <a:sysClr val="window" lastClr="FFFFFF"/>
            </a:bgClr>
          </a:pattFill>
          <a:ln w="190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C1340A4-2F87-38D2-3B10-65CE91E5E811}"/>
              </a:ext>
            </a:extLst>
          </p:cNvPr>
          <p:cNvSpPr txBox="1"/>
          <p:nvPr/>
        </p:nvSpPr>
        <p:spPr>
          <a:xfrm>
            <a:off x="5520626" y="3904345"/>
            <a:ext cx="167978" cy="96950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USL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D9CC0C2-0F87-A14D-A9B5-3A69AB27649D}"/>
              </a:ext>
            </a:extLst>
          </p:cNvPr>
          <p:cNvSpPr txBox="1"/>
          <p:nvPr/>
        </p:nvSpPr>
        <p:spPr>
          <a:xfrm>
            <a:off x="5520626" y="5140461"/>
            <a:ext cx="167978" cy="96950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LSL</a:t>
            </a:r>
          </a:p>
        </p:txBody>
      </p: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FAADDC78-20D4-8FBA-87E8-FBFCB4858356}"/>
              </a:ext>
            </a:extLst>
          </p:cNvPr>
          <p:cNvCxnSpPr>
            <a:cxnSpLocks/>
          </p:cNvCxnSpPr>
          <p:nvPr/>
        </p:nvCxnSpPr>
        <p:spPr>
          <a:xfrm>
            <a:off x="5701536" y="5192843"/>
            <a:ext cx="3981661" cy="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34" name="타원 133">
            <a:extLst>
              <a:ext uri="{FF2B5EF4-FFF2-40B4-BE49-F238E27FC236}">
                <a16:creationId xmlns:a16="http://schemas.microsoft.com/office/drawing/2014/main" id="{7D6AC0B4-A3CB-E209-5F60-5DD2B3931F53}"/>
              </a:ext>
            </a:extLst>
          </p:cNvPr>
          <p:cNvSpPr/>
          <p:nvPr/>
        </p:nvSpPr>
        <p:spPr>
          <a:xfrm>
            <a:off x="5741967" y="4403354"/>
            <a:ext cx="37584" cy="73658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7C5C2FEE-DE39-5851-B2E0-D4C0951A4331}"/>
              </a:ext>
            </a:extLst>
          </p:cNvPr>
          <p:cNvSpPr/>
          <p:nvPr/>
        </p:nvSpPr>
        <p:spPr>
          <a:xfrm>
            <a:off x="5850757" y="4611191"/>
            <a:ext cx="37584" cy="73658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E69C090D-94BF-6B3F-E0B5-5DFEC7D19941}"/>
              </a:ext>
            </a:extLst>
          </p:cNvPr>
          <p:cNvSpPr/>
          <p:nvPr/>
        </p:nvSpPr>
        <p:spPr>
          <a:xfrm>
            <a:off x="5959545" y="4525107"/>
            <a:ext cx="37584" cy="73658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ACB52AFC-8418-F11A-EA2A-DC3C9E6D9020}"/>
              </a:ext>
            </a:extLst>
          </p:cNvPr>
          <p:cNvSpPr/>
          <p:nvPr/>
        </p:nvSpPr>
        <p:spPr>
          <a:xfrm>
            <a:off x="6068334" y="4457919"/>
            <a:ext cx="37584" cy="73658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C8FAD1DB-0A2D-329F-9164-AC43A9DC9157}"/>
              </a:ext>
            </a:extLst>
          </p:cNvPr>
          <p:cNvSpPr/>
          <p:nvPr/>
        </p:nvSpPr>
        <p:spPr>
          <a:xfrm>
            <a:off x="6177122" y="4457919"/>
            <a:ext cx="37584" cy="73658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289D0934-2FE1-C1F5-9077-D1D128675499}"/>
              </a:ext>
            </a:extLst>
          </p:cNvPr>
          <p:cNvSpPr/>
          <p:nvPr/>
        </p:nvSpPr>
        <p:spPr>
          <a:xfrm>
            <a:off x="6285909" y="4577367"/>
            <a:ext cx="37584" cy="73658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8DA3BA70-59B7-B948-3CD6-E02A1DC908F4}"/>
              </a:ext>
            </a:extLst>
          </p:cNvPr>
          <p:cNvSpPr/>
          <p:nvPr/>
        </p:nvSpPr>
        <p:spPr>
          <a:xfrm>
            <a:off x="6382107" y="4546165"/>
            <a:ext cx="37584" cy="73658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2A5B8C3A-68AE-F4FB-A9AD-8F079835FAE7}"/>
              </a:ext>
            </a:extLst>
          </p:cNvPr>
          <p:cNvSpPr/>
          <p:nvPr/>
        </p:nvSpPr>
        <p:spPr>
          <a:xfrm>
            <a:off x="6470930" y="4461973"/>
            <a:ext cx="37584" cy="73658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2CB86361-6974-406B-D2D9-9832D6E86B52}"/>
              </a:ext>
            </a:extLst>
          </p:cNvPr>
          <p:cNvSpPr/>
          <p:nvPr/>
        </p:nvSpPr>
        <p:spPr>
          <a:xfrm>
            <a:off x="6519072" y="4613245"/>
            <a:ext cx="37584" cy="73658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6AF4F7B1-4FCE-8B81-E8DB-8BE0C0C32B2C}"/>
              </a:ext>
            </a:extLst>
          </p:cNvPr>
          <p:cNvSpPr/>
          <p:nvPr/>
        </p:nvSpPr>
        <p:spPr>
          <a:xfrm>
            <a:off x="6650208" y="4339448"/>
            <a:ext cx="37584" cy="7365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73D7045D-3028-9E2D-DEDB-FF211029FD6D}"/>
              </a:ext>
            </a:extLst>
          </p:cNvPr>
          <p:cNvSpPr/>
          <p:nvPr/>
        </p:nvSpPr>
        <p:spPr>
          <a:xfrm>
            <a:off x="6563815" y="4396068"/>
            <a:ext cx="37584" cy="7365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2BA1C2D1-D602-D8BC-77B2-D3CDB79D49DB}"/>
              </a:ext>
            </a:extLst>
          </p:cNvPr>
          <p:cNvCxnSpPr>
            <a:cxnSpLocks/>
          </p:cNvCxnSpPr>
          <p:nvPr/>
        </p:nvCxnSpPr>
        <p:spPr>
          <a:xfrm>
            <a:off x="5701535" y="4499307"/>
            <a:ext cx="948673" cy="0"/>
          </a:xfrm>
          <a:prstGeom prst="straightConnector1">
            <a:avLst/>
          </a:prstGeom>
          <a:ln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4FFE2D12-76C9-B43D-5844-D6BFB6528718}"/>
              </a:ext>
            </a:extLst>
          </p:cNvPr>
          <p:cNvSpPr txBox="1"/>
          <p:nvPr/>
        </p:nvSpPr>
        <p:spPr>
          <a:xfrm>
            <a:off x="8068464" y="4509454"/>
            <a:ext cx="110342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Target 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1414F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DF2B678E-E0D4-13E3-E192-C88A04EB3B71}"/>
              </a:ext>
            </a:extLst>
          </p:cNvPr>
          <p:cNvCxnSpPr/>
          <p:nvPr/>
        </p:nvCxnSpPr>
        <p:spPr>
          <a:xfrm>
            <a:off x="5701535" y="3968490"/>
            <a:ext cx="39816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277F7447-CB62-6FC9-8BC9-8C6D0404F0FF}"/>
              </a:ext>
            </a:extLst>
          </p:cNvPr>
          <p:cNvCxnSpPr/>
          <p:nvPr/>
        </p:nvCxnSpPr>
        <p:spPr>
          <a:xfrm>
            <a:off x="5701535" y="5196062"/>
            <a:ext cx="39816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27DCA9F0-CF62-6624-B6A1-221FF6778070}"/>
              </a:ext>
            </a:extLst>
          </p:cNvPr>
          <p:cNvCxnSpPr>
            <a:cxnSpLocks/>
          </p:cNvCxnSpPr>
          <p:nvPr/>
        </p:nvCxnSpPr>
        <p:spPr>
          <a:xfrm>
            <a:off x="5701536" y="4624803"/>
            <a:ext cx="1521531" cy="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miter lim="800000"/>
          </a:ln>
          <a:effectLst/>
        </p:spPr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7F39A8A3-8135-ACF5-3156-C669A129CF02}"/>
              </a:ext>
            </a:extLst>
          </p:cNvPr>
          <p:cNvCxnSpPr>
            <a:cxnSpLocks/>
          </p:cNvCxnSpPr>
          <p:nvPr/>
        </p:nvCxnSpPr>
        <p:spPr>
          <a:xfrm rot="5400000">
            <a:off x="6223432" y="4492489"/>
            <a:ext cx="394147" cy="0"/>
          </a:xfrm>
          <a:prstGeom prst="straightConnector1">
            <a:avLst/>
          </a:prstGeom>
          <a:ln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1" name="그림 150">
            <a:extLst>
              <a:ext uri="{FF2B5EF4-FFF2-40B4-BE49-F238E27FC236}">
                <a16:creationId xmlns:a16="http://schemas.microsoft.com/office/drawing/2014/main" id="{66DC77D7-0969-7CF4-E6D9-1102D2A08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820" y="3849904"/>
            <a:ext cx="1159760" cy="468670"/>
          </a:xfrm>
          <a:prstGeom prst="rect">
            <a:avLst/>
          </a:prstGeom>
        </p:spPr>
      </p:pic>
      <p:pic>
        <p:nvPicPr>
          <p:cNvPr id="152" name="Picture 6" descr="Content - Normal distribution">
            <a:extLst>
              <a:ext uri="{FF2B5EF4-FFF2-40B4-BE49-F238E27FC236}">
                <a16:creationId xmlns:a16="http://schemas.microsoft.com/office/drawing/2014/main" id="{FDEEC190-C24D-D141-66A8-851DB6517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48136" y="4540159"/>
            <a:ext cx="701642" cy="45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5BE04E27-337C-EC0F-05CD-419EBC2B240F}"/>
              </a:ext>
            </a:extLst>
          </p:cNvPr>
          <p:cNvCxnSpPr>
            <a:cxnSpLocks/>
          </p:cNvCxnSpPr>
          <p:nvPr/>
        </p:nvCxnSpPr>
        <p:spPr>
          <a:xfrm>
            <a:off x="7977649" y="4765962"/>
            <a:ext cx="1521531" cy="0"/>
          </a:xfrm>
          <a:prstGeom prst="line">
            <a:avLst/>
          </a:prstGeom>
          <a:noFill/>
          <a:ln w="15875" cap="flat" cmpd="sng" algn="ctr">
            <a:solidFill>
              <a:srgbClr val="0000FF"/>
            </a:solidFill>
            <a:prstDash val="dash"/>
            <a:miter lim="800000"/>
          </a:ln>
          <a:effectLst/>
        </p:spPr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548174D-8FD9-01FC-55B5-4F8B45D6ECB5}"/>
              </a:ext>
            </a:extLst>
          </p:cNvPr>
          <p:cNvCxnSpPr>
            <a:cxnSpLocks/>
          </p:cNvCxnSpPr>
          <p:nvPr/>
        </p:nvCxnSpPr>
        <p:spPr>
          <a:xfrm>
            <a:off x="7977649" y="5040265"/>
            <a:ext cx="227493" cy="0"/>
          </a:xfrm>
          <a:prstGeom prst="line">
            <a:avLst/>
          </a:prstGeom>
          <a:noFill/>
          <a:ln w="15875" cap="flat" cmpd="sng" algn="ctr">
            <a:solidFill>
              <a:srgbClr val="0000FF"/>
            </a:solidFill>
            <a:prstDash val="dash"/>
            <a:miter lim="800000"/>
          </a:ln>
          <a:effectLst/>
        </p:spPr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5631E7D6-6277-5F51-56C3-EC1E359685AC}"/>
              </a:ext>
            </a:extLst>
          </p:cNvPr>
          <p:cNvCxnSpPr>
            <a:cxnSpLocks/>
          </p:cNvCxnSpPr>
          <p:nvPr/>
        </p:nvCxnSpPr>
        <p:spPr>
          <a:xfrm>
            <a:off x="8124622" y="4802937"/>
            <a:ext cx="0" cy="206968"/>
          </a:xfrm>
          <a:prstGeom prst="straightConnector1">
            <a:avLst/>
          </a:prstGeom>
          <a:ln>
            <a:solidFill>
              <a:srgbClr val="1414FE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22914D0A-EA0E-C82A-BED9-F441825C6F9B}"/>
              </a:ext>
            </a:extLst>
          </p:cNvPr>
          <p:cNvCxnSpPr>
            <a:cxnSpLocks/>
          </p:cNvCxnSpPr>
          <p:nvPr/>
        </p:nvCxnSpPr>
        <p:spPr>
          <a:xfrm>
            <a:off x="8124622" y="5046223"/>
            <a:ext cx="0" cy="144317"/>
          </a:xfrm>
          <a:prstGeom prst="straightConnector1">
            <a:avLst/>
          </a:prstGeom>
          <a:ln>
            <a:solidFill>
              <a:srgbClr val="1414FE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F14B27F0-3535-68D7-4F5D-34C12D577E55}"/>
              </a:ext>
            </a:extLst>
          </p:cNvPr>
          <p:cNvSpPr txBox="1"/>
          <p:nvPr/>
        </p:nvSpPr>
        <p:spPr>
          <a:xfrm>
            <a:off x="8195451" y="4853461"/>
            <a:ext cx="834586" cy="12460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편차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2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(6*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③표준편차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)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1414F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57EDA17C-855E-EBE2-D1FA-1E498BF4B0DC}"/>
              </a:ext>
            </a:extLst>
          </p:cNvPr>
          <p:cNvSpPr/>
          <p:nvPr/>
        </p:nvSpPr>
        <p:spPr>
          <a:xfrm>
            <a:off x="8797514" y="4734079"/>
            <a:ext cx="37584" cy="7365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79CCAE83-071A-53C9-5FC3-81C86E0A1F55}"/>
              </a:ext>
            </a:extLst>
          </p:cNvPr>
          <p:cNvSpPr/>
          <p:nvPr/>
        </p:nvSpPr>
        <p:spPr>
          <a:xfrm>
            <a:off x="8561168" y="4712988"/>
            <a:ext cx="37584" cy="7365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CE4F3536-3FB0-CC19-35D3-68559DDDBCEF}"/>
              </a:ext>
            </a:extLst>
          </p:cNvPr>
          <p:cNvSpPr/>
          <p:nvPr/>
        </p:nvSpPr>
        <p:spPr>
          <a:xfrm>
            <a:off x="8639951" y="4766109"/>
            <a:ext cx="37584" cy="7365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1" name="타원 160">
            <a:extLst>
              <a:ext uri="{FF2B5EF4-FFF2-40B4-BE49-F238E27FC236}">
                <a16:creationId xmlns:a16="http://schemas.microsoft.com/office/drawing/2014/main" id="{C6FD2450-04E9-57A4-58A5-BCDEBD8D540E}"/>
              </a:ext>
            </a:extLst>
          </p:cNvPr>
          <p:cNvSpPr/>
          <p:nvPr/>
        </p:nvSpPr>
        <p:spPr>
          <a:xfrm>
            <a:off x="8718733" y="4708312"/>
            <a:ext cx="37584" cy="7365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46F61441-662C-D409-6790-9DC90A74D4C5}"/>
              </a:ext>
            </a:extLst>
          </p:cNvPr>
          <p:cNvSpPr/>
          <p:nvPr/>
        </p:nvSpPr>
        <p:spPr>
          <a:xfrm>
            <a:off x="8876296" y="4625013"/>
            <a:ext cx="37584" cy="7365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E46F25E0-A802-4BE9-A331-B6F00AB8AF0B}"/>
              </a:ext>
            </a:extLst>
          </p:cNvPr>
          <p:cNvSpPr/>
          <p:nvPr/>
        </p:nvSpPr>
        <p:spPr>
          <a:xfrm>
            <a:off x="8955077" y="4714158"/>
            <a:ext cx="37584" cy="7365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C4437B15-6A3A-1357-D340-2CD1B0C4A69B}"/>
              </a:ext>
            </a:extLst>
          </p:cNvPr>
          <p:cNvSpPr/>
          <p:nvPr/>
        </p:nvSpPr>
        <p:spPr>
          <a:xfrm>
            <a:off x="9033859" y="4615905"/>
            <a:ext cx="37584" cy="7365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C245CC43-05C4-BDAD-7753-11ECCD1E498C}"/>
              </a:ext>
            </a:extLst>
          </p:cNvPr>
          <p:cNvSpPr/>
          <p:nvPr/>
        </p:nvSpPr>
        <p:spPr>
          <a:xfrm>
            <a:off x="9112642" y="4736746"/>
            <a:ext cx="37584" cy="7365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2D70DA0D-59C9-FF0F-A029-D93A32CF363F}"/>
              </a:ext>
            </a:extLst>
          </p:cNvPr>
          <p:cNvSpPr/>
          <p:nvPr/>
        </p:nvSpPr>
        <p:spPr>
          <a:xfrm>
            <a:off x="9191423" y="4802937"/>
            <a:ext cx="37584" cy="7365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DA79A5E7-B67D-21EF-494E-7F7BBB510620}"/>
              </a:ext>
            </a:extLst>
          </p:cNvPr>
          <p:cNvSpPr/>
          <p:nvPr/>
        </p:nvSpPr>
        <p:spPr>
          <a:xfrm>
            <a:off x="9270204" y="4681886"/>
            <a:ext cx="37584" cy="7365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99AE3D08-A0EC-3EFF-29F9-3F28D797A5C6}"/>
              </a:ext>
            </a:extLst>
          </p:cNvPr>
          <p:cNvSpPr/>
          <p:nvPr/>
        </p:nvSpPr>
        <p:spPr>
          <a:xfrm>
            <a:off x="9343925" y="4736746"/>
            <a:ext cx="37584" cy="7365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5CBF3B0E-C3F5-56C2-D4CB-696610741F79}"/>
              </a:ext>
            </a:extLst>
          </p:cNvPr>
          <p:cNvSpPr/>
          <p:nvPr/>
        </p:nvSpPr>
        <p:spPr>
          <a:xfrm>
            <a:off x="9424145" y="4736746"/>
            <a:ext cx="37584" cy="73658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0" name="화살표: 아래쪽 169">
            <a:extLst>
              <a:ext uri="{FF2B5EF4-FFF2-40B4-BE49-F238E27FC236}">
                <a16:creationId xmlns:a16="http://schemas.microsoft.com/office/drawing/2014/main" id="{2F31B644-A691-1341-9133-3625DC37525B}"/>
              </a:ext>
            </a:extLst>
          </p:cNvPr>
          <p:cNvSpPr/>
          <p:nvPr/>
        </p:nvSpPr>
        <p:spPr>
          <a:xfrm rot="17435676">
            <a:off x="7337304" y="4504642"/>
            <a:ext cx="238679" cy="284546"/>
          </a:xfrm>
          <a:prstGeom prst="downArrow">
            <a:avLst/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3B5F438-FAB9-F00A-C6D5-DBF1B4440897}"/>
              </a:ext>
            </a:extLst>
          </p:cNvPr>
          <p:cNvSpPr txBox="1"/>
          <p:nvPr/>
        </p:nvSpPr>
        <p:spPr>
          <a:xfrm>
            <a:off x="5598267" y="5614583"/>
            <a:ext cx="43048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자동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Target = LSL(Spec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하한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) +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편차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1 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현재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Target –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제어 평균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) +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편차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2 (6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𝜎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)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</a:b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43A13EAB-7CCA-72AE-A42D-2B3609FD5CF1}"/>
              </a:ext>
            </a:extLst>
          </p:cNvPr>
          <p:cNvSpPr/>
          <p:nvPr/>
        </p:nvSpPr>
        <p:spPr>
          <a:xfrm>
            <a:off x="5597187" y="6288588"/>
            <a:ext cx="766822" cy="281888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평균 무게 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(g)</a:t>
            </a: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6D479A0E-6D37-FD16-A194-F3A68F01D997}"/>
              </a:ext>
            </a:extLst>
          </p:cNvPr>
          <p:cNvSpPr/>
          <p:nvPr/>
        </p:nvSpPr>
        <p:spPr>
          <a:xfrm>
            <a:off x="8878256" y="6288588"/>
            <a:ext cx="766822" cy="281888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 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Target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적용</a:t>
            </a:r>
            <a:endParaRPr kumimoji="0" lang="en-US" altLang="ko-KR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74" name="연결선: 꺾임 173">
            <a:extLst>
              <a:ext uri="{FF2B5EF4-FFF2-40B4-BE49-F238E27FC236}">
                <a16:creationId xmlns:a16="http://schemas.microsoft.com/office/drawing/2014/main" id="{56C51279-23ED-1D2B-4C6B-20B65023F635}"/>
              </a:ext>
            </a:extLst>
          </p:cNvPr>
          <p:cNvCxnSpPr>
            <a:cxnSpLocks/>
            <a:stCxn id="178" idx="2"/>
            <a:endCxn id="172" idx="2"/>
          </p:cNvCxnSpPr>
          <p:nvPr/>
        </p:nvCxnSpPr>
        <p:spPr>
          <a:xfrm rot="5400000" flipH="1">
            <a:off x="7023483" y="5527591"/>
            <a:ext cx="84567" cy="2170338"/>
          </a:xfrm>
          <a:prstGeom prst="bentConnector3">
            <a:avLst>
              <a:gd name="adj1" fmla="val -1405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1663DAB1-4D0A-B18B-AB04-56085798226B}"/>
              </a:ext>
            </a:extLst>
          </p:cNvPr>
          <p:cNvSpPr txBox="1"/>
          <p:nvPr/>
        </p:nvSpPr>
        <p:spPr>
          <a:xfrm>
            <a:off x="5424062" y="6092731"/>
            <a:ext cx="1116955" cy="2455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제어주기 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N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</a:t>
            </a:r>
            <a:endParaRPr kumimoji="1" lang="en-US" altLang="ko-KR" sz="9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CA51EB90-A1DD-7C6A-1595-F07938517D62}"/>
              </a:ext>
            </a:extLst>
          </p:cNvPr>
          <p:cNvSpPr txBox="1"/>
          <p:nvPr/>
        </p:nvSpPr>
        <p:spPr>
          <a:xfrm>
            <a:off x="5472243" y="5878335"/>
            <a:ext cx="43895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Target Flow Chart]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C98ABD5C-0B29-3772-B9BF-E676F062E395}"/>
              </a:ext>
            </a:extLst>
          </p:cNvPr>
          <p:cNvSpPr/>
          <p:nvPr/>
        </p:nvSpPr>
        <p:spPr>
          <a:xfrm>
            <a:off x="6656795" y="6288588"/>
            <a:ext cx="766822" cy="281888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실시간</a:t>
            </a:r>
            <a:endParaRPr kumimoji="0" lang="en-US" altLang="ko-KR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산포 계산</a:t>
            </a:r>
            <a:endParaRPr kumimoji="0" lang="en-US" altLang="ko-KR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8" name="순서도: 판단 177">
            <a:extLst>
              <a:ext uri="{FF2B5EF4-FFF2-40B4-BE49-F238E27FC236}">
                <a16:creationId xmlns:a16="http://schemas.microsoft.com/office/drawing/2014/main" id="{ECDFC797-7F74-4EF9-0851-68390B228EEF}"/>
              </a:ext>
            </a:extLst>
          </p:cNvPr>
          <p:cNvSpPr/>
          <p:nvPr/>
        </p:nvSpPr>
        <p:spPr>
          <a:xfrm>
            <a:off x="7716403" y="6204021"/>
            <a:ext cx="869066" cy="451022"/>
          </a:xfrm>
          <a:prstGeom prst="flowChartDecision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변경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필요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?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3696642E-7042-168A-284D-CD4C98EF1FC2}"/>
              </a:ext>
            </a:extLst>
          </p:cNvPr>
          <p:cNvCxnSpPr>
            <a:cxnSpLocks/>
            <a:stCxn id="172" idx="3"/>
            <a:endCxn id="177" idx="1"/>
          </p:cNvCxnSpPr>
          <p:nvPr/>
        </p:nvCxnSpPr>
        <p:spPr>
          <a:xfrm>
            <a:off x="6364009" y="6429532"/>
            <a:ext cx="292786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C04503AE-1D42-2C3F-BD87-8B5A94A0155C}"/>
              </a:ext>
            </a:extLst>
          </p:cNvPr>
          <p:cNvCxnSpPr>
            <a:cxnSpLocks/>
            <a:stCxn id="177" idx="3"/>
            <a:endCxn id="178" idx="1"/>
          </p:cNvCxnSpPr>
          <p:nvPr/>
        </p:nvCxnSpPr>
        <p:spPr>
          <a:xfrm>
            <a:off x="7423617" y="6429532"/>
            <a:ext cx="292786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675F2F0E-AD52-E3F0-45A1-9B7D79907BD2}"/>
              </a:ext>
            </a:extLst>
          </p:cNvPr>
          <p:cNvCxnSpPr>
            <a:cxnSpLocks/>
            <a:stCxn id="178" idx="3"/>
            <a:endCxn id="173" idx="1"/>
          </p:cNvCxnSpPr>
          <p:nvPr/>
        </p:nvCxnSpPr>
        <p:spPr>
          <a:xfrm>
            <a:off x="8585469" y="6429532"/>
            <a:ext cx="292787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그림 181">
            <a:extLst>
              <a:ext uri="{FF2B5EF4-FFF2-40B4-BE49-F238E27FC236}">
                <a16:creationId xmlns:a16="http://schemas.microsoft.com/office/drawing/2014/main" id="{47D3EE08-8962-E6A5-DEF1-5AC51759123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25" t="32978" r="3986"/>
          <a:stretch/>
        </p:blipFill>
        <p:spPr>
          <a:xfrm>
            <a:off x="231380" y="1722904"/>
            <a:ext cx="2091003" cy="1624998"/>
          </a:xfrm>
          <a:prstGeom prst="rect">
            <a:avLst/>
          </a:prstGeom>
        </p:spPr>
      </p:pic>
      <p:sp>
        <p:nvSpPr>
          <p:cNvPr id="183" name="TextBox 182">
            <a:extLst>
              <a:ext uri="{FF2B5EF4-FFF2-40B4-BE49-F238E27FC236}">
                <a16:creationId xmlns:a16="http://schemas.microsoft.com/office/drawing/2014/main" id="{45A5526D-08AF-87D8-F93D-55D7886E0153}"/>
              </a:ext>
            </a:extLst>
          </p:cNvPr>
          <p:cNvSpPr txBox="1"/>
          <p:nvPr/>
        </p:nvSpPr>
        <p:spPr>
          <a:xfrm>
            <a:off x="2331897" y="1621218"/>
            <a:ext cx="312014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Point]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-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원가 절감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▷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Resin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소모량 최소화를 통한 원가 절감 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  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84" name="Table 47">
            <a:extLst>
              <a:ext uri="{FF2B5EF4-FFF2-40B4-BE49-F238E27FC236}">
                <a16:creationId xmlns:a16="http://schemas.microsoft.com/office/drawing/2014/main" id="{48D282A3-0662-C7CB-83BF-C3191C6D0149}"/>
              </a:ext>
            </a:extLst>
          </p:cNvPr>
          <p:cNvGraphicFramePr>
            <a:graphicFrameLocks noGrp="1"/>
          </p:cNvGraphicFramePr>
          <p:nvPr/>
        </p:nvGraphicFramePr>
        <p:xfrm>
          <a:off x="2384724" y="2190822"/>
          <a:ext cx="2998158" cy="730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9693">
                  <a:extLst>
                    <a:ext uri="{9D8B030D-6E8A-4147-A177-3AD203B41FA5}">
                      <a16:colId xmlns:a16="http://schemas.microsoft.com/office/drawing/2014/main" val="3940640600"/>
                    </a:ext>
                  </a:extLst>
                </a:gridCol>
                <a:gridCol w="499693">
                  <a:extLst>
                    <a:ext uri="{9D8B030D-6E8A-4147-A177-3AD203B41FA5}">
                      <a16:colId xmlns:a16="http://schemas.microsoft.com/office/drawing/2014/main" val="3985190948"/>
                    </a:ext>
                  </a:extLst>
                </a:gridCol>
                <a:gridCol w="499693">
                  <a:extLst>
                    <a:ext uri="{9D8B030D-6E8A-4147-A177-3AD203B41FA5}">
                      <a16:colId xmlns:a16="http://schemas.microsoft.com/office/drawing/2014/main" val="559500250"/>
                    </a:ext>
                  </a:extLst>
                </a:gridCol>
                <a:gridCol w="499693">
                  <a:extLst>
                    <a:ext uri="{9D8B030D-6E8A-4147-A177-3AD203B41FA5}">
                      <a16:colId xmlns:a16="http://schemas.microsoft.com/office/drawing/2014/main" val="3921702627"/>
                    </a:ext>
                  </a:extLst>
                </a:gridCol>
                <a:gridCol w="499693">
                  <a:extLst>
                    <a:ext uri="{9D8B030D-6E8A-4147-A177-3AD203B41FA5}">
                      <a16:colId xmlns:a16="http://schemas.microsoft.com/office/drawing/2014/main" val="3104730952"/>
                    </a:ext>
                  </a:extLst>
                </a:gridCol>
                <a:gridCol w="499693">
                  <a:extLst>
                    <a:ext uri="{9D8B030D-6E8A-4147-A177-3AD203B41FA5}">
                      <a16:colId xmlns:a16="http://schemas.microsoft.com/office/drawing/2014/main" val="3190857038"/>
                    </a:ext>
                  </a:extLst>
                </a:gridCol>
              </a:tblGrid>
              <a:tr h="21124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CMA4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(EV2020)</a:t>
                      </a:r>
                    </a:p>
                  </a:txBody>
                  <a:tcPr marL="4620" marR="4620" marT="4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레진 무게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평균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83127" marR="83127" marT="41564" marB="41564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620" marR="4620" marT="4620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원가 절감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(’26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년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예상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8184" marR="8184" marT="420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생산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60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만개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8184" marR="8184" marT="420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805243"/>
                  </a:ext>
                </a:extLst>
              </a:tr>
              <a:tr h="2112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Before</a:t>
                      </a: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After</a:t>
                      </a: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Effect</a:t>
                      </a:r>
                    </a:p>
                  </a:txBody>
                  <a:tcPr marL="4620" marR="4620" marT="4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411726"/>
                  </a:ext>
                </a:extLst>
              </a:tr>
              <a:tr h="13907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Resin 1</a:t>
                      </a: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471.2g</a:t>
                      </a: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452.7g</a:t>
                      </a: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▽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18.5g</a:t>
                      </a: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1.1</a:t>
                      </a:r>
                      <a:r>
                        <a:rPr lang="ko-KR" alt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억 </a:t>
                      </a:r>
                      <a:r>
                        <a:rPr lang="en-US" altLang="ko-KR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(1</a:t>
                      </a:r>
                      <a:r>
                        <a:rPr lang="ko-KR" alt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년</a:t>
                      </a:r>
                      <a:r>
                        <a:rPr lang="en-US" altLang="ko-KR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/1</a:t>
                      </a:r>
                      <a:r>
                        <a:rPr lang="ko-KR" alt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대</a:t>
                      </a:r>
                      <a:r>
                        <a:rPr lang="en-US" altLang="ko-KR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)</a:t>
                      </a:r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15342" marR="15342" marT="787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352738"/>
                  </a:ext>
                </a:extLst>
              </a:tr>
              <a:tr h="13907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Resin 2</a:t>
                      </a: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471.0g</a:t>
                      </a: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452.7g</a:t>
                      </a: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▽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18.3g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15342" marR="15342" marT="78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900" b="1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15342" marR="15342" marT="787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677308"/>
                  </a:ext>
                </a:extLst>
              </a:tr>
            </a:tbl>
          </a:graphicData>
        </a:graphic>
      </p:graphicFrame>
      <p:sp>
        <p:nvSpPr>
          <p:cNvPr id="185" name="TextBox 184">
            <a:extLst>
              <a:ext uri="{FF2B5EF4-FFF2-40B4-BE49-F238E27FC236}">
                <a16:creationId xmlns:a16="http://schemas.microsoft.com/office/drawing/2014/main" id="{52AAA8EC-0779-0A5E-F0EB-494506B9615E}"/>
              </a:ext>
            </a:extLst>
          </p:cNvPr>
          <p:cNvSpPr txBox="1"/>
          <p:nvPr/>
        </p:nvSpPr>
        <p:spPr>
          <a:xfrm>
            <a:off x="2331897" y="2960974"/>
            <a:ext cx="3180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 관리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Point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최소화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▷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Resin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하한 관리를 위한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Target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자동설정 기능 적용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6" name="사각형 설명선 24">
            <a:extLst>
              <a:ext uri="{FF2B5EF4-FFF2-40B4-BE49-F238E27FC236}">
                <a16:creationId xmlns:a16="http://schemas.microsoft.com/office/drawing/2014/main" id="{5432359A-F9B3-5E80-BA50-0887876439CB}"/>
              </a:ext>
            </a:extLst>
          </p:cNvPr>
          <p:cNvSpPr/>
          <p:nvPr/>
        </p:nvSpPr>
        <p:spPr bwMode="auto">
          <a:xfrm>
            <a:off x="172762" y="3872083"/>
            <a:ext cx="5706827" cy="2865453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8000" anchor="t"/>
          <a:lstStyle/>
          <a:p>
            <a:pPr marL="180000" marR="0" lvl="1" indent="-180000" algn="l" defTabSz="1042298" rtl="0" eaLnBrk="1" fontAlgn="base" latinLnBrk="1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레진 토출 속도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(CTP)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자동보정을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통한 레진 무게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(CTQ)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소모량 저감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1" indent="0" algn="l" defTabSz="1042298" rtl="0" eaLnBrk="1" fontAlgn="base" latinLnBrk="1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    -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무게 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Spec (447~493g)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내 운영을 통한 불량 미발생 및 소모량 최적화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1" indent="0" algn="l" defTabSz="1042298" rtl="0" eaLnBrk="1" fontAlgn="base" latinLnBrk="1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1)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레진 무게 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Feed-Back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제어 로직 적용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(‘25.9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적용 완료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  <a:p>
            <a:pPr marL="0" marR="0" lvl="1" indent="0" algn="l" defTabSz="1042298" rtl="0" eaLnBrk="1" fontAlgn="base" latinLnBrk="1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2)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최적 하한 관리를 위한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실시간 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Target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 설정 로직 적용 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(’25.10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적용 완료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  <a:p>
            <a:pPr marL="0" marR="0" lvl="1" indent="0" algn="l" defTabSz="1042298" rtl="0" eaLnBrk="1" fontAlgn="base" latinLnBrk="1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171450" marR="0" lvl="1" indent="-171450" algn="l" defTabSz="1042298" rtl="0" eaLnBrk="1" fontAlgn="base" latinLnBrk="1" hangingPunct="1">
              <a:lnSpc>
                <a:spcPct val="12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AS-IS,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자동보정 로직 비교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87" name="Table 47">
            <a:extLst>
              <a:ext uri="{FF2B5EF4-FFF2-40B4-BE49-F238E27FC236}">
                <a16:creationId xmlns:a16="http://schemas.microsoft.com/office/drawing/2014/main" id="{10EE41BB-CDA9-3FBF-9F58-DC3638DC9BAB}"/>
              </a:ext>
            </a:extLst>
          </p:cNvPr>
          <p:cNvGraphicFramePr>
            <a:graphicFrameLocks noGrp="1"/>
          </p:cNvGraphicFramePr>
          <p:nvPr/>
        </p:nvGraphicFramePr>
        <p:xfrm>
          <a:off x="336431" y="5458405"/>
          <a:ext cx="4934310" cy="10553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8282">
                  <a:extLst>
                    <a:ext uri="{9D8B030D-6E8A-4147-A177-3AD203B41FA5}">
                      <a16:colId xmlns:a16="http://schemas.microsoft.com/office/drawing/2014/main" val="3940640600"/>
                    </a:ext>
                  </a:extLst>
                </a:gridCol>
                <a:gridCol w="1963014">
                  <a:extLst>
                    <a:ext uri="{9D8B030D-6E8A-4147-A177-3AD203B41FA5}">
                      <a16:colId xmlns:a16="http://schemas.microsoft.com/office/drawing/2014/main" val="3985190948"/>
                    </a:ext>
                  </a:extLst>
                </a:gridCol>
                <a:gridCol w="1963014">
                  <a:extLst>
                    <a:ext uri="{9D8B030D-6E8A-4147-A177-3AD203B41FA5}">
                      <a16:colId xmlns:a16="http://schemas.microsoft.com/office/drawing/2014/main" val="3078978279"/>
                    </a:ext>
                  </a:extLst>
                </a:gridCol>
              </a:tblGrid>
              <a:tr h="42848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구분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4620" marR="4620" marT="4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AS-IS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(PLC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 기반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TO-BE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(APC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기반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83127" marR="83127" marT="41564" marB="41564" anchor="ctr">
                    <a:lnL w="6350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805243"/>
                  </a:ext>
                </a:extLst>
              </a:tr>
              <a:tr h="33827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목적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불량 미발생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불량 미발생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  <a:p>
                      <a:pPr algn="ctr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+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원가 절감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(Resin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소모량 최소화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352738"/>
                  </a:ext>
                </a:extLst>
              </a:tr>
              <a:tr h="28863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Target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설정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수기 입력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데이터 기반 자동 설정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15342" marR="15342" marT="7872" marB="0" anchor="ctr">
                    <a:lnL w="6350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677308"/>
                  </a:ext>
                </a:extLst>
              </a:tr>
            </a:tbl>
          </a:graphicData>
        </a:graphic>
      </p:graphicFrame>
      <p:sp>
        <p:nvSpPr>
          <p:cNvPr id="188" name="TextBox 187">
            <a:extLst>
              <a:ext uri="{FF2B5EF4-FFF2-40B4-BE49-F238E27FC236}">
                <a16:creationId xmlns:a16="http://schemas.microsoft.com/office/drawing/2014/main" id="{9979CA70-C117-BD45-D632-F19E46E14D7D}"/>
              </a:ext>
            </a:extLst>
          </p:cNvPr>
          <p:cNvSpPr txBox="1"/>
          <p:nvPr/>
        </p:nvSpPr>
        <p:spPr>
          <a:xfrm>
            <a:off x="5472243" y="5382692"/>
            <a:ext cx="43895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Target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산출 수식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D6D3ABD-00E1-5529-BA1C-B564E148114C}"/>
              </a:ext>
            </a:extLst>
          </p:cNvPr>
          <p:cNvSpPr txBox="1"/>
          <p:nvPr/>
        </p:nvSpPr>
        <p:spPr>
          <a:xfrm>
            <a:off x="8195451" y="5049920"/>
            <a:ext cx="1662924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편차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1 (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제어 해상도 고려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(|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②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-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①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1414F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|))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1414F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3FC26FF3-7467-E10F-81BA-6A1F7DEDAF68}"/>
              </a:ext>
            </a:extLst>
          </p:cNvPr>
          <p:cNvSpPr txBox="1"/>
          <p:nvPr/>
        </p:nvSpPr>
        <p:spPr>
          <a:xfrm>
            <a:off x="6620642" y="4397570"/>
            <a:ext cx="687782" cy="18450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② 제어 평균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F0AFCCC-323B-AECC-DD0F-B3C18F1F2CF7}"/>
              </a:ext>
            </a:extLst>
          </p:cNvPr>
          <p:cNvSpPr txBox="1"/>
          <p:nvPr/>
        </p:nvSpPr>
        <p:spPr>
          <a:xfrm>
            <a:off x="6595558" y="4595256"/>
            <a:ext cx="84705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① 현재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Target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E1230CB3-8A76-42BA-54AA-B615289FD99F}"/>
              </a:ext>
            </a:extLst>
          </p:cNvPr>
          <p:cNvSpPr txBox="1"/>
          <p:nvPr/>
        </p:nvSpPr>
        <p:spPr>
          <a:xfrm>
            <a:off x="6121240" y="4111109"/>
            <a:ext cx="687782" cy="18450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③ 표준 편차</a:t>
            </a:r>
          </a:p>
        </p:txBody>
      </p:sp>
    </p:spTree>
    <p:extLst>
      <p:ext uri="{BB962C8B-B14F-4D97-AF65-F5344CB8AC3E}">
        <p14:creationId xmlns:p14="http://schemas.microsoft.com/office/powerpoint/2010/main" val="1727209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레진 무게 자동보정 양산 적용 결과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– MI4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동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ESS Line (Resin)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84760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피드백 자동보정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+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실시간 산포 기반 자동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Target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설정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+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무게 하한 헌팅 예측 보정을 통하여 레진 소모량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(5,141g → 5,068g)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을 절감하였음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▶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원가절감 효과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약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1.14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억</a:t>
            </a:r>
          </a:p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레진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1kg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당 단가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11,835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원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($8.09/kg x 1465.16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원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/$) X Pack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개당 레진 절감량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(0.073kg) X 1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년 생산량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13.2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만개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1.1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만개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x 12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174C430-B73B-4EEF-1BC3-04DF80CC2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4141" y="2085792"/>
            <a:ext cx="4544538" cy="355436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91BA7F3-7B1E-0C8B-805E-B6A264618D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052"/>
          <a:stretch/>
        </p:blipFill>
        <p:spPr>
          <a:xfrm>
            <a:off x="294797" y="2108285"/>
            <a:ext cx="4544538" cy="353186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61E1A0-FA9F-719C-71D7-9965AB8BE795}"/>
              </a:ext>
            </a:extLst>
          </p:cNvPr>
          <p:cNvSpPr/>
          <p:nvPr/>
        </p:nvSpPr>
        <p:spPr>
          <a:xfrm>
            <a:off x="723824" y="1682786"/>
            <a:ext cx="3936687" cy="26146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BEFORE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‘26.0</a:t>
            </a:r>
            <a:r>
              <a:rPr lang="en-US" altLang="ko-KR" sz="1200" b="1" i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kumimoji="0" lang="en-US" altLang="ko-KR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.02 19:00 ~ ‘26.05.04 09:00</a:t>
            </a:r>
            <a:endParaRPr kumimoji="0" lang="ko-KR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96E1BF-9DEA-2069-754D-6AC153768E2F}"/>
              </a:ext>
            </a:extLst>
          </p:cNvPr>
          <p:cNvSpPr/>
          <p:nvPr/>
        </p:nvSpPr>
        <p:spPr>
          <a:xfrm>
            <a:off x="5501462" y="1682786"/>
            <a:ext cx="3936687" cy="26146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AFTER</a:t>
            </a:r>
            <a:endParaRPr kumimoji="0" lang="en-US" altLang="ko-KR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‘26.05.06 </a:t>
            </a:r>
            <a:r>
              <a:rPr lang="en-US" altLang="ko-KR" sz="1200" b="1" i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14</a:t>
            </a:r>
            <a:r>
              <a:rPr kumimoji="0" lang="en-US" altLang="ko-KR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:00 ~ ‘26.05.13 02:00</a:t>
            </a:r>
            <a:endParaRPr kumimoji="0" lang="ko-KR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319A42-0C0F-23B8-E913-5CBA4A48C7A9}"/>
              </a:ext>
            </a:extLst>
          </p:cNvPr>
          <p:cNvSpPr txBox="1"/>
          <p:nvPr/>
        </p:nvSpPr>
        <p:spPr>
          <a:xfrm>
            <a:off x="3884764" y="2578482"/>
            <a:ext cx="2340796" cy="2308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900" b="1" i="0" kern="0">
                <a:solidFill>
                  <a:srgbClr val="FFFF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Weight 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평균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: 5,141 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→ 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5,068g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으로 자동보정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D71302-C486-62CE-A4E0-352AB1CC93FC}"/>
              </a:ext>
            </a:extLst>
          </p:cNvPr>
          <p:cNvSpPr txBox="1"/>
          <p:nvPr/>
        </p:nvSpPr>
        <p:spPr>
          <a:xfrm>
            <a:off x="2981730" y="5662452"/>
            <a:ext cx="414686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kumimoji="1" sz="900" b="1" i="0" kern="0">
                <a:solidFill>
                  <a:srgbClr val="FFFF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NOZZLE 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예압거리 헌팅 개수에 따른 무게 하한 헌팅 현상 예측 제어하여 산포 최소화</a:t>
            </a:r>
            <a:endParaRPr kumimoji="1" lang="en-US" altLang="ko-KR" sz="9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algn="ctr" defTabSz="914400" latinLnBrk="1">
              <a:defRPr/>
            </a:pPr>
            <a:r>
              <a:rPr lang="en-US" altLang="ko-KR" sz="800" dirty="0"/>
              <a:t>※ </a:t>
            </a:r>
            <a:r>
              <a:rPr lang="en-US" altLang="ko-KR" dirty="0"/>
              <a:t>NOZZLE 4</a:t>
            </a:r>
            <a:r>
              <a:rPr lang="ko-KR" altLang="en-US" dirty="0"/>
              <a:t>개 </a:t>
            </a:r>
            <a:r>
              <a:rPr lang="en-US" altLang="ko-KR" dirty="0"/>
              <a:t>(RESIN #1,2</a:t>
            </a:r>
            <a:r>
              <a:rPr lang="ko-KR" altLang="en-US" dirty="0"/>
              <a:t>의 </a:t>
            </a:r>
            <a:r>
              <a:rPr lang="en-US" altLang="ko-KR" dirty="0"/>
              <a:t>MAIN / HARD </a:t>
            </a:r>
            <a:r>
              <a:rPr lang="ko-KR" altLang="en-US" dirty="0"/>
              <a:t>노즐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13827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레진 무게 자동보정 양산 적용 결과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– MI4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동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Toyota Line (Resin Station)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5892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PLC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기반의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Table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방식에서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APC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기반의 비례 제어 방식으로 전환하여 레진 소모량 최적화 자동보정 적용 완료 하였으며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</a:p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Tact Time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저하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NG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도포율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Inner Gap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측정 항목 등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Side Effect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없이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Target(470g)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으로  수렴시키는 것을 검증 하였음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12" name="그림 11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B035437-4355-47DE-FF87-0BB3D21C34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5"/>
          <a:stretch/>
        </p:blipFill>
        <p:spPr>
          <a:xfrm>
            <a:off x="22520" y="1678294"/>
            <a:ext cx="4948914" cy="4928583"/>
          </a:xfrm>
          <a:prstGeom prst="rect">
            <a:avLst/>
          </a:prstGeom>
        </p:spPr>
      </p:pic>
      <p:pic>
        <p:nvPicPr>
          <p:cNvPr id="16" name="그림 15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A5C3FAE-5831-40CB-8A4C-136802F8A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5"/>
          <a:stretch/>
        </p:blipFill>
        <p:spPr>
          <a:xfrm>
            <a:off x="4936012" y="1678294"/>
            <a:ext cx="4966519" cy="49285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40FCBF-F704-43B2-ABF9-68CD962BEDDA}"/>
              </a:ext>
            </a:extLst>
          </p:cNvPr>
          <p:cNvSpPr txBox="1"/>
          <p:nvPr/>
        </p:nvSpPr>
        <p:spPr>
          <a:xfrm>
            <a:off x="7154369" y="2541599"/>
            <a:ext cx="2155651" cy="2308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900" b="1" i="0" kern="0">
                <a:solidFill>
                  <a:srgbClr val="FFFF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Weight Target : 480 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→ 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470g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으로 자동보정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270C60-E25F-1E14-2126-A73EF161E0B4}"/>
              </a:ext>
            </a:extLst>
          </p:cNvPr>
          <p:cNvSpPr txBox="1"/>
          <p:nvPr/>
        </p:nvSpPr>
        <p:spPr>
          <a:xfrm>
            <a:off x="7728870" y="4526817"/>
            <a:ext cx="1581150" cy="2308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900" b="1" i="0" kern="0">
                <a:solidFill>
                  <a:srgbClr val="FFFF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Resin 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도포율 차이 없음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449289-C952-01D1-EE3A-00F483B8059C}"/>
              </a:ext>
            </a:extLst>
          </p:cNvPr>
          <p:cNvSpPr txBox="1"/>
          <p:nvPr/>
        </p:nvSpPr>
        <p:spPr>
          <a:xfrm>
            <a:off x="7728870" y="5635398"/>
            <a:ext cx="1581150" cy="2308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900" b="1" i="0" kern="0">
                <a:solidFill>
                  <a:srgbClr val="FFFF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Resin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Inner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Gap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차이 없음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A9A1DF6-4A3C-EDD8-A381-5B317ED802E0}"/>
              </a:ext>
            </a:extLst>
          </p:cNvPr>
          <p:cNvCxnSpPr>
            <a:cxnSpLocks/>
          </p:cNvCxnSpPr>
          <p:nvPr/>
        </p:nvCxnSpPr>
        <p:spPr>
          <a:xfrm>
            <a:off x="5523509" y="2214389"/>
            <a:ext cx="1281800" cy="2385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1AA51C4-50FE-9BA0-A50F-18267F79671F}"/>
              </a:ext>
            </a:extLst>
          </p:cNvPr>
          <p:cNvCxnSpPr>
            <a:cxnSpLocks/>
          </p:cNvCxnSpPr>
          <p:nvPr/>
        </p:nvCxnSpPr>
        <p:spPr>
          <a:xfrm>
            <a:off x="5698579" y="3077754"/>
            <a:ext cx="1086831" cy="5767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8B4045-59F0-E0D2-2A4C-CC155F5526B4}"/>
              </a:ext>
            </a:extLst>
          </p:cNvPr>
          <p:cNvSpPr/>
          <p:nvPr/>
        </p:nvSpPr>
        <p:spPr>
          <a:xfrm>
            <a:off x="595695" y="1275285"/>
            <a:ext cx="3936687" cy="26146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AS-IS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‘26.04.24 17:00 ~ 18:30</a:t>
            </a:r>
            <a:endParaRPr kumimoji="0" lang="ko-KR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F12FCC1-EF98-2EB1-2297-CBAEFF6408F2}"/>
              </a:ext>
            </a:extLst>
          </p:cNvPr>
          <p:cNvSpPr/>
          <p:nvPr/>
        </p:nvSpPr>
        <p:spPr>
          <a:xfrm>
            <a:off x="5373333" y="1275285"/>
            <a:ext cx="3936687" cy="26146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TO-BE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‘26.04.28 22:30 ~ 23:30</a:t>
            </a:r>
            <a:endParaRPr kumimoji="0" lang="ko-KR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570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Vision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보정 값 기반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TRF Unloading Y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축 위치 자동보정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33066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Vision(Metal Strap)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보정값을 기반으로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CMA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의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Pallet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안착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Y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축 위치를 감지 및 보정함으로써 후공정 체결 불량 최소화 하고자 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사각형 설명선 24">
            <a:extLst>
              <a:ext uri="{FF2B5EF4-FFF2-40B4-BE49-F238E27FC236}">
                <a16:creationId xmlns:a16="http://schemas.microsoft.com/office/drawing/2014/main" id="{867675C5-BF30-109A-A0EE-C759138753EC}"/>
              </a:ext>
            </a:extLst>
          </p:cNvPr>
          <p:cNvSpPr/>
          <p:nvPr/>
        </p:nvSpPr>
        <p:spPr bwMode="auto">
          <a:xfrm>
            <a:off x="154516" y="3935185"/>
            <a:ext cx="5353487" cy="1765143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8000" anchor="t"/>
          <a:lstStyle/>
          <a:p>
            <a:pPr defTabSz="457200" latinLnBrk="0">
              <a:lnSpc>
                <a:spcPct val="13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Feedback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보정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: </a:t>
            </a:r>
            <a:r>
              <a:rPr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제어주기마다 보정을 통해 체결 </a:t>
            </a: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Vision Offset </a:t>
            </a:r>
            <a:r>
              <a:rPr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산포 최소화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defTabSz="457200" latinLnBrk="0">
              <a:lnSpc>
                <a:spcPct val="130000"/>
              </a:lnSpc>
              <a:defRPr/>
            </a:pP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CMA 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조립 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Station A / B 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구분하여</a:t>
            </a: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Metal Strap Offset </a:t>
            </a:r>
            <a:r>
              <a:rPr lang="ko-KR" altLang="en-US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구분 수집 및 실시간 모니터링</a:t>
            </a:r>
            <a:endParaRPr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457200" latinLnBrk="0">
              <a:lnSpc>
                <a:spcPct val="130000"/>
              </a:lnSpc>
              <a:defRPr/>
            </a:pP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 Station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별 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Metal Strap Offset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의 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Error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값이 최소화 되도록 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Pallet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위 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CMA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안착 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Y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축 위치 제어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91EFB25-471A-1393-BF00-03A763D87865}"/>
              </a:ext>
            </a:extLst>
          </p:cNvPr>
          <p:cNvSpPr/>
          <p:nvPr/>
        </p:nvSpPr>
        <p:spPr>
          <a:xfrm>
            <a:off x="215779" y="3640937"/>
            <a:ext cx="5257923" cy="3311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2. APC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시스템 기반 자동보정 로직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890449-CC19-4AA7-BB99-99EB9D65B073}"/>
              </a:ext>
            </a:extLst>
          </p:cNvPr>
          <p:cNvSpPr/>
          <p:nvPr/>
        </p:nvSpPr>
        <p:spPr>
          <a:xfrm>
            <a:off x="5660801" y="948231"/>
            <a:ext cx="4125090" cy="33119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Simulation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예상 효과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11B44E-0C9A-82EF-629D-3359E09BDAF2}"/>
              </a:ext>
            </a:extLst>
          </p:cNvPr>
          <p:cNvSpPr/>
          <p:nvPr/>
        </p:nvSpPr>
        <p:spPr>
          <a:xfrm>
            <a:off x="215779" y="948231"/>
            <a:ext cx="5257924" cy="3311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1. ESS Pack </a:t>
            </a:r>
            <a: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Metal Strap 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공정 배경 및 개선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Point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007D1C-B474-301A-382E-3A7817FE9137}"/>
              </a:ext>
            </a:extLst>
          </p:cNvPr>
          <p:cNvSpPr/>
          <p:nvPr/>
        </p:nvSpPr>
        <p:spPr>
          <a:xfrm>
            <a:off x="5660801" y="5675596"/>
            <a:ext cx="4111885" cy="33082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진행 일정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437F8ED-D5E8-AAF4-6036-DF5C538F70DD}"/>
              </a:ext>
            </a:extLst>
          </p:cNvPr>
          <p:cNvCxnSpPr>
            <a:cxnSpLocks/>
          </p:cNvCxnSpPr>
          <p:nvPr/>
        </p:nvCxnSpPr>
        <p:spPr>
          <a:xfrm>
            <a:off x="5889104" y="6189398"/>
            <a:ext cx="3600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ACDD5679-A027-F740-49C6-38BE9AA02E65}"/>
              </a:ext>
            </a:extLst>
          </p:cNvPr>
          <p:cNvSpPr/>
          <p:nvPr/>
        </p:nvSpPr>
        <p:spPr>
          <a:xfrm>
            <a:off x="6075530" y="6045398"/>
            <a:ext cx="288000" cy="288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~3/9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5A729D5-1064-BD6E-3857-9A9206CC1599}"/>
              </a:ext>
            </a:extLst>
          </p:cNvPr>
          <p:cNvSpPr/>
          <p:nvPr/>
        </p:nvSpPr>
        <p:spPr>
          <a:xfrm>
            <a:off x="6771379" y="6045398"/>
            <a:ext cx="288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~4/1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D185949-D3E4-881E-15B0-9537B8FCA4CC}"/>
              </a:ext>
            </a:extLst>
          </p:cNvPr>
          <p:cNvSpPr/>
          <p:nvPr/>
        </p:nvSpPr>
        <p:spPr>
          <a:xfrm>
            <a:off x="7507451" y="6045398"/>
            <a:ext cx="288000" cy="288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~4/25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04341EE-ADF0-6F14-AD44-797B750B8983}"/>
              </a:ext>
            </a:extLst>
          </p:cNvPr>
          <p:cNvSpPr/>
          <p:nvPr/>
        </p:nvSpPr>
        <p:spPr>
          <a:xfrm>
            <a:off x="8909492" y="6045398"/>
            <a:ext cx="288000" cy="2880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5/5~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F186363-5499-F0D2-F2AB-96C24B5ACBC7}"/>
              </a:ext>
            </a:extLst>
          </p:cNvPr>
          <p:cNvSpPr txBox="1"/>
          <p:nvPr/>
        </p:nvSpPr>
        <p:spPr>
          <a:xfrm>
            <a:off x="5783356" y="6292058"/>
            <a:ext cx="8723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추가 아이템 검토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78E0A60-61D1-BC44-7617-5AF75F3BD7DF}"/>
              </a:ext>
            </a:extLst>
          </p:cNvPr>
          <p:cNvSpPr txBox="1"/>
          <p:nvPr/>
        </p:nvSpPr>
        <p:spPr>
          <a:xfrm>
            <a:off x="6616257" y="6292058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로직 검토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Simulation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E4BC3C5-A752-DF34-BE37-F721462CE6C9}"/>
              </a:ext>
            </a:extLst>
          </p:cNvPr>
          <p:cNvSpPr txBox="1"/>
          <p:nvPr/>
        </p:nvSpPr>
        <p:spPr>
          <a:xfrm>
            <a:off x="8763616" y="6292058"/>
            <a:ext cx="5741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검증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C5D233B-3963-5FEB-9102-ACE5A9EAF1CA}"/>
              </a:ext>
            </a:extLst>
          </p:cNvPr>
          <p:cNvSpPr txBox="1"/>
          <p:nvPr/>
        </p:nvSpPr>
        <p:spPr>
          <a:xfrm>
            <a:off x="7265517" y="6292058"/>
            <a:ext cx="7809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제작사양 작성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업체 논의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669519B8-503C-0E3C-DC06-2039E4883ECF}"/>
              </a:ext>
            </a:extLst>
          </p:cNvPr>
          <p:cNvSpPr/>
          <p:nvPr/>
        </p:nvSpPr>
        <p:spPr>
          <a:xfrm>
            <a:off x="8229907" y="6045398"/>
            <a:ext cx="288000" cy="288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</a:t>
            </a:r>
            <a:r>
              <a:rPr lang="en-US" altLang="ko-KR" sz="7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5/2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D8E6FB1-BBF4-0E31-0BB9-36876DBF00CD}"/>
              </a:ext>
            </a:extLst>
          </p:cNvPr>
          <p:cNvSpPr txBox="1"/>
          <p:nvPr/>
        </p:nvSpPr>
        <p:spPr>
          <a:xfrm>
            <a:off x="7859735" y="6292058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(APC, PLC, </a:t>
            </a:r>
            <a:r>
              <a:rPr lang="ko-KR" altLang="en-US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</a:t>
            </a:r>
            <a:r>
              <a:rPr lang="en-US" altLang="ko-KR" sz="8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27" name="Table 47">
            <a:extLst>
              <a:ext uri="{FF2B5EF4-FFF2-40B4-BE49-F238E27FC236}">
                <a16:creationId xmlns:a16="http://schemas.microsoft.com/office/drawing/2014/main" id="{118D955B-8D9E-7A2C-D4A4-FB43750E8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912348"/>
              </p:ext>
            </p:extLst>
          </p:nvPr>
        </p:nvGraphicFramePr>
        <p:xfrm>
          <a:off x="5673081" y="4649292"/>
          <a:ext cx="4111886" cy="96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370">
                  <a:extLst>
                    <a:ext uri="{9D8B030D-6E8A-4147-A177-3AD203B41FA5}">
                      <a16:colId xmlns:a16="http://schemas.microsoft.com/office/drawing/2014/main" val="3940640600"/>
                    </a:ext>
                  </a:extLst>
                </a:gridCol>
                <a:gridCol w="957879">
                  <a:extLst>
                    <a:ext uri="{9D8B030D-6E8A-4147-A177-3AD203B41FA5}">
                      <a16:colId xmlns:a16="http://schemas.microsoft.com/office/drawing/2014/main" val="3985190948"/>
                    </a:ext>
                  </a:extLst>
                </a:gridCol>
                <a:gridCol w="957879">
                  <a:extLst>
                    <a:ext uri="{9D8B030D-6E8A-4147-A177-3AD203B41FA5}">
                      <a16:colId xmlns:a16="http://schemas.microsoft.com/office/drawing/2014/main" val="559500250"/>
                    </a:ext>
                  </a:extLst>
                </a:gridCol>
                <a:gridCol w="957879">
                  <a:extLst>
                    <a:ext uri="{9D8B030D-6E8A-4147-A177-3AD203B41FA5}">
                      <a16:colId xmlns:a16="http://schemas.microsoft.com/office/drawing/2014/main" val="3921702627"/>
                    </a:ext>
                  </a:extLst>
                </a:gridCol>
                <a:gridCol w="957879">
                  <a:extLst>
                    <a:ext uri="{9D8B030D-6E8A-4147-A177-3AD203B41FA5}">
                      <a16:colId xmlns:a16="http://schemas.microsoft.com/office/drawing/2014/main" val="3104730952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예상 효과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100584" marR="100584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66566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Busbar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공정 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메탈 스트랩 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공정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리드 용접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공정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80524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갭 불량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홀 가림 불량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리드 갭 불량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리드 숏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롱 불량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352738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기대 효과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전체 불량률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0.3% 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연관 불량률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0.1%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전체 불량률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0.1% 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연관 불량률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0.1%</a:t>
                      </a:r>
                      <a:r>
                        <a:rPr lang="ko-KR" altLang="en-US" sz="9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Re-try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약 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8%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* Tact Time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지연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전체 불량률 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0.1% 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연관 불량율 </a:t>
                      </a:r>
                      <a:r>
                        <a:rPr lang="en-US" altLang="ko-KR" sz="9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0.1%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284009"/>
                  </a:ext>
                </a:extLst>
              </a:tr>
            </a:tbl>
          </a:graphicData>
        </a:graphic>
      </p:graphicFrame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6D6C63F5-480D-C137-5729-E774F09D95DC}"/>
              </a:ext>
            </a:extLst>
          </p:cNvPr>
          <p:cNvGrpSpPr/>
          <p:nvPr/>
        </p:nvGrpSpPr>
        <p:grpSpPr>
          <a:xfrm>
            <a:off x="536931" y="4800849"/>
            <a:ext cx="4715752" cy="1546011"/>
            <a:chOff x="563249" y="1255937"/>
            <a:chExt cx="4275915" cy="5063007"/>
          </a:xfrm>
        </p:grpSpPr>
        <p:pic>
          <p:nvPicPr>
            <p:cNvPr id="129" name="그림 128">
              <a:extLst>
                <a:ext uri="{FF2B5EF4-FFF2-40B4-BE49-F238E27FC236}">
                  <a16:creationId xmlns:a16="http://schemas.microsoft.com/office/drawing/2014/main" id="{D1CD6A93-B8C6-881C-562A-051768134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7289" b="75225"/>
            <a:stretch/>
          </p:blipFill>
          <p:spPr>
            <a:xfrm>
              <a:off x="587514" y="1255937"/>
              <a:ext cx="4251650" cy="1199203"/>
            </a:xfrm>
            <a:prstGeom prst="rect">
              <a:avLst/>
            </a:prstGeom>
          </p:spPr>
        </p:pic>
        <p:pic>
          <p:nvPicPr>
            <p:cNvPr id="130" name="그림 129">
              <a:extLst>
                <a:ext uri="{FF2B5EF4-FFF2-40B4-BE49-F238E27FC236}">
                  <a16:creationId xmlns:a16="http://schemas.microsoft.com/office/drawing/2014/main" id="{973A3928-7C20-D093-1BC4-981429AFA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0846" b="51140"/>
            <a:stretch/>
          </p:blipFill>
          <p:spPr>
            <a:xfrm>
              <a:off x="566334" y="2418634"/>
              <a:ext cx="4251650" cy="1235391"/>
            </a:xfrm>
            <a:prstGeom prst="rect">
              <a:avLst/>
            </a:prstGeom>
          </p:spPr>
        </p:pic>
        <p:pic>
          <p:nvPicPr>
            <p:cNvPr id="131" name="그림 130">
              <a:extLst>
                <a:ext uri="{FF2B5EF4-FFF2-40B4-BE49-F238E27FC236}">
                  <a16:creationId xmlns:a16="http://schemas.microsoft.com/office/drawing/2014/main" id="{9E6CE43B-81DA-2E2E-7F8E-FB6302CD1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5492" b="26494"/>
            <a:stretch/>
          </p:blipFill>
          <p:spPr>
            <a:xfrm>
              <a:off x="563249" y="3723779"/>
              <a:ext cx="4251650" cy="1235391"/>
            </a:xfrm>
            <a:prstGeom prst="rect">
              <a:avLst/>
            </a:prstGeom>
          </p:spPr>
        </p:pic>
        <p:pic>
          <p:nvPicPr>
            <p:cNvPr id="132" name="그림 131">
              <a:extLst>
                <a:ext uri="{FF2B5EF4-FFF2-40B4-BE49-F238E27FC236}">
                  <a16:creationId xmlns:a16="http://schemas.microsoft.com/office/drawing/2014/main" id="{87FF6566-D3B7-E651-C3A2-A0CCAA60A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0172"/>
            <a:stretch/>
          </p:blipFill>
          <p:spPr>
            <a:xfrm>
              <a:off x="563249" y="4959170"/>
              <a:ext cx="4251650" cy="1359774"/>
            </a:xfrm>
            <a:prstGeom prst="rect">
              <a:avLst/>
            </a:prstGeom>
          </p:spPr>
        </p:pic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B0ADB1E0-21E5-C911-0EC2-D77B08DA1405}"/>
                </a:ext>
              </a:extLst>
            </p:cNvPr>
            <p:cNvCxnSpPr>
              <a:cxnSpLocks/>
            </p:cNvCxnSpPr>
            <p:nvPr/>
          </p:nvCxnSpPr>
          <p:spPr>
            <a:xfrm>
              <a:off x="812538" y="2033845"/>
              <a:ext cx="3805357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none"/>
            </a:ln>
            <a:effectLst/>
          </p:spPr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1EC666B0-251C-B6B8-A576-EAB95957D2A6}"/>
                </a:ext>
              </a:extLst>
            </p:cNvPr>
            <p:cNvCxnSpPr>
              <a:cxnSpLocks/>
            </p:cNvCxnSpPr>
            <p:nvPr/>
          </p:nvCxnSpPr>
          <p:spPr>
            <a:xfrm>
              <a:off x="812538" y="3173070"/>
              <a:ext cx="3805357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none"/>
            </a:ln>
            <a:effectLst/>
          </p:spPr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1AA74E32-30EC-32FE-6C84-48D43D03E6DF}"/>
                </a:ext>
              </a:extLst>
            </p:cNvPr>
            <p:cNvCxnSpPr>
              <a:cxnSpLocks/>
            </p:cNvCxnSpPr>
            <p:nvPr/>
          </p:nvCxnSpPr>
          <p:spPr>
            <a:xfrm>
              <a:off x="812538" y="4290519"/>
              <a:ext cx="3805357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none"/>
            </a:ln>
            <a:effectLst/>
          </p:spPr>
        </p:cxnSp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AB525F77-39EC-CB0E-CABD-5EA059E9E42F}"/>
                </a:ext>
              </a:extLst>
            </p:cNvPr>
            <p:cNvCxnSpPr>
              <a:cxnSpLocks/>
            </p:cNvCxnSpPr>
            <p:nvPr/>
          </p:nvCxnSpPr>
          <p:spPr>
            <a:xfrm>
              <a:off x="812538" y="5702945"/>
              <a:ext cx="3805357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tailEnd type="none"/>
            </a:ln>
            <a:effectLst/>
          </p:spPr>
        </p:cxnSp>
      </p:grpSp>
      <p:pic>
        <p:nvPicPr>
          <p:cNvPr id="137" name="그림 136">
            <a:extLst>
              <a:ext uri="{FF2B5EF4-FFF2-40B4-BE49-F238E27FC236}">
                <a16:creationId xmlns:a16="http://schemas.microsoft.com/office/drawing/2014/main" id="{DACCBC97-F70E-BBD2-6905-9064AEBD3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320" y="1329872"/>
            <a:ext cx="4366486" cy="1661814"/>
          </a:xfrm>
          <a:prstGeom prst="rect">
            <a:avLst/>
          </a:prstGeom>
        </p:spPr>
      </p:pic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7F207356-20E6-D214-EB17-B769AFEFD9EA}"/>
              </a:ext>
            </a:extLst>
          </p:cNvPr>
          <p:cNvGrpSpPr/>
          <p:nvPr/>
        </p:nvGrpSpPr>
        <p:grpSpPr>
          <a:xfrm>
            <a:off x="4601560" y="1550838"/>
            <a:ext cx="456394" cy="1093199"/>
            <a:chOff x="5505661" y="-441690"/>
            <a:chExt cx="605174" cy="1843852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6CA5BED3-8DC9-6A05-AE0C-AA68187EC72F}"/>
                </a:ext>
              </a:extLst>
            </p:cNvPr>
            <p:cNvSpPr txBox="1"/>
            <p:nvPr/>
          </p:nvSpPr>
          <p:spPr>
            <a:xfrm>
              <a:off x="5505661" y="-401441"/>
              <a:ext cx="605174" cy="1790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(-</a:t>
              </a:r>
              <a:r>
                <a:rPr lang="ko-KR" altLang="en-US" sz="700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방향</a:t>
              </a:r>
              <a:r>
                <a:rPr lang="en-US" altLang="ko-KR" sz="700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</a:p>
            <a:p>
              <a:pPr algn="ctr"/>
              <a:endParaRPr lang="en-US" altLang="ko-KR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endParaRPr lang="en-US" altLang="ko-KR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endParaRPr lang="en-US" altLang="ko-KR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Y</a:t>
              </a:r>
              <a:r>
                <a:rPr lang="ko-KR" altLang="en-US" sz="700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축</a:t>
              </a:r>
              <a:endParaRPr lang="en-US" altLang="ko-KR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endParaRPr lang="en-US" altLang="ko-KR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endParaRPr lang="en-US" altLang="ko-KR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endParaRPr lang="en-US" altLang="ko-KR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(+</a:t>
              </a:r>
              <a:r>
                <a:rPr lang="ko-KR" altLang="en-US" sz="700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방향</a:t>
              </a:r>
              <a:r>
                <a:rPr lang="en-US" altLang="ko-KR" sz="700" dirty="0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</a:p>
          </p:txBody>
        </p:sp>
        <p:cxnSp>
          <p:nvCxnSpPr>
            <p:cNvPr id="140" name="직선 화살표 연결선 139">
              <a:extLst>
                <a:ext uri="{FF2B5EF4-FFF2-40B4-BE49-F238E27FC236}">
                  <a16:creationId xmlns:a16="http://schemas.microsoft.com/office/drawing/2014/main" id="{6060CC35-EF52-AC7A-C70A-6E868137CD84}"/>
                </a:ext>
              </a:extLst>
            </p:cNvPr>
            <p:cNvCxnSpPr>
              <a:cxnSpLocks/>
            </p:cNvCxnSpPr>
            <p:nvPr/>
          </p:nvCxnSpPr>
          <p:spPr>
            <a:xfrm>
              <a:off x="5573584" y="-441690"/>
              <a:ext cx="0" cy="1843852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/>
              <a:tailEnd type="triangle"/>
            </a:ln>
            <a:effectLst/>
          </p:spPr>
        </p:cxnSp>
      </p:grpSp>
      <p:sp>
        <p:nvSpPr>
          <p:cNvPr id="141" name="사각형 설명선 24">
            <a:extLst>
              <a:ext uri="{FF2B5EF4-FFF2-40B4-BE49-F238E27FC236}">
                <a16:creationId xmlns:a16="http://schemas.microsoft.com/office/drawing/2014/main" id="{0227CB58-EB05-481C-8E68-49B0E54A1DA6}"/>
              </a:ext>
            </a:extLst>
          </p:cNvPr>
          <p:cNvSpPr/>
          <p:nvPr/>
        </p:nvSpPr>
        <p:spPr bwMode="auto">
          <a:xfrm>
            <a:off x="227172" y="2982132"/>
            <a:ext cx="5229884" cy="280962"/>
          </a:xfrm>
          <a:prstGeom prst="wedgeRectCallout">
            <a:avLst>
              <a:gd name="adj1" fmla="val -49909"/>
              <a:gd name="adj2" fmla="val -26418"/>
            </a:avLst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108000" anchor="t"/>
          <a:lstStyle/>
          <a:p>
            <a:pPr defTabSz="457200" latinLnBrk="0"/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▷ </a:t>
            </a: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CMA</a:t>
            </a: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에 </a:t>
            </a: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End Plate </a:t>
            </a: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조립 후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팔레트 안착 시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Y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축 위치에 의한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후공정 체결 불량 발생</a:t>
            </a:r>
            <a:endParaRPr lang="en-US" altLang="ko-KR" sz="11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lvl="1" defTabSz="1042298" fontAlgn="base">
              <a:spcBef>
                <a:spcPts val="400"/>
              </a:spcBef>
              <a:spcAft>
                <a:spcPct val="0"/>
              </a:spcAft>
              <a:defRPr/>
            </a:pP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▷ 개선 </a:t>
            </a: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Point : Y</a:t>
            </a: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축 위치 변경으로 인한 체결 불량 최소화</a:t>
            </a: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공정 관리 항목 최소화 </a:t>
            </a:r>
            <a:r>
              <a:rPr kumimoji="1" lang="en-US" altLang="ko-KR" sz="1100" kern="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(NTO)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2D175959-053B-D1B2-EA61-B18A81293B03}"/>
              </a:ext>
            </a:extLst>
          </p:cNvPr>
          <p:cNvSpPr/>
          <p:nvPr/>
        </p:nvSpPr>
        <p:spPr>
          <a:xfrm>
            <a:off x="871144" y="4800848"/>
            <a:ext cx="360040" cy="1516849"/>
          </a:xfrm>
          <a:prstGeom prst="rect">
            <a:avLst/>
          </a:prstGeom>
          <a:solidFill>
            <a:schemeClr val="accent6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669FBFCA-FE8D-67A3-EF98-A09392D883B0}"/>
              </a:ext>
            </a:extLst>
          </p:cNvPr>
          <p:cNvSpPr/>
          <p:nvPr/>
        </p:nvSpPr>
        <p:spPr>
          <a:xfrm>
            <a:off x="2310514" y="4781307"/>
            <a:ext cx="281245" cy="1516849"/>
          </a:xfrm>
          <a:prstGeom prst="rect">
            <a:avLst/>
          </a:prstGeom>
          <a:solidFill>
            <a:schemeClr val="accent6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E7B29630-D417-A385-4CB8-7F0015A2649F}"/>
              </a:ext>
            </a:extLst>
          </p:cNvPr>
          <p:cNvCxnSpPr>
            <a:cxnSpLocks/>
          </p:cNvCxnSpPr>
          <p:nvPr/>
        </p:nvCxnSpPr>
        <p:spPr>
          <a:xfrm flipV="1">
            <a:off x="2319712" y="4945566"/>
            <a:ext cx="288032" cy="1381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9C9A15E6-7014-9A80-EDDB-DA92363886C5}"/>
              </a:ext>
            </a:extLst>
          </p:cNvPr>
          <p:cNvCxnSpPr>
            <a:cxnSpLocks/>
          </p:cNvCxnSpPr>
          <p:nvPr/>
        </p:nvCxnSpPr>
        <p:spPr>
          <a:xfrm flipV="1">
            <a:off x="2299104" y="5307576"/>
            <a:ext cx="288032" cy="1381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25AFFD2-655F-EA30-5872-FE589DE286FA}"/>
              </a:ext>
            </a:extLst>
          </p:cNvPr>
          <p:cNvCxnSpPr>
            <a:cxnSpLocks/>
          </p:cNvCxnSpPr>
          <p:nvPr/>
        </p:nvCxnSpPr>
        <p:spPr>
          <a:xfrm flipV="1">
            <a:off x="2315847" y="5763929"/>
            <a:ext cx="288032" cy="1381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B83816BC-B1DA-8EEA-F8F1-C18DB84B71FD}"/>
              </a:ext>
            </a:extLst>
          </p:cNvPr>
          <p:cNvCxnSpPr>
            <a:cxnSpLocks/>
          </p:cNvCxnSpPr>
          <p:nvPr/>
        </p:nvCxnSpPr>
        <p:spPr>
          <a:xfrm flipV="1">
            <a:off x="2292378" y="6092497"/>
            <a:ext cx="288032" cy="1381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타원 147">
            <a:extLst>
              <a:ext uri="{FF2B5EF4-FFF2-40B4-BE49-F238E27FC236}">
                <a16:creationId xmlns:a16="http://schemas.microsoft.com/office/drawing/2014/main" id="{5204BEE1-A51D-713F-3B91-8799654AC24A}"/>
              </a:ext>
            </a:extLst>
          </p:cNvPr>
          <p:cNvSpPr/>
          <p:nvPr/>
        </p:nvSpPr>
        <p:spPr>
          <a:xfrm>
            <a:off x="2237272" y="4732603"/>
            <a:ext cx="487100" cy="164259"/>
          </a:xfrm>
          <a:prstGeom prst="ellipse">
            <a:avLst/>
          </a:prstGeom>
          <a:solidFill>
            <a:srgbClr val="FFFF00"/>
          </a:solidFill>
          <a:ln w="1270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보정 필요</a:t>
            </a:r>
          </a:p>
        </p:txBody>
      </p: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A76DE2F2-A558-747D-86D7-6E9B74DA7307}"/>
              </a:ext>
            </a:extLst>
          </p:cNvPr>
          <p:cNvGrpSpPr/>
          <p:nvPr/>
        </p:nvGrpSpPr>
        <p:grpSpPr>
          <a:xfrm>
            <a:off x="2488623" y="4957063"/>
            <a:ext cx="360040" cy="153912"/>
            <a:chOff x="2443886" y="5215565"/>
            <a:chExt cx="360040" cy="153912"/>
          </a:xfrm>
        </p:grpSpPr>
        <p:cxnSp>
          <p:nvCxnSpPr>
            <p:cNvPr id="150" name="직선 화살표 연결선 149">
              <a:extLst>
                <a:ext uri="{FF2B5EF4-FFF2-40B4-BE49-F238E27FC236}">
                  <a16:creationId xmlns:a16="http://schemas.microsoft.com/office/drawing/2014/main" id="{30847073-5468-A3F5-C04E-801DE1EC1898}"/>
                </a:ext>
              </a:extLst>
            </p:cNvPr>
            <p:cNvCxnSpPr>
              <a:cxnSpLocks/>
            </p:cNvCxnSpPr>
            <p:nvPr/>
          </p:nvCxnSpPr>
          <p:spPr>
            <a:xfrm>
              <a:off x="2642802" y="5215565"/>
              <a:ext cx="0" cy="153912"/>
            </a:xfrm>
            <a:prstGeom prst="straightConnector1">
              <a:avLst/>
            </a:prstGeom>
            <a:ln w="19050">
              <a:headEnd type="none" w="sm" len="sm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4799A13F-6684-D24B-3882-917DCCA077BB}"/>
                </a:ext>
              </a:extLst>
            </p:cNvPr>
            <p:cNvCxnSpPr>
              <a:cxnSpLocks/>
            </p:cNvCxnSpPr>
            <p:nvPr/>
          </p:nvCxnSpPr>
          <p:spPr>
            <a:xfrm>
              <a:off x="2443886" y="5216652"/>
              <a:ext cx="360040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F1AF6D8D-F7D7-E6F1-C0E3-7846E2A89A8B}"/>
              </a:ext>
            </a:extLst>
          </p:cNvPr>
          <p:cNvGrpSpPr/>
          <p:nvPr/>
        </p:nvGrpSpPr>
        <p:grpSpPr>
          <a:xfrm>
            <a:off x="2488623" y="5270267"/>
            <a:ext cx="360040" cy="153912"/>
            <a:chOff x="2443886" y="5215565"/>
            <a:chExt cx="360040" cy="153912"/>
          </a:xfrm>
        </p:grpSpPr>
        <p:cxnSp>
          <p:nvCxnSpPr>
            <p:cNvPr id="153" name="직선 화살표 연결선 152">
              <a:extLst>
                <a:ext uri="{FF2B5EF4-FFF2-40B4-BE49-F238E27FC236}">
                  <a16:creationId xmlns:a16="http://schemas.microsoft.com/office/drawing/2014/main" id="{9BAE7C1D-F180-E03E-0BD3-D54C41909F90}"/>
                </a:ext>
              </a:extLst>
            </p:cNvPr>
            <p:cNvCxnSpPr>
              <a:cxnSpLocks/>
            </p:cNvCxnSpPr>
            <p:nvPr/>
          </p:nvCxnSpPr>
          <p:spPr>
            <a:xfrm>
              <a:off x="2642802" y="5215565"/>
              <a:ext cx="0" cy="153912"/>
            </a:xfrm>
            <a:prstGeom prst="straightConnector1">
              <a:avLst/>
            </a:prstGeom>
            <a:ln w="19050">
              <a:headEnd type="none" w="sm" len="sm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BACB43C2-CD06-845D-33CF-130B1C16F0CA}"/>
                </a:ext>
              </a:extLst>
            </p:cNvPr>
            <p:cNvCxnSpPr>
              <a:cxnSpLocks/>
            </p:cNvCxnSpPr>
            <p:nvPr/>
          </p:nvCxnSpPr>
          <p:spPr>
            <a:xfrm>
              <a:off x="2443886" y="5216652"/>
              <a:ext cx="360040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A949B042-C6F4-DD1D-C394-CB1B4ECA4A87}"/>
              </a:ext>
            </a:extLst>
          </p:cNvPr>
          <p:cNvGrpSpPr/>
          <p:nvPr/>
        </p:nvGrpSpPr>
        <p:grpSpPr>
          <a:xfrm>
            <a:off x="2488623" y="5707115"/>
            <a:ext cx="360040" cy="153912"/>
            <a:chOff x="2443886" y="5215565"/>
            <a:chExt cx="360040" cy="153912"/>
          </a:xfrm>
        </p:grpSpPr>
        <p:cxnSp>
          <p:nvCxnSpPr>
            <p:cNvPr id="156" name="직선 화살표 연결선 155">
              <a:extLst>
                <a:ext uri="{FF2B5EF4-FFF2-40B4-BE49-F238E27FC236}">
                  <a16:creationId xmlns:a16="http://schemas.microsoft.com/office/drawing/2014/main" id="{94E9B039-9AF4-67DD-9397-BD4C12CFE540}"/>
                </a:ext>
              </a:extLst>
            </p:cNvPr>
            <p:cNvCxnSpPr>
              <a:cxnSpLocks/>
            </p:cNvCxnSpPr>
            <p:nvPr/>
          </p:nvCxnSpPr>
          <p:spPr>
            <a:xfrm>
              <a:off x="2642802" y="5215565"/>
              <a:ext cx="0" cy="153912"/>
            </a:xfrm>
            <a:prstGeom prst="straightConnector1">
              <a:avLst/>
            </a:prstGeom>
            <a:ln w="19050">
              <a:headEnd type="none" w="sm" len="sm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493BE17-7C51-F1DC-F992-8DF0E8396DAB}"/>
                </a:ext>
              </a:extLst>
            </p:cNvPr>
            <p:cNvCxnSpPr>
              <a:cxnSpLocks/>
            </p:cNvCxnSpPr>
            <p:nvPr/>
          </p:nvCxnSpPr>
          <p:spPr>
            <a:xfrm>
              <a:off x="2443886" y="5216652"/>
              <a:ext cx="360040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8FCB79A6-2BE2-B2C9-F18A-2F502312C0DD}"/>
              </a:ext>
            </a:extLst>
          </p:cNvPr>
          <p:cNvGrpSpPr/>
          <p:nvPr/>
        </p:nvGrpSpPr>
        <p:grpSpPr>
          <a:xfrm>
            <a:off x="2488623" y="6043996"/>
            <a:ext cx="360040" cy="153912"/>
            <a:chOff x="2443886" y="5215565"/>
            <a:chExt cx="360040" cy="153912"/>
          </a:xfrm>
        </p:grpSpPr>
        <p:cxnSp>
          <p:nvCxnSpPr>
            <p:cNvPr id="159" name="직선 화살표 연결선 158">
              <a:extLst>
                <a:ext uri="{FF2B5EF4-FFF2-40B4-BE49-F238E27FC236}">
                  <a16:creationId xmlns:a16="http://schemas.microsoft.com/office/drawing/2014/main" id="{5596BF09-6EC4-7046-DC34-DD2AC7348EFC}"/>
                </a:ext>
              </a:extLst>
            </p:cNvPr>
            <p:cNvCxnSpPr>
              <a:cxnSpLocks/>
            </p:cNvCxnSpPr>
            <p:nvPr/>
          </p:nvCxnSpPr>
          <p:spPr>
            <a:xfrm>
              <a:off x="2642802" y="5215565"/>
              <a:ext cx="0" cy="153912"/>
            </a:xfrm>
            <a:prstGeom prst="straightConnector1">
              <a:avLst/>
            </a:prstGeom>
            <a:ln w="19050">
              <a:headEnd type="none" w="sm" len="sm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776BDF2E-6D6B-44C8-7E31-6B5B9F96591E}"/>
                </a:ext>
              </a:extLst>
            </p:cNvPr>
            <p:cNvCxnSpPr>
              <a:cxnSpLocks/>
            </p:cNvCxnSpPr>
            <p:nvPr/>
          </p:nvCxnSpPr>
          <p:spPr>
            <a:xfrm>
              <a:off x="2443886" y="5216652"/>
              <a:ext cx="360040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C4E46010-E9DE-7271-A320-AB806E70CE92}"/>
              </a:ext>
            </a:extLst>
          </p:cNvPr>
          <p:cNvSpPr txBox="1"/>
          <p:nvPr/>
        </p:nvSpPr>
        <p:spPr>
          <a:xfrm>
            <a:off x="2881796" y="2775801"/>
            <a:ext cx="1722257" cy="24558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CMA Metal Strap </a:t>
            </a: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체결 공정</a:t>
            </a:r>
            <a:endParaRPr kumimoji="1" lang="en-US" altLang="ko-KR" sz="90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3472FD7F-746F-24BB-0BD3-3D5DF1871A8C}"/>
              </a:ext>
            </a:extLst>
          </p:cNvPr>
          <p:cNvCxnSpPr>
            <a:cxnSpLocks/>
          </p:cNvCxnSpPr>
          <p:nvPr/>
        </p:nvCxnSpPr>
        <p:spPr>
          <a:xfrm flipV="1">
            <a:off x="1067201" y="1617525"/>
            <a:ext cx="1015816" cy="15386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5CB7BC27-8838-674B-E58E-58E57C27F5BB}"/>
              </a:ext>
            </a:extLst>
          </p:cNvPr>
          <p:cNvCxnSpPr>
            <a:cxnSpLocks/>
          </p:cNvCxnSpPr>
          <p:nvPr/>
        </p:nvCxnSpPr>
        <p:spPr>
          <a:xfrm flipV="1">
            <a:off x="1067201" y="2401626"/>
            <a:ext cx="1015816" cy="15386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8D4DD14B-424E-5D27-46DA-0CF9CBB03E76}"/>
              </a:ext>
            </a:extLst>
          </p:cNvPr>
          <p:cNvSpPr/>
          <p:nvPr/>
        </p:nvSpPr>
        <p:spPr>
          <a:xfrm>
            <a:off x="941197" y="4800848"/>
            <a:ext cx="360040" cy="1516849"/>
          </a:xfrm>
          <a:prstGeom prst="rect">
            <a:avLst/>
          </a:prstGeom>
          <a:solidFill>
            <a:schemeClr val="accent6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928E3EBD-D5CE-34DC-3F8C-58F9ACAF5040}"/>
              </a:ext>
            </a:extLst>
          </p:cNvPr>
          <p:cNvSpPr/>
          <p:nvPr/>
        </p:nvSpPr>
        <p:spPr>
          <a:xfrm>
            <a:off x="998268" y="4800848"/>
            <a:ext cx="360040" cy="1516849"/>
          </a:xfrm>
          <a:prstGeom prst="rect">
            <a:avLst/>
          </a:prstGeom>
          <a:solidFill>
            <a:schemeClr val="accent6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E3185122-46AB-C6A9-C63E-234D7B9F831B}"/>
              </a:ext>
            </a:extLst>
          </p:cNvPr>
          <p:cNvSpPr/>
          <p:nvPr/>
        </p:nvSpPr>
        <p:spPr>
          <a:xfrm>
            <a:off x="1062465" y="4800848"/>
            <a:ext cx="360040" cy="1516849"/>
          </a:xfrm>
          <a:prstGeom prst="rect">
            <a:avLst/>
          </a:prstGeom>
          <a:solidFill>
            <a:schemeClr val="accent6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36D4E0A9-8849-1E71-126A-6678A6C0C584}"/>
              </a:ext>
            </a:extLst>
          </p:cNvPr>
          <p:cNvSpPr/>
          <p:nvPr/>
        </p:nvSpPr>
        <p:spPr>
          <a:xfrm>
            <a:off x="1126782" y="4800848"/>
            <a:ext cx="360040" cy="1516849"/>
          </a:xfrm>
          <a:prstGeom prst="rect">
            <a:avLst/>
          </a:prstGeom>
          <a:solidFill>
            <a:schemeClr val="accent6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A725EDC0-5C6F-4F37-BA13-0C79231E7D69}"/>
              </a:ext>
            </a:extLst>
          </p:cNvPr>
          <p:cNvCxnSpPr>
            <a:cxnSpLocks/>
          </p:cNvCxnSpPr>
          <p:nvPr/>
        </p:nvCxnSpPr>
        <p:spPr>
          <a:xfrm>
            <a:off x="941197" y="5533116"/>
            <a:ext cx="1226091" cy="0"/>
          </a:xfrm>
          <a:prstGeom prst="straightConnector1">
            <a:avLst/>
          </a:prstGeom>
          <a:ln w="190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73F11E03-A54A-81CD-B591-92477559B86A}"/>
              </a:ext>
            </a:extLst>
          </p:cNvPr>
          <p:cNvCxnSpPr/>
          <p:nvPr/>
        </p:nvCxnSpPr>
        <p:spPr>
          <a:xfrm>
            <a:off x="871144" y="4800848"/>
            <a:ext cx="3600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7E810B0B-608F-E4EC-6DEA-73F0DA313075}"/>
              </a:ext>
            </a:extLst>
          </p:cNvPr>
          <p:cNvSpPr txBox="1"/>
          <p:nvPr/>
        </p:nvSpPr>
        <p:spPr>
          <a:xfrm>
            <a:off x="820769" y="4781307"/>
            <a:ext cx="460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1~N</a:t>
            </a:r>
            <a:r>
              <a:rPr lang="ko-KR" altLang="en-US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</a:t>
            </a:r>
            <a:endParaRPr lang="en-US" altLang="ko-KR" sz="7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EC9D2BDE-E6DC-7D8E-02E7-67846409F13F}"/>
              </a:ext>
            </a:extLst>
          </p:cNvPr>
          <p:cNvCxnSpPr/>
          <p:nvPr/>
        </p:nvCxnSpPr>
        <p:spPr>
          <a:xfrm>
            <a:off x="935136" y="4975434"/>
            <a:ext cx="3600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888984A4-4F48-E776-C040-35D9A5E0EF23}"/>
              </a:ext>
            </a:extLst>
          </p:cNvPr>
          <p:cNvSpPr txBox="1"/>
          <p:nvPr/>
        </p:nvSpPr>
        <p:spPr>
          <a:xfrm>
            <a:off x="777835" y="4955893"/>
            <a:ext cx="674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2~(N+1)</a:t>
            </a:r>
            <a:r>
              <a:rPr lang="ko-KR" altLang="en-US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</a:t>
            </a:r>
            <a:endParaRPr lang="en-US" altLang="ko-KR" sz="7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22AEE9B3-F1D0-1568-D78D-3E903120F8F9}"/>
              </a:ext>
            </a:extLst>
          </p:cNvPr>
          <p:cNvCxnSpPr/>
          <p:nvPr/>
        </p:nvCxnSpPr>
        <p:spPr>
          <a:xfrm>
            <a:off x="1006130" y="5137489"/>
            <a:ext cx="3600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0C038ABC-EA9F-0B81-64E0-C3667764A073}"/>
              </a:ext>
            </a:extLst>
          </p:cNvPr>
          <p:cNvSpPr txBox="1"/>
          <p:nvPr/>
        </p:nvSpPr>
        <p:spPr>
          <a:xfrm>
            <a:off x="879494" y="5117948"/>
            <a:ext cx="613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3~(N+2)</a:t>
            </a:r>
            <a:r>
              <a:rPr lang="ko-KR" altLang="en-US" sz="7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</a:t>
            </a:r>
            <a:endParaRPr lang="en-US" altLang="ko-KR" sz="7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75" name="그림 174">
            <a:extLst>
              <a:ext uri="{FF2B5EF4-FFF2-40B4-BE49-F238E27FC236}">
                <a16:creationId xmlns:a16="http://schemas.microsoft.com/office/drawing/2014/main" id="{9EF5C25D-77B9-A834-216B-8593E2DE6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9876" y="1354722"/>
            <a:ext cx="4125091" cy="31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73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Metal Strap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Y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축 자동보정 결과</a:t>
            </a: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2F37E5-C3F1-3AF2-B253-B06E166BC7F8}"/>
              </a:ext>
            </a:extLst>
          </p:cNvPr>
          <p:cNvSpPr txBox="1"/>
          <p:nvPr/>
        </p:nvSpPr>
        <p:spPr>
          <a:xfrm>
            <a:off x="218010" y="558205"/>
            <a:ext cx="6607198" cy="518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▷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MI Pack #1 (ESS JF2) / ‘26.4 ~ 5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/ Metal Strap Offset #1~4</a:t>
            </a:r>
            <a:endParaRPr lang="ko-KR" alt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▷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Metal Strap Offset #1~4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의 평균값이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0mm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 되도록 자동보정 진행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최대 누적값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±1mm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제한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9F3FD81-2499-B174-36A7-37713409C319}"/>
              </a:ext>
            </a:extLst>
          </p:cNvPr>
          <p:cNvGrpSpPr/>
          <p:nvPr/>
        </p:nvGrpSpPr>
        <p:grpSpPr>
          <a:xfrm>
            <a:off x="719293" y="1537631"/>
            <a:ext cx="8467414" cy="4982342"/>
            <a:chOff x="763588" y="1490740"/>
            <a:chExt cx="8378825" cy="5562445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F413034C-3D37-709E-6141-124ADFA33E0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1000"/>
            <a:stretch/>
          </p:blipFill>
          <p:spPr bwMode="auto">
            <a:xfrm>
              <a:off x="763588" y="1490740"/>
              <a:ext cx="8378825" cy="19888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9649EDE-5C92-685D-6D6E-7AAB1471882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250" b="36749"/>
            <a:stretch/>
          </p:blipFill>
          <p:spPr bwMode="auto">
            <a:xfrm>
              <a:off x="763588" y="3284984"/>
              <a:ext cx="8378825" cy="19888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45C90AF0-DACC-2E2A-1878-1F1CCA659F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850" b="3150"/>
            <a:stretch/>
          </p:blipFill>
          <p:spPr bwMode="auto">
            <a:xfrm>
              <a:off x="763588" y="5064345"/>
              <a:ext cx="8378825" cy="19888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9E91076-0DE4-9FB6-504E-DF742C3E89F3}"/>
              </a:ext>
            </a:extLst>
          </p:cNvPr>
          <p:cNvSpPr txBox="1"/>
          <p:nvPr/>
        </p:nvSpPr>
        <p:spPr>
          <a:xfrm>
            <a:off x="5587919" y="1179627"/>
            <a:ext cx="1165281" cy="2308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900" b="1" i="0" kern="0">
                <a:solidFill>
                  <a:srgbClr val="FFFF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→</a:t>
            </a:r>
            <a:r>
              <a:rPr lang="en-US" altLang="ko-KR" dirty="0"/>
              <a:t> APC </a:t>
            </a:r>
            <a:r>
              <a:rPr lang="ko-KR" altLang="en-US" dirty="0"/>
              <a:t>자동보정 </a:t>
            </a:r>
            <a:r>
              <a:rPr lang="en-US" altLang="ko-KR" dirty="0"/>
              <a:t>ON</a:t>
            </a:r>
            <a:endParaRPr kumimoji="1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702C5D-9EC5-89D1-9FB9-9D84DB8C0191}"/>
              </a:ext>
            </a:extLst>
          </p:cNvPr>
          <p:cNvSpPr txBox="1"/>
          <p:nvPr/>
        </p:nvSpPr>
        <p:spPr>
          <a:xfrm>
            <a:off x="3888686" y="1380688"/>
            <a:ext cx="2170339" cy="2455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i="0" dirty="0">
                <a:solidFill>
                  <a:srgbClr val="006600"/>
                </a:solidFill>
              </a:rPr>
              <a:t>Offset </a:t>
            </a:r>
            <a:r>
              <a:rPr lang="ko-KR" altLang="en-US" sz="900" i="0" dirty="0">
                <a:solidFill>
                  <a:srgbClr val="006600"/>
                </a:solidFill>
              </a:rPr>
              <a:t>평균 </a:t>
            </a:r>
            <a:r>
              <a:rPr lang="en-US" altLang="ko-KR" sz="900" i="0" dirty="0">
                <a:solidFill>
                  <a:srgbClr val="006600"/>
                </a:solidFill>
              </a:rPr>
              <a:t>: 0.546mm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64C781-53FB-57C4-1856-BFA628245B5F}"/>
              </a:ext>
            </a:extLst>
          </p:cNvPr>
          <p:cNvSpPr txBox="1"/>
          <p:nvPr/>
        </p:nvSpPr>
        <p:spPr>
          <a:xfrm>
            <a:off x="5085389" y="1380688"/>
            <a:ext cx="2170339" cy="2455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1" sz="1100" i="1" kern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i="0" dirty="0">
                <a:solidFill>
                  <a:srgbClr val="006600"/>
                </a:solidFill>
              </a:rPr>
              <a:t>Offset </a:t>
            </a:r>
            <a:r>
              <a:rPr lang="ko-KR" altLang="en-US" sz="900" i="0" dirty="0">
                <a:solidFill>
                  <a:srgbClr val="006600"/>
                </a:solidFill>
              </a:rPr>
              <a:t>평균 </a:t>
            </a:r>
            <a:r>
              <a:rPr lang="en-US" altLang="ko-KR" sz="900" i="0" dirty="0">
                <a:solidFill>
                  <a:srgbClr val="006600"/>
                </a:solidFill>
              </a:rPr>
              <a:t>: 0.231mm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C68326E-3DD2-0FA1-8D0D-212D5C82D4B6}"/>
              </a:ext>
            </a:extLst>
          </p:cNvPr>
          <p:cNvCxnSpPr>
            <a:cxnSpLocks/>
          </p:cNvCxnSpPr>
          <p:nvPr/>
        </p:nvCxnSpPr>
        <p:spPr>
          <a:xfrm>
            <a:off x="5587919" y="1350208"/>
            <a:ext cx="0" cy="49591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2FD514AC-D224-773F-A9B3-90606826A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7845" y="170929"/>
            <a:ext cx="1696687" cy="136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922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FDC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과제 완료 보고</a:t>
            </a: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27F2FE-EB3F-3B92-F82E-D35A4120BB7C}"/>
              </a:ext>
            </a:extLst>
          </p:cNvPr>
          <p:cNvSpPr txBox="1"/>
          <p:nvPr/>
        </p:nvSpPr>
        <p:spPr>
          <a:xfrm>
            <a:off x="196281" y="620688"/>
            <a:ext cx="9581255" cy="33066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 주요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Pain Point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및 직행률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가동률 사전 감지를 위한 과제 발굴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 안정화 기반 확보 진행하였습니다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25F44-A041-C0D6-5F38-8091D2E4660B}"/>
              </a:ext>
            </a:extLst>
          </p:cNvPr>
          <p:cNvSpPr txBox="1"/>
          <p:nvPr/>
        </p:nvSpPr>
        <p:spPr>
          <a:xfrm>
            <a:off x="4954178" y="5279949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</a:rPr>
              <a:t>■ 설비 가동율 개선 활동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6CC72-8032-79AF-3F36-4A4491562311}"/>
              </a:ext>
            </a:extLst>
          </p:cNvPr>
          <p:cNvSpPr txBox="1"/>
          <p:nvPr/>
        </p:nvSpPr>
        <p:spPr>
          <a:xfrm>
            <a:off x="5036962" y="5520099"/>
            <a:ext cx="4749539" cy="1104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ko-KR" altLang="en-US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▶ 주요 활동</a:t>
            </a:r>
            <a:endParaRPr lang="en-US" altLang="ko-KR" sz="105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457200" latinLnBrk="0"/>
            <a:r>
              <a:rPr lang="en-US" altLang="ko-KR" sz="1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1) FDC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시스템 교육 및 현장 조치 안정화 지원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457200" latinLnBrk="0">
              <a:lnSpc>
                <a:spcPct val="15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2)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체결기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피더기 이상감지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체결기 흡착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슈팅 시간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피더 실린더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및 컨베이어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AC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모터 검토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457200" latinLnBrk="0">
              <a:lnSpc>
                <a:spcPct val="15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3)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 전개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Item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Resin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Pump, Plnger, Valve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설비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연동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457200" latinLnBrk="0"/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                          Cell Inspection - LMS Clamp Pallet/Cylinder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구분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연동</a:t>
            </a:r>
          </a:p>
        </p:txBody>
      </p:sp>
      <p:graphicFrame>
        <p:nvGraphicFramePr>
          <p:cNvPr id="5" name="내용 개체 틀 6">
            <a:extLst>
              <a:ext uri="{FF2B5EF4-FFF2-40B4-BE49-F238E27FC236}">
                <a16:creationId xmlns:a16="http://schemas.microsoft.com/office/drawing/2014/main" id="{807AB8E5-C88A-4C27-FF01-8C476A4C1D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5710264"/>
              </p:ext>
            </p:extLst>
          </p:nvPr>
        </p:nvGraphicFramePr>
        <p:xfrm>
          <a:off x="5169024" y="1636037"/>
          <a:ext cx="4624239" cy="1214526"/>
        </p:xfrm>
        <a:graphic>
          <a:graphicData uri="http://schemas.openxmlformats.org/drawingml/2006/table">
            <a:tbl>
              <a:tblPr firstRow="1" bandRow="1"/>
              <a:tblGrid>
                <a:gridCol w="1812412">
                  <a:extLst>
                    <a:ext uri="{9D8B030D-6E8A-4147-A177-3AD203B41FA5}">
                      <a16:colId xmlns:a16="http://schemas.microsoft.com/office/drawing/2014/main" val="3385856475"/>
                    </a:ext>
                  </a:extLst>
                </a:gridCol>
                <a:gridCol w="2811827">
                  <a:extLst>
                    <a:ext uri="{9D8B030D-6E8A-4147-A177-3AD203B41FA5}">
                      <a16:colId xmlns:a16="http://schemas.microsoft.com/office/drawing/2014/main" val="1186992123"/>
                    </a:ext>
                  </a:extLst>
                </a:gridCol>
              </a:tblGrid>
              <a:tr h="15181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과제명</a:t>
                      </a:r>
                      <a:endParaRPr lang="en-US" altLang="ko-KR" sz="9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세부 진행 내용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096874"/>
                  </a:ext>
                </a:extLst>
              </a:tr>
              <a:tr h="15181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CMA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가압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Pallet Air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공급 이상감지</a:t>
                      </a:r>
                      <a:endParaRPr lang="ko-KR" altLang="en-US" sz="900" dirty="0"/>
                    </a:p>
                  </a:txBody>
                  <a:tcPr marL="18000" marR="18000" marT="0" marB="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CMA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가압 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Pallet Air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공급 이상감지</a:t>
                      </a:r>
                      <a:endParaRPr lang="en-US" altLang="ko-KR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136418"/>
                  </a:ext>
                </a:extLst>
              </a:tr>
              <a:tr h="30363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</a:t>
                      </a:r>
                      <a:r>
                        <a:rPr lang="en-US" altLang="ko-KR" sz="9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</a:t>
                      </a:r>
                      <a:r>
                        <a:rPr lang="ko-KR" altLang="en-US" sz="9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 값 기반 </a:t>
                      </a:r>
                      <a:r>
                        <a:rPr lang="en-US" altLang="ko-KR" sz="9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TRF Unloading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</a:t>
                      </a:r>
                      <a:r>
                        <a:rPr lang="ko-KR" altLang="en-US" sz="9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축 위치 자동보정 및 관리선 알람 설정</a:t>
                      </a:r>
                      <a:endParaRPr lang="en-US" altLang="ko-KR" sz="900" kern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9pPr>
                    </a:lstStyle>
                    <a:p>
                      <a:pPr marL="0" indent="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체결 비전 보정량 기반 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E/P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카메라 위치 틀어짐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b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Y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축 이동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(TRF, Start Lift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틀어짐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이상감지</a:t>
                      </a:r>
                      <a:endParaRPr lang="en-US" altLang="ko-KR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961813"/>
                  </a:ext>
                </a:extLst>
              </a:tr>
              <a:tr h="30363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FDC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적용을 통한</a:t>
                      </a:r>
                      <a:b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 부동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/Issue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사전 감지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Vision Gray Value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PC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이상감지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(CPU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점유율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온도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RAM </a:t>
                      </a:r>
                      <a:b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사용률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DISK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저장량 등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Data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연동 및 모델링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예정</a:t>
                      </a:r>
                      <a:endParaRPr lang="en-US" altLang="ko-KR" sz="9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488353"/>
                  </a:ext>
                </a:extLst>
              </a:tr>
              <a:tr h="30363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가성 불량 이상 감지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LG스마트체 Regular"/>
                        </a:defRPr>
                      </a:lvl9pPr>
                    </a:lstStyle>
                    <a:p>
                      <a:pPr marL="0" indent="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G/B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검사 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저항 값 수준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산포 모니터링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핀마모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케이블 소손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Leak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: 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유량 값 헌팅 빈도 모니터링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실링패드 마모</a:t>
                      </a:r>
                      <a:r>
                        <a:rPr lang="en-US" altLang="ko-KR" sz="9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1432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AFDE57-0C5B-E503-5FEB-B99AD2F2952C}"/>
              </a:ext>
            </a:extLst>
          </p:cNvPr>
          <p:cNvSpPr txBox="1"/>
          <p:nvPr/>
        </p:nvSpPr>
        <p:spPr>
          <a:xfrm>
            <a:off x="5133076" y="1405205"/>
            <a:ext cx="11160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>
              <a:buFont typeface="Wingdings" panose="05000000000000000000" pitchFamily="2" charset="2"/>
              <a:buChar char="Ø"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전사 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9B136-A082-5479-8F91-BA4F872D8647}"/>
              </a:ext>
            </a:extLst>
          </p:cNvPr>
          <p:cNvSpPr txBox="1"/>
          <p:nvPr/>
        </p:nvSpPr>
        <p:spPr>
          <a:xfrm>
            <a:off x="4989444" y="1128814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prstClr val="black"/>
                </a:solidFill>
              </a:rPr>
              <a:t>■ 직행 불량률 개선 활동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A13A1A-3D25-2E42-13CE-82632E85D8D0}"/>
              </a:ext>
            </a:extLst>
          </p:cNvPr>
          <p:cNvSpPr txBox="1"/>
          <p:nvPr/>
        </p:nvSpPr>
        <p:spPr>
          <a:xfrm>
            <a:off x="7347256" y="5783981"/>
            <a:ext cx="24000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진성 알람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건 사례화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및 가성 알람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건 개선방안 도출</a:t>
            </a:r>
            <a:endParaRPr lang="en-US" altLang="ko-KR" sz="8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E016A4D-261C-5F09-467B-4A89FEBD6DBB}"/>
              </a:ext>
            </a:extLst>
          </p:cNvPr>
          <p:cNvGrpSpPr/>
          <p:nvPr/>
        </p:nvGrpSpPr>
        <p:grpSpPr>
          <a:xfrm>
            <a:off x="4986908" y="2832390"/>
            <a:ext cx="4601502" cy="2473754"/>
            <a:chOff x="4933798" y="2727895"/>
            <a:chExt cx="4601502" cy="247375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C74B90-9D66-D451-BE57-98FD5CC6962A}"/>
                </a:ext>
              </a:extLst>
            </p:cNvPr>
            <p:cNvSpPr txBox="1"/>
            <p:nvPr/>
          </p:nvSpPr>
          <p:spPr>
            <a:xfrm>
              <a:off x="4933798" y="2727895"/>
              <a:ext cx="4601502" cy="2473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105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▶ 주요 활동</a:t>
              </a:r>
              <a:endParaRPr lang="en-US" altLang="ko-KR" sz="105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defTabSz="457200" latinLnBrk="0">
                <a:lnSpc>
                  <a:spcPct val="150000"/>
                </a:lnSpc>
              </a:pP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1) 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전사 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DX 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과제 현장 검증 및 추가 모델 적용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검토</a:t>
              </a:r>
              <a:endParaRPr lang="en-US" altLang="ko-KR" sz="1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defTabSz="457200" latinLnBrk="0">
                <a:lnSpc>
                  <a:spcPct val="150000"/>
                </a:lnSpc>
              </a:pP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-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데이터 검증 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Metal Strap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체결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케이스별 조건 모사 및 모델 적용</a:t>
              </a:r>
              <a:endPara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defTabSz="457200" latinLnBrk="0"/>
              <a:endParaRPr lang="en-US" altLang="ko-KR" sz="1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defTabSz="457200" latinLnBrk="0"/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현장 발생 건 기반 모델 적용 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G/B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검사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케이블 소손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건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Leak  Test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실링 패드 마모 건</a:t>
              </a:r>
              <a:endPara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defTabSz="457200" latinLnBrk="0"/>
              <a:endPara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defTabSz="457200" latinLnBrk="0"/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-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추가 검토 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CMA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가압 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Pallet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이상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감지 검토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b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endPara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defTabSz="457200" latinLnBrk="0">
                <a:lnSpc>
                  <a:spcPct val="150000"/>
                </a:lnSpc>
              </a:pP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2) 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신규 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Item 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검토</a:t>
              </a:r>
              <a:r>
                <a:rPr lang="en-US" altLang="ko-KR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10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적용</a:t>
              </a:r>
              <a:endParaRPr lang="en-US" altLang="ko-KR" sz="1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defTabSz="457200" latinLnBrk="0">
                <a:lnSpc>
                  <a:spcPct val="150000"/>
                </a:lnSpc>
              </a:pP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- BFA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체결 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보정량 이상 감지 사례 기반 모델링</a:t>
              </a:r>
              <a:endPara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defTabSz="457200" latinLnBrk="0"/>
              <a:endParaRPr lang="en-US" altLang="ko-KR" sz="1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defTabSz="457200" latinLnBrk="0"/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-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리드 용접 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Hole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불량 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리드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가압량 최적화 </a:t>
              </a:r>
              <a:r>
                <a:rPr lang="en-US" altLang="ko-KR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 </a:t>
              </a:r>
              <a:r>
                <a:rPr lang="ko-KR" altLang="en-US" sz="10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벤딩 마모도 모니터링 적용</a:t>
              </a:r>
              <a:endPara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defTabSz="457200" latinLnBrk="0"/>
              <a:endParaRPr lang="en-US" altLang="ko-KR" sz="1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BF0514B-163C-60CE-C737-AD81346AE65E}"/>
                </a:ext>
              </a:extLst>
            </p:cNvPr>
            <p:cNvSpPr txBox="1"/>
            <p:nvPr/>
          </p:nvSpPr>
          <p:spPr>
            <a:xfrm>
              <a:off x="6619117" y="3396513"/>
              <a:ext cx="291618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과거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사례 시뮬레이션 결과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직행불량률 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0.042%p, 0.063%p 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개선 확인</a:t>
              </a:r>
              <a:endPara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89A3E9-839C-383A-0F8C-3EC2CCA4B21C}"/>
                </a:ext>
              </a:extLst>
            </p:cNvPr>
            <p:cNvSpPr txBox="1"/>
            <p:nvPr/>
          </p:nvSpPr>
          <p:spPr>
            <a:xfrm>
              <a:off x="7754650" y="3737373"/>
              <a:ext cx="16097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각 월 가성 불량 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건 사전 예방 가능</a:t>
              </a:r>
              <a:endPara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9EC57C9-42A0-580E-0D27-B28146E077C5}"/>
                </a:ext>
              </a:extLst>
            </p:cNvPr>
            <p:cNvSpPr txBox="1"/>
            <p:nvPr/>
          </p:nvSpPr>
          <p:spPr>
            <a:xfrm>
              <a:off x="5596940" y="4613473"/>
              <a:ext cx="25362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과거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사례 시뮬레이션 결과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직행불량률 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1.388%p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개선 확인</a:t>
              </a:r>
              <a:endPara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EE63015-E245-8F13-F2E7-AC52FB10DEAE}"/>
                </a:ext>
              </a:extLst>
            </p:cNvPr>
            <p:cNvSpPr txBox="1"/>
            <p:nvPr/>
          </p:nvSpPr>
          <p:spPr>
            <a:xfrm>
              <a:off x="6123843" y="4963339"/>
              <a:ext cx="137730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용접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 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평균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표준편차 개선</a:t>
              </a:r>
              <a:endPara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EF446C49-3FB2-97E1-D052-64B21E001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573308"/>
              </p:ext>
            </p:extLst>
          </p:nvPr>
        </p:nvGraphicFramePr>
        <p:xfrm>
          <a:off x="152522" y="1623154"/>
          <a:ext cx="4714633" cy="4758176"/>
        </p:xfrm>
        <a:graphic>
          <a:graphicData uri="http://schemas.openxmlformats.org/drawingml/2006/table">
            <a:tbl>
              <a:tblPr firstRow="1" bandRow="1"/>
              <a:tblGrid>
                <a:gridCol w="912046">
                  <a:extLst>
                    <a:ext uri="{9D8B030D-6E8A-4147-A177-3AD203B41FA5}">
                      <a16:colId xmlns:a16="http://schemas.microsoft.com/office/drawing/2014/main" val="4149751683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854264775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3867176347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3928357715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1477412018"/>
                    </a:ext>
                  </a:extLst>
                </a:gridCol>
                <a:gridCol w="634236">
                  <a:extLst>
                    <a:ext uri="{9D8B030D-6E8A-4147-A177-3AD203B41FA5}">
                      <a16:colId xmlns:a16="http://schemas.microsoft.com/office/drawing/2014/main" val="1130867767"/>
                    </a:ext>
                  </a:extLst>
                </a:gridCol>
              </a:tblGrid>
              <a:tr h="52673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항목명</a:t>
                      </a: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Tag</a:t>
                      </a:r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List</a:t>
                      </a:r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작성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</a:t>
                      </a:r>
                      <a:endParaRPr lang="en-US" altLang="ko-KR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연동 </a:t>
                      </a:r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정합성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</a:t>
                      </a:r>
                    </a:p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모델링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알람 적용 </a:t>
                      </a:r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</a:t>
                      </a:r>
                      <a:endParaRPr lang="en-US" altLang="ko-KR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0839"/>
                  </a:ext>
                </a:extLst>
              </a:tr>
              <a:tr h="38627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전사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DX) Metal Strap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보정량 이상 감지</a:t>
                      </a: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1) E/P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틀어짐</a:t>
                      </a:r>
                      <a:endParaRPr lang="en-US" altLang="ko-KR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2)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티칭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위치 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&amp;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 렌즈 틀어짐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3/16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3/19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3/24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4/1 ~</a:t>
                      </a:r>
                      <a:endParaRPr lang="ko-KR" altLang="en-US" sz="900" kern="12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252230"/>
                  </a:ext>
                </a:extLst>
              </a:tr>
              <a:tr h="3862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3) Y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축 이동</a:t>
                      </a:r>
                      <a:endParaRPr lang="en-US" altLang="ko-KR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(TRF, Start Lift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틀어짐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5/8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5/9 ~</a:t>
                      </a:r>
                      <a:endParaRPr lang="ko-KR" altLang="en-US" sz="900" kern="12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385539"/>
                  </a:ext>
                </a:extLst>
              </a:tr>
              <a:tr h="245810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전사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DX)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</a:t>
                      </a:r>
                      <a:endParaRPr lang="en-US" altLang="ko-KR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가성 불량 </a:t>
                      </a:r>
                      <a:endParaRPr lang="en-US" altLang="ko-KR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사전 감지</a:t>
                      </a: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Ground Bonding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핀교체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3/10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3/10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3/13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3/20 ~</a:t>
                      </a:r>
                      <a:endParaRPr lang="ko-KR" altLang="en-US" sz="900" kern="12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733353"/>
                  </a:ext>
                </a:extLst>
              </a:tr>
              <a:tr h="2458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Ground Bonding Cable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소손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5/4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5/4 ~</a:t>
                      </a:r>
                      <a:endParaRPr lang="ko-KR" altLang="en-US" sz="900" kern="12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045426"/>
                  </a:ext>
                </a:extLst>
              </a:tr>
              <a:tr h="2458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Leak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Test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실링 패드 마모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4/6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4/27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4/28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4/28 ~</a:t>
                      </a:r>
                      <a:endParaRPr lang="ko-KR" altLang="en-US" sz="900" kern="12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109585"/>
                  </a:ext>
                </a:extLst>
              </a:tr>
              <a:tr h="2458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DX) CMA Pallet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가압 이상 감지</a:t>
                      </a: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에어 공급 실린더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base"/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 연동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base"/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 연동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base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4/16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완료​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base"/>
                      <a:r>
                        <a:rPr 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4/16 ~</a:t>
                      </a:r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​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083272"/>
                  </a:ext>
                </a:extLst>
              </a:tr>
              <a:tr h="24581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Pallet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가압 블록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5/5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5/12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5/29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6/5 ~</a:t>
                      </a:r>
                      <a:endParaRPr lang="ko-KR" altLang="en-US" sz="900" kern="12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681748"/>
                  </a:ext>
                </a:extLst>
              </a:tr>
              <a:tr h="24581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BFA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보정량 이상 감지</a:t>
                      </a: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팝업 실린더 너트 풀림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4/22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4/27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5/5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5/5 ~</a:t>
                      </a:r>
                      <a:endParaRPr lang="ko-KR" altLang="en-US" sz="900" kern="12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718735"/>
                  </a:ext>
                </a:extLst>
              </a:tr>
              <a:tr h="3687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 렌즈 풀림</a:t>
                      </a:r>
                      <a:endParaRPr lang="en-US" altLang="ko-KR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타 체결 공정 확대 적용 검토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5/5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5/9 ~</a:t>
                      </a:r>
                      <a:endParaRPr lang="ko-KR" altLang="en-US" sz="900" kern="12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794634"/>
                  </a:ext>
                </a:extLst>
              </a:tr>
              <a:tr h="245810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체결기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피더기 </a:t>
                      </a:r>
                      <a:endParaRPr lang="en-US" altLang="ko-KR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 감지</a:t>
                      </a: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실린더 전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후진 동작 시간비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5/6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5/8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5/26 </a:t>
                      </a:r>
                      <a:r>
                        <a:rPr lang="ko-KR" altLang="en-US" sz="90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  <a:endParaRPr lang="ko-KR" altLang="en-US" sz="900" kern="12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6/5 ~</a:t>
                      </a:r>
                      <a:endParaRPr lang="ko-KR" altLang="en-US" sz="900" kern="120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275307"/>
                  </a:ext>
                </a:extLst>
              </a:tr>
              <a:tr h="2458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진공 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Pipe Leak/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오염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kern="120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작성 중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TBD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TBD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TBD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62067"/>
                  </a:ext>
                </a:extLst>
              </a:tr>
              <a:tr h="2458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Shooting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시간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kern="120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작성 중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TBD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TBD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TBD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600079"/>
                  </a:ext>
                </a:extLst>
              </a:tr>
              <a:tr h="24581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리드 용접 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Gap </a:t>
                      </a:r>
                    </a:p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 감지</a:t>
                      </a: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리드 벤딩툴 마모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 연동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 연동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5/9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6/12 ~ (</a:t>
                      </a:r>
                      <a:r>
                        <a:rPr lang="ko-KR" altLang="en-US" sz="900" kern="120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예정</a:t>
                      </a:r>
                      <a:r>
                        <a:rPr lang="en-US" altLang="ko-KR" sz="900" kern="120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841370"/>
                  </a:ext>
                </a:extLst>
              </a:tr>
              <a:tr h="2458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용접 가압량 최적화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5/22 </a:t>
                      </a:r>
                      <a:r>
                        <a:rPr lang="ko-KR" altLang="en-US" sz="90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6/22 ~ (</a:t>
                      </a:r>
                      <a:r>
                        <a:rPr lang="ko-KR" altLang="en-US" sz="900" kern="120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예정</a:t>
                      </a:r>
                      <a:r>
                        <a:rPr lang="en-US" altLang="ko-KR" sz="900" kern="120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818404"/>
                  </a:ext>
                </a:extLst>
              </a:tr>
              <a:tr h="3862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Conveyor AC</a:t>
                      </a:r>
                    </a:p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모터 이상 감지</a:t>
                      </a: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롤러 베어링 이상 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텐션 풀림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kern="120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작성 중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TBD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TBD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TBD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08124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F8D267A-FDC3-55F7-FC56-F37C64D64F1E}"/>
              </a:ext>
            </a:extLst>
          </p:cNvPr>
          <p:cNvSpPr txBox="1"/>
          <p:nvPr/>
        </p:nvSpPr>
        <p:spPr>
          <a:xfrm>
            <a:off x="149617" y="1128814"/>
            <a:ext cx="933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200" b="1" kern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진행 현황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929AF42-CD8C-C89F-5462-18AF923DD623}"/>
              </a:ext>
            </a:extLst>
          </p:cNvPr>
          <p:cNvGrpSpPr/>
          <p:nvPr/>
        </p:nvGrpSpPr>
        <p:grpSpPr>
          <a:xfrm>
            <a:off x="232571" y="1394846"/>
            <a:ext cx="1700630" cy="230832"/>
            <a:chOff x="6281577" y="360950"/>
            <a:chExt cx="1700630" cy="23083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B42B31A-577B-44DE-4083-2200F58910DF}"/>
                </a:ext>
              </a:extLst>
            </p:cNvPr>
            <p:cNvSpPr/>
            <p:nvPr/>
          </p:nvSpPr>
          <p:spPr>
            <a:xfrm>
              <a:off x="6281577" y="413000"/>
              <a:ext cx="487358" cy="134489"/>
            </a:xfrm>
            <a:prstGeom prst="rect">
              <a:avLst/>
            </a:prstGeom>
            <a:solidFill>
              <a:srgbClr val="FFFF99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4C44DC6-71F9-DE69-48C1-08E6A16513DE}"/>
                </a:ext>
              </a:extLst>
            </p:cNvPr>
            <p:cNvSpPr txBox="1"/>
            <p:nvPr/>
          </p:nvSpPr>
          <p:spPr>
            <a:xfrm>
              <a:off x="6720323" y="360950"/>
              <a:ext cx="126188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: 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출장 중 추가 진행 항목</a:t>
              </a:r>
            </a:p>
          </p:txBody>
        </p:sp>
      </p:grpSp>
      <p:sp>
        <p:nvSpPr>
          <p:cNvPr id="28" name="실행 단추: 앞으로 또는 다음으로 이동 27">
            <a:hlinkClick r:id="rId4" action="ppaction://hlinksldjump"/>
            <a:extLst>
              <a:ext uri="{FF2B5EF4-FFF2-40B4-BE49-F238E27FC236}">
                <a16:creationId xmlns:a16="http://schemas.microsoft.com/office/drawing/2014/main" id="{AB29B3CC-7445-F621-A55C-343837FC87D6}"/>
              </a:ext>
            </a:extLst>
          </p:cNvPr>
          <p:cNvSpPr/>
          <p:nvPr/>
        </p:nvSpPr>
        <p:spPr>
          <a:xfrm>
            <a:off x="912917" y="3996099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" name="실행 단추: 앞으로 또는 다음으로 이동 28">
            <a:hlinkClick r:id="rId5" action="ppaction://hlinksldjump"/>
            <a:extLst>
              <a:ext uri="{FF2B5EF4-FFF2-40B4-BE49-F238E27FC236}">
                <a16:creationId xmlns:a16="http://schemas.microsoft.com/office/drawing/2014/main" id="{494A98DE-3F82-D186-B198-B9F6183CD63A}"/>
              </a:ext>
            </a:extLst>
          </p:cNvPr>
          <p:cNvSpPr/>
          <p:nvPr/>
        </p:nvSpPr>
        <p:spPr>
          <a:xfrm>
            <a:off x="912917" y="2771963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" name="실행 단추: 앞으로 또는 다음으로 이동 29">
            <a:hlinkClick r:id="rId6" action="ppaction://hlinksldjump"/>
            <a:extLst>
              <a:ext uri="{FF2B5EF4-FFF2-40B4-BE49-F238E27FC236}">
                <a16:creationId xmlns:a16="http://schemas.microsoft.com/office/drawing/2014/main" id="{F34B6D85-D034-5A23-2C56-7C2945E26931}"/>
              </a:ext>
            </a:extLst>
          </p:cNvPr>
          <p:cNvSpPr/>
          <p:nvPr/>
        </p:nvSpPr>
        <p:spPr>
          <a:xfrm>
            <a:off x="912917" y="3515334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1" name="실행 단추: 앞으로 또는 다음으로 이동 30">
            <a:hlinkClick r:id="rId7" action="ppaction://hlinksldjump"/>
            <a:extLst>
              <a:ext uri="{FF2B5EF4-FFF2-40B4-BE49-F238E27FC236}">
                <a16:creationId xmlns:a16="http://schemas.microsoft.com/office/drawing/2014/main" id="{49E467AA-84EB-24C4-41D2-CD431AC28E30}"/>
              </a:ext>
            </a:extLst>
          </p:cNvPr>
          <p:cNvSpPr/>
          <p:nvPr/>
        </p:nvSpPr>
        <p:spPr>
          <a:xfrm>
            <a:off x="912917" y="4613096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2" name="실행 단추: 앞으로 또는 다음으로 이동 31">
            <a:hlinkClick r:id="rId8" action="ppaction://hlinksldjump"/>
            <a:extLst>
              <a:ext uri="{FF2B5EF4-FFF2-40B4-BE49-F238E27FC236}">
                <a16:creationId xmlns:a16="http://schemas.microsoft.com/office/drawing/2014/main" id="{2B6F10C7-A09D-4ED1-EE64-CAFD3F190D43}"/>
              </a:ext>
            </a:extLst>
          </p:cNvPr>
          <p:cNvSpPr/>
          <p:nvPr/>
        </p:nvSpPr>
        <p:spPr>
          <a:xfrm>
            <a:off x="912917" y="5362135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" name="실행 단추: 앞으로 또는 다음으로 이동 32">
            <a:hlinkClick r:id="rId9" action="ppaction://hlinksldjump"/>
            <a:extLst>
              <a:ext uri="{FF2B5EF4-FFF2-40B4-BE49-F238E27FC236}">
                <a16:creationId xmlns:a16="http://schemas.microsoft.com/office/drawing/2014/main" id="{5260E6FB-64BA-271B-13A1-D177D7379CA9}"/>
              </a:ext>
            </a:extLst>
          </p:cNvPr>
          <p:cNvSpPr/>
          <p:nvPr/>
        </p:nvSpPr>
        <p:spPr>
          <a:xfrm>
            <a:off x="912917" y="5841428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A50FB84-C851-4A30-A3F4-5FB5A8BF1B44}"/>
              </a:ext>
            </a:extLst>
          </p:cNvPr>
          <p:cNvSpPr/>
          <p:nvPr/>
        </p:nvSpPr>
        <p:spPr>
          <a:xfrm>
            <a:off x="2585989" y="5040939"/>
            <a:ext cx="2281166" cy="438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항목 검토 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BDB87C4-2694-21B9-C148-66DC2A67A9D2}"/>
              </a:ext>
            </a:extLst>
          </p:cNvPr>
          <p:cNvSpPr/>
          <p:nvPr/>
        </p:nvSpPr>
        <p:spPr>
          <a:xfrm>
            <a:off x="2585989" y="6003359"/>
            <a:ext cx="2281166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항목 검토 중</a:t>
            </a:r>
          </a:p>
        </p:txBody>
      </p:sp>
    </p:spTree>
    <p:extLst>
      <p:ext uri="{BB962C8B-B14F-4D97-AF65-F5344CB8AC3E}">
        <p14:creationId xmlns:p14="http://schemas.microsoft.com/office/powerpoint/2010/main" val="2458933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Metal Strap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Vision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보정량 이상감지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(1/2)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5892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Metal Strap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공정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위치 보정량 이상 발생 시 추론되는 원인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조치 유형을 분류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하였고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유사 조건 재현 테스트 진행하여</a:t>
            </a:r>
            <a:b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실제 데이터 변화 및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알람 발생 검증 진행함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2F4F5BB7-792B-1CEC-4EB9-B4C1CE30E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80744"/>
              </p:ext>
            </p:extLst>
          </p:nvPr>
        </p:nvGraphicFramePr>
        <p:xfrm>
          <a:off x="197521" y="1474373"/>
          <a:ext cx="7066561" cy="2484991"/>
        </p:xfrm>
        <a:graphic>
          <a:graphicData uri="http://schemas.openxmlformats.org/drawingml/2006/table">
            <a:tbl>
              <a:tblPr firstRow="1" bandRow="1"/>
              <a:tblGrid>
                <a:gridCol w="676480">
                  <a:extLst>
                    <a:ext uri="{9D8B030D-6E8A-4147-A177-3AD203B41FA5}">
                      <a16:colId xmlns:a16="http://schemas.microsoft.com/office/drawing/2014/main" val="2799450267"/>
                    </a:ext>
                  </a:extLst>
                </a:gridCol>
                <a:gridCol w="2130027">
                  <a:extLst>
                    <a:ext uri="{9D8B030D-6E8A-4147-A177-3AD203B41FA5}">
                      <a16:colId xmlns:a16="http://schemas.microsoft.com/office/drawing/2014/main" val="2500307903"/>
                    </a:ext>
                  </a:extLst>
                </a:gridCol>
                <a:gridCol w="2130027">
                  <a:extLst>
                    <a:ext uri="{9D8B030D-6E8A-4147-A177-3AD203B41FA5}">
                      <a16:colId xmlns:a16="http://schemas.microsoft.com/office/drawing/2014/main" val="2883024290"/>
                    </a:ext>
                  </a:extLst>
                </a:gridCol>
                <a:gridCol w="2130027">
                  <a:extLst>
                    <a:ext uri="{9D8B030D-6E8A-4147-A177-3AD203B41FA5}">
                      <a16:colId xmlns:a16="http://schemas.microsoft.com/office/drawing/2014/main" val="2588902532"/>
                    </a:ext>
                  </a:extLst>
                </a:gridCol>
              </a:tblGrid>
              <a:tr h="2337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Case 1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Case 2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Case 3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511977"/>
                  </a:ext>
                </a:extLst>
              </a:tr>
              <a:tr h="135994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kumimoji="0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 보정량</a:t>
                      </a:r>
                      <a:endParaRPr kumimoji="0" lang="en-US" altLang="ko-KR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ctr" latinLnBrk="1"/>
                      <a:r>
                        <a:rPr kumimoji="0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트렌드</a:t>
                      </a:r>
                      <a:endParaRPr kumimoji="0" lang="en-US" altLang="ko-KR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endParaRPr kumimoji="0" lang="ko-KR" altLang="en-US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lvl="0" indent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0000" marR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022248"/>
                  </a:ext>
                </a:extLst>
              </a:tr>
              <a:tr h="84660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lvl="0" indent="0" 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원인 </a:t>
                      </a:r>
                      <a:r>
                        <a:rPr kumimoji="0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</a:t>
                      </a:r>
                      <a:endParaRPr kumimoji="0" lang="en-US" altLang="ko-KR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원인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End Plate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부착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IP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틀어짐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End Plate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부착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IP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점검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수정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원인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비전 촬영 위치 변경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티칭값 변경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렌즈 틀어짐 등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마스터 모듈 기반 비전 촬영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 점검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원인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1: Pallet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위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언로딩 위치 틀어짐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1: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언로딩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TRF(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트랜스퍼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점검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원인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2: Start Lift(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팔레트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Lift)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레벨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틀어짐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2: Lift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레벨 점검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61377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D580E4AF-F98F-9398-4AFC-000777928C15}"/>
              </a:ext>
            </a:extLst>
          </p:cNvPr>
          <p:cNvSpPr txBox="1"/>
          <p:nvPr/>
        </p:nvSpPr>
        <p:spPr>
          <a:xfrm>
            <a:off x="1109345" y="2820252"/>
            <a:ext cx="17155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비전보정값</a:t>
            </a:r>
            <a:r>
              <a:rPr lang="en-US" altLang="ko-KR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 Y1·Y3 or</a:t>
            </a:r>
            <a:r>
              <a:rPr lang="ko-KR" altLang="en-US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Y2·Y4 </a:t>
            </a:r>
            <a:r>
              <a:rPr lang="ko-KR" altLang="en-US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편차 증가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DBF6200-B594-F78F-8693-FE17A7382B73}"/>
              </a:ext>
            </a:extLst>
          </p:cNvPr>
          <p:cNvSpPr txBox="1"/>
          <p:nvPr/>
        </p:nvSpPr>
        <p:spPr>
          <a:xfrm>
            <a:off x="6041791" y="1282168"/>
            <a:ext cx="13244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X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축 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: 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시간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, Y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축 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: 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보정량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(mm)</a:t>
            </a:r>
            <a:endParaRPr lang="ko-KR" altLang="en-US" sz="800" dirty="0">
              <a:solidFill>
                <a:srgbClr val="006600"/>
              </a:solidFill>
              <a:latin typeface="Arial Narrow"/>
              <a:ea typeface="LG스마트체 Regular"/>
            </a:endParaRP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81A025F-500A-C42E-F429-4D70132D3304}"/>
              </a:ext>
            </a:extLst>
          </p:cNvPr>
          <p:cNvGrpSpPr/>
          <p:nvPr/>
        </p:nvGrpSpPr>
        <p:grpSpPr>
          <a:xfrm>
            <a:off x="1017106" y="1796167"/>
            <a:ext cx="1807773" cy="1024085"/>
            <a:chOff x="7949848" y="1454659"/>
            <a:chExt cx="1807773" cy="1024085"/>
          </a:xfrm>
        </p:grpSpPr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756D4A8E-7C72-F49D-6224-82637F7C27EA}"/>
                </a:ext>
              </a:extLst>
            </p:cNvPr>
            <p:cNvGrpSpPr/>
            <p:nvPr/>
          </p:nvGrpSpPr>
          <p:grpSpPr>
            <a:xfrm>
              <a:off x="7949848" y="1454659"/>
              <a:ext cx="1807773" cy="1024085"/>
              <a:chOff x="7972655" y="2884398"/>
              <a:chExt cx="1807773" cy="1024085"/>
            </a:xfrm>
          </p:grpSpPr>
          <p:pic>
            <p:nvPicPr>
              <p:cNvPr id="112" name="그림 111">
                <a:extLst>
                  <a:ext uri="{FF2B5EF4-FFF2-40B4-BE49-F238E27FC236}">
                    <a16:creationId xmlns:a16="http://schemas.microsoft.com/office/drawing/2014/main" id="{599443BC-28BB-1FDF-63E8-FB94C4A942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72655" y="2884398"/>
                <a:ext cx="1807773" cy="1024085"/>
              </a:xfrm>
              <a:prstGeom prst="rect">
                <a:avLst/>
              </a:prstGeom>
            </p:spPr>
          </p:pic>
          <p:sp>
            <p:nvSpPr>
              <p:cNvPr id="113" name="화살표: 위쪽/아래쪽 112">
                <a:extLst>
                  <a:ext uri="{FF2B5EF4-FFF2-40B4-BE49-F238E27FC236}">
                    <a16:creationId xmlns:a16="http://schemas.microsoft.com/office/drawing/2014/main" id="{B12E8D82-DF61-A862-8771-6CBF7C2483E5}"/>
                  </a:ext>
                </a:extLst>
              </p:cNvPr>
              <p:cNvSpPr/>
              <p:nvPr/>
            </p:nvSpPr>
            <p:spPr>
              <a:xfrm>
                <a:off x="8818255" y="3203269"/>
                <a:ext cx="168609" cy="253474"/>
              </a:xfrm>
              <a:prstGeom prst="upDownArrow">
                <a:avLst/>
              </a:prstGeom>
              <a:solidFill>
                <a:srgbClr val="FFFF00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200" latinLnBrk="0">
                  <a:defRPr/>
                </a:pPr>
                <a:endParaRPr lang="ko-KR" altLang="en-US" kern="0" dirty="0">
                  <a:solidFill>
                    <a:prstClr val="white"/>
                  </a:solidFill>
                  <a:latin typeface="Arial Narrow"/>
                  <a:ea typeface="LG스마트체 Regular"/>
                </a:endParaRPr>
              </a:p>
            </p:txBody>
          </p:sp>
        </p:grp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F6D8AFB-B8B3-0CFC-218D-C7E3FCEFDF60}"/>
                </a:ext>
              </a:extLst>
            </p:cNvPr>
            <p:cNvSpPr txBox="1"/>
            <p:nvPr/>
          </p:nvSpPr>
          <p:spPr>
            <a:xfrm>
              <a:off x="9371463" y="1456307"/>
              <a:ext cx="3593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defRPr/>
              </a:pPr>
              <a:r>
                <a:rPr lang="ko-KR" altLang="en-US" sz="700" b="1" kern="0" dirty="0">
                  <a:solidFill>
                    <a:srgbClr val="FF7E0B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●</a:t>
              </a:r>
              <a:r>
                <a:rPr lang="en-US" altLang="ko-KR" sz="700" b="1" kern="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Y1</a:t>
              </a:r>
            </a:p>
            <a:p>
              <a:pPr defTabSz="457200" latinLnBrk="0">
                <a:defRPr/>
              </a:pPr>
              <a:r>
                <a:rPr lang="ko-KR" altLang="en-US" sz="700" b="1" kern="0" dirty="0">
                  <a:solidFill>
                    <a:srgbClr val="D62525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●</a:t>
              </a:r>
              <a:r>
                <a:rPr lang="en-US" altLang="ko-KR" sz="700" b="1" kern="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Y3</a:t>
              </a:r>
              <a:endParaRPr lang="ko-KR" altLang="en-US" sz="700" b="1" kern="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9B3965FB-36AB-D2E5-AE25-14FD63C8B2B1}"/>
              </a:ext>
            </a:extLst>
          </p:cNvPr>
          <p:cNvGrpSpPr/>
          <p:nvPr/>
        </p:nvGrpSpPr>
        <p:grpSpPr>
          <a:xfrm>
            <a:off x="3159494" y="1824442"/>
            <a:ext cx="1788268" cy="965260"/>
            <a:chOff x="7965939" y="2788455"/>
            <a:chExt cx="1788268" cy="965260"/>
          </a:xfrm>
        </p:grpSpPr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10012EA2-E3DB-B64C-86D8-D5C4D2D91698}"/>
                </a:ext>
              </a:extLst>
            </p:cNvPr>
            <p:cNvGrpSpPr/>
            <p:nvPr/>
          </p:nvGrpSpPr>
          <p:grpSpPr>
            <a:xfrm>
              <a:off x="7965939" y="2802402"/>
              <a:ext cx="1754195" cy="951313"/>
              <a:chOff x="7957741" y="1604459"/>
              <a:chExt cx="1754195" cy="953881"/>
            </a:xfrm>
          </p:grpSpPr>
          <p:pic>
            <p:nvPicPr>
              <p:cNvPr id="117" name="그림 116">
                <a:extLst>
                  <a:ext uri="{FF2B5EF4-FFF2-40B4-BE49-F238E27FC236}">
                    <a16:creationId xmlns:a16="http://schemas.microsoft.com/office/drawing/2014/main" id="{A7846566-4E83-BAFB-783A-3CC73BD8FB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3848"/>
              <a:stretch/>
            </p:blipFill>
            <p:spPr>
              <a:xfrm>
                <a:off x="7957741" y="1604459"/>
                <a:ext cx="1754195" cy="953881"/>
              </a:xfrm>
              <a:prstGeom prst="rect">
                <a:avLst/>
              </a:prstGeom>
            </p:spPr>
          </p:pic>
          <p:sp>
            <p:nvSpPr>
              <p:cNvPr id="118" name="화살표: 위쪽/아래쪽 117">
                <a:extLst>
                  <a:ext uri="{FF2B5EF4-FFF2-40B4-BE49-F238E27FC236}">
                    <a16:creationId xmlns:a16="http://schemas.microsoft.com/office/drawing/2014/main" id="{7AB2BE36-7423-513F-E5BB-BF12753D332D}"/>
                  </a:ext>
                </a:extLst>
              </p:cNvPr>
              <p:cNvSpPr/>
              <p:nvPr/>
            </p:nvSpPr>
            <p:spPr>
              <a:xfrm>
                <a:off x="8818256" y="1918226"/>
                <a:ext cx="168609" cy="253474"/>
              </a:xfrm>
              <a:prstGeom prst="upDownArrow">
                <a:avLst/>
              </a:prstGeom>
              <a:solidFill>
                <a:srgbClr val="FFFF00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200" latinLnBrk="0">
                  <a:defRPr/>
                </a:pPr>
                <a:endParaRPr lang="ko-KR" altLang="en-US" kern="0" dirty="0">
                  <a:solidFill>
                    <a:prstClr val="white"/>
                  </a:solidFill>
                  <a:latin typeface="Arial Narrow"/>
                  <a:ea typeface="LG스마트체 Regular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5DDB731-B1FB-0427-8B80-0956865D7285}"/>
                </a:ext>
              </a:extLst>
            </p:cNvPr>
            <p:cNvSpPr txBox="1"/>
            <p:nvPr/>
          </p:nvSpPr>
          <p:spPr>
            <a:xfrm>
              <a:off x="9396417" y="2788455"/>
              <a:ext cx="3577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defRPr/>
              </a:pPr>
              <a:r>
                <a:rPr lang="ko-KR" altLang="en-US" sz="700" b="1" kern="0" dirty="0">
                  <a:solidFill>
                    <a:srgbClr val="D62525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●</a:t>
              </a:r>
              <a:r>
                <a:rPr lang="en-US" altLang="ko-KR" sz="700" b="1" kern="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Y3</a:t>
              </a:r>
              <a:endParaRPr lang="ko-KR" altLang="en-US" sz="700" b="1" kern="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endParaRPr>
            </a:p>
            <a:p>
              <a:pPr defTabSz="457200" latinLnBrk="0">
                <a:defRPr/>
              </a:pPr>
              <a:r>
                <a:rPr lang="ko-KR" altLang="en-US" sz="700" b="1" kern="0" dirty="0">
                  <a:solidFill>
                    <a:srgbClr val="8D6BBD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●</a:t>
              </a:r>
              <a:r>
                <a:rPr lang="en-US" altLang="ko-KR" sz="700" b="1" kern="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Y4</a:t>
              </a:r>
              <a:endParaRPr lang="ko-KR" altLang="en-US" sz="700" b="1" kern="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endParaRP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689EBAED-23AD-BE67-D880-CB2DA2A21A0F}"/>
              </a:ext>
            </a:extLst>
          </p:cNvPr>
          <p:cNvGrpSpPr/>
          <p:nvPr/>
        </p:nvGrpSpPr>
        <p:grpSpPr>
          <a:xfrm>
            <a:off x="5282378" y="1799762"/>
            <a:ext cx="1805775" cy="1023963"/>
            <a:chOff x="7949849" y="5231363"/>
            <a:chExt cx="1805775" cy="1023963"/>
          </a:xfrm>
        </p:grpSpPr>
        <p:pic>
          <p:nvPicPr>
            <p:cNvPr id="120" name="그림 119">
              <a:extLst>
                <a:ext uri="{FF2B5EF4-FFF2-40B4-BE49-F238E27FC236}">
                  <a16:creationId xmlns:a16="http://schemas.microsoft.com/office/drawing/2014/main" id="{E002216C-8C36-733A-E12B-11BBFE13C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49849" y="5246614"/>
              <a:ext cx="1805775" cy="1008712"/>
            </a:xfrm>
            <a:prstGeom prst="rect">
              <a:avLst/>
            </a:prstGeom>
          </p:spPr>
        </p:pic>
        <p:sp>
          <p:nvSpPr>
            <p:cNvPr id="121" name="화살표: 오른쪽 120">
              <a:extLst>
                <a:ext uri="{FF2B5EF4-FFF2-40B4-BE49-F238E27FC236}">
                  <a16:creationId xmlns:a16="http://schemas.microsoft.com/office/drawing/2014/main" id="{B7FCDAC0-1366-9C8E-F01C-A92B8C9C91FF}"/>
                </a:ext>
              </a:extLst>
            </p:cNvPr>
            <p:cNvSpPr/>
            <p:nvPr/>
          </p:nvSpPr>
          <p:spPr>
            <a:xfrm rot="21194299">
              <a:off x="8553555" y="5650212"/>
              <a:ext cx="644435" cy="132662"/>
            </a:xfrm>
            <a:prstGeom prst="rightArrow">
              <a:avLst/>
            </a:prstGeom>
            <a:solidFill>
              <a:srgbClr val="FFFF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kern="0" dirty="0">
                <a:solidFill>
                  <a:prstClr val="white"/>
                </a:solidFill>
                <a:latin typeface="Arial Narrow"/>
                <a:ea typeface="LG스마트체 Regular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75B65FE0-6623-FEE9-70B3-833B27D58DEF}"/>
                </a:ext>
              </a:extLst>
            </p:cNvPr>
            <p:cNvSpPr txBox="1"/>
            <p:nvPr/>
          </p:nvSpPr>
          <p:spPr>
            <a:xfrm>
              <a:off x="9371463" y="5231363"/>
              <a:ext cx="3577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defRPr/>
              </a:pPr>
              <a:r>
                <a:rPr lang="ko-KR" altLang="en-US" sz="700" b="1" kern="0" dirty="0">
                  <a:solidFill>
                    <a:srgbClr val="FF7E0B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●</a:t>
              </a:r>
              <a:r>
                <a:rPr lang="en-US" altLang="ko-KR" sz="700" b="1" kern="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Y1</a:t>
              </a:r>
            </a:p>
            <a:p>
              <a:pPr defTabSz="457200" latinLnBrk="0">
                <a:defRPr/>
              </a:pPr>
              <a:r>
                <a:rPr lang="ko-KR" altLang="en-US" sz="700" b="1" kern="0" dirty="0">
                  <a:solidFill>
                    <a:srgbClr val="2B9F2B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●</a:t>
              </a:r>
              <a:r>
                <a:rPr lang="en-US" altLang="ko-KR" sz="700" b="1" kern="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Y2</a:t>
              </a:r>
            </a:p>
            <a:p>
              <a:pPr defTabSz="457200" latinLnBrk="0">
                <a:defRPr/>
              </a:pPr>
              <a:r>
                <a:rPr lang="ko-KR" altLang="en-US" sz="700" b="1" kern="0" dirty="0">
                  <a:solidFill>
                    <a:srgbClr val="D62525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●</a:t>
              </a:r>
              <a:r>
                <a:rPr lang="en-US" altLang="ko-KR" sz="700" b="1" kern="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Y3</a:t>
              </a:r>
              <a:endParaRPr lang="ko-KR" altLang="en-US" sz="700" b="1" kern="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endParaRPr>
            </a:p>
            <a:p>
              <a:pPr defTabSz="457200" latinLnBrk="0">
                <a:defRPr/>
              </a:pPr>
              <a:r>
                <a:rPr lang="ko-KR" altLang="en-US" sz="700" b="1" kern="0" dirty="0">
                  <a:solidFill>
                    <a:srgbClr val="8D6BBD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●</a:t>
              </a:r>
              <a:r>
                <a:rPr lang="en-US" altLang="ko-KR" sz="700" b="1" kern="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Y4</a:t>
              </a:r>
              <a:endParaRPr lang="ko-KR" altLang="en-US" sz="700" b="1" kern="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endParaRP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612E67D9-90FB-1E62-4B58-EFB08EC00E38}"/>
              </a:ext>
            </a:extLst>
          </p:cNvPr>
          <p:cNvSpPr txBox="1"/>
          <p:nvPr/>
        </p:nvSpPr>
        <p:spPr>
          <a:xfrm>
            <a:off x="5230516" y="2818150"/>
            <a:ext cx="19575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비전보정값</a:t>
            </a:r>
            <a:r>
              <a:rPr lang="en-US" altLang="ko-KR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 Y1·Y2·Y3·Y4</a:t>
            </a:r>
            <a:r>
              <a:rPr lang="ko-KR" altLang="en-US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 점진적 증가 </a:t>
            </a:r>
            <a:r>
              <a:rPr lang="en-US" altLang="ko-KR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or </a:t>
            </a:r>
            <a:r>
              <a:rPr lang="ko-KR" altLang="en-US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감소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2861939-260A-D72E-A528-24BD65EEC405}"/>
              </a:ext>
            </a:extLst>
          </p:cNvPr>
          <p:cNvSpPr txBox="1"/>
          <p:nvPr/>
        </p:nvSpPr>
        <p:spPr>
          <a:xfrm>
            <a:off x="3246546" y="2820252"/>
            <a:ext cx="17155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비전보정값</a:t>
            </a:r>
            <a:r>
              <a:rPr lang="en-US" altLang="ko-KR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 Y1·Y2 or</a:t>
            </a:r>
            <a:r>
              <a:rPr lang="ko-KR" altLang="en-US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Y3·Y4 </a:t>
            </a:r>
            <a:r>
              <a:rPr lang="ko-KR" altLang="en-US" sz="800" b="1" dirty="0">
                <a:solidFill>
                  <a:srgbClr val="0000FF"/>
                </a:solidFill>
                <a:latin typeface="Arial Narrow"/>
                <a:ea typeface="LG스마트체 Regular"/>
              </a:rPr>
              <a:t>편차 증가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D5FD6A1-2A21-E146-6B31-24E53CF1340A}"/>
              </a:ext>
            </a:extLst>
          </p:cNvPr>
          <p:cNvSpPr txBox="1"/>
          <p:nvPr/>
        </p:nvSpPr>
        <p:spPr>
          <a:xfrm>
            <a:off x="7762409" y="1456595"/>
            <a:ext cx="16385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[ Metal Strap </a:t>
            </a: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체결 비전 위치 </a:t>
            </a:r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  <a:endParaRPr lang="ko-KR" altLang="en-US" sz="10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79484F3A-9FD0-8671-94D5-D3781481FB77}"/>
              </a:ext>
            </a:extLst>
          </p:cNvPr>
          <p:cNvGrpSpPr/>
          <p:nvPr/>
        </p:nvGrpSpPr>
        <p:grpSpPr>
          <a:xfrm>
            <a:off x="7198907" y="1785699"/>
            <a:ext cx="2768127" cy="2237184"/>
            <a:chOff x="7200122" y="1766263"/>
            <a:chExt cx="2768127" cy="2237184"/>
          </a:xfrm>
        </p:grpSpPr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96D6E244-F913-A416-F2EB-072574A7A344}"/>
                </a:ext>
              </a:extLst>
            </p:cNvPr>
            <p:cNvGrpSpPr/>
            <p:nvPr/>
          </p:nvGrpSpPr>
          <p:grpSpPr>
            <a:xfrm>
              <a:off x="7225204" y="1766263"/>
              <a:ext cx="2743045" cy="1799643"/>
              <a:chOff x="693596" y="2743200"/>
              <a:chExt cx="3136195" cy="1607379"/>
            </a:xfrm>
          </p:grpSpPr>
          <p:pic>
            <p:nvPicPr>
              <p:cNvPr id="132" name="Picture 2">
                <a:extLst>
                  <a:ext uri="{FF2B5EF4-FFF2-40B4-BE49-F238E27FC236}">
                    <a16:creationId xmlns:a16="http://schemas.microsoft.com/office/drawing/2014/main" id="{F5B08CF5-0066-9D4C-14AE-E4EF2D39CF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266" t="12507" r="8281" b="22045"/>
              <a:stretch/>
            </p:blipFill>
            <p:spPr bwMode="auto">
              <a:xfrm rot="16200000">
                <a:off x="1463999" y="2424586"/>
                <a:ext cx="1607379" cy="22446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593BDBF-ED2F-71A0-F9A8-F10033EB1107}"/>
                  </a:ext>
                </a:extLst>
              </p:cNvPr>
              <p:cNvSpPr txBox="1"/>
              <p:nvPr/>
            </p:nvSpPr>
            <p:spPr>
              <a:xfrm>
                <a:off x="697475" y="3780511"/>
                <a:ext cx="365085" cy="226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Y1</a:t>
                </a:r>
                <a:endPara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370A653D-F867-4409-B436-F2F3B68D5727}"/>
                  </a:ext>
                </a:extLst>
              </p:cNvPr>
              <p:cNvSpPr txBox="1"/>
              <p:nvPr/>
            </p:nvSpPr>
            <p:spPr>
              <a:xfrm>
                <a:off x="693596" y="3030794"/>
                <a:ext cx="365085" cy="226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50" b="1" kern="0" dirty="0">
                    <a:solidFill>
                      <a:srgbClr val="FF0000"/>
                    </a:solidFill>
                    <a:latin typeface="Arial Narrow"/>
                    <a:ea typeface="LG스마트체 Regular"/>
                  </a:rPr>
                  <a:t>Y2</a:t>
                </a:r>
                <a:endPara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E19366A0-CED8-BA8F-A730-EB5801C7622A}"/>
                  </a:ext>
                </a:extLst>
              </p:cNvPr>
              <p:cNvSpPr txBox="1"/>
              <p:nvPr/>
            </p:nvSpPr>
            <p:spPr>
              <a:xfrm>
                <a:off x="3464701" y="3776604"/>
                <a:ext cx="365085" cy="226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50" b="1" kern="0" dirty="0">
                    <a:solidFill>
                      <a:srgbClr val="FF0000"/>
                    </a:solidFill>
                    <a:latin typeface="Arial Narrow"/>
                    <a:ea typeface="LG스마트체 Regular"/>
                  </a:rPr>
                  <a:t>Y3</a:t>
                </a:r>
                <a:endPara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E5A0CE00-BC6A-34B3-9A0E-BF6D92E3A38B}"/>
                  </a:ext>
                </a:extLst>
              </p:cNvPr>
              <p:cNvSpPr txBox="1"/>
              <p:nvPr/>
            </p:nvSpPr>
            <p:spPr>
              <a:xfrm>
                <a:off x="3464706" y="3046310"/>
                <a:ext cx="365085" cy="226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50" b="1" kern="0" dirty="0">
                    <a:solidFill>
                      <a:srgbClr val="FF0000"/>
                    </a:solidFill>
                    <a:latin typeface="Arial Narrow"/>
                    <a:ea typeface="LG스마트체 Regular"/>
                  </a:rPr>
                  <a:t>Y4</a:t>
                </a:r>
                <a:endPara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37" name="왼쪽 중괄호 136">
                <a:extLst>
                  <a:ext uri="{FF2B5EF4-FFF2-40B4-BE49-F238E27FC236}">
                    <a16:creationId xmlns:a16="http://schemas.microsoft.com/office/drawing/2014/main" id="{8D5F651F-9F14-F4C3-8616-E9C3E0920C78}"/>
                  </a:ext>
                </a:extLst>
              </p:cNvPr>
              <p:cNvSpPr/>
              <p:nvPr/>
            </p:nvSpPr>
            <p:spPr>
              <a:xfrm>
                <a:off x="998788" y="2978528"/>
                <a:ext cx="107844" cy="343458"/>
              </a:xfrm>
              <a:prstGeom prst="leftBrace">
                <a:avLst>
                  <a:gd name="adj1" fmla="val 26150"/>
                  <a:gd name="adj2" fmla="val 50000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38" name="왼쪽 중괄호 137">
                <a:extLst>
                  <a:ext uri="{FF2B5EF4-FFF2-40B4-BE49-F238E27FC236}">
                    <a16:creationId xmlns:a16="http://schemas.microsoft.com/office/drawing/2014/main" id="{0BD780B4-94F1-2ABF-3B9B-A2B443D3DD0C}"/>
                  </a:ext>
                </a:extLst>
              </p:cNvPr>
              <p:cNvSpPr/>
              <p:nvPr/>
            </p:nvSpPr>
            <p:spPr>
              <a:xfrm>
                <a:off x="998787" y="3708763"/>
                <a:ext cx="107844" cy="382223"/>
              </a:xfrm>
              <a:prstGeom prst="leftBrace">
                <a:avLst>
                  <a:gd name="adj1" fmla="val 26150"/>
                  <a:gd name="adj2" fmla="val 50000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39" name="왼쪽 중괄호 138">
                <a:extLst>
                  <a:ext uri="{FF2B5EF4-FFF2-40B4-BE49-F238E27FC236}">
                    <a16:creationId xmlns:a16="http://schemas.microsoft.com/office/drawing/2014/main" id="{826B532A-1DC7-6C00-E93E-43303C9B82E1}"/>
                  </a:ext>
                </a:extLst>
              </p:cNvPr>
              <p:cNvSpPr/>
              <p:nvPr/>
            </p:nvSpPr>
            <p:spPr>
              <a:xfrm flipH="1">
                <a:off x="3421960" y="2995492"/>
                <a:ext cx="107842" cy="343458"/>
              </a:xfrm>
              <a:prstGeom prst="leftBrace">
                <a:avLst>
                  <a:gd name="adj1" fmla="val 26150"/>
                  <a:gd name="adj2" fmla="val 50000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40" name="왼쪽 중괄호 139">
                <a:extLst>
                  <a:ext uri="{FF2B5EF4-FFF2-40B4-BE49-F238E27FC236}">
                    <a16:creationId xmlns:a16="http://schemas.microsoft.com/office/drawing/2014/main" id="{99B63A95-25CA-727E-7370-19F3AAC235CD}"/>
                  </a:ext>
                </a:extLst>
              </p:cNvPr>
              <p:cNvSpPr/>
              <p:nvPr/>
            </p:nvSpPr>
            <p:spPr>
              <a:xfrm flipH="1">
                <a:off x="3421960" y="3699398"/>
                <a:ext cx="107842" cy="382223"/>
              </a:xfrm>
              <a:prstGeom prst="leftBrace">
                <a:avLst>
                  <a:gd name="adj1" fmla="val 26150"/>
                  <a:gd name="adj2" fmla="val 50000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</p:grpSp>
        <p:cxnSp>
          <p:nvCxnSpPr>
            <p:cNvPr id="128" name="직선 화살표 연결선 127">
              <a:extLst>
                <a:ext uri="{FF2B5EF4-FFF2-40B4-BE49-F238E27FC236}">
                  <a16:creationId xmlns:a16="http://schemas.microsoft.com/office/drawing/2014/main" id="{BA7B36D9-BAD6-AF21-2E83-69A59FB9E4A7}"/>
                </a:ext>
              </a:extLst>
            </p:cNvPr>
            <p:cNvCxnSpPr>
              <a:cxnSpLocks/>
            </p:cNvCxnSpPr>
            <p:nvPr/>
          </p:nvCxnSpPr>
          <p:spPr>
            <a:xfrm>
              <a:off x="7485582" y="3771900"/>
              <a:ext cx="410999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  <p:cxnSp>
          <p:nvCxnSpPr>
            <p:cNvPr id="129" name="직선 화살표 연결선 128">
              <a:extLst>
                <a:ext uri="{FF2B5EF4-FFF2-40B4-BE49-F238E27FC236}">
                  <a16:creationId xmlns:a16="http://schemas.microsoft.com/office/drawing/2014/main" id="{A0CA5D54-E99C-2E97-2A0E-8298C3EED0A5}"/>
                </a:ext>
              </a:extLst>
            </p:cNvPr>
            <p:cNvCxnSpPr/>
            <p:nvPr/>
          </p:nvCxnSpPr>
          <p:spPr>
            <a:xfrm flipV="1">
              <a:off x="7485582" y="3381375"/>
              <a:ext cx="0" cy="390525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5C918A1B-44AF-5B2D-C009-11E86B331E38}"/>
                </a:ext>
              </a:extLst>
            </p:cNvPr>
            <p:cNvSpPr txBox="1"/>
            <p:nvPr/>
          </p:nvSpPr>
          <p:spPr>
            <a:xfrm>
              <a:off x="7523453" y="3788003"/>
              <a:ext cx="33214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X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축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A0BDB69-B884-1730-E67A-5145BAA94DDE}"/>
                </a:ext>
              </a:extLst>
            </p:cNvPr>
            <p:cNvSpPr txBox="1"/>
            <p:nvPr/>
          </p:nvSpPr>
          <p:spPr>
            <a:xfrm>
              <a:off x="7200122" y="3502919"/>
              <a:ext cx="33214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Y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축</a:t>
              </a:r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15B9498B-4ED6-8382-3E5E-2579EF94FC61}"/>
              </a:ext>
            </a:extLst>
          </p:cNvPr>
          <p:cNvSpPr txBox="1"/>
          <p:nvPr/>
        </p:nvSpPr>
        <p:spPr>
          <a:xfrm>
            <a:off x="166668" y="1178822"/>
            <a:ext cx="933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유형 분류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61D888A-EF8E-CF2C-009A-180C4A9C7F86}"/>
              </a:ext>
            </a:extLst>
          </p:cNvPr>
          <p:cNvSpPr txBox="1"/>
          <p:nvPr/>
        </p:nvSpPr>
        <p:spPr>
          <a:xfrm>
            <a:off x="166667" y="3981402"/>
            <a:ext cx="21210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데이터 검증</a:t>
            </a:r>
            <a:r>
              <a:rPr lang="ko-KR" altLang="en-US" sz="1050" b="1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050" b="1" dirty="0">
                <a:solidFill>
                  <a:prstClr val="black"/>
                </a:solidFill>
                <a:latin typeface="Arial Narrow"/>
                <a:ea typeface="LG스마트체 Regular"/>
              </a:rPr>
              <a:t>(Case1,</a:t>
            </a:r>
            <a:r>
              <a:rPr lang="ko-KR" altLang="en-US" sz="1050" b="1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050" b="1" dirty="0">
                <a:solidFill>
                  <a:prstClr val="black"/>
                </a:solidFill>
                <a:latin typeface="Arial Narrow"/>
                <a:ea typeface="LG스마트체 Regular"/>
              </a:rPr>
              <a:t>E/P </a:t>
            </a:r>
            <a:r>
              <a:rPr lang="ko-KR" altLang="en-US" sz="1050" b="1" dirty="0">
                <a:solidFill>
                  <a:prstClr val="black"/>
                </a:solidFill>
                <a:latin typeface="Arial Narrow"/>
                <a:ea typeface="LG스마트체 Regular"/>
              </a:rPr>
              <a:t>틀어짐</a:t>
            </a:r>
            <a:r>
              <a:rPr lang="en-US" altLang="ko-KR" sz="1050" b="1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endParaRPr lang="ko-KR" altLang="en-US" sz="105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1CE4B19E-2F7E-B713-36BA-8866C3ECDB56}"/>
              </a:ext>
            </a:extLst>
          </p:cNvPr>
          <p:cNvGrpSpPr/>
          <p:nvPr/>
        </p:nvGrpSpPr>
        <p:grpSpPr>
          <a:xfrm>
            <a:off x="188157" y="5570484"/>
            <a:ext cx="2233143" cy="1104648"/>
            <a:chOff x="2900003" y="4813000"/>
            <a:chExt cx="3195472" cy="1580673"/>
          </a:xfrm>
        </p:grpSpPr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4C094E75-13D9-67C4-81A7-97318160695B}"/>
                </a:ext>
              </a:extLst>
            </p:cNvPr>
            <p:cNvGrpSpPr/>
            <p:nvPr/>
          </p:nvGrpSpPr>
          <p:grpSpPr>
            <a:xfrm>
              <a:off x="2900003" y="4813000"/>
              <a:ext cx="3195472" cy="1179750"/>
              <a:chOff x="2796871" y="2192596"/>
              <a:chExt cx="2540841" cy="938064"/>
            </a:xfrm>
          </p:grpSpPr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C5F89F64-8C7B-727C-A584-6070B9759532}"/>
                  </a:ext>
                </a:extLst>
              </p:cNvPr>
              <p:cNvGrpSpPr/>
              <p:nvPr/>
            </p:nvGrpSpPr>
            <p:grpSpPr>
              <a:xfrm>
                <a:off x="2796871" y="2192596"/>
                <a:ext cx="1272475" cy="938062"/>
                <a:chOff x="2796871" y="2192596"/>
                <a:chExt cx="2034506" cy="1499827"/>
              </a:xfrm>
            </p:grpSpPr>
            <p:pic>
              <p:nvPicPr>
                <p:cNvPr id="150" name="Picture 8">
                  <a:extLst>
                    <a:ext uri="{FF2B5EF4-FFF2-40B4-BE49-F238E27FC236}">
                      <a16:creationId xmlns:a16="http://schemas.microsoft.com/office/drawing/2014/main" id="{32C16A8A-2A15-DC7F-E618-F1F8D026923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1807" b="32920"/>
                <a:stretch/>
              </p:blipFill>
              <p:spPr bwMode="auto">
                <a:xfrm>
                  <a:off x="2796871" y="2192596"/>
                  <a:ext cx="2034506" cy="149982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1A879F01-042B-100D-9892-3A047DAEC650}"/>
                    </a:ext>
                  </a:extLst>
                </p:cNvPr>
                <p:cNvSpPr txBox="1"/>
                <p:nvPr/>
              </p:nvSpPr>
              <p:spPr>
                <a:xfrm>
                  <a:off x="3445452" y="3260720"/>
                  <a:ext cx="822929" cy="3639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defTabSz="457200" latinLnBrk="0"/>
                  <a:r>
                    <a:rPr lang="en-US" altLang="ko-KR" sz="700" dirty="0">
                      <a:solidFill>
                        <a:srgbClr val="FF0000"/>
                      </a:solidFill>
                      <a:highlight>
                        <a:srgbClr val="FFFFFF"/>
                      </a:highlight>
                      <a:latin typeface="Arial Narrow"/>
                      <a:ea typeface="LG스마트체 Regular"/>
                    </a:rPr>
                    <a:t>7.28mm</a:t>
                  </a:r>
                </a:p>
              </p:txBody>
            </p:sp>
          </p:grpSp>
          <p:grpSp>
            <p:nvGrpSpPr>
              <p:cNvPr id="147" name="그룹 146">
                <a:extLst>
                  <a:ext uri="{FF2B5EF4-FFF2-40B4-BE49-F238E27FC236}">
                    <a16:creationId xmlns:a16="http://schemas.microsoft.com/office/drawing/2014/main" id="{352CEC3A-ACB1-4681-F45D-461F0D5C996D}"/>
                  </a:ext>
                </a:extLst>
              </p:cNvPr>
              <p:cNvGrpSpPr/>
              <p:nvPr/>
            </p:nvGrpSpPr>
            <p:grpSpPr>
              <a:xfrm>
                <a:off x="4172928" y="2199382"/>
                <a:ext cx="1164784" cy="931278"/>
                <a:chOff x="6850190" y="886943"/>
                <a:chExt cx="1547616" cy="1237364"/>
              </a:xfrm>
            </p:grpSpPr>
            <p:pic>
              <p:nvPicPr>
                <p:cNvPr id="148" name="Picture 10">
                  <a:extLst>
                    <a:ext uri="{FF2B5EF4-FFF2-40B4-BE49-F238E27FC236}">
                      <a16:creationId xmlns:a16="http://schemas.microsoft.com/office/drawing/2014/main" id="{9B8987D1-0D6C-CF76-9239-1F5EC77BBBE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438" t="14975" b="29521"/>
                <a:stretch/>
              </p:blipFill>
              <p:spPr bwMode="auto">
                <a:xfrm>
                  <a:off x="6850190" y="886943"/>
                  <a:ext cx="1547616" cy="123736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92E2AD7F-32E0-26F7-B47B-F5A8ACFB6D54}"/>
                    </a:ext>
                  </a:extLst>
                </p:cNvPr>
                <p:cNvSpPr txBox="1"/>
                <p:nvPr/>
              </p:nvSpPr>
              <p:spPr>
                <a:xfrm>
                  <a:off x="7282632" y="1764902"/>
                  <a:ext cx="683865" cy="3024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defTabSz="457200" latinLnBrk="0"/>
                  <a:r>
                    <a:rPr lang="en-US" altLang="ko-KR" sz="700" dirty="0">
                      <a:solidFill>
                        <a:srgbClr val="FF0000"/>
                      </a:solidFill>
                      <a:highlight>
                        <a:srgbClr val="FFFFFF"/>
                      </a:highlight>
                      <a:latin typeface="Arial Narrow"/>
                      <a:ea typeface="LG스마트체 Regular"/>
                    </a:rPr>
                    <a:t>5.58mm</a:t>
                  </a:r>
                </a:p>
              </p:txBody>
            </p:sp>
          </p:grp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B3AA32E0-2D0B-A84D-4132-DEA409E6D153}"/>
                </a:ext>
              </a:extLst>
            </p:cNvPr>
            <p:cNvSpPr txBox="1"/>
            <p:nvPr/>
          </p:nvSpPr>
          <p:spPr>
            <a:xfrm>
              <a:off x="3632211" y="6063369"/>
              <a:ext cx="1846956" cy="330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ko-KR" altLang="en-US" sz="900" dirty="0">
                  <a:solidFill>
                    <a:srgbClr val="0000FF"/>
                  </a:solidFill>
                  <a:latin typeface="Arial Narrow"/>
                  <a:ea typeface="LG스마트체 Regular"/>
                </a:rPr>
                <a:t>▶ </a:t>
              </a:r>
              <a:r>
                <a:rPr lang="en-US" altLang="ko-KR" sz="900" dirty="0">
                  <a:solidFill>
                    <a:srgbClr val="0000FF"/>
                  </a:solidFill>
                  <a:latin typeface="Arial Narrow"/>
                  <a:ea typeface="LG스마트체 Regular"/>
                </a:rPr>
                <a:t>Left, Right 1.7mm </a:t>
              </a:r>
              <a:r>
                <a:rPr lang="ko-KR" altLang="en-US" sz="900" dirty="0">
                  <a:solidFill>
                    <a:srgbClr val="0000FF"/>
                  </a:solidFill>
                  <a:latin typeface="Arial Narrow"/>
                  <a:ea typeface="LG스마트체 Regular"/>
                </a:rPr>
                <a:t>차이</a:t>
              </a: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3781A81A-B2F3-2743-059B-7F72EECC57CA}"/>
              </a:ext>
            </a:extLst>
          </p:cNvPr>
          <p:cNvGrpSpPr/>
          <p:nvPr/>
        </p:nvGrpSpPr>
        <p:grpSpPr>
          <a:xfrm>
            <a:off x="2880325" y="4549687"/>
            <a:ext cx="1684749" cy="1536578"/>
            <a:chOff x="2917814" y="4553795"/>
            <a:chExt cx="2197930" cy="2004626"/>
          </a:xfrm>
        </p:grpSpPr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48836BA9-DF1C-1C94-E413-DA524D18DA35}"/>
                </a:ext>
              </a:extLst>
            </p:cNvPr>
            <p:cNvSpPr txBox="1"/>
            <p:nvPr/>
          </p:nvSpPr>
          <p:spPr>
            <a:xfrm>
              <a:off x="3358610" y="4553795"/>
              <a:ext cx="1286155" cy="280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[ </a:t>
              </a:r>
              <a:r>
                <a: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위치 보정량 결과 </a:t>
              </a: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]</a:t>
              </a:r>
              <a:endPara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C4BA0A8D-DDFE-0CB1-5AF8-DBE4DF94BECE}"/>
                </a:ext>
              </a:extLst>
            </p:cNvPr>
            <p:cNvGrpSpPr/>
            <p:nvPr/>
          </p:nvGrpSpPr>
          <p:grpSpPr>
            <a:xfrm>
              <a:off x="2917814" y="4826842"/>
              <a:ext cx="2197930" cy="1398547"/>
              <a:chOff x="6250931" y="4507302"/>
              <a:chExt cx="2759878" cy="1756115"/>
            </a:xfrm>
          </p:grpSpPr>
          <p:pic>
            <p:nvPicPr>
              <p:cNvPr id="156" name="Picture 2">
                <a:extLst>
                  <a:ext uri="{FF2B5EF4-FFF2-40B4-BE49-F238E27FC236}">
                    <a16:creationId xmlns:a16="http://schemas.microsoft.com/office/drawing/2014/main" id="{B0751FDC-6125-854E-ACCA-57FEB56D50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526" b="6858"/>
              <a:stretch/>
            </p:blipFill>
            <p:spPr bwMode="auto">
              <a:xfrm>
                <a:off x="6250931" y="4507302"/>
                <a:ext cx="2643219" cy="17561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D6D4B349-3138-5DBB-2A42-6EA80A588CB3}"/>
                  </a:ext>
                </a:extLst>
              </p:cNvPr>
              <p:cNvSpPr txBox="1"/>
              <p:nvPr/>
            </p:nvSpPr>
            <p:spPr>
              <a:xfrm>
                <a:off x="7951111" y="4912896"/>
                <a:ext cx="1059698" cy="3757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Y1 : -3.787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43FC5958-0E7B-4623-6B45-C7874DFE7AEE}"/>
                  </a:ext>
                </a:extLst>
              </p:cNvPr>
              <p:cNvSpPr txBox="1"/>
              <p:nvPr/>
            </p:nvSpPr>
            <p:spPr>
              <a:xfrm>
                <a:off x="7947254" y="5479003"/>
                <a:ext cx="1059698" cy="3757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Y3 : -1.974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F2BC37C1-4DAC-23CD-857E-55E4182DC27B}"/>
                  </a:ext>
                </a:extLst>
              </p:cNvPr>
              <p:cNvSpPr/>
              <p:nvPr/>
            </p:nvSpPr>
            <p:spPr>
              <a:xfrm>
                <a:off x="7439025" y="4989006"/>
                <a:ext cx="508000" cy="141842"/>
              </a:xfrm>
              <a:prstGeom prst="rect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3361C9A3-9DAF-F759-AE94-0402D589836D}"/>
                  </a:ext>
                </a:extLst>
              </p:cNvPr>
              <p:cNvSpPr/>
              <p:nvPr/>
            </p:nvSpPr>
            <p:spPr>
              <a:xfrm>
                <a:off x="7460739" y="5549251"/>
                <a:ext cx="508000" cy="141842"/>
              </a:xfrm>
              <a:prstGeom prst="rect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0ED54A8-1619-B6D1-57E8-2E955B562A77}"/>
                </a:ext>
              </a:extLst>
            </p:cNvPr>
            <p:cNvSpPr txBox="1"/>
            <p:nvPr/>
          </p:nvSpPr>
          <p:spPr>
            <a:xfrm>
              <a:off x="3141683" y="6257277"/>
              <a:ext cx="1851204" cy="3011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▶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Left, Right 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약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1.8mm 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차이</a:t>
              </a:r>
            </a:p>
          </p:txBody>
        </p: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2891647A-CD5F-3ADA-AFE1-929CB4C1004A}"/>
              </a:ext>
            </a:extLst>
          </p:cNvPr>
          <p:cNvGrpSpPr/>
          <p:nvPr/>
        </p:nvGrpSpPr>
        <p:grpSpPr>
          <a:xfrm>
            <a:off x="436398" y="4244838"/>
            <a:ext cx="1650432" cy="1149799"/>
            <a:chOff x="97275" y="4457732"/>
            <a:chExt cx="2421411" cy="1686914"/>
          </a:xfrm>
        </p:grpSpPr>
        <p:grpSp>
          <p:nvGrpSpPr>
            <p:cNvPr id="162" name="그룹 161">
              <a:extLst>
                <a:ext uri="{FF2B5EF4-FFF2-40B4-BE49-F238E27FC236}">
                  <a16:creationId xmlns:a16="http://schemas.microsoft.com/office/drawing/2014/main" id="{20C6954F-C3FF-F9B8-7766-14E853F0B73C}"/>
                </a:ext>
              </a:extLst>
            </p:cNvPr>
            <p:cNvGrpSpPr/>
            <p:nvPr/>
          </p:nvGrpSpPr>
          <p:grpSpPr>
            <a:xfrm>
              <a:off x="333696" y="4457732"/>
              <a:ext cx="2105025" cy="1686914"/>
              <a:chOff x="424769" y="2165886"/>
              <a:chExt cx="2105025" cy="1686914"/>
            </a:xfrm>
          </p:grpSpPr>
          <p:pic>
            <p:nvPicPr>
              <p:cNvPr id="165" name="Picture 16">
                <a:extLst>
                  <a:ext uri="{FF2B5EF4-FFF2-40B4-BE49-F238E27FC236}">
                    <a16:creationId xmlns:a16="http://schemas.microsoft.com/office/drawing/2014/main" id="{1C061E3F-1A9C-8176-969C-A8494E7587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415"/>
              <a:stretch/>
            </p:blipFill>
            <p:spPr bwMode="auto">
              <a:xfrm>
                <a:off x="424769" y="2454253"/>
                <a:ext cx="2105025" cy="13985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525B247D-08D5-D8A8-921B-B022477293D2}"/>
                  </a:ext>
                </a:extLst>
              </p:cNvPr>
              <p:cNvSpPr txBox="1"/>
              <p:nvPr/>
            </p:nvSpPr>
            <p:spPr>
              <a:xfrm>
                <a:off x="960384" y="2165886"/>
                <a:ext cx="1070552" cy="338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[ </a:t>
                </a:r>
                <a:r>
                  <a:rPr kumimoji="0" lang="ko-KR" alt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더미 지그 </a:t>
                </a:r>
                <a:r>
                  <a:rPr kumimoji="0" lang="en-US" altLang="ko-KR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]</a:t>
                </a:r>
                <a:endPara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67" name="직사각형 166">
                <a:extLst>
                  <a:ext uri="{FF2B5EF4-FFF2-40B4-BE49-F238E27FC236}">
                    <a16:creationId xmlns:a16="http://schemas.microsoft.com/office/drawing/2014/main" id="{A6E80818-8A8B-4432-E14C-0F7411DFC2EB}"/>
                  </a:ext>
                </a:extLst>
              </p:cNvPr>
              <p:cNvSpPr/>
              <p:nvPr/>
            </p:nvSpPr>
            <p:spPr>
              <a:xfrm rot="21403438">
                <a:off x="2100865" y="2434654"/>
                <a:ext cx="241377" cy="1398547"/>
              </a:xfrm>
              <a:prstGeom prst="rect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68" name="직사각형 167">
                <a:extLst>
                  <a:ext uri="{FF2B5EF4-FFF2-40B4-BE49-F238E27FC236}">
                    <a16:creationId xmlns:a16="http://schemas.microsoft.com/office/drawing/2014/main" id="{847BF017-844F-0ECB-0E33-D6DDD7B7C2A8}"/>
                  </a:ext>
                </a:extLst>
              </p:cNvPr>
              <p:cNvSpPr/>
              <p:nvPr/>
            </p:nvSpPr>
            <p:spPr>
              <a:xfrm rot="1647258">
                <a:off x="699592" y="2438452"/>
                <a:ext cx="241377" cy="1251149"/>
              </a:xfrm>
              <a:prstGeom prst="rect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88B4A1FF-FAFD-D6C4-686D-471DD33628C8}"/>
                  </a:ext>
                </a:extLst>
              </p:cNvPr>
              <p:cNvSpPr txBox="1"/>
              <p:nvPr/>
            </p:nvSpPr>
            <p:spPr>
              <a:xfrm>
                <a:off x="746486" y="2922168"/>
                <a:ext cx="1547974" cy="3160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End Plate </a:t>
                </a: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틀어짐 조립</a:t>
                </a: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82C44C98-E47B-2396-CA72-D2174DFE1F1E}"/>
                </a:ext>
              </a:extLst>
            </p:cNvPr>
            <p:cNvSpPr txBox="1"/>
            <p:nvPr/>
          </p:nvSpPr>
          <p:spPr>
            <a:xfrm>
              <a:off x="97275" y="5291730"/>
              <a:ext cx="31290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Y1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D5122AC-BC82-6F72-05DC-3C12FE4245E2}"/>
                </a:ext>
              </a:extLst>
            </p:cNvPr>
            <p:cNvSpPr txBox="1"/>
            <p:nvPr/>
          </p:nvSpPr>
          <p:spPr>
            <a:xfrm>
              <a:off x="2205780" y="560764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Y3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</p:grpSp>
      <p:cxnSp>
        <p:nvCxnSpPr>
          <p:cNvPr id="170" name="연결선: 꺾임 169">
            <a:extLst>
              <a:ext uri="{FF2B5EF4-FFF2-40B4-BE49-F238E27FC236}">
                <a16:creationId xmlns:a16="http://schemas.microsoft.com/office/drawing/2014/main" id="{6AFCE7F7-9BAF-D9B6-4336-2BE8C5A021CF}"/>
              </a:ext>
            </a:extLst>
          </p:cNvPr>
          <p:cNvCxnSpPr>
            <a:stCxn id="168" idx="2"/>
            <a:endCxn id="150" idx="0"/>
          </p:cNvCxnSpPr>
          <p:nvPr/>
        </p:nvCxnSpPr>
        <p:spPr>
          <a:xfrm rot="16200000" flipH="1">
            <a:off x="541391" y="5364527"/>
            <a:ext cx="335103" cy="76808"/>
          </a:xfrm>
          <a:prstGeom prst="bentConnector3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71" name="연결선: 꺾임 170">
            <a:extLst>
              <a:ext uri="{FF2B5EF4-FFF2-40B4-BE49-F238E27FC236}">
                <a16:creationId xmlns:a16="http://schemas.microsoft.com/office/drawing/2014/main" id="{6E1D0E12-91F3-4C17-8F1D-339C768CDD30}"/>
              </a:ext>
            </a:extLst>
          </p:cNvPr>
          <p:cNvCxnSpPr>
            <a:stCxn id="167" idx="2"/>
            <a:endCxn id="148" idx="0"/>
          </p:cNvCxnSpPr>
          <p:nvPr/>
        </p:nvCxnSpPr>
        <p:spPr>
          <a:xfrm rot="16200000" flipH="1">
            <a:off x="1781477" y="5448488"/>
            <a:ext cx="195948" cy="59970"/>
          </a:xfrm>
          <a:prstGeom prst="bentConnector3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4131A271-8542-50EF-FD61-1608AD38C0EA}"/>
              </a:ext>
            </a:extLst>
          </p:cNvPr>
          <p:cNvSpPr txBox="1"/>
          <p:nvPr/>
        </p:nvSpPr>
        <p:spPr>
          <a:xfrm>
            <a:off x="711261" y="5572604"/>
            <a:ext cx="12618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기준점으로부터 거리 측정</a:t>
            </a:r>
          </a:p>
        </p:txBody>
      </p:sp>
      <p:sp>
        <p:nvSpPr>
          <p:cNvPr id="173" name="화살표: 오른쪽 172">
            <a:extLst>
              <a:ext uri="{FF2B5EF4-FFF2-40B4-BE49-F238E27FC236}">
                <a16:creationId xmlns:a16="http://schemas.microsoft.com/office/drawing/2014/main" id="{A9A3D218-0AE3-179A-804B-0D7E004CC83B}"/>
              </a:ext>
            </a:extLst>
          </p:cNvPr>
          <p:cNvSpPr/>
          <p:nvPr/>
        </p:nvSpPr>
        <p:spPr>
          <a:xfrm>
            <a:off x="2488021" y="5254781"/>
            <a:ext cx="233285" cy="195949"/>
          </a:xfrm>
          <a:prstGeom prst="rightArrow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F5C1BEEE-FBBB-2797-10F3-ACBB0DD4DFA9}"/>
              </a:ext>
            </a:extLst>
          </p:cNvPr>
          <p:cNvSpPr txBox="1"/>
          <p:nvPr/>
        </p:nvSpPr>
        <p:spPr>
          <a:xfrm>
            <a:off x="2897089" y="6117958"/>
            <a:ext cx="166742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→ 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0.1mm 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정도 차이가 있으나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,</a:t>
            </a:r>
          </a:p>
          <a:p>
            <a:pPr defTabSz="457200" latinLnBrk="0"/>
            <a:r>
              <a:rPr lang="ko-KR" altLang="en-US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     검증 과정 오차로 판단</a:t>
            </a:r>
            <a:endParaRPr lang="en-US" altLang="ko-KR" sz="900" dirty="0">
              <a:solidFill>
                <a:prstClr val="black"/>
              </a:solidFill>
              <a:highlight>
                <a:srgbClr val="FFFF00"/>
              </a:highlight>
              <a:latin typeface="Arial Narrow"/>
              <a:ea typeface="LG스마트체 Regular"/>
            </a:endParaRPr>
          </a:p>
          <a:p>
            <a:pPr defTabSz="457200" latinLnBrk="0"/>
            <a:r>
              <a:rPr lang="en-US" altLang="ko-KR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     (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더미지그 수동 가압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)</a:t>
            </a:r>
            <a:endParaRPr lang="ko-KR" altLang="en-US" sz="900" dirty="0">
              <a:solidFill>
                <a:prstClr val="black"/>
              </a:solidFill>
              <a:highlight>
                <a:srgbClr val="FFFF00"/>
              </a:highlight>
              <a:latin typeface="Arial Narrow"/>
              <a:ea typeface="LG스마트체 Regular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1D46E4E-2753-D83A-07C3-90E185AC0EAA}"/>
              </a:ext>
            </a:extLst>
          </p:cNvPr>
          <p:cNvSpPr txBox="1"/>
          <p:nvPr/>
        </p:nvSpPr>
        <p:spPr>
          <a:xfrm>
            <a:off x="4754492" y="3964328"/>
            <a:ext cx="15937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데이터 검증</a:t>
            </a:r>
            <a:r>
              <a:rPr lang="ko-KR" altLang="en-US" sz="1050" b="1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050" b="1" dirty="0">
                <a:solidFill>
                  <a:prstClr val="black"/>
                </a:solidFill>
                <a:latin typeface="Arial Narrow"/>
                <a:ea typeface="LG스마트체 Regular"/>
              </a:rPr>
              <a:t>(Case1·2)</a:t>
            </a:r>
            <a:endParaRPr lang="ko-KR" altLang="en-US" sz="105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6688AF14-A2DC-F00B-703E-42B07E5E41D2}"/>
              </a:ext>
            </a:extLst>
          </p:cNvPr>
          <p:cNvSpPr txBox="1"/>
          <p:nvPr/>
        </p:nvSpPr>
        <p:spPr>
          <a:xfrm>
            <a:off x="6307195" y="3991684"/>
            <a:ext cx="25875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dirty="0">
                <a:solidFill>
                  <a:srgbClr val="006600"/>
                </a:solidFill>
                <a:latin typeface="Arial Narrow"/>
                <a:ea typeface="LG스마트체 Regular"/>
              </a:rPr>
              <a:t>*PM</a:t>
            </a:r>
            <a:r>
              <a:rPr lang="ko-KR" altLang="en-US" sz="900" dirty="0">
                <a:solidFill>
                  <a:srgbClr val="006600"/>
                </a:solidFill>
                <a:latin typeface="Arial Narrow"/>
                <a:ea typeface="LG스마트체 Regular"/>
              </a:rPr>
              <a:t>후 </a:t>
            </a:r>
            <a:r>
              <a:rPr lang="en-US" altLang="ko-KR" sz="900" dirty="0">
                <a:solidFill>
                  <a:srgbClr val="006600"/>
                </a:solidFill>
                <a:latin typeface="Arial Narrow"/>
                <a:ea typeface="LG스마트체 Regular"/>
              </a:rPr>
              <a:t>Slow Start </a:t>
            </a:r>
            <a:r>
              <a:rPr lang="ko-KR" altLang="en-US" sz="900" dirty="0">
                <a:solidFill>
                  <a:srgbClr val="006600"/>
                </a:solidFill>
                <a:latin typeface="Arial Narrow"/>
                <a:ea typeface="LG스마트체 Regular"/>
              </a:rPr>
              <a:t>시</a:t>
            </a:r>
            <a:r>
              <a:rPr lang="en-US" altLang="ko-KR" sz="900" dirty="0">
                <a:solidFill>
                  <a:srgbClr val="006600"/>
                </a:solidFill>
                <a:latin typeface="Arial Narrow"/>
                <a:ea typeface="LG스마트체 Regular"/>
              </a:rPr>
              <a:t>,</a:t>
            </a:r>
            <a:r>
              <a:rPr lang="ko-KR" altLang="en-US" sz="900" dirty="0">
                <a:solidFill>
                  <a:srgbClr val="006600"/>
                </a:solidFill>
                <a:latin typeface="Arial Narrow"/>
                <a:ea typeface="LG스마트체 Regular"/>
              </a:rPr>
              <a:t> 체결 티칭 위치 변경 테스트 진행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F0CC0C08-FED6-9606-FF58-505D1D2BDC8E}"/>
              </a:ext>
            </a:extLst>
          </p:cNvPr>
          <p:cNvCxnSpPr>
            <a:cxnSpLocks/>
          </p:cNvCxnSpPr>
          <p:nvPr/>
        </p:nvCxnSpPr>
        <p:spPr>
          <a:xfrm>
            <a:off x="4646235" y="4019859"/>
            <a:ext cx="0" cy="2526994"/>
          </a:xfrm>
          <a:prstGeom prst="line">
            <a:avLst/>
          </a:prstGeom>
          <a:noFill/>
          <a:ln w="12700" cap="flat" cmpd="sng" algn="ctr">
            <a:solidFill>
              <a:srgbClr val="E8E8E8"/>
            </a:solidFill>
            <a:prstDash val="solid"/>
            <a:miter lim="800000"/>
          </a:ln>
          <a:effectLst/>
        </p:spPr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A47AF85B-D6D4-AB7A-9015-9848C13C77B7}"/>
              </a:ext>
            </a:extLst>
          </p:cNvPr>
          <p:cNvSpPr txBox="1"/>
          <p:nvPr/>
        </p:nvSpPr>
        <p:spPr>
          <a:xfrm>
            <a:off x="2021779" y="2966759"/>
            <a:ext cx="8338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*Left / Right </a:t>
            </a:r>
            <a:r>
              <a:rPr lang="ko-KR" altLang="en-US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비교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D8C35D9-97A7-82AF-8770-4FD81340C9B8}"/>
              </a:ext>
            </a:extLst>
          </p:cNvPr>
          <p:cNvSpPr txBox="1"/>
          <p:nvPr/>
        </p:nvSpPr>
        <p:spPr>
          <a:xfrm>
            <a:off x="4289318" y="2966759"/>
            <a:ext cx="8723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*Front / Rear </a:t>
            </a:r>
            <a:r>
              <a:rPr lang="ko-KR" altLang="en-US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비교</a:t>
            </a:r>
          </a:p>
        </p:txBody>
      </p:sp>
      <p:sp>
        <p:nvSpPr>
          <p:cNvPr id="3" name="실행 단추: 홈으로 이동 2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D89BE8D8-08DB-45D6-7019-AFDA54C567AA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46C248E-FAD7-BD9E-6C48-F1A5EEBED427}"/>
              </a:ext>
            </a:extLst>
          </p:cNvPr>
          <p:cNvGrpSpPr/>
          <p:nvPr/>
        </p:nvGrpSpPr>
        <p:grpSpPr>
          <a:xfrm>
            <a:off x="4649967" y="4983696"/>
            <a:ext cx="2703912" cy="1534869"/>
            <a:chOff x="6870377" y="4485695"/>
            <a:chExt cx="3056741" cy="153486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877A257-C50D-4E39-FE71-EBF419A1A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50000" b="47645"/>
            <a:stretch/>
          </p:blipFill>
          <p:spPr>
            <a:xfrm>
              <a:off x="7127302" y="4496078"/>
              <a:ext cx="2638805" cy="780291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7BD1AE3-3C6F-F857-B673-E5920E2B6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50299" r="50136"/>
            <a:stretch/>
          </p:blipFill>
          <p:spPr>
            <a:xfrm>
              <a:off x="7123383" y="5245727"/>
              <a:ext cx="2631622" cy="740741"/>
            </a:xfrm>
            <a:prstGeom prst="rect">
              <a:avLst/>
            </a:prstGeom>
          </p:spPr>
        </p:pic>
        <p:sp>
          <p:nvSpPr>
            <p:cNvPr id="7" name="폭발: 8pt 6">
              <a:extLst>
                <a:ext uri="{FF2B5EF4-FFF2-40B4-BE49-F238E27FC236}">
                  <a16:creationId xmlns:a16="http://schemas.microsoft.com/office/drawing/2014/main" id="{D3CE06B2-8693-A1FE-3316-59281A453BA1}"/>
                </a:ext>
              </a:extLst>
            </p:cNvPr>
            <p:cNvSpPr/>
            <p:nvPr/>
          </p:nvSpPr>
          <p:spPr>
            <a:xfrm>
              <a:off x="8540098" y="4575537"/>
              <a:ext cx="186360" cy="171412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" name="폭발: 8pt 7">
              <a:extLst>
                <a:ext uri="{FF2B5EF4-FFF2-40B4-BE49-F238E27FC236}">
                  <a16:creationId xmlns:a16="http://schemas.microsoft.com/office/drawing/2014/main" id="{F7FD30B1-647C-9203-CD66-7870BC1A05AC}"/>
                </a:ext>
              </a:extLst>
            </p:cNvPr>
            <p:cNvSpPr/>
            <p:nvPr/>
          </p:nvSpPr>
          <p:spPr>
            <a:xfrm>
              <a:off x="8380526" y="5347897"/>
              <a:ext cx="186360" cy="171412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F08ACFBA-06AA-FD0D-8003-8EF58C362F69}"/>
                </a:ext>
              </a:extLst>
            </p:cNvPr>
            <p:cNvCxnSpPr>
              <a:cxnSpLocks/>
            </p:cNvCxnSpPr>
            <p:nvPr/>
          </p:nvCxnSpPr>
          <p:spPr>
            <a:xfrm>
              <a:off x="8744134" y="4485695"/>
              <a:ext cx="0" cy="1518774"/>
            </a:xfrm>
            <a:prstGeom prst="line">
              <a:avLst/>
            </a:prstGeom>
            <a:noFill/>
            <a:ln w="19050" cap="flat" cmpd="sng" algn="ctr">
              <a:solidFill>
                <a:srgbClr val="0E2841"/>
              </a:solidFill>
              <a:prstDash val="dash"/>
              <a:miter lim="800000"/>
            </a:ln>
            <a:effectLst/>
          </p:spPr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22A1CC3C-C96B-B62A-834C-EEE9814E78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78279" y="4496078"/>
              <a:ext cx="3094" cy="1508391"/>
            </a:xfrm>
            <a:prstGeom prst="line">
              <a:avLst/>
            </a:prstGeom>
            <a:noFill/>
            <a:ln w="19050" cap="flat" cmpd="sng" algn="ctr">
              <a:solidFill>
                <a:srgbClr val="0E2841"/>
              </a:solidFill>
              <a:prstDash val="dash"/>
              <a:miter lim="800000"/>
            </a:ln>
            <a:effectLst/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2B46AE4-0122-D6CF-8E1E-FCDACDAB4911}"/>
                </a:ext>
              </a:extLst>
            </p:cNvPr>
            <p:cNvSpPr txBox="1"/>
            <p:nvPr/>
          </p:nvSpPr>
          <p:spPr>
            <a:xfrm>
              <a:off x="6870729" y="4692690"/>
              <a:ext cx="5440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편차</a:t>
              </a:r>
              <a:endPara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8E8E8"/>
                </a:highlight>
                <a:uLnTx/>
                <a:uFillTx/>
                <a:latin typeface="Arial Narrow"/>
                <a:ea typeface="LG스마트체 Regular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(Y1 - Y3)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029C13-4ECB-40FD-FB26-AC21072C7562}"/>
                </a:ext>
              </a:extLst>
            </p:cNvPr>
            <p:cNvSpPr txBox="1"/>
            <p:nvPr/>
          </p:nvSpPr>
          <p:spPr>
            <a:xfrm>
              <a:off x="6870377" y="5441948"/>
              <a:ext cx="5639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편차</a:t>
              </a:r>
              <a:endPara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8E8E8"/>
                </a:highlight>
                <a:uLnTx/>
                <a:uFillTx/>
                <a:latin typeface="Arial Narrow"/>
                <a:ea typeface="LG스마트체 Regular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(Y2 – Y4)</a:t>
              </a:r>
            </a:p>
          </p:txBody>
        </p:sp>
        <p:sp>
          <p:nvSpPr>
            <p:cNvPr id="13" name="폭발: 8pt 12">
              <a:extLst>
                <a:ext uri="{FF2B5EF4-FFF2-40B4-BE49-F238E27FC236}">
                  <a16:creationId xmlns:a16="http://schemas.microsoft.com/office/drawing/2014/main" id="{C6A9B471-D2C5-79EA-1AD5-B51B6D33BF59}"/>
                </a:ext>
              </a:extLst>
            </p:cNvPr>
            <p:cNvSpPr/>
            <p:nvPr/>
          </p:nvSpPr>
          <p:spPr>
            <a:xfrm>
              <a:off x="8608319" y="5347897"/>
              <a:ext cx="186360" cy="171412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1563BB-4271-7B69-0D8A-EDB4F4C1EC14}"/>
                </a:ext>
              </a:extLst>
            </p:cNvPr>
            <p:cNvSpPr txBox="1"/>
            <p:nvPr/>
          </p:nvSpPr>
          <p:spPr>
            <a:xfrm>
              <a:off x="8285883" y="5766648"/>
              <a:ext cx="44253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time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526D81-CC3B-CA45-80EB-54F8C2A4D7B3}"/>
                </a:ext>
              </a:extLst>
            </p:cNvPr>
            <p:cNvSpPr txBox="1"/>
            <p:nvPr/>
          </p:nvSpPr>
          <p:spPr>
            <a:xfrm>
              <a:off x="7116305" y="5773637"/>
              <a:ext cx="5766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5/1 10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시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67317B-9E49-7F2C-E6C8-09479AF82E57}"/>
                </a:ext>
              </a:extLst>
            </p:cNvPr>
            <p:cNvSpPr txBox="1"/>
            <p:nvPr/>
          </p:nvSpPr>
          <p:spPr>
            <a:xfrm>
              <a:off x="9350483" y="5776771"/>
              <a:ext cx="5766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5/1 18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시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27BE0FE-282E-7304-CBF0-0625A6D45416}"/>
              </a:ext>
            </a:extLst>
          </p:cNvPr>
          <p:cNvSpPr txBox="1"/>
          <p:nvPr/>
        </p:nvSpPr>
        <p:spPr>
          <a:xfrm>
            <a:off x="4866748" y="4320787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테스트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1) 13:30 ~ 14:50</a:t>
            </a:r>
          </a:p>
          <a:p>
            <a:pPr defTabSz="457200" latinLnBrk="0"/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: End Plate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한쪽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(Left)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1mm Shift (Case1)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0975D0-3386-A0F3-744C-305DA18B9A65}"/>
              </a:ext>
            </a:extLst>
          </p:cNvPr>
          <p:cNvSpPr txBox="1"/>
          <p:nvPr/>
        </p:nvSpPr>
        <p:spPr>
          <a:xfrm>
            <a:off x="7382908" y="4339186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테스트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2) 14:55 ~ 15:25</a:t>
            </a:r>
          </a:p>
          <a:p>
            <a:pPr defTabSz="457200" latinLnBrk="0"/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: 3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번 체결 위치만 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1mm Shift (Case2)</a:t>
            </a:r>
            <a:endParaRPr lang="ko-KR" altLang="en-US" sz="9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95CB3FB-A2E9-E1EB-5D13-7948630C72AF}"/>
              </a:ext>
            </a:extLst>
          </p:cNvPr>
          <p:cNvGrpSpPr/>
          <p:nvPr/>
        </p:nvGrpSpPr>
        <p:grpSpPr>
          <a:xfrm>
            <a:off x="7179495" y="4977613"/>
            <a:ext cx="2661216" cy="757572"/>
            <a:chOff x="7087820" y="5584569"/>
            <a:chExt cx="2864514" cy="757572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0D1C6C9-8134-9534-D681-E94A25935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50000" t="49575"/>
            <a:stretch/>
          </p:blipFill>
          <p:spPr>
            <a:xfrm>
              <a:off x="7313529" y="5590613"/>
              <a:ext cx="2638805" cy="751528"/>
            </a:xfrm>
            <a:prstGeom prst="rect">
              <a:avLst/>
            </a:prstGeom>
          </p:spPr>
        </p:pic>
        <p:sp>
          <p:nvSpPr>
            <p:cNvPr id="23" name="폭발: 8pt 22">
              <a:extLst>
                <a:ext uri="{FF2B5EF4-FFF2-40B4-BE49-F238E27FC236}">
                  <a16:creationId xmlns:a16="http://schemas.microsoft.com/office/drawing/2014/main" id="{A884335E-0159-8C63-2EB7-B7BA07CCE31A}"/>
                </a:ext>
              </a:extLst>
            </p:cNvPr>
            <p:cNvSpPr/>
            <p:nvPr/>
          </p:nvSpPr>
          <p:spPr>
            <a:xfrm>
              <a:off x="8938931" y="5645565"/>
              <a:ext cx="186360" cy="171412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2D3A023-EDD1-C313-6FD5-D802C8A24F52}"/>
                </a:ext>
              </a:extLst>
            </p:cNvPr>
            <p:cNvCxnSpPr>
              <a:cxnSpLocks/>
            </p:cNvCxnSpPr>
            <p:nvPr/>
          </p:nvCxnSpPr>
          <p:spPr>
            <a:xfrm>
              <a:off x="8930362" y="5584569"/>
              <a:ext cx="0" cy="749550"/>
            </a:xfrm>
            <a:prstGeom prst="line">
              <a:avLst/>
            </a:prstGeom>
            <a:noFill/>
            <a:ln w="19050" cap="flat" cmpd="sng" algn="ctr">
              <a:solidFill>
                <a:srgbClr val="0E2841"/>
              </a:solidFill>
              <a:prstDash val="dash"/>
              <a:miter lim="800000"/>
            </a:ln>
            <a:effectLst/>
          </p:spPr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4F91E6D-DEB5-571F-B83C-478B9F576A5B}"/>
                </a:ext>
              </a:extLst>
            </p:cNvPr>
            <p:cNvCxnSpPr>
              <a:cxnSpLocks/>
            </p:cNvCxnSpPr>
            <p:nvPr/>
          </p:nvCxnSpPr>
          <p:spPr>
            <a:xfrm>
              <a:off x="9168570" y="5584569"/>
              <a:ext cx="0" cy="749550"/>
            </a:xfrm>
            <a:prstGeom prst="line">
              <a:avLst/>
            </a:prstGeom>
            <a:noFill/>
            <a:ln w="19050" cap="flat" cmpd="sng" algn="ctr">
              <a:solidFill>
                <a:srgbClr val="0E2841"/>
              </a:solidFill>
              <a:prstDash val="dash"/>
              <a:miter lim="800000"/>
            </a:ln>
            <a:effectLst/>
          </p:spPr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BE33F89-02B8-EBD6-46D7-ACCF877B519A}"/>
                </a:ext>
              </a:extLst>
            </p:cNvPr>
            <p:cNvSpPr txBox="1"/>
            <p:nvPr/>
          </p:nvSpPr>
          <p:spPr>
            <a:xfrm>
              <a:off x="7087820" y="5754876"/>
              <a:ext cx="5369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편차</a:t>
              </a:r>
              <a:endPara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8E8E8"/>
                </a:highlight>
                <a:uLnTx/>
                <a:uFillTx/>
                <a:latin typeface="Arial Narrow"/>
                <a:ea typeface="LG스마트체 Regular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(Y3 – Y4)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05BFAC7-33A0-64A9-801B-01046FA42B67}"/>
                </a:ext>
              </a:extLst>
            </p:cNvPr>
            <p:cNvSpPr txBox="1"/>
            <p:nvPr/>
          </p:nvSpPr>
          <p:spPr>
            <a:xfrm>
              <a:off x="8503953" y="6094626"/>
              <a:ext cx="412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time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7D432A1-D02C-40D0-EB0B-2BF3C388ED4D}"/>
              </a:ext>
            </a:extLst>
          </p:cNvPr>
          <p:cNvSpPr txBox="1"/>
          <p:nvPr/>
        </p:nvSpPr>
        <p:spPr>
          <a:xfrm>
            <a:off x="4822815" y="4742871"/>
            <a:ext cx="14430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ctr" defTabSz="457200" latinLnBrk="0">
              <a:buFont typeface="Wingdings" panose="05000000000000000000" pitchFamily="2" charset="2"/>
              <a:buChar char="Ø"/>
            </a:pPr>
            <a:r>
              <a:rPr lang="en-US" altLang="ko-KR" sz="800" b="1" dirty="0">
                <a:solidFill>
                  <a:prstClr val="black"/>
                </a:solidFill>
                <a:latin typeface="Arial Narrow"/>
                <a:ea typeface="LG스마트체 Regular"/>
              </a:rPr>
              <a:t>FDC</a:t>
            </a:r>
            <a:r>
              <a:rPr lang="ko-KR" altLang="en-US" sz="800" b="1" dirty="0">
                <a:solidFill>
                  <a:prstClr val="black"/>
                </a:solidFill>
                <a:latin typeface="Arial Narrow"/>
                <a:ea typeface="LG스마트체 Regular"/>
              </a:rPr>
              <a:t> 모델링 트렌드 </a:t>
            </a:r>
            <a:r>
              <a:rPr lang="en-US" altLang="ko-KR" sz="800" b="1" dirty="0">
                <a:solidFill>
                  <a:prstClr val="black"/>
                </a:solidFill>
                <a:latin typeface="Arial Narrow"/>
                <a:ea typeface="LG스마트체 Regular"/>
              </a:rPr>
              <a:t>(Case1)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4FD6E6-9796-13C7-8ED5-7814D2F01C04}"/>
              </a:ext>
            </a:extLst>
          </p:cNvPr>
          <p:cNvSpPr txBox="1"/>
          <p:nvPr/>
        </p:nvSpPr>
        <p:spPr>
          <a:xfrm>
            <a:off x="7347264" y="4763738"/>
            <a:ext cx="14430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ctr" defTabSz="457200" latinLnBrk="0">
              <a:buFont typeface="Wingdings" panose="05000000000000000000" pitchFamily="2" charset="2"/>
              <a:buChar char="Ø"/>
            </a:pPr>
            <a:r>
              <a:rPr lang="en-US" altLang="ko-KR" sz="800" b="1" dirty="0">
                <a:solidFill>
                  <a:prstClr val="black"/>
                </a:solidFill>
                <a:latin typeface="Arial Narrow"/>
                <a:ea typeface="LG스마트체 Regular"/>
              </a:rPr>
              <a:t>FDC</a:t>
            </a:r>
            <a:r>
              <a:rPr lang="ko-KR" altLang="en-US" sz="800" b="1" dirty="0">
                <a:solidFill>
                  <a:prstClr val="black"/>
                </a:solidFill>
                <a:latin typeface="Arial Narrow"/>
                <a:ea typeface="LG스마트체 Regular"/>
              </a:rPr>
              <a:t> 모델링 트렌드 </a:t>
            </a:r>
            <a:r>
              <a:rPr lang="en-US" altLang="ko-KR" sz="800" b="1" dirty="0">
                <a:solidFill>
                  <a:prstClr val="black"/>
                </a:solidFill>
                <a:latin typeface="Arial Narrow"/>
                <a:ea typeface="LG스마트체 Regular"/>
              </a:rPr>
              <a:t>(Case2)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01B788-8AC4-C5F9-D303-B3152A340B85}"/>
              </a:ext>
            </a:extLst>
          </p:cNvPr>
          <p:cNvSpPr txBox="1"/>
          <p:nvPr/>
        </p:nvSpPr>
        <p:spPr>
          <a:xfrm>
            <a:off x="7411307" y="5495334"/>
            <a:ext cx="5100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5/1 10</a:t>
            </a:r>
            <a:r>
              <a:rPr lang="ko-KR" altLang="en-US" sz="8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시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FB0BE4-0147-ADBC-F4E6-98E1ADE82376}"/>
              </a:ext>
            </a:extLst>
          </p:cNvPr>
          <p:cNvSpPr txBox="1"/>
          <p:nvPr/>
        </p:nvSpPr>
        <p:spPr>
          <a:xfrm>
            <a:off x="9387602" y="5498468"/>
            <a:ext cx="5100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5/1 18</a:t>
            </a:r>
            <a:r>
              <a:rPr lang="ko-KR" altLang="en-US" sz="8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시</a:t>
            </a:r>
          </a:p>
        </p:txBody>
      </p:sp>
    </p:spTree>
    <p:extLst>
      <p:ext uri="{BB962C8B-B14F-4D97-AF65-F5344CB8AC3E}">
        <p14:creationId xmlns:p14="http://schemas.microsoft.com/office/powerpoint/2010/main" val="3253568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33066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과거 사례 기반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FDC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모델링 시뮬레이션 후 알람 적용 완료함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769207C-E163-DFFE-E505-91CA9E2D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Metal Strap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Vision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보정량 이상감지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(2/2)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0ABEDF8-4DC4-A8C0-ED77-B3033A046280}"/>
              </a:ext>
            </a:extLst>
          </p:cNvPr>
          <p:cNvSpPr txBox="1"/>
          <p:nvPr/>
        </p:nvSpPr>
        <p:spPr>
          <a:xfrm>
            <a:off x="2439017" y="1140457"/>
            <a:ext cx="1547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100" b="1" u="sng" dirty="0">
                <a:solidFill>
                  <a:prstClr val="black"/>
                </a:solidFill>
                <a:latin typeface="Arial Narrow"/>
                <a:ea typeface="LG스마트체 Regular"/>
              </a:rPr>
              <a:t>End Plate </a:t>
            </a:r>
            <a:r>
              <a:rPr lang="ko-KR" altLang="en-US" sz="1100" b="1" u="sng" dirty="0">
                <a:solidFill>
                  <a:prstClr val="black"/>
                </a:solidFill>
                <a:latin typeface="Arial Narrow"/>
                <a:ea typeface="LG스마트체 Regular"/>
              </a:rPr>
              <a:t>티칭 조정 사례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814E282-5309-CEE8-94D4-FA9E24A50353}"/>
              </a:ext>
            </a:extLst>
          </p:cNvPr>
          <p:cNvSpPr txBox="1"/>
          <p:nvPr/>
        </p:nvSpPr>
        <p:spPr>
          <a:xfrm>
            <a:off x="6532030" y="1117230"/>
            <a:ext cx="21339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100" b="1" u="sng" dirty="0">
                <a:solidFill>
                  <a:prstClr val="black"/>
                </a:solidFill>
                <a:latin typeface="Arial Narrow"/>
                <a:ea typeface="LG스마트체 Regular"/>
              </a:rPr>
              <a:t>Unloading</a:t>
            </a:r>
            <a:r>
              <a:rPr lang="ko-KR" altLang="en-US" sz="1100" b="1" u="sng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100" b="1" u="sng" dirty="0">
                <a:solidFill>
                  <a:prstClr val="black"/>
                </a:solidFill>
                <a:latin typeface="Arial Narrow"/>
                <a:ea typeface="LG스마트체 Regular"/>
              </a:rPr>
              <a:t>TRF / Start Lift </a:t>
            </a:r>
            <a:r>
              <a:rPr lang="ko-KR" altLang="en-US" sz="1100" b="1" u="sng" dirty="0">
                <a:solidFill>
                  <a:prstClr val="black"/>
                </a:solidFill>
                <a:latin typeface="Arial Narrow"/>
                <a:ea typeface="LG스마트체 Regular"/>
              </a:rPr>
              <a:t>조치 사례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60E5874-66AB-02D4-D3ED-253D138C4389}"/>
              </a:ext>
            </a:extLst>
          </p:cNvPr>
          <p:cNvGrpSpPr/>
          <p:nvPr/>
        </p:nvGrpSpPr>
        <p:grpSpPr>
          <a:xfrm>
            <a:off x="228403" y="1370941"/>
            <a:ext cx="697146" cy="5116011"/>
            <a:chOff x="228403" y="1454066"/>
            <a:chExt cx="697146" cy="5231555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2BFC3553-8DA8-F75D-A553-309C54D41626}"/>
                </a:ext>
              </a:extLst>
            </p:cNvPr>
            <p:cNvSpPr/>
            <p:nvPr/>
          </p:nvSpPr>
          <p:spPr>
            <a:xfrm>
              <a:off x="228403" y="1454066"/>
              <a:ext cx="697146" cy="1251034"/>
            </a:xfrm>
            <a:prstGeom prst="rect">
              <a:avLst/>
            </a:prstGeom>
            <a:solidFill>
              <a:srgbClr val="E8E8E8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체결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Y</a:t>
              </a:r>
              <a:r>
                <a: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축 위치 보정량 트렌드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28207F87-D46E-3AED-D556-1602AEBAEB72}"/>
                </a:ext>
              </a:extLst>
            </p:cNvPr>
            <p:cNvSpPr/>
            <p:nvPr/>
          </p:nvSpPr>
          <p:spPr>
            <a:xfrm>
              <a:off x="228403" y="2846219"/>
              <a:ext cx="697146" cy="1212934"/>
            </a:xfrm>
            <a:prstGeom prst="rect">
              <a:avLst/>
            </a:prstGeom>
            <a:solidFill>
              <a:srgbClr val="E8E8E8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체결 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비전 인식 실패율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3DF1BCAF-6CFF-AEAD-003A-1B843512EDF3}"/>
                </a:ext>
              </a:extLst>
            </p:cNvPr>
            <p:cNvSpPr/>
            <p:nvPr/>
          </p:nvSpPr>
          <p:spPr>
            <a:xfrm>
              <a:off x="228403" y="4200272"/>
              <a:ext cx="697146" cy="2485349"/>
            </a:xfrm>
            <a:prstGeom prst="rect">
              <a:avLst/>
            </a:prstGeom>
            <a:solidFill>
              <a:srgbClr val="E8E8E8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FDC </a:t>
              </a:r>
              <a:r>
                <a: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모델링 트렌드</a:t>
              </a: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30A78A47-434E-64B7-27FB-B3A2C772FEAC}"/>
              </a:ext>
            </a:extLst>
          </p:cNvPr>
          <p:cNvGrpSpPr/>
          <p:nvPr/>
        </p:nvGrpSpPr>
        <p:grpSpPr>
          <a:xfrm>
            <a:off x="5106015" y="1370941"/>
            <a:ext cx="4504708" cy="4039887"/>
            <a:chOff x="5106015" y="1370941"/>
            <a:chExt cx="4504708" cy="4039887"/>
          </a:xfrm>
        </p:grpSpPr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F0ADC200-B399-B82F-E70B-896C910B7CBC}"/>
                </a:ext>
              </a:extLst>
            </p:cNvPr>
            <p:cNvGrpSpPr/>
            <p:nvPr/>
          </p:nvGrpSpPr>
          <p:grpSpPr>
            <a:xfrm>
              <a:off x="5334004" y="1370941"/>
              <a:ext cx="4276719" cy="4039887"/>
              <a:chOff x="5334004" y="1454066"/>
              <a:chExt cx="4149863" cy="4039887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FBF4F8D-B087-81A3-E365-BF9EE74C6BA5}"/>
                  </a:ext>
                </a:extLst>
              </p:cNvPr>
              <p:cNvGrpSpPr/>
              <p:nvPr/>
            </p:nvGrpSpPr>
            <p:grpSpPr>
              <a:xfrm>
                <a:off x="5334004" y="1460858"/>
                <a:ext cx="4149863" cy="2688729"/>
                <a:chOff x="5560070" y="1645313"/>
                <a:chExt cx="3901207" cy="2862524"/>
              </a:xfrm>
            </p:grpSpPr>
            <p:pic>
              <p:nvPicPr>
                <p:cNvPr id="92" name="그림 91">
                  <a:extLst>
                    <a:ext uri="{FF2B5EF4-FFF2-40B4-BE49-F238E27FC236}">
                      <a16:creationId xmlns:a16="http://schemas.microsoft.com/office/drawing/2014/main" id="{2FC34243-44FB-A63A-2463-B29D54AF3D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b="50451"/>
                <a:stretch/>
              </p:blipFill>
              <p:spPr>
                <a:xfrm>
                  <a:off x="5560070" y="1645313"/>
                  <a:ext cx="3885695" cy="1431262"/>
                </a:xfrm>
                <a:prstGeom prst="rect">
                  <a:avLst/>
                </a:prstGeom>
              </p:spPr>
            </p:pic>
            <p:pic>
              <p:nvPicPr>
                <p:cNvPr id="93" name="그림 92">
                  <a:extLst>
                    <a:ext uri="{FF2B5EF4-FFF2-40B4-BE49-F238E27FC236}">
                      <a16:creationId xmlns:a16="http://schemas.microsoft.com/office/drawing/2014/main" id="{363695BF-31D4-996D-0F50-19B4315247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50451"/>
                <a:stretch/>
              </p:blipFill>
              <p:spPr>
                <a:xfrm>
                  <a:off x="5575582" y="3076575"/>
                  <a:ext cx="3885695" cy="1431262"/>
                </a:xfrm>
                <a:prstGeom prst="rect">
                  <a:avLst/>
                </a:prstGeom>
              </p:spPr>
            </p:pic>
          </p:grpSp>
          <p:pic>
            <p:nvPicPr>
              <p:cNvPr id="90" name="그림 89">
                <a:extLst>
                  <a:ext uri="{FF2B5EF4-FFF2-40B4-BE49-F238E27FC236}">
                    <a16:creationId xmlns:a16="http://schemas.microsoft.com/office/drawing/2014/main" id="{F066AF06-16E1-2764-D763-5B77C92175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26216" y="4129296"/>
                <a:ext cx="4057649" cy="1364657"/>
              </a:xfrm>
              <a:prstGeom prst="rect">
                <a:avLst/>
              </a:prstGeom>
            </p:spPr>
          </p:pic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6B33A160-E8DE-68D8-015D-44B0BF55F4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8650" y="1454066"/>
                <a:ext cx="0" cy="3966146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dash"/>
                <a:miter lim="800000"/>
                <a:headEnd type="none"/>
                <a:tailEnd type="none"/>
              </a:ln>
              <a:effectLst/>
            </p:spPr>
          </p:cxn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93FE8C4-DBC4-C338-01DF-6312933AD743}"/>
                </a:ext>
              </a:extLst>
            </p:cNvPr>
            <p:cNvSpPr txBox="1"/>
            <p:nvPr/>
          </p:nvSpPr>
          <p:spPr>
            <a:xfrm>
              <a:off x="5522666" y="4690399"/>
              <a:ext cx="5613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Critical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: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3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81" name="폭발: 8pt 80">
              <a:extLst>
                <a:ext uri="{FF2B5EF4-FFF2-40B4-BE49-F238E27FC236}">
                  <a16:creationId xmlns:a16="http://schemas.microsoft.com/office/drawing/2014/main" id="{75AD0CF2-21C1-AD02-BA2F-12617F6D674A}"/>
                </a:ext>
              </a:extLst>
            </p:cNvPr>
            <p:cNvSpPr/>
            <p:nvPr/>
          </p:nvSpPr>
          <p:spPr>
            <a:xfrm>
              <a:off x="7528493" y="4559253"/>
              <a:ext cx="209947" cy="205141"/>
            </a:xfrm>
            <a:prstGeom prst="irregularSeal1">
              <a:avLst/>
            </a:prstGeom>
            <a:solidFill>
              <a:srgbClr val="FFFF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C663504B-3490-641F-8DB4-E6B85B859337}"/>
                </a:ext>
              </a:extLst>
            </p:cNvPr>
            <p:cNvCxnSpPr>
              <a:cxnSpLocks/>
            </p:cNvCxnSpPr>
            <p:nvPr/>
          </p:nvCxnSpPr>
          <p:spPr>
            <a:xfrm>
              <a:off x="7162800" y="2878943"/>
              <a:ext cx="114945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7F47D5BA-FA89-C7E0-59DE-A942CDA3CA3C}"/>
                </a:ext>
              </a:extLst>
            </p:cNvPr>
            <p:cNvCxnSpPr>
              <a:cxnSpLocks/>
            </p:cNvCxnSpPr>
            <p:nvPr/>
          </p:nvCxnSpPr>
          <p:spPr>
            <a:xfrm>
              <a:off x="8357613" y="2874077"/>
              <a:ext cx="118413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7B35B02-B334-2DFB-98A0-B86D512EDDC5}"/>
                </a:ext>
              </a:extLst>
            </p:cNvPr>
            <p:cNvSpPr txBox="1"/>
            <p:nvPr/>
          </p:nvSpPr>
          <p:spPr>
            <a:xfrm>
              <a:off x="7360034" y="2750966"/>
              <a:ext cx="7938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평균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 0.071%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2B15885-F097-D066-3B77-48C40718FB7A}"/>
                </a:ext>
              </a:extLst>
            </p:cNvPr>
            <p:cNvSpPr txBox="1"/>
            <p:nvPr/>
          </p:nvSpPr>
          <p:spPr>
            <a:xfrm>
              <a:off x="8572447" y="2750965"/>
              <a:ext cx="8619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평균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0.008%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FC8305F-01DE-9280-CC82-3F8898ECADB0}"/>
                </a:ext>
              </a:extLst>
            </p:cNvPr>
            <p:cNvSpPr txBox="1"/>
            <p:nvPr/>
          </p:nvSpPr>
          <p:spPr>
            <a:xfrm>
              <a:off x="5170940" y="4559253"/>
              <a:ext cx="3914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증가량</a:t>
              </a: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(mm)</a:t>
              </a: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165F97D-D512-7922-93C5-CAD95CE4C1AA}"/>
                </a:ext>
              </a:extLst>
            </p:cNvPr>
            <p:cNvSpPr txBox="1"/>
            <p:nvPr/>
          </p:nvSpPr>
          <p:spPr>
            <a:xfrm>
              <a:off x="5106015" y="3205371"/>
              <a:ext cx="3914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직행</a:t>
              </a: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불량률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DA1B197-B246-C97C-90EB-DFC6B21A4C37}"/>
                </a:ext>
              </a:extLst>
            </p:cNvPr>
            <p:cNvSpPr txBox="1"/>
            <p:nvPr/>
          </p:nvSpPr>
          <p:spPr>
            <a:xfrm>
              <a:off x="5123774" y="1897607"/>
              <a:ext cx="3914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보정량</a:t>
              </a: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(mm)</a:t>
              </a: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00B3AD75-6537-F89E-2472-BCB52E78E59F}"/>
              </a:ext>
            </a:extLst>
          </p:cNvPr>
          <p:cNvGrpSpPr/>
          <p:nvPr/>
        </p:nvGrpSpPr>
        <p:grpSpPr>
          <a:xfrm>
            <a:off x="827049" y="1399516"/>
            <a:ext cx="4399629" cy="5209317"/>
            <a:chOff x="827049" y="1399516"/>
            <a:chExt cx="4399629" cy="5209317"/>
          </a:xfrm>
        </p:grpSpPr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E312AB4E-08C5-34B6-BF14-DBD9749BCC15}"/>
                </a:ext>
              </a:extLst>
            </p:cNvPr>
            <p:cNvGrpSpPr/>
            <p:nvPr/>
          </p:nvGrpSpPr>
          <p:grpSpPr>
            <a:xfrm>
              <a:off x="1038714" y="1399516"/>
              <a:ext cx="4187964" cy="5209317"/>
              <a:chOff x="422135" y="1466849"/>
              <a:chExt cx="4187964" cy="5334997"/>
            </a:xfrm>
          </p:grpSpPr>
          <p:pic>
            <p:nvPicPr>
              <p:cNvPr id="111" name="그림 110">
                <a:extLst>
                  <a:ext uri="{FF2B5EF4-FFF2-40B4-BE49-F238E27FC236}">
                    <a16:creationId xmlns:a16="http://schemas.microsoft.com/office/drawing/2014/main" id="{DAEB50CF-3157-3708-5071-DA1CD5DCDB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50087"/>
              <a:stretch/>
            </p:blipFill>
            <p:spPr>
              <a:xfrm>
                <a:off x="460235" y="1466849"/>
                <a:ext cx="4149864" cy="1338374"/>
              </a:xfrm>
              <a:prstGeom prst="rect">
                <a:avLst/>
              </a:prstGeom>
            </p:spPr>
          </p:pic>
          <p:pic>
            <p:nvPicPr>
              <p:cNvPr id="112" name="그림 111">
                <a:extLst>
                  <a:ext uri="{FF2B5EF4-FFF2-40B4-BE49-F238E27FC236}">
                    <a16:creationId xmlns:a16="http://schemas.microsoft.com/office/drawing/2014/main" id="{94F5384E-31F6-E6B1-0D99-B89D043BC3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50997"/>
              <a:stretch/>
            </p:blipFill>
            <p:spPr>
              <a:xfrm>
                <a:off x="460235" y="4211278"/>
                <a:ext cx="4092713" cy="1242204"/>
              </a:xfrm>
              <a:prstGeom prst="rect">
                <a:avLst/>
              </a:prstGeom>
            </p:spPr>
          </p:pic>
          <p:pic>
            <p:nvPicPr>
              <p:cNvPr id="113" name="그림 112">
                <a:extLst>
                  <a:ext uri="{FF2B5EF4-FFF2-40B4-BE49-F238E27FC236}">
                    <a16:creationId xmlns:a16="http://schemas.microsoft.com/office/drawing/2014/main" id="{BB967DC6-20A4-00BD-CBF8-2D98C11FF5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50087"/>
              <a:stretch/>
            </p:blipFill>
            <p:spPr>
              <a:xfrm>
                <a:off x="422135" y="2831836"/>
                <a:ext cx="4149863" cy="1292713"/>
              </a:xfrm>
              <a:prstGeom prst="rect">
                <a:avLst/>
              </a:prstGeom>
            </p:spPr>
          </p:pic>
          <p:pic>
            <p:nvPicPr>
              <p:cNvPr id="114" name="그림 113">
                <a:extLst>
                  <a:ext uri="{FF2B5EF4-FFF2-40B4-BE49-F238E27FC236}">
                    <a16:creationId xmlns:a16="http://schemas.microsoft.com/office/drawing/2014/main" id="{86B68115-6B70-3CA1-D634-C61D3AC45D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49758"/>
              <a:stretch/>
            </p:blipFill>
            <p:spPr>
              <a:xfrm>
                <a:off x="441185" y="5509133"/>
                <a:ext cx="4092713" cy="1292713"/>
              </a:xfrm>
              <a:prstGeom prst="rect">
                <a:avLst/>
              </a:prstGeom>
            </p:spPr>
          </p:pic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AF13BE31-47F1-D440-25BD-88EFCB15BC2F}"/>
                  </a:ext>
                </a:extLst>
              </p:cNvPr>
              <p:cNvCxnSpPr/>
              <p:nvPr/>
            </p:nvCxnSpPr>
            <p:spPr>
              <a:xfrm>
                <a:off x="2943225" y="1466849"/>
                <a:ext cx="0" cy="5210175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dash"/>
                <a:miter lim="800000"/>
                <a:headEnd type="none"/>
                <a:tailEnd type="none"/>
              </a:ln>
              <a:effectLst/>
            </p:spPr>
          </p:cxn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30E5814-F041-051D-3832-17F8C6358474}"/>
                </a:ext>
              </a:extLst>
            </p:cNvPr>
            <p:cNvSpPr txBox="1"/>
            <p:nvPr/>
          </p:nvSpPr>
          <p:spPr>
            <a:xfrm>
              <a:off x="1265581" y="4282208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+0.6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D2076C3-DEA3-2DEC-AE1C-3D4DDDD7852E}"/>
                </a:ext>
              </a:extLst>
            </p:cNvPr>
            <p:cNvSpPr txBox="1"/>
            <p:nvPr/>
          </p:nvSpPr>
          <p:spPr>
            <a:xfrm>
              <a:off x="1281674" y="4787221"/>
              <a:ext cx="3289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-0.6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15EFB15-DB29-2F32-D099-0A095DC845F2}"/>
                </a:ext>
              </a:extLst>
            </p:cNvPr>
            <p:cNvSpPr txBox="1"/>
            <p:nvPr/>
          </p:nvSpPr>
          <p:spPr>
            <a:xfrm>
              <a:off x="1231500" y="5634174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+0.3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04A1981-E58D-EC8D-34F3-A30082363C5B}"/>
                </a:ext>
              </a:extLst>
            </p:cNvPr>
            <p:cNvSpPr txBox="1"/>
            <p:nvPr/>
          </p:nvSpPr>
          <p:spPr>
            <a:xfrm>
              <a:off x="1246284" y="6025835"/>
              <a:ext cx="3289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-0.3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cxnSp>
          <p:nvCxnSpPr>
            <p:cNvPr id="100" name="직선 화살표 연결선 99">
              <a:extLst>
                <a:ext uri="{FF2B5EF4-FFF2-40B4-BE49-F238E27FC236}">
                  <a16:creationId xmlns:a16="http://schemas.microsoft.com/office/drawing/2014/main" id="{8ABBB319-F4FD-4CA6-01F4-C0F4164D3138}"/>
                </a:ext>
              </a:extLst>
            </p:cNvPr>
            <p:cNvCxnSpPr/>
            <p:nvPr/>
          </p:nvCxnSpPr>
          <p:spPr>
            <a:xfrm>
              <a:off x="1281674" y="2883810"/>
              <a:ext cx="2251075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195D1B44-1A84-7ADE-3BAB-0884AD5A67E0}"/>
                </a:ext>
              </a:extLst>
            </p:cNvPr>
            <p:cNvCxnSpPr>
              <a:cxnSpLocks/>
            </p:cNvCxnSpPr>
            <p:nvPr/>
          </p:nvCxnSpPr>
          <p:spPr>
            <a:xfrm>
              <a:off x="3578111" y="2878944"/>
              <a:ext cx="157236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14A059D-E2CD-FE70-00E6-8D35A9DF0269}"/>
                </a:ext>
              </a:extLst>
            </p:cNvPr>
            <p:cNvSpPr txBox="1"/>
            <p:nvPr/>
          </p:nvSpPr>
          <p:spPr>
            <a:xfrm>
              <a:off x="2014912" y="2760699"/>
              <a:ext cx="7938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평균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 0.070%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376F47F-3462-8732-4B76-E82B1779025C}"/>
                </a:ext>
              </a:extLst>
            </p:cNvPr>
            <p:cNvSpPr txBox="1"/>
            <p:nvPr/>
          </p:nvSpPr>
          <p:spPr>
            <a:xfrm>
              <a:off x="3986235" y="2760700"/>
              <a:ext cx="8619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평균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0.028%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E7D1DA8-67EE-FAAC-B867-D19E60329A71}"/>
                </a:ext>
              </a:extLst>
            </p:cNvPr>
            <p:cNvSpPr txBox="1"/>
            <p:nvPr/>
          </p:nvSpPr>
          <p:spPr>
            <a:xfrm>
              <a:off x="827049" y="4520287"/>
              <a:ext cx="3914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편차</a:t>
              </a: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(mm)</a:t>
              </a: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5A30134-8FF7-6DBC-5E56-41DE6EEB5AB9}"/>
                </a:ext>
              </a:extLst>
            </p:cNvPr>
            <p:cNvSpPr txBox="1"/>
            <p:nvPr/>
          </p:nvSpPr>
          <p:spPr>
            <a:xfrm>
              <a:off x="836524" y="5790255"/>
              <a:ext cx="3914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편차</a:t>
              </a: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(mm)</a:t>
              </a: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2F8E568-BD73-C90F-CC7E-B3958BE8D423}"/>
                </a:ext>
              </a:extLst>
            </p:cNvPr>
            <p:cNvSpPr txBox="1"/>
            <p:nvPr/>
          </p:nvSpPr>
          <p:spPr>
            <a:xfrm>
              <a:off x="857536" y="3174370"/>
              <a:ext cx="3914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직행</a:t>
              </a: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불량률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18B5F98-527C-7825-4AF3-CF5DC31F84D7}"/>
                </a:ext>
              </a:extLst>
            </p:cNvPr>
            <p:cNvSpPr txBox="1"/>
            <p:nvPr/>
          </p:nvSpPr>
          <p:spPr>
            <a:xfrm>
              <a:off x="868339" y="1897607"/>
              <a:ext cx="3914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보정량</a:t>
              </a: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(mm)</a:t>
              </a: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86D1445-F718-C387-CF50-81805C728202}"/>
                </a:ext>
              </a:extLst>
            </p:cNvPr>
            <p:cNvSpPr txBox="1"/>
            <p:nvPr/>
          </p:nvSpPr>
          <p:spPr>
            <a:xfrm>
              <a:off x="2141344" y="4836252"/>
              <a:ext cx="52610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편차 발생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E00DF05-3222-848F-621D-5E1BFD955211}"/>
                </a:ext>
              </a:extLst>
            </p:cNvPr>
            <p:cNvSpPr txBox="1"/>
            <p:nvPr/>
          </p:nvSpPr>
          <p:spPr>
            <a:xfrm>
              <a:off x="4391193" y="4071788"/>
              <a:ext cx="8354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● 편차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(Y1 – Y3)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● 편차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(Y2 – Y4)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9CC62A0-0FF6-F135-99A1-BC9BC9175AB4}"/>
                </a:ext>
              </a:extLst>
            </p:cNvPr>
            <p:cNvSpPr txBox="1"/>
            <p:nvPr/>
          </p:nvSpPr>
          <p:spPr>
            <a:xfrm>
              <a:off x="4378787" y="5376920"/>
              <a:ext cx="8354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● 편차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(Y1 – Y2)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● 편차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(Y3 – Y4)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A3EE313C-B919-A4BB-0939-D7AABCD73A92}"/>
              </a:ext>
            </a:extLst>
          </p:cNvPr>
          <p:cNvGrpSpPr/>
          <p:nvPr/>
        </p:nvGrpSpPr>
        <p:grpSpPr>
          <a:xfrm>
            <a:off x="7494149" y="98899"/>
            <a:ext cx="1844251" cy="926778"/>
            <a:chOff x="615108" y="2743200"/>
            <a:chExt cx="3198631" cy="1607379"/>
          </a:xfrm>
        </p:grpSpPr>
        <p:pic>
          <p:nvPicPr>
            <p:cNvPr id="117" name="Picture 2">
              <a:extLst>
                <a:ext uri="{FF2B5EF4-FFF2-40B4-BE49-F238E27FC236}">
                  <a16:creationId xmlns:a16="http://schemas.microsoft.com/office/drawing/2014/main" id="{D1BFF7EE-F16A-E0DD-4458-840F5EF4DD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66" t="12507" r="8281" b="22045"/>
            <a:stretch/>
          </p:blipFill>
          <p:spPr bwMode="auto">
            <a:xfrm rot="16200000">
              <a:off x="1463999" y="2424586"/>
              <a:ext cx="1607379" cy="2244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707617A4-5BE6-5822-6AA8-148380D7236E}"/>
                </a:ext>
              </a:extLst>
            </p:cNvPr>
            <p:cNvSpPr txBox="1"/>
            <p:nvPr/>
          </p:nvSpPr>
          <p:spPr>
            <a:xfrm>
              <a:off x="618988" y="3738085"/>
              <a:ext cx="414440" cy="3003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Y1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5BEC08D-1D86-6D29-3520-8F32ECD7EC05}"/>
                </a:ext>
              </a:extLst>
            </p:cNvPr>
            <p:cNvSpPr txBox="1"/>
            <p:nvPr/>
          </p:nvSpPr>
          <p:spPr>
            <a:xfrm>
              <a:off x="615108" y="2988369"/>
              <a:ext cx="414440" cy="3003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Y2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2E5C23D-F3B9-0BC8-93E6-60396C9461EE}"/>
                </a:ext>
              </a:extLst>
            </p:cNvPr>
            <p:cNvSpPr txBox="1"/>
            <p:nvPr/>
          </p:nvSpPr>
          <p:spPr>
            <a:xfrm>
              <a:off x="3399295" y="3723572"/>
              <a:ext cx="414441" cy="3003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Y3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8A763DCE-B6B0-CF24-2FFD-1DBA1127136E}"/>
                </a:ext>
              </a:extLst>
            </p:cNvPr>
            <p:cNvSpPr txBox="1"/>
            <p:nvPr/>
          </p:nvSpPr>
          <p:spPr>
            <a:xfrm>
              <a:off x="3399298" y="2993278"/>
              <a:ext cx="414441" cy="3003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Y4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22" name="왼쪽 중괄호 121">
              <a:extLst>
                <a:ext uri="{FF2B5EF4-FFF2-40B4-BE49-F238E27FC236}">
                  <a16:creationId xmlns:a16="http://schemas.microsoft.com/office/drawing/2014/main" id="{A31AEA67-688C-AB67-576D-BF7A2CD749C1}"/>
                </a:ext>
              </a:extLst>
            </p:cNvPr>
            <p:cNvSpPr/>
            <p:nvPr/>
          </p:nvSpPr>
          <p:spPr>
            <a:xfrm>
              <a:off x="998788" y="2978528"/>
              <a:ext cx="107844" cy="343458"/>
            </a:xfrm>
            <a:prstGeom prst="leftBrace">
              <a:avLst>
                <a:gd name="adj1" fmla="val 26150"/>
                <a:gd name="adj2" fmla="val 50000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23" name="왼쪽 중괄호 122">
              <a:extLst>
                <a:ext uri="{FF2B5EF4-FFF2-40B4-BE49-F238E27FC236}">
                  <a16:creationId xmlns:a16="http://schemas.microsoft.com/office/drawing/2014/main" id="{E910810F-84D8-5857-6238-827AD6EE332F}"/>
                </a:ext>
              </a:extLst>
            </p:cNvPr>
            <p:cNvSpPr/>
            <p:nvPr/>
          </p:nvSpPr>
          <p:spPr>
            <a:xfrm>
              <a:off x="998787" y="3708763"/>
              <a:ext cx="107844" cy="382223"/>
            </a:xfrm>
            <a:prstGeom prst="leftBrace">
              <a:avLst>
                <a:gd name="adj1" fmla="val 26150"/>
                <a:gd name="adj2" fmla="val 50000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24" name="왼쪽 중괄호 123">
              <a:extLst>
                <a:ext uri="{FF2B5EF4-FFF2-40B4-BE49-F238E27FC236}">
                  <a16:creationId xmlns:a16="http://schemas.microsoft.com/office/drawing/2014/main" id="{9E9D9051-0058-9FCF-ABD7-7F226E642CAE}"/>
                </a:ext>
              </a:extLst>
            </p:cNvPr>
            <p:cNvSpPr/>
            <p:nvPr/>
          </p:nvSpPr>
          <p:spPr>
            <a:xfrm flipH="1">
              <a:off x="3421960" y="2995492"/>
              <a:ext cx="107842" cy="343458"/>
            </a:xfrm>
            <a:prstGeom prst="leftBrace">
              <a:avLst>
                <a:gd name="adj1" fmla="val 26150"/>
                <a:gd name="adj2" fmla="val 50000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25" name="왼쪽 중괄호 124">
              <a:extLst>
                <a:ext uri="{FF2B5EF4-FFF2-40B4-BE49-F238E27FC236}">
                  <a16:creationId xmlns:a16="http://schemas.microsoft.com/office/drawing/2014/main" id="{EEEB7A49-590F-49DF-D94D-2F563324DE85}"/>
                </a:ext>
              </a:extLst>
            </p:cNvPr>
            <p:cNvSpPr/>
            <p:nvPr/>
          </p:nvSpPr>
          <p:spPr>
            <a:xfrm flipH="1">
              <a:off x="3421960" y="3699398"/>
              <a:ext cx="107842" cy="382223"/>
            </a:xfrm>
            <a:prstGeom prst="leftBrace">
              <a:avLst>
                <a:gd name="adj1" fmla="val 26150"/>
                <a:gd name="adj2" fmla="val 50000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</p:grp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E74989B3-E136-F937-41FC-3728773CF34A}"/>
              </a:ext>
            </a:extLst>
          </p:cNvPr>
          <p:cNvCxnSpPr>
            <a:cxnSpLocks/>
          </p:cNvCxnSpPr>
          <p:nvPr/>
        </p:nvCxnSpPr>
        <p:spPr>
          <a:xfrm>
            <a:off x="2517569" y="1897607"/>
            <a:ext cx="0" cy="26125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3F4FC70B-4C58-3C82-F325-F015860478FB}"/>
              </a:ext>
            </a:extLst>
          </p:cNvPr>
          <p:cNvCxnSpPr>
            <a:cxnSpLocks/>
          </p:cNvCxnSpPr>
          <p:nvPr/>
        </p:nvCxnSpPr>
        <p:spPr>
          <a:xfrm flipV="1">
            <a:off x="7312534" y="1821180"/>
            <a:ext cx="286455" cy="100177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4401CB4-0D3B-A37D-7A7B-F23D0DEACBEA}"/>
              </a:ext>
            </a:extLst>
          </p:cNvPr>
          <p:cNvCxnSpPr>
            <a:cxnSpLocks/>
          </p:cNvCxnSpPr>
          <p:nvPr/>
        </p:nvCxnSpPr>
        <p:spPr>
          <a:xfrm flipV="1">
            <a:off x="7897530" y="1420403"/>
            <a:ext cx="205518" cy="23456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EB32F402-9F47-16B2-2B0B-72CD37ADD1A9}"/>
              </a:ext>
            </a:extLst>
          </p:cNvPr>
          <p:cNvSpPr txBox="1"/>
          <p:nvPr/>
        </p:nvSpPr>
        <p:spPr>
          <a:xfrm>
            <a:off x="3262286" y="6456222"/>
            <a:ext cx="5950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조치시점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EBA9F73-B339-9F54-110B-1579A949A65A}"/>
              </a:ext>
            </a:extLst>
          </p:cNvPr>
          <p:cNvSpPr txBox="1"/>
          <p:nvPr/>
        </p:nvSpPr>
        <p:spPr>
          <a:xfrm>
            <a:off x="8025115" y="5205995"/>
            <a:ext cx="5950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조치시점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380F3ED-182C-0477-76BD-4A41F1520416}"/>
              </a:ext>
            </a:extLst>
          </p:cNvPr>
          <p:cNvSpPr txBox="1"/>
          <p:nvPr/>
        </p:nvSpPr>
        <p:spPr>
          <a:xfrm>
            <a:off x="1225049" y="4049980"/>
            <a:ext cx="5389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5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Case 1</a:t>
            </a:r>
            <a:endParaRPr lang="ko-KR" altLang="en-US" sz="1050" b="1" dirty="0">
              <a:solidFill>
                <a:prstClr val="black"/>
              </a:solidFill>
              <a:highlight>
                <a:srgbClr val="FFFF00"/>
              </a:highlight>
              <a:latin typeface="Arial Narrow"/>
              <a:ea typeface="LG스마트체 Regular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EFED919-7104-8F2D-9A72-CC390049793C}"/>
              </a:ext>
            </a:extLst>
          </p:cNvPr>
          <p:cNvSpPr txBox="1"/>
          <p:nvPr/>
        </p:nvSpPr>
        <p:spPr>
          <a:xfrm>
            <a:off x="1215524" y="5346573"/>
            <a:ext cx="5389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5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Case 2</a:t>
            </a:r>
            <a:endParaRPr lang="ko-KR" altLang="en-US" sz="1050" b="1" dirty="0">
              <a:solidFill>
                <a:prstClr val="black"/>
              </a:solidFill>
              <a:highlight>
                <a:srgbClr val="FFFF00"/>
              </a:highlight>
              <a:latin typeface="Arial Narrow"/>
              <a:ea typeface="LG스마트체 Regular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E4D0300-08F2-FB7F-C7F8-B3ADB37723F6}"/>
              </a:ext>
            </a:extLst>
          </p:cNvPr>
          <p:cNvSpPr txBox="1"/>
          <p:nvPr/>
        </p:nvSpPr>
        <p:spPr>
          <a:xfrm>
            <a:off x="5497469" y="4051935"/>
            <a:ext cx="5389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5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Case 3</a:t>
            </a:r>
            <a:endParaRPr lang="ko-KR" altLang="en-US" sz="1050" b="1" dirty="0">
              <a:solidFill>
                <a:prstClr val="black"/>
              </a:solidFill>
              <a:highlight>
                <a:srgbClr val="FFFF00"/>
              </a:highlight>
              <a:latin typeface="Arial Narrow"/>
              <a:ea typeface="LG스마트체 Regula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4" name="표 133">
                <a:extLst>
                  <a:ext uri="{FF2B5EF4-FFF2-40B4-BE49-F238E27FC236}">
                    <a16:creationId xmlns:a16="http://schemas.microsoft.com/office/drawing/2014/main" id="{762F396F-91EC-9937-8B92-165D3754D4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6975105"/>
                  </p:ext>
                </p:extLst>
              </p:nvPr>
            </p:nvGraphicFramePr>
            <p:xfrm>
              <a:off x="5421873" y="5427294"/>
              <a:ext cx="4164684" cy="114679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38366">
                      <a:extLst>
                        <a:ext uri="{9D8B030D-6E8A-4147-A177-3AD203B41FA5}">
                          <a16:colId xmlns:a16="http://schemas.microsoft.com/office/drawing/2014/main" val="1611637560"/>
                        </a:ext>
                      </a:extLst>
                    </a:gridCol>
                    <a:gridCol w="1215652">
                      <a:extLst>
                        <a:ext uri="{9D8B030D-6E8A-4147-A177-3AD203B41FA5}">
                          <a16:colId xmlns:a16="http://schemas.microsoft.com/office/drawing/2014/main" val="2765934741"/>
                        </a:ext>
                      </a:extLst>
                    </a:gridCol>
                    <a:gridCol w="1255333">
                      <a:extLst>
                        <a:ext uri="{9D8B030D-6E8A-4147-A177-3AD203B41FA5}">
                          <a16:colId xmlns:a16="http://schemas.microsoft.com/office/drawing/2014/main" val="1893689834"/>
                        </a:ext>
                      </a:extLst>
                    </a:gridCol>
                    <a:gridCol w="1255333">
                      <a:extLst>
                        <a:ext uri="{9D8B030D-6E8A-4147-A177-3AD203B41FA5}">
                          <a16:colId xmlns:a16="http://schemas.microsoft.com/office/drawing/2014/main" val="105045505"/>
                        </a:ext>
                      </a:extLst>
                    </a:gridCol>
                  </a:tblGrid>
                  <a:tr h="152408"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ko-KR" altLang="en-US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구분</a:t>
                          </a: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Case 1</a:t>
                          </a:r>
                          <a:endParaRPr kumimoji="0" lang="ko-KR" altLang="en-US" sz="9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Case 2</a:t>
                          </a:r>
                          <a:endParaRPr kumimoji="0" lang="ko-KR" altLang="en-US" sz="9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Case 3</a:t>
                          </a:r>
                          <a:endParaRPr kumimoji="0" lang="ko-KR" altLang="en-US" sz="9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0410610"/>
                      </a:ext>
                    </a:extLst>
                  </a:tr>
                  <a:tr h="352296"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ko-KR" altLang="en-US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모델링</a:t>
                          </a:r>
                          <a:endParaRPr kumimoji="0" lang="en-US" altLang="ko-KR" sz="9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Y1 - Y3 10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분 평균</a:t>
                          </a:r>
                          <a:endParaRPr kumimoji="0" lang="en-US" altLang="ko-KR" sz="900" b="0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  <a:p>
                          <a:pPr algn="ctr" latinLnBrk="1"/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or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Y2 - Y4 10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분 평균</a:t>
                          </a: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Y1 - Y2 10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분 평균</a:t>
                          </a:r>
                          <a:endParaRPr kumimoji="0" lang="en-US" altLang="ko-KR" sz="900" b="0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  <a:p>
                          <a:pPr algn="ctr" latinLnBrk="1"/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or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Y3 - Y4 10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분 평균</a:t>
                          </a: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이동 평균 트렌드</a:t>
                          </a:r>
                          <a:b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</a:b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(Short - Long) 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계산후</a:t>
                          </a: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, 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0.05mm 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초과시 증가량 누적</a:t>
                          </a: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.</a:t>
                          </a:r>
                          <a:endParaRPr kumimoji="0" lang="ko-KR" altLang="en-US" sz="900" b="0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66760131"/>
                      </a:ext>
                    </a:extLst>
                  </a:tr>
                  <a:tr h="252352"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ko-KR" altLang="en-US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관리선</a:t>
                          </a:r>
                          <a:endParaRPr kumimoji="0" lang="en-US" altLang="ko-KR" sz="9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  <a:p>
                          <a:pPr algn="ctr" latinLnBrk="1"/>
                          <a:r>
                            <a:rPr kumimoji="0" lang="en-US" altLang="ko-KR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/ </a:t>
                          </a:r>
                          <a:r>
                            <a:rPr kumimoji="0" lang="ko-KR" altLang="en-US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알람룰</a:t>
                          </a:r>
                          <a:endParaRPr kumimoji="0" lang="en-US" altLang="ko-KR" sz="9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ko-KR" sz="900" b="0" i="0" u="none" strike="noStrike" kern="1200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0.6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 </a:t>
                          </a: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/ 3 out of 6</a:t>
                          </a: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ko-KR" sz="900" b="0" i="0" u="none" strike="noStrike" kern="1200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±</m:t>
                              </m:r>
                            </m:oMath>
                          </a14:m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0.3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 </a:t>
                          </a: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/ 3 out of 6</a:t>
                          </a: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3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 </a:t>
                          </a: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/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 </a:t>
                          </a: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1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 </a:t>
                          </a: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out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 </a:t>
                          </a: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of 1</a:t>
                          </a:r>
                          <a:endParaRPr kumimoji="0" lang="ko-KR" altLang="en-US" sz="900" b="0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0414602"/>
                      </a:ext>
                    </a:extLst>
                  </a:tr>
                  <a:tr h="183502"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ko-KR" altLang="en-US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알람</a:t>
                          </a:r>
                          <a:r>
                            <a:rPr kumimoji="0" lang="en-US" altLang="ko-KR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On</a:t>
                          </a: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4/1 ~</a:t>
                          </a:r>
                          <a:endParaRPr kumimoji="0" lang="ko-KR" altLang="en-US" sz="900" b="0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marL="0" lvl="0" indent="0" algn="ctr">
                            <a:lnSpc>
                              <a:spcPct val="150000"/>
                            </a:lnSpc>
                            <a:buFont typeface="Arial" panose="020B0604020202020204" pitchFamily="34" charset="0"/>
                            <a:buNone/>
                          </a:pP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4/1 ~</a:t>
                          </a: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5/9 ~</a:t>
                          </a:r>
                          <a:endParaRPr kumimoji="0" lang="ko-KR" altLang="en-US" sz="900" b="0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16634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4" name="표 133">
                <a:extLst>
                  <a:ext uri="{FF2B5EF4-FFF2-40B4-BE49-F238E27FC236}">
                    <a16:creationId xmlns:a16="http://schemas.microsoft.com/office/drawing/2014/main" id="{762F396F-91EC-9937-8B92-165D3754D4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6975105"/>
                  </p:ext>
                </p:extLst>
              </p:nvPr>
            </p:nvGraphicFramePr>
            <p:xfrm>
              <a:off x="5421873" y="5427294"/>
              <a:ext cx="4164684" cy="114679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38366">
                      <a:extLst>
                        <a:ext uri="{9D8B030D-6E8A-4147-A177-3AD203B41FA5}">
                          <a16:colId xmlns:a16="http://schemas.microsoft.com/office/drawing/2014/main" val="1611637560"/>
                        </a:ext>
                      </a:extLst>
                    </a:gridCol>
                    <a:gridCol w="1215652">
                      <a:extLst>
                        <a:ext uri="{9D8B030D-6E8A-4147-A177-3AD203B41FA5}">
                          <a16:colId xmlns:a16="http://schemas.microsoft.com/office/drawing/2014/main" val="2765934741"/>
                        </a:ext>
                      </a:extLst>
                    </a:gridCol>
                    <a:gridCol w="1255333">
                      <a:extLst>
                        <a:ext uri="{9D8B030D-6E8A-4147-A177-3AD203B41FA5}">
                          <a16:colId xmlns:a16="http://schemas.microsoft.com/office/drawing/2014/main" val="1893689834"/>
                        </a:ext>
                      </a:extLst>
                    </a:gridCol>
                    <a:gridCol w="1255333">
                      <a:extLst>
                        <a:ext uri="{9D8B030D-6E8A-4147-A177-3AD203B41FA5}">
                          <a16:colId xmlns:a16="http://schemas.microsoft.com/office/drawing/2014/main" val="105045505"/>
                        </a:ext>
                      </a:extLst>
                    </a:gridCol>
                  </a:tblGrid>
                  <a:tr h="173160"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ko-KR" altLang="en-US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구분</a:t>
                          </a: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Case 1</a:t>
                          </a:r>
                          <a:endParaRPr kumimoji="0" lang="ko-KR" altLang="en-US" sz="9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Case 2</a:t>
                          </a:r>
                          <a:endParaRPr kumimoji="0" lang="ko-KR" altLang="en-US" sz="9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Case 3</a:t>
                          </a:r>
                          <a:endParaRPr kumimoji="0" lang="ko-KR" altLang="en-US" sz="9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0410610"/>
                      </a:ext>
                    </a:extLst>
                  </a:tr>
                  <a:tr h="447480"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ko-KR" altLang="en-US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모델링</a:t>
                          </a:r>
                          <a:endParaRPr kumimoji="0" lang="en-US" altLang="ko-KR" sz="9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Y1 - Y3 10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분 평균</a:t>
                          </a:r>
                          <a:endParaRPr kumimoji="0" lang="en-US" altLang="ko-KR" sz="900" b="0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  <a:p>
                          <a:pPr algn="ctr" latinLnBrk="1"/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or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Y2 - Y4 10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분 평균</a:t>
                          </a: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Y1 - Y2 10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분 평균</a:t>
                          </a:r>
                          <a:endParaRPr kumimoji="0" lang="en-US" altLang="ko-KR" sz="900" b="0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  <a:p>
                          <a:pPr algn="ctr" latinLnBrk="1"/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or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Y3 - Y4 10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분 평균</a:t>
                          </a: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이동 평균 트렌드</a:t>
                          </a:r>
                          <a:b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</a:b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(Short - Long) 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계산후</a:t>
                          </a: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, 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0.05mm 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초과시 증가량 누적</a:t>
                          </a: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.</a:t>
                          </a:r>
                          <a:endParaRPr kumimoji="0" lang="ko-KR" altLang="en-US" sz="900" b="0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66760131"/>
                      </a:ext>
                    </a:extLst>
                  </a:tr>
                  <a:tr h="310320"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ko-KR" altLang="en-US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관리선</a:t>
                          </a:r>
                          <a:endParaRPr kumimoji="0" lang="en-US" altLang="ko-KR" sz="9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  <a:p>
                          <a:pPr algn="ctr" latinLnBrk="1"/>
                          <a:r>
                            <a:rPr kumimoji="0" lang="en-US" altLang="ko-KR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/ </a:t>
                          </a:r>
                          <a:r>
                            <a:rPr kumimoji="0" lang="ko-KR" altLang="en-US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알람룰</a:t>
                          </a:r>
                          <a:endParaRPr kumimoji="0" lang="en-US" altLang="ko-KR" sz="9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36500" t="-207843" r="-206500" b="-862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32524" t="-207843" r="-100485" b="-86275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3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 </a:t>
                          </a: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/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 </a:t>
                          </a: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1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 </a:t>
                          </a: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out</a:t>
                          </a:r>
                          <a:r>
                            <a:rPr kumimoji="0" lang="ko-KR" altLang="en-US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 </a:t>
                          </a: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of 1</a:t>
                          </a:r>
                          <a:endParaRPr kumimoji="0" lang="ko-KR" altLang="en-US" sz="900" b="0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0414602"/>
                      </a:ext>
                    </a:extLst>
                  </a:tr>
                  <a:tr h="215832"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ko-KR" altLang="en-US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알람</a:t>
                          </a:r>
                          <a:r>
                            <a:rPr kumimoji="0" lang="en-US" altLang="ko-KR" sz="900" b="1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On</a:t>
                          </a: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4/1 ~</a:t>
                          </a:r>
                          <a:endParaRPr kumimoji="0" lang="ko-KR" altLang="en-US" sz="900" b="0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marL="0" lvl="0" indent="0" algn="ctr">
                            <a:lnSpc>
                              <a:spcPct val="150000"/>
                            </a:lnSpc>
                            <a:buFont typeface="Arial" panose="020B0604020202020204" pitchFamily="34" charset="0"/>
                            <a:buNone/>
                          </a:pPr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4/1 ~</a:t>
                          </a: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 Narrow"/>
                              <a:ea typeface="LG스마트체 Regular"/>
                            </a:defRPr>
                          </a:lvl9pPr>
                        </a:lstStyle>
                        <a:p>
                          <a:pPr algn="ctr" latinLnBrk="1"/>
                          <a:r>
                            <a:rPr kumimoji="0" lang="en-US" altLang="ko-KR" sz="9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 Narrow" panose="020B0606020202030204" pitchFamily="34" charset="0"/>
                              <a:ea typeface="LG스마트체 Regular" panose="020B0600000101010101" pitchFamily="50" charset="-127"/>
                              <a:cs typeface="+mn-cs"/>
                            </a:rPr>
                            <a:t>5/9 ~</a:t>
                          </a:r>
                          <a:endParaRPr kumimoji="0" lang="ko-KR" altLang="en-US" sz="900" b="0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 Narrow" panose="020B0606020202030204" pitchFamily="34" charset="0"/>
                            <a:ea typeface="LG스마트체 Regular" panose="020B0600000101010101" pitchFamily="50" charset="-127"/>
                            <a:cs typeface="+mn-cs"/>
                          </a:endParaRPr>
                        </a:p>
                      </a:txBody>
                      <a:tcPr marL="0" marR="0" marT="18000" marB="18000" anchor="ctr">
                        <a:lnL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16634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실행 단추: 홈으로 이동 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B4B9A539-40F6-F934-B3D1-EB4DD553F04C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851E45-DFF4-6180-5062-721A11C3C65A}"/>
              </a:ext>
            </a:extLst>
          </p:cNvPr>
          <p:cNvSpPr txBox="1"/>
          <p:nvPr/>
        </p:nvSpPr>
        <p:spPr>
          <a:xfrm>
            <a:off x="189765" y="1017888"/>
            <a:ext cx="17027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</a:t>
            </a:r>
            <a:r>
              <a:rPr lang="en-US" altLang="ko-KR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FDC</a:t>
            </a:r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 시뮬레이션 </a:t>
            </a:r>
            <a:r>
              <a:rPr lang="en-US" altLang="ko-KR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/</a:t>
            </a:r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 적용</a:t>
            </a:r>
          </a:p>
        </p:txBody>
      </p:sp>
    </p:spTree>
    <p:extLst>
      <p:ext uri="{BB962C8B-B14F-4D97-AF65-F5344CB8AC3E}">
        <p14:creationId xmlns:p14="http://schemas.microsoft.com/office/powerpoint/2010/main" val="1665059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검사 가성 불량 감지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_Ground Bonding Test(1/2)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33066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검사 핀에 전류를 인가하는 케이블 소손으로 인한 가성 불량 발생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하며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시뮬레이션 통해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가성 불량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일전 사전 감지 확인함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90F3BAED-B160-AD79-62EF-03EEADAD62F5}"/>
              </a:ext>
            </a:extLst>
          </p:cNvPr>
          <p:cNvGrpSpPr/>
          <p:nvPr/>
        </p:nvGrpSpPr>
        <p:grpSpPr>
          <a:xfrm>
            <a:off x="-20492" y="1324987"/>
            <a:ext cx="4835435" cy="2437512"/>
            <a:chOff x="-298698" y="1336419"/>
            <a:chExt cx="5152626" cy="2597406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D6FDC06F-D411-39DE-F86B-8A84F73663E5}"/>
                </a:ext>
              </a:extLst>
            </p:cNvPr>
            <p:cNvGrpSpPr/>
            <p:nvPr/>
          </p:nvGrpSpPr>
          <p:grpSpPr>
            <a:xfrm>
              <a:off x="42177" y="1418890"/>
              <a:ext cx="4811751" cy="2514935"/>
              <a:chOff x="42177" y="1028365"/>
              <a:chExt cx="9821646" cy="5133433"/>
            </a:xfrm>
          </p:grpSpPr>
          <p:pic>
            <p:nvPicPr>
              <p:cNvPr id="75" name="그림 74">
                <a:extLst>
                  <a:ext uri="{FF2B5EF4-FFF2-40B4-BE49-F238E27FC236}">
                    <a16:creationId xmlns:a16="http://schemas.microsoft.com/office/drawing/2014/main" id="{F4B0CFB0-982D-31DA-5B3E-2A2C678618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177" y="1028365"/>
                <a:ext cx="9719340" cy="2400635"/>
              </a:xfrm>
              <a:prstGeom prst="rect">
                <a:avLst/>
              </a:prstGeom>
            </p:spPr>
          </p:pic>
          <p:pic>
            <p:nvPicPr>
              <p:cNvPr id="76" name="그림 75">
                <a:extLst>
                  <a:ext uri="{FF2B5EF4-FFF2-40B4-BE49-F238E27FC236}">
                    <a16:creationId xmlns:a16="http://schemas.microsoft.com/office/drawing/2014/main" id="{19D8AB17-9191-2773-F7AD-A283778B47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1283" y="3751637"/>
                <a:ext cx="9602540" cy="2410161"/>
              </a:xfrm>
              <a:prstGeom prst="rect">
                <a:avLst/>
              </a:prstGeom>
            </p:spPr>
          </p:pic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0753B1D-ABE7-6FCC-2CFB-D7062583FDC8}"/>
                </a:ext>
              </a:extLst>
            </p:cNvPr>
            <p:cNvSpPr txBox="1"/>
            <p:nvPr/>
          </p:nvSpPr>
          <p:spPr>
            <a:xfrm>
              <a:off x="149520" y="1336419"/>
              <a:ext cx="1824652" cy="2459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en-US" altLang="ko-KR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Ground</a:t>
              </a:r>
              <a:r>
                <a:rPr lang="ko-KR" altLang="en-US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 </a:t>
              </a:r>
              <a:r>
                <a:rPr lang="en-US" altLang="ko-KR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Bonding</a:t>
              </a:r>
              <a:r>
                <a:rPr lang="ko-KR" altLang="en-US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 </a:t>
              </a:r>
              <a:r>
                <a:rPr lang="en-US" altLang="ko-KR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Test</a:t>
              </a:r>
              <a:r>
                <a:rPr lang="ko-KR" altLang="en-US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 저항</a:t>
              </a:r>
              <a:r>
                <a:rPr lang="en-US" altLang="ko-KR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 </a:t>
              </a:r>
              <a:r>
                <a:rPr lang="ko-KR" altLang="en-US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트렌드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751B8F5-2C5E-8D41-7AD9-FB0D385FDFE5}"/>
                </a:ext>
              </a:extLst>
            </p:cNvPr>
            <p:cNvSpPr txBox="1"/>
            <p:nvPr/>
          </p:nvSpPr>
          <p:spPr>
            <a:xfrm>
              <a:off x="131006" y="2675734"/>
              <a:ext cx="2067211" cy="2459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en-US" altLang="ko-KR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Ground</a:t>
              </a:r>
              <a:r>
                <a:rPr lang="ko-KR" altLang="en-US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 </a:t>
              </a:r>
              <a:r>
                <a:rPr lang="en-US" altLang="ko-KR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Bonding</a:t>
              </a:r>
              <a:r>
                <a:rPr lang="ko-KR" altLang="en-US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 </a:t>
              </a:r>
              <a:r>
                <a:rPr lang="en-US" altLang="ko-KR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Test</a:t>
              </a:r>
              <a:r>
                <a:rPr lang="ko-KR" altLang="en-US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 직행 불량</a:t>
              </a:r>
              <a:r>
                <a:rPr lang="en-US" altLang="ko-KR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 </a:t>
              </a:r>
              <a:r>
                <a:rPr lang="ko-KR" altLang="en-US" sz="900" b="1" dirty="0">
                  <a:solidFill>
                    <a:prstClr val="black"/>
                  </a:solidFill>
                  <a:highlight>
                    <a:srgbClr val="FFFF00"/>
                  </a:highlight>
                  <a:latin typeface="Arial Narrow"/>
                  <a:ea typeface="LG스마트체 Regular"/>
                </a:rPr>
                <a:t>트렌드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79036B8-4873-E8C0-6D59-6BEAB49FB7FE}"/>
                </a:ext>
              </a:extLst>
            </p:cNvPr>
            <p:cNvSpPr txBox="1"/>
            <p:nvPr/>
          </p:nvSpPr>
          <p:spPr>
            <a:xfrm>
              <a:off x="-298698" y="1822560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en-US" altLang="ko-KR" sz="1000" b="1" dirty="0">
                  <a:solidFill>
                    <a:prstClr val="black"/>
                  </a:solidFill>
                  <a:highlight>
                    <a:srgbClr val="E8E8E8"/>
                  </a:highlight>
                  <a:latin typeface="Arial Narrow"/>
                  <a:ea typeface="LG스마트체 Regular"/>
                </a:rPr>
                <a:t>ohm</a:t>
              </a:r>
              <a:endParaRPr lang="ko-KR" altLang="en-US" sz="1000" b="1" dirty="0">
                <a:solidFill>
                  <a:prstClr val="black"/>
                </a:solidFill>
                <a:highlight>
                  <a:srgbClr val="E8E8E8"/>
                </a:highlight>
                <a:latin typeface="Arial Narrow"/>
                <a:ea typeface="LG스마트체 Regular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73634BA-7DCD-165C-354E-A1A7531C130D}"/>
                </a:ext>
              </a:extLst>
            </p:cNvPr>
            <p:cNvSpPr txBox="1"/>
            <p:nvPr/>
          </p:nvSpPr>
          <p:spPr>
            <a:xfrm>
              <a:off x="-256501" y="3179595"/>
              <a:ext cx="4571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en-US" altLang="ko-KR" sz="1000" b="1" dirty="0">
                  <a:solidFill>
                    <a:prstClr val="black"/>
                  </a:solidFill>
                  <a:highlight>
                    <a:srgbClr val="E8E8E8"/>
                  </a:highlight>
                  <a:latin typeface="Arial Narrow"/>
                  <a:ea typeface="LG스마트체 Regular"/>
                </a:rPr>
                <a:t>is NG</a:t>
              </a:r>
              <a:endParaRPr lang="ko-KR" altLang="en-US" sz="1000" b="1" dirty="0">
                <a:solidFill>
                  <a:prstClr val="black"/>
                </a:solidFill>
                <a:highlight>
                  <a:srgbClr val="E8E8E8"/>
                </a:highlight>
                <a:latin typeface="Arial Narrow"/>
                <a:ea typeface="LG스마트체 Regular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2ED8B455-02CE-FD71-2C26-D54FE12FB940}"/>
              </a:ext>
            </a:extLst>
          </p:cNvPr>
          <p:cNvSpPr txBox="1"/>
          <p:nvPr/>
        </p:nvSpPr>
        <p:spPr>
          <a:xfrm>
            <a:off x="360402" y="5495297"/>
            <a:ext cx="404790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- Downtime: 5/3 07:17~07:48</a:t>
            </a:r>
            <a:b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- Phenomenon: Consecutive grounding bonding fails</a:t>
            </a:r>
            <a:b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- Cause: Burnt cables</a:t>
            </a:r>
            <a:b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- Action taken: Fixed cables, replaced ring terminals, replaced damaged pogo pins </a:t>
            </a:r>
            <a:b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- Leak test rubber seals replaced as well</a:t>
            </a:r>
            <a:endParaRPr lang="ko-KR" altLang="en-US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A74338-2B67-C4C7-D42A-596C9F0C1F50}"/>
              </a:ext>
            </a:extLst>
          </p:cNvPr>
          <p:cNvSpPr txBox="1"/>
          <p:nvPr/>
        </p:nvSpPr>
        <p:spPr>
          <a:xfrm>
            <a:off x="374410" y="6366520"/>
            <a:ext cx="37785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prstClr val="black"/>
                </a:solidFill>
                <a:highlight>
                  <a:srgbClr val="E8E8E8"/>
                </a:highlight>
                <a:latin typeface="Arial Narrow"/>
                <a:ea typeface="LG스마트체 Regular"/>
              </a:rPr>
              <a:t>▶ 케이블 고정 너트 풀림으로 인한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E8E8E8"/>
                </a:highlight>
                <a:latin typeface="Arial Narrow"/>
                <a:ea typeface="LG스마트체 Regular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E8E8E8"/>
                </a:highlight>
                <a:latin typeface="Arial Narrow"/>
                <a:ea typeface="LG스마트체 Regular"/>
              </a:rPr>
              <a:t>전류 공급 저항 증가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E8E8E8"/>
                </a:highlight>
                <a:latin typeface="Arial Narrow"/>
                <a:ea typeface="LG스마트체 Regular"/>
              </a:rPr>
              <a:t>. 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E8E8E8"/>
                </a:highlight>
                <a:latin typeface="Arial Narrow"/>
                <a:ea typeface="LG스마트체 Regular"/>
              </a:rPr>
              <a:t>그에 따른 케이블 소손</a:t>
            </a: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D71EB8BA-11B1-FD07-50D8-2CA10FB668F2}"/>
              </a:ext>
            </a:extLst>
          </p:cNvPr>
          <p:cNvGrpSpPr/>
          <p:nvPr/>
        </p:nvGrpSpPr>
        <p:grpSpPr>
          <a:xfrm>
            <a:off x="400134" y="4130178"/>
            <a:ext cx="4179076" cy="1304830"/>
            <a:chOff x="5090429" y="1207667"/>
            <a:chExt cx="4706556" cy="1469525"/>
          </a:xfrm>
        </p:grpSpPr>
        <p:pic>
          <p:nvPicPr>
            <p:cNvPr id="80" name="Picture 2">
              <a:extLst>
                <a:ext uri="{FF2B5EF4-FFF2-40B4-BE49-F238E27FC236}">
                  <a16:creationId xmlns:a16="http://schemas.microsoft.com/office/drawing/2014/main" id="{C2DFA1E3-FEE7-72E1-CF5D-C253B70E03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634" r="12583" b="22869"/>
            <a:stretch/>
          </p:blipFill>
          <p:spPr bwMode="auto">
            <a:xfrm>
              <a:off x="5090429" y="1470417"/>
              <a:ext cx="1299436" cy="1179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Picture 6">
              <a:extLst>
                <a:ext uri="{FF2B5EF4-FFF2-40B4-BE49-F238E27FC236}">
                  <a16:creationId xmlns:a16="http://schemas.microsoft.com/office/drawing/2014/main" id="{3A588CF6-FD59-2B77-F9F9-EC773E9679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33" t="9938" r="14836" b="8226"/>
            <a:stretch/>
          </p:blipFill>
          <p:spPr bwMode="auto">
            <a:xfrm>
              <a:off x="8530628" y="1474610"/>
              <a:ext cx="1266357" cy="1202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Picture 8">
              <a:extLst>
                <a:ext uri="{FF2B5EF4-FFF2-40B4-BE49-F238E27FC236}">
                  <a16:creationId xmlns:a16="http://schemas.microsoft.com/office/drawing/2014/main" id="{BB757305-0624-9B92-13CC-A36ACED9C5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20"/>
            <a:stretch/>
          </p:blipFill>
          <p:spPr bwMode="auto">
            <a:xfrm>
              <a:off x="6543702" y="1474610"/>
              <a:ext cx="1441161" cy="1202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3" name="화살표: 오른쪽 82">
              <a:extLst>
                <a:ext uri="{FF2B5EF4-FFF2-40B4-BE49-F238E27FC236}">
                  <a16:creationId xmlns:a16="http://schemas.microsoft.com/office/drawing/2014/main" id="{123896C7-988A-EECD-6E79-FB1CDC1FDAFA}"/>
                </a:ext>
              </a:extLst>
            </p:cNvPr>
            <p:cNvSpPr/>
            <p:nvPr/>
          </p:nvSpPr>
          <p:spPr>
            <a:xfrm>
              <a:off x="8110847" y="1945670"/>
              <a:ext cx="249382" cy="226154"/>
            </a:xfrm>
            <a:prstGeom prst="rightArrow">
              <a:avLst/>
            </a:prstGeom>
            <a:solidFill>
              <a:srgbClr val="FFC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1E39121-5E8C-246D-13B7-D66075827631}"/>
                </a:ext>
              </a:extLst>
            </p:cNvPr>
            <p:cNvSpPr txBox="1"/>
            <p:nvPr/>
          </p:nvSpPr>
          <p:spPr>
            <a:xfrm>
              <a:off x="6189676" y="1207667"/>
              <a:ext cx="708052" cy="259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[ </a:t>
              </a:r>
              <a:r>
                <a: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조치 전 </a:t>
              </a: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]</a:t>
              </a:r>
              <a:endPara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8CACC1A-35AC-E370-BDB3-2995F066A989}"/>
                </a:ext>
              </a:extLst>
            </p:cNvPr>
            <p:cNvSpPr txBox="1"/>
            <p:nvPr/>
          </p:nvSpPr>
          <p:spPr>
            <a:xfrm>
              <a:off x="8809779" y="1207667"/>
              <a:ext cx="708052" cy="259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[ </a:t>
              </a:r>
              <a:r>
                <a: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조치 후 </a:t>
              </a: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]</a:t>
              </a:r>
              <a:endPara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DF70B776-1A50-E61F-6204-697034276119}"/>
                </a:ext>
              </a:extLst>
            </p:cNvPr>
            <p:cNvSpPr/>
            <p:nvPr/>
          </p:nvSpPr>
          <p:spPr>
            <a:xfrm>
              <a:off x="5591175" y="1704975"/>
              <a:ext cx="406762" cy="466849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ABD607F-69BB-726B-0729-73CFA3A7C320}"/>
                </a:ext>
              </a:extLst>
            </p:cNvPr>
            <p:cNvSpPr txBox="1"/>
            <p:nvPr/>
          </p:nvSpPr>
          <p:spPr>
            <a:xfrm>
              <a:off x="5539741" y="1502591"/>
              <a:ext cx="45878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검사핀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6493819-341F-57CD-A178-07DF6DDD3AAB}"/>
                </a:ext>
              </a:extLst>
            </p:cNvPr>
            <p:cNvSpPr txBox="1"/>
            <p:nvPr/>
          </p:nvSpPr>
          <p:spPr>
            <a:xfrm>
              <a:off x="6528505" y="2447926"/>
              <a:ext cx="1377300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저항 증가로 인한 케이블 소손</a:t>
              </a: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078D9F64-012B-EBE4-8F4E-7EA75296ED37}"/>
                </a:ext>
              </a:extLst>
            </p:cNvPr>
            <p:cNvSpPr/>
            <p:nvPr/>
          </p:nvSpPr>
          <p:spPr>
            <a:xfrm>
              <a:off x="7000875" y="1832086"/>
              <a:ext cx="590550" cy="615840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486F808F-9586-DFF1-A7CA-1EC7652C5FD8}"/>
              </a:ext>
            </a:extLst>
          </p:cNvPr>
          <p:cNvSpPr txBox="1"/>
          <p:nvPr/>
        </p:nvSpPr>
        <p:spPr>
          <a:xfrm>
            <a:off x="5365499" y="4934139"/>
            <a:ext cx="4402150" cy="989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▶ 관리선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: 5 sigma,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알람룰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: 2 out of 10</a:t>
            </a:r>
          </a:p>
          <a:p>
            <a:pPr defTabSz="457200" latinLnBrk="0">
              <a:lnSpc>
                <a:spcPct val="150000"/>
              </a:lnSpc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▶ 모델링 및 알람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On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완료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(5/4)</a:t>
            </a:r>
          </a:p>
          <a:p>
            <a:pPr defTabSz="457200" latinLnBrk="0">
              <a:lnSpc>
                <a:spcPct val="150000"/>
              </a:lnSpc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 → 저항 산포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표준편차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모니터링을 통해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저항 변동 증가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케이블 열화 등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에 의한 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>
              <a:lnSpc>
                <a:spcPct val="15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    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가성 불량을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사전 감지하고자 함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DC12BF-B53B-B234-D453-D0884A8E84E6}"/>
              </a:ext>
            </a:extLst>
          </p:cNvPr>
          <p:cNvSpPr txBox="1"/>
          <p:nvPr/>
        </p:nvSpPr>
        <p:spPr>
          <a:xfrm>
            <a:off x="100975" y="1067616"/>
            <a:ext cx="628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■ 현상</a:t>
            </a:r>
          </a:p>
        </p:txBody>
      </p:sp>
      <p:sp>
        <p:nvSpPr>
          <p:cNvPr id="92" name="폭발: 8pt 91">
            <a:extLst>
              <a:ext uri="{FF2B5EF4-FFF2-40B4-BE49-F238E27FC236}">
                <a16:creationId xmlns:a16="http://schemas.microsoft.com/office/drawing/2014/main" id="{3F6F1F83-AFB1-8D3C-5A6E-B6D4BDD4345F}"/>
              </a:ext>
            </a:extLst>
          </p:cNvPr>
          <p:cNvSpPr/>
          <p:nvPr/>
        </p:nvSpPr>
        <p:spPr>
          <a:xfrm>
            <a:off x="3646407" y="2629266"/>
            <a:ext cx="198159" cy="189994"/>
          </a:xfrm>
          <a:prstGeom prst="irregularSeal1">
            <a:avLst/>
          </a:prstGeom>
          <a:solidFill>
            <a:srgbClr val="FFFF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93" name="폭발: 8pt 92">
            <a:extLst>
              <a:ext uri="{FF2B5EF4-FFF2-40B4-BE49-F238E27FC236}">
                <a16:creationId xmlns:a16="http://schemas.microsoft.com/office/drawing/2014/main" id="{D4D82398-257D-0D6F-6DA3-1031FC0E9381}"/>
              </a:ext>
            </a:extLst>
          </p:cNvPr>
          <p:cNvSpPr/>
          <p:nvPr/>
        </p:nvSpPr>
        <p:spPr>
          <a:xfrm>
            <a:off x="4555501" y="2621615"/>
            <a:ext cx="198159" cy="189994"/>
          </a:xfrm>
          <a:prstGeom prst="irregularSeal1">
            <a:avLst/>
          </a:prstGeom>
          <a:solidFill>
            <a:srgbClr val="FFFF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C456D238-B8EA-D9D4-0734-F9C509C7B9B9}"/>
              </a:ext>
            </a:extLst>
          </p:cNvPr>
          <p:cNvCxnSpPr>
            <a:cxnSpLocks/>
          </p:cNvCxnSpPr>
          <p:nvPr/>
        </p:nvCxnSpPr>
        <p:spPr>
          <a:xfrm flipV="1">
            <a:off x="1314450" y="2095608"/>
            <a:ext cx="2644956" cy="102476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DC13E14-9544-BCF4-CD85-48A1FD28EB91}"/>
              </a:ext>
            </a:extLst>
          </p:cNvPr>
          <p:cNvSpPr txBox="1"/>
          <p:nvPr/>
        </p:nvSpPr>
        <p:spPr>
          <a:xfrm>
            <a:off x="2373875" y="1954232"/>
            <a:ext cx="52610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700" dirty="0">
                <a:solidFill>
                  <a:srgbClr val="FF0000"/>
                </a:solidFill>
                <a:latin typeface="Arial Narrow"/>
                <a:ea typeface="LG스마트체 Regular"/>
              </a:rPr>
              <a:t>산포 증가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71780D2-65C6-BB37-C1C3-97A641609F0C}"/>
              </a:ext>
            </a:extLst>
          </p:cNvPr>
          <p:cNvSpPr txBox="1"/>
          <p:nvPr/>
        </p:nvSpPr>
        <p:spPr>
          <a:xfrm>
            <a:off x="103591" y="3918020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■ 원인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조치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D83F719-5179-AB32-22F6-3059F5AAE402}"/>
              </a:ext>
            </a:extLst>
          </p:cNvPr>
          <p:cNvSpPr txBox="1"/>
          <p:nvPr/>
        </p:nvSpPr>
        <p:spPr>
          <a:xfrm>
            <a:off x="5069689" y="1065286"/>
            <a:ext cx="1471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■ 모델링 시뮬레이션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4855FCD-4F52-459C-8B0D-0D98C94DD0F0}"/>
              </a:ext>
            </a:extLst>
          </p:cNvPr>
          <p:cNvSpPr txBox="1"/>
          <p:nvPr/>
        </p:nvSpPr>
        <p:spPr>
          <a:xfrm>
            <a:off x="5253913" y="1413650"/>
            <a:ext cx="20824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buFont typeface="Arial" panose="020B0604020202020204" pitchFamily="34" charset="0"/>
              <a:buChar char="•"/>
            </a:pP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기존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핀교체 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FDC 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모델링 트렌드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D94EF8B-2E6E-20B7-ACA2-C4625A6C20DA}"/>
              </a:ext>
            </a:extLst>
          </p:cNvPr>
          <p:cNvSpPr txBox="1"/>
          <p:nvPr/>
        </p:nvSpPr>
        <p:spPr>
          <a:xfrm>
            <a:off x="5247932" y="3153653"/>
            <a:ext cx="26015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buFont typeface="Arial" panose="020B0604020202020204" pitchFamily="34" charset="0"/>
              <a:buChar char="•"/>
            </a:pP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추가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케이블 열화 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FDC 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모델링 시뮬레이션 트렌드</a:t>
            </a: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485178A8-0824-FB6F-1342-3B5DE6A36969}"/>
              </a:ext>
            </a:extLst>
          </p:cNvPr>
          <p:cNvGrpSpPr/>
          <p:nvPr/>
        </p:nvGrpSpPr>
        <p:grpSpPr>
          <a:xfrm>
            <a:off x="5001237" y="3304225"/>
            <a:ext cx="4753722" cy="1722434"/>
            <a:chOff x="5040085" y="3860510"/>
            <a:chExt cx="4753722" cy="1722434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7FAD4F67-E0FD-F03C-ACEE-6AA49F44DF58}"/>
                </a:ext>
              </a:extLst>
            </p:cNvPr>
            <p:cNvGrpSpPr/>
            <p:nvPr/>
          </p:nvGrpSpPr>
          <p:grpSpPr>
            <a:xfrm>
              <a:off x="5040085" y="3860510"/>
              <a:ext cx="4753722" cy="1722434"/>
              <a:chOff x="5048687" y="4219780"/>
              <a:chExt cx="4753722" cy="1722434"/>
            </a:xfrm>
          </p:grpSpPr>
          <p:pic>
            <p:nvPicPr>
              <p:cNvPr id="103" name="그림 102">
                <a:extLst>
                  <a:ext uri="{FF2B5EF4-FFF2-40B4-BE49-F238E27FC236}">
                    <a16:creationId xmlns:a16="http://schemas.microsoft.com/office/drawing/2014/main" id="{C2D67107-6162-82F0-4E08-A2638B430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b="14085"/>
              <a:stretch/>
            </p:blipFill>
            <p:spPr>
              <a:xfrm>
                <a:off x="5256534" y="4346120"/>
                <a:ext cx="4545875" cy="1484063"/>
              </a:xfrm>
              <a:prstGeom prst="rect">
                <a:avLst/>
              </a:prstGeom>
            </p:spPr>
          </p:pic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29E32B8-5B94-DE47-2F21-7B41103E30E6}"/>
                  </a:ext>
                </a:extLst>
              </p:cNvPr>
              <p:cNvSpPr txBox="1"/>
              <p:nvPr/>
            </p:nvSpPr>
            <p:spPr>
              <a:xfrm>
                <a:off x="5048687" y="4873496"/>
                <a:ext cx="415694" cy="2146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stdev</a:t>
                </a:r>
                <a:endPara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05" name="폭발: 8pt 104">
                <a:extLst>
                  <a:ext uri="{FF2B5EF4-FFF2-40B4-BE49-F238E27FC236}">
                    <a16:creationId xmlns:a16="http://schemas.microsoft.com/office/drawing/2014/main" id="{0A6BD231-B95C-213F-7324-AE19C8696918}"/>
                  </a:ext>
                </a:extLst>
              </p:cNvPr>
              <p:cNvSpPr/>
              <p:nvPr/>
            </p:nvSpPr>
            <p:spPr>
              <a:xfrm>
                <a:off x="7447194" y="4794609"/>
                <a:ext cx="164554" cy="157773"/>
              </a:xfrm>
              <a:prstGeom prst="irregularSeal1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32404F9-8D70-FB02-8846-D4F8E028E8DF}"/>
                  </a:ext>
                </a:extLst>
              </p:cNvPr>
              <p:cNvSpPr txBox="1"/>
              <p:nvPr/>
            </p:nvSpPr>
            <p:spPr>
              <a:xfrm>
                <a:off x="6965854" y="4279231"/>
                <a:ext cx="1127232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검사 저항 </a:t>
                </a:r>
                <a:r>
                  <a:rPr kumimoji="0" lang="en-US" altLang="ko-KR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- </a:t>
                </a:r>
                <a:r>
                  <a:rPr kumimoji="0" lang="ko-KR" alt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표준편차</a:t>
                </a:r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D6BADFC7-9940-7217-705B-4D4FEB7BF0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76212" y="4360883"/>
                <a:ext cx="0" cy="1363642"/>
              </a:xfrm>
              <a:prstGeom prst="line">
                <a:avLst/>
              </a:prstGeom>
              <a:noFill/>
              <a:ln w="28575" cap="flat" cmpd="sng" algn="ctr">
                <a:solidFill>
                  <a:srgbClr val="FFC000"/>
                </a:solidFill>
                <a:prstDash val="dash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108" name="직선 연결선 107">
                <a:extLst>
                  <a:ext uri="{FF2B5EF4-FFF2-40B4-BE49-F238E27FC236}">
                    <a16:creationId xmlns:a16="http://schemas.microsoft.com/office/drawing/2014/main" id="{9747C25E-E0A8-6C0D-B223-B12A5A4F9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66787" y="4336836"/>
                <a:ext cx="0" cy="1363642"/>
              </a:xfrm>
              <a:prstGeom prst="line">
                <a:avLst/>
              </a:prstGeom>
              <a:noFill/>
              <a:ln w="28575" cap="flat" cmpd="sng" algn="ctr">
                <a:solidFill>
                  <a:srgbClr val="FFC000"/>
                </a:solidFill>
                <a:prstDash val="dash"/>
                <a:miter lim="800000"/>
                <a:headEnd type="none"/>
                <a:tailEnd type="none"/>
              </a:ln>
              <a:effectLst/>
            </p:spPr>
          </p:cxn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D7FDD039-28AE-442F-B555-93FEA71F8D8F}"/>
                  </a:ext>
                </a:extLst>
              </p:cNvPr>
              <p:cNvSpPr txBox="1"/>
              <p:nvPr/>
            </p:nvSpPr>
            <p:spPr>
              <a:xfrm>
                <a:off x="8498797" y="5726770"/>
                <a:ext cx="9877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97132">
                        <a:lumMod val="75000"/>
                      </a:srgbClr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가성 불량 발생 시점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B6EC8A5-AD6F-FD94-51BB-561DF4755ED4}"/>
                  </a:ext>
                </a:extLst>
              </p:cNvPr>
              <p:cNvSpPr txBox="1"/>
              <p:nvPr/>
            </p:nvSpPr>
            <p:spPr>
              <a:xfrm>
                <a:off x="8628488" y="4219780"/>
                <a:ext cx="964023" cy="1661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*</a:t>
                </a: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매 </a:t>
                </a:r>
                <a:r>
                  <a:rPr kumimoji="0" lang="en-US" altLang="ko-KR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10</a:t>
                </a: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분마다 표준편차 계산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10AE45A-A469-2203-D92B-768FD6A79D0A}"/>
                </a:ext>
              </a:extLst>
            </p:cNvPr>
            <p:cNvSpPr txBox="1"/>
            <p:nvPr/>
          </p:nvSpPr>
          <p:spPr>
            <a:xfrm>
              <a:off x="7056181" y="4236350"/>
              <a:ext cx="84991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약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8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일전 이상 감지</a:t>
              </a: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E34CCA4A-D862-F30B-07F6-B3540B348F5B}"/>
              </a:ext>
            </a:extLst>
          </p:cNvPr>
          <p:cNvGrpSpPr/>
          <p:nvPr/>
        </p:nvGrpSpPr>
        <p:grpSpPr>
          <a:xfrm>
            <a:off x="5170180" y="1607029"/>
            <a:ext cx="4456131" cy="1459586"/>
            <a:chOff x="5169520" y="1953778"/>
            <a:chExt cx="4456131" cy="1459586"/>
          </a:xfrm>
        </p:grpSpPr>
        <p:pic>
          <p:nvPicPr>
            <p:cNvPr id="112" name="그림 111">
              <a:extLst>
                <a:ext uri="{FF2B5EF4-FFF2-40B4-BE49-F238E27FC236}">
                  <a16:creationId xmlns:a16="http://schemas.microsoft.com/office/drawing/2014/main" id="{EF81A6FC-A810-5ED4-0BA0-3777ABE7A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91657" y="2014852"/>
              <a:ext cx="4233994" cy="1385567"/>
            </a:xfrm>
            <a:prstGeom prst="rect">
              <a:avLst/>
            </a:prstGeom>
          </p:spPr>
        </p:pic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77DC9B9-9236-0BFD-171D-7D3FDE205764}"/>
                </a:ext>
              </a:extLst>
            </p:cNvPr>
            <p:cNvSpPr txBox="1"/>
            <p:nvPr/>
          </p:nvSpPr>
          <p:spPr>
            <a:xfrm>
              <a:off x="7040374" y="1953778"/>
              <a:ext cx="8819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검사 저항 </a:t>
              </a: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- Max</a:t>
              </a:r>
              <a:endPara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5E959426-67AD-09FA-F28D-89B3C35B1A6B}"/>
                </a:ext>
              </a:extLst>
            </p:cNvPr>
            <p:cNvSpPr txBox="1"/>
            <p:nvPr/>
          </p:nvSpPr>
          <p:spPr>
            <a:xfrm>
              <a:off x="7398842" y="3182532"/>
              <a:ext cx="3786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time</a:t>
              </a:r>
              <a:endPara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8E8E8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F5C3B62E-2DA7-9B1D-7E74-C5B6E63F15F9}"/>
                </a:ext>
              </a:extLst>
            </p:cNvPr>
            <p:cNvSpPr txBox="1"/>
            <p:nvPr/>
          </p:nvSpPr>
          <p:spPr>
            <a:xfrm>
              <a:off x="5169520" y="2585566"/>
              <a:ext cx="38343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ohm</a:t>
              </a:r>
              <a:endPara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8E8E8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697A85B-2618-3C34-DAB9-63CCD20B31E6}"/>
                </a:ext>
              </a:extLst>
            </p:cNvPr>
            <p:cNvSpPr txBox="1"/>
            <p:nvPr/>
          </p:nvSpPr>
          <p:spPr>
            <a:xfrm>
              <a:off x="5581096" y="2339165"/>
              <a:ext cx="85311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CC99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Warning : 0.025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CC99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D9E2F1C-02C1-159A-D33D-6147248ED568}"/>
                </a:ext>
              </a:extLst>
            </p:cNvPr>
            <p:cNvSpPr txBox="1"/>
            <p:nvPr/>
          </p:nvSpPr>
          <p:spPr>
            <a:xfrm>
              <a:off x="5581096" y="2111994"/>
              <a:ext cx="78899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Critical : 0.035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C91F0244-EA05-9DE5-7E9D-40EBBCDE23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1096" y="2519425"/>
              <a:ext cx="4044555" cy="1"/>
            </a:xfrm>
            <a:prstGeom prst="line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9FF54121-1640-BC88-8A7A-6F0CE37571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1571" y="2319169"/>
              <a:ext cx="4044555" cy="1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E9A872AF-A65C-B317-B003-9E3F265462E3}"/>
              </a:ext>
            </a:extLst>
          </p:cNvPr>
          <p:cNvSpPr txBox="1"/>
          <p:nvPr/>
        </p:nvSpPr>
        <p:spPr>
          <a:xfrm>
            <a:off x="5075046" y="5948771"/>
            <a:ext cx="933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기대 효과</a:t>
            </a:r>
            <a:endParaRPr lang="ko-KR" altLang="en-US" sz="11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6B5406E-C45F-CE5F-E714-FAA323A8F6F9}"/>
              </a:ext>
            </a:extLst>
          </p:cNvPr>
          <p:cNvSpPr txBox="1"/>
          <p:nvPr/>
        </p:nvSpPr>
        <p:spPr>
          <a:xfrm>
            <a:off x="5247932" y="6217889"/>
            <a:ext cx="3331361" cy="297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4/3~5/3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간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가성 불량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2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건 발생 및 감지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월 불량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2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건 감소 기대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endParaRPr lang="ko-KR" altLang="en-US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24AFBC9-1028-1CBA-3A40-1E337F2C885E}"/>
              </a:ext>
            </a:extLst>
          </p:cNvPr>
          <p:cNvSpPr txBox="1"/>
          <p:nvPr/>
        </p:nvSpPr>
        <p:spPr>
          <a:xfrm>
            <a:off x="5641160" y="2747672"/>
            <a:ext cx="3289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4/3</a:t>
            </a:r>
            <a:endParaRPr lang="ko-KR" altLang="en-US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AC19BB0-9195-077A-069A-2915890DC369}"/>
              </a:ext>
            </a:extLst>
          </p:cNvPr>
          <p:cNvSpPr txBox="1"/>
          <p:nvPr/>
        </p:nvSpPr>
        <p:spPr>
          <a:xfrm>
            <a:off x="9274650" y="2747672"/>
            <a:ext cx="3289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5/3</a:t>
            </a:r>
            <a:endParaRPr lang="ko-KR" altLang="en-US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86E28DF1-892B-ABBC-1FD8-71E374316C67}"/>
              </a:ext>
            </a:extLst>
          </p:cNvPr>
          <p:cNvCxnSpPr>
            <a:cxnSpLocks/>
          </p:cNvCxnSpPr>
          <p:nvPr/>
        </p:nvCxnSpPr>
        <p:spPr>
          <a:xfrm>
            <a:off x="4916488" y="1030990"/>
            <a:ext cx="0" cy="5456979"/>
          </a:xfrm>
          <a:prstGeom prst="line">
            <a:avLst/>
          </a:prstGeom>
          <a:noFill/>
          <a:ln w="12700" cap="flat" cmpd="sng" algn="ctr">
            <a:solidFill>
              <a:srgbClr val="E8E8E8"/>
            </a:solidFill>
            <a:prstDash val="solid"/>
            <a:miter lim="800000"/>
          </a:ln>
          <a:effectLst/>
        </p:spPr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F212FB70-C50D-CFAF-68D1-7707DFAF1770}"/>
              </a:ext>
            </a:extLst>
          </p:cNvPr>
          <p:cNvSpPr txBox="1"/>
          <p:nvPr/>
        </p:nvSpPr>
        <p:spPr>
          <a:xfrm>
            <a:off x="584472" y="2370894"/>
            <a:ext cx="301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4/2</a:t>
            </a:r>
            <a:endParaRPr lang="ko-KR" altLang="en-US" sz="800" dirty="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E5D4215-464B-1977-E6FB-8AD754C28E60}"/>
              </a:ext>
            </a:extLst>
          </p:cNvPr>
          <p:cNvSpPr txBox="1"/>
          <p:nvPr/>
        </p:nvSpPr>
        <p:spPr>
          <a:xfrm>
            <a:off x="578830" y="3616069"/>
            <a:ext cx="301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4/2</a:t>
            </a:r>
            <a:endParaRPr lang="ko-KR" altLang="en-US" sz="800" dirty="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C89782A-9C56-4973-21AD-F4E58ED23FE5}"/>
              </a:ext>
            </a:extLst>
          </p:cNvPr>
          <p:cNvSpPr txBox="1"/>
          <p:nvPr/>
        </p:nvSpPr>
        <p:spPr>
          <a:xfrm>
            <a:off x="3912622" y="2370894"/>
            <a:ext cx="3481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4/30</a:t>
            </a:r>
            <a:endParaRPr lang="ko-KR" altLang="en-US" sz="800" dirty="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A94D01B-EE4B-7C7F-97EB-EFCC7EB5B720}"/>
              </a:ext>
            </a:extLst>
          </p:cNvPr>
          <p:cNvSpPr txBox="1"/>
          <p:nvPr/>
        </p:nvSpPr>
        <p:spPr>
          <a:xfrm>
            <a:off x="3938730" y="3609719"/>
            <a:ext cx="3481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4/30</a:t>
            </a:r>
            <a:endParaRPr lang="ko-KR" altLang="en-US" sz="800" dirty="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C42D399-1609-C39C-DB6F-6604E0EF42AA}"/>
              </a:ext>
            </a:extLst>
          </p:cNvPr>
          <p:cNvSpPr txBox="1"/>
          <p:nvPr/>
        </p:nvSpPr>
        <p:spPr>
          <a:xfrm>
            <a:off x="2358786" y="3710461"/>
            <a:ext cx="3449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time</a:t>
            </a:r>
            <a:endParaRPr lang="ko-KR" altLang="en-US" sz="800" dirty="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68C0CAF-F1D0-DED5-8304-7C1DFB58C8C4}"/>
              </a:ext>
            </a:extLst>
          </p:cNvPr>
          <p:cNvSpPr txBox="1"/>
          <p:nvPr/>
        </p:nvSpPr>
        <p:spPr>
          <a:xfrm>
            <a:off x="2365815" y="2456127"/>
            <a:ext cx="3449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time</a:t>
            </a:r>
            <a:endParaRPr lang="ko-KR" altLang="en-US" sz="800" dirty="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B7C30B9-BB65-2495-3CA1-E8B5022A9AA0}"/>
              </a:ext>
            </a:extLst>
          </p:cNvPr>
          <p:cNvSpPr txBox="1"/>
          <p:nvPr/>
        </p:nvSpPr>
        <p:spPr>
          <a:xfrm>
            <a:off x="3826176" y="2546695"/>
            <a:ext cx="7809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srgbClr val="FF0000"/>
                </a:solidFill>
                <a:latin typeface="Arial Narrow"/>
                <a:ea typeface="LG스마트체 Regular"/>
              </a:rPr>
              <a:t>검사</a:t>
            </a:r>
            <a:r>
              <a:rPr lang="en-US" altLang="ko-KR" sz="800" dirty="0">
                <a:solidFill>
                  <a:srgbClr val="FF0000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800" dirty="0">
                <a:solidFill>
                  <a:srgbClr val="FF0000"/>
                </a:solidFill>
                <a:latin typeface="Arial Narrow"/>
                <a:ea typeface="LG스마트체 Regular"/>
              </a:rPr>
              <a:t>가성 불량</a:t>
            </a:r>
          </a:p>
        </p:txBody>
      </p:sp>
      <p:sp>
        <p:nvSpPr>
          <p:cNvPr id="3" name="실행 단추: 홈으로 이동 2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825425D7-315E-656D-CC9A-3678A14FB833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9728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검사 가성 불량 감지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_Leak Test(2/2)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5892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Leak Test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시 실링 패드 마모로 인한 가성 불량 사례 발생하며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FDC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시뮬레이션 통해 사전 감지 가능 확인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 정기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비정기 청소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·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교체 방식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(TBM)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에서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알람 발생 시 청소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·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교체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(CBM)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조치하여 가성 불량 개선하고자 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50BF8B-79E2-5EFC-292C-35D33C251047}"/>
              </a:ext>
            </a:extLst>
          </p:cNvPr>
          <p:cNvSpPr txBox="1"/>
          <p:nvPr/>
        </p:nvSpPr>
        <p:spPr>
          <a:xfrm>
            <a:off x="211343" y="1355331"/>
            <a:ext cx="5918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배경</a:t>
            </a:r>
            <a:endParaRPr lang="ko-KR" altLang="en-US" sz="105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A5F51D-E8DE-6898-C2C1-EEDC370380B1}"/>
              </a:ext>
            </a:extLst>
          </p:cNvPr>
          <p:cNvSpPr txBox="1"/>
          <p:nvPr/>
        </p:nvSpPr>
        <p:spPr>
          <a:xfrm>
            <a:off x="5031776" y="1355331"/>
            <a:ext cx="12314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</a:t>
            </a:r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FDC </a:t>
            </a:r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시뮬레이션</a:t>
            </a:r>
            <a:endParaRPr lang="ko-KR" altLang="en-US" sz="105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4E002F7-4644-321D-3695-8F33787CFACE}"/>
              </a:ext>
            </a:extLst>
          </p:cNvPr>
          <p:cNvGrpSpPr/>
          <p:nvPr/>
        </p:nvGrpSpPr>
        <p:grpSpPr>
          <a:xfrm>
            <a:off x="52568" y="4692073"/>
            <a:ext cx="4533794" cy="1870572"/>
            <a:chOff x="211505" y="1971507"/>
            <a:chExt cx="4051703" cy="2174787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1557BCD5-DB90-1F5E-7F2D-C622F77FF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358" y="1989717"/>
              <a:ext cx="3819850" cy="1989063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9AB3179-66CC-9A01-4E85-44E54AFC4597}"/>
                </a:ext>
              </a:extLst>
            </p:cNvPr>
            <p:cNvSpPr txBox="1"/>
            <p:nvPr/>
          </p:nvSpPr>
          <p:spPr>
            <a:xfrm>
              <a:off x="3119037" y="2291525"/>
              <a:ext cx="676451" cy="2419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가성불량 발생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49" name="폭발: 8pt 48">
              <a:extLst>
                <a:ext uri="{FF2B5EF4-FFF2-40B4-BE49-F238E27FC236}">
                  <a16:creationId xmlns:a16="http://schemas.microsoft.com/office/drawing/2014/main" id="{A0E631F0-0D0F-3EE2-AC26-EA0F3D79EE1E}"/>
                </a:ext>
              </a:extLst>
            </p:cNvPr>
            <p:cNvSpPr/>
            <p:nvPr/>
          </p:nvSpPr>
          <p:spPr>
            <a:xfrm>
              <a:off x="2616091" y="2805544"/>
              <a:ext cx="110899" cy="178704"/>
            </a:xfrm>
            <a:prstGeom prst="irregularSeal1">
              <a:avLst/>
            </a:prstGeom>
            <a:solidFill>
              <a:srgbClr val="FFFF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50" name="폭발: 8pt 49">
              <a:extLst>
                <a:ext uri="{FF2B5EF4-FFF2-40B4-BE49-F238E27FC236}">
                  <a16:creationId xmlns:a16="http://schemas.microsoft.com/office/drawing/2014/main" id="{94CB55D6-9389-D981-960D-50A30C110699}"/>
                </a:ext>
              </a:extLst>
            </p:cNvPr>
            <p:cNvSpPr/>
            <p:nvPr/>
          </p:nvSpPr>
          <p:spPr>
            <a:xfrm>
              <a:off x="2972108" y="1971507"/>
              <a:ext cx="110899" cy="178704"/>
            </a:xfrm>
            <a:prstGeom prst="irregularSeal1">
              <a:avLst/>
            </a:prstGeom>
            <a:solidFill>
              <a:srgbClr val="FFFF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51" name="폭발: 8pt 50">
              <a:extLst>
                <a:ext uri="{FF2B5EF4-FFF2-40B4-BE49-F238E27FC236}">
                  <a16:creationId xmlns:a16="http://schemas.microsoft.com/office/drawing/2014/main" id="{5DA837B6-4B55-D8AF-44A8-1B42B76332DB}"/>
                </a:ext>
              </a:extLst>
            </p:cNvPr>
            <p:cNvSpPr/>
            <p:nvPr/>
          </p:nvSpPr>
          <p:spPr>
            <a:xfrm>
              <a:off x="3960170" y="2593333"/>
              <a:ext cx="110899" cy="178704"/>
            </a:xfrm>
            <a:prstGeom prst="irregularSeal1">
              <a:avLst/>
            </a:prstGeom>
            <a:solidFill>
              <a:srgbClr val="FFFF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52" name="폭발: 8pt 51">
              <a:extLst>
                <a:ext uri="{FF2B5EF4-FFF2-40B4-BE49-F238E27FC236}">
                  <a16:creationId xmlns:a16="http://schemas.microsoft.com/office/drawing/2014/main" id="{A9B0494A-EA0A-26AB-ADE2-17C1E6358A30}"/>
                </a:ext>
              </a:extLst>
            </p:cNvPr>
            <p:cNvSpPr/>
            <p:nvPr/>
          </p:nvSpPr>
          <p:spPr>
            <a:xfrm>
              <a:off x="4029481" y="2112821"/>
              <a:ext cx="110899" cy="178704"/>
            </a:xfrm>
            <a:prstGeom prst="irregularSeal1">
              <a:avLst/>
            </a:prstGeom>
            <a:solidFill>
              <a:srgbClr val="FFFF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53141AC-FC41-C655-5AEA-E2DE89A9629F}"/>
                </a:ext>
              </a:extLst>
            </p:cNvPr>
            <p:cNvSpPr txBox="1"/>
            <p:nvPr/>
          </p:nvSpPr>
          <p:spPr>
            <a:xfrm>
              <a:off x="211505" y="2788630"/>
              <a:ext cx="364155" cy="2592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sccm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8DE4B4F-BC53-B9D1-361A-AF3870F2C1E0}"/>
                </a:ext>
              </a:extLst>
            </p:cNvPr>
            <p:cNvSpPr txBox="1"/>
            <p:nvPr/>
          </p:nvSpPr>
          <p:spPr>
            <a:xfrm>
              <a:off x="2217531" y="3877451"/>
              <a:ext cx="324044" cy="2592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time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0FD8AF7-BDB1-B8F5-870D-3B40F97ACF47}"/>
                    </a:ext>
                  </a:extLst>
                </p:cNvPr>
                <p:cNvSpPr txBox="1"/>
                <p:nvPr/>
              </p:nvSpPr>
              <p:spPr>
                <a:xfrm>
                  <a:off x="585844" y="2978928"/>
                  <a:ext cx="454406" cy="2419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spec </a:t>
                  </a:r>
                  <a14:m>
                    <m:oMath xmlns:m="http://schemas.openxmlformats.org/officeDocument/2006/math">
                      <m:r>
                        <a:rPr kumimoji="0" lang="en-US" altLang="ko-KR" sz="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</m:oMath>
                  </a14:m>
                  <a:r>
                    <a:rPr kumimoji="0" lang="en-US" altLang="ko-KR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2</a:t>
                  </a:r>
                  <a:endPara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2749395-377C-30E5-2FFE-755521D1A4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844" y="2978928"/>
                  <a:ext cx="454406" cy="241961"/>
                </a:xfrm>
                <a:prstGeom prst="rect">
                  <a:avLst/>
                </a:prstGeom>
                <a:blipFill>
                  <a:blip r:embed="rId5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C8B2C6C4-00A3-5932-9F22-1F611A691DFA}"/>
                </a:ext>
              </a:extLst>
            </p:cNvPr>
            <p:cNvSpPr/>
            <p:nvPr/>
          </p:nvSpPr>
          <p:spPr>
            <a:xfrm>
              <a:off x="3335515" y="3064120"/>
              <a:ext cx="451595" cy="727705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CB055E38-5487-CA3A-488E-602F68166BF2}"/>
                </a:ext>
              </a:extLst>
            </p:cNvPr>
            <p:cNvSpPr/>
            <p:nvPr/>
          </p:nvSpPr>
          <p:spPr>
            <a:xfrm>
              <a:off x="3811613" y="3094343"/>
              <a:ext cx="410009" cy="660692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803BF1B-BCC7-46B2-2CAB-D307568DF96C}"/>
                </a:ext>
              </a:extLst>
            </p:cNvPr>
            <p:cNvSpPr txBox="1"/>
            <p:nvPr/>
          </p:nvSpPr>
          <p:spPr>
            <a:xfrm>
              <a:off x="3561689" y="3921617"/>
              <a:ext cx="470164" cy="2246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전조 증상</a:t>
              </a:r>
            </a:p>
          </p:txBody>
        </p: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59249A23-BE2F-5E59-794B-964E75CA80A3}"/>
                </a:ext>
              </a:extLst>
            </p:cNvPr>
            <p:cNvCxnSpPr>
              <a:stCxn id="56" idx="4"/>
              <a:endCxn id="57" idx="4"/>
            </p:cNvCxnSpPr>
            <p:nvPr/>
          </p:nvCxnSpPr>
          <p:spPr>
            <a:xfrm rot="5400000" flipH="1" flipV="1">
              <a:off x="3770570" y="3545778"/>
              <a:ext cx="36790" cy="455304"/>
            </a:xfrm>
            <a:prstGeom prst="bentConnector3">
              <a:avLst>
                <a:gd name="adj1" fmla="val -378897"/>
              </a:avLst>
            </a:prstGeom>
            <a:noFill/>
            <a:ln w="6350" cap="flat" cmpd="sng" algn="ctr">
              <a:solidFill>
                <a:srgbClr val="0000FF"/>
              </a:solidFill>
              <a:prstDash val="solid"/>
              <a:miter lim="800000"/>
            </a:ln>
            <a:effectLst/>
          </p:spPr>
        </p:cxnSp>
        <p:cxnSp>
          <p:nvCxnSpPr>
            <p:cNvPr id="60" name="연결선: 꺾임 59">
              <a:extLst>
                <a:ext uri="{FF2B5EF4-FFF2-40B4-BE49-F238E27FC236}">
                  <a16:creationId xmlns:a16="http://schemas.microsoft.com/office/drawing/2014/main" id="{EE4B8288-565D-10C3-76E6-4855FFC6167A}"/>
                </a:ext>
              </a:extLst>
            </p:cNvPr>
            <p:cNvCxnSpPr>
              <a:stCxn id="50" idx="3"/>
              <a:endCxn id="49" idx="3"/>
            </p:cNvCxnSpPr>
            <p:nvPr/>
          </p:nvCxnSpPr>
          <p:spPr>
            <a:xfrm flipH="1">
              <a:off x="2726990" y="2081460"/>
              <a:ext cx="356017" cy="834037"/>
            </a:xfrm>
            <a:prstGeom prst="bentConnector3">
              <a:avLst>
                <a:gd name="adj1" fmla="val -21519"/>
              </a:avLst>
            </a:prstGeom>
            <a:noFill/>
            <a:ln w="63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61" name="연결선: 꺾임 60">
              <a:extLst>
                <a:ext uri="{FF2B5EF4-FFF2-40B4-BE49-F238E27FC236}">
                  <a16:creationId xmlns:a16="http://schemas.microsoft.com/office/drawing/2014/main" id="{3A492610-8C21-3D5E-B8AB-1B034D122C2D}"/>
                </a:ext>
              </a:extLst>
            </p:cNvPr>
            <p:cNvCxnSpPr>
              <a:cxnSpLocks/>
              <a:stCxn id="52" idx="1"/>
              <a:endCxn id="51" idx="1"/>
            </p:cNvCxnSpPr>
            <p:nvPr/>
          </p:nvCxnSpPr>
          <p:spPr>
            <a:xfrm rot="10800000" flipV="1">
              <a:off x="3960171" y="2184096"/>
              <a:ext cx="69311" cy="480512"/>
            </a:xfrm>
            <a:prstGeom prst="bentConnector3">
              <a:avLst>
                <a:gd name="adj1" fmla="val 421632"/>
              </a:avLst>
            </a:prstGeom>
            <a:noFill/>
            <a:ln w="63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4AAFE6A-CA99-933C-F968-99408A80CB4D}"/>
              </a:ext>
            </a:extLst>
          </p:cNvPr>
          <p:cNvGrpSpPr/>
          <p:nvPr/>
        </p:nvGrpSpPr>
        <p:grpSpPr>
          <a:xfrm>
            <a:off x="4931146" y="2205042"/>
            <a:ext cx="5015233" cy="1797698"/>
            <a:chOff x="171481" y="4645372"/>
            <a:chExt cx="4536539" cy="2156131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2C72281A-A443-983C-F38E-1F7909777D01}"/>
                </a:ext>
              </a:extLst>
            </p:cNvPr>
            <p:cNvGrpSpPr/>
            <p:nvPr/>
          </p:nvGrpSpPr>
          <p:grpSpPr>
            <a:xfrm>
              <a:off x="171481" y="4645372"/>
              <a:ext cx="4536539" cy="2156131"/>
              <a:chOff x="123745" y="4233693"/>
              <a:chExt cx="7769248" cy="2291521"/>
            </a:xfrm>
          </p:grpSpPr>
          <p:pic>
            <p:nvPicPr>
              <p:cNvPr id="65" name="그림 64">
                <a:extLst>
                  <a:ext uri="{FF2B5EF4-FFF2-40B4-BE49-F238E27FC236}">
                    <a16:creationId xmlns:a16="http://schemas.microsoft.com/office/drawing/2014/main" id="{F01A6209-B6F7-7665-5514-54E930FA9B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4880" y="4233693"/>
                <a:ext cx="6516009" cy="2105319"/>
              </a:xfrm>
              <a:prstGeom prst="rect">
                <a:avLst/>
              </a:prstGeom>
            </p:spPr>
          </p:pic>
          <p:sp>
            <p:nvSpPr>
              <p:cNvPr id="66" name="폭발: 8pt 65">
                <a:extLst>
                  <a:ext uri="{FF2B5EF4-FFF2-40B4-BE49-F238E27FC236}">
                    <a16:creationId xmlns:a16="http://schemas.microsoft.com/office/drawing/2014/main" id="{4F472D6E-DA71-4196-C3E9-91B93F8CAFB8}"/>
                  </a:ext>
                </a:extLst>
              </p:cNvPr>
              <p:cNvSpPr/>
              <p:nvPr/>
            </p:nvSpPr>
            <p:spPr>
              <a:xfrm>
                <a:off x="5918326" y="5242221"/>
                <a:ext cx="190005" cy="190005"/>
              </a:xfrm>
              <a:prstGeom prst="irregularSeal1">
                <a:avLst/>
              </a:prstGeom>
              <a:solidFill>
                <a:srgbClr val="FFFF00"/>
              </a:solidFill>
              <a:ln w="1270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D20FAF5-D90D-BF09-C1DE-72F6E039CDCE}"/>
                  </a:ext>
                </a:extLst>
              </p:cNvPr>
              <p:cNvSpPr txBox="1"/>
              <p:nvPr/>
            </p:nvSpPr>
            <p:spPr>
              <a:xfrm>
                <a:off x="7049638" y="5402890"/>
                <a:ext cx="843355" cy="2453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관리선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E2BAA6C-4808-2E0E-506D-CF4BA6CFE68F}"/>
                  </a:ext>
                </a:extLst>
              </p:cNvPr>
              <p:cNvSpPr txBox="1"/>
              <p:nvPr/>
            </p:nvSpPr>
            <p:spPr>
              <a:xfrm>
                <a:off x="123745" y="5065603"/>
                <a:ext cx="646145" cy="2897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count</a:t>
                </a:r>
                <a:endPara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7BBE149-5BCD-96BA-2B58-865AA329E252}"/>
                  </a:ext>
                </a:extLst>
              </p:cNvPr>
              <p:cNvSpPr txBox="1"/>
              <p:nvPr/>
            </p:nvSpPr>
            <p:spPr>
              <a:xfrm>
                <a:off x="3732679" y="6235484"/>
                <a:ext cx="561715" cy="2897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time</a:t>
                </a:r>
                <a:endPara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endParaRP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5357776-9DC7-587A-807D-598476D1EC5F}"/>
                </a:ext>
              </a:extLst>
            </p:cNvPr>
            <p:cNvSpPr txBox="1"/>
            <p:nvPr/>
          </p:nvSpPr>
          <p:spPr>
            <a:xfrm>
              <a:off x="3090131" y="5194207"/>
              <a:ext cx="104067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FDC </a:t>
              </a: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알람 발생</a:t>
              </a:r>
              <a:endPara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(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세번째 가성불량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21h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전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54BA82B3-3077-A0F8-5A9D-84865525CB43}"/>
              </a:ext>
            </a:extLst>
          </p:cNvPr>
          <p:cNvSpPr txBox="1"/>
          <p:nvPr/>
        </p:nvSpPr>
        <p:spPr>
          <a:xfrm>
            <a:off x="301897" y="1603282"/>
            <a:ext cx="4393928" cy="297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4/21,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실링 패드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고무 블록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 마모로 인한 가성 불량 발생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24DC32-A400-A080-81DA-CCD394220D50}"/>
              </a:ext>
            </a:extLst>
          </p:cNvPr>
          <p:cNvSpPr txBox="1"/>
          <p:nvPr/>
        </p:nvSpPr>
        <p:spPr>
          <a:xfrm>
            <a:off x="5100440" y="1616922"/>
            <a:ext cx="3861955" cy="5280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발생 약 하루 전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,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 유량 값이 상방으로 헌팅 다발하는 전조 증상 확인됨</a:t>
            </a:r>
          </a:p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전조 증상을 잡아내기 위해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헌팅 빈도 개념 반영하여 시뮬레이션 진행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FD3900-C096-0727-C966-BBD9E7524E5D}"/>
              </a:ext>
            </a:extLst>
          </p:cNvPr>
          <p:cNvSpPr txBox="1"/>
          <p:nvPr/>
        </p:nvSpPr>
        <p:spPr>
          <a:xfrm>
            <a:off x="5041594" y="4300669"/>
            <a:ext cx="1213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모델 적용 </a:t>
            </a:r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/ </a:t>
            </a:r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효과</a:t>
            </a:r>
            <a:endParaRPr lang="ko-KR" altLang="en-US" sz="105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3B9B750-3BE1-3519-9CD7-F38364436207}"/>
              </a:ext>
            </a:extLst>
          </p:cNvPr>
          <p:cNvSpPr txBox="1"/>
          <p:nvPr/>
        </p:nvSpPr>
        <p:spPr>
          <a:xfrm>
            <a:off x="5112555" y="4554046"/>
            <a:ext cx="4017446" cy="1913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FDC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데이터 연동 완료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(4/27), FDC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 모델링 및 알람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On(4/28)</a:t>
            </a:r>
          </a:p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As-Is)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정기 청소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: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매일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09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시 기준 정기 클리닝 진행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(1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회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일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설비기술팀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)</a:t>
            </a:r>
          </a:p>
          <a:p>
            <a:pPr defTabSz="457200" latinLnBrk="0">
              <a:lnSpc>
                <a:spcPct val="15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                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비정기 청소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: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매 부동 간 에어 포트 청소 진행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공정기술팀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)</a:t>
            </a:r>
          </a:p>
          <a:p>
            <a:pPr defTabSz="457200" latinLnBrk="0">
              <a:lnSpc>
                <a:spcPct val="15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                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유효 타수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감안한 실링 패드 교체 계획 수립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(TBM, 10,000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타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)</a:t>
            </a:r>
          </a:p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To-Be)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알람 발생 시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에어 포트 내 실링 패드 교체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청소 제안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(CBM)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</a:endParaRPr>
          </a:p>
          <a:p>
            <a:pPr defTabSz="457200" latinLnBrk="0">
              <a:lnSpc>
                <a:spcPct val="150000"/>
              </a:lnSpc>
            </a:pPr>
            <a:endParaRPr lang="ko-KR" altLang="en-US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3/22 ~ 4/22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동안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가성 불량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4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건 발생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모델 적용 시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2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건 사전 검출 가능 예상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endParaRPr lang="ko-KR" altLang="en-US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51B97B3E-E349-9D92-6BAA-047BB3669CA5}"/>
              </a:ext>
            </a:extLst>
          </p:cNvPr>
          <p:cNvCxnSpPr>
            <a:cxnSpLocks/>
          </p:cNvCxnSpPr>
          <p:nvPr/>
        </p:nvCxnSpPr>
        <p:spPr>
          <a:xfrm>
            <a:off x="4916488" y="1176181"/>
            <a:ext cx="0" cy="5456979"/>
          </a:xfrm>
          <a:prstGeom prst="line">
            <a:avLst/>
          </a:prstGeom>
          <a:noFill/>
          <a:ln w="12700" cap="flat" cmpd="sng" algn="ctr">
            <a:solidFill>
              <a:srgbClr val="E8E8E8"/>
            </a:solidFill>
            <a:prstDash val="solid"/>
            <a:miter lim="800000"/>
          </a:ln>
          <a:effectLst/>
        </p:spPr>
      </p:cxnSp>
      <p:pic>
        <p:nvPicPr>
          <p:cNvPr id="75" name="Picture 2">
            <a:extLst>
              <a:ext uri="{FF2B5EF4-FFF2-40B4-BE49-F238E27FC236}">
                <a16:creationId xmlns:a16="http://schemas.microsoft.com/office/drawing/2014/main" id="{2780CB31-3AE9-B00E-16A5-68E1630C4D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3" t="35379" r="24625" b="27608"/>
          <a:stretch/>
        </p:blipFill>
        <p:spPr bwMode="auto">
          <a:xfrm>
            <a:off x="2537113" y="2575800"/>
            <a:ext cx="1000171" cy="978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B7AF5CD9-0FC1-48E1-C19B-7FC7DD2B63BD}"/>
              </a:ext>
            </a:extLst>
          </p:cNvPr>
          <p:cNvSpPr txBox="1"/>
          <p:nvPr/>
        </p:nvSpPr>
        <p:spPr>
          <a:xfrm>
            <a:off x="2633539" y="3393140"/>
            <a:ext cx="8258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실링패드 마모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C461386-1DCA-5A7D-F18F-9C619267EECF}"/>
              </a:ext>
            </a:extLst>
          </p:cNvPr>
          <p:cNvSpPr txBox="1"/>
          <p:nvPr/>
        </p:nvSpPr>
        <p:spPr>
          <a:xfrm>
            <a:off x="223671" y="3841403"/>
            <a:ext cx="591829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■ 현상</a:t>
            </a: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A1B64041-A0CD-FED6-497F-8C9B2B0DC42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70273" r="82107"/>
          <a:stretch/>
        </p:blipFill>
        <p:spPr>
          <a:xfrm>
            <a:off x="904794" y="2496529"/>
            <a:ext cx="1260221" cy="1318696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993BD979-F7A2-CFE9-7968-325EFBB24571}"/>
              </a:ext>
            </a:extLst>
          </p:cNvPr>
          <p:cNvSpPr txBox="1"/>
          <p:nvPr/>
        </p:nvSpPr>
        <p:spPr>
          <a:xfrm>
            <a:off x="296495" y="1868942"/>
            <a:ext cx="4630970" cy="528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에어 포트 내 실링 패드 마모로 인한 리크 발생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</a:endParaRPr>
          </a:p>
          <a:p>
            <a:pPr defTabSz="457200" latinLnBrk="0">
              <a:lnSpc>
                <a:spcPct val="15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      -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에어 포트 내 실링 패드와 히트 싱크 포트와 접촉으로 인해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/>
              </a:rPr>
              <a:t>마모 발생</a:t>
            </a:r>
            <a:endParaRPr lang="en-US" altLang="ko-KR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EEC4776-7178-2DA6-1772-02B9173CA067}"/>
              </a:ext>
            </a:extLst>
          </p:cNvPr>
          <p:cNvSpPr txBox="1"/>
          <p:nvPr/>
        </p:nvSpPr>
        <p:spPr>
          <a:xfrm>
            <a:off x="5464068" y="3975576"/>
            <a:ext cx="437632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→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 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최근 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1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일동안 관리선 넘는 빈도를 계산하여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,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 빈도가 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10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을 넘으면 알람 발생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F867E6-929B-053A-056F-E3880204D142}"/>
              </a:ext>
            </a:extLst>
          </p:cNvPr>
          <p:cNvSpPr txBox="1"/>
          <p:nvPr/>
        </p:nvSpPr>
        <p:spPr>
          <a:xfrm>
            <a:off x="396158" y="4171030"/>
            <a:ext cx="3720890" cy="297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발생 약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1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일 전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,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 유량 값이 상방으로 헌팅 다발하는 전조 증상 확인됨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EEE637D-1E07-AA7F-762F-2072623F3394}"/>
              </a:ext>
            </a:extLst>
          </p:cNvPr>
          <p:cNvSpPr txBox="1"/>
          <p:nvPr/>
        </p:nvSpPr>
        <p:spPr>
          <a:xfrm>
            <a:off x="2023523" y="4516932"/>
            <a:ext cx="11769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/>
            <a:r>
              <a:rPr lang="ko-KR" altLang="en-US" sz="100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유량 </a:t>
            </a:r>
            <a:r>
              <a:rPr lang="en-US" altLang="ko-KR" sz="100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Max Trend</a:t>
            </a:r>
            <a:endParaRPr lang="ko-KR" altLang="en-US" sz="1000" b="1" dirty="0">
              <a:solidFill>
                <a:prstClr val="black"/>
              </a:solidFill>
              <a:highlight>
                <a:srgbClr val="FFFF00"/>
              </a:highlight>
              <a:latin typeface="Arial Narrow"/>
              <a:ea typeface="LG스마트체 Regular"/>
            </a:endParaRPr>
          </a:p>
        </p:txBody>
      </p:sp>
      <p:sp>
        <p:nvSpPr>
          <p:cNvPr id="3" name="실행 단추: 홈으로 이동 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5C3ED387-671C-E134-3266-10A04322FED2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7285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CMA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가압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Pallet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 감지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5892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CMA Pallet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별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Front/Rear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전폭 차이에 의한 틀어짐 발생 확인하였으며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Pallet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에 탑재된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개의 실린더의 가압시간 데이터를 활용하여 </a:t>
            </a:r>
          </a:p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Pallet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가압 이상 감지 적용하고자 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5CA347-0014-38F3-21BB-61D1991C28DD}"/>
              </a:ext>
            </a:extLst>
          </p:cNvPr>
          <p:cNvSpPr txBox="1"/>
          <p:nvPr/>
        </p:nvSpPr>
        <p:spPr>
          <a:xfrm>
            <a:off x="191796" y="1198549"/>
            <a:ext cx="628698" cy="27699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배경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E0758-3F65-81DD-C70D-5017A6815991}"/>
              </a:ext>
            </a:extLst>
          </p:cNvPr>
          <p:cNvSpPr txBox="1"/>
          <p:nvPr/>
        </p:nvSpPr>
        <p:spPr>
          <a:xfrm>
            <a:off x="183920" y="3440033"/>
            <a:ext cx="933269" cy="27699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현상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3CD649-64EB-0C37-1C59-D25569807FD2}"/>
              </a:ext>
            </a:extLst>
          </p:cNvPr>
          <p:cNvSpPr txBox="1"/>
          <p:nvPr/>
        </p:nvSpPr>
        <p:spPr>
          <a:xfrm>
            <a:off x="506145" y="3724108"/>
            <a:ext cx="2608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Ø"/>
            </a:pPr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Front/Rear Sensor </a:t>
            </a: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차이 트렌드 </a:t>
            </a:r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(Front – Rear)</a:t>
            </a:r>
            <a:endParaRPr lang="ko-KR" altLang="en-US" sz="10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4222CB2-DA14-8154-D539-25DE3B510B5F}"/>
              </a:ext>
            </a:extLst>
          </p:cNvPr>
          <p:cNvGrpSpPr/>
          <p:nvPr/>
        </p:nvGrpSpPr>
        <p:grpSpPr>
          <a:xfrm>
            <a:off x="632520" y="2101448"/>
            <a:ext cx="2273042" cy="1060683"/>
            <a:chOff x="6015549" y="1415803"/>
            <a:chExt cx="2949865" cy="137651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546D792-B417-CE6B-5457-91D868ED4247}"/>
                </a:ext>
              </a:extLst>
            </p:cNvPr>
            <p:cNvGrpSpPr/>
            <p:nvPr/>
          </p:nvGrpSpPr>
          <p:grpSpPr>
            <a:xfrm>
              <a:off x="6015549" y="1675975"/>
              <a:ext cx="2949865" cy="1116340"/>
              <a:chOff x="5403562" y="1570857"/>
              <a:chExt cx="4397453" cy="1448944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5AC9F34-8A39-6F8D-F6EA-2A521D30DD8F}"/>
                  </a:ext>
                </a:extLst>
              </p:cNvPr>
              <p:cNvSpPr/>
              <p:nvPr/>
            </p:nvSpPr>
            <p:spPr>
              <a:xfrm>
                <a:off x="6419138" y="1711532"/>
                <a:ext cx="2363782" cy="1308269"/>
              </a:xfrm>
              <a:prstGeom prst="rect">
                <a:avLst/>
              </a:prstGeom>
              <a:solidFill>
                <a:srgbClr val="156082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rPr>
                  <a:t>CMA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FF0A95-5CEC-E13E-F6C6-9A41DD9ABB7F}"/>
                  </a:ext>
                </a:extLst>
              </p:cNvPr>
              <p:cNvSpPr txBox="1"/>
              <p:nvPr/>
            </p:nvSpPr>
            <p:spPr>
              <a:xfrm>
                <a:off x="8640491" y="2435057"/>
                <a:ext cx="1052099" cy="3281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Front Right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66CDA1-8C6C-A960-0A07-78C8D64D17D5}"/>
                  </a:ext>
                </a:extLst>
              </p:cNvPr>
              <p:cNvSpPr txBox="1"/>
              <p:nvPr/>
            </p:nvSpPr>
            <p:spPr>
              <a:xfrm>
                <a:off x="8636425" y="1570857"/>
                <a:ext cx="1026862" cy="3281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Rear Right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45CFFA-15EB-F90D-A7CD-1F26E08A522A}"/>
                  </a:ext>
                </a:extLst>
              </p:cNvPr>
              <p:cNvSpPr txBox="1"/>
              <p:nvPr/>
            </p:nvSpPr>
            <p:spPr>
              <a:xfrm>
                <a:off x="5509468" y="2444702"/>
                <a:ext cx="953957" cy="328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Front Left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E93F424-0018-7410-E319-697E2A04FC1B}"/>
                  </a:ext>
                </a:extLst>
              </p:cNvPr>
              <p:cNvSpPr txBox="1"/>
              <p:nvPr/>
            </p:nvSpPr>
            <p:spPr>
              <a:xfrm>
                <a:off x="5529041" y="1588249"/>
                <a:ext cx="928720" cy="328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Rear Left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847CDE78-E4E0-924E-3C21-3B4FF92C21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9358" y="1943686"/>
                <a:ext cx="709781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ash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05F10BE8-7533-85C2-DDBF-AFE8D34C26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9059" y="2800047"/>
                <a:ext cx="693971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ash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24178F74-4AA2-4CB2-EF62-578C0147A0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93943" y="1933858"/>
                <a:ext cx="709781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ash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CE82350E-48A2-3389-10BC-33ADA70F8F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93644" y="2790219"/>
                <a:ext cx="693971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ash"/>
                <a:miter lim="800000"/>
                <a:headEnd type="none"/>
                <a:tailEnd type="none"/>
              </a:ln>
              <a:effectLst/>
            </p:spPr>
          </p:cxn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657AEF3D-66D1-C438-AF29-DC9DB6F0792B}"/>
                  </a:ext>
                </a:extLst>
              </p:cNvPr>
              <p:cNvSpPr/>
              <p:nvPr/>
            </p:nvSpPr>
            <p:spPr>
              <a:xfrm>
                <a:off x="9447892" y="1847612"/>
                <a:ext cx="353123" cy="192152"/>
              </a:xfrm>
              <a:prstGeom prst="rect">
                <a:avLst/>
              </a:prstGeom>
              <a:solidFill>
                <a:sysClr val="windowText" lastClr="00000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CD629EA4-76F8-1CB8-CD69-120165FFF555}"/>
                  </a:ext>
                </a:extLst>
              </p:cNvPr>
              <p:cNvSpPr/>
              <p:nvPr/>
            </p:nvSpPr>
            <p:spPr>
              <a:xfrm>
                <a:off x="9447591" y="2703971"/>
                <a:ext cx="353122" cy="192152"/>
              </a:xfrm>
              <a:prstGeom prst="rect">
                <a:avLst/>
              </a:prstGeom>
              <a:solidFill>
                <a:sysClr val="windowText" lastClr="00000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12E0CFEC-1CAF-98B0-3850-D610E20DA14F}"/>
                  </a:ext>
                </a:extLst>
              </p:cNvPr>
              <p:cNvSpPr/>
              <p:nvPr/>
            </p:nvSpPr>
            <p:spPr>
              <a:xfrm>
                <a:off x="5403861" y="1847610"/>
                <a:ext cx="353122" cy="192152"/>
              </a:xfrm>
              <a:prstGeom prst="rect">
                <a:avLst/>
              </a:prstGeom>
              <a:solidFill>
                <a:sysClr val="windowText" lastClr="00000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9C211B7B-5034-4EE3-09B6-83E488F14257}"/>
                  </a:ext>
                </a:extLst>
              </p:cNvPr>
              <p:cNvSpPr/>
              <p:nvPr/>
            </p:nvSpPr>
            <p:spPr>
              <a:xfrm>
                <a:off x="5403562" y="2703971"/>
                <a:ext cx="353122" cy="192152"/>
              </a:xfrm>
              <a:prstGeom prst="rect">
                <a:avLst/>
              </a:prstGeom>
              <a:solidFill>
                <a:sysClr val="windowText" lastClr="00000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0540EE-D09B-AA32-9FB6-E8C77851AE07}"/>
                </a:ext>
              </a:extLst>
            </p:cNvPr>
            <p:cNvSpPr txBox="1"/>
            <p:nvPr/>
          </p:nvSpPr>
          <p:spPr>
            <a:xfrm>
              <a:off x="8043420" y="1427091"/>
              <a:ext cx="474395" cy="3611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-  +</a:t>
              </a: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D183903-F8C5-5BDC-A3DD-C50EA28BA345}"/>
                </a:ext>
              </a:extLst>
            </p:cNvPr>
            <p:cNvSpPr txBox="1"/>
            <p:nvPr/>
          </p:nvSpPr>
          <p:spPr>
            <a:xfrm>
              <a:off x="6426654" y="1415803"/>
              <a:ext cx="474395" cy="3611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+  -</a:t>
              </a: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72A03B5A-6949-7E5B-8D9B-270F58B50B32}"/>
                </a:ext>
              </a:extLst>
            </p:cNvPr>
            <p:cNvCxnSpPr>
              <a:cxnSpLocks/>
            </p:cNvCxnSpPr>
            <p:nvPr/>
          </p:nvCxnSpPr>
          <p:spPr>
            <a:xfrm>
              <a:off x="6684935" y="1522438"/>
              <a:ext cx="0" cy="319260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dash"/>
              <a:miter lim="800000"/>
              <a:headEnd type="none"/>
              <a:tailEnd type="none"/>
            </a:ln>
            <a:effectLst/>
          </p:spPr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93DE95AF-B7B1-0D8A-C69C-80C1C31AFA50}"/>
                </a:ext>
              </a:extLst>
            </p:cNvPr>
            <p:cNvCxnSpPr>
              <a:cxnSpLocks/>
            </p:cNvCxnSpPr>
            <p:nvPr/>
          </p:nvCxnSpPr>
          <p:spPr>
            <a:xfrm>
              <a:off x="8277782" y="1522438"/>
              <a:ext cx="0" cy="319259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dash"/>
              <a:miter lim="800000"/>
              <a:headEnd type="none"/>
              <a:tailEnd type="none"/>
            </a:ln>
            <a:effectLst/>
          </p:spPr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E76497A-78DF-D919-D7C4-A16A6C5FFC7F}"/>
              </a:ext>
            </a:extLst>
          </p:cNvPr>
          <p:cNvSpPr txBox="1"/>
          <p:nvPr/>
        </p:nvSpPr>
        <p:spPr>
          <a:xfrm>
            <a:off x="258642" y="1426056"/>
            <a:ext cx="5009705" cy="5280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CMA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전폭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계산 시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, 4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개 변위 센서를 이용해 계산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Front/Rear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센서 차이를 통해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CMA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가압 불균형 현상 확인 → 가압 관련 실린더 이상감지 필요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35C1D3-A1C5-BAFE-FCAC-A22285F2C06C}"/>
              </a:ext>
            </a:extLst>
          </p:cNvPr>
          <p:cNvSpPr txBox="1"/>
          <p:nvPr/>
        </p:nvSpPr>
        <p:spPr>
          <a:xfrm>
            <a:off x="1100613" y="1984869"/>
            <a:ext cx="13676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전폭 측정 </a:t>
            </a:r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변위 센서</a:t>
            </a:r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F1A176-D0A4-F869-80CD-AAF422F38DE5}"/>
              </a:ext>
            </a:extLst>
          </p:cNvPr>
          <p:cNvSpPr txBox="1"/>
          <p:nvPr/>
        </p:nvSpPr>
        <p:spPr>
          <a:xfrm>
            <a:off x="4154658" y="1971955"/>
            <a:ext cx="1423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[ CMA </a:t>
            </a: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가압 불균형 예시 </a:t>
            </a:r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17626F1-D8B6-FD3A-AD95-D70386B2E955}"/>
              </a:ext>
            </a:extLst>
          </p:cNvPr>
          <p:cNvCxnSpPr>
            <a:cxnSpLocks/>
          </p:cNvCxnSpPr>
          <p:nvPr/>
        </p:nvCxnSpPr>
        <p:spPr>
          <a:xfrm>
            <a:off x="3440832" y="2221238"/>
            <a:ext cx="0" cy="103930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none"/>
            <a:tailEnd type="none"/>
          </a:ln>
          <a:effectLst/>
        </p:spPr>
      </p:cxn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E1E6700-F3AD-5EED-1B9D-BC2A27A1BFAF}"/>
              </a:ext>
            </a:extLst>
          </p:cNvPr>
          <p:cNvGrpSpPr/>
          <p:nvPr/>
        </p:nvGrpSpPr>
        <p:grpSpPr>
          <a:xfrm>
            <a:off x="4093897" y="2304118"/>
            <a:ext cx="1777494" cy="403977"/>
            <a:chOff x="8070735" y="2186404"/>
            <a:chExt cx="1777494" cy="403977"/>
          </a:xfrm>
        </p:grpSpPr>
        <p:sp>
          <p:nvSpPr>
            <p:cNvPr id="32" name="평행 사변형 31">
              <a:extLst>
                <a:ext uri="{FF2B5EF4-FFF2-40B4-BE49-F238E27FC236}">
                  <a16:creationId xmlns:a16="http://schemas.microsoft.com/office/drawing/2014/main" id="{45CEDA16-42BE-16FF-8D7E-9036F30A8739}"/>
                </a:ext>
              </a:extLst>
            </p:cNvPr>
            <p:cNvSpPr/>
            <p:nvPr/>
          </p:nvSpPr>
          <p:spPr>
            <a:xfrm>
              <a:off x="8070735" y="2186404"/>
              <a:ext cx="584255" cy="391158"/>
            </a:xfrm>
            <a:prstGeom prst="parallelogram">
              <a:avLst>
                <a:gd name="adj" fmla="val 10711"/>
              </a:avLst>
            </a:prstGeom>
            <a:solidFill>
              <a:srgbClr val="156082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CMA</a:t>
              </a: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B883861-667A-2787-DE73-E8015567F616}"/>
                </a:ext>
              </a:extLst>
            </p:cNvPr>
            <p:cNvSpPr txBox="1"/>
            <p:nvPr/>
          </p:nvSpPr>
          <p:spPr>
            <a:xfrm>
              <a:off x="8618405" y="2221049"/>
              <a:ext cx="12298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: Right : Front - Rear &lt; 0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  Left : Front - Rear &gt; </a:t>
              </a:r>
              <a:r>
                <a:rPr lang="en-US" altLang="ko-KR" sz="900" kern="0" dirty="0">
                  <a:solidFill>
                    <a:prstClr val="black"/>
                  </a:solidFill>
                  <a:latin typeface="Arial Narrow"/>
                  <a:ea typeface="LG스마트체 Regular"/>
                </a:rPr>
                <a:t>0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36AC46B0-0ADE-3D86-031A-C98235A3161E}"/>
                </a:ext>
              </a:extLst>
            </p:cNvPr>
            <p:cNvCxnSpPr>
              <a:cxnSpLocks/>
            </p:cNvCxnSpPr>
            <p:nvPr/>
          </p:nvCxnSpPr>
          <p:spPr>
            <a:xfrm>
              <a:off x="8173055" y="2229034"/>
              <a:ext cx="418495" cy="503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DE40D815-07E6-81D0-6A7E-DFF4745C2E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2916" y="2527864"/>
              <a:ext cx="40421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81B69DA-545C-1EC0-9AE7-0191A4AC7AE5}"/>
              </a:ext>
            </a:extLst>
          </p:cNvPr>
          <p:cNvGrpSpPr/>
          <p:nvPr/>
        </p:nvGrpSpPr>
        <p:grpSpPr>
          <a:xfrm>
            <a:off x="4091084" y="2796435"/>
            <a:ext cx="1769665" cy="427589"/>
            <a:chOff x="8069854" y="2674333"/>
            <a:chExt cx="1769665" cy="427589"/>
          </a:xfrm>
        </p:grpSpPr>
        <p:sp>
          <p:nvSpPr>
            <p:cNvPr id="37" name="평행 사변형 36">
              <a:extLst>
                <a:ext uri="{FF2B5EF4-FFF2-40B4-BE49-F238E27FC236}">
                  <a16:creationId xmlns:a16="http://schemas.microsoft.com/office/drawing/2014/main" id="{ED7C4EDD-7005-4078-ADD8-6C64442EC861}"/>
                </a:ext>
              </a:extLst>
            </p:cNvPr>
            <p:cNvSpPr/>
            <p:nvPr/>
          </p:nvSpPr>
          <p:spPr>
            <a:xfrm flipH="1">
              <a:off x="8069854" y="2674333"/>
              <a:ext cx="584255" cy="391158"/>
            </a:xfrm>
            <a:prstGeom prst="parallelogram">
              <a:avLst>
                <a:gd name="adj" fmla="val 10711"/>
              </a:avLst>
            </a:prstGeom>
            <a:solidFill>
              <a:srgbClr val="156082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CMA</a:t>
              </a: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9F95004-5EB5-8E6B-BA98-707F549DB685}"/>
                </a:ext>
              </a:extLst>
            </p:cNvPr>
            <p:cNvSpPr txBox="1"/>
            <p:nvPr/>
          </p:nvSpPr>
          <p:spPr>
            <a:xfrm>
              <a:off x="8609695" y="2732590"/>
              <a:ext cx="12298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: Right : Front - Rear &gt; 0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  Left : Front - Rear &lt; 0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482FAFF4-AD20-83F8-B722-D98FB205D93D}"/>
                </a:ext>
              </a:extLst>
            </p:cNvPr>
            <p:cNvCxnSpPr>
              <a:cxnSpLocks/>
            </p:cNvCxnSpPr>
            <p:nvPr/>
          </p:nvCxnSpPr>
          <p:spPr>
            <a:xfrm>
              <a:off x="8179405" y="3016975"/>
              <a:ext cx="416295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06D6F750-B04F-67AD-5EE7-9C02B96B41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9266" y="2727687"/>
              <a:ext cx="40421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F50D220-40EB-0BCB-39D7-025FA4DDF739}"/>
              </a:ext>
            </a:extLst>
          </p:cNvPr>
          <p:cNvSpPr txBox="1"/>
          <p:nvPr/>
        </p:nvSpPr>
        <p:spPr>
          <a:xfrm>
            <a:off x="3770230" y="5486142"/>
            <a:ext cx="21515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srgbClr val="0000FF"/>
                </a:solidFill>
                <a:latin typeface="Arial Narrow"/>
                <a:ea typeface="LG스마트체 Regular"/>
              </a:rPr>
              <a:t> 특정 팔레트에서 </a:t>
            </a:r>
            <a:r>
              <a:rPr lang="en-US" altLang="ko-KR" sz="900" dirty="0">
                <a:solidFill>
                  <a:srgbClr val="0000FF"/>
                </a:solidFill>
                <a:latin typeface="Arial Narrow"/>
                <a:ea typeface="LG스마트체 Regular"/>
              </a:rPr>
              <a:t>Front/Rear </a:t>
            </a:r>
            <a:r>
              <a:rPr lang="ko-KR" altLang="en-US" sz="900" dirty="0">
                <a:solidFill>
                  <a:srgbClr val="0000FF"/>
                </a:solidFill>
                <a:latin typeface="Arial Narrow"/>
                <a:ea typeface="LG스마트체 Regular"/>
              </a:rPr>
              <a:t>센서 차이 발생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56E247-4E9E-825E-0133-2624EB643330}"/>
              </a:ext>
            </a:extLst>
          </p:cNvPr>
          <p:cNvSpPr txBox="1"/>
          <p:nvPr/>
        </p:nvSpPr>
        <p:spPr>
          <a:xfrm>
            <a:off x="183508" y="5682813"/>
            <a:ext cx="933269" cy="27699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진행 현황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C1793D-8594-DF75-8A1D-EC9E30627D9C}"/>
              </a:ext>
            </a:extLst>
          </p:cNvPr>
          <p:cNvSpPr txBox="1"/>
          <p:nvPr/>
        </p:nvSpPr>
        <p:spPr>
          <a:xfrm>
            <a:off x="200697" y="5938360"/>
            <a:ext cx="4284083" cy="528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1) Pallet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에 장착된 실린더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(4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개소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b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  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→ 개별 실린더 동작시간 분리 및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Pallet ID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연동 후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모델링 실시 완료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(5/29)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16645E2D-8E8B-AE27-DB84-7406C9778BBD}"/>
              </a:ext>
            </a:extLst>
          </p:cNvPr>
          <p:cNvCxnSpPr>
            <a:cxnSpLocks/>
          </p:cNvCxnSpPr>
          <p:nvPr/>
        </p:nvCxnSpPr>
        <p:spPr>
          <a:xfrm>
            <a:off x="6321152" y="2238612"/>
            <a:ext cx="0" cy="103930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none"/>
            <a:tailEnd type="none"/>
          </a:ln>
          <a:effectLst/>
        </p:spPr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02FDD5D-3575-ED9A-E9E9-3BD9097A0441}"/>
              </a:ext>
            </a:extLst>
          </p:cNvPr>
          <p:cNvGrpSpPr/>
          <p:nvPr/>
        </p:nvGrpSpPr>
        <p:grpSpPr>
          <a:xfrm>
            <a:off x="6787161" y="1961800"/>
            <a:ext cx="2486319" cy="1358020"/>
            <a:chOff x="5202443" y="1939921"/>
            <a:chExt cx="2679562" cy="1463569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0E9E9C46-E0CD-6E15-9175-C962301BD6A8}"/>
                </a:ext>
              </a:extLst>
            </p:cNvPr>
            <p:cNvGrpSpPr/>
            <p:nvPr/>
          </p:nvGrpSpPr>
          <p:grpSpPr>
            <a:xfrm>
              <a:off x="5202443" y="2193009"/>
              <a:ext cx="2679562" cy="1210481"/>
              <a:chOff x="-1013574" y="2541944"/>
              <a:chExt cx="6314902" cy="2852730"/>
            </a:xfrm>
          </p:grpSpPr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336ED904-371D-DC73-2BC5-D20EB8B92933}"/>
                  </a:ext>
                </a:extLst>
              </p:cNvPr>
              <p:cNvGrpSpPr/>
              <p:nvPr/>
            </p:nvGrpSpPr>
            <p:grpSpPr>
              <a:xfrm>
                <a:off x="-634455" y="2624924"/>
                <a:ext cx="5587455" cy="2769750"/>
                <a:chOff x="-2625751" y="3506874"/>
                <a:chExt cx="6059514" cy="2780997"/>
              </a:xfrm>
            </p:grpSpPr>
            <p:pic>
              <p:nvPicPr>
                <p:cNvPr id="60" name="그림 59">
                  <a:extLst>
                    <a:ext uri="{FF2B5EF4-FFF2-40B4-BE49-F238E27FC236}">
                      <a16:creationId xmlns:a16="http://schemas.microsoft.com/office/drawing/2014/main" id="{472A247B-5020-7075-9AFA-0449AC243E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20358" t="3488" r="22876" b="3748"/>
                <a:stretch/>
              </p:blipFill>
              <p:spPr>
                <a:xfrm rot="16200000">
                  <a:off x="-986493" y="1867616"/>
                  <a:ext cx="2780997" cy="6059514"/>
                </a:xfrm>
                <a:prstGeom prst="rect">
                  <a:avLst/>
                </a:prstGeom>
              </p:spPr>
            </p:pic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A9E09919-B10C-D9F6-F88D-930A6B36E628}"/>
                    </a:ext>
                  </a:extLst>
                </p:cNvPr>
                <p:cNvSpPr/>
                <p:nvPr/>
              </p:nvSpPr>
              <p:spPr>
                <a:xfrm>
                  <a:off x="-457200" y="5067300"/>
                  <a:ext cx="764116" cy="276999"/>
                </a:xfrm>
                <a:prstGeom prst="rect">
                  <a:avLst/>
                </a:prstGeom>
                <a:solidFill>
                  <a:srgbClr val="8A8581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endParaRPr>
                </a:p>
              </p:txBody>
            </p:sp>
          </p:grp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EB0D5C28-1343-544D-81A3-9FE75B298393}"/>
                  </a:ext>
                </a:extLst>
              </p:cNvPr>
              <p:cNvSpPr/>
              <p:nvPr/>
            </p:nvSpPr>
            <p:spPr>
              <a:xfrm>
                <a:off x="-634456" y="3030278"/>
                <a:ext cx="634456" cy="679447"/>
              </a:xfrm>
              <a:prstGeom prst="rect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4ED2ACBE-C113-5771-B197-1FE218EF4F68}"/>
                  </a:ext>
                </a:extLst>
              </p:cNvPr>
              <p:cNvSpPr/>
              <p:nvPr/>
            </p:nvSpPr>
            <p:spPr>
              <a:xfrm>
                <a:off x="-758503" y="4458461"/>
                <a:ext cx="634456" cy="679447"/>
              </a:xfrm>
              <a:prstGeom prst="rect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B0710A84-9ADB-F68E-4FB1-C5860C3D64F6}"/>
                  </a:ext>
                </a:extLst>
              </p:cNvPr>
              <p:cNvSpPr/>
              <p:nvPr/>
            </p:nvSpPr>
            <p:spPr>
              <a:xfrm>
                <a:off x="4178548" y="2664487"/>
                <a:ext cx="634456" cy="679447"/>
              </a:xfrm>
              <a:prstGeom prst="rect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6330B68D-34CF-A385-DDF8-79019ACF30DA}"/>
                  </a:ext>
                </a:extLst>
              </p:cNvPr>
              <p:cNvSpPr/>
              <p:nvPr/>
            </p:nvSpPr>
            <p:spPr>
              <a:xfrm>
                <a:off x="4323693" y="4423019"/>
                <a:ext cx="634456" cy="679447"/>
              </a:xfrm>
              <a:prstGeom prst="rect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9BBD709-ED80-9A79-9BF6-6991ECA6F1C9}"/>
                  </a:ext>
                </a:extLst>
              </p:cNvPr>
              <p:cNvSpPr txBox="1"/>
              <p:nvPr/>
            </p:nvSpPr>
            <p:spPr>
              <a:xfrm>
                <a:off x="-894457" y="2541944"/>
                <a:ext cx="1217203" cy="5077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Cyliner 1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5B43AE0-9D2D-AAF2-9D40-278999A3CF9D}"/>
                  </a:ext>
                </a:extLst>
              </p:cNvPr>
              <p:cNvSpPr txBox="1"/>
              <p:nvPr/>
            </p:nvSpPr>
            <p:spPr>
              <a:xfrm>
                <a:off x="-1013574" y="3987145"/>
                <a:ext cx="1217203" cy="5077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Cyliner 2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A71E472-05D2-CBB3-0C34-D12CA2E269B3}"/>
                  </a:ext>
                </a:extLst>
              </p:cNvPr>
              <p:cNvSpPr txBox="1"/>
              <p:nvPr/>
            </p:nvSpPr>
            <p:spPr>
              <a:xfrm>
                <a:off x="3930011" y="3331933"/>
                <a:ext cx="1217203" cy="5077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Cyliner 3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A6023BE-7DFB-6AD1-5FC8-55B670A8F1CF}"/>
                  </a:ext>
                </a:extLst>
              </p:cNvPr>
              <p:cNvSpPr txBox="1"/>
              <p:nvPr/>
            </p:nvSpPr>
            <p:spPr>
              <a:xfrm>
                <a:off x="4084125" y="3953086"/>
                <a:ext cx="1217203" cy="5077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Cyliner 4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2A0430C9-E872-8813-9037-D9AF557108B7}"/>
                  </a:ext>
                </a:extLst>
              </p:cNvPr>
              <p:cNvSpPr/>
              <p:nvPr/>
            </p:nvSpPr>
            <p:spPr>
              <a:xfrm>
                <a:off x="660198" y="2888257"/>
                <a:ext cx="2547617" cy="2249651"/>
              </a:xfrm>
              <a:prstGeom prst="rect">
                <a:avLst/>
              </a:prstGeom>
              <a:solidFill>
                <a:srgbClr val="156082"/>
              </a:solidFill>
              <a:ln w="19050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rPr>
                  <a:t>CMA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59" name="화살표: 오른쪽 58">
                <a:extLst>
                  <a:ext uri="{FF2B5EF4-FFF2-40B4-BE49-F238E27FC236}">
                    <a16:creationId xmlns:a16="http://schemas.microsoft.com/office/drawing/2014/main" id="{F6615D27-DF40-96F6-AECE-532AC7F57C10}"/>
                  </a:ext>
                </a:extLst>
              </p:cNvPr>
              <p:cNvSpPr/>
              <p:nvPr/>
            </p:nvSpPr>
            <p:spPr>
              <a:xfrm flipV="1">
                <a:off x="206349" y="3626354"/>
                <a:ext cx="616544" cy="598404"/>
              </a:xfrm>
              <a:prstGeom prst="rightArrow">
                <a:avLst/>
              </a:prstGeom>
              <a:solidFill>
                <a:srgbClr val="FFC000"/>
              </a:solidFill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AC7D386-64C2-5B37-83C3-9A33E3B65950}"/>
                </a:ext>
              </a:extLst>
            </p:cNvPr>
            <p:cNvSpPr txBox="1"/>
            <p:nvPr/>
          </p:nvSpPr>
          <p:spPr>
            <a:xfrm>
              <a:off x="5776420" y="1939921"/>
              <a:ext cx="1593186" cy="265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[ CMA Pallet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Arial Narrow"/>
                  <a:ea typeface="LG스마트체 Regular"/>
                </a:rPr>
                <a:t>가압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 실린더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]</a:t>
              </a:r>
            </a:p>
          </p:txBody>
        </p:sp>
        <p:sp>
          <p:nvSpPr>
            <p:cNvPr id="48" name="화살표: 오른쪽 47">
              <a:extLst>
                <a:ext uri="{FF2B5EF4-FFF2-40B4-BE49-F238E27FC236}">
                  <a16:creationId xmlns:a16="http://schemas.microsoft.com/office/drawing/2014/main" id="{D979971D-FEF8-40A0-B024-8E076E0D25A3}"/>
                </a:ext>
              </a:extLst>
            </p:cNvPr>
            <p:cNvSpPr/>
            <p:nvPr/>
          </p:nvSpPr>
          <p:spPr>
            <a:xfrm rot="10800000" flipV="1">
              <a:off x="6931024" y="2678228"/>
              <a:ext cx="261614" cy="253917"/>
            </a:xfrm>
            <a:prstGeom prst="rightArrow">
              <a:avLst/>
            </a:prstGeom>
            <a:solidFill>
              <a:srgbClr val="FFC000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</p:grp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9EBBF763-6E43-FD20-012C-496858AFB9A7}"/>
              </a:ext>
            </a:extLst>
          </p:cNvPr>
          <p:cNvCxnSpPr>
            <a:cxnSpLocks/>
            <a:stCxn id="131" idx="6"/>
            <a:endCxn id="146" idx="0"/>
          </p:cNvCxnSpPr>
          <p:nvPr/>
        </p:nvCxnSpPr>
        <p:spPr>
          <a:xfrm flipH="1">
            <a:off x="3998708" y="2990164"/>
            <a:ext cx="1833316" cy="1106922"/>
          </a:xfrm>
          <a:prstGeom prst="bentConnector4">
            <a:avLst>
              <a:gd name="adj1" fmla="val -4394"/>
              <a:gd name="adj2" fmla="val 51119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DC75D1AB-28B6-230C-6F69-28B7144306A6}"/>
              </a:ext>
            </a:extLst>
          </p:cNvPr>
          <p:cNvCxnSpPr>
            <a:cxnSpLocks/>
            <a:stCxn id="130" idx="6"/>
            <a:endCxn id="145" idx="0"/>
          </p:cNvCxnSpPr>
          <p:nvPr/>
        </p:nvCxnSpPr>
        <p:spPr>
          <a:xfrm>
            <a:off x="5832024" y="2525226"/>
            <a:ext cx="136403" cy="1571860"/>
          </a:xfrm>
          <a:prstGeom prst="bentConnector2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15285C1-138D-1CBB-AA66-5DEED69359C8}"/>
              </a:ext>
            </a:extLst>
          </p:cNvPr>
          <p:cNvSpPr txBox="1"/>
          <p:nvPr/>
        </p:nvSpPr>
        <p:spPr>
          <a:xfrm>
            <a:off x="3733859" y="2374966"/>
            <a:ext cx="3016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(1)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F984CCB-9395-7220-9CE5-604649FA2A08}"/>
              </a:ext>
            </a:extLst>
          </p:cNvPr>
          <p:cNvSpPr txBox="1"/>
          <p:nvPr/>
        </p:nvSpPr>
        <p:spPr>
          <a:xfrm>
            <a:off x="3726897" y="2861335"/>
            <a:ext cx="3016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(2)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2F514C50-3E52-4E59-A221-21CCF6EAE3A3}"/>
              </a:ext>
            </a:extLst>
          </p:cNvPr>
          <p:cNvSpPr/>
          <p:nvPr/>
        </p:nvSpPr>
        <p:spPr>
          <a:xfrm>
            <a:off x="5782472" y="2500450"/>
            <a:ext cx="49552" cy="4955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77A7B747-04CF-A42A-1DC7-3246E20C591B}"/>
              </a:ext>
            </a:extLst>
          </p:cNvPr>
          <p:cNvSpPr/>
          <p:nvPr/>
        </p:nvSpPr>
        <p:spPr>
          <a:xfrm>
            <a:off x="5782472" y="2965388"/>
            <a:ext cx="49552" cy="4955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D54B6CE1-3F5C-2ABF-BAA3-E3ABCB064F92}"/>
              </a:ext>
            </a:extLst>
          </p:cNvPr>
          <p:cNvGrpSpPr/>
          <p:nvPr/>
        </p:nvGrpSpPr>
        <p:grpSpPr>
          <a:xfrm>
            <a:off x="669463" y="4077072"/>
            <a:ext cx="8339746" cy="1417412"/>
            <a:chOff x="690057" y="4077072"/>
            <a:chExt cx="6735679" cy="1417412"/>
          </a:xfrm>
        </p:grpSpPr>
        <p:pic>
          <p:nvPicPr>
            <p:cNvPr id="133" name="그림 132">
              <a:extLst>
                <a:ext uri="{FF2B5EF4-FFF2-40B4-BE49-F238E27FC236}">
                  <a16:creationId xmlns:a16="http://schemas.microsoft.com/office/drawing/2014/main" id="{424C2AE2-D18A-1B26-112C-0771314EA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0243" r="80452" b="25102"/>
            <a:stretch/>
          </p:blipFill>
          <p:spPr>
            <a:xfrm>
              <a:off x="5785498" y="4196742"/>
              <a:ext cx="1606217" cy="1130301"/>
            </a:xfrm>
            <a:prstGeom prst="rect">
              <a:avLst/>
            </a:prstGeom>
          </p:spPr>
        </p:pic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57881E1B-2CF4-FC2F-3A30-3C1388BB6027}"/>
                </a:ext>
              </a:extLst>
            </p:cNvPr>
            <p:cNvGrpSpPr/>
            <p:nvPr/>
          </p:nvGrpSpPr>
          <p:grpSpPr>
            <a:xfrm>
              <a:off x="690057" y="4091433"/>
              <a:ext cx="5031828" cy="1385295"/>
              <a:chOff x="4884980" y="3348577"/>
              <a:chExt cx="5031828" cy="1385295"/>
            </a:xfrm>
          </p:grpSpPr>
          <p:grpSp>
            <p:nvGrpSpPr>
              <p:cNvPr id="142" name="그룹 141">
                <a:extLst>
                  <a:ext uri="{FF2B5EF4-FFF2-40B4-BE49-F238E27FC236}">
                    <a16:creationId xmlns:a16="http://schemas.microsoft.com/office/drawing/2014/main" id="{CA690B82-E4A1-DC40-A5D1-D67AC3546390}"/>
                  </a:ext>
                </a:extLst>
              </p:cNvPr>
              <p:cNvGrpSpPr/>
              <p:nvPr/>
            </p:nvGrpSpPr>
            <p:grpSpPr>
              <a:xfrm>
                <a:off x="5111661" y="3406498"/>
                <a:ext cx="3170803" cy="1155646"/>
                <a:chOff x="5490889" y="3590382"/>
                <a:chExt cx="4182059" cy="1524213"/>
              </a:xfrm>
            </p:grpSpPr>
            <p:pic>
              <p:nvPicPr>
                <p:cNvPr id="307" name="그림 306">
                  <a:extLst>
                    <a:ext uri="{FF2B5EF4-FFF2-40B4-BE49-F238E27FC236}">
                      <a16:creationId xmlns:a16="http://schemas.microsoft.com/office/drawing/2014/main" id="{0881FFEB-D287-5579-7653-4429A8758C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90889" y="3590382"/>
                  <a:ext cx="4182059" cy="1524213"/>
                </a:xfrm>
                <a:prstGeom prst="rect">
                  <a:avLst/>
                </a:prstGeom>
              </p:spPr>
            </p:pic>
            <p:sp>
              <p:nvSpPr>
                <p:cNvPr id="308" name="TextBox 307">
                  <a:extLst>
                    <a:ext uri="{FF2B5EF4-FFF2-40B4-BE49-F238E27FC236}">
                      <a16:creationId xmlns:a16="http://schemas.microsoft.com/office/drawing/2014/main" id="{CCCB5C62-A7A4-8EF0-C072-6D9F433A2B8E}"/>
                    </a:ext>
                  </a:extLst>
                </p:cNvPr>
                <p:cNvSpPr txBox="1"/>
                <p:nvPr/>
              </p:nvSpPr>
              <p:spPr>
                <a:xfrm>
                  <a:off x="5667285" y="3727881"/>
                  <a:ext cx="609327" cy="4059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56082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/>
                      <a:ea typeface="LG스마트체 Regular"/>
                    </a:rPr>
                    <a:t>● </a:t>
                  </a:r>
                  <a:r>
                    <a:rPr kumimoji="0" lang="en-US" altLang="ko-KR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56082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/>
                      <a:ea typeface="LG스마트체 Regular"/>
                    </a:rPr>
                    <a:t>Left</a:t>
                  </a:r>
                </a:p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E97132">
                          <a:lumMod val="75000"/>
                        </a:srgbClr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/>
                      <a:ea typeface="LG스마트체 Regular"/>
                    </a:rPr>
                    <a:t>● </a:t>
                  </a:r>
                  <a:r>
                    <a:rPr kumimoji="0" lang="en-US" altLang="ko-KR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E97132">
                          <a:lumMod val="75000"/>
                        </a:srgbClr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/>
                      <a:ea typeface="LG스마트체 Regular"/>
                    </a:rPr>
                    <a:t>Right</a:t>
                  </a:r>
                  <a:endPara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97132">
                        <a:lumMod val="75000"/>
                      </a:srgbClr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id="{A1003275-9341-BB5F-2115-33256822566C}"/>
                    </a:ext>
                  </a:extLst>
                </p:cNvPr>
                <p:cNvSpPr txBox="1"/>
                <p:nvPr/>
              </p:nvSpPr>
              <p:spPr>
                <a:xfrm>
                  <a:off x="7797678" y="3728023"/>
                  <a:ext cx="609327" cy="4059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56082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/>
                      <a:ea typeface="LG스마트체 Regular"/>
                    </a:rPr>
                    <a:t>● </a:t>
                  </a:r>
                  <a:r>
                    <a:rPr kumimoji="0" lang="en-US" altLang="ko-KR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56082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/>
                      <a:ea typeface="LG스마트체 Regular"/>
                    </a:rPr>
                    <a:t>Left</a:t>
                  </a:r>
                </a:p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E97132">
                          <a:lumMod val="75000"/>
                        </a:srgbClr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/>
                      <a:ea typeface="LG스마트체 Regular"/>
                    </a:rPr>
                    <a:t>● </a:t>
                  </a:r>
                  <a:r>
                    <a:rPr kumimoji="0" lang="en-US" altLang="ko-KR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E97132">
                          <a:lumMod val="75000"/>
                        </a:srgbClr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/>
                      <a:ea typeface="LG스마트체 Regular"/>
                    </a:rPr>
                    <a:t>Right</a:t>
                  </a:r>
                  <a:endPara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97132">
                        <a:lumMod val="75000"/>
                      </a:srgbClr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</p:grpSp>
          <p:pic>
            <p:nvPicPr>
              <p:cNvPr id="143" name="그림 142">
                <a:extLst>
                  <a:ext uri="{FF2B5EF4-FFF2-40B4-BE49-F238E27FC236}">
                    <a16:creationId xmlns:a16="http://schemas.microsoft.com/office/drawing/2014/main" id="{67BC56D9-CF0A-C65A-FB57-0F9A423E3F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40114" t="24939" r="40353" b="49569"/>
              <a:stretch/>
            </p:blipFill>
            <p:spPr>
              <a:xfrm>
                <a:off x="8282464" y="3434184"/>
                <a:ext cx="1588491" cy="1156586"/>
              </a:xfrm>
              <a:prstGeom prst="rect">
                <a:avLst/>
              </a:prstGeom>
            </p:spPr>
          </p:pic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8F501116-D9E7-F4F1-5F40-4E20CBE561D0}"/>
                  </a:ext>
                </a:extLst>
              </p:cNvPr>
              <p:cNvSpPr txBox="1"/>
              <p:nvPr/>
            </p:nvSpPr>
            <p:spPr>
              <a:xfrm>
                <a:off x="8432519" y="3510043"/>
                <a:ext cx="46198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56082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● </a:t>
                </a:r>
                <a:r>
                  <a:rPr kumimoji="0" lang="en-US" altLang="ko-KR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56082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Left</a:t>
                </a:r>
              </a:p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97132">
                        <a:lumMod val="75000"/>
                      </a:srgbClr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● </a:t>
                </a:r>
                <a:r>
                  <a:rPr kumimoji="0" lang="en-US" altLang="ko-KR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97132">
                        <a:lumMod val="75000"/>
                      </a:srgbClr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Right</a:t>
                </a:r>
                <a:endPara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3611EEB-704D-6C19-1B98-A7832E10D3F7}"/>
                  </a:ext>
                </a:extLst>
              </p:cNvPr>
              <p:cNvSpPr txBox="1"/>
              <p:nvPr/>
            </p:nvSpPr>
            <p:spPr>
              <a:xfrm>
                <a:off x="8919269" y="3354230"/>
                <a:ext cx="49094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Pallet 12</a:t>
                </a:r>
                <a:endPara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C32A9EF1-9144-BAD9-5CD0-DB00D3EBAAFF}"/>
                  </a:ext>
                </a:extLst>
              </p:cNvPr>
              <p:cNvSpPr txBox="1"/>
              <p:nvPr/>
            </p:nvSpPr>
            <p:spPr>
              <a:xfrm>
                <a:off x="7328406" y="3354230"/>
                <a:ext cx="49094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Pallet 04</a:t>
                </a:r>
                <a:endPara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15781AE3-E12F-22F5-CB48-473933460904}"/>
                  </a:ext>
                </a:extLst>
              </p:cNvPr>
              <p:cNvSpPr txBox="1"/>
              <p:nvPr/>
            </p:nvSpPr>
            <p:spPr>
              <a:xfrm>
                <a:off x="5712561" y="3348577"/>
                <a:ext cx="49094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Pallet 03</a:t>
                </a:r>
                <a:endPara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3B771AEA-090A-0E98-05B9-2F2FFE81D017}"/>
                  </a:ext>
                </a:extLst>
              </p:cNvPr>
              <p:cNvSpPr txBox="1"/>
              <p:nvPr/>
            </p:nvSpPr>
            <p:spPr>
              <a:xfrm>
                <a:off x="5201441" y="4439182"/>
                <a:ext cx="3016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1/1</a:t>
                </a:r>
                <a:endPara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2608933F-0357-EB5E-E755-D760718B8500}"/>
                  </a:ext>
                </a:extLst>
              </p:cNvPr>
              <p:cNvSpPr txBox="1"/>
              <p:nvPr/>
            </p:nvSpPr>
            <p:spPr>
              <a:xfrm>
                <a:off x="6413460" y="4422812"/>
                <a:ext cx="3016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5/1</a:t>
                </a:r>
                <a:endPara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15959F96-1913-7AB7-4D3A-1D4C8C4795FA}"/>
                  </a:ext>
                </a:extLst>
              </p:cNvPr>
              <p:cNvSpPr txBox="1"/>
              <p:nvPr/>
            </p:nvSpPr>
            <p:spPr>
              <a:xfrm>
                <a:off x="6811728" y="4432346"/>
                <a:ext cx="34817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3/15</a:t>
                </a:r>
                <a:endPara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EEAA336E-7D59-78C7-C82E-148A6E455380}"/>
                  </a:ext>
                </a:extLst>
              </p:cNvPr>
              <p:cNvSpPr txBox="1"/>
              <p:nvPr/>
            </p:nvSpPr>
            <p:spPr>
              <a:xfrm>
                <a:off x="7998805" y="4429641"/>
                <a:ext cx="3016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5/1</a:t>
                </a:r>
                <a:endPara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242A6FA1-C210-5C88-6089-D713240944DD}"/>
                  </a:ext>
                </a:extLst>
              </p:cNvPr>
              <p:cNvSpPr txBox="1"/>
              <p:nvPr/>
            </p:nvSpPr>
            <p:spPr>
              <a:xfrm>
                <a:off x="8395483" y="4439182"/>
                <a:ext cx="3016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1/1</a:t>
                </a:r>
                <a:endPara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6F5CD905-F8CD-8F6C-383F-B637382B1DD8}"/>
                  </a:ext>
                </a:extLst>
              </p:cNvPr>
              <p:cNvSpPr txBox="1"/>
              <p:nvPr/>
            </p:nvSpPr>
            <p:spPr>
              <a:xfrm>
                <a:off x="9615122" y="4430432"/>
                <a:ext cx="3016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5/1</a:t>
                </a:r>
                <a:endPara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DEB74FD3-A413-D5F5-113E-10BB98AA960B}"/>
                  </a:ext>
                </a:extLst>
              </p:cNvPr>
              <p:cNvSpPr txBox="1"/>
              <p:nvPr/>
            </p:nvSpPr>
            <p:spPr>
              <a:xfrm>
                <a:off x="4884980" y="3899639"/>
                <a:ext cx="35137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E8E8E8"/>
                    </a:highlight>
                    <a:uLnTx/>
                    <a:uFillTx/>
                    <a:latin typeface="Arial Narrow"/>
                    <a:ea typeface="LG스마트체 Regular"/>
                  </a:rPr>
                  <a:t>mm</a:t>
                </a:r>
                <a:endPara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DA8BE34E-98C4-F4C8-C6A7-3FBE45CAF173}"/>
                  </a:ext>
                </a:extLst>
              </p:cNvPr>
              <p:cNvSpPr txBox="1"/>
              <p:nvPr/>
            </p:nvSpPr>
            <p:spPr>
              <a:xfrm>
                <a:off x="7427113" y="4493216"/>
                <a:ext cx="37863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time</a:t>
                </a:r>
                <a:endPara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DDE96011-6C3E-22E0-2F3D-42A14FC8CD5F}"/>
                  </a:ext>
                </a:extLst>
              </p:cNvPr>
              <p:cNvSpPr txBox="1"/>
              <p:nvPr/>
            </p:nvSpPr>
            <p:spPr>
              <a:xfrm>
                <a:off x="5790826" y="4484562"/>
                <a:ext cx="37863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time</a:t>
                </a:r>
                <a:endPara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9B9D5FA2-105C-BB54-0949-B868511385F7}"/>
                  </a:ext>
                </a:extLst>
              </p:cNvPr>
              <p:cNvSpPr txBox="1"/>
              <p:nvPr/>
            </p:nvSpPr>
            <p:spPr>
              <a:xfrm>
                <a:off x="8985051" y="4503040"/>
                <a:ext cx="37863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time</a:t>
                </a:r>
                <a:endPara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2A8C913C-9DAA-FFB4-84B4-EA2BEBC77CCC}"/>
                  </a:ext>
                </a:extLst>
              </p:cNvPr>
              <p:cNvSpPr txBox="1"/>
              <p:nvPr/>
            </p:nvSpPr>
            <p:spPr>
              <a:xfrm>
                <a:off x="7680572" y="4046872"/>
                <a:ext cx="66556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틀어짐 추정</a:t>
                </a: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356520E0-57A8-F897-ED7B-03D74233E22D}"/>
                  </a:ext>
                </a:extLst>
              </p:cNvPr>
              <p:cNvSpPr txBox="1"/>
              <p:nvPr/>
            </p:nvSpPr>
            <p:spPr>
              <a:xfrm>
                <a:off x="9240433" y="4212056"/>
                <a:ext cx="66556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틀어짐 추정</a:t>
                </a:r>
              </a:p>
            </p:txBody>
          </p:sp>
          <p:cxnSp>
            <p:nvCxnSpPr>
              <p:cNvPr id="302" name="직선 연결선 301">
                <a:extLst>
                  <a:ext uri="{FF2B5EF4-FFF2-40B4-BE49-F238E27FC236}">
                    <a16:creationId xmlns:a16="http://schemas.microsoft.com/office/drawing/2014/main" id="{4EE44AC2-0311-B17A-CF88-7626545406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3078" y="4011163"/>
                <a:ext cx="1340229" cy="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303" name="직선 연결선 302">
                <a:extLst>
                  <a:ext uri="{FF2B5EF4-FFF2-40B4-BE49-F238E27FC236}">
                    <a16:creationId xmlns:a16="http://schemas.microsoft.com/office/drawing/2014/main" id="{13FA768E-8D73-6148-315A-1C0B6FD4DD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13955" y="4006400"/>
                <a:ext cx="1340229" cy="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304" name="직선 연결선 303">
                <a:extLst>
                  <a:ext uri="{FF2B5EF4-FFF2-40B4-BE49-F238E27FC236}">
                    <a16:creationId xmlns:a16="http://schemas.microsoft.com/office/drawing/2014/main" id="{EF13AB4B-0A67-6A53-B09F-DC11229CC0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90071" y="4012301"/>
                <a:ext cx="1340229" cy="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sp>
            <p:nvSpPr>
              <p:cNvPr id="305" name="화살표: 위쪽/아래쪽 304">
                <a:extLst>
                  <a:ext uri="{FF2B5EF4-FFF2-40B4-BE49-F238E27FC236}">
                    <a16:creationId xmlns:a16="http://schemas.microsoft.com/office/drawing/2014/main" id="{F5213C78-226F-F129-10F4-EC0A3DBB0DCF}"/>
                  </a:ext>
                </a:extLst>
              </p:cNvPr>
              <p:cNvSpPr/>
              <p:nvPr/>
            </p:nvSpPr>
            <p:spPr>
              <a:xfrm>
                <a:off x="7874177" y="3768103"/>
                <a:ext cx="156597" cy="272944"/>
              </a:xfrm>
              <a:prstGeom prst="upDownArrow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306" name="화살표: 위쪽/아래쪽 305">
                <a:extLst>
                  <a:ext uri="{FF2B5EF4-FFF2-40B4-BE49-F238E27FC236}">
                    <a16:creationId xmlns:a16="http://schemas.microsoft.com/office/drawing/2014/main" id="{F895C85B-DC0D-2E74-9E48-135B686F45E6}"/>
                  </a:ext>
                </a:extLst>
              </p:cNvPr>
              <p:cNvSpPr/>
              <p:nvPr/>
            </p:nvSpPr>
            <p:spPr>
              <a:xfrm>
                <a:off x="9528737" y="3875893"/>
                <a:ext cx="153518" cy="272944"/>
              </a:xfrm>
              <a:prstGeom prst="upDownArrow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</p:grp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737E0F21-EBE6-90EF-BE07-3461E992E594}"/>
                </a:ext>
              </a:extLst>
            </p:cNvPr>
            <p:cNvSpPr/>
            <p:nvPr/>
          </p:nvSpPr>
          <p:spPr>
            <a:xfrm>
              <a:off x="2501884" y="4077072"/>
              <a:ext cx="3234232" cy="1399656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4B74767E-EDA6-6358-F6EC-A53D6D868DEB}"/>
                </a:ext>
              </a:extLst>
            </p:cNvPr>
            <p:cNvSpPr txBox="1"/>
            <p:nvPr/>
          </p:nvSpPr>
          <p:spPr>
            <a:xfrm>
              <a:off x="6413564" y="4092249"/>
              <a:ext cx="4909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Pallet 15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E27331E9-648F-724C-7E87-B565BF3BF0F9}"/>
                </a:ext>
              </a:extLst>
            </p:cNvPr>
            <p:cNvSpPr txBox="1"/>
            <p:nvPr/>
          </p:nvSpPr>
          <p:spPr>
            <a:xfrm>
              <a:off x="5894275" y="5191638"/>
              <a:ext cx="3016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1/1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CA867D82-8032-09CC-6FD0-6251BDDD7FDF}"/>
                </a:ext>
              </a:extLst>
            </p:cNvPr>
            <p:cNvSpPr txBox="1"/>
            <p:nvPr/>
          </p:nvSpPr>
          <p:spPr>
            <a:xfrm>
              <a:off x="7124050" y="5193024"/>
              <a:ext cx="3016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5/1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8CAFBFE-357B-325D-1BFD-046CB21968F6}"/>
                </a:ext>
              </a:extLst>
            </p:cNvPr>
            <p:cNvSpPr txBox="1"/>
            <p:nvPr/>
          </p:nvSpPr>
          <p:spPr>
            <a:xfrm>
              <a:off x="6474782" y="5263652"/>
              <a:ext cx="3786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time</a:t>
              </a:r>
              <a:endPara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88DD6C8-FA8E-A8FC-638F-DC5384C042EF}"/>
                </a:ext>
              </a:extLst>
            </p:cNvPr>
            <p:cNvSpPr txBox="1"/>
            <p:nvPr/>
          </p:nvSpPr>
          <p:spPr>
            <a:xfrm>
              <a:off x="5915530" y="4255860"/>
              <a:ext cx="46198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●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Left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●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Right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2BC7F6D0-3BAE-6E42-FD21-B022CDC8D86C}"/>
                </a:ext>
              </a:extLst>
            </p:cNvPr>
            <p:cNvCxnSpPr>
              <a:cxnSpLocks/>
            </p:cNvCxnSpPr>
            <p:nvPr/>
          </p:nvCxnSpPr>
          <p:spPr>
            <a:xfrm>
              <a:off x="5952140" y="4757911"/>
              <a:ext cx="1392821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headEnd type="none"/>
              <a:tailEnd type="non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341242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BFA(Busbar Frame Assy)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공정 이상 감지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(1/2)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55521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BFA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공정 중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팝업 실린더 너트 풀림으로 인한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체결 직행 불량 발생을 사전에 감지하여 조치하고자 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→ 팝업 실린더 너트 풀림 발생 시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비전 보정량 변동 특징을 추출하여 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모델링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알람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On </a:t>
            </a: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완료함</a:t>
            </a:r>
            <a:endParaRPr kumimoji="1" lang="en-US" altLang="ko-KR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740" name="그룹 739">
            <a:extLst>
              <a:ext uri="{FF2B5EF4-FFF2-40B4-BE49-F238E27FC236}">
                <a16:creationId xmlns:a16="http://schemas.microsoft.com/office/drawing/2014/main" id="{72B79A28-2311-427B-0BD6-95756747CF35}"/>
              </a:ext>
            </a:extLst>
          </p:cNvPr>
          <p:cNvGrpSpPr/>
          <p:nvPr/>
        </p:nvGrpSpPr>
        <p:grpSpPr>
          <a:xfrm>
            <a:off x="7446475" y="144786"/>
            <a:ext cx="2231802" cy="841989"/>
            <a:chOff x="7297258" y="-29019"/>
            <a:chExt cx="2603486" cy="982215"/>
          </a:xfrm>
        </p:grpSpPr>
        <p:sp>
          <p:nvSpPr>
            <p:cNvPr id="741" name="정육면체 740">
              <a:extLst>
                <a:ext uri="{FF2B5EF4-FFF2-40B4-BE49-F238E27FC236}">
                  <a16:creationId xmlns:a16="http://schemas.microsoft.com/office/drawing/2014/main" id="{E09563B7-82D0-532D-C969-617814DC5658}"/>
                </a:ext>
              </a:extLst>
            </p:cNvPr>
            <p:cNvSpPr/>
            <p:nvPr/>
          </p:nvSpPr>
          <p:spPr>
            <a:xfrm>
              <a:off x="7954835" y="45039"/>
              <a:ext cx="1662251" cy="398866"/>
            </a:xfrm>
            <a:prstGeom prst="cube">
              <a:avLst>
                <a:gd name="adj" fmla="val 7129"/>
              </a:avLst>
            </a:prstGeom>
            <a:solidFill>
              <a:sysClr val="window" lastClr="FFFFFF">
                <a:lumMod val="95000"/>
              </a:sys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Busbar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742" name="정육면체 741">
              <a:extLst>
                <a:ext uri="{FF2B5EF4-FFF2-40B4-BE49-F238E27FC236}">
                  <a16:creationId xmlns:a16="http://schemas.microsoft.com/office/drawing/2014/main" id="{D34B9129-91A9-5ECB-4EA3-DC705243F4B5}"/>
                </a:ext>
              </a:extLst>
            </p:cNvPr>
            <p:cNvSpPr/>
            <p:nvPr/>
          </p:nvSpPr>
          <p:spPr>
            <a:xfrm>
              <a:off x="7545981" y="74886"/>
              <a:ext cx="517309" cy="768190"/>
            </a:xfrm>
            <a:prstGeom prst="cube">
              <a:avLst>
                <a:gd name="adj" fmla="val 79018"/>
              </a:avLst>
            </a:prstGeom>
            <a:solidFill>
              <a:sysClr val="windowText" lastClr="0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743" name="정육면체 742">
              <a:extLst>
                <a:ext uri="{FF2B5EF4-FFF2-40B4-BE49-F238E27FC236}">
                  <a16:creationId xmlns:a16="http://schemas.microsoft.com/office/drawing/2014/main" id="{A7471218-E4E7-C5A9-F477-B85A2F8071C1}"/>
                </a:ext>
              </a:extLst>
            </p:cNvPr>
            <p:cNvSpPr/>
            <p:nvPr/>
          </p:nvSpPr>
          <p:spPr>
            <a:xfrm>
              <a:off x="7651783" y="74886"/>
              <a:ext cx="1842648" cy="768190"/>
            </a:xfrm>
            <a:prstGeom prst="cube">
              <a:avLst>
                <a:gd name="adj" fmla="val 53008"/>
              </a:avLst>
            </a:prstGeom>
            <a:solidFill>
              <a:srgbClr val="156082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744" name="정육면체 743">
              <a:extLst>
                <a:ext uri="{FF2B5EF4-FFF2-40B4-BE49-F238E27FC236}">
                  <a16:creationId xmlns:a16="http://schemas.microsoft.com/office/drawing/2014/main" id="{B14E4936-4BDD-913F-987C-5A2FEAC7B3EF}"/>
                </a:ext>
              </a:extLst>
            </p:cNvPr>
            <p:cNvSpPr/>
            <p:nvPr/>
          </p:nvSpPr>
          <p:spPr>
            <a:xfrm>
              <a:off x="9072157" y="74886"/>
              <a:ext cx="517309" cy="768190"/>
            </a:xfrm>
            <a:prstGeom prst="cube">
              <a:avLst>
                <a:gd name="adj" fmla="val 79018"/>
              </a:avLst>
            </a:prstGeom>
            <a:solidFill>
              <a:sysClr val="windowText" lastClr="0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745" name="TextBox 744">
              <a:extLst>
                <a:ext uri="{FF2B5EF4-FFF2-40B4-BE49-F238E27FC236}">
                  <a16:creationId xmlns:a16="http://schemas.microsoft.com/office/drawing/2014/main" id="{B7B328C4-1CF6-7765-2275-D3267EC814C5}"/>
                </a:ext>
              </a:extLst>
            </p:cNvPr>
            <p:cNvSpPr txBox="1"/>
            <p:nvPr/>
          </p:nvSpPr>
          <p:spPr>
            <a:xfrm>
              <a:off x="9262231" y="275981"/>
              <a:ext cx="413637" cy="287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E/P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746" name="TextBox 745">
              <a:extLst>
                <a:ext uri="{FF2B5EF4-FFF2-40B4-BE49-F238E27FC236}">
                  <a16:creationId xmlns:a16="http://schemas.microsoft.com/office/drawing/2014/main" id="{DDCFCB25-96A2-A8F8-E8F1-77FD12D7C53B}"/>
                </a:ext>
              </a:extLst>
            </p:cNvPr>
            <p:cNvSpPr txBox="1"/>
            <p:nvPr/>
          </p:nvSpPr>
          <p:spPr>
            <a:xfrm>
              <a:off x="7368620" y="110140"/>
              <a:ext cx="417376" cy="287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Left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747" name="TextBox 746">
              <a:extLst>
                <a:ext uri="{FF2B5EF4-FFF2-40B4-BE49-F238E27FC236}">
                  <a16:creationId xmlns:a16="http://schemas.microsoft.com/office/drawing/2014/main" id="{E8D3377F-6118-3854-C427-CD1D52034D74}"/>
                </a:ext>
              </a:extLst>
            </p:cNvPr>
            <p:cNvSpPr txBox="1"/>
            <p:nvPr/>
          </p:nvSpPr>
          <p:spPr>
            <a:xfrm>
              <a:off x="9401089" y="541671"/>
              <a:ext cx="499655" cy="287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Right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748" name="정육면체 747">
              <a:extLst>
                <a:ext uri="{FF2B5EF4-FFF2-40B4-BE49-F238E27FC236}">
                  <a16:creationId xmlns:a16="http://schemas.microsoft.com/office/drawing/2014/main" id="{A80B8D53-54BF-DB40-475C-692D0BF568A8}"/>
                </a:ext>
              </a:extLst>
            </p:cNvPr>
            <p:cNvSpPr/>
            <p:nvPr/>
          </p:nvSpPr>
          <p:spPr>
            <a:xfrm>
              <a:off x="7544734" y="444210"/>
              <a:ext cx="1662251" cy="398866"/>
            </a:xfrm>
            <a:prstGeom prst="cube">
              <a:avLst>
                <a:gd name="adj" fmla="val 7129"/>
              </a:avLst>
            </a:prstGeom>
            <a:solidFill>
              <a:sysClr val="window" lastClr="FFFFFF">
                <a:lumMod val="95000"/>
              </a:sys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Busbar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749" name="TextBox 748">
              <a:extLst>
                <a:ext uri="{FF2B5EF4-FFF2-40B4-BE49-F238E27FC236}">
                  <a16:creationId xmlns:a16="http://schemas.microsoft.com/office/drawing/2014/main" id="{B9413F73-FC8F-7AF5-B1D8-B534ED222F43}"/>
                </a:ext>
              </a:extLst>
            </p:cNvPr>
            <p:cNvSpPr txBox="1"/>
            <p:nvPr/>
          </p:nvSpPr>
          <p:spPr>
            <a:xfrm>
              <a:off x="8243765" y="148437"/>
              <a:ext cx="761451" cy="287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Cell Block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750" name="타원 749">
              <a:extLst>
                <a:ext uri="{FF2B5EF4-FFF2-40B4-BE49-F238E27FC236}">
                  <a16:creationId xmlns:a16="http://schemas.microsoft.com/office/drawing/2014/main" id="{C062C5EA-23D6-DE16-1202-06DE7FEE0616}"/>
                </a:ext>
              </a:extLst>
            </p:cNvPr>
            <p:cNvSpPr/>
            <p:nvPr/>
          </p:nvSpPr>
          <p:spPr>
            <a:xfrm>
              <a:off x="9102589" y="507015"/>
              <a:ext cx="50560" cy="50561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751" name="타원 750">
              <a:extLst>
                <a:ext uri="{FF2B5EF4-FFF2-40B4-BE49-F238E27FC236}">
                  <a16:creationId xmlns:a16="http://schemas.microsoft.com/office/drawing/2014/main" id="{D0521250-A561-2672-BDF6-C77B411669D4}"/>
                </a:ext>
              </a:extLst>
            </p:cNvPr>
            <p:cNvSpPr/>
            <p:nvPr/>
          </p:nvSpPr>
          <p:spPr>
            <a:xfrm>
              <a:off x="9102589" y="762668"/>
              <a:ext cx="50560" cy="50561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752" name="타원 751">
              <a:extLst>
                <a:ext uri="{FF2B5EF4-FFF2-40B4-BE49-F238E27FC236}">
                  <a16:creationId xmlns:a16="http://schemas.microsoft.com/office/drawing/2014/main" id="{3AA420DF-5279-5013-0172-56CD35FC8366}"/>
                </a:ext>
              </a:extLst>
            </p:cNvPr>
            <p:cNvSpPr/>
            <p:nvPr/>
          </p:nvSpPr>
          <p:spPr>
            <a:xfrm>
              <a:off x="7573602" y="506245"/>
              <a:ext cx="50560" cy="50561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753" name="타원 752">
              <a:extLst>
                <a:ext uri="{FF2B5EF4-FFF2-40B4-BE49-F238E27FC236}">
                  <a16:creationId xmlns:a16="http://schemas.microsoft.com/office/drawing/2014/main" id="{EB0DF821-ABAA-A3A4-EA7A-8A8AE6418380}"/>
                </a:ext>
              </a:extLst>
            </p:cNvPr>
            <p:cNvSpPr/>
            <p:nvPr/>
          </p:nvSpPr>
          <p:spPr>
            <a:xfrm>
              <a:off x="7573602" y="761898"/>
              <a:ext cx="50560" cy="50561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754" name="TextBox 753">
              <a:extLst>
                <a:ext uri="{FF2B5EF4-FFF2-40B4-BE49-F238E27FC236}">
                  <a16:creationId xmlns:a16="http://schemas.microsoft.com/office/drawing/2014/main" id="{AC4EFC9E-A3C3-82A6-0E04-25681055E608}"/>
                </a:ext>
              </a:extLst>
            </p:cNvPr>
            <p:cNvSpPr txBox="1"/>
            <p:nvPr/>
          </p:nvSpPr>
          <p:spPr>
            <a:xfrm>
              <a:off x="9116488" y="408280"/>
              <a:ext cx="348189" cy="287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①</a:t>
              </a:r>
            </a:p>
          </p:txBody>
        </p:sp>
        <p:sp>
          <p:nvSpPr>
            <p:cNvPr id="755" name="TextBox 754">
              <a:extLst>
                <a:ext uri="{FF2B5EF4-FFF2-40B4-BE49-F238E27FC236}">
                  <a16:creationId xmlns:a16="http://schemas.microsoft.com/office/drawing/2014/main" id="{81D35774-648E-495B-1580-5014B4766250}"/>
                </a:ext>
              </a:extLst>
            </p:cNvPr>
            <p:cNvSpPr txBox="1"/>
            <p:nvPr/>
          </p:nvSpPr>
          <p:spPr>
            <a:xfrm>
              <a:off x="9116488" y="663646"/>
              <a:ext cx="348189" cy="287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③</a:t>
              </a:r>
            </a:p>
          </p:txBody>
        </p:sp>
        <p:sp>
          <p:nvSpPr>
            <p:cNvPr id="756" name="TextBox 755">
              <a:extLst>
                <a:ext uri="{FF2B5EF4-FFF2-40B4-BE49-F238E27FC236}">
                  <a16:creationId xmlns:a16="http://schemas.microsoft.com/office/drawing/2014/main" id="{2ED8AA54-5862-FB99-D997-09BE48165CAA}"/>
                </a:ext>
              </a:extLst>
            </p:cNvPr>
            <p:cNvSpPr txBox="1"/>
            <p:nvPr/>
          </p:nvSpPr>
          <p:spPr>
            <a:xfrm>
              <a:off x="7297258" y="410602"/>
              <a:ext cx="348189" cy="287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⑤</a:t>
              </a:r>
            </a:p>
          </p:txBody>
        </p:sp>
        <p:sp>
          <p:nvSpPr>
            <p:cNvPr id="757" name="TextBox 756">
              <a:extLst>
                <a:ext uri="{FF2B5EF4-FFF2-40B4-BE49-F238E27FC236}">
                  <a16:creationId xmlns:a16="http://schemas.microsoft.com/office/drawing/2014/main" id="{822FB5E0-E000-95BF-C188-6D20761FEE99}"/>
                </a:ext>
              </a:extLst>
            </p:cNvPr>
            <p:cNvSpPr txBox="1"/>
            <p:nvPr/>
          </p:nvSpPr>
          <p:spPr>
            <a:xfrm>
              <a:off x="7297258" y="665969"/>
              <a:ext cx="348189" cy="287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⑦</a:t>
              </a:r>
            </a:p>
          </p:txBody>
        </p:sp>
        <p:sp>
          <p:nvSpPr>
            <p:cNvPr id="758" name="TextBox 757">
              <a:extLst>
                <a:ext uri="{FF2B5EF4-FFF2-40B4-BE49-F238E27FC236}">
                  <a16:creationId xmlns:a16="http://schemas.microsoft.com/office/drawing/2014/main" id="{6869999B-C6AC-C026-8C36-2153E63B76C5}"/>
                </a:ext>
              </a:extLst>
            </p:cNvPr>
            <p:cNvSpPr txBox="1"/>
            <p:nvPr/>
          </p:nvSpPr>
          <p:spPr>
            <a:xfrm>
              <a:off x="9544844" y="-29019"/>
              <a:ext cx="348189" cy="287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②</a:t>
              </a:r>
            </a:p>
          </p:txBody>
        </p:sp>
        <p:sp>
          <p:nvSpPr>
            <p:cNvPr id="759" name="TextBox 758">
              <a:extLst>
                <a:ext uri="{FF2B5EF4-FFF2-40B4-BE49-F238E27FC236}">
                  <a16:creationId xmlns:a16="http://schemas.microsoft.com/office/drawing/2014/main" id="{911455CA-6885-625F-3480-9C1223424A0C}"/>
                </a:ext>
              </a:extLst>
            </p:cNvPr>
            <p:cNvSpPr txBox="1"/>
            <p:nvPr/>
          </p:nvSpPr>
          <p:spPr>
            <a:xfrm>
              <a:off x="9544845" y="226349"/>
              <a:ext cx="348189" cy="287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④</a:t>
              </a:r>
            </a:p>
          </p:txBody>
        </p:sp>
        <p:sp>
          <p:nvSpPr>
            <p:cNvPr id="760" name="TextBox 759">
              <a:extLst>
                <a:ext uri="{FF2B5EF4-FFF2-40B4-BE49-F238E27FC236}">
                  <a16:creationId xmlns:a16="http://schemas.microsoft.com/office/drawing/2014/main" id="{46AFAA7D-1CE0-71D7-6F00-502066B7F134}"/>
                </a:ext>
              </a:extLst>
            </p:cNvPr>
            <p:cNvSpPr txBox="1"/>
            <p:nvPr/>
          </p:nvSpPr>
          <p:spPr>
            <a:xfrm>
              <a:off x="7728423" y="-8923"/>
              <a:ext cx="348189" cy="287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⑥</a:t>
              </a:r>
            </a:p>
          </p:txBody>
        </p:sp>
        <p:cxnSp>
          <p:nvCxnSpPr>
            <p:cNvPr id="761" name="직선 연결선 760">
              <a:extLst>
                <a:ext uri="{FF2B5EF4-FFF2-40B4-BE49-F238E27FC236}">
                  <a16:creationId xmlns:a16="http://schemas.microsoft.com/office/drawing/2014/main" id="{ABD15C86-ACD1-31F4-94F9-15F91A2BD6FC}"/>
                </a:ext>
              </a:extLst>
            </p:cNvPr>
            <p:cNvCxnSpPr>
              <a:cxnSpLocks/>
            </p:cNvCxnSpPr>
            <p:nvPr/>
          </p:nvCxnSpPr>
          <p:spPr>
            <a:xfrm>
              <a:off x="7983430" y="172188"/>
              <a:ext cx="0" cy="24393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</p:cxnSp>
        <p:sp>
          <p:nvSpPr>
            <p:cNvPr id="762" name="TextBox 761">
              <a:extLst>
                <a:ext uri="{FF2B5EF4-FFF2-40B4-BE49-F238E27FC236}">
                  <a16:creationId xmlns:a16="http://schemas.microsoft.com/office/drawing/2014/main" id="{9B35DAB0-C4E3-0EB4-DD04-89EF1C3254C5}"/>
                </a:ext>
              </a:extLst>
            </p:cNvPr>
            <p:cNvSpPr txBox="1"/>
            <p:nvPr/>
          </p:nvSpPr>
          <p:spPr>
            <a:xfrm>
              <a:off x="7725188" y="251087"/>
              <a:ext cx="348189" cy="287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⑧</a:t>
              </a:r>
            </a:p>
          </p:txBody>
        </p:sp>
        <p:cxnSp>
          <p:nvCxnSpPr>
            <p:cNvPr id="763" name="직선 연결선 762">
              <a:extLst>
                <a:ext uri="{FF2B5EF4-FFF2-40B4-BE49-F238E27FC236}">
                  <a16:creationId xmlns:a16="http://schemas.microsoft.com/office/drawing/2014/main" id="{68269D5E-5270-6EDF-F43E-8C9975CF5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3430" y="407857"/>
              <a:ext cx="1144439" cy="8263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</p:cxnSp>
        <p:cxnSp>
          <p:nvCxnSpPr>
            <p:cNvPr id="764" name="직선 연결선 763">
              <a:extLst>
                <a:ext uri="{FF2B5EF4-FFF2-40B4-BE49-F238E27FC236}">
                  <a16:creationId xmlns:a16="http://schemas.microsoft.com/office/drawing/2014/main" id="{02968A65-B147-E39B-6956-287EF9D433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2811" y="406348"/>
              <a:ext cx="40455" cy="34366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</p:cxnSp>
      </p:grpSp>
      <p:sp>
        <p:nvSpPr>
          <p:cNvPr id="862" name="TextBox 861">
            <a:extLst>
              <a:ext uri="{FF2B5EF4-FFF2-40B4-BE49-F238E27FC236}">
                <a16:creationId xmlns:a16="http://schemas.microsoft.com/office/drawing/2014/main" id="{BB28D605-70C4-B26D-4E42-5EAD5529B23F}"/>
              </a:ext>
            </a:extLst>
          </p:cNvPr>
          <p:cNvSpPr txBox="1"/>
          <p:nvPr/>
        </p:nvSpPr>
        <p:spPr>
          <a:xfrm>
            <a:off x="202378" y="1196752"/>
            <a:ext cx="19912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현상</a:t>
            </a:r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1</a:t>
            </a:r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– </a:t>
            </a:r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팝업 실린더 너트 풀림</a:t>
            </a:r>
            <a:endParaRPr lang="ko-KR" altLang="en-US" sz="105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863" name="TextBox 862">
            <a:extLst>
              <a:ext uri="{FF2B5EF4-FFF2-40B4-BE49-F238E27FC236}">
                <a16:creationId xmlns:a16="http://schemas.microsoft.com/office/drawing/2014/main" id="{71EB0E66-8E36-8780-5AFF-891F934B18BE}"/>
              </a:ext>
            </a:extLst>
          </p:cNvPr>
          <p:cNvSpPr txBox="1"/>
          <p:nvPr/>
        </p:nvSpPr>
        <p:spPr>
          <a:xfrm>
            <a:off x="292931" y="1416128"/>
            <a:ext cx="4651103" cy="758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BFA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체결 공정 시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,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 모듈을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Pop-Up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실린더로 상승 시킨 후 체결 진행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Pop-Up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실린더 높이를 고정한 너트가 풀리는 사례 발생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>
              <a:lnSpc>
                <a:spcPct val="150000"/>
              </a:lnSpc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  → 팝업 높이 하강에 따른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체결홀 중심이 체결 보정 가능 범위를 초과하는 현상 발생</a:t>
            </a:r>
          </a:p>
        </p:txBody>
      </p:sp>
      <p:grpSp>
        <p:nvGrpSpPr>
          <p:cNvPr id="864" name="그룹 863">
            <a:extLst>
              <a:ext uri="{FF2B5EF4-FFF2-40B4-BE49-F238E27FC236}">
                <a16:creationId xmlns:a16="http://schemas.microsoft.com/office/drawing/2014/main" id="{D00739C1-1BAF-AE7E-0155-F3560849130D}"/>
              </a:ext>
            </a:extLst>
          </p:cNvPr>
          <p:cNvGrpSpPr/>
          <p:nvPr/>
        </p:nvGrpSpPr>
        <p:grpSpPr>
          <a:xfrm>
            <a:off x="3859554" y="2244516"/>
            <a:ext cx="974804" cy="1284776"/>
            <a:chOff x="803171" y="3961004"/>
            <a:chExt cx="1488809" cy="1962225"/>
          </a:xfrm>
        </p:grpSpPr>
        <p:pic>
          <p:nvPicPr>
            <p:cNvPr id="865" name="Picture 2">
              <a:extLst>
                <a:ext uri="{FF2B5EF4-FFF2-40B4-BE49-F238E27FC236}">
                  <a16:creationId xmlns:a16="http://schemas.microsoft.com/office/drawing/2014/main" id="{C6237F14-E13F-516A-5CD7-68D0D1B9D0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37" b="20463"/>
            <a:stretch/>
          </p:blipFill>
          <p:spPr bwMode="auto">
            <a:xfrm>
              <a:off x="803171" y="3961004"/>
              <a:ext cx="1488809" cy="19622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66" name="직사각형 865">
              <a:extLst>
                <a:ext uri="{FF2B5EF4-FFF2-40B4-BE49-F238E27FC236}">
                  <a16:creationId xmlns:a16="http://schemas.microsoft.com/office/drawing/2014/main" id="{E3C693F1-6419-9E33-49FD-5E12014E1B7A}"/>
                </a:ext>
              </a:extLst>
            </p:cNvPr>
            <p:cNvSpPr/>
            <p:nvPr/>
          </p:nvSpPr>
          <p:spPr>
            <a:xfrm>
              <a:off x="1366828" y="4672924"/>
              <a:ext cx="461972" cy="427713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67" name="TextBox 866">
              <a:extLst>
                <a:ext uri="{FF2B5EF4-FFF2-40B4-BE49-F238E27FC236}">
                  <a16:creationId xmlns:a16="http://schemas.microsoft.com/office/drawing/2014/main" id="{2FBE67EB-F238-5388-E3E8-3E7D05D764B9}"/>
                </a:ext>
              </a:extLst>
            </p:cNvPr>
            <p:cNvSpPr txBox="1"/>
            <p:nvPr/>
          </p:nvSpPr>
          <p:spPr>
            <a:xfrm>
              <a:off x="961832" y="5100637"/>
              <a:ext cx="574196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너트 풀림</a:t>
              </a:r>
            </a:p>
          </p:txBody>
        </p:sp>
      </p:grpSp>
      <p:grpSp>
        <p:nvGrpSpPr>
          <p:cNvPr id="868" name="그룹 867">
            <a:extLst>
              <a:ext uri="{FF2B5EF4-FFF2-40B4-BE49-F238E27FC236}">
                <a16:creationId xmlns:a16="http://schemas.microsoft.com/office/drawing/2014/main" id="{B489403F-F69D-810F-E77D-819327CE9B85}"/>
              </a:ext>
            </a:extLst>
          </p:cNvPr>
          <p:cNvGrpSpPr/>
          <p:nvPr/>
        </p:nvGrpSpPr>
        <p:grpSpPr>
          <a:xfrm>
            <a:off x="178724" y="2293197"/>
            <a:ext cx="2060693" cy="1197534"/>
            <a:chOff x="425264" y="2782911"/>
            <a:chExt cx="2060693" cy="1197534"/>
          </a:xfrm>
        </p:grpSpPr>
        <p:sp>
          <p:nvSpPr>
            <p:cNvPr id="869" name="직사각형 868">
              <a:extLst>
                <a:ext uri="{FF2B5EF4-FFF2-40B4-BE49-F238E27FC236}">
                  <a16:creationId xmlns:a16="http://schemas.microsoft.com/office/drawing/2014/main" id="{694C6A8C-2935-155A-A3FF-F7D357759008}"/>
                </a:ext>
              </a:extLst>
            </p:cNvPr>
            <p:cNvSpPr/>
            <p:nvPr/>
          </p:nvSpPr>
          <p:spPr>
            <a:xfrm>
              <a:off x="917438" y="3528410"/>
              <a:ext cx="234588" cy="303584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70" name="직사각형 869">
              <a:extLst>
                <a:ext uri="{FF2B5EF4-FFF2-40B4-BE49-F238E27FC236}">
                  <a16:creationId xmlns:a16="http://schemas.microsoft.com/office/drawing/2014/main" id="{2750D323-1648-FAB8-8822-6E29DE4BA6E0}"/>
                </a:ext>
              </a:extLst>
            </p:cNvPr>
            <p:cNvSpPr/>
            <p:nvPr/>
          </p:nvSpPr>
          <p:spPr>
            <a:xfrm>
              <a:off x="1003108" y="3441015"/>
              <a:ext cx="63247" cy="87396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71" name="직사각형 870">
              <a:extLst>
                <a:ext uri="{FF2B5EF4-FFF2-40B4-BE49-F238E27FC236}">
                  <a16:creationId xmlns:a16="http://schemas.microsoft.com/office/drawing/2014/main" id="{CC219444-FB42-488D-64B7-41DF4BEFAD3F}"/>
                </a:ext>
              </a:extLst>
            </p:cNvPr>
            <p:cNvSpPr/>
            <p:nvPr/>
          </p:nvSpPr>
          <p:spPr>
            <a:xfrm>
              <a:off x="958261" y="3367418"/>
              <a:ext cx="156967" cy="73596"/>
            </a:xfrm>
            <a:prstGeom prst="rect">
              <a:avLst/>
            </a:prstGeom>
            <a:solidFill>
              <a:srgbClr val="CC990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72" name="직사각형 871">
              <a:extLst>
                <a:ext uri="{FF2B5EF4-FFF2-40B4-BE49-F238E27FC236}">
                  <a16:creationId xmlns:a16="http://schemas.microsoft.com/office/drawing/2014/main" id="{B04C4BCE-6D2A-A13E-D9F1-C2F1F8019265}"/>
                </a:ext>
              </a:extLst>
            </p:cNvPr>
            <p:cNvSpPr/>
            <p:nvPr/>
          </p:nvSpPr>
          <p:spPr>
            <a:xfrm>
              <a:off x="1736196" y="3528410"/>
              <a:ext cx="234588" cy="303584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73" name="직사각형 872">
              <a:extLst>
                <a:ext uri="{FF2B5EF4-FFF2-40B4-BE49-F238E27FC236}">
                  <a16:creationId xmlns:a16="http://schemas.microsoft.com/office/drawing/2014/main" id="{D19521A0-083E-3064-BC93-EC5F36D20E7D}"/>
                </a:ext>
              </a:extLst>
            </p:cNvPr>
            <p:cNvSpPr/>
            <p:nvPr/>
          </p:nvSpPr>
          <p:spPr>
            <a:xfrm>
              <a:off x="1821866" y="3441015"/>
              <a:ext cx="63247" cy="87396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74" name="직사각형 873">
              <a:extLst>
                <a:ext uri="{FF2B5EF4-FFF2-40B4-BE49-F238E27FC236}">
                  <a16:creationId xmlns:a16="http://schemas.microsoft.com/office/drawing/2014/main" id="{9A294A4B-7983-7CDE-7D93-84BD291ABDA9}"/>
                </a:ext>
              </a:extLst>
            </p:cNvPr>
            <p:cNvSpPr/>
            <p:nvPr/>
          </p:nvSpPr>
          <p:spPr>
            <a:xfrm>
              <a:off x="1777019" y="3367418"/>
              <a:ext cx="156967" cy="73596"/>
            </a:xfrm>
            <a:prstGeom prst="rect">
              <a:avLst/>
            </a:prstGeom>
            <a:solidFill>
              <a:srgbClr val="CC990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75" name="직사각형 874">
              <a:extLst>
                <a:ext uri="{FF2B5EF4-FFF2-40B4-BE49-F238E27FC236}">
                  <a16:creationId xmlns:a16="http://schemas.microsoft.com/office/drawing/2014/main" id="{8CBD7AF7-002E-89D9-F5A9-6D46F7DE3EFF}"/>
                </a:ext>
              </a:extLst>
            </p:cNvPr>
            <p:cNvSpPr/>
            <p:nvPr/>
          </p:nvSpPr>
          <p:spPr>
            <a:xfrm>
              <a:off x="682851" y="2921241"/>
              <a:ext cx="1545520" cy="358782"/>
            </a:xfrm>
            <a:prstGeom prst="rect">
              <a:avLst/>
            </a:prstGeom>
            <a:solidFill>
              <a:srgbClr val="156082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모듈</a:t>
              </a:r>
              <a:r>
                <a:rPr kumimoji="0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(CMA)</a:t>
              </a: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76" name="직사각형 875">
              <a:extLst>
                <a:ext uri="{FF2B5EF4-FFF2-40B4-BE49-F238E27FC236}">
                  <a16:creationId xmlns:a16="http://schemas.microsoft.com/office/drawing/2014/main" id="{3F360385-A445-9D20-33C0-A617C6DC9204}"/>
                </a:ext>
              </a:extLst>
            </p:cNvPr>
            <p:cNvSpPr/>
            <p:nvPr/>
          </p:nvSpPr>
          <p:spPr>
            <a:xfrm>
              <a:off x="425264" y="3040835"/>
              <a:ext cx="257587" cy="147192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77" name="직사각형 876">
              <a:extLst>
                <a:ext uri="{FF2B5EF4-FFF2-40B4-BE49-F238E27FC236}">
                  <a16:creationId xmlns:a16="http://schemas.microsoft.com/office/drawing/2014/main" id="{B559812D-CC2A-EEE9-DF73-F1D56092C185}"/>
                </a:ext>
              </a:extLst>
            </p:cNvPr>
            <p:cNvSpPr/>
            <p:nvPr/>
          </p:nvSpPr>
          <p:spPr>
            <a:xfrm>
              <a:off x="2228370" y="3027036"/>
              <a:ext cx="257587" cy="147192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78" name="직사각형 877">
              <a:extLst>
                <a:ext uri="{FF2B5EF4-FFF2-40B4-BE49-F238E27FC236}">
                  <a16:creationId xmlns:a16="http://schemas.microsoft.com/office/drawing/2014/main" id="{4CF81230-741E-ACC9-AFB8-A8DE6D9E77B4}"/>
                </a:ext>
              </a:extLst>
            </p:cNvPr>
            <p:cNvSpPr/>
            <p:nvPr/>
          </p:nvSpPr>
          <p:spPr>
            <a:xfrm>
              <a:off x="425264" y="3280023"/>
              <a:ext cx="2060693" cy="96595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79" name="직사각형 878">
              <a:extLst>
                <a:ext uri="{FF2B5EF4-FFF2-40B4-BE49-F238E27FC236}">
                  <a16:creationId xmlns:a16="http://schemas.microsoft.com/office/drawing/2014/main" id="{1383A9AC-F920-6C80-9326-2AE8BA86A500}"/>
                </a:ext>
              </a:extLst>
            </p:cNvPr>
            <p:cNvSpPr/>
            <p:nvPr/>
          </p:nvSpPr>
          <p:spPr>
            <a:xfrm>
              <a:off x="425264" y="2921241"/>
              <a:ext cx="96595" cy="358782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80" name="직사각형 879">
              <a:extLst>
                <a:ext uri="{FF2B5EF4-FFF2-40B4-BE49-F238E27FC236}">
                  <a16:creationId xmlns:a16="http://schemas.microsoft.com/office/drawing/2014/main" id="{242F28CC-7E81-DE22-6EA1-7DD9B0920580}"/>
                </a:ext>
              </a:extLst>
            </p:cNvPr>
            <p:cNvSpPr/>
            <p:nvPr/>
          </p:nvSpPr>
          <p:spPr>
            <a:xfrm>
              <a:off x="2389362" y="2909742"/>
              <a:ext cx="96595" cy="358782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81" name="TextBox 880">
              <a:extLst>
                <a:ext uri="{FF2B5EF4-FFF2-40B4-BE49-F238E27FC236}">
                  <a16:creationId xmlns:a16="http://schemas.microsoft.com/office/drawing/2014/main" id="{49EC1617-B884-35F8-6535-40AB3FE83D91}"/>
                </a:ext>
              </a:extLst>
            </p:cNvPr>
            <p:cNvSpPr txBox="1"/>
            <p:nvPr/>
          </p:nvSpPr>
          <p:spPr>
            <a:xfrm>
              <a:off x="1200546" y="3751746"/>
              <a:ext cx="510128" cy="228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Pop Up</a:t>
              </a:r>
              <a:endPara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cxnSp>
          <p:nvCxnSpPr>
            <p:cNvPr id="882" name="직선 화살표 연결선 881">
              <a:extLst>
                <a:ext uri="{FF2B5EF4-FFF2-40B4-BE49-F238E27FC236}">
                  <a16:creationId xmlns:a16="http://schemas.microsoft.com/office/drawing/2014/main" id="{5A578E5B-0445-A0E4-B7F0-1772C0B7C6C9}"/>
                </a:ext>
              </a:extLst>
            </p:cNvPr>
            <p:cNvCxnSpPr/>
            <p:nvPr/>
          </p:nvCxnSpPr>
          <p:spPr>
            <a:xfrm flipV="1">
              <a:off x="1230222" y="3556008"/>
              <a:ext cx="0" cy="220789"/>
            </a:xfrm>
            <a:prstGeom prst="straightConnector1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883" name="직선 화살표 연결선 882">
              <a:extLst>
                <a:ext uri="{FF2B5EF4-FFF2-40B4-BE49-F238E27FC236}">
                  <a16:creationId xmlns:a16="http://schemas.microsoft.com/office/drawing/2014/main" id="{CB39EAE5-4BBA-87FC-22F4-BFF4FF437B2C}"/>
                </a:ext>
              </a:extLst>
            </p:cNvPr>
            <p:cNvCxnSpPr/>
            <p:nvPr/>
          </p:nvCxnSpPr>
          <p:spPr>
            <a:xfrm flipV="1">
              <a:off x="1658000" y="3556008"/>
              <a:ext cx="0" cy="220789"/>
            </a:xfrm>
            <a:prstGeom prst="straightConnector1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884" name="타원 883">
              <a:extLst>
                <a:ext uri="{FF2B5EF4-FFF2-40B4-BE49-F238E27FC236}">
                  <a16:creationId xmlns:a16="http://schemas.microsoft.com/office/drawing/2014/main" id="{C52811EF-442C-7BDA-8A1B-A3E3490E9120}"/>
                </a:ext>
              </a:extLst>
            </p:cNvPr>
            <p:cNvSpPr/>
            <p:nvPr/>
          </p:nvSpPr>
          <p:spPr>
            <a:xfrm>
              <a:off x="2121171" y="2952394"/>
              <a:ext cx="74642" cy="74642"/>
            </a:xfrm>
            <a:prstGeom prst="ellips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85" name="타원 884">
              <a:extLst>
                <a:ext uri="{FF2B5EF4-FFF2-40B4-BE49-F238E27FC236}">
                  <a16:creationId xmlns:a16="http://schemas.microsoft.com/office/drawing/2014/main" id="{52CD1A70-BF3E-4DBC-8D95-5D29A160F8BC}"/>
                </a:ext>
              </a:extLst>
            </p:cNvPr>
            <p:cNvSpPr/>
            <p:nvPr/>
          </p:nvSpPr>
          <p:spPr>
            <a:xfrm>
              <a:off x="2121171" y="3174228"/>
              <a:ext cx="74642" cy="74642"/>
            </a:xfrm>
            <a:prstGeom prst="ellips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86" name="타원 885">
              <a:extLst>
                <a:ext uri="{FF2B5EF4-FFF2-40B4-BE49-F238E27FC236}">
                  <a16:creationId xmlns:a16="http://schemas.microsoft.com/office/drawing/2014/main" id="{87ED36BD-EB1A-C4CE-7FFD-A6A459226D3F}"/>
                </a:ext>
              </a:extLst>
            </p:cNvPr>
            <p:cNvSpPr/>
            <p:nvPr/>
          </p:nvSpPr>
          <p:spPr>
            <a:xfrm>
              <a:off x="716906" y="2952394"/>
              <a:ext cx="74642" cy="74642"/>
            </a:xfrm>
            <a:prstGeom prst="ellips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87" name="타원 886">
              <a:extLst>
                <a:ext uri="{FF2B5EF4-FFF2-40B4-BE49-F238E27FC236}">
                  <a16:creationId xmlns:a16="http://schemas.microsoft.com/office/drawing/2014/main" id="{3839DC57-5839-4CAC-858A-827948945F0A}"/>
                </a:ext>
              </a:extLst>
            </p:cNvPr>
            <p:cNvSpPr/>
            <p:nvPr/>
          </p:nvSpPr>
          <p:spPr>
            <a:xfrm>
              <a:off x="716906" y="3174228"/>
              <a:ext cx="74642" cy="74642"/>
            </a:xfrm>
            <a:prstGeom prst="ellips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88" name="TextBox 887">
              <a:extLst>
                <a:ext uri="{FF2B5EF4-FFF2-40B4-BE49-F238E27FC236}">
                  <a16:creationId xmlns:a16="http://schemas.microsoft.com/office/drawing/2014/main" id="{51A305F8-4B0E-A034-4A07-8586CFDC567F}"/>
                </a:ext>
              </a:extLst>
            </p:cNvPr>
            <p:cNvSpPr txBox="1"/>
            <p:nvPr/>
          </p:nvSpPr>
          <p:spPr>
            <a:xfrm>
              <a:off x="1970784" y="2782911"/>
              <a:ext cx="39145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체결홀</a:t>
              </a:r>
            </a:p>
          </p:txBody>
        </p:sp>
      </p:grpSp>
      <p:sp>
        <p:nvSpPr>
          <p:cNvPr id="889" name="TextBox 888">
            <a:extLst>
              <a:ext uri="{FF2B5EF4-FFF2-40B4-BE49-F238E27FC236}">
                <a16:creationId xmlns:a16="http://schemas.microsoft.com/office/drawing/2014/main" id="{A9913FD3-3F49-A7F9-0E1E-E869690951E8}"/>
              </a:ext>
            </a:extLst>
          </p:cNvPr>
          <p:cNvSpPr txBox="1"/>
          <p:nvPr/>
        </p:nvSpPr>
        <p:spPr>
          <a:xfrm>
            <a:off x="5118396" y="1196752"/>
            <a:ext cx="12314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</a:t>
            </a:r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FDC </a:t>
            </a:r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시뮬레이션</a:t>
            </a:r>
            <a:endParaRPr lang="ko-KR" altLang="en-US" sz="105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grpSp>
        <p:nvGrpSpPr>
          <p:cNvPr id="890" name="그룹 889">
            <a:extLst>
              <a:ext uri="{FF2B5EF4-FFF2-40B4-BE49-F238E27FC236}">
                <a16:creationId xmlns:a16="http://schemas.microsoft.com/office/drawing/2014/main" id="{8DE183F4-B2E8-3164-586C-F168D603F602}"/>
              </a:ext>
            </a:extLst>
          </p:cNvPr>
          <p:cNvGrpSpPr/>
          <p:nvPr/>
        </p:nvGrpSpPr>
        <p:grpSpPr>
          <a:xfrm>
            <a:off x="2628096" y="2591738"/>
            <a:ext cx="234588" cy="469338"/>
            <a:chOff x="3607226" y="3556054"/>
            <a:chExt cx="234588" cy="469338"/>
          </a:xfrm>
        </p:grpSpPr>
        <p:sp>
          <p:nvSpPr>
            <p:cNvPr id="891" name="직사각형 890">
              <a:extLst>
                <a:ext uri="{FF2B5EF4-FFF2-40B4-BE49-F238E27FC236}">
                  <a16:creationId xmlns:a16="http://schemas.microsoft.com/office/drawing/2014/main" id="{72DD38DF-4915-5582-E268-B0F5B9F3B6EA}"/>
                </a:ext>
              </a:extLst>
            </p:cNvPr>
            <p:cNvSpPr/>
            <p:nvPr/>
          </p:nvSpPr>
          <p:spPr>
            <a:xfrm>
              <a:off x="3607226" y="3721808"/>
              <a:ext cx="234588" cy="303584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92" name="직사각형 891">
              <a:extLst>
                <a:ext uri="{FF2B5EF4-FFF2-40B4-BE49-F238E27FC236}">
                  <a16:creationId xmlns:a16="http://schemas.microsoft.com/office/drawing/2014/main" id="{E9BA6CED-D02C-5959-38E4-71C0B6EE17A3}"/>
                </a:ext>
              </a:extLst>
            </p:cNvPr>
            <p:cNvSpPr/>
            <p:nvPr/>
          </p:nvSpPr>
          <p:spPr>
            <a:xfrm>
              <a:off x="3692896" y="3629651"/>
              <a:ext cx="63247" cy="87396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93" name="직사각형 892">
              <a:extLst>
                <a:ext uri="{FF2B5EF4-FFF2-40B4-BE49-F238E27FC236}">
                  <a16:creationId xmlns:a16="http://schemas.microsoft.com/office/drawing/2014/main" id="{586419B3-7057-E5BF-474A-3905CC9635C5}"/>
                </a:ext>
              </a:extLst>
            </p:cNvPr>
            <p:cNvSpPr/>
            <p:nvPr/>
          </p:nvSpPr>
          <p:spPr>
            <a:xfrm>
              <a:off x="3648049" y="3556054"/>
              <a:ext cx="156967" cy="73596"/>
            </a:xfrm>
            <a:prstGeom prst="rect">
              <a:avLst/>
            </a:prstGeom>
            <a:solidFill>
              <a:srgbClr val="CC990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</p:grpSp>
      <p:grpSp>
        <p:nvGrpSpPr>
          <p:cNvPr id="894" name="그룹 893">
            <a:extLst>
              <a:ext uri="{FF2B5EF4-FFF2-40B4-BE49-F238E27FC236}">
                <a16:creationId xmlns:a16="http://schemas.microsoft.com/office/drawing/2014/main" id="{A93D030E-B8FE-9DBF-A115-DB51DD73360B}"/>
              </a:ext>
            </a:extLst>
          </p:cNvPr>
          <p:cNvGrpSpPr/>
          <p:nvPr/>
        </p:nvGrpSpPr>
        <p:grpSpPr>
          <a:xfrm>
            <a:off x="3335933" y="2639591"/>
            <a:ext cx="234588" cy="421485"/>
            <a:chOff x="3607226" y="3603907"/>
            <a:chExt cx="234588" cy="421485"/>
          </a:xfrm>
        </p:grpSpPr>
        <p:sp>
          <p:nvSpPr>
            <p:cNvPr id="895" name="직사각형 894">
              <a:extLst>
                <a:ext uri="{FF2B5EF4-FFF2-40B4-BE49-F238E27FC236}">
                  <a16:creationId xmlns:a16="http://schemas.microsoft.com/office/drawing/2014/main" id="{A4BFCFB7-AF42-22ED-79D7-85457C81F55F}"/>
                </a:ext>
              </a:extLst>
            </p:cNvPr>
            <p:cNvSpPr/>
            <p:nvPr/>
          </p:nvSpPr>
          <p:spPr>
            <a:xfrm>
              <a:off x="3607226" y="3721808"/>
              <a:ext cx="234588" cy="303584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96" name="직사각형 895">
              <a:extLst>
                <a:ext uri="{FF2B5EF4-FFF2-40B4-BE49-F238E27FC236}">
                  <a16:creationId xmlns:a16="http://schemas.microsoft.com/office/drawing/2014/main" id="{4C10678A-569B-D82A-2038-68FD8498097F}"/>
                </a:ext>
              </a:extLst>
            </p:cNvPr>
            <p:cNvSpPr/>
            <p:nvPr/>
          </p:nvSpPr>
          <p:spPr>
            <a:xfrm>
              <a:off x="3692896" y="3629651"/>
              <a:ext cx="63247" cy="87396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97" name="직사각형 896">
              <a:extLst>
                <a:ext uri="{FF2B5EF4-FFF2-40B4-BE49-F238E27FC236}">
                  <a16:creationId xmlns:a16="http://schemas.microsoft.com/office/drawing/2014/main" id="{A9EBA796-3FBB-AF2C-4DC6-D5B27EBFAA54}"/>
                </a:ext>
              </a:extLst>
            </p:cNvPr>
            <p:cNvSpPr/>
            <p:nvPr/>
          </p:nvSpPr>
          <p:spPr>
            <a:xfrm>
              <a:off x="3646035" y="3603907"/>
              <a:ext cx="156967" cy="73596"/>
            </a:xfrm>
            <a:prstGeom prst="rect">
              <a:avLst/>
            </a:prstGeom>
            <a:solidFill>
              <a:srgbClr val="CC990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</p:grpSp>
      <p:sp>
        <p:nvSpPr>
          <p:cNvPr id="898" name="화살표: 오른쪽 897">
            <a:extLst>
              <a:ext uri="{FF2B5EF4-FFF2-40B4-BE49-F238E27FC236}">
                <a16:creationId xmlns:a16="http://schemas.microsoft.com/office/drawing/2014/main" id="{ECE5F898-FF54-B004-1987-40E80D247FE1}"/>
              </a:ext>
            </a:extLst>
          </p:cNvPr>
          <p:cNvSpPr/>
          <p:nvPr/>
        </p:nvSpPr>
        <p:spPr>
          <a:xfrm>
            <a:off x="2992047" y="2766493"/>
            <a:ext cx="221433" cy="200808"/>
          </a:xfrm>
          <a:prstGeom prst="rightArrow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cxnSp>
        <p:nvCxnSpPr>
          <p:cNvPr id="899" name="직선 연결선 898">
            <a:extLst>
              <a:ext uri="{FF2B5EF4-FFF2-40B4-BE49-F238E27FC236}">
                <a16:creationId xmlns:a16="http://schemas.microsoft.com/office/drawing/2014/main" id="{8D918ADC-87DD-6293-2D30-724C4EE24B6C}"/>
              </a:ext>
            </a:extLst>
          </p:cNvPr>
          <p:cNvCxnSpPr>
            <a:cxnSpLocks/>
          </p:cNvCxnSpPr>
          <p:nvPr/>
        </p:nvCxnSpPr>
        <p:spPr>
          <a:xfrm>
            <a:off x="2593769" y="2586395"/>
            <a:ext cx="1024086" cy="0"/>
          </a:xfrm>
          <a:prstGeom prst="line">
            <a:avLst/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  <a:headEnd type="none"/>
            <a:tailEnd type="none"/>
          </a:ln>
          <a:effectLst/>
        </p:spPr>
      </p:cxnSp>
      <p:sp>
        <p:nvSpPr>
          <p:cNvPr id="900" name="TextBox 899">
            <a:extLst>
              <a:ext uri="{FF2B5EF4-FFF2-40B4-BE49-F238E27FC236}">
                <a16:creationId xmlns:a16="http://schemas.microsoft.com/office/drawing/2014/main" id="{BCCF8C77-7B10-4DB4-F940-D758A8D62678}"/>
              </a:ext>
            </a:extLst>
          </p:cNvPr>
          <p:cNvSpPr txBox="1"/>
          <p:nvPr/>
        </p:nvSpPr>
        <p:spPr>
          <a:xfrm>
            <a:off x="2648203" y="3108143"/>
            <a:ext cx="909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700" dirty="0">
                <a:solidFill>
                  <a:srgbClr val="006600"/>
                </a:solidFill>
                <a:latin typeface="Arial Narrow"/>
                <a:ea typeface="LG스마트체 Regular"/>
              </a:rPr>
              <a:t>너트 풀림으로 인한 팝업 높이 하강</a:t>
            </a:r>
          </a:p>
        </p:txBody>
      </p:sp>
      <p:cxnSp>
        <p:nvCxnSpPr>
          <p:cNvPr id="901" name="연결선: 꺾임 900">
            <a:extLst>
              <a:ext uri="{FF2B5EF4-FFF2-40B4-BE49-F238E27FC236}">
                <a16:creationId xmlns:a16="http://schemas.microsoft.com/office/drawing/2014/main" id="{EDA05E81-1097-5C89-6661-5AD812AB7BA2}"/>
              </a:ext>
            </a:extLst>
          </p:cNvPr>
          <p:cNvCxnSpPr>
            <a:cxnSpLocks/>
            <a:stCxn id="872" idx="3"/>
            <a:endCxn id="902" idx="1"/>
          </p:cNvCxnSpPr>
          <p:nvPr/>
        </p:nvCxnSpPr>
        <p:spPr>
          <a:xfrm flipV="1">
            <a:off x="1724244" y="2959930"/>
            <a:ext cx="763399" cy="230558"/>
          </a:xfrm>
          <a:prstGeom prst="bentConnector3">
            <a:avLst>
              <a:gd name="adj1" fmla="val 78697"/>
            </a:avLst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902" name="사각형: 둥근 모서리 901">
            <a:extLst>
              <a:ext uri="{FF2B5EF4-FFF2-40B4-BE49-F238E27FC236}">
                <a16:creationId xmlns:a16="http://schemas.microsoft.com/office/drawing/2014/main" id="{948687C2-C739-0089-8D10-C84D220DA9ED}"/>
              </a:ext>
            </a:extLst>
          </p:cNvPr>
          <p:cNvSpPr/>
          <p:nvPr/>
        </p:nvSpPr>
        <p:spPr>
          <a:xfrm>
            <a:off x="2487643" y="2475364"/>
            <a:ext cx="1248192" cy="969131"/>
          </a:xfrm>
          <a:prstGeom prst="roundRect">
            <a:avLst>
              <a:gd name="adj" fmla="val 11544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903" name="TextBox 902">
            <a:extLst>
              <a:ext uri="{FF2B5EF4-FFF2-40B4-BE49-F238E27FC236}">
                <a16:creationId xmlns:a16="http://schemas.microsoft.com/office/drawing/2014/main" id="{C127F573-9690-2703-1575-793A9373AFAC}"/>
              </a:ext>
            </a:extLst>
          </p:cNvPr>
          <p:cNvSpPr txBox="1"/>
          <p:nvPr/>
        </p:nvSpPr>
        <p:spPr>
          <a:xfrm>
            <a:off x="5262722" y="1464000"/>
            <a:ext cx="4476744" cy="528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모듈이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점진적으로 하강하여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체결홀 위치도 같이 하강함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>
              <a:lnSpc>
                <a:spcPct val="15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→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Y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축 체결 보정량 점진적 상승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pic>
        <p:nvPicPr>
          <p:cNvPr id="904" name="그림 903">
            <a:extLst>
              <a:ext uri="{FF2B5EF4-FFF2-40B4-BE49-F238E27FC236}">
                <a16:creationId xmlns:a16="http://schemas.microsoft.com/office/drawing/2014/main" id="{4838570B-DF94-4508-D1EA-15BB54981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114" y="2227172"/>
            <a:ext cx="4400177" cy="1354765"/>
          </a:xfrm>
          <a:prstGeom prst="rect">
            <a:avLst/>
          </a:prstGeom>
        </p:spPr>
      </p:pic>
      <p:pic>
        <p:nvPicPr>
          <p:cNvPr id="905" name="그림 904">
            <a:extLst>
              <a:ext uri="{FF2B5EF4-FFF2-40B4-BE49-F238E27FC236}">
                <a16:creationId xmlns:a16="http://schemas.microsoft.com/office/drawing/2014/main" id="{464877AF-2E1A-296A-3F9B-02612BD14B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6443"/>
          <a:stretch/>
        </p:blipFill>
        <p:spPr>
          <a:xfrm>
            <a:off x="5314175" y="3714363"/>
            <a:ext cx="4400177" cy="1274877"/>
          </a:xfrm>
          <a:prstGeom prst="rect">
            <a:avLst/>
          </a:prstGeom>
        </p:spPr>
      </p:pic>
      <p:sp>
        <p:nvSpPr>
          <p:cNvPr id="906" name="TextBox 905">
            <a:extLst>
              <a:ext uri="{FF2B5EF4-FFF2-40B4-BE49-F238E27FC236}">
                <a16:creationId xmlns:a16="http://schemas.microsoft.com/office/drawing/2014/main" id="{7A7C60AF-FA5D-B3B3-02C8-053CCC669FC9}"/>
              </a:ext>
            </a:extLst>
          </p:cNvPr>
          <p:cNvSpPr txBox="1"/>
          <p:nvPr/>
        </p:nvSpPr>
        <p:spPr>
          <a:xfrm>
            <a:off x="5356003" y="2055014"/>
            <a:ext cx="19207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체결 보정값</a:t>
            </a:r>
            <a:r>
              <a:rPr lang="en-US" altLang="ko-KR" sz="90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(Y</a:t>
            </a:r>
            <a:r>
              <a:rPr lang="ko-KR" altLang="en-US" sz="90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축</a:t>
            </a:r>
            <a:r>
              <a:rPr lang="en-US" altLang="ko-KR" sz="90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)</a:t>
            </a:r>
            <a:r>
              <a:rPr lang="ko-KR" altLang="en-US" sz="90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 트렌드 </a:t>
            </a:r>
            <a:r>
              <a:rPr lang="en-US" altLang="ko-KR" sz="90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체결위치</a:t>
            </a:r>
            <a:r>
              <a:rPr lang="en-US" altLang="ko-KR" sz="90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1~8)</a:t>
            </a:r>
            <a:endParaRPr lang="ko-KR" altLang="en-US" sz="900" b="1" dirty="0">
              <a:solidFill>
                <a:prstClr val="black"/>
              </a:solidFill>
              <a:highlight>
                <a:srgbClr val="FFFF00"/>
              </a:highlight>
              <a:latin typeface="Arial Narrow"/>
              <a:ea typeface="LG스마트체 Regular"/>
            </a:endParaRPr>
          </a:p>
        </p:txBody>
      </p:sp>
      <p:sp>
        <p:nvSpPr>
          <p:cNvPr id="907" name="TextBox 906">
            <a:extLst>
              <a:ext uri="{FF2B5EF4-FFF2-40B4-BE49-F238E27FC236}">
                <a16:creationId xmlns:a16="http://schemas.microsoft.com/office/drawing/2014/main" id="{A1069F24-21D1-263B-B17A-4F4C0C7C3350}"/>
              </a:ext>
            </a:extLst>
          </p:cNvPr>
          <p:cNvSpPr txBox="1"/>
          <p:nvPr/>
        </p:nvSpPr>
        <p:spPr>
          <a:xfrm>
            <a:off x="5390094" y="3537723"/>
            <a:ext cx="14540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FDC</a:t>
            </a:r>
            <a:r>
              <a:rPr lang="ko-KR" altLang="en-US" sz="900" b="1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 모델링 시뮬레이션 트렌드</a:t>
            </a:r>
          </a:p>
        </p:txBody>
      </p:sp>
      <p:sp>
        <p:nvSpPr>
          <p:cNvPr id="908" name="TextBox 907">
            <a:extLst>
              <a:ext uri="{FF2B5EF4-FFF2-40B4-BE49-F238E27FC236}">
                <a16:creationId xmlns:a16="http://schemas.microsoft.com/office/drawing/2014/main" id="{B98FDC70-8494-C364-A6F9-9858C324842F}"/>
              </a:ext>
            </a:extLst>
          </p:cNvPr>
          <p:cNvSpPr txBox="1"/>
          <p:nvPr/>
        </p:nvSpPr>
        <p:spPr>
          <a:xfrm>
            <a:off x="4875182" y="4125875"/>
            <a:ext cx="665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 latinLnBrk="0"/>
            <a:r>
              <a:rPr lang="ko-KR" altLang="en-US" sz="800" dirty="0">
                <a:solidFill>
                  <a:prstClr val="black"/>
                </a:solidFill>
                <a:highlight>
                  <a:srgbClr val="E8E8E8"/>
                </a:highlight>
                <a:latin typeface="Arial Narrow"/>
                <a:ea typeface="LG스마트체 Regular"/>
              </a:rPr>
              <a:t>증가</a:t>
            </a:r>
            <a:endParaRPr lang="en-US" altLang="ko-KR" sz="800" dirty="0">
              <a:solidFill>
                <a:prstClr val="black"/>
              </a:solidFill>
              <a:highlight>
                <a:srgbClr val="E8E8E8"/>
              </a:highlight>
              <a:latin typeface="Arial Narrow"/>
              <a:ea typeface="LG스마트체 Regular"/>
            </a:endParaRPr>
          </a:p>
          <a:p>
            <a:pPr algn="ctr" defTabSz="457200" latinLnBrk="0"/>
            <a:r>
              <a:rPr lang="ko-KR" altLang="en-US" sz="800" dirty="0">
                <a:solidFill>
                  <a:prstClr val="black"/>
                </a:solidFill>
                <a:highlight>
                  <a:srgbClr val="E8E8E8"/>
                </a:highlight>
                <a:latin typeface="Arial Narrow"/>
                <a:ea typeface="LG스마트체 Regular"/>
              </a:rPr>
              <a:t>체결위치 수</a:t>
            </a:r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64C1A812-1DF0-0AEB-5B64-06070E2CAEFD}"/>
              </a:ext>
            </a:extLst>
          </p:cNvPr>
          <p:cNvSpPr txBox="1"/>
          <p:nvPr/>
        </p:nvSpPr>
        <p:spPr>
          <a:xfrm>
            <a:off x="4875182" y="2643166"/>
            <a:ext cx="678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 latinLnBrk="0"/>
            <a:r>
              <a:rPr lang="ko-KR" altLang="en-US" sz="800" dirty="0">
                <a:solidFill>
                  <a:prstClr val="black"/>
                </a:solidFill>
                <a:highlight>
                  <a:srgbClr val="E8E8E8"/>
                </a:highlight>
                <a:latin typeface="Arial Narrow"/>
                <a:ea typeface="LG스마트체 Regular"/>
              </a:rPr>
              <a:t>체결 위치</a:t>
            </a:r>
            <a:endParaRPr lang="en-US" altLang="ko-KR" sz="800" dirty="0">
              <a:solidFill>
                <a:prstClr val="black"/>
              </a:solidFill>
              <a:highlight>
                <a:srgbClr val="E8E8E8"/>
              </a:highlight>
              <a:latin typeface="Arial Narrow"/>
              <a:ea typeface="LG스마트체 Regular"/>
            </a:endParaRPr>
          </a:p>
          <a:p>
            <a:pPr algn="ctr" defTabSz="457200" latinLnBrk="0"/>
            <a:r>
              <a:rPr lang="ko-KR" altLang="en-US" sz="800" dirty="0">
                <a:solidFill>
                  <a:prstClr val="black"/>
                </a:solidFill>
                <a:highlight>
                  <a:srgbClr val="E8E8E8"/>
                </a:highlight>
                <a:latin typeface="Arial Narrow"/>
                <a:ea typeface="LG스마트체 Regular"/>
              </a:rPr>
              <a:t> 보정량</a:t>
            </a:r>
            <a:r>
              <a:rPr lang="en-US" altLang="ko-KR" sz="800" dirty="0">
                <a:solidFill>
                  <a:prstClr val="black"/>
                </a:solidFill>
                <a:highlight>
                  <a:srgbClr val="E8E8E8"/>
                </a:highlight>
                <a:latin typeface="Arial Narrow"/>
                <a:ea typeface="LG스마트체 Regular"/>
              </a:rPr>
              <a:t>(mm)</a:t>
            </a:r>
            <a:endParaRPr lang="ko-KR" altLang="en-US" sz="800" dirty="0">
              <a:solidFill>
                <a:prstClr val="black"/>
              </a:solidFill>
              <a:highlight>
                <a:srgbClr val="E8E8E8"/>
              </a:highlight>
              <a:latin typeface="Arial Narrow"/>
              <a:ea typeface="LG스마트체 Regular"/>
            </a:endParaRPr>
          </a:p>
        </p:txBody>
      </p:sp>
      <p:sp>
        <p:nvSpPr>
          <p:cNvPr id="910" name="TextBox 909">
            <a:extLst>
              <a:ext uri="{FF2B5EF4-FFF2-40B4-BE49-F238E27FC236}">
                <a16:creationId xmlns:a16="http://schemas.microsoft.com/office/drawing/2014/main" id="{59F65326-138C-2577-7F4A-7B85255EDFC2}"/>
              </a:ext>
            </a:extLst>
          </p:cNvPr>
          <p:cNvSpPr txBox="1"/>
          <p:nvPr/>
        </p:nvSpPr>
        <p:spPr>
          <a:xfrm>
            <a:off x="5355502" y="5036876"/>
            <a:ext cx="4280820" cy="27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▶ 트렌드의 점진적 증가량 계산 후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, 8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개 체결 위치 트렌드가 모두 증가 판단 시 알람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발생</a:t>
            </a:r>
          </a:p>
        </p:txBody>
      </p:sp>
      <p:sp>
        <p:nvSpPr>
          <p:cNvPr id="911" name="TextBox 910">
            <a:extLst>
              <a:ext uri="{FF2B5EF4-FFF2-40B4-BE49-F238E27FC236}">
                <a16:creationId xmlns:a16="http://schemas.microsoft.com/office/drawing/2014/main" id="{0AE68AC7-13B8-8B94-EBE8-81F0EED4BCE4}"/>
              </a:ext>
            </a:extLst>
          </p:cNvPr>
          <p:cNvSpPr txBox="1"/>
          <p:nvPr/>
        </p:nvSpPr>
        <p:spPr>
          <a:xfrm>
            <a:off x="5464025" y="4805043"/>
            <a:ext cx="316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3/4</a:t>
            </a:r>
            <a:endParaRPr lang="ko-KR" altLang="en-US" sz="900" dirty="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912" name="TextBox 911">
            <a:extLst>
              <a:ext uri="{FF2B5EF4-FFF2-40B4-BE49-F238E27FC236}">
                <a16:creationId xmlns:a16="http://schemas.microsoft.com/office/drawing/2014/main" id="{5DE28E23-BD3B-1338-022D-338DEF9C8A62}"/>
              </a:ext>
            </a:extLst>
          </p:cNvPr>
          <p:cNvSpPr txBox="1"/>
          <p:nvPr/>
        </p:nvSpPr>
        <p:spPr>
          <a:xfrm>
            <a:off x="9284729" y="4800538"/>
            <a:ext cx="3690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3/14</a:t>
            </a:r>
            <a:endParaRPr lang="ko-KR" altLang="en-US" sz="900" dirty="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913" name="TextBox 912">
            <a:extLst>
              <a:ext uri="{FF2B5EF4-FFF2-40B4-BE49-F238E27FC236}">
                <a16:creationId xmlns:a16="http://schemas.microsoft.com/office/drawing/2014/main" id="{F0D7DC14-1795-9458-D60B-CA4A66907E73}"/>
              </a:ext>
            </a:extLst>
          </p:cNvPr>
          <p:cNvSpPr txBox="1"/>
          <p:nvPr/>
        </p:nvSpPr>
        <p:spPr>
          <a:xfrm>
            <a:off x="5464025" y="3402302"/>
            <a:ext cx="316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3/4</a:t>
            </a:r>
            <a:endParaRPr lang="ko-KR" altLang="en-US" sz="900" dirty="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914" name="TextBox 913">
            <a:extLst>
              <a:ext uri="{FF2B5EF4-FFF2-40B4-BE49-F238E27FC236}">
                <a16:creationId xmlns:a16="http://schemas.microsoft.com/office/drawing/2014/main" id="{E1639355-F564-06B4-3A42-E575ED13DD83}"/>
              </a:ext>
            </a:extLst>
          </p:cNvPr>
          <p:cNvSpPr txBox="1"/>
          <p:nvPr/>
        </p:nvSpPr>
        <p:spPr>
          <a:xfrm>
            <a:off x="9284729" y="3397797"/>
            <a:ext cx="3690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3/14</a:t>
            </a:r>
            <a:endParaRPr lang="ko-KR" altLang="en-US" sz="900" dirty="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915" name="TextBox 914">
            <a:extLst>
              <a:ext uri="{FF2B5EF4-FFF2-40B4-BE49-F238E27FC236}">
                <a16:creationId xmlns:a16="http://schemas.microsoft.com/office/drawing/2014/main" id="{D45B326C-D4B8-79A5-540B-E67E71EDB12A}"/>
              </a:ext>
            </a:extLst>
          </p:cNvPr>
          <p:cNvSpPr txBox="1"/>
          <p:nvPr/>
        </p:nvSpPr>
        <p:spPr>
          <a:xfrm>
            <a:off x="202378" y="3536391"/>
            <a:ext cx="13965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직행 불량률 트렌드</a:t>
            </a:r>
            <a:endParaRPr lang="ko-KR" altLang="en-US" sz="105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grpSp>
        <p:nvGrpSpPr>
          <p:cNvPr id="916" name="그룹 915">
            <a:extLst>
              <a:ext uri="{FF2B5EF4-FFF2-40B4-BE49-F238E27FC236}">
                <a16:creationId xmlns:a16="http://schemas.microsoft.com/office/drawing/2014/main" id="{4F595153-88AD-DA5B-5F05-EAE631B4391D}"/>
              </a:ext>
            </a:extLst>
          </p:cNvPr>
          <p:cNvGrpSpPr/>
          <p:nvPr/>
        </p:nvGrpSpPr>
        <p:grpSpPr>
          <a:xfrm>
            <a:off x="102017" y="4332618"/>
            <a:ext cx="4699303" cy="2349993"/>
            <a:chOff x="112470" y="4417247"/>
            <a:chExt cx="4699303" cy="2349993"/>
          </a:xfrm>
        </p:grpSpPr>
        <p:pic>
          <p:nvPicPr>
            <p:cNvPr id="917" name="그림 916">
              <a:extLst>
                <a:ext uri="{FF2B5EF4-FFF2-40B4-BE49-F238E27FC236}">
                  <a16:creationId xmlns:a16="http://schemas.microsoft.com/office/drawing/2014/main" id="{35DF4399-BE49-9112-B758-C096016AF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8137" y="4476749"/>
              <a:ext cx="4399498" cy="2101394"/>
            </a:xfrm>
            <a:prstGeom prst="rect">
              <a:avLst/>
            </a:prstGeom>
          </p:spPr>
        </p:pic>
        <p:sp>
          <p:nvSpPr>
            <p:cNvPr id="918" name="TextBox 917">
              <a:extLst>
                <a:ext uri="{FF2B5EF4-FFF2-40B4-BE49-F238E27FC236}">
                  <a16:creationId xmlns:a16="http://schemas.microsoft.com/office/drawing/2014/main" id="{230055EA-B024-4FB2-6D59-D2D4CF8B400C}"/>
                </a:ext>
              </a:extLst>
            </p:cNvPr>
            <p:cNvSpPr txBox="1"/>
            <p:nvPr/>
          </p:nvSpPr>
          <p:spPr>
            <a:xfrm>
              <a:off x="423574" y="6334122"/>
              <a:ext cx="3016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3/4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19" name="TextBox 918">
              <a:extLst>
                <a:ext uri="{FF2B5EF4-FFF2-40B4-BE49-F238E27FC236}">
                  <a16:creationId xmlns:a16="http://schemas.microsoft.com/office/drawing/2014/main" id="{DB0AA297-05D3-A0F5-9500-E232914675E4}"/>
                </a:ext>
              </a:extLst>
            </p:cNvPr>
            <p:cNvSpPr txBox="1"/>
            <p:nvPr/>
          </p:nvSpPr>
          <p:spPr>
            <a:xfrm>
              <a:off x="1280821" y="6334121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3/14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20" name="TextBox 919">
              <a:extLst>
                <a:ext uri="{FF2B5EF4-FFF2-40B4-BE49-F238E27FC236}">
                  <a16:creationId xmlns:a16="http://schemas.microsoft.com/office/drawing/2014/main" id="{EE25EBDA-4144-A7E9-322A-98FCD20C9836}"/>
                </a:ext>
              </a:extLst>
            </p:cNvPr>
            <p:cNvSpPr txBox="1"/>
            <p:nvPr/>
          </p:nvSpPr>
          <p:spPr>
            <a:xfrm>
              <a:off x="1492439" y="6334122"/>
              <a:ext cx="3016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3/4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21" name="TextBox 920">
              <a:extLst>
                <a:ext uri="{FF2B5EF4-FFF2-40B4-BE49-F238E27FC236}">
                  <a16:creationId xmlns:a16="http://schemas.microsoft.com/office/drawing/2014/main" id="{DFC40D4E-1504-376E-0B60-E51291554D3E}"/>
                </a:ext>
              </a:extLst>
            </p:cNvPr>
            <p:cNvSpPr txBox="1"/>
            <p:nvPr/>
          </p:nvSpPr>
          <p:spPr>
            <a:xfrm>
              <a:off x="2335397" y="6334121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3/14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22" name="TextBox 921">
              <a:extLst>
                <a:ext uri="{FF2B5EF4-FFF2-40B4-BE49-F238E27FC236}">
                  <a16:creationId xmlns:a16="http://schemas.microsoft.com/office/drawing/2014/main" id="{47E2548D-3236-1C41-D259-7FE6D02F279B}"/>
                </a:ext>
              </a:extLst>
            </p:cNvPr>
            <p:cNvSpPr txBox="1"/>
            <p:nvPr/>
          </p:nvSpPr>
          <p:spPr>
            <a:xfrm>
              <a:off x="2561304" y="6334122"/>
              <a:ext cx="3016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3/4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23" name="TextBox 922">
              <a:extLst>
                <a:ext uri="{FF2B5EF4-FFF2-40B4-BE49-F238E27FC236}">
                  <a16:creationId xmlns:a16="http://schemas.microsoft.com/office/drawing/2014/main" id="{E2EEAB54-9EC9-F86E-4E60-12DB96E188AA}"/>
                </a:ext>
              </a:extLst>
            </p:cNvPr>
            <p:cNvSpPr txBox="1"/>
            <p:nvPr/>
          </p:nvSpPr>
          <p:spPr>
            <a:xfrm>
              <a:off x="3404262" y="6334121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3/14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24" name="TextBox 923">
              <a:extLst>
                <a:ext uri="{FF2B5EF4-FFF2-40B4-BE49-F238E27FC236}">
                  <a16:creationId xmlns:a16="http://schemas.microsoft.com/office/drawing/2014/main" id="{4495DE53-5307-EDE0-4689-C0AAA759CB75}"/>
                </a:ext>
              </a:extLst>
            </p:cNvPr>
            <p:cNvSpPr txBox="1"/>
            <p:nvPr/>
          </p:nvSpPr>
          <p:spPr>
            <a:xfrm>
              <a:off x="3630169" y="6334122"/>
              <a:ext cx="3016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3/4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25" name="TextBox 924">
              <a:extLst>
                <a:ext uri="{FF2B5EF4-FFF2-40B4-BE49-F238E27FC236}">
                  <a16:creationId xmlns:a16="http://schemas.microsoft.com/office/drawing/2014/main" id="{F6257ECA-0814-B919-0EE1-6FBC24C704A6}"/>
                </a:ext>
              </a:extLst>
            </p:cNvPr>
            <p:cNvSpPr txBox="1"/>
            <p:nvPr/>
          </p:nvSpPr>
          <p:spPr>
            <a:xfrm>
              <a:off x="4463601" y="6362699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3/14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26" name="직사각형 925">
              <a:extLst>
                <a:ext uri="{FF2B5EF4-FFF2-40B4-BE49-F238E27FC236}">
                  <a16:creationId xmlns:a16="http://schemas.microsoft.com/office/drawing/2014/main" id="{57C5FAF5-5692-CEB8-1D96-49A83F6D5A97}"/>
                </a:ext>
              </a:extLst>
            </p:cNvPr>
            <p:cNvSpPr/>
            <p:nvPr/>
          </p:nvSpPr>
          <p:spPr>
            <a:xfrm>
              <a:off x="821532" y="4538662"/>
              <a:ext cx="321387" cy="1828800"/>
            </a:xfrm>
            <a:prstGeom prst="rect">
              <a:avLst/>
            </a:prstGeom>
            <a:solidFill>
              <a:srgbClr val="A02B93">
                <a:lumMod val="20000"/>
                <a:lumOff val="80000"/>
                <a:alpha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927" name="직사각형 926">
              <a:extLst>
                <a:ext uri="{FF2B5EF4-FFF2-40B4-BE49-F238E27FC236}">
                  <a16:creationId xmlns:a16="http://schemas.microsoft.com/office/drawing/2014/main" id="{1ABD0CD3-0AEB-E895-2499-5761275E5E34}"/>
                </a:ext>
              </a:extLst>
            </p:cNvPr>
            <p:cNvSpPr/>
            <p:nvPr/>
          </p:nvSpPr>
          <p:spPr>
            <a:xfrm>
              <a:off x="1875627" y="4538662"/>
              <a:ext cx="321387" cy="1828800"/>
            </a:xfrm>
            <a:prstGeom prst="rect">
              <a:avLst/>
            </a:prstGeom>
            <a:solidFill>
              <a:srgbClr val="A02B93">
                <a:lumMod val="20000"/>
                <a:lumOff val="80000"/>
                <a:alpha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928" name="직사각형 927">
              <a:extLst>
                <a:ext uri="{FF2B5EF4-FFF2-40B4-BE49-F238E27FC236}">
                  <a16:creationId xmlns:a16="http://schemas.microsoft.com/office/drawing/2014/main" id="{4A631690-60FC-6BCF-340A-C76412B6E3FC}"/>
                </a:ext>
              </a:extLst>
            </p:cNvPr>
            <p:cNvSpPr/>
            <p:nvPr/>
          </p:nvSpPr>
          <p:spPr>
            <a:xfrm>
              <a:off x="2929722" y="4538662"/>
              <a:ext cx="321387" cy="1828800"/>
            </a:xfrm>
            <a:prstGeom prst="rect">
              <a:avLst/>
            </a:prstGeom>
            <a:solidFill>
              <a:srgbClr val="A02B93">
                <a:lumMod val="20000"/>
                <a:lumOff val="80000"/>
                <a:alpha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929" name="직사각형 928">
              <a:extLst>
                <a:ext uri="{FF2B5EF4-FFF2-40B4-BE49-F238E27FC236}">
                  <a16:creationId xmlns:a16="http://schemas.microsoft.com/office/drawing/2014/main" id="{C81E0229-69A6-8C8F-C236-71216F60BD1B}"/>
                </a:ext>
              </a:extLst>
            </p:cNvPr>
            <p:cNvSpPr/>
            <p:nvPr/>
          </p:nvSpPr>
          <p:spPr>
            <a:xfrm>
              <a:off x="3983817" y="4538662"/>
              <a:ext cx="321387" cy="1828800"/>
            </a:xfrm>
            <a:prstGeom prst="rect">
              <a:avLst/>
            </a:prstGeom>
            <a:solidFill>
              <a:srgbClr val="A02B93">
                <a:lumMod val="20000"/>
                <a:lumOff val="80000"/>
                <a:alpha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930" name="TextBox 929">
              <a:extLst>
                <a:ext uri="{FF2B5EF4-FFF2-40B4-BE49-F238E27FC236}">
                  <a16:creationId xmlns:a16="http://schemas.microsoft.com/office/drawing/2014/main" id="{A4FD5583-4F73-61B9-7C39-8194AD01C2F6}"/>
                </a:ext>
              </a:extLst>
            </p:cNvPr>
            <p:cNvSpPr txBox="1"/>
            <p:nvPr/>
          </p:nvSpPr>
          <p:spPr>
            <a:xfrm>
              <a:off x="686544" y="4422010"/>
              <a:ext cx="6607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체결위치 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#1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31" name="TextBox 930">
              <a:extLst>
                <a:ext uri="{FF2B5EF4-FFF2-40B4-BE49-F238E27FC236}">
                  <a16:creationId xmlns:a16="http://schemas.microsoft.com/office/drawing/2014/main" id="{73DDCFDB-C0D8-99F8-F2F9-9D3D254BE5AA}"/>
                </a:ext>
              </a:extLst>
            </p:cNvPr>
            <p:cNvSpPr txBox="1"/>
            <p:nvPr/>
          </p:nvSpPr>
          <p:spPr>
            <a:xfrm>
              <a:off x="1784529" y="4426773"/>
              <a:ext cx="6607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체결위치 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#2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32" name="TextBox 931">
              <a:extLst>
                <a:ext uri="{FF2B5EF4-FFF2-40B4-BE49-F238E27FC236}">
                  <a16:creationId xmlns:a16="http://schemas.microsoft.com/office/drawing/2014/main" id="{EA42998C-8EE8-4614-984D-807856E1D516}"/>
                </a:ext>
              </a:extLst>
            </p:cNvPr>
            <p:cNvSpPr txBox="1"/>
            <p:nvPr/>
          </p:nvSpPr>
          <p:spPr>
            <a:xfrm>
              <a:off x="2839592" y="4427381"/>
              <a:ext cx="6607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체결위치 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#3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33" name="TextBox 932">
              <a:extLst>
                <a:ext uri="{FF2B5EF4-FFF2-40B4-BE49-F238E27FC236}">
                  <a16:creationId xmlns:a16="http://schemas.microsoft.com/office/drawing/2014/main" id="{D1E4D1AC-F7BE-C9F5-ECBC-04353FB617B0}"/>
                </a:ext>
              </a:extLst>
            </p:cNvPr>
            <p:cNvSpPr txBox="1"/>
            <p:nvPr/>
          </p:nvSpPr>
          <p:spPr>
            <a:xfrm>
              <a:off x="3885285" y="4417247"/>
              <a:ext cx="6607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체결위치 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#4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34" name="TextBox 933">
              <a:extLst>
                <a:ext uri="{FF2B5EF4-FFF2-40B4-BE49-F238E27FC236}">
                  <a16:creationId xmlns:a16="http://schemas.microsoft.com/office/drawing/2014/main" id="{B6301882-DA72-880F-C52D-803A61E79C2E}"/>
                </a:ext>
              </a:extLst>
            </p:cNvPr>
            <p:cNvSpPr txBox="1"/>
            <p:nvPr/>
          </p:nvSpPr>
          <p:spPr>
            <a:xfrm>
              <a:off x="719785" y="5348271"/>
              <a:ext cx="6607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체결위치 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#5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35" name="TextBox 934">
              <a:extLst>
                <a:ext uri="{FF2B5EF4-FFF2-40B4-BE49-F238E27FC236}">
                  <a16:creationId xmlns:a16="http://schemas.microsoft.com/office/drawing/2014/main" id="{EA244DAD-DA42-1410-A266-11C88CFB0F98}"/>
                </a:ext>
              </a:extLst>
            </p:cNvPr>
            <p:cNvSpPr txBox="1"/>
            <p:nvPr/>
          </p:nvSpPr>
          <p:spPr>
            <a:xfrm>
              <a:off x="1765478" y="5348271"/>
              <a:ext cx="6607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체결위치 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#6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36" name="TextBox 935">
              <a:extLst>
                <a:ext uri="{FF2B5EF4-FFF2-40B4-BE49-F238E27FC236}">
                  <a16:creationId xmlns:a16="http://schemas.microsoft.com/office/drawing/2014/main" id="{5A7DCDFD-2533-D172-DD97-DA7CB294DCC5}"/>
                </a:ext>
              </a:extLst>
            </p:cNvPr>
            <p:cNvSpPr txBox="1"/>
            <p:nvPr/>
          </p:nvSpPr>
          <p:spPr>
            <a:xfrm>
              <a:off x="2820540" y="5348270"/>
              <a:ext cx="6607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체결위치 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#7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37" name="TextBox 936">
              <a:extLst>
                <a:ext uri="{FF2B5EF4-FFF2-40B4-BE49-F238E27FC236}">
                  <a16:creationId xmlns:a16="http://schemas.microsoft.com/office/drawing/2014/main" id="{6A08097E-331E-8E23-B03A-EB08F8E97F1D}"/>
                </a:ext>
              </a:extLst>
            </p:cNvPr>
            <p:cNvSpPr txBox="1"/>
            <p:nvPr/>
          </p:nvSpPr>
          <p:spPr>
            <a:xfrm>
              <a:off x="3866233" y="5348270"/>
              <a:ext cx="6607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체결위치 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FF"/>
                  </a:highlight>
                  <a:uLnTx/>
                  <a:uFillTx/>
                  <a:latin typeface="Arial Narrow"/>
                  <a:ea typeface="LG스마트체 Regular"/>
                </a:rPr>
                <a:t>#8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38" name="TextBox 937">
              <a:extLst>
                <a:ext uri="{FF2B5EF4-FFF2-40B4-BE49-F238E27FC236}">
                  <a16:creationId xmlns:a16="http://schemas.microsoft.com/office/drawing/2014/main" id="{A5829796-39C8-979D-30A0-4A8B4500CEF5}"/>
                </a:ext>
              </a:extLst>
            </p:cNvPr>
            <p:cNvSpPr txBox="1"/>
            <p:nvPr/>
          </p:nvSpPr>
          <p:spPr>
            <a:xfrm>
              <a:off x="2401152" y="6536408"/>
              <a:ext cx="39466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Time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39" name="TextBox 938">
              <a:extLst>
                <a:ext uri="{FF2B5EF4-FFF2-40B4-BE49-F238E27FC236}">
                  <a16:creationId xmlns:a16="http://schemas.microsoft.com/office/drawing/2014/main" id="{941F4FC3-37BC-1091-173B-C2012CADEA63}"/>
                </a:ext>
              </a:extLst>
            </p:cNvPr>
            <p:cNvSpPr txBox="1"/>
            <p:nvPr/>
          </p:nvSpPr>
          <p:spPr>
            <a:xfrm>
              <a:off x="112470" y="5381509"/>
              <a:ext cx="26802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%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</p:grpSp>
      <p:sp>
        <p:nvSpPr>
          <p:cNvPr id="940" name="직사각형 939">
            <a:extLst>
              <a:ext uri="{FF2B5EF4-FFF2-40B4-BE49-F238E27FC236}">
                <a16:creationId xmlns:a16="http://schemas.microsoft.com/office/drawing/2014/main" id="{CE6EB8F0-2D85-9AC4-D2F3-28639C5DC5AD}"/>
              </a:ext>
            </a:extLst>
          </p:cNvPr>
          <p:cNvSpPr/>
          <p:nvPr/>
        </p:nvSpPr>
        <p:spPr>
          <a:xfrm>
            <a:off x="6834546" y="2261669"/>
            <a:ext cx="1011767" cy="1187206"/>
          </a:xfrm>
          <a:prstGeom prst="rect">
            <a:avLst/>
          </a:prstGeom>
          <a:solidFill>
            <a:srgbClr val="A02B93">
              <a:lumMod val="20000"/>
              <a:lumOff val="80000"/>
              <a:alpha val="5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A02B93">
                    <a:lumMod val="75000"/>
                  </a:srgbClr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불량 발생 구간</a:t>
            </a:r>
          </a:p>
        </p:txBody>
      </p:sp>
      <p:cxnSp>
        <p:nvCxnSpPr>
          <p:cNvPr id="941" name="직선 화살표 연결선 940">
            <a:extLst>
              <a:ext uri="{FF2B5EF4-FFF2-40B4-BE49-F238E27FC236}">
                <a16:creationId xmlns:a16="http://schemas.microsoft.com/office/drawing/2014/main" id="{35069972-BC1C-CE19-9C79-775074856C9E}"/>
              </a:ext>
            </a:extLst>
          </p:cNvPr>
          <p:cNvCxnSpPr/>
          <p:nvPr/>
        </p:nvCxnSpPr>
        <p:spPr>
          <a:xfrm flipV="1">
            <a:off x="6687513" y="2884939"/>
            <a:ext cx="759604" cy="391533"/>
          </a:xfrm>
          <a:prstGeom prst="straightConnector1">
            <a:avLst/>
          </a:prstGeom>
          <a:noFill/>
          <a:ln w="38100" cap="flat" cmpd="sng" algn="ctr">
            <a:solidFill>
              <a:srgbClr val="0E2841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942" name="직선 화살표 연결선 941">
            <a:extLst>
              <a:ext uri="{FF2B5EF4-FFF2-40B4-BE49-F238E27FC236}">
                <a16:creationId xmlns:a16="http://schemas.microsoft.com/office/drawing/2014/main" id="{4BC1B5A7-D1A2-9EEB-0FA5-8E4624C17052}"/>
              </a:ext>
            </a:extLst>
          </p:cNvPr>
          <p:cNvCxnSpPr>
            <a:cxnSpLocks/>
          </p:cNvCxnSpPr>
          <p:nvPr/>
        </p:nvCxnSpPr>
        <p:spPr>
          <a:xfrm flipV="1">
            <a:off x="7565982" y="2884939"/>
            <a:ext cx="247313" cy="136676"/>
          </a:xfrm>
          <a:prstGeom prst="straightConnector1">
            <a:avLst/>
          </a:prstGeom>
          <a:noFill/>
          <a:ln w="38100" cap="flat" cmpd="sng" algn="ctr">
            <a:solidFill>
              <a:srgbClr val="0E2841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943" name="직선 화살표 연결선 942">
            <a:extLst>
              <a:ext uri="{FF2B5EF4-FFF2-40B4-BE49-F238E27FC236}">
                <a16:creationId xmlns:a16="http://schemas.microsoft.com/office/drawing/2014/main" id="{00650AD1-A52D-9978-62DF-712ECD36B3C5}"/>
              </a:ext>
            </a:extLst>
          </p:cNvPr>
          <p:cNvCxnSpPr>
            <a:cxnSpLocks/>
          </p:cNvCxnSpPr>
          <p:nvPr/>
        </p:nvCxnSpPr>
        <p:spPr>
          <a:xfrm flipV="1">
            <a:off x="7883956" y="3039392"/>
            <a:ext cx="247313" cy="136676"/>
          </a:xfrm>
          <a:prstGeom prst="straightConnector1">
            <a:avLst/>
          </a:prstGeom>
          <a:noFill/>
          <a:ln w="38100" cap="flat" cmpd="sng" algn="ctr">
            <a:solidFill>
              <a:srgbClr val="0E2841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944" name="TextBox 943">
            <a:extLst>
              <a:ext uri="{FF2B5EF4-FFF2-40B4-BE49-F238E27FC236}">
                <a16:creationId xmlns:a16="http://schemas.microsoft.com/office/drawing/2014/main" id="{CA29864F-24A9-164D-ACDF-E10F8BB76C13}"/>
              </a:ext>
            </a:extLst>
          </p:cNvPr>
          <p:cNvSpPr txBox="1"/>
          <p:nvPr/>
        </p:nvSpPr>
        <p:spPr>
          <a:xfrm>
            <a:off x="7007094" y="3102257"/>
            <a:ext cx="6655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srgbClr val="FF0000"/>
                </a:solidFill>
                <a:latin typeface="Arial Narrow"/>
                <a:ea typeface="LG스마트체 Regular"/>
              </a:rPr>
              <a:t>보정값 상승</a:t>
            </a:r>
          </a:p>
        </p:txBody>
      </p:sp>
      <p:sp>
        <p:nvSpPr>
          <p:cNvPr id="945" name="TextBox 944">
            <a:extLst>
              <a:ext uri="{FF2B5EF4-FFF2-40B4-BE49-F238E27FC236}">
                <a16:creationId xmlns:a16="http://schemas.microsoft.com/office/drawing/2014/main" id="{A9B46AE4-2839-5705-3976-D3FEDB8AE5DE}"/>
              </a:ext>
            </a:extLst>
          </p:cNvPr>
          <p:cNvSpPr txBox="1"/>
          <p:nvPr/>
        </p:nvSpPr>
        <p:spPr>
          <a:xfrm>
            <a:off x="7424989" y="4892251"/>
            <a:ext cx="3461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time</a:t>
            </a:r>
            <a:endParaRPr lang="ko-KR" altLang="en-US" sz="9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46E1CEAB-264F-4E91-779F-E826E24B1ABA}"/>
              </a:ext>
            </a:extLst>
          </p:cNvPr>
          <p:cNvSpPr txBox="1"/>
          <p:nvPr/>
        </p:nvSpPr>
        <p:spPr>
          <a:xfrm>
            <a:off x="7424989" y="3481074"/>
            <a:ext cx="3461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time</a:t>
            </a:r>
            <a:endParaRPr lang="ko-KR" altLang="en-US" sz="9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947" name="직사각형 946">
            <a:extLst>
              <a:ext uri="{FF2B5EF4-FFF2-40B4-BE49-F238E27FC236}">
                <a16:creationId xmlns:a16="http://schemas.microsoft.com/office/drawing/2014/main" id="{DB0BDAA6-6E58-FD45-9726-7FC7379292E0}"/>
              </a:ext>
            </a:extLst>
          </p:cNvPr>
          <p:cNvSpPr/>
          <p:nvPr/>
        </p:nvSpPr>
        <p:spPr>
          <a:xfrm>
            <a:off x="6834546" y="3747799"/>
            <a:ext cx="1011767" cy="1086016"/>
          </a:xfrm>
          <a:prstGeom prst="rect">
            <a:avLst/>
          </a:prstGeom>
          <a:solidFill>
            <a:srgbClr val="A02B93">
              <a:lumMod val="20000"/>
              <a:lumOff val="80000"/>
              <a:alpha val="5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A02B93">
                    <a:lumMod val="75000"/>
                  </a:srgbClr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불량 발생 구간</a:t>
            </a:r>
          </a:p>
        </p:txBody>
      </p:sp>
      <p:sp>
        <p:nvSpPr>
          <p:cNvPr id="948" name="타원 947">
            <a:extLst>
              <a:ext uri="{FF2B5EF4-FFF2-40B4-BE49-F238E27FC236}">
                <a16:creationId xmlns:a16="http://schemas.microsoft.com/office/drawing/2014/main" id="{75C4D09D-2150-576A-B965-3406CAF8D5CE}"/>
              </a:ext>
            </a:extLst>
          </p:cNvPr>
          <p:cNvSpPr/>
          <p:nvPr/>
        </p:nvSpPr>
        <p:spPr>
          <a:xfrm>
            <a:off x="6610438" y="3776943"/>
            <a:ext cx="43338" cy="43028"/>
          </a:xfrm>
          <a:prstGeom prst="ellipse">
            <a:avLst/>
          </a:prstGeom>
          <a:solidFill>
            <a:srgbClr val="FF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cxnSp>
        <p:nvCxnSpPr>
          <p:cNvPr id="949" name="직선 연결선 948">
            <a:extLst>
              <a:ext uri="{FF2B5EF4-FFF2-40B4-BE49-F238E27FC236}">
                <a16:creationId xmlns:a16="http://schemas.microsoft.com/office/drawing/2014/main" id="{89FFE403-2A0D-20CD-99E8-3E28B5716CFA}"/>
              </a:ext>
            </a:extLst>
          </p:cNvPr>
          <p:cNvCxnSpPr/>
          <p:nvPr/>
        </p:nvCxnSpPr>
        <p:spPr>
          <a:xfrm>
            <a:off x="5390094" y="3856630"/>
            <a:ext cx="4340197" cy="0"/>
          </a:xfrm>
          <a:prstGeom prst="line">
            <a:avLst/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  <a:headEnd type="none"/>
            <a:tailEnd type="none"/>
          </a:ln>
          <a:effectLst/>
        </p:spPr>
      </p:cxnSp>
      <p:sp>
        <p:nvSpPr>
          <p:cNvPr id="950" name="TextBox 949">
            <a:extLst>
              <a:ext uri="{FF2B5EF4-FFF2-40B4-BE49-F238E27FC236}">
                <a16:creationId xmlns:a16="http://schemas.microsoft.com/office/drawing/2014/main" id="{3F7F64D8-B420-FC82-2409-DC5C87DA912A}"/>
              </a:ext>
            </a:extLst>
          </p:cNvPr>
          <p:cNvSpPr txBox="1"/>
          <p:nvPr/>
        </p:nvSpPr>
        <p:spPr>
          <a:xfrm>
            <a:off x="8826767" y="3849292"/>
            <a:ext cx="8193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srgbClr val="FF0000"/>
                </a:solidFill>
                <a:latin typeface="Arial Narrow"/>
                <a:ea typeface="LG스마트체 Regular"/>
              </a:rPr>
              <a:t>Upper Critical : 7.5</a:t>
            </a:r>
            <a:endParaRPr lang="ko-KR" altLang="en-US" sz="800" dirty="0">
              <a:solidFill>
                <a:srgbClr val="FF0000"/>
              </a:solidFill>
              <a:latin typeface="Arial Narrow"/>
              <a:ea typeface="LG스마트체 Regular"/>
            </a:endParaRPr>
          </a:p>
        </p:txBody>
      </p:sp>
      <p:sp>
        <p:nvSpPr>
          <p:cNvPr id="951" name="타원 950">
            <a:extLst>
              <a:ext uri="{FF2B5EF4-FFF2-40B4-BE49-F238E27FC236}">
                <a16:creationId xmlns:a16="http://schemas.microsoft.com/office/drawing/2014/main" id="{BA86C07D-0DD0-D2B6-A99A-6658F9900DCF}"/>
              </a:ext>
            </a:extLst>
          </p:cNvPr>
          <p:cNvSpPr/>
          <p:nvPr/>
        </p:nvSpPr>
        <p:spPr>
          <a:xfrm>
            <a:off x="7135696" y="3776943"/>
            <a:ext cx="43338" cy="43028"/>
          </a:xfrm>
          <a:prstGeom prst="ellipse">
            <a:avLst/>
          </a:prstGeom>
          <a:solidFill>
            <a:srgbClr val="FF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952" name="타원 951">
            <a:extLst>
              <a:ext uri="{FF2B5EF4-FFF2-40B4-BE49-F238E27FC236}">
                <a16:creationId xmlns:a16="http://schemas.microsoft.com/office/drawing/2014/main" id="{694C3895-DC23-CD86-1A0F-B631B1F02C2C}"/>
              </a:ext>
            </a:extLst>
          </p:cNvPr>
          <p:cNvSpPr/>
          <p:nvPr/>
        </p:nvSpPr>
        <p:spPr>
          <a:xfrm>
            <a:off x="8001321" y="3776943"/>
            <a:ext cx="43338" cy="43028"/>
          </a:xfrm>
          <a:prstGeom prst="ellipse">
            <a:avLst/>
          </a:prstGeom>
          <a:solidFill>
            <a:srgbClr val="FF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953" name="폭발: 8pt 952">
            <a:extLst>
              <a:ext uri="{FF2B5EF4-FFF2-40B4-BE49-F238E27FC236}">
                <a16:creationId xmlns:a16="http://schemas.microsoft.com/office/drawing/2014/main" id="{A1F0A8AD-4E20-CADD-AABF-E33C6CC1F04B}"/>
              </a:ext>
            </a:extLst>
          </p:cNvPr>
          <p:cNvSpPr/>
          <p:nvPr/>
        </p:nvSpPr>
        <p:spPr>
          <a:xfrm>
            <a:off x="6563437" y="3719290"/>
            <a:ext cx="137340" cy="137340"/>
          </a:xfrm>
          <a:prstGeom prst="irregularSeal1">
            <a:avLst/>
          </a:prstGeom>
          <a:solidFill>
            <a:srgbClr val="FFFF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954" name="폭발: 8pt 953">
            <a:extLst>
              <a:ext uri="{FF2B5EF4-FFF2-40B4-BE49-F238E27FC236}">
                <a16:creationId xmlns:a16="http://schemas.microsoft.com/office/drawing/2014/main" id="{E458D5E9-3A03-CA3F-3C6D-28FC55817EB4}"/>
              </a:ext>
            </a:extLst>
          </p:cNvPr>
          <p:cNvSpPr/>
          <p:nvPr/>
        </p:nvSpPr>
        <p:spPr>
          <a:xfrm>
            <a:off x="7100619" y="3708743"/>
            <a:ext cx="137340" cy="137340"/>
          </a:xfrm>
          <a:prstGeom prst="irregularSeal1">
            <a:avLst/>
          </a:prstGeom>
          <a:solidFill>
            <a:srgbClr val="FFFF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955" name="폭발: 8pt 954">
            <a:extLst>
              <a:ext uri="{FF2B5EF4-FFF2-40B4-BE49-F238E27FC236}">
                <a16:creationId xmlns:a16="http://schemas.microsoft.com/office/drawing/2014/main" id="{5FF920BA-655E-D1C4-0B56-8F73D0866926}"/>
              </a:ext>
            </a:extLst>
          </p:cNvPr>
          <p:cNvSpPr/>
          <p:nvPr/>
        </p:nvSpPr>
        <p:spPr>
          <a:xfrm>
            <a:off x="7956087" y="3722605"/>
            <a:ext cx="137340" cy="137340"/>
          </a:xfrm>
          <a:prstGeom prst="irregularSeal1">
            <a:avLst/>
          </a:prstGeom>
          <a:solidFill>
            <a:srgbClr val="FFFF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956" name="TextBox 955">
            <a:extLst>
              <a:ext uri="{FF2B5EF4-FFF2-40B4-BE49-F238E27FC236}">
                <a16:creationId xmlns:a16="http://schemas.microsoft.com/office/drawing/2014/main" id="{A96EDFD6-9193-657C-1AC6-AA0AF79A136D}"/>
              </a:ext>
            </a:extLst>
          </p:cNvPr>
          <p:cNvSpPr txBox="1"/>
          <p:nvPr/>
        </p:nvSpPr>
        <p:spPr>
          <a:xfrm>
            <a:off x="280769" y="3748368"/>
            <a:ext cx="3514104" cy="5280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팝업 하강에 따른 체결 불량발생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직행불량률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이력 시점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: 1.495% /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직행불량률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조치 후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: 0.107%</a:t>
            </a:r>
            <a:endParaRPr lang="ko-KR" altLang="en-US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graphicFrame>
        <p:nvGraphicFramePr>
          <p:cNvPr id="957" name="표 956">
            <a:extLst>
              <a:ext uri="{FF2B5EF4-FFF2-40B4-BE49-F238E27FC236}">
                <a16:creationId xmlns:a16="http://schemas.microsoft.com/office/drawing/2014/main" id="{15DE5E48-9294-967A-0943-B94B2068A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390810"/>
              </p:ext>
            </p:extLst>
          </p:nvPr>
        </p:nvGraphicFramePr>
        <p:xfrm>
          <a:off x="5529064" y="5384507"/>
          <a:ext cx="4082749" cy="966960"/>
        </p:xfrm>
        <a:graphic>
          <a:graphicData uri="http://schemas.openxmlformats.org/drawingml/2006/table">
            <a:tbl>
              <a:tblPr firstRow="1" bandRow="1"/>
              <a:tblGrid>
                <a:gridCol w="1082056">
                  <a:extLst>
                    <a:ext uri="{9D8B030D-6E8A-4147-A177-3AD203B41FA5}">
                      <a16:colId xmlns:a16="http://schemas.microsoft.com/office/drawing/2014/main" val="1611637560"/>
                    </a:ext>
                  </a:extLst>
                </a:gridCol>
                <a:gridCol w="3000693">
                  <a:extLst>
                    <a:ext uri="{9D8B030D-6E8A-4147-A177-3AD203B41FA5}">
                      <a16:colId xmlns:a16="http://schemas.microsoft.com/office/drawing/2014/main" val="276593474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kumimoji="0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BFA </a:t>
                      </a:r>
                      <a:r>
                        <a:rPr kumimoji="0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팝업 실린더 이상 모델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410610"/>
                  </a:ext>
                </a:extLst>
              </a:tr>
              <a:tr h="20186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kumimoji="0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</a:t>
                      </a:r>
                      <a:endParaRPr kumimoji="0" lang="en-US" altLang="ko-KR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이동평균 트렌드</a:t>
                      </a: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(Short - Long) &gt;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0.1mm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 증가량 계산</a:t>
                      </a:r>
                      <a:endParaRPr kumimoji="0" lang="en-US" altLang="ko-KR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증가량 누적 </a:t>
                      </a: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&gt; 18mm 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이면</a:t>
                      </a: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1, 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아니면 </a:t>
                      </a: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3. 8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체결홀 결과값 합산 </a:t>
                      </a: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최소 </a:t>
                      </a: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0, 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최대 </a:t>
                      </a: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8)</a:t>
                      </a: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60131"/>
                  </a:ext>
                </a:extLst>
              </a:tr>
              <a:tr h="1480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kumimoji="0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관리선</a:t>
                      </a:r>
                      <a:r>
                        <a:rPr kumimoji="0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/ </a:t>
                      </a:r>
                      <a:r>
                        <a:rPr kumimoji="0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알람룰</a:t>
                      </a:r>
                      <a:endParaRPr kumimoji="0" lang="en-US" altLang="ko-KR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7.5 / 1 out of 1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414602"/>
                  </a:ext>
                </a:extLst>
              </a:tr>
              <a:tr h="13334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kumimoji="0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알람</a:t>
                      </a:r>
                      <a:r>
                        <a:rPr kumimoji="0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On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5/5 ~</a:t>
                      </a: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663473"/>
                  </a:ext>
                </a:extLst>
              </a:tr>
            </a:tbl>
          </a:graphicData>
        </a:graphic>
      </p:graphicFrame>
      <p:sp>
        <p:nvSpPr>
          <p:cNvPr id="958" name="TextBox 957">
            <a:extLst>
              <a:ext uri="{FF2B5EF4-FFF2-40B4-BE49-F238E27FC236}">
                <a16:creationId xmlns:a16="http://schemas.microsoft.com/office/drawing/2014/main" id="{D16E023B-E943-5022-CFC0-47CA4435851C}"/>
              </a:ext>
            </a:extLst>
          </p:cNvPr>
          <p:cNvSpPr txBox="1"/>
          <p:nvPr/>
        </p:nvSpPr>
        <p:spPr>
          <a:xfrm>
            <a:off x="3694021" y="4051492"/>
            <a:ext cx="7232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1.388%p 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감소</a:t>
            </a:r>
          </a:p>
        </p:txBody>
      </p:sp>
      <p:sp>
        <p:nvSpPr>
          <p:cNvPr id="3" name="실행 단추: 홈으로 이동 2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EA6BD2A5-16CD-1336-5EF0-363CC23415B4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5828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BFA(Busbar Frame Assy)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공정 이상 감지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(2/2)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1A70319-34BA-4A0C-5D98-A2EB9CBC2A47}"/>
              </a:ext>
            </a:extLst>
          </p:cNvPr>
          <p:cNvSpPr txBox="1"/>
          <p:nvPr/>
        </p:nvSpPr>
        <p:spPr>
          <a:xfrm>
            <a:off x="196281" y="620688"/>
            <a:ext cx="9581255" cy="55521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BFA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공정 중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비전 렌즈 풀림으로 인한 체결 직행 불량 발생을 사전에 감지하여 조치하고자 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→ 체결 위치 보정 비전 렌즈 풀림 발생 시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비전 보정량 변동 특징을 추출하여 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모델링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알람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On </a:t>
            </a: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완료함</a:t>
            </a:r>
            <a:endParaRPr kumimoji="1" lang="en-US" altLang="ko-KR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578A4336-349F-14A5-3E9A-0DF0FF5D2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93" y="4834965"/>
            <a:ext cx="4550736" cy="1822552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10CE90FE-0852-D7F5-884E-2E51DDFDE1E9}"/>
              </a:ext>
            </a:extLst>
          </p:cNvPr>
          <p:cNvSpPr txBox="1"/>
          <p:nvPr/>
        </p:nvSpPr>
        <p:spPr>
          <a:xfrm>
            <a:off x="204011" y="4384951"/>
            <a:ext cx="5918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현상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7F7C052-F99C-0B4C-80D5-D44A0CBF7AD3}"/>
              </a:ext>
            </a:extLst>
          </p:cNvPr>
          <p:cNvSpPr txBox="1"/>
          <p:nvPr/>
        </p:nvSpPr>
        <p:spPr>
          <a:xfrm>
            <a:off x="204011" y="1187787"/>
            <a:ext cx="9348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문제 </a:t>
            </a:r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/ </a:t>
            </a:r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원인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75E35AFC-A373-AADF-36EC-6DDA1CE6BAB7}"/>
              </a:ext>
            </a:extLst>
          </p:cNvPr>
          <p:cNvGrpSpPr/>
          <p:nvPr/>
        </p:nvGrpSpPr>
        <p:grpSpPr>
          <a:xfrm>
            <a:off x="6094823" y="2683993"/>
            <a:ext cx="2585506" cy="956598"/>
            <a:chOff x="7297258" y="-29019"/>
            <a:chExt cx="2585506" cy="956598"/>
          </a:xfrm>
        </p:grpSpPr>
        <p:sp>
          <p:nvSpPr>
            <p:cNvPr id="108" name="정육면체 107">
              <a:extLst>
                <a:ext uri="{FF2B5EF4-FFF2-40B4-BE49-F238E27FC236}">
                  <a16:creationId xmlns:a16="http://schemas.microsoft.com/office/drawing/2014/main" id="{C655446D-8BB7-3F61-2D33-3061176376C6}"/>
                </a:ext>
              </a:extLst>
            </p:cNvPr>
            <p:cNvSpPr/>
            <p:nvPr/>
          </p:nvSpPr>
          <p:spPr>
            <a:xfrm>
              <a:off x="7954835" y="45039"/>
              <a:ext cx="1662251" cy="398866"/>
            </a:xfrm>
            <a:prstGeom prst="cube">
              <a:avLst>
                <a:gd name="adj" fmla="val 7129"/>
              </a:avLst>
            </a:prstGeom>
            <a:solidFill>
              <a:sysClr val="window" lastClr="FFFFFF">
                <a:lumMod val="95000"/>
              </a:sys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Busbar</a:t>
              </a: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09" name="정육면체 108">
              <a:extLst>
                <a:ext uri="{FF2B5EF4-FFF2-40B4-BE49-F238E27FC236}">
                  <a16:creationId xmlns:a16="http://schemas.microsoft.com/office/drawing/2014/main" id="{830F3754-F84E-4C2E-8C06-247366A6AAB3}"/>
                </a:ext>
              </a:extLst>
            </p:cNvPr>
            <p:cNvSpPr/>
            <p:nvPr/>
          </p:nvSpPr>
          <p:spPr>
            <a:xfrm>
              <a:off x="7545981" y="74886"/>
              <a:ext cx="517309" cy="768190"/>
            </a:xfrm>
            <a:prstGeom prst="cube">
              <a:avLst>
                <a:gd name="adj" fmla="val 79018"/>
              </a:avLst>
            </a:prstGeom>
            <a:solidFill>
              <a:sysClr val="windowText" lastClr="0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10" name="정육면체 109">
              <a:extLst>
                <a:ext uri="{FF2B5EF4-FFF2-40B4-BE49-F238E27FC236}">
                  <a16:creationId xmlns:a16="http://schemas.microsoft.com/office/drawing/2014/main" id="{64A195D1-DB47-DACE-CE5B-4619707B9B7E}"/>
                </a:ext>
              </a:extLst>
            </p:cNvPr>
            <p:cNvSpPr/>
            <p:nvPr/>
          </p:nvSpPr>
          <p:spPr>
            <a:xfrm>
              <a:off x="7651783" y="74886"/>
              <a:ext cx="1842648" cy="768190"/>
            </a:xfrm>
            <a:prstGeom prst="cube">
              <a:avLst>
                <a:gd name="adj" fmla="val 53008"/>
              </a:avLst>
            </a:prstGeom>
            <a:solidFill>
              <a:srgbClr val="156082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11" name="정육면체 110">
              <a:extLst>
                <a:ext uri="{FF2B5EF4-FFF2-40B4-BE49-F238E27FC236}">
                  <a16:creationId xmlns:a16="http://schemas.microsoft.com/office/drawing/2014/main" id="{5C72A40D-9268-D14C-6DCD-2C8F1DC3468A}"/>
                </a:ext>
              </a:extLst>
            </p:cNvPr>
            <p:cNvSpPr/>
            <p:nvPr/>
          </p:nvSpPr>
          <p:spPr>
            <a:xfrm>
              <a:off x="9072157" y="74886"/>
              <a:ext cx="517309" cy="768190"/>
            </a:xfrm>
            <a:prstGeom prst="cube">
              <a:avLst>
                <a:gd name="adj" fmla="val 79018"/>
              </a:avLst>
            </a:prstGeom>
            <a:solidFill>
              <a:sysClr val="windowText" lastClr="0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E574FFF-2F7A-FB25-3374-556AEECC9BE7}"/>
                </a:ext>
              </a:extLst>
            </p:cNvPr>
            <p:cNvSpPr txBox="1"/>
            <p:nvPr/>
          </p:nvSpPr>
          <p:spPr>
            <a:xfrm>
              <a:off x="9262231" y="275981"/>
              <a:ext cx="3706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E/P</a:t>
              </a:r>
              <a:endPara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9A5D63B-D2C9-3A25-0027-3756DE55DCA0}"/>
                </a:ext>
              </a:extLst>
            </p:cNvPr>
            <p:cNvSpPr txBox="1"/>
            <p:nvPr/>
          </p:nvSpPr>
          <p:spPr>
            <a:xfrm>
              <a:off x="7382473" y="123993"/>
              <a:ext cx="3770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Left</a:t>
              </a: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637E98A-2C0C-6A2F-9322-8CCC4C7BDCB3}"/>
                </a:ext>
              </a:extLst>
            </p:cNvPr>
            <p:cNvSpPr txBox="1"/>
            <p:nvPr/>
          </p:nvSpPr>
          <p:spPr>
            <a:xfrm>
              <a:off x="9428794" y="569377"/>
              <a:ext cx="4539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Right</a:t>
              </a: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15" name="정육면체 114">
              <a:extLst>
                <a:ext uri="{FF2B5EF4-FFF2-40B4-BE49-F238E27FC236}">
                  <a16:creationId xmlns:a16="http://schemas.microsoft.com/office/drawing/2014/main" id="{B8DC2D80-9733-E3A5-30F7-3004562D674A}"/>
                </a:ext>
              </a:extLst>
            </p:cNvPr>
            <p:cNvSpPr/>
            <p:nvPr/>
          </p:nvSpPr>
          <p:spPr>
            <a:xfrm>
              <a:off x="7544734" y="444210"/>
              <a:ext cx="1662251" cy="398866"/>
            </a:xfrm>
            <a:prstGeom prst="cube">
              <a:avLst>
                <a:gd name="adj" fmla="val 7129"/>
              </a:avLst>
            </a:prstGeom>
            <a:solidFill>
              <a:sysClr val="window" lastClr="FFFFFF">
                <a:lumMod val="95000"/>
              </a:sys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Busbar</a:t>
              </a: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37BDE6F-4B67-F7B9-5A90-41FA094AA0A0}"/>
                </a:ext>
              </a:extLst>
            </p:cNvPr>
            <p:cNvSpPr txBox="1"/>
            <p:nvPr/>
          </p:nvSpPr>
          <p:spPr>
            <a:xfrm>
              <a:off x="8243766" y="148437"/>
              <a:ext cx="6976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Cell Block</a:t>
              </a: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738E2475-E1A6-1123-99F9-8BAF70359224}"/>
                </a:ext>
              </a:extLst>
            </p:cNvPr>
            <p:cNvSpPr/>
            <p:nvPr/>
          </p:nvSpPr>
          <p:spPr>
            <a:xfrm>
              <a:off x="9102589" y="507015"/>
              <a:ext cx="50560" cy="50561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4B913BE6-B9F7-1B63-662C-1E7EFA1E35D6}"/>
                </a:ext>
              </a:extLst>
            </p:cNvPr>
            <p:cNvSpPr/>
            <p:nvPr/>
          </p:nvSpPr>
          <p:spPr>
            <a:xfrm>
              <a:off x="9102589" y="762668"/>
              <a:ext cx="50560" cy="50561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C6CFC044-3914-8F3F-2921-E89FEA53B41A}"/>
                </a:ext>
              </a:extLst>
            </p:cNvPr>
            <p:cNvSpPr/>
            <p:nvPr/>
          </p:nvSpPr>
          <p:spPr>
            <a:xfrm>
              <a:off x="7573602" y="506245"/>
              <a:ext cx="50560" cy="50561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E3FDB748-CBD2-CF48-C901-453FFC817805}"/>
                </a:ext>
              </a:extLst>
            </p:cNvPr>
            <p:cNvSpPr/>
            <p:nvPr/>
          </p:nvSpPr>
          <p:spPr>
            <a:xfrm>
              <a:off x="7573602" y="761898"/>
              <a:ext cx="50560" cy="50561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AC9609D-10CE-AEDD-48B8-A5725A10B771}"/>
                </a:ext>
              </a:extLst>
            </p:cNvPr>
            <p:cNvSpPr txBox="1"/>
            <p:nvPr/>
          </p:nvSpPr>
          <p:spPr>
            <a:xfrm>
              <a:off x="9116488" y="408280"/>
              <a:ext cx="3097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①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67F7A95F-56E3-488A-50D5-454A932DB3CB}"/>
                </a:ext>
              </a:extLst>
            </p:cNvPr>
            <p:cNvSpPr txBox="1"/>
            <p:nvPr/>
          </p:nvSpPr>
          <p:spPr>
            <a:xfrm>
              <a:off x="9116488" y="663646"/>
              <a:ext cx="3097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③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803BA4B4-325A-0543-4960-0268D35C744F}"/>
                </a:ext>
              </a:extLst>
            </p:cNvPr>
            <p:cNvSpPr txBox="1"/>
            <p:nvPr/>
          </p:nvSpPr>
          <p:spPr>
            <a:xfrm>
              <a:off x="7297258" y="410603"/>
              <a:ext cx="3097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⑤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5277EDA-EFDC-F004-A6CF-3533E51C82F4}"/>
                </a:ext>
              </a:extLst>
            </p:cNvPr>
            <p:cNvSpPr txBox="1"/>
            <p:nvPr/>
          </p:nvSpPr>
          <p:spPr>
            <a:xfrm>
              <a:off x="7297258" y="665969"/>
              <a:ext cx="3097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⑦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6614022-E481-AECA-5BD9-0D3DEFE4A18B}"/>
                </a:ext>
              </a:extLst>
            </p:cNvPr>
            <p:cNvSpPr txBox="1"/>
            <p:nvPr/>
          </p:nvSpPr>
          <p:spPr>
            <a:xfrm>
              <a:off x="9572550" y="-29019"/>
              <a:ext cx="3097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②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A5F418C-4ABB-5427-E621-240F90C8AA05}"/>
                </a:ext>
              </a:extLst>
            </p:cNvPr>
            <p:cNvSpPr txBox="1"/>
            <p:nvPr/>
          </p:nvSpPr>
          <p:spPr>
            <a:xfrm>
              <a:off x="9572550" y="226348"/>
              <a:ext cx="3097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④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0CE997A8-D76C-FAC9-C555-F02834186EFF}"/>
                </a:ext>
              </a:extLst>
            </p:cNvPr>
            <p:cNvSpPr txBox="1"/>
            <p:nvPr/>
          </p:nvSpPr>
          <p:spPr>
            <a:xfrm>
              <a:off x="7728423" y="-8923"/>
              <a:ext cx="3097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⑥</a:t>
              </a:r>
            </a:p>
          </p:txBody>
        </p: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BD59719F-BBCF-C219-83C2-FC20971DA907}"/>
                </a:ext>
              </a:extLst>
            </p:cNvPr>
            <p:cNvCxnSpPr>
              <a:cxnSpLocks/>
            </p:cNvCxnSpPr>
            <p:nvPr/>
          </p:nvCxnSpPr>
          <p:spPr>
            <a:xfrm>
              <a:off x="7983430" y="172188"/>
              <a:ext cx="0" cy="24393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71C758BB-3771-2ACA-63E4-9D3AF892725D}"/>
                </a:ext>
              </a:extLst>
            </p:cNvPr>
            <p:cNvSpPr txBox="1"/>
            <p:nvPr/>
          </p:nvSpPr>
          <p:spPr>
            <a:xfrm>
              <a:off x="7725188" y="251087"/>
              <a:ext cx="3097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⑧</a:t>
              </a:r>
            </a:p>
          </p:txBody>
        </p: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A2296523-BBDE-31D1-483D-DE81AE73C3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3430" y="407857"/>
              <a:ext cx="1144439" cy="8263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</p:cxn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4DFC3998-05B8-B8EF-A979-45BB5DA059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2811" y="406348"/>
              <a:ext cx="40455" cy="34366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D89E41DC-5FB1-4533-03BB-BE0D86E89E4A}"/>
              </a:ext>
            </a:extLst>
          </p:cNvPr>
          <p:cNvSpPr txBox="1"/>
          <p:nvPr/>
        </p:nvSpPr>
        <p:spPr>
          <a:xfrm>
            <a:off x="261063" y="1393860"/>
            <a:ext cx="4611688" cy="758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BFA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체결 시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,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 체결홀 촬영하는 비전 렌즈가 풀린 상태로 체결홀 촬영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잘못된 위치를 체결홀 중심으로 인식하여 체결 진행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</a:p>
          <a:p>
            <a:pPr defTabSz="457200" latinLnBrk="0">
              <a:lnSpc>
                <a:spcPct val="15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  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→ 실제 체결홀과 체결 위치간 차이 발생</a:t>
            </a: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E02BDE42-BDEA-7B7C-4412-181D34E889DF}"/>
              </a:ext>
            </a:extLst>
          </p:cNvPr>
          <p:cNvGrpSpPr/>
          <p:nvPr/>
        </p:nvGrpSpPr>
        <p:grpSpPr>
          <a:xfrm>
            <a:off x="322008" y="2066446"/>
            <a:ext cx="1909758" cy="1251309"/>
            <a:chOff x="257384" y="4285233"/>
            <a:chExt cx="1909758" cy="1251309"/>
          </a:xfrm>
        </p:grpSpPr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E129E9D3-6173-8CDA-3AF7-3ECB9512DD64}"/>
                </a:ext>
              </a:extLst>
            </p:cNvPr>
            <p:cNvGrpSpPr/>
            <p:nvPr/>
          </p:nvGrpSpPr>
          <p:grpSpPr>
            <a:xfrm>
              <a:off x="1292009" y="4285233"/>
              <a:ext cx="875133" cy="690115"/>
              <a:chOff x="9848844" y="2439089"/>
              <a:chExt cx="1679665" cy="1324554"/>
            </a:xfrm>
          </p:grpSpPr>
          <p:grpSp>
            <p:nvGrpSpPr>
              <p:cNvPr id="138" name="그룹 137">
                <a:extLst>
                  <a:ext uri="{FF2B5EF4-FFF2-40B4-BE49-F238E27FC236}">
                    <a16:creationId xmlns:a16="http://schemas.microsoft.com/office/drawing/2014/main" id="{C1F4C615-C31C-5129-4DFC-BDE73B584671}"/>
                  </a:ext>
                </a:extLst>
              </p:cNvPr>
              <p:cNvGrpSpPr/>
              <p:nvPr/>
            </p:nvGrpSpPr>
            <p:grpSpPr>
              <a:xfrm>
                <a:off x="10178753" y="2682616"/>
                <a:ext cx="1349756" cy="899771"/>
                <a:chOff x="1117599" y="3196234"/>
                <a:chExt cx="4554845" cy="3036340"/>
              </a:xfrm>
            </p:grpSpPr>
            <p:sp>
              <p:nvSpPr>
                <p:cNvPr id="141" name="정육면체 140">
                  <a:extLst>
                    <a:ext uri="{FF2B5EF4-FFF2-40B4-BE49-F238E27FC236}">
                      <a16:creationId xmlns:a16="http://schemas.microsoft.com/office/drawing/2014/main" id="{49AC50A0-8085-35F6-EE48-FB66197BF5F8}"/>
                    </a:ext>
                  </a:extLst>
                </p:cNvPr>
                <p:cNvSpPr/>
                <p:nvPr/>
              </p:nvSpPr>
              <p:spPr>
                <a:xfrm flipH="1">
                  <a:off x="4578924" y="3196234"/>
                  <a:ext cx="1093520" cy="3036340"/>
                </a:xfrm>
                <a:prstGeom prst="cube">
                  <a:avLst>
                    <a:gd name="adj" fmla="val 57370"/>
                  </a:avLst>
                </a:prstGeom>
                <a:solidFill>
                  <a:sysClr val="window" lastClr="FFFFFF">
                    <a:lumMod val="95000"/>
                  </a:sysClr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endParaRPr>
                </a:p>
              </p:txBody>
            </p:sp>
            <p:sp>
              <p:nvSpPr>
                <p:cNvPr id="142" name="정육면체 141">
                  <a:extLst>
                    <a:ext uri="{FF2B5EF4-FFF2-40B4-BE49-F238E27FC236}">
                      <a16:creationId xmlns:a16="http://schemas.microsoft.com/office/drawing/2014/main" id="{3F406A95-0D1D-0549-77FD-7E5E39230CAD}"/>
                    </a:ext>
                  </a:extLst>
                </p:cNvPr>
                <p:cNvSpPr/>
                <p:nvPr/>
              </p:nvSpPr>
              <p:spPr>
                <a:xfrm flipH="1">
                  <a:off x="3565566" y="4494809"/>
                  <a:ext cx="1518062" cy="1288475"/>
                </a:xfrm>
                <a:prstGeom prst="cube">
                  <a:avLst/>
                </a:prstGeom>
                <a:solidFill>
                  <a:sysClr val="windowText" lastClr="000000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endParaRPr>
                </a:p>
              </p:txBody>
            </p:sp>
            <p:sp>
              <p:nvSpPr>
                <p:cNvPr id="143" name="원통형 142">
                  <a:extLst>
                    <a:ext uri="{FF2B5EF4-FFF2-40B4-BE49-F238E27FC236}">
                      <a16:creationId xmlns:a16="http://schemas.microsoft.com/office/drawing/2014/main" id="{D35A4A2C-DA0D-B661-DB0A-B6E539A55369}"/>
                    </a:ext>
                  </a:extLst>
                </p:cNvPr>
                <p:cNvSpPr/>
                <p:nvPr/>
              </p:nvSpPr>
              <p:spPr>
                <a:xfrm rot="16200000">
                  <a:off x="2887685" y="4650342"/>
                  <a:ext cx="783771" cy="1018970"/>
                </a:xfrm>
                <a:prstGeom prst="can">
                  <a:avLst/>
                </a:prstGeom>
                <a:solidFill>
                  <a:sysClr val="windowText" lastClr="000000">
                    <a:lumMod val="75000"/>
                    <a:lumOff val="25000"/>
                  </a:sysClr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endParaRPr>
                </a:p>
              </p:txBody>
            </p:sp>
            <p:sp>
              <p:nvSpPr>
                <p:cNvPr id="144" name="원통형 143">
                  <a:extLst>
                    <a:ext uri="{FF2B5EF4-FFF2-40B4-BE49-F238E27FC236}">
                      <a16:creationId xmlns:a16="http://schemas.microsoft.com/office/drawing/2014/main" id="{B600FE6E-05EF-13BB-6093-5754B75F3312}"/>
                    </a:ext>
                  </a:extLst>
                </p:cNvPr>
                <p:cNvSpPr/>
                <p:nvPr/>
              </p:nvSpPr>
              <p:spPr>
                <a:xfrm rot="16200000">
                  <a:off x="1923803" y="4833257"/>
                  <a:ext cx="1579418" cy="653143"/>
                </a:xfrm>
                <a:prstGeom prst="can">
                  <a:avLst>
                    <a:gd name="adj" fmla="val 50000"/>
                  </a:avLst>
                </a:prstGeom>
                <a:solidFill>
                  <a:sysClr val="windowText" lastClr="000000">
                    <a:lumMod val="65000"/>
                    <a:lumOff val="35000"/>
                  </a:sysClr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endParaRPr>
                </a:p>
              </p:txBody>
            </p:sp>
            <p:sp>
              <p:nvSpPr>
                <p:cNvPr id="145" name="타원 144">
                  <a:extLst>
                    <a:ext uri="{FF2B5EF4-FFF2-40B4-BE49-F238E27FC236}">
                      <a16:creationId xmlns:a16="http://schemas.microsoft.com/office/drawing/2014/main" id="{3A456A67-2755-E479-8C1B-6A6E70A0C591}"/>
                    </a:ext>
                  </a:extLst>
                </p:cNvPr>
                <p:cNvSpPr/>
                <p:nvPr/>
              </p:nvSpPr>
              <p:spPr>
                <a:xfrm>
                  <a:off x="2470727" y="4880758"/>
                  <a:ext cx="142504" cy="55814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endParaRPr>
                </a:p>
              </p:txBody>
            </p:sp>
            <p:sp>
              <p:nvSpPr>
                <p:cNvPr id="146" name="원통형 145">
                  <a:extLst>
                    <a:ext uri="{FF2B5EF4-FFF2-40B4-BE49-F238E27FC236}">
                      <a16:creationId xmlns:a16="http://schemas.microsoft.com/office/drawing/2014/main" id="{5FA99585-36DE-D222-F057-B4CE5CEC90F5}"/>
                    </a:ext>
                  </a:extLst>
                </p:cNvPr>
                <p:cNvSpPr/>
                <p:nvPr/>
              </p:nvSpPr>
              <p:spPr>
                <a:xfrm rot="16200000">
                  <a:off x="3919765" y="2881826"/>
                  <a:ext cx="306779" cy="1852387"/>
                </a:xfrm>
                <a:prstGeom prst="can">
                  <a:avLst>
                    <a:gd name="adj" fmla="val 59839"/>
                  </a:avLst>
                </a:prstGeom>
                <a:solidFill>
                  <a:sysClr val="window" lastClr="FFFFFF">
                    <a:lumMod val="75000"/>
                  </a:sysClr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endParaRPr>
                </a:p>
              </p:txBody>
            </p:sp>
            <p:sp>
              <p:nvSpPr>
                <p:cNvPr id="147" name="원통형 146">
                  <a:extLst>
                    <a:ext uri="{FF2B5EF4-FFF2-40B4-BE49-F238E27FC236}">
                      <a16:creationId xmlns:a16="http://schemas.microsoft.com/office/drawing/2014/main" id="{574AE448-A326-5647-4F41-D7B3DF8C5C47}"/>
                    </a:ext>
                  </a:extLst>
                </p:cNvPr>
                <p:cNvSpPr/>
                <p:nvPr/>
              </p:nvSpPr>
              <p:spPr>
                <a:xfrm rot="16200000">
                  <a:off x="3805055" y="3467427"/>
                  <a:ext cx="783771" cy="699986"/>
                </a:xfrm>
                <a:prstGeom prst="can">
                  <a:avLst>
                    <a:gd name="adj" fmla="val 38572"/>
                  </a:avLst>
                </a:prstGeom>
                <a:solidFill>
                  <a:srgbClr val="686360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endParaRPr>
                </a:p>
              </p:txBody>
            </p:sp>
            <p:sp>
              <p:nvSpPr>
                <p:cNvPr id="148" name="원통형 147">
                  <a:extLst>
                    <a:ext uri="{FF2B5EF4-FFF2-40B4-BE49-F238E27FC236}">
                      <a16:creationId xmlns:a16="http://schemas.microsoft.com/office/drawing/2014/main" id="{CDEF9F80-F719-E725-FC82-0B84279E9CA4}"/>
                    </a:ext>
                  </a:extLst>
                </p:cNvPr>
                <p:cNvSpPr/>
                <p:nvPr/>
              </p:nvSpPr>
              <p:spPr>
                <a:xfrm rot="16200000">
                  <a:off x="3439226" y="3408051"/>
                  <a:ext cx="306779" cy="794988"/>
                </a:xfrm>
                <a:prstGeom prst="can">
                  <a:avLst>
                    <a:gd name="adj" fmla="val 59839"/>
                  </a:avLst>
                </a:prstGeom>
                <a:solidFill>
                  <a:sysClr val="window" lastClr="FFFFFF">
                    <a:lumMod val="75000"/>
                  </a:sysClr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endParaRPr>
                </a:p>
              </p:txBody>
            </p:sp>
            <p:sp>
              <p:nvSpPr>
                <p:cNvPr id="149" name="정육면체 148">
                  <a:extLst>
                    <a:ext uri="{FF2B5EF4-FFF2-40B4-BE49-F238E27FC236}">
                      <a16:creationId xmlns:a16="http://schemas.microsoft.com/office/drawing/2014/main" id="{2D897C4E-7F45-8BD3-4FEC-0AF27F25E72F}"/>
                    </a:ext>
                  </a:extLst>
                </p:cNvPr>
                <p:cNvSpPr/>
                <p:nvPr/>
              </p:nvSpPr>
              <p:spPr>
                <a:xfrm flipH="1">
                  <a:off x="2845129" y="3383468"/>
                  <a:ext cx="699985" cy="879770"/>
                </a:xfrm>
                <a:prstGeom prst="cube">
                  <a:avLst/>
                </a:prstGeom>
                <a:solidFill>
                  <a:sysClr val="windowText" lastClr="000000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endParaRPr>
                </a:p>
              </p:txBody>
            </p:sp>
            <p:sp>
              <p:nvSpPr>
                <p:cNvPr id="150" name="원통형 149">
                  <a:extLst>
                    <a:ext uri="{FF2B5EF4-FFF2-40B4-BE49-F238E27FC236}">
                      <a16:creationId xmlns:a16="http://schemas.microsoft.com/office/drawing/2014/main" id="{2B5EA1AC-5A15-6ECC-FB33-62432900DEBD}"/>
                    </a:ext>
                  </a:extLst>
                </p:cNvPr>
                <p:cNvSpPr/>
                <p:nvPr/>
              </p:nvSpPr>
              <p:spPr>
                <a:xfrm rot="16200000">
                  <a:off x="1890403" y="2891226"/>
                  <a:ext cx="306779" cy="1852387"/>
                </a:xfrm>
                <a:prstGeom prst="can">
                  <a:avLst>
                    <a:gd name="adj" fmla="val 59839"/>
                  </a:avLst>
                </a:prstGeom>
                <a:solidFill>
                  <a:sysClr val="window" lastClr="FFFFFF">
                    <a:lumMod val="75000"/>
                  </a:sysClr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endParaRPr>
                </a:p>
              </p:txBody>
            </p:sp>
          </p:grp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2751DC5-BCC2-E3B0-BAF7-3B0722A63DA1}"/>
                  </a:ext>
                </a:extLst>
              </p:cNvPr>
              <p:cNvSpPr txBox="1"/>
              <p:nvPr/>
            </p:nvSpPr>
            <p:spPr>
              <a:xfrm>
                <a:off x="9848844" y="2439089"/>
                <a:ext cx="692005" cy="273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너트러너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B2109D97-7EB4-F101-2CCC-401D435EB6AC}"/>
                  </a:ext>
                </a:extLst>
              </p:cNvPr>
              <p:cNvSpPr txBox="1"/>
              <p:nvPr/>
            </p:nvSpPr>
            <p:spPr>
              <a:xfrm>
                <a:off x="10532037" y="3489652"/>
                <a:ext cx="720541" cy="273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비전 렌즈</a:t>
                </a:r>
              </a:p>
            </p:txBody>
          </p:sp>
        </p:grpSp>
        <p:sp>
          <p:nvSpPr>
            <p:cNvPr id="135" name="정육면체 134">
              <a:extLst>
                <a:ext uri="{FF2B5EF4-FFF2-40B4-BE49-F238E27FC236}">
                  <a16:creationId xmlns:a16="http://schemas.microsoft.com/office/drawing/2014/main" id="{A102D8D5-9ADB-6DCB-0A75-AA9AF5726615}"/>
                </a:ext>
              </a:extLst>
            </p:cNvPr>
            <p:cNvSpPr/>
            <p:nvPr/>
          </p:nvSpPr>
          <p:spPr>
            <a:xfrm flipH="1">
              <a:off x="257384" y="4505409"/>
              <a:ext cx="1508989" cy="1031133"/>
            </a:xfrm>
            <a:prstGeom prst="cube">
              <a:avLst>
                <a:gd name="adj" fmla="val 55697"/>
              </a:avLst>
            </a:prstGeom>
            <a:solidFill>
              <a:srgbClr val="0E2841">
                <a:lumMod val="90000"/>
                <a:lumOff val="10000"/>
              </a:srgbClr>
            </a:solidFill>
            <a:ln w="952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9307152-6C5E-285C-08CF-1B2DD967EEF3}"/>
                </a:ext>
              </a:extLst>
            </p:cNvPr>
            <p:cNvSpPr txBox="1"/>
            <p:nvPr/>
          </p:nvSpPr>
          <p:spPr>
            <a:xfrm>
              <a:off x="792161" y="4684893"/>
              <a:ext cx="4732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CMA</a:t>
              </a: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CAAAB0FB-C679-441D-3E20-282E91B7607A}"/>
                </a:ext>
              </a:extLst>
            </p:cNvPr>
            <p:cNvCxnSpPr>
              <a:cxnSpLocks/>
              <a:stCxn id="145" idx="2"/>
            </p:cNvCxnSpPr>
            <p:nvPr/>
          </p:nvCxnSpPr>
          <p:spPr>
            <a:xfrm flipH="1">
              <a:off x="1401305" y="4715284"/>
              <a:ext cx="271508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65000"/>
                </a:sysClr>
              </a:solidFill>
              <a:prstDash val="dash"/>
              <a:miter lim="800000"/>
              <a:headEnd type="none"/>
              <a:tailEnd type="none"/>
            </a:ln>
            <a:effectLst/>
          </p:spPr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4C51605F-41BF-B334-5847-F776F7EC34EF}"/>
              </a:ext>
            </a:extLst>
          </p:cNvPr>
          <p:cNvSpPr txBox="1"/>
          <p:nvPr/>
        </p:nvSpPr>
        <p:spPr>
          <a:xfrm>
            <a:off x="3691464" y="6578696"/>
            <a:ext cx="3241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latin typeface="Arial Narrow"/>
                <a:ea typeface="LG스마트체 Regular"/>
              </a:rPr>
              <a:t>time</a:t>
            </a:r>
            <a:endParaRPr lang="ko-KR" altLang="en-US" sz="7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9F767B3-746B-B1B8-0CBD-9B1F7A9A9D59}"/>
              </a:ext>
            </a:extLst>
          </p:cNvPr>
          <p:cNvSpPr txBox="1"/>
          <p:nvPr/>
        </p:nvSpPr>
        <p:spPr>
          <a:xfrm>
            <a:off x="3694213" y="5604624"/>
            <a:ext cx="3241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latin typeface="Arial Narrow"/>
                <a:ea typeface="LG스마트체 Regular"/>
              </a:rPr>
              <a:t>time</a:t>
            </a:r>
            <a:endParaRPr lang="ko-KR" altLang="en-US" sz="7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3EC377C-7E4F-9401-F721-7690CBE6BA89}"/>
              </a:ext>
            </a:extLst>
          </p:cNvPr>
          <p:cNvSpPr txBox="1"/>
          <p:nvPr/>
        </p:nvSpPr>
        <p:spPr>
          <a:xfrm>
            <a:off x="1240171" y="6578696"/>
            <a:ext cx="3241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latin typeface="Arial Narrow"/>
                <a:ea typeface="LG스마트체 Regular"/>
              </a:rPr>
              <a:t>time</a:t>
            </a:r>
            <a:endParaRPr lang="ko-KR" altLang="en-US" sz="7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CA4AE5A-873D-23E1-6C4F-8F12BA7BAE0B}"/>
              </a:ext>
            </a:extLst>
          </p:cNvPr>
          <p:cNvSpPr txBox="1"/>
          <p:nvPr/>
        </p:nvSpPr>
        <p:spPr>
          <a:xfrm>
            <a:off x="1242920" y="5642726"/>
            <a:ext cx="3241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latin typeface="Arial Narrow"/>
                <a:ea typeface="LG스마트체 Regular"/>
              </a:rPr>
              <a:t>time</a:t>
            </a:r>
            <a:endParaRPr lang="ko-KR" altLang="en-US" sz="7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F2A4814-1453-5C89-8734-10602B9697AF}"/>
              </a:ext>
            </a:extLst>
          </p:cNvPr>
          <p:cNvSpPr txBox="1"/>
          <p:nvPr/>
        </p:nvSpPr>
        <p:spPr>
          <a:xfrm>
            <a:off x="2486864" y="5167674"/>
            <a:ext cx="30649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latin typeface="Arial Narrow"/>
                <a:ea typeface="LG스마트체 Regular"/>
              </a:rPr>
              <a:t>mm</a:t>
            </a:r>
            <a:endParaRPr lang="ko-KR" altLang="en-US" sz="7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7BD2A51-CFBE-73E3-3709-7F3FAC33E01B}"/>
              </a:ext>
            </a:extLst>
          </p:cNvPr>
          <p:cNvSpPr txBox="1"/>
          <p:nvPr/>
        </p:nvSpPr>
        <p:spPr>
          <a:xfrm>
            <a:off x="2489467" y="6083768"/>
            <a:ext cx="30649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latin typeface="Arial Narrow"/>
                <a:ea typeface="LG스마트체 Regular"/>
              </a:rPr>
              <a:t>mm</a:t>
            </a:r>
            <a:endParaRPr lang="ko-KR" altLang="en-US" sz="7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CE43639-4F77-39F1-BC6E-EA5E72B5B292}"/>
              </a:ext>
            </a:extLst>
          </p:cNvPr>
          <p:cNvSpPr txBox="1"/>
          <p:nvPr/>
        </p:nvSpPr>
        <p:spPr>
          <a:xfrm>
            <a:off x="74386" y="5167674"/>
            <a:ext cx="30649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latin typeface="Arial Narrow"/>
                <a:ea typeface="LG스마트체 Regular"/>
              </a:rPr>
              <a:t>mm</a:t>
            </a:r>
            <a:endParaRPr lang="ko-KR" altLang="en-US" sz="7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FE88858-8A85-857E-6AE5-583776DD818F}"/>
              </a:ext>
            </a:extLst>
          </p:cNvPr>
          <p:cNvSpPr txBox="1"/>
          <p:nvPr/>
        </p:nvSpPr>
        <p:spPr>
          <a:xfrm>
            <a:off x="76989" y="6083768"/>
            <a:ext cx="30649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latin typeface="Arial Narrow"/>
                <a:ea typeface="LG스마트체 Regular"/>
              </a:rPr>
              <a:t>mm</a:t>
            </a:r>
            <a:endParaRPr lang="ko-KR" altLang="en-US" sz="7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D3D9C35-15CB-E11D-F32E-B414D1772C66}"/>
              </a:ext>
            </a:extLst>
          </p:cNvPr>
          <p:cNvSpPr txBox="1"/>
          <p:nvPr/>
        </p:nvSpPr>
        <p:spPr>
          <a:xfrm>
            <a:off x="1903050" y="4858167"/>
            <a:ext cx="583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600" dirty="0">
                <a:solidFill>
                  <a:srgbClr val="1E78B4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● 체결위치</a:t>
            </a:r>
            <a:r>
              <a:rPr lang="en-US" altLang="ko-KR" sz="600" dirty="0">
                <a:solidFill>
                  <a:srgbClr val="1E78B4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1</a:t>
            </a:r>
          </a:p>
          <a:p>
            <a:pPr defTabSz="457200" latinLnBrk="0"/>
            <a:r>
              <a:rPr lang="ko-KR" altLang="en-US" sz="600" dirty="0">
                <a:solidFill>
                  <a:srgbClr val="FE7E1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● 체결위치</a:t>
            </a:r>
            <a:r>
              <a:rPr lang="en-US" altLang="ko-KR" sz="600" dirty="0">
                <a:solidFill>
                  <a:srgbClr val="FE7E1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2</a:t>
            </a:r>
            <a:endParaRPr lang="ko-KR" altLang="en-US" sz="600" dirty="0">
              <a:solidFill>
                <a:srgbClr val="FE7E10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F6CD0A7-4804-A9E7-63BD-DF7D5074F44B}"/>
              </a:ext>
            </a:extLst>
          </p:cNvPr>
          <p:cNvSpPr txBox="1"/>
          <p:nvPr/>
        </p:nvSpPr>
        <p:spPr>
          <a:xfrm>
            <a:off x="4304020" y="4858167"/>
            <a:ext cx="583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600" dirty="0">
                <a:solidFill>
                  <a:srgbClr val="D52926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● 체결위치</a:t>
            </a:r>
            <a:r>
              <a:rPr lang="en-US" altLang="ko-KR" sz="600" dirty="0">
                <a:solidFill>
                  <a:srgbClr val="D52926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3</a:t>
            </a:r>
          </a:p>
          <a:p>
            <a:pPr defTabSz="457200" latinLnBrk="0"/>
            <a:r>
              <a:rPr lang="ko-KR" altLang="en-US" sz="600" dirty="0">
                <a:solidFill>
                  <a:srgbClr val="29A23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● 체결위치</a:t>
            </a:r>
            <a:r>
              <a:rPr lang="en-US" altLang="ko-KR" sz="600" dirty="0">
                <a:solidFill>
                  <a:srgbClr val="29A23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4</a:t>
            </a:r>
            <a:endParaRPr lang="ko-KR" altLang="en-US" sz="600" dirty="0">
              <a:solidFill>
                <a:srgbClr val="29A230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5CD2097-7F7C-A522-680A-193ABC770F3D}"/>
              </a:ext>
            </a:extLst>
          </p:cNvPr>
          <p:cNvSpPr txBox="1"/>
          <p:nvPr/>
        </p:nvSpPr>
        <p:spPr>
          <a:xfrm>
            <a:off x="1903050" y="5779154"/>
            <a:ext cx="583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600" dirty="0">
                <a:solidFill>
                  <a:srgbClr val="9568BD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● 체결위치</a:t>
            </a:r>
            <a:r>
              <a:rPr lang="en-US" altLang="ko-KR" sz="600" dirty="0">
                <a:solidFill>
                  <a:srgbClr val="9568BD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5</a:t>
            </a:r>
          </a:p>
          <a:p>
            <a:pPr defTabSz="457200" latinLnBrk="0"/>
            <a:r>
              <a:rPr lang="ko-KR" altLang="en-US" sz="600" dirty="0">
                <a:solidFill>
                  <a:srgbClr val="8F554B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● 체결위치</a:t>
            </a:r>
            <a:r>
              <a:rPr lang="en-US" altLang="ko-KR" sz="600" dirty="0">
                <a:solidFill>
                  <a:srgbClr val="8F554B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6</a:t>
            </a:r>
            <a:endParaRPr lang="ko-KR" altLang="en-US" sz="600" dirty="0">
              <a:solidFill>
                <a:srgbClr val="8F554B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767D21B-A153-177F-9B66-3396DBBAD145}"/>
              </a:ext>
            </a:extLst>
          </p:cNvPr>
          <p:cNvSpPr txBox="1"/>
          <p:nvPr/>
        </p:nvSpPr>
        <p:spPr>
          <a:xfrm>
            <a:off x="4300994" y="5770157"/>
            <a:ext cx="583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600" dirty="0">
                <a:solidFill>
                  <a:srgbClr val="7F7F7F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● 체결위치</a:t>
            </a:r>
            <a:r>
              <a:rPr lang="en-US" altLang="ko-KR" sz="600" dirty="0">
                <a:solidFill>
                  <a:srgbClr val="7F7F7F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7</a:t>
            </a:r>
          </a:p>
          <a:p>
            <a:pPr defTabSz="457200" latinLnBrk="0"/>
            <a:r>
              <a:rPr lang="ko-KR" altLang="en-US" sz="600" dirty="0">
                <a:solidFill>
                  <a:srgbClr val="E377BF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● 체결위치</a:t>
            </a:r>
            <a:r>
              <a:rPr lang="en-US" altLang="ko-KR" sz="600" dirty="0">
                <a:solidFill>
                  <a:srgbClr val="E377BF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8</a:t>
            </a:r>
            <a:endParaRPr lang="ko-KR" altLang="en-US" sz="600" dirty="0">
              <a:solidFill>
                <a:srgbClr val="E377BF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339892F7-8184-E9D1-D03B-20E478B36189}"/>
              </a:ext>
            </a:extLst>
          </p:cNvPr>
          <p:cNvSpPr/>
          <p:nvPr/>
        </p:nvSpPr>
        <p:spPr>
          <a:xfrm>
            <a:off x="1548456" y="4873766"/>
            <a:ext cx="278073" cy="278073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BC2724E7-21EC-A0EC-C6BC-AA7294AE9727}"/>
              </a:ext>
            </a:extLst>
          </p:cNvPr>
          <p:cNvSpPr/>
          <p:nvPr/>
        </p:nvSpPr>
        <p:spPr>
          <a:xfrm>
            <a:off x="3961071" y="4854715"/>
            <a:ext cx="278073" cy="278073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8AE84113-0E03-D1E1-C756-0E36846942A8}"/>
              </a:ext>
            </a:extLst>
          </p:cNvPr>
          <p:cNvSpPr/>
          <p:nvPr/>
        </p:nvSpPr>
        <p:spPr>
          <a:xfrm>
            <a:off x="1553219" y="5799833"/>
            <a:ext cx="278073" cy="278073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5C81602C-2938-D51A-2947-C32548FEE02B}"/>
              </a:ext>
            </a:extLst>
          </p:cNvPr>
          <p:cNvSpPr/>
          <p:nvPr/>
        </p:nvSpPr>
        <p:spPr>
          <a:xfrm>
            <a:off x="3961071" y="5743482"/>
            <a:ext cx="278073" cy="278073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EAF8D42-0013-2AC1-4E0F-E16DF23F49B5}"/>
              </a:ext>
            </a:extLst>
          </p:cNvPr>
          <p:cNvSpPr txBox="1"/>
          <p:nvPr/>
        </p:nvSpPr>
        <p:spPr>
          <a:xfrm>
            <a:off x="1923898" y="5444266"/>
            <a:ext cx="19175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b="1" dirty="0">
                <a:solidFill>
                  <a:srgbClr val="FF0000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Front </a:t>
            </a:r>
            <a:r>
              <a:rPr lang="ko-KR" altLang="en-US" sz="900" b="1" dirty="0">
                <a:solidFill>
                  <a:srgbClr val="FF0000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체결 위치</a:t>
            </a:r>
            <a:r>
              <a:rPr lang="en-US" altLang="ko-KR" sz="900" b="1" dirty="0">
                <a:solidFill>
                  <a:srgbClr val="FF0000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(1,3,5,7)</a:t>
            </a:r>
            <a:r>
              <a:rPr lang="ko-KR" altLang="en-US" sz="900" b="1" dirty="0">
                <a:solidFill>
                  <a:srgbClr val="FF0000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에서 헌팅 발생</a:t>
            </a:r>
            <a:r>
              <a:rPr lang="en-US" altLang="ko-KR" sz="900" b="1" dirty="0">
                <a:solidFill>
                  <a:srgbClr val="FF0000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.</a:t>
            </a:r>
            <a:endParaRPr lang="ko-KR" altLang="en-US" sz="900" b="1" dirty="0">
              <a:solidFill>
                <a:srgbClr val="FF0000"/>
              </a:solidFill>
              <a:highlight>
                <a:srgbClr val="FFFF00"/>
              </a:highlight>
              <a:latin typeface="Arial Narrow"/>
              <a:ea typeface="LG스마트체 Regular"/>
            </a:endParaRPr>
          </a:p>
        </p:txBody>
      </p:sp>
      <p:cxnSp>
        <p:nvCxnSpPr>
          <p:cNvPr id="168" name="연결선: 꺾임 167">
            <a:extLst>
              <a:ext uri="{FF2B5EF4-FFF2-40B4-BE49-F238E27FC236}">
                <a16:creationId xmlns:a16="http://schemas.microsoft.com/office/drawing/2014/main" id="{F45094F7-ADD7-DC17-2D85-9310A1D34E46}"/>
              </a:ext>
            </a:extLst>
          </p:cNvPr>
          <p:cNvCxnSpPr>
            <a:cxnSpLocks/>
            <a:stCxn id="164" idx="2"/>
            <a:endCxn id="167" idx="3"/>
          </p:cNvCxnSpPr>
          <p:nvPr/>
        </p:nvCxnSpPr>
        <p:spPr>
          <a:xfrm rot="10800000" flipV="1">
            <a:off x="3841411" y="4993752"/>
            <a:ext cx="119660" cy="56593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69" name="연결선: 꺾임 168">
            <a:extLst>
              <a:ext uri="{FF2B5EF4-FFF2-40B4-BE49-F238E27FC236}">
                <a16:creationId xmlns:a16="http://schemas.microsoft.com/office/drawing/2014/main" id="{B06FC9CD-1712-1F17-9F8B-65F7FB8542EB}"/>
              </a:ext>
            </a:extLst>
          </p:cNvPr>
          <p:cNvCxnSpPr>
            <a:stCxn id="166" idx="2"/>
            <a:endCxn id="167" idx="3"/>
          </p:cNvCxnSpPr>
          <p:nvPr/>
        </p:nvCxnSpPr>
        <p:spPr>
          <a:xfrm rot="10800000">
            <a:off x="3841411" y="5559683"/>
            <a:ext cx="119660" cy="322837"/>
          </a:xfrm>
          <a:prstGeom prst="bentConnector3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70" name="연결선: 꺾임 169">
            <a:extLst>
              <a:ext uri="{FF2B5EF4-FFF2-40B4-BE49-F238E27FC236}">
                <a16:creationId xmlns:a16="http://schemas.microsoft.com/office/drawing/2014/main" id="{E5E197CB-3E45-5099-6EAE-3D73425C3AFD}"/>
              </a:ext>
            </a:extLst>
          </p:cNvPr>
          <p:cNvCxnSpPr>
            <a:stCxn id="163" idx="6"/>
            <a:endCxn id="167" idx="1"/>
          </p:cNvCxnSpPr>
          <p:nvPr/>
        </p:nvCxnSpPr>
        <p:spPr>
          <a:xfrm>
            <a:off x="1826529" y="5012803"/>
            <a:ext cx="97369" cy="546879"/>
          </a:xfrm>
          <a:prstGeom prst="bentConnector3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71" name="연결선: 꺾임 170">
            <a:extLst>
              <a:ext uri="{FF2B5EF4-FFF2-40B4-BE49-F238E27FC236}">
                <a16:creationId xmlns:a16="http://schemas.microsoft.com/office/drawing/2014/main" id="{4E22DC21-F64F-65FA-1441-586F04AEB75F}"/>
              </a:ext>
            </a:extLst>
          </p:cNvPr>
          <p:cNvCxnSpPr>
            <a:cxnSpLocks/>
            <a:stCxn id="165" idx="6"/>
            <a:endCxn id="167" idx="1"/>
          </p:cNvCxnSpPr>
          <p:nvPr/>
        </p:nvCxnSpPr>
        <p:spPr>
          <a:xfrm flipV="1">
            <a:off x="1831292" y="5559682"/>
            <a:ext cx="92606" cy="37918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headEnd type="none"/>
            <a:tailEnd type="none"/>
          </a:ln>
          <a:effectLst/>
        </p:spPr>
      </p:cxn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725490A5-9085-FF53-C806-EBEEC358B5C9}"/>
              </a:ext>
            </a:extLst>
          </p:cNvPr>
          <p:cNvGrpSpPr/>
          <p:nvPr/>
        </p:nvGrpSpPr>
        <p:grpSpPr>
          <a:xfrm>
            <a:off x="2806196" y="2211137"/>
            <a:ext cx="1909328" cy="1119504"/>
            <a:chOff x="2741572" y="4429924"/>
            <a:chExt cx="1909328" cy="1119504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B60924A4-80CB-9F65-DE18-375A6CD94E58}"/>
                </a:ext>
              </a:extLst>
            </p:cNvPr>
            <p:cNvGrpSpPr/>
            <p:nvPr/>
          </p:nvGrpSpPr>
          <p:grpSpPr>
            <a:xfrm>
              <a:off x="3929061" y="4429924"/>
              <a:ext cx="721839" cy="613700"/>
              <a:chOff x="12235754" y="2681566"/>
              <a:chExt cx="1349755" cy="1147547"/>
            </a:xfrm>
          </p:grpSpPr>
          <p:sp>
            <p:nvSpPr>
              <p:cNvPr id="177" name="정육면체 176">
                <a:extLst>
                  <a:ext uri="{FF2B5EF4-FFF2-40B4-BE49-F238E27FC236}">
                    <a16:creationId xmlns:a16="http://schemas.microsoft.com/office/drawing/2014/main" id="{13821EEA-D239-3D1A-7C08-335401AADC50}"/>
                  </a:ext>
                </a:extLst>
              </p:cNvPr>
              <p:cNvSpPr/>
              <p:nvPr/>
            </p:nvSpPr>
            <p:spPr>
              <a:xfrm flipH="1">
                <a:off x="13261462" y="2681566"/>
                <a:ext cx="324047" cy="899771"/>
              </a:xfrm>
              <a:prstGeom prst="cube">
                <a:avLst>
                  <a:gd name="adj" fmla="val 57370"/>
                </a:avLst>
              </a:prstGeom>
              <a:solidFill>
                <a:sysClr val="window" lastClr="FFFFFF">
                  <a:lumMod val="95000"/>
                </a:sysClr>
              </a:solidFill>
              <a:ln w="19050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78" name="정육면체 177">
                <a:extLst>
                  <a:ext uri="{FF2B5EF4-FFF2-40B4-BE49-F238E27FC236}">
                    <a16:creationId xmlns:a16="http://schemas.microsoft.com/office/drawing/2014/main" id="{6F8FC591-76C8-BBFC-0297-285EEF38159F}"/>
                  </a:ext>
                </a:extLst>
              </p:cNvPr>
              <p:cNvSpPr/>
              <p:nvPr/>
            </p:nvSpPr>
            <p:spPr>
              <a:xfrm flipH="1">
                <a:off x="12961169" y="3066378"/>
                <a:ext cx="449853" cy="381819"/>
              </a:xfrm>
              <a:prstGeom prst="cube">
                <a:avLst/>
              </a:prstGeom>
              <a:solidFill>
                <a:sysClr val="windowText" lastClr="000000"/>
              </a:solidFill>
              <a:ln w="19050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grpSp>
            <p:nvGrpSpPr>
              <p:cNvPr id="179" name="그룹 178">
                <a:extLst>
                  <a:ext uri="{FF2B5EF4-FFF2-40B4-BE49-F238E27FC236}">
                    <a16:creationId xmlns:a16="http://schemas.microsoft.com/office/drawing/2014/main" id="{321EB575-2C4F-0086-B221-899576700ED6}"/>
                  </a:ext>
                </a:extLst>
              </p:cNvPr>
              <p:cNvGrpSpPr/>
              <p:nvPr/>
            </p:nvGrpSpPr>
            <p:grpSpPr>
              <a:xfrm rot="20425648">
                <a:off x="12597292" y="3118344"/>
                <a:ext cx="415495" cy="468035"/>
                <a:chOff x="4509670" y="5261959"/>
                <a:chExt cx="730709" cy="823110"/>
              </a:xfrm>
            </p:grpSpPr>
            <p:sp>
              <p:nvSpPr>
                <p:cNvPr id="187" name="원통형 186">
                  <a:extLst>
                    <a:ext uri="{FF2B5EF4-FFF2-40B4-BE49-F238E27FC236}">
                      <a16:creationId xmlns:a16="http://schemas.microsoft.com/office/drawing/2014/main" id="{00EB0754-1836-5F1B-3D53-AC36B6561967}"/>
                    </a:ext>
                  </a:extLst>
                </p:cNvPr>
                <p:cNvSpPr/>
                <p:nvPr/>
              </p:nvSpPr>
              <p:spPr>
                <a:xfrm rot="16200000">
                  <a:off x="4770632" y="5407997"/>
                  <a:ext cx="408460" cy="531034"/>
                </a:xfrm>
                <a:prstGeom prst="can">
                  <a:avLst/>
                </a:prstGeom>
                <a:solidFill>
                  <a:sysClr val="windowText" lastClr="000000">
                    <a:lumMod val="75000"/>
                    <a:lumOff val="25000"/>
                  </a:sysClr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endParaRPr>
                </a:p>
              </p:txBody>
            </p:sp>
            <p:sp>
              <p:nvSpPr>
                <p:cNvPr id="188" name="원통형 187">
                  <a:extLst>
                    <a:ext uri="{FF2B5EF4-FFF2-40B4-BE49-F238E27FC236}">
                      <a16:creationId xmlns:a16="http://schemas.microsoft.com/office/drawing/2014/main" id="{662EC1BE-FD6F-F576-5816-1085A3815511}"/>
                    </a:ext>
                  </a:extLst>
                </p:cNvPr>
                <p:cNvSpPr/>
                <p:nvPr/>
              </p:nvSpPr>
              <p:spPr>
                <a:xfrm rot="16200000">
                  <a:off x="4268307" y="5503322"/>
                  <a:ext cx="823110" cy="340384"/>
                </a:xfrm>
                <a:prstGeom prst="can">
                  <a:avLst>
                    <a:gd name="adj" fmla="val 50000"/>
                  </a:avLst>
                </a:prstGeom>
                <a:solidFill>
                  <a:sysClr val="windowText" lastClr="000000">
                    <a:lumMod val="65000"/>
                    <a:lumOff val="35000"/>
                  </a:sysClr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endParaRPr>
                </a:p>
              </p:txBody>
            </p:sp>
            <p:sp>
              <p:nvSpPr>
                <p:cNvPr id="189" name="타원 188">
                  <a:extLst>
                    <a:ext uri="{FF2B5EF4-FFF2-40B4-BE49-F238E27FC236}">
                      <a16:creationId xmlns:a16="http://schemas.microsoft.com/office/drawing/2014/main" id="{8E806EED-E32C-97D6-5001-F3144CD1F2E0}"/>
                    </a:ext>
                  </a:extLst>
                </p:cNvPr>
                <p:cNvSpPr/>
                <p:nvPr/>
              </p:nvSpPr>
              <p:spPr>
                <a:xfrm>
                  <a:off x="4553335" y="5528077"/>
                  <a:ext cx="74266" cy="290873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endParaRPr>
                </a:p>
              </p:txBody>
            </p:sp>
          </p:grpSp>
          <p:sp>
            <p:nvSpPr>
              <p:cNvPr id="180" name="원통형 179">
                <a:extLst>
                  <a:ext uri="{FF2B5EF4-FFF2-40B4-BE49-F238E27FC236}">
                    <a16:creationId xmlns:a16="http://schemas.microsoft.com/office/drawing/2014/main" id="{E785196C-1C4B-15C1-E2C0-549E9997BE39}"/>
                  </a:ext>
                </a:extLst>
              </p:cNvPr>
              <p:cNvSpPr/>
              <p:nvPr/>
            </p:nvSpPr>
            <p:spPr>
              <a:xfrm rot="16200000">
                <a:off x="13066131" y="2588396"/>
                <a:ext cx="90909" cy="548925"/>
              </a:xfrm>
              <a:prstGeom prst="can">
                <a:avLst>
                  <a:gd name="adj" fmla="val 59839"/>
                </a:avLst>
              </a:prstGeom>
              <a:solidFill>
                <a:sysClr val="window" lastClr="FFFFFF">
                  <a:lumMod val="75000"/>
                </a:sysClr>
              </a:solidFill>
              <a:ln w="19050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81" name="원통형 180">
                <a:extLst>
                  <a:ext uri="{FF2B5EF4-FFF2-40B4-BE49-F238E27FC236}">
                    <a16:creationId xmlns:a16="http://schemas.microsoft.com/office/drawing/2014/main" id="{A98F5EEB-9DDC-E019-7850-2BE980A6C3EE}"/>
                  </a:ext>
                </a:extLst>
              </p:cNvPr>
              <p:cNvSpPr/>
              <p:nvPr/>
            </p:nvSpPr>
            <p:spPr>
              <a:xfrm rot="16200000">
                <a:off x="13032138" y="2761930"/>
                <a:ext cx="232258" cy="207430"/>
              </a:xfrm>
              <a:prstGeom prst="can">
                <a:avLst>
                  <a:gd name="adj" fmla="val 38572"/>
                </a:avLst>
              </a:prstGeom>
              <a:solidFill>
                <a:srgbClr val="686360"/>
              </a:solidFill>
              <a:ln w="19050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82" name="원통형 181">
                <a:extLst>
                  <a:ext uri="{FF2B5EF4-FFF2-40B4-BE49-F238E27FC236}">
                    <a16:creationId xmlns:a16="http://schemas.microsoft.com/office/drawing/2014/main" id="{83B39FF0-8A1A-E61A-62B5-F7676F3B37FA}"/>
                  </a:ext>
                </a:extLst>
              </p:cNvPr>
              <p:cNvSpPr/>
              <p:nvPr/>
            </p:nvSpPr>
            <p:spPr>
              <a:xfrm rot="16200000">
                <a:off x="12923731" y="2744335"/>
                <a:ext cx="90909" cy="235582"/>
              </a:xfrm>
              <a:prstGeom prst="can">
                <a:avLst>
                  <a:gd name="adj" fmla="val 59839"/>
                </a:avLst>
              </a:prstGeom>
              <a:solidFill>
                <a:sysClr val="window" lastClr="FFFFFF">
                  <a:lumMod val="75000"/>
                </a:sysClr>
              </a:solidFill>
              <a:ln w="19050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83" name="정육면체 182">
                <a:extLst>
                  <a:ext uri="{FF2B5EF4-FFF2-40B4-BE49-F238E27FC236}">
                    <a16:creationId xmlns:a16="http://schemas.microsoft.com/office/drawing/2014/main" id="{0E26BDEA-6BEF-8BC3-DFD9-14B8B0DEE554}"/>
                  </a:ext>
                </a:extLst>
              </p:cNvPr>
              <p:cNvSpPr/>
              <p:nvPr/>
            </p:nvSpPr>
            <p:spPr>
              <a:xfrm flipH="1">
                <a:off x="12747679" y="2737050"/>
                <a:ext cx="207429" cy="260706"/>
              </a:xfrm>
              <a:prstGeom prst="cube">
                <a:avLst/>
              </a:prstGeom>
              <a:solidFill>
                <a:sysClr val="windowText" lastClr="000000"/>
              </a:solidFill>
              <a:ln w="19050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84" name="원통형 183">
                <a:extLst>
                  <a:ext uri="{FF2B5EF4-FFF2-40B4-BE49-F238E27FC236}">
                    <a16:creationId xmlns:a16="http://schemas.microsoft.com/office/drawing/2014/main" id="{8D8CDF7A-525D-C43E-5556-47DA4E5E7467}"/>
                  </a:ext>
                </a:extLst>
              </p:cNvPr>
              <p:cNvSpPr/>
              <p:nvPr/>
            </p:nvSpPr>
            <p:spPr>
              <a:xfrm rot="16200000">
                <a:off x="12464762" y="2591182"/>
                <a:ext cx="90909" cy="548925"/>
              </a:xfrm>
              <a:prstGeom prst="can">
                <a:avLst>
                  <a:gd name="adj" fmla="val 59839"/>
                </a:avLst>
              </a:prstGeom>
              <a:solidFill>
                <a:sysClr val="window" lastClr="FFFFFF">
                  <a:lumMod val="75000"/>
                </a:sysClr>
              </a:solidFill>
              <a:ln w="19050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cxnSp>
            <p:nvCxnSpPr>
              <p:cNvPr id="185" name="직선 화살표 연결선 184">
                <a:extLst>
                  <a:ext uri="{FF2B5EF4-FFF2-40B4-BE49-F238E27FC236}">
                    <a16:creationId xmlns:a16="http://schemas.microsoft.com/office/drawing/2014/main" id="{52F0DAFC-D2CD-412F-E4C9-306915906E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375757" y="3043001"/>
                <a:ext cx="369164" cy="158655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78248355-3987-E09F-1D34-BD662FF783A6}"/>
                  </a:ext>
                </a:extLst>
              </p:cNvPr>
              <p:cNvSpPr txBox="1"/>
              <p:nvPr/>
            </p:nvSpPr>
            <p:spPr>
              <a:xfrm>
                <a:off x="12722365" y="3555123"/>
                <a:ext cx="720543" cy="273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렌즈 풀림</a:t>
                </a:r>
              </a:p>
            </p:txBody>
          </p:sp>
        </p:grp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01F7C233-41FD-9777-BD46-EAD5391544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4138" y="4817649"/>
              <a:ext cx="255550" cy="86322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65000"/>
                </a:sysClr>
              </a:solidFill>
              <a:prstDash val="dash"/>
              <a:miter lim="800000"/>
              <a:headEnd type="none"/>
              <a:tailEnd type="none"/>
            </a:ln>
            <a:effectLst/>
          </p:spPr>
        </p:cxnSp>
        <p:sp>
          <p:nvSpPr>
            <p:cNvPr id="175" name="정육면체 174">
              <a:extLst>
                <a:ext uri="{FF2B5EF4-FFF2-40B4-BE49-F238E27FC236}">
                  <a16:creationId xmlns:a16="http://schemas.microsoft.com/office/drawing/2014/main" id="{32139566-2785-58F6-6907-8303803E9620}"/>
                </a:ext>
              </a:extLst>
            </p:cNvPr>
            <p:cNvSpPr/>
            <p:nvPr/>
          </p:nvSpPr>
          <p:spPr>
            <a:xfrm flipH="1">
              <a:off x="2741572" y="4518295"/>
              <a:ext cx="1508989" cy="1031133"/>
            </a:xfrm>
            <a:prstGeom prst="cube">
              <a:avLst>
                <a:gd name="adj" fmla="val 55697"/>
              </a:avLst>
            </a:prstGeom>
            <a:solidFill>
              <a:srgbClr val="0E2841">
                <a:lumMod val="90000"/>
                <a:lumOff val="10000"/>
              </a:srgbClr>
            </a:solidFill>
            <a:ln w="952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86BE8313-F893-3E07-9E01-7F9E4F08491F}"/>
                </a:ext>
              </a:extLst>
            </p:cNvPr>
            <p:cNvSpPr txBox="1"/>
            <p:nvPr/>
          </p:nvSpPr>
          <p:spPr>
            <a:xfrm>
              <a:off x="3276349" y="4697779"/>
              <a:ext cx="4732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CMA</a:t>
              </a: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</p:grpSp>
      <p:sp>
        <p:nvSpPr>
          <p:cNvPr id="190" name="화살표: 오른쪽 189">
            <a:extLst>
              <a:ext uri="{FF2B5EF4-FFF2-40B4-BE49-F238E27FC236}">
                <a16:creationId xmlns:a16="http://schemas.microsoft.com/office/drawing/2014/main" id="{57B54864-63AB-5371-A343-F766B597B802}"/>
              </a:ext>
            </a:extLst>
          </p:cNvPr>
          <p:cNvSpPr/>
          <p:nvPr/>
        </p:nvSpPr>
        <p:spPr>
          <a:xfrm>
            <a:off x="2387286" y="2658964"/>
            <a:ext cx="284327" cy="265110"/>
          </a:xfrm>
          <a:prstGeom prst="rightArrow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A2C850A8-758D-7E5D-48EB-A9FE3948A147}"/>
              </a:ext>
            </a:extLst>
          </p:cNvPr>
          <p:cNvGrpSpPr/>
          <p:nvPr/>
        </p:nvGrpSpPr>
        <p:grpSpPr>
          <a:xfrm>
            <a:off x="322008" y="3356787"/>
            <a:ext cx="4374406" cy="1206659"/>
            <a:chOff x="247622" y="3493201"/>
            <a:chExt cx="4374406" cy="1206659"/>
          </a:xfrm>
        </p:grpSpPr>
        <p:pic>
          <p:nvPicPr>
            <p:cNvPr id="192" name="그림 191">
              <a:extLst>
                <a:ext uri="{FF2B5EF4-FFF2-40B4-BE49-F238E27FC236}">
                  <a16:creationId xmlns:a16="http://schemas.microsoft.com/office/drawing/2014/main" id="{9BEDE7A9-8249-AB6B-A133-0E2415FEF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3014" y="3539788"/>
              <a:ext cx="4259014" cy="1025657"/>
            </a:xfrm>
            <a:prstGeom prst="rect">
              <a:avLst/>
            </a:prstGeom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0A5A33EC-0878-3E93-051F-46114773D499}"/>
                </a:ext>
              </a:extLst>
            </p:cNvPr>
            <p:cNvSpPr txBox="1"/>
            <p:nvPr/>
          </p:nvSpPr>
          <p:spPr>
            <a:xfrm>
              <a:off x="501071" y="3548284"/>
              <a:ext cx="103586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체결 불량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OK/NG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7835F046-4590-6AA7-F77A-38FA47C1FE7F}"/>
                </a:ext>
              </a:extLst>
            </p:cNvPr>
            <p:cNvSpPr txBox="1"/>
            <p:nvPr/>
          </p:nvSpPr>
          <p:spPr>
            <a:xfrm>
              <a:off x="247622" y="3521776"/>
              <a:ext cx="34176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NG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8E8E8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308EED39-9DDB-625E-743E-D388E531E374}"/>
                </a:ext>
              </a:extLst>
            </p:cNvPr>
            <p:cNvSpPr txBox="1"/>
            <p:nvPr/>
          </p:nvSpPr>
          <p:spPr>
            <a:xfrm>
              <a:off x="263627" y="4264403"/>
              <a:ext cx="3369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OK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8E8E8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21FADF4-6035-118E-722B-89D16C6B9A5D}"/>
                </a:ext>
              </a:extLst>
            </p:cNvPr>
            <p:cNvSpPr txBox="1"/>
            <p:nvPr/>
          </p:nvSpPr>
          <p:spPr>
            <a:xfrm>
              <a:off x="2330457" y="4484416"/>
              <a:ext cx="34496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time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97" name="타원 196">
              <a:extLst>
                <a:ext uri="{FF2B5EF4-FFF2-40B4-BE49-F238E27FC236}">
                  <a16:creationId xmlns:a16="http://schemas.microsoft.com/office/drawing/2014/main" id="{77B4A0B0-74CE-EFF8-D0F1-BCB22C51CAFA}"/>
                </a:ext>
              </a:extLst>
            </p:cNvPr>
            <p:cNvSpPr/>
            <p:nvPr/>
          </p:nvSpPr>
          <p:spPr>
            <a:xfrm>
              <a:off x="2808268" y="3493201"/>
              <a:ext cx="458319" cy="237426"/>
            </a:xfrm>
            <a:prstGeom prst="ellipse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8E22CD15-8EB4-53EF-0B66-9298A4D39A76}"/>
                </a:ext>
              </a:extLst>
            </p:cNvPr>
            <p:cNvSpPr txBox="1"/>
            <p:nvPr/>
          </p:nvSpPr>
          <p:spPr>
            <a:xfrm>
              <a:off x="3208002" y="3590554"/>
              <a:ext cx="70724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체결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불량 발생</a:t>
              </a:r>
            </a:p>
          </p:txBody>
        </p:sp>
      </p:grpSp>
      <p:sp>
        <p:nvSpPr>
          <p:cNvPr id="199" name="TextBox 198">
            <a:extLst>
              <a:ext uri="{FF2B5EF4-FFF2-40B4-BE49-F238E27FC236}">
                <a16:creationId xmlns:a16="http://schemas.microsoft.com/office/drawing/2014/main" id="{72D0B794-7FDC-C6CE-8398-03BCFEB7831A}"/>
              </a:ext>
            </a:extLst>
          </p:cNvPr>
          <p:cNvSpPr txBox="1"/>
          <p:nvPr/>
        </p:nvSpPr>
        <p:spPr>
          <a:xfrm>
            <a:off x="329689" y="4620179"/>
            <a:ext cx="14446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buFont typeface="Arial" panose="020B0604020202020204" pitchFamily="34" charset="0"/>
              <a:buChar char="•"/>
            </a:pP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위치 보정량 트렌드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(Y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축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endParaRPr lang="ko-KR" altLang="en-US" sz="9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9B48FE6F-1FAB-CF2F-F2FE-2521D3A42028}"/>
              </a:ext>
            </a:extLst>
          </p:cNvPr>
          <p:cNvSpPr txBox="1"/>
          <p:nvPr/>
        </p:nvSpPr>
        <p:spPr>
          <a:xfrm>
            <a:off x="5108998" y="1187787"/>
            <a:ext cx="10166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</a:t>
            </a:r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FDC </a:t>
            </a:r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모델링</a:t>
            </a:r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FA93CE8C-F309-9C2A-C452-B8E1018E42EC}"/>
              </a:ext>
            </a:extLst>
          </p:cNvPr>
          <p:cNvCxnSpPr>
            <a:cxnSpLocks/>
          </p:cNvCxnSpPr>
          <p:nvPr/>
        </p:nvCxnSpPr>
        <p:spPr>
          <a:xfrm>
            <a:off x="4990874" y="1187787"/>
            <a:ext cx="0" cy="5379557"/>
          </a:xfrm>
          <a:prstGeom prst="line">
            <a:avLst/>
          </a:prstGeom>
          <a:noFill/>
          <a:ln w="12700" cap="flat" cmpd="sng" algn="ctr">
            <a:solidFill>
              <a:srgbClr val="E8E8E8"/>
            </a:solidFill>
            <a:prstDash val="solid"/>
            <a:miter lim="800000"/>
          </a:ln>
          <a:effectLst/>
        </p:spPr>
      </p:cxnSp>
      <p:pic>
        <p:nvPicPr>
          <p:cNvPr id="202" name="그림 201">
            <a:extLst>
              <a:ext uri="{FF2B5EF4-FFF2-40B4-BE49-F238E27FC236}">
                <a16:creationId xmlns:a16="http://schemas.microsoft.com/office/drawing/2014/main" id="{704F7C00-74B7-6EA5-178B-FB8488795B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625"/>
          <a:stretch/>
        </p:blipFill>
        <p:spPr>
          <a:xfrm>
            <a:off x="7520337" y="3951517"/>
            <a:ext cx="2392803" cy="1055456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3C37BD67-CB63-2638-E113-F6B4A2608DAC}"/>
              </a:ext>
            </a:extLst>
          </p:cNvPr>
          <p:cNvSpPr txBox="1"/>
          <p:nvPr/>
        </p:nvSpPr>
        <p:spPr>
          <a:xfrm>
            <a:off x="5066852" y="3757409"/>
            <a:ext cx="23038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srgbClr val="0000FF"/>
                </a:solidFill>
                <a:latin typeface="Arial Narrow"/>
                <a:ea typeface="LG스마트체 Regular"/>
              </a:rPr>
              <a:t>1) </a:t>
            </a:r>
            <a:r>
              <a:rPr lang="ko-KR" altLang="en-US" sz="800" dirty="0">
                <a:solidFill>
                  <a:srgbClr val="0000FF"/>
                </a:solidFill>
                <a:latin typeface="Arial Narrow"/>
                <a:ea typeface="LG스마트체 Regular"/>
              </a:rPr>
              <a:t>각 체결 위치별 </a:t>
            </a:r>
            <a:r>
              <a:rPr lang="en-US" altLang="ko-KR" sz="800" dirty="0">
                <a:solidFill>
                  <a:srgbClr val="0000FF"/>
                </a:solidFill>
                <a:latin typeface="Arial Narrow"/>
                <a:ea typeface="LG스마트체 Regular"/>
              </a:rPr>
              <a:t>10</a:t>
            </a:r>
            <a:r>
              <a:rPr lang="ko-KR" altLang="en-US" sz="800" dirty="0">
                <a:solidFill>
                  <a:srgbClr val="0000FF"/>
                </a:solidFill>
                <a:latin typeface="Arial Narrow"/>
                <a:ea typeface="LG스마트체 Regular"/>
              </a:rPr>
              <a:t>분 평균 및 </a:t>
            </a:r>
            <a:r>
              <a:rPr lang="en-US" altLang="ko-KR" sz="800" dirty="0">
                <a:solidFill>
                  <a:srgbClr val="0000FF"/>
                </a:solidFill>
                <a:latin typeface="Arial Narrow"/>
                <a:ea typeface="LG스마트체 Regular"/>
              </a:rPr>
              <a:t>1</a:t>
            </a:r>
            <a:r>
              <a:rPr lang="ko-KR" altLang="en-US" sz="800" dirty="0">
                <a:solidFill>
                  <a:srgbClr val="0000FF"/>
                </a:solidFill>
                <a:latin typeface="Arial Narrow"/>
                <a:ea typeface="LG스마트체 Regular"/>
              </a:rPr>
              <a:t>시간 이동 평균 계산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60A9B5C1-3502-C52E-DAC7-FA6301292C90}"/>
              </a:ext>
            </a:extLst>
          </p:cNvPr>
          <p:cNvSpPr txBox="1"/>
          <p:nvPr/>
        </p:nvSpPr>
        <p:spPr>
          <a:xfrm>
            <a:off x="5064827" y="1441434"/>
            <a:ext cx="5281713" cy="989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Front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체결 위치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(1,3,5,7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번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와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Rear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체결 위치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(2,4,6,8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번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의 위치 보정량 헌팅을 감지하고자 함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이동 평균 대비 현재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평균이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헌팅 정도를 모델링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>
              <a:lnSpc>
                <a:spcPct val="15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    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→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1,3,5,7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번 모두 헌팅 판단되면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Front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부 이상 알람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>
              <a:lnSpc>
                <a:spcPct val="15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    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→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2,4,6,8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번 모두 헌팅 판단되면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Rear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부 이상 알람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55B5DA0-7D4B-9693-2114-B7BCA4051DCD}"/>
              </a:ext>
            </a:extLst>
          </p:cNvPr>
          <p:cNvSpPr txBox="1"/>
          <p:nvPr/>
        </p:nvSpPr>
        <p:spPr>
          <a:xfrm>
            <a:off x="6947742" y="2453634"/>
            <a:ext cx="10342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[ BFA </a:t>
            </a: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체결 위치 </a:t>
            </a:r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  <a:endParaRPr lang="ko-KR" altLang="en-US" sz="10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206" name="화살표: 오른쪽 205">
            <a:extLst>
              <a:ext uri="{FF2B5EF4-FFF2-40B4-BE49-F238E27FC236}">
                <a16:creationId xmlns:a16="http://schemas.microsoft.com/office/drawing/2014/main" id="{90D701F8-7B44-D373-03F4-952105BCBDB9}"/>
              </a:ext>
            </a:extLst>
          </p:cNvPr>
          <p:cNvSpPr/>
          <p:nvPr/>
        </p:nvSpPr>
        <p:spPr>
          <a:xfrm>
            <a:off x="7363514" y="4366880"/>
            <a:ext cx="192706" cy="179681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pic>
        <p:nvPicPr>
          <p:cNvPr id="207" name="그림 206">
            <a:extLst>
              <a:ext uri="{FF2B5EF4-FFF2-40B4-BE49-F238E27FC236}">
                <a16:creationId xmlns:a16="http://schemas.microsoft.com/office/drawing/2014/main" id="{0DC90396-C39F-C361-AADC-8ACE5E4C25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061" y="3960471"/>
            <a:ext cx="2259312" cy="1018085"/>
          </a:xfrm>
          <a:prstGeom prst="rect">
            <a:avLst/>
          </a:prstGeom>
        </p:spPr>
      </p:pic>
      <p:sp>
        <p:nvSpPr>
          <p:cNvPr id="208" name="TextBox 207">
            <a:extLst>
              <a:ext uri="{FF2B5EF4-FFF2-40B4-BE49-F238E27FC236}">
                <a16:creationId xmlns:a16="http://schemas.microsoft.com/office/drawing/2014/main" id="{0A231C05-350A-E1CE-EE22-37E31072C780}"/>
              </a:ext>
            </a:extLst>
          </p:cNvPr>
          <p:cNvSpPr txBox="1"/>
          <p:nvPr/>
        </p:nvSpPr>
        <p:spPr>
          <a:xfrm>
            <a:off x="7564636" y="3749789"/>
            <a:ext cx="1925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srgbClr val="0000FF"/>
                </a:solidFill>
                <a:latin typeface="Arial Narrow"/>
                <a:ea typeface="LG스마트체 Regular"/>
              </a:rPr>
              <a:t>2) 10</a:t>
            </a:r>
            <a:r>
              <a:rPr lang="ko-KR" altLang="en-US" sz="800" dirty="0">
                <a:solidFill>
                  <a:srgbClr val="0000FF"/>
                </a:solidFill>
                <a:latin typeface="Arial Narrow"/>
                <a:ea typeface="LG스마트체 Regular"/>
              </a:rPr>
              <a:t>분 평균과 </a:t>
            </a:r>
            <a:r>
              <a:rPr lang="en-US" altLang="ko-KR" sz="800" dirty="0">
                <a:solidFill>
                  <a:srgbClr val="0000FF"/>
                </a:solidFill>
                <a:latin typeface="Arial Narrow"/>
                <a:ea typeface="LG스마트체 Regular"/>
              </a:rPr>
              <a:t>1</a:t>
            </a:r>
            <a:r>
              <a:rPr lang="ko-KR" altLang="en-US" sz="800" dirty="0">
                <a:solidFill>
                  <a:srgbClr val="0000FF"/>
                </a:solidFill>
                <a:latin typeface="Arial Narrow"/>
                <a:ea typeface="LG스마트체 Regular"/>
              </a:rPr>
              <a:t>시간 이동 평균 차이 계산</a:t>
            </a:r>
          </a:p>
        </p:txBody>
      </p:sp>
      <p:pic>
        <p:nvPicPr>
          <p:cNvPr id="209" name="그림 208">
            <a:extLst>
              <a:ext uri="{FF2B5EF4-FFF2-40B4-BE49-F238E27FC236}">
                <a16:creationId xmlns:a16="http://schemas.microsoft.com/office/drawing/2014/main" id="{5C5C6318-0F73-42D8-A049-A8B3C58DCB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5254" y="5328257"/>
            <a:ext cx="2303820" cy="1034846"/>
          </a:xfrm>
          <a:prstGeom prst="rect">
            <a:avLst/>
          </a:prstGeom>
        </p:spPr>
      </p:pic>
      <p:sp>
        <p:nvSpPr>
          <p:cNvPr id="210" name="화살표: 오른쪽 209">
            <a:extLst>
              <a:ext uri="{FF2B5EF4-FFF2-40B4-BE49-F238E27FC236}">
                <a16:creationId xmlns:a16="http://schemas.microsoft.com/office/drawing/2014/main" id="{8A99A273-8CF5-2918-959A-3FD5D897BF2C}"/>
              </a:ext>
            </a:extLst>
          </p:cNvPr>
          <p:cNvSpPr/>
          <p:nvPr/>
        </p:nvSpPr>
        <p:spPr>
          <a:xfrm>
            <a:off x="5081145" y="5681477"/>
            <a:ext cx="192706" cy="179681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4C57F4E8-762F-DC16-985E-401AA6E25FA3}"/>
              </a:ext>
            </a:extLst>
          </p:cNvPr>
          <p:cNvSpPr txBox="1"/>
          <p:nvPr/>
        </p:nvSpPr>
        <p:spPr>
          <a:xfrm>
            <a:off x="5319821" y="5122727"/>
            <a:ext cx="16494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srgbClr val="0000FF"/>
                </a:solidFill>
                <a:latin typeface="Arial Narrow"/>
                <a:ea typeface="LG스마트체 Regular"/>
              </a:rPr>
              <a:t>3) </a:t>
            </a:r>
            <a:r>
              <a:rPr lang="ko-KR" altLang="en-US" sz="800" dirty="0">
                <a:solidFill>
                  <a:srgbClr val="0000FF"/>
                </a:solidFill>
                <a:latin typeface="Arial Narrow"/>
                <a:ea typeface="LG스마트체 Regular"/>
              </a:rPr>
              <a:t>차이값이 </a:t>
            </a:r>
            <a:r>
              <a:rPr lang="en-US" altLang="ko-KR" sz="800" dirty="0">
                <a:solidFill>
                  <a:srgbClr val="0000FF"/>
                </a:solidFill>
                <a:latin typeface="Arial Narrow"/>
                <a:ea typeface="LG스마트체 Regular"/>
              </a:rPr>
              <a:t>0.5</a:t>
            </a:r>
            <a:r>
              <a:rPr lang="ko-KR" altLang="en-US" sz="800" dirty="0">
                <a:solidFill>
                  <a:srgbClr val="0000FF"/>
                </a:solidFill>
                <a:latin typeface="Arial Narrow"/>
                <a:ea typeface="LG스마트체 Regular"/>
              </a:rPr>
              <a:t>보다 크면 </a:t>
            </a:r>
            <a:r>
              <a:rPr lang="en-US" altLang="ko-KR" sz="800" dirty="0">
                <a:solidFill>
                  <a:srgbClr val="0000FF"/>
                </a:solidFill>
                <a:latin typeface="Arial Narrow"/>
                <a:ea typeface="LG스마트체 Regular"/>
              </a:rPr>
              <a:t>1</a:t>
            </a:r>
            <a:r>
              <a:rPr lang="ko-KR" altLang="en-US" sz="800" dirty="0">
                <a:solidFill>
                  <a:srgbClr val="0000FF"/>
                </a:solidFill>
                <a:latin typeface="Arial Narrow"/>
                <a:ea typeface="LG스마트체 Regular"/>
              </a:rPr>
              <a:t>로 카운트</a:t>
            </a:r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9684D7B6-083B-8694-D455-BB72BCD781E5}"/>
              </a:ext>
            </a:extLst>
          </p:cNvPr>
          <p:cNvSpPr/>
          <p:nvPr/>
        </p:nvSpPr>
        <p:spPr>
          <a:xfrm>
            <a:off x="7630456" y="5727212"/>
            <a:ext cx="192706" cy="179681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A32B4632-9765-EC22-1C95-0DB3EDE02FAA}"/>
              </a:ext>
            </a:extLst>
          </p:cNvPr>
          <p:cNvSpPr txBox="1"/>
          <p:nvPr/>
        </p:nvSpPr>
        <p:spPr>
          <a:xfrm>
            <a:off x="8055758" y="6390293"/>
            <a:ext cx="16450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dirty="0">
                <a:solidFill>
                  <a:srgbClr val="006600"/>
                </a:solidFill>
                <a:latin typeface="Arial Narrow"/>
                <a:ea typeface="LG스마트체 Regular"/>
              </a:rPr>
              <a:t>*Alarm Rule : 1 out of 1 Critical</a:t>
            </a:r>
            <a:endParaRPr lang="ko-KR" altLang="en-US" sz="1000" dirty="0">
              <a:solidFill>
                <a:srgbClr val="006600"/>
              </a:solidFill>
              <a:latin typeface="Arial Narrow"/>
              <a:ea typeface="LG스마트체 Regular"/>
            </a:endParaRPr>
          </a:p>
        </p:txBody>
      </p:sp>
      <p:graphicFrame>
        <p:nvGraphicFramePr>
          <p:cNvPr id="214" name="표 213">
            <a:extLst>
              <a:ext uri="{FF2B5EF4-FFF2-40B4-BE49-F238E27FC236}">
                <a16:creationId xmlns:a16="http://schemas.microsoft.com/office/drawing/2014/main" id="{736F3871-FF39-6DD8-C7E1-4E13F677E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877776"/>
              </p:ext>
            </p:extLst>
          </p:nvPr>
        </p:nvGraphicFramePr>
        <p:xfrm>
          <a:off x="7900593" y="5351116"/>
          <a:ext cx="1955332" cy="1034847"/>
        </p:xfrm>
        <a:graphic>
          <a:graphicData uri="http://schemas.openxmlformats.org/drawingml/2006/table">
            <a:tbl>
              <a:tblPr firstRow="1" bandRow="1"/>
              <a:tblGrid>
                <a:gridCol w="374699">
                  <a:extLst>
                    <a:ext uri="{9D8B030D-6E8A-4147-A177-3AD203B41FA5}">
                      <a16:colId xmlns:a16="http://schemas.microsoft.com/office/drawing/2014/main" val="2588617186"/>
                    </a:ext>
                  </a:extLst>
                </a:gridCol>
                <a:gridCol w="695203">
                  <a:extLst>
                    <a:ext uri="{9D8B030D-6E8A-4147-A177-3AD203B41FA5}">
                      <a16:colId xmlns:a16="http://schemas.microsoft.com/office/drawing/2014/main" val="1081179678"/>
                    </a:ext>
                  </a:extLst>
                </a:gridCol>
                <a:gridCol w="442715">
                  <a:extLst>
                    <a:ext uri="{9D8B030D-6E8A-4147-A177-3AD203B41FA5}">
                      <a16:colId xmlns:a16="http://schemas.microsoft.com/office/drawing/2014/main" val="3527694851"/>
                    </a:ext>
                  </a:extLst>
                </a:gridCol>
                <a:gridCol w="442715">
                  <a:extLst>
                    <a:ext uri="{9D8B030D-6E8A-4147-A177-3AD203B41FA5}">
                      <a16:colId xmlns:a16="http://schemas.microsoft.com/office/drawing/2014/main" val="3942368407"/>
                    </a:ext>
                  </a:extLst>
                </a:gridCol>
              </a:tblGrid>
              <a:tr h="11498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 dirty="0"/>
                        <a:t>모델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 dirty="0"/>
                        <a:t>구분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b="1" dirty="0"/>
                        <a:t>Judge</a:t>
                      </a:r>
                      <a:endParaRPr lang="ko-KR" altLang="en-US" sz="700" b="1" dirty="0"/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b="1" dirty="0"/>
                        <a:t>Sum</a:t>
                      </a:r>
                      <a:endParaRPr lang="ko-KR" altLang="en-US" sz="700" b="1" dirty="0"/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347946"/>
                  </a:ext>
                </a:extLst>
              </a:tr>
              <a:tr h="114983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Front</a:t>
                      </a:r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dirty="0"/>
                        <a:t>체결</a:t>
                      </a:r>
                      <a:r>
                        <a:rPr lang="en-US" altLang="ko-KR" sz="700" dirty="0"/>
                        <a:t> </a:t>
                      </a:r>
                      <a:r>
                        <a:rPr lang="ko-KR" altLang="en-US" sz="700" dirty="0"/>
                        <a:t>위치 </a:t>
                      </a:r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4</a:t>
                      </a:r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702884"/>
                  </a:ext>
                </a:extLst>
              </a:tr>
              <a:tr h="11498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체결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위치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116224"/>
                  </a:ext>
                </a:extLst>
              </a:tr>
              <a:tr h="11498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체결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위치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5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766130"/>
                  </a:ext>
                </a:extLst>
              </a:tr>
              <a:tr h="11498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체결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위치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7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052583"/>
                  </a:ext>
                </a:extLst>
              </a:tr>
              <a:tr h="114983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Rear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체결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위치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2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488855"/>
                  </a:ext>
                </a:extLst>
              </a:tr>
              <a:tr h="11498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체결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위치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377790"/>
                  </a:ext>
                </a:extLst>
              </a:tr>
              <a:tr h="11498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체결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위치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6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691846"/>
                  </a:ext>
                </a:extLst>
              </a:tr>
              <a:tr h="11498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체결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위치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8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238721"/>
                  </a:ext>
                </a:extLst>
              </a:tr>
            </a:tbl>
          </a:graphicData>
        </a:graphic>
      </p:graphicFrame>
      <p:sp>
        <p:nvSpPr>
          <p:cNvPr id="215" name="폭발: 8pt 214">
            <a:extLst>
              <a:ext uri="{FF2B5EF4-FFF2-40B4-BE49-F238E27FC236}">
                <a16:creationId xmlns:a16="http://schemas.microsoft.com/office/drawing/2014/main" id="{D4F61AB4-E477-5E32-C774-31E3C79ED2D3}"/>
              </a:ext>
            </a:extLst>
          </p:cNvPr>
          <p:cNvSpPr/>
          <p:nvPr/>
        </p:nvSpPr>
        <p:spPr>
          <a:xfrm>
            <a:off x="6573960" y="5323474"/>
            <a:ext cx="116966" cy="135932"/>
          </a:xfrm>
          <a:prstGeom prst="irregularSeal1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5CA911FB-A67F-5C49-50CF-01AD5CB541D9}"/>
              </a:ext>
            </a:extLst>
          </p:cNvPr>
          <p:cNvSpPr txBox="1"/>
          <p:nvPr/>
        </p:nvSpPr>
        <p:spPr>
          <a:xfrm>
            <a:off x="9624278" y="404381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srgbClr val="FF0000"/>
                </a:solidFill>
                <a:latin typeface="Arial Narrow"/>
                <a:ea typeface="LG스마트체 Regular"/>
              </a:rPr>
              <a:t>0.5</a:t>
            </a:r>
            <a:endParaRPr lang="ko-KR" altLang="en-US" sz="700" dirty="0">
              <a:solidFill>
                <a:srgbClr val="FF0000"/>
              </a:solidFill>
              <a:latin typeface="Arial Narrow"/>
              <a:ea typeface="LG스마트체 Regular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B6B48019-0245-7C24-703D-CBF778BA5C30}"/>
              </a:ext>
            </a:extLst>
          </p:cNvPr>
          <p:cNvSpPr txBox="1"/>
          <p:nvPr/>
        </p:nvSpPr>
        <p:spPr>
          <a:xfrm>
            <a:off x="6093542" y="4922011"/>
            <a:ext cx="3241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latin typeface="Arial Narrow"/>
                <a:ea typeface="LG스마트체 Regular"/>
              </a:rPr>
              <a:t>time</a:t>
            </a:r>
            <a:endParaRPr lang="ko-KR" altLang="en-US" sz="7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B256294-19AC-1B06-E053-226C2F3DF14A}"/>
              </a:ext>
            </a:extLst>
          </p:cNvPr>
          <p:cNvSpPr txBox="1"/>
          <p:nvPr/>
        </p:nvSpPr>
        <p:spPr>
          <a:xfrm>
            <a:off x="8680803" y="4944668"/>
            <a:ext cx="3241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latin typeface="Arial Narrow"/>
                <a:ea typeface="LG스마트체 Regular"/>
              </a:rPr>
              <a:t>time</a:t>
            </a:r>
            <a:endParaRPr lang="ko-KR" altLang="en-US" sz="7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73A88693-B8BC-3253-3D9F-ED9DBFBE4C18}"/>
              </a:ext>
            </a:extLst>
          </p:cNvPr>
          <p:cNvSpPr txBox="1"/>
          <p:nvPr/>
        </p:nvSpPr>
        <p:spPr>
          <a:xfrm>
            <a:off x="6340707" y="6312325"/>
            <a:ext cx="3241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latin typeface="Arial Narrow"/>
                <a:ea typeface="LG스마트체 Regular"/>
              </a:rPr>
              <a:t>time</a:t>
            </a:r>
            <a:endParaRPr lang="ko-KR" altLang="en-US" sz="7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46CC11E-8714-DB6B-FDA0-F59A02958342}"/>
              </a:ext>
            </a:extLst>
          </p:cNvPr>
          <p:cNvSpPr txBox="1"/>
          <p:nvPr/>
        </p:nvSpPr>
        <p:spPr>
          <a:xfrm>
            <a:off x="6664835" y="3968763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600" dirty="0">
                <a:solidFill>
                  <a:srgbClr val="2077B3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● 평균 </a:t>
            </a:r>
            <a:r>
              <a:rPr lang="en-US" altLang="ko-KR" sz="600" dirty="0">
                <a:solidFill>
                  <a:srgbClr val="2077B3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(10M)</a:t>
            </a:r>
          </a:p>
          <a:p>
            <a:pPr defTabSz="457200" latinLnBrk="0"/>
            <a:r>
              <a:rPr lang="ko-KR" altLang="en-US" sz="600" dirty="0">
                <a:solidFill>
                  <a:srgbClr val="99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ㅡ 이동평균 </a:t>
            </a:r>
            <a:r>
              <a:rPr lang="en-US" altLang="ko-KR" sz="600" dirty="0">
                <a:solidFill>
                  <a:srgbClr val="99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(1H)</a:t>
            </a:r>
          </a:p>
        </p:txBody>
      </p:sp>
      <p:sp>
        <p:nvSpPr>
          <p:cNvPr id="3" name="실행 단추: 홈으로 이동 2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5BC43EB6-01DA-2DC6-5B4D-86EA44BF52C3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58724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체결기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피더기 이상 감지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5892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공정에서 체결기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피더기 설비 알람 발생 시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원인 추적이 어렵고 발생 빈도 높아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체결기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볼트 흡착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)/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피더기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실린더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)/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볼트 공급 호스</a:t>
            </a:r>
            <a:b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 감지를 적용하여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사전 이상 징후 감지 및 발생 원인 제시하고자 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A9C1773-46EB-799C-82C1-736EADDDDE29}"/>
              </a:ext>
            </a:extLst>
          </p:cNvPr>
          <p:cNvSpPr txBox="1"/>
          <p:nvPr/>
        </p:nvSpPr>
        <p:spPr>
          <a:xfrm>
            <a:off x="233548" y="4008244"/>
            <a:ext cx="2287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체결기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피더기 설비 알람 분석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(4/1~5/3)</a:t>
            </a:r>
            <a:endParaRPr lang="ko-KR" altLang="en-US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graphicFrame>
        <p:nvGraphicFramePr>
          <p:cNvPr id="118" name="표 117">
            <a:extLst>
              <a:ext uri="{FF2B5EF4-FFF2-40B4-BE49-F238E27FC236}">
                <a16:creationId xmlns:a16="http://schemas.microsoft.com/office/drawing/2014/main" id="{44B75585-581F-EB86-E9C8-2D46FC2C9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752681"/>
              </p:ext>
            </p:extLst>
          </p:nvPr>
        </p:nvGraphicFramePr>
        <p:xfrm>
          <a:off x="350845" y="4260657"/>
          <a:ext cx="4268631" cy="2202211"/>
        </p:xfrm>
        <a:graphic>
          <a:graphicData uri="http://schemas.openxmlformats.org/drawingml/2006/table">
            <a:tbl>
              <a:tblPr firstRow="1" bandRow="1"/>
              <a:tblGrid>
                <a:gridCol w="578926">
                  <a:extLst>
                    <a:ext uri="{9D8B030D-6E8A-4147-A177-3AD203B41FA5}">
                      <a16:colId xmlns:a16="http://schemas.microsoft.com/office/drawing/2014/main" val="2985971744"/>
                    </a:ext>
                  </a:extLst>
                </a:gridCol>
                <a:gridCol w="1717155">
                  <a:extLst>
                    <a:ext uri="{9D8B030D-6E8A-4147-A177-3AD203B41FA5}">
                      <a16:colId xmlns:a16="http://schemas.microsoft.com/office/drawing/2014/main" val="186715743"/>
                    </a:ext>
                  </a:extLst>
                </a:gridCol>
                <a:gridCol w="986275">
                  <a:extLst>
                    <a:ext uri="{9D8B030D-6E8A-4147-A177-3AD203B41FA5}">
                      <a16:colId xmlns:a16="http://schemas.microsoft.com/office/drawing/2014/main" val="3597147291"/>
                    </a:ext>
                  </a:extLst>
                </a:gridCol>
                <a:gridCol w="986275">
                  <a:extLst>
                    <a:ext uri="{9D8B030D-6E8A-4147-A177-3AD203B41FA5}">
                      <a16:colId xmlns:a16="http://schemas.microsoft.com/office/drawing/2014/main" val="768322421"/>
                    </a:ext>
                  </a:extLst>
                </a:gridCol>
              </a:tblGrid>
              <a:tr h="20020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개수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총 시간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590822"/>
                  </a:ext>
                </a:extLst>
              </a:tr>
              <a:tr h="20020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Bolt </a:t>
                      </a:r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관련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174 </a:t>
                      </a:r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68 </a:t>
                      </a:r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717390"/>
                  </a:ext>
                </a:extLst>
              </a:tr>
              <a:tr h="200201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알람명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Bolt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Shot Delay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34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672057"/>
                  </a:ext>
                </a:extLst>
              </a:tr>
              <a:tr h="2002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Bolt Detect Error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56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31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666707"/>
                  </a:ext>
                </a:extLst>
              </a:tr>
              <a:tr h="2002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Y-Pipe / Gripper Error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19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 </a:t>
                      </a: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249412"/>
                  </a:ext>
                </a:extLst>
              </a:tr>
              <a:tr h="20020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Feeder (Cylinder) </a:t>
                      </a:r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관련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 </a:t>
                      </a:r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110 </a:t>
                      </a:r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464669"/>
                  </a:ext>
                </a:extLst>
              </a:tr>
              <a:tr h="200201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알람명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Feeder Sensor Detect Error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103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391475"/>
                  </a:ext>
                </a:extLst>
              </a:tr>
              <a:tr h="2002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Feeder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Error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55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571885"/>
                  </a:ext>
                </a:extLst>
              </a:tr>
              <a:tr h="2002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Cyliner Fwd/Bwd Error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44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887410"/>
                  </a:ext>
                </a:extLst>
              </a:tr>
              <a:tr h="20020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Shooting</a:t>
                      </a:r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관련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156 </a:t>
                      </a:r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83 </a:t>
                      </a:r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97676"/>
                  </a:ext>
                </a:extLst>
              </a:tr>
              <a:tr h="2002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알람명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Shooting Overtime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156 </a:t>
                      </a:r>
                      <a:r>
                        <a:rPr lang="ko-KR" altLang="en-US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83 </a:t>
                      </a:r>
                      <a:r>
                        <a:rPr lang="ko-KR" altLang="en-US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093001"/>
                  </a:ext>
                </a:extLst>
              </a:tr>
            </a:tbl>
          </a:graphicData>
        </a:graphic>
      </p:graphicFrame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99C22EC0-A411-FCDB-7286-8170FEC8A76C}"/>
              </a:ext>
            </a:extLst>
          </p:cNvPr>
          <p:cNvCxnSpPr>
            <a:cxnSpLocks/>
          </p:cNvCxnSpPr>
          <p:nvPr/>
        </p:nvCxnSpPr>
        <p:spPr>
          <a:xfrm>
            <a:off x="4848811" y="1194111"/>
            <a:ext cx="0" cy="5593432"/>
          </a:xfrm>
          <a:prstGeom prst="line">
            <a:avLst/>
          </a:prstGeom>
          <a:noFill/>
          <a:ln w="12700" cap="flat" cmpd="sng" algn="ctr">
            <a:solidFill>
              <a:srgbClr val="E8E8E8"/>
            </a:solidFill>
            <a:prstDash val="solid"/>
            <a:miter lim="800000"/>
          </a:ln>
          <a:effectLst/>
        </p:spPr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730564DF-06A4-0906-E231-71DA0843997B}"/>
              </a:ext>
            </a:extLst>
          </p:cNvPr>
          <p:cNvSpPr txBox="1"/>
          <p:nvPr/>
        </p:nvSpPr>
        <p:spPr>
          <a:xfrm>
            <a:off x="3144030" y="4054410"/>
            <a:ext cx="14798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srgbClr val="006600"/>
                </a:solidFill>
                <a:latin typeface="Arial Narrow"/>
                <a:ea typeface="LG스마트체 Regular"/>
              </a:rPr>
              <a:t>*</a:t>
            </a:r>
            <a:r>
              <a:rPr lang="ko-KR" altLang="en-US" sz="700" dirty="0">
                <a:solidFill>
                  <a:srgbClr val="006600"/>
                </a:solidFill>
                <a:latin typeface="Arial Narrow"/>
                <a:ea typeface="LG스마트체 Regular"/>
              </a:rPr>
              <a:t>설비 상태 </a:t>
            </a:r>
            <a:r>
              <a:rPr lang="en-US" altLang="ko-KR" sz="700" dirty="0">
                <a:solidFill>
                  <a:srgbClr val="006600"/>
                </a:solidFill>
                <a:latin typeface="Arial Narrow"/>
                <a:ea typeface="LG스마트체 Regular"/>
              </a:rPr>
              <a:t>: Trouble, Loss Name : BM.</a:t>
            </a:r>
            <a:endParaRPr lang="ko-KR" altLang="en-US" sz="700" dirty="0">
              <a:solidFill>
                <a:srgbClr val="006600"/>
              </a:solidFill>
              <a:latin typeface="Arial Narrow"/>
              <a:ea typeface="LG스마트체 Regular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CCFFFBB-FC58-B48E-21D1-7E07519EC409}"/>
              </a:ext>
            </a:extLst>
          </p:cNvPr>
          <p:cNvSpPr txBox="1"/>
          <p:nvPr/>
        </p:nvSpPr>
        <p:spPr>
          <a:xfrm>
            <a:off x="4927141" y="1456354"/>
            <a:ext cx="16674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체결기 진공 흡착 이상 감지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779033D-7431-21C1-6B82-F1AF5ED07990}"/>
              </a:ext>
            </a:extLst>
          </p:cNvPr>
          <p:cNvSpPr txBox="1"/>
          <p:nvPr/>
        </p:nvSpPr>
        <p:spPr>
          <a:xfrm>
            <a:off x="204839" y="1180888"/>
            <a:ext cx="628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배경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CE94042-3C8D-FA84-952D-98E607099D9E}"/>
              </a:ext>
            </a:extLst>
          </p:cNvPr>
          <p:cNvSpPr txBox="1"/>
          <p:nvPr/>
        </p:nvSpPr>
        <p:spPr>
          <a:xfrm>
            <a:off x="4967423" y="1180887"/>
            <a:ext cx="12378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이상 감지 방안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FE3C3C8-C6E7-8A15-0584-479E0FCEAF9F}"/>
              </a:ext>
            </a:extLst>
          </p:cNvPr>
          <p:cNvSpPr txBox="1"/>
          <p:nvPr/>
        </p:nvSpPr>
        <p:spPr>
          <a:xfrm>
            <a:off x="4927141" y="3311139"/>
            <a:ext cx="25074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피더기 </a:t>
            </a:r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Cyliner </a:t>
            </a: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전</a:t>
            </a:r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/</a:t>
            </a: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후진 동작시간비 이상 감지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8D6507F-E67A-7978-7A68-FAA4CA98D767}"/>
              </a:ext>
            </a:extLst>
          </p:cNvPr>
          <p:cNvSpPr txBox="1"/>
          <p:nvPr/>
        </p:nvSpPr>
        <p:spPr>
          <a:xfrm>
            <a:off x="4935237" y="6216650"/>
            <a:ext cx="15536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3. </a:t>
            </a: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볼트 슈팅 시간 이상 감지</a:t>
            </a:r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830A3CCF-A1BC-5CBC-ADEC-87C597B74722}"/>
              </a:ext>
            </a:extLst>
          </p:cNvPr>
          <p:cNvGrpSpPr/>
          <p:nvPr/>
        </p:nvGrpSpPr>
        <p:grpSpPr>
          <a:xfrm>
            <a:off x="5720068" y="3910421"/>
            <a:ext cx="3757710" cy="1087285"/>
            <a:chOff x="5176621" y="3716534"/>
            <a:chExt cx="3803599" cy="1087285"/>
          </a:xfrm>
        </p:grpSpPr>
        <p:pic>
          <p:nvPicPr>
            <p:cNvPr id="127" name="그림 126">
              <a:extLst>
                <a:ext uri="{FF2B5EF4-FFF2-40B4-BE49-F238E27FC236}">
                  <a16:creationId xmlns:a16="http://schemas.microsoft.com/office/drawing/2014/main" id="{5451AE40-4832-3C42-AEE3-E75B4EA9F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6385"/>
            <a:stretch/>
          </p:blipFill>
          <p:spPr>
            <a:xfrm>
              <a:off x="5244083" y="3716534"/>
              <a:ext cx="3594139" cy="972607"/>
            </a:xfrm>
            <a:prstGeom prst="rect">
              <a:avLst/>
            </a:prstGeom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A2BA6138-5DEB-ABBE-935B-027DAA892E0A}"/>
                </a:ext>
              </a:extLst>
            </p:cNvPr>
            <p:cNvSpPr txBox="1"/>
            <p:nvPr/>
          </p:nvSpPr>
          <p:spPr>
            <a:xfrm>
              <a:off x="5176621" y="3741640"/>
              <a:ext cx="51955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FWD_TIME</a:t>
              </a:r>
              <a:endParaRPr kumimoji="0" lang="ko-KR" altLang="en-US" sz="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AE3A68ED-72BD-F0FC-0276-2E26C5C3892D}"/>
                </a:ext>
              </a:extLst>
            </p:cNvPr>
            <p:cNvSpPr txBox="1"/>
            <p:nvPr/>
          </p:nvSpPr>
          <p:spPr>
            <a:xfrm>
              <a:off x="5176621" y="4170150"/>
              <a:ext cx="52604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BWD_TIME</a:t>
              </a:r>
              <a:endParaRPr kumimoji="0" lang="ko-KR" altLang="en-US" sz="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E6F1957-E02C-46F5-4918-2E7A3B0B0B90}"/>
                </a:ext>
              </a:extLst>
            </p:cNvPr>
            <p:cNvSpPr txBox="1"/>
            <p:nvPr/>
          </p:nvSpPr>
          <p:spPr>
            <a:xfrm>
              <a:off x="6955781" y="4640735"/>
              <a:ext cx="324249" cy="110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time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2248C58-7AC5-3D46-5F90-AA52BDE2A315}"/>
                </a:ext>
              </a:extLst>
            </p:cNvPr>
            <p:cNvSpPr txBox="1"/>
            <p:nvPr/>
          </p:nvSpPr>
          <p:spPr>
            <a:xfrm>
              <a:off x="5269483" y="4603764"/>
              <a:ext cx="50007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4/8 15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시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 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8E8E8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827C327-3AA6-85D2-1AEB-41446AF2FCA9}"/>
                </a:ext>
              </a:extLst>
            </p:cNvPr>
            <p:cNvSpPr txBox="1"/>
            <p:nvPr/>
          </p:nvSpPr>
          <p:spPr>
            <a:xfrm>
              <a:off x="8645643" y="4588185"/>
              <a:ext cx="33457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4/12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8E8E8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FB7B8C14-A836-0A2C-0BBF-E30E08C77796}"/>
                </a:ext>
              </a:extLst>
            </p:cNvPr>
            <p:cNvSpPr/>
            <p:nvPr/>
          </p:nvSpPr>
          <p:spPr>
            <a:xfrm>
              <a:off x="7114527" y="3878209"/>
              <a:ext cx="261586" cy="242456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2542BAC3-FB43-ABF6-CBD9-BEC9B127A7BD}"/>
              </a:ext>
            </a:extLst>
          </p:cNvPr>
          <p:cNvGrpSpPr/>
          <p:nvPr/>
        </p:nvGrpSpPr>
        <p:grpSpPr>
          <a:xfrm>
            <a:off x="4848811" y="5164135"/>
            <a:ext cx="4724033" cy="1046926"/>
            <a:chOff x="-584591" y="6542008"/>
            <a:chExt cx="4915146" cy="1892418"/>
          </a:xfrm>
        </p:grpSpPr>
        <p:pic>
          <p:nvPicPr>
            <p:cNvPr id="135" name="그림 134">
              <a:extLst>
                <a:ext uri="{FF2B5EF4-FFF2-40B4-BE49-F238E27FC236}">
                  <a16:creationId xmlns:a16="http://schemas.microsoft.com/office/drawing/2014/main" id="{51F58695-3C82-5C87-42E1-F2E927831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655"/>
            <a:stretch/>
          </p:blipFill>
          <p:spPr>
            <a:xfrm>
              <a:off x="-1534" y="6542008"/>
              <a:ext cx="4332089" cy="1857842"/>
            </a:xfrm>
            <a:prstGeom prst="rect">
              <a:avLst/>
            </a:prstGeom>
          </p:spPr>
        </p:pic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B7BEDE9D-1298-39F8-8AC4-44E497142106}"/>
                </a:ext>
              </a:extLst>
            </p:cNvPr>
            <p:cNvCxnSpPr>
              <a:cxnSpLocks/>
            </p:cNvCxnSpPr>
            <p:nvPr/>
          </p:nvCxnSpPr>
          <p:spPr>
            <a:xfrm>
              <a:off x="470945" y="7447400"/>
              <a:ext cx="3354737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AD891682-9BBB-E5BE-64CA-4E364023DAAA}"/>
                </a:ext>
              </a:extLst>
            </p:cNvPr>
            <p:cNvSpPr txBox="1"/>
            <p:nvPr/>
          </p:nvSpPr>
          <p:spPr>
            <a:xfrm>
              <a:off x="2045109" y="8178877"/>
              <a:ext cx="409182" cy="2555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E8E8E8"/>
                  </a:highlight>
                  <a:uLnTx/>
                  <a:uFillTx/>
                  <a:latin typeface="Arial Narrow"/>
                  <a:ea typeface="LG스마트체 Regular"/>
                </a:rPr>
                <a:t>time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8E8E8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2DD31AC6-CB5D-6DBA-E04C-0959CBF33E50}"/>
                    </a:ext>
                  </a:extLst>
                </p:cNvPr>
                <p:cNvSpPr txBox="1"/>
                <p:nvPr/>
              </p:nvSpPr>
              <p:spPr>
                <a:xfrm>
                  <a:off x="-584591" y="7144973"/>
                  <a:ext cx="693894" cy="5492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0" lang="en-US" altLang="ko-KR" sz="7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E8E8E8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ko-KR" sz="7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E8E8E8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𝐹𝑊𝐷</m:t>
                            </m:r>
                            <m:r>
                              <a:rPr kumimoji="0" lang="en-US" altLang="ko-KR" sz="7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E8E8E8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kumimoji="0" lang="en-US" altLang="ko-KR" sz="7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E8E8E8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𝑇𝐼𝑀𝐸</m:t>
                            </m:r>
                          </m:num>
                          <m:den>
                            <m:r>
                              <a:rPr kumimoji="0" lang="en-US" altLang="ko-KR" sz="7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E8E8E8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𝐵𝑊𝐷</m:t>
                            </m:r>
                            <m:r>
                              <a:rPr kumimoji="0" lang="en-US" altLang="ko-KR" sz="7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E8E8E8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kumimoji="0" lang="en-US" altLang="ko-KR" sz="7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E8E8E8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𝑇𝐼𝑀𝐸</m:t>
                            </m:r>
                          </m:den>
                        </m:f>
                      </m:oMath>
                    </m:oMathPara>
                  </a14:m>
                  <a:endPara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E8E8E8"/>
                    </a:highlight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D1A40DC-49A1-3E5E-A5EA-CE754A4FF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84591" y="7144973"/>
                  <a:ext cx="693894" cy="54926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0CBB952A-E43B-9768-2D12-FE0C578D8FD2}"/>
              </a:ext>
            </a:extLst>
          </p:cNvPr>
          <p:cNvCxnSpPr>
            <a:cxnSpLocks/>
          </p:cNvCxnSpPr>
          <p:nvPr/>
        </p:nvCxnSpPr>
        <p:spPr>
          <a:xfrm flipV="1">
            <a:off x="5258918" y="2239755"/>
            <a:ext cx="0" cy="953593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C8888D25-2AF8-1314-99EA-D68B48E6B121}"/>
              </a:ext>
            </a:extLst>
          </p:cNvPr>
          <p:cNvCxnSpPr>
            <a:cxnSpLocks/>
          </p:cNvCxnSpPr>
          <p:nvPr/>
        </p:nvCxnSpPr>
        <p:spPr>
          <a:xfrm>
            <a:off x="5258918" y="3193348"/>
            <a:ext cx="1404456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3C4B8ACE-892A-51AF-0627-63CB055EF1C6}"/>
              </a:ext>
            </a:extLst>
          </p:cNvPr>
          <p:cNvSpPr txBox="1"/>
          <p:nvPr/>
        </p:nvSpPr>
        <p:spPr>
          <a:xfrm>
            <a:off x="4958252" y="2168544"/>
            <a:ext cx="3289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black"/>
                </a:solidFill>
                <a:latin typeface="Arial Narrow"/>
                <a:ea typeface="LG스마트체 Regular"/>
              </a:rPr>
              <a:t>kPa</a:t>
            </a:r>
            <a:endParaRPr lang="ko-KR" altLang="en-US" sz="8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2E53C6F5-9403-4E68-06C6-86A7535D3588}"/>
              </a:ext>
            </a:extLst>
          </p:cNvPr>
          <p:cNvCxnSpPr>
            <a:cxnSpLocks/>
          </p:cNvCxnSpPr>
          <p:nvPr/>
        </p:nvCxnSpPr>
        <p:spPr>
          <a:xfrm>
            <a:off x="5258918" y="3159379"/>
            <a:ext cx="541703" cy="0"/>
          </a:xfrm>
          <a:prstGeom prst="line">
            <a:avLst/>
          </a:prstGeom>
          <a:noFill/>
          <a:ln w="9525" cap="flat" cmpd="sng" algn="ctr">
            <a:solidFill>
              <a:srgbClr val="0000FF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DCBE84B5-67D6-C5D8-7EE8-D89FB783B9BA}"/>
              </a:ext>
            </a:extLst>
          </p:cNvPr>
          <p:cNvCxnSpPr>
            <a:cxnSpLocks/>
          </p:cNvCxnSpPr>
          <p:nvPr/>
        </p:nvCxnSpPr>
        <p:spPr>
          <a:xfrm flipV="1">
            <a:off x="5800621" y="2995154"/>
            <a:ext cx="49953" cy="161160"/>
          </a:xfrm>
          <a:prstGeom prst="line">
            <a:avLst/>
          </a:prstGeom>
          <a:noFill/>
          <a:ln w="9525" cap="flat" cmpd="sng" algn="ctr">
            <a:solidFill>
              <a:srgbClr val="0000FF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95C420E0-4C2E-07F3-9FAD-F5AE0EC5B44A}"/>
              </a:ext>
            </a:extLst>
          </p:cNvPr>
          <p:cNvCxnSpPr>
            <a:cxnSpLocks/>
          </p:cNvCxnSpPr>
          <p:nvPr/>
        </p:nvCxnSpPr>
        <p:spPr>
          <a:xfrm>
            <a:off x="5841677" y="2985186"/>
            <a:ext cx="114706" cy="451"/>
          </a:xfrm>
          <a:prstGeom prst="line">
            <a:avLst/>
          </a:prstGeom>
          <a:noFill/>
          <a:ln w="9525" cap="flat" cmpd="sng" algn="ctr">
            <a:solidFill>
              <a:srgbClr val="0000FF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B502CAD9-C7C6-94D3-A089-78D39E2C9211}"/>
              </a:ext>
            </a:extLst>
          </p:cNvPr>
          <p:cNvCxnSpPr>
            <a:cxnSpLocks/>
          </p:cNvCxnSpPr>
          <p:nvPr/>
        </p:nvCxnSpPr>
        <p:spPr>
          <a:xfrm flipV="1">
            <a:off x="5961146" y="2486518"/>
            <a:ext cx="194403" cy="508185"/>
          </a:xfrm>
          <a:prstGeom prst="line">
            <a:avLst/>
          </a:prstGeom>
          <a:noFill/>
          <a:ln w="9525" cap="flat" cmpd="sng" algn="ctr">
            <a:solidFill>
              <a:srgbClr val="0000FF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CC40D44C-F801-6526-34E9-2D17C50FA70B}"/>
              </a:ext>
            </a:extLst>
          </p:cNvPr>
          <p:cNvCxnSpPr>
            <a:cxnSpLocks/>
          </p:cNvCxnSpPr>
          <p:nvPr/>
        </p:nvCxnSpPr>
        <p:spPr>
          <a:xfrm>
            <a:off x="6157180" y="2489263"/>
            <a:ext cx="462822" cy="0"/>
          </a:xfrm>
          <a:prstGeom prst="line">
            <a:avLst/>
          </a:prstGeom>
          <a:noFill/>
          <a:ln w="9525" cap="flat" cmpd="sng" algn="ctr">
            <a:solidFill>
              <a:srgbClr val="0000FF"/>
            </a:solidFill>
            <a:prstDash val="solid"/>
            <a:miter lim="800000"/>
            <a:headEnd type="none"/>
            <a:tailEnd type="none"/>
          </a:ln>
          <a:effectLst/>
        </p:spPr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8B8466B2-7E5E-00E0-ED06-9F355B07392D}"/>
              </a:ext>
            </a:extLst>
          </p:cNvPr>
          <p:cNvSpPr txBox="1"/>
          <p:nvPr/>
        </p:nvSpPr>
        <p:spPr>
          <a:xfrm>
            <a:off x="6437248" y="3151692"/>
            <a:ext cx="2087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black"/>
                </a:solidFill>
                <a:latin typeface="Arial Narrow"/>
                <a:ea typeface="LG스마트체 Regular"/>
              </a:rPr>
              <a:t>t</a:t>
            </a:r>
            <a:endParaRPr lang="ko-KR" altLang="en-US" sz="8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327AA38-0DF1-B2C4-6B72-FAD7862985A6}"/>
              </a:ext>
            </a:extLst>
          </p:cNvPr>
          <p:cNvSpPr txBox="1"/>
          <p:nvPr/>
        </p:nvSpPr>
        <p:spPr>
          <a:xfrm>
            <a:off x="5099839" y="3053619"/>
            <a:ext cx="2311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</a:rPr>
              <a:t>0</a:t>
            </a:r>
            <a:endParaRPr lang="ko-KR" altLang="en-US" sz="800" dirty="0">
              <a:solidFill>
                <a:prstClr val="white">
                  <a:lumMod val="50000"/>
                </a:prstClr>
              </a:solidFill>
              <a:latin typeface="Arial Narrow"/>
              <a:ea typeface="LG스마트체 Regular"/>
            </a:endParaRPr>
          </a:p>
        </p:txBody>
      </p: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D261F7-B715-61F8-D184-A4F40C7031FB}"/>
              </a:ext>
            </a:extLst>
          </p:cNvPr>
          <p:cNvCxnSpPr>
            <a:cxnSpLocks/>
          </p:cNvCxnSpPr>
          <p:nvPr/>
        </p:nvCxnSpPr>
        <p:spPr>
          <a:xfrm>
            <a:off x="5253623" y="2916166"/>
            <a:ext cx="1371758" cy="20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dash"/>
            <a:miter lim="800000"/>
            <a:headEnd type="none"/>
            <a:tailEnd type="none"/>
          </a:ln>
          <a:effectLst/>
        </p:spPr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BD9B4924-1985-DA4D-6405-5DBBB8F2E332}"/>
              </a:ext>
            </a:extLst>
          </p:cNvPr>
          <p:cNvCxnSpPr>
            <a:cxnSpLocks/>
          </p:cNvCxnSpPr>
          <p:nvPr/>
        </p:nvCxnSpPr>
        <p:spPr>
          <a:xfrm>
            <a:off x="5254886" y="2490609"/>
            <a:ext cx="1371758" cy="20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dash"/>
            <a:miter lim="800000"/>
            <a:headEnd type="none"/>
            <a:tailEnd type="none"/>
          </a:ln>
          <a:effectLst/>
        </p:spPr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C3FE8704-64D2-9E13-A90A-17A7A523230D}"/>
              </a:ext>
            </a:extLst>
          </p:cNvPr>
          <p:cNvSpPr txBox="1"/>
          <p:nvPr/>
        </p:nvSpPr>
        <p:spPr>
          <a:xfrm>
            <a:off x="5032982" y="2381281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</a:rPr>
              <a:t>-80</a:t>
            </a:r>
            <a:endParaRPr lang="ko-KR" altLang="en-US" sz="800" dirty="0">
              <a:solidFill>
                <a:prstClr val="white">
                  <a:lumMod val="50000"/>
                </a:prstClr>
              </a:solidFill>
              <a:latin typeface="Arial Narrow"/>
              <a:ea typeface="LG스마트체 Regular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6717809-C28A-AC4A-C872-288C33FAB855}"/>
              </a:ext>
            </a:extLst>
          </p:cNvPr>
          <p:cNvSpPr txBox="1"/>
          <p:nvPr/>
        </p:nvSpPr>
        <p:spPr>
          <a:xfrm>
            <a:off x="5029131" y="2797266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</a:rPr>
              <a:t>-30</a:t>
            </a:r>
            <a:endParaRPr lang="ko-KR" altLang="en-US" sz="800" dirty="0">
              <a:solidFill>
                <a:prstClr val="white">
                  <a:lumMod val="50000"/>
                </a:prstClr>
              </a:solidFill>
              <a:latin typeface="Arial Narrow"/>
              <a:ea typeface="LG스마트체 Regular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331ED85F-A14D-67F9-786C-4676F222FB06}"/>
              </a:ext>
            </a:extLst>
          </p:cNvPr>
          <p:cNvCxnSpPr/>
          <p:nvPr/>
        </p:nvCxnSpPr>
        <p:spPr>
          <a:xfrm>
            <a:off x="5797710" y="2245626"/>
            <a:ext cx="0" cy="94185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9FA521E1-0932-381F-9887-F80D6A3DCC80}"/>
              </a:ext>
            </a:extLst>
          </p:cNvPr>
          <p:cNvCxnSpPr/>
          <p:nvPr/>
        </p:nvCxnSpPr>
        <p:spPr>
          <a:xfrm>
            <a:off x="5997115" y="2245626"/>
            <a:ext cx="0" cy="94185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solid"/>
            <a:miter lim="800000"/>
            <a:headEnd type="none"/>
            <a:tailEnd type="none"/>
          </a:ln>
          <a:effectLst/>
        </p:spPr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CDC471F7-1C72-6B0D-2723-9D3DB9D1C917}"/>
              </a:ext>
            </a:extLst>
          </p:cNvPr>
          <p:cNvSpPr txBox="1"/>
          <p:nvPr/>
        </p:nvSpPr>
        <p:spPr>
          <a:xfrm>
            <a:off x="5585253" y="2984407"/>
            <a:ext cx="248083" cy="110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 latinLnBrk="0"/>
            <a:r>
              <a:rPr lang="en-US" altLang="ko-KR" sz="7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open</a:t>
            </a:r>
            <a:endParaRPr lang="ko-KR" altLang="en-US" sz="700" dirty="0">
              <a:solidFill>
                <a:prstClr val="black"/>
              </a:solidFill>
              <a:highlight>
                <a:srgbClr val="FFFF00"/>
              </a:highlight>
              <a:latin typeface="Arial Narrow"/>
              <a:ea typeface="LG스마트체 Regular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4E326C5-BB5D-497F-D0BC-4F8077CAACAD}"/>
              </a:ext>
            </a:extLst>
          </p:cNvPr>
          <p:cNvSpPr txBox="1"/>
          <p:nvPr/>
        </p:nvSpPr>
        <p:spPr>
          <a:xfrm>
            <a:off x="5922525" y="2739686"/>
            <a:ext cx="3994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 latinLnBrk="0"/>
            <a:r>
              <a:rPr lang="en-US" altLang="ko-KR" sz="7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closed</a:t>
            </a:r>
            <a:endParaRPr lang="ko-KR" altLang="en-US" sz="700" dirty="0">
              <a:solidFill>
                <a:prstClr val="black"/>
              </a:solidFill>
              <a:highlight>
                <a:srgbClr val="FFFF00"/>
              </a:highlight>
              <a:latin typeface="Arial Narrow"/>
              <a:ea typeface="LG스마트체 Regular"/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CBEC8D6C-5EFB-8EA3-E749-83E11726E63D}"/>
              </a:ext>
            </a:extLst>
          </p:cNvPr>
          <p:cNvCxnSpPr/>
          <p:nvPr/>
        </p:nvCxnSpPr>
        <p:spPr>
          <a:xfrm>
            <a:off x="5797710" y="2305011"/>
            <a:ext cx="199405" cy="0"/>
          </a:xfrm>
          <a:prstGeom prst="straightConnector1">
            <a:avLst/>
          </a:prstGeom>
          <a:noFill/>
          <a:ln w="19050" cap="flat" cmpd="sng" algn="ctr">
            <a:solidFill>
              <a:srgbClr val="FFC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C6F2809D-211E-9205-E6C7-7D39A5272D68}"/>
              </a:ext>
            </a:extLst>
          </p:cNvPr>
          <p:cNvSpPr txBox="1"/>
          <p:nvPr/>
        </p:nvSpPr>
        <p:spPr>
          <a:xfrm>
            <a:off x="5664785" y="2305787"/>
            <a:ext cx="47801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600" dirty="0">
                <a:solidFill>
                  <a:srgbClr val="E97132">
                    <a:lumMod val="50000"/>
                  </a:srgbClr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흡착 시간</a:t>
            </a: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F5DC9483-50D5-FDD4-B793-AEAD94BF2F0E}"/>
              </a:ext>
            </a:extLst>
          </p:cNvPr>
          <p:cNvGrpSpPr/>
          <p:nvPr/>
        </p:nvGrpSpPr>
        <p:grpSpPr>
          <a:xfrm>
            <a:off x="6558270" y="2159019"/>
            <a:ext cx="1705122" cy="1198592"/>
            <a:chOff x="5184044" y="1726800"/>
            <a:chExt cx="1705122" cy="1198592"/>
          </a:xfrm>
        </p:grpSpPr>
        <p:cxnSp>
          <p:nvCxnSpPr>
            <p:cNvPr id="160" name="직선 화살표 연결선 159">
              <a:extLst>
                <a:ext uri="{FF2B5EF4-FFF2-40B4-BE49-F238E27FC236}">
                  <a16:creationId xmlns:a16="http://schemas.microsoft.com/office/drawing/2014/main" id="{8AAEA57B-FEC6-0DD4-6D43-C5FC017FA5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4710" y="1798011"/>
              <a:ext cx="0" cy="953593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  <p:cxnSp>
          <p:nvCxnSpPr>
            <p:cNvPr id="161" name="직선 화살표 연결선 160">
              <a:extLst>
                <a:ext uri="{FF2B5EF4-FFF2-40B4-BE49-F238E27FC236}">
                  <a16:creationId xmlns:a16="http://schemas.microsoft.com/office/drawing/2014/main" id="{8D8C8E23-15AA-9CBA-0333-48B0430C90B6}"/>
                </a:ext>
              </a:extLst>
            </p:cNvPr>
            <p:cNvCxnSpPr>
              <a:cxnSpLocks/>
            </p:cNvCxnSpPr>
            <p:nvPr/>
          </p:nvCxnSpPr>
          <p:spPr>
            <a:xfrm>
              <a:off x="5484710" y="2751604"/>
              <a:ext cx="1404456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CAA81E1B-E637-38DE-0076-37042833D0DE}"/>
                </a:ext>
              </a:extLst>
            </p:cNvPr>
            <p:cNvSpPr txBox="1"/>
            <p:nvPr/>
          </p:nvSpPr>
          <p:spPr>
            <a:xfrm>
              <a:off x="5184044" y="1726800"/>
              <a:ext cx="3289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kPa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0E20AA5-11C2-7B34-78B4-705928B89AA2}"/>
                </a:ext>
              </a:extLst>
            </p:cNvPr>
            <p:cNvCxnSpPr>
              <a:cxnSpLocks/>
            </p:cNvCxnSpPr>
            <p:nvPr/>
          </p:nvCxnSpPr>
          <p:spPr>
            <a:xfrm>
              <a:off x="5484710" y="2717635"/>
              <a:ext cx="541703" cy="0"/>
            </a:xfrm>
            <a:prstGeom prst="line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52F4C2FA-E7C9-6C82-A3C9-1649FCB818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6413" y="2362200"/>
              <a:ext cx="85009" cy="352370"/>
            </a:xfrm>
            <a:prstGeom prst="line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33B6C431-AA66-E6DF-2897-742F49422DA2}"/>
                </a:ext>
              </a:extLst>
            </p:cNvPr>
            <p:cNvCxnSpPr>
              <a:cxnSpLocks/>
            </p:cNvCxnSpPr>
            <p:nvPr/>
          </p:nvCxnSpPr>
          <p:spPr>
            <a:xfrm>
              <a:off x="6107312" y="2368393"/>
              <a:ext cx="114706" cy="451"/>
            </a:xfrm>
            <a:prstGeom prst="line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7C62C7F6-5D03-4C86-36DC-EBD78CDA37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547" y="2051050"/>
              <a:ext cx="158750" cy="317500"/>
            </a:xfrm>
            <a:prstGeom prst="line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44CED4F-0E91-05C2-B208-E436818C7296}"/>
                </a:ext>
              </a:extLst>
            </p:cNvPr>
            <p:cNvCxnSpPr>
              <a:cxnSpLocks/>
            </p:cNvCxnSpPr>
            <p:nvPr/>
          </p:nvCxnSpPr>
          <p:spPr>
            <a:xfrm>
              <a:off x="6382972" y="2047519"/>
              <a:ext cx="462822" cy="0"/>
            </a:xfrm>
            <a:prstGeom prst="line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02CCE394-AADF-3274-823B-0CA1FE491785}"/>
                </a:ext>
              </a:extLst>
            </p:cNvPr>
            <p:cNvSpPr txBox="1"/>
            <p:nvPr/>
          </p:nvSpPr>
          <p:spPr>
            <a:xfrm>
              <a:off x="6663040" y="2709948"/>
              <a:ext cx="20871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t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A7C8915A-97E2-04A3-0A5B-AA8E833182AF}"/>
                </a:ext>
              </a:extLst>
            </p:cNvPr>
            <p:cNvSpPr txBox="1"/>
            <p:nvPr/>
          </p:nvSpPr>
          <p:spPr>
            <a:xfrm>
              <a:off x="5325631" y="2611875"/>
              <a:ext cx="2311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0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1C33AABB-E2F9-743E-9ED0-8383FD27B1D3}"/>
                </a:ext>
              </a:extLst>
            </p:cNvPr>
            <p:cNvCxnSpPr>
              <a:cxnSpLocks/>
            </p:cNvCxnSpPr>
            <p:nvPr/>
          </p:nvCxnSpPr>
          <p:spPr>
            <a:xfrm>
              <a:off x="5479415" y="2474422"/>
              <a:ext cx="1371758" cy="2088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dash"/>
              <a:miter lim="800000"/>
              <a:headEnd type="none"/>
              <a:tailEnd type="none"/>
            </a:ln>
            <a:effectLst/>
          </p:spPr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59CF5292-3384-3E6C-DCCE-491C5C560DE3}"/>
                </a:ext>
              </a:extLst>
            </p:cNvPr>
            <p:cNvCxnSpPr>
              <a:cxnSpLocks/>
            </p:cNvCxnSpPr>
            <p:nvPr/>
          </p:nvCxnSpPr>
          <p:spPr>
            <a:xfrm>
              <a:off x="5484118" y="2043837"/>
              <a:ext cx="1371758" cy="2088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dash"/>
              <a:miter lim="800000"/>
              <a:headEnd type="none"/>
              <a:tailEnd type="none"/>
            </a:ln>
            <a:effectLst/>
          </p:spPr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B898E98-C4E0-E910-0536-038EF3625BF8}"/>
                </a:ext>
              </a:extLst>
            </p:cNvPr>
            <p:cNvSpPr txBox="1"/>
            <p:nvPr/>
          </p:nvSpPr>
          <p:spPr>
            <a:xfrm>
              <a:off x="5258774" y="1939537"/>
              <a:ext cx="3048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-80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90AD98E9-E742-FC7F-68F0-53401CED6BD7}"/>
                </a:ext>
              </a:extLst>
            </p:cNvPr>
            <p:cNvSpPr txBox="1"/>
            <p:nvPr/>
          </p:nvSpPr>
          <p:spPr>
            <a:xfrm>
              <a:off x="5254923" y="2355522"/>
              <a:ext cx="3048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-30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A0739D1C-4061-9BDD-DB45-DD17A1F14060}"/>
                </a:ext>
              </a:extLst>
            </p:cNvPr>
            <p:cNvCxnSpPr/>
            <p:nvPr/>
          </p:nvCxnSpPr>
          <p:spPr>
            <a:xfrm>
              <a:off x="6023502" y="1803882"/>
              <a:ext cx="0" cy="941850"/>
            </a:xfrm>
            <a:prstGeom prst="line">
              <a:avLst/>
            </a:prstGeom>
            <a:noFill/>
            <a:ln w="9525" cap="flat" cmpd="sng" algn="ctr">
              <a:solidFill>
                <a:srgbClr val="FFC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0A271FBC-ACF8-4136-D79B-2F2C09B07B04}"/>
                </a:ext>
              </a:extLst>
            </p:cNvPr>
            <p:cNvCxnSpPr>
              <a:cxnSpLocks/>
            </p:cNvCxnSpPr>
            <p:nvPr/>
          </p:nvCxnSpPr>
          <p:spPr>
            <a:xfrm>
              <a:off x="6089556" y="1804988"/>
              <a:ext cx="0" cy="945505"/>
            </a:xfrm>
            <a:prstGeom prst="line">
              <a:avLst/>
            </a:prstGeom>
            <a:noFill/>
            <a:ln w="9525" cap="flat" cmpd="sng" algn="ctr">
              <a:solidFill>
                <a:srgbClr val="FFC000"/>
              </a:solidFill>
              <a:prstDash val="solid"/>
              <a:miter lim="800000"/>
              <a:headEnd type="none"/>
              <a:tailEnd type="none"/>
            </a:ln>
            <a:effectLst/>
          </p:spPr>
        </p:cxn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2D9B9E6B-3C2F-8C47-BFE3-CD2055905D77}"/>
                </a:ext>
              </a:extLst>
            </p:cNvPr>
            <p:cNvSpPr txBox="1"/>
            <p:nvPr/>
          </p:nvSpPr>
          <p:spPr>
            <a:xfrm>
              <a:off x="5811045" y="2542663"/>
              <a:ext cx="248083" cy="110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open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D3B8438F-1F0D-28E3-443C-F3CF5A2645DD}"/>
                </a:ext>
              </a:extLst>
            </p:cNvPr>
            <p:cNvSpPr txBox="1"/>
            <p:nvPr/>
          </p:nvSpPr>
          <p:spPr>
            <a:xfrm>
              <a:off x="6091794" y="2437455"/>
              <a:ext cx="282035" cy="110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closed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cxnSp>
          <p:nvCxnSpPr>
            <p:cNvPr id="178" name="직선 화살표 연결선 177">
              <a:extLst>
                <a:ext uri="{FF2B5EF4-FFF2-40B4-BE49-F238E27FC236}">
                  <a16:creationId xmlns:a16="http://schemas.microsoft.com/office/drawing/2014/main" id="{64AFF0D2-0C31-5DC9-8BC7-8E1900107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548" y="1864195"/>
              <a:ext cx="191356" cy="9526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8D21648B-D4F1-7A9A-1605-6D953B838EF1}"/>
                </a:ext>
              </a:extLst>
            </p:cNvPr>
            <p:cNvSpPr txBox="1"/>
            <p:nvPr/>
          </p:nvSpPr>
          <p:spPr>
            <a:xfrm>
              <a:off x="5901947" y="1887852"/>
              <a:ext cx="32252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감소</a:t>
              </a:r>
            </a:p>
          </p:txBody>
        </p:sp>
      </p:grp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DE559890-DF86-9BD7-396C-B103A445A280}"/>
              </a:ext>
            </a:extLst>
          </p:cNvPr>
          <p:cNvCxnSpPr>
            <a:cxnSpLocks/>
          </p:cNvCxnSpPr>
          <p:nvPr/>
        </p:nvCxnSpPr>
        <p:spPr>
          <a:xfrm flipV="1">
            <a:off x="8430369" y="2226175"/>
            <a:ext cx="0" cy="953593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F34C31F9-A12E-211B-BBCE-BF8023541E0B}"/>
              </a:ext>
            </a:extLst>
          </p:cNvPr>
          <p:cNvCxnSpPr>
            <a:cxnSpLocks/>
          </p:cNvCxnSpPr>
          <p:nvPr/>
        </p:nvCxnSpPr>
        <p:spPr>
          <a:xfrm>
            <a:off x="8430369" y="3179768"/>
            <a:ext cx="1404456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47C4E43E-763C-FFB5-6504-DA63464B9982}"/>
              </a:ext>
            </a:extLst>
          </p:cNvPr>
          <p:cNvSpPr txBox="1"/>
          <p:nvPr/>
        </p:nvSpPr>
        <p:spPr>
          <a:xfrm>
            <a:off x="8129703" y="2154964"/>
            <a:ext cx="3289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black"/>
                </a:solidFill>
                <a:latin typeface="Arial Narrow"/>
                <a:ea typeface="LG스마트체 Regular"/>
              </a:rPr>
              <a:t>kPa</a:t>
            </a:r>
            <a:endParaRPr lang="ko-KR" altLang="en-US" sz="8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F0631457-CA18-2099-23CE-0E4233DBFC79}"/>
              </a:ext>
            </a:extLst>
          </p:cNvPr>
          <p:cNvCxnSpPr>
            <a:cxnSpLocks/>
          </p:cNvCxnSpPr>
          <p:nvPr/>
        </p:nvCxnSpPr>
        <p:spPr>
          <a:xfrm>
            <a:off x="8430369" y="3145799"/>
            <a:ext cx="541703" cy="0"/>
          </a:xfrm>
          <a:prstGeom prst="line">
            <a:avLst/>
          </a:prstGeom>
          <a:noFill/>
          <a:ln w="9525" cap="flat" cmpd="sng" algn="ctr">
            <a:solidFill>
              <a:srgbClr val="0000FF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43CADCE5-E60F-8F36-C3A0-A1EBE44C9FBB}"/>
              </a:ext>
            </a:extLst>
          </p:cNvPr>
          <p:cNvCxnSpPr>
            <a:cxnSpLocks/>
          </p:cNvCxnSpPr>
          <p:nvPr/>
        </p:nvCxnSpPr>
        <p:spPr>
          <a:xfrm flipV="1">
            <a:off x="8972072" y="2975394"/>
            <a:ext cx="166164" cy="167340"/>
          </a:xfrm>
          <a:prstGeom prst="line">
            <a:avLst/>
          </a:prstGeom>
          <a:noFill/>
          <a:ln w="9525" cap="flat" cmpd="sng" algn="ctr">
            <a:solidFill>
              <a:srgbClr val="0000FF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5C0100E5-1B8A-5342-B6AC-E1675503C2B8}"/>
              </a:ext>
            </a:extLst>
          </p:cNvPr>
          <p:cNvCxnSpPr>
            <a:cxnSpLocks/>
          </p:cNvCxnSpPr>
          <p:nvPr/>
        </p:nvCxnSpPr>
        <p:spPr>
          <a:xfrm>
            <a:off x="9133473" y="2981123"/>
            <a:ext cx="204788" cy="0"/>
          </a:xfrm>
          <a:prstGeom prst="line">
            <a:avLst/>
          </a:prstGeom>
          <a:noFill/>
          <a:ln w="9525" cap="flat" cmpd="sng" algn="ctr">
            <a:solidFill>
              <a:srgbClr val="0000FF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77299AB9-78DF-A025-0CF1-C28C583D2FDF}"/>
              </a:ext>
            </a:extLst>
          </p:cNvPr>
          <p:cNvCxnSpPr>
            <a:cxnSpLocks/>
          </p:cNvCxnSpPr>
          <p:nvPr/>
        </p:nvCxnSpPr>
        <p:spPr>
          <a:xfrm flipV="1">
            <a:off x="9333498" y="2561466"/>
            <a:ext cx="96780" cy="413928"/>
          </a:xfrm>
          <a:prstGeom prst="line">
            <a:avLst/>
          </a:prstGeom>
          <a:noFill/>
          <a:ln w="9525" cap="flat" cmpd="sng" algn="ctr">
            <a:solidFill>
              <a:srgbClr val="0000FF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03AEF28B-9500-9951-7418-1E144FF2A4C2}"/>
              </a:ext>
            </a:extLst>
          </p:cNvPr>
          <p:cNvCxnSpPr>
            <a:cxnSpLocks/>
          </p:cNvCxnSpPr>
          <p:nvPr/>
        </p:nvCxnSpPr>
        <p:spPr>
          <a:xfrm>
            <a:off x="9430278" y="2551886"/>
            <a:ext cx="361175" cy="0"/>
          </a:xfrm>
          <a:prstGeom prst="line">
            <a:avLst/>
          </a:prstGeom>
          <a:noFill/>
          <a:ln w="9525" cap="flat" cmpd="sng" algn="ctr">
            <a:solidFill>
              <a:srgbClr val="0000FF"/>
            </a:solidFill>
            <a:prstDash val="solid"/>
            <a:miter lim="800000"/>
            <a:headEnd type="none"/>
            <a:tailEnd type="none"/>
          </a:ln>
          <a:effectLst/>
        </p:spPr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C718C3CD-B88F-9223-2E66-4FDA976CFF40}"/>
              </a:ext>
            </a:extLst>
          </p:cNvPr>
          <p:cNvSpPr txBox="1"/>
          <p:nvPr/>
        </p:nvSpPr>
        <p:spPr>
          <a:xfrm>
            <a:off x="9608699" y="3138112"/>
            <a:ext cx="2087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black"/>
                </a:solidFill>
                <a:latin typeface="Arial Narrow"/>
                <a:ea typeface="LG스마트체 Regular"/>
              </a:rPr>
              <a:t>t</a:t>
            </a:r>
            <a:endParaRPr lang="ko-KR" altLang="en-US" sz="8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BDEA0EEF-1823-85D6-97E5-E5756F8B0287}"/>
              </a:ext>
            </a:extLst>
          </p:cNvPr>
          <p:cNvSpPr txBox="1"/>
          <p:nvPr/>
        </p:nvSpPr>
        <p:spPr>
          <a:xfrm>
            <a:off x="8271290" y="3040039"/>
            <a:ext cx="2311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</a:rPr>
              <a:t>0</a:t>
            </a:r>
            <a:endParaRPr lang="ko-KR" altLang="en-US" sz="800" dirty="0">
              <a:solidFill>
                <a:prstClr val="white">
                  <a:lumMod val="50000"/>
                </a:prstClr>
              </a:solidFill>
              <a:latin typeface="Arial Narrow"/>
              <a:ea typeface="LG스마트체 Regular"/>
            </a:endParaRPr>
          </a:p>
        </p:txBody>
      </p: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60CD2591-0A0C-2F0C-D558-E1418B4937E6}"/>
              </a:ext>
            </a:extLst>
          </p:cNvPr>
          <p:cNvCxnSpPr>
            <a:cxnSpLocks/>
          </p:cNvCxnSpPr>
          <p:nvPr/>
        </p:nvCxnSpPr>
        <p:spPr>
          <a:xfrm>
            <a:off x="8425074" y="2902586"/>
            <a:ext cx="1371758" cy="20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dash"/>
            <a:miter lim="800000"/>
            <a:headEnd type="none"/>
            <a:tailEnd type="none"/>
          </a:ln>
          <a:effectLst/>
        </p:spPr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EEE5F7D6-E83C-14B7-71F3-4BB84DE294D4}"/>
              </a:ext>
            </a:extLst>
          </p:cNvPr>
          <p:cNvCxnSpPr>
            <a:cxnSpLocks/>
          </p:cNvCxnSpPr>
          <p:nvPr/>
        </p:nvCxnSpPr>
        <p:spPr>
          <a:xfrm>
            <a:off x="8432051" y="2476154"/>
            <a:ext cx="1371758" cy="20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dash"/>
            <a:miter lim="800000"/>
            <a:headEnd type="none"/>
            <a:tailEnd type="none"/>
          </a:ln>
          <a:effectLst/>
        </p:spPr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7C2D299C-0B26-A778-6275-2DB7A4105D38}"/>
              </a:ext>
            </a:extLst>
          </p:cNvPr>
          <p:cNvSpPr txBox="1"/>
          <p:nvPr/>
        </p:nvSpPr>
        <p:spPr>
          <a:xfrm>
            <a:off x="8204433" y="2367701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</a:rPr>
              <a:t>-80</a:t>
            </a:r>
            <a:endParaRPr lang="ko-KR" altLang="en-US" sz="800" dirty="0">
              <a:solidFill>
                <a:prstClr val="white">
                  <a:lumMod val="50000"/>
                </a:prstClr>
              </a:solidFill>
              <a:latin typeface="Arial Narrow"/>
              <a:ea typeface="LG스마트체 Regular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DF498B6-0319-7838-8D56-F4B315855F0C}"/>
              </a:ext>
            </a:extLst>
          </p:cNvPr>
          <p:cNvSpPr txBox="1"/>
          <p:nvPr/>
        </p:nvSpPr>
        <p:spPr>
          <a:xfrm>
            <a:off x="8200582" y="2783686"/>
            <a:ext cx="304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white">
                    <a:lumMod val="50000"/>
                  </a:prstClr>
                </a:solidFill>
                <a:latin typeface="Arial Narrow"/>
                <a:ea typeface="LG스마트체 Regular"/>
              </a:rPr>
              <a:t>-30</a:t>
            </a:r>
            <a:endParaRPr lang="ko-KR" altLang="en-US" sz="800" dirty="0">
              <a:solidFill>
                <a:prstClr val="white">
                  <a:lumMod val="50000"/>
                </a:prstClr>
              </a:solidFill>
              <a:latin typeface="Arial Narrow"/>
              <a:ea typeface="LG스마트체 Regular"/>
            </a:endParaRPr>
          </a:p>
        </p:txBody>
      </p: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1F905962-3A80-F8A8-D3BA-10A71EDF234F}"/>
              </a:ext>
            </a:extLst>
          </p:cNvPr>
          <p:cNvCxnSpPr/>
          <p:nvPr/>
        </p:nvCxnSpPr>
        <p:spPr>
          <a:xfrm>
            <a:off x="8969161" y="2232046"/>
            <a:ext cx="0" cy="94185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F0A36837-AAD4-B3E2-2CD6-F6C8BF79E161}"/>
              </a:ext>
            </a:extLst>
          </p:cNvPr>
          <p:cNvCxnSpPr/>
          <p:nvPr/>
        </p:nvCxnSpPr>
        <p:spPr>
          <a:xfrm>
            <a:off x="9354304" y="2220211"/>
            <a:ext cx="0" cy="941850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solid"/>
            <a:miter lim="800000"/>
            <a:headEnd type="none"/>
            <a:tailEnd type="none"/>
          </a:ln>
          <a:effectLst/>
        </p:spPr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CCE76F33-50B0-BF16-EE4C-E5A306CA94CA}"/>
              </a:ext>
            </a:extLst>
          </p:cNvPr>
          <p:cNvSpPr txBox="1"/>
          <p:nvPr/>
        </p:nvSpPr>
        <p:spPr>
          <a:xfrm>
            <a:off x="8756704" y="2970827"/>
            <a:ext cx="248083" cy="110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 latinLnBrk="0"/>
            <a:r>
              <a:rPr lang="en-US" altLang="ko-KR" sz="7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open</a:t>
            </a:r>
            <a:endParaRPr lang="ko-KR" altLang="en-US" sz="700" dirty="0">
              <a:solidFill>
                <a:prstClr val="black"/>
              </a:solidFill>
              <a:highlight>
                <a:srgbClr val="FFFF00"/>
              </a:highlight>
              <a:latin typeface="Arial Narrow"/>
              <a:ea typeface="LG스마트체 Regular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80DEFA3A-C23F-6D0E-A4E2-A55BB53CA351}"/>
              </a:ext>
            </a:extLst>
          </p:cNvPr>
          <p:cNvSpPr txBox="1"/>
          <p:nvPr/>
        </p:nvSpPr>
        <p:spPr>
          <a:xfrm>
            <a:off x="9367002" y="2884856"/>
            <a:ext cx="282035" cy="110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 latinLnBrk="0"/>
            <a:r>
              <a:rPr lang="en-US" altLang="ko-KR" sz="7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closed</a:t>
            </a:r>
            <a:endParaRPr lang="ko-KR" altLang="en-US" sz="700" dirty="0">
              <a:solidFill>
                <a:prstClr val="black"/>
              </a:solidFill>
              <a:highlight>
                <a:srgbClr val="FFFF00"/>
              </a:highlight>
              <a:latin typeface="Arial Narrow"/>
              <a:ea typeface="LG스마트체 Regular"/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67896FFA-1133-663A-6FB9-3ECDDFDF2768}"/>
              </a:ext>
            </a:extLst>
          </p:cNvPr>
          <p:cNvCxnSpPr>
            <a:cxnSpLocks/>
          </p:cNvCxnSpPr>
          <p:nvPr/>
        </p:nvCxnSpPr>
        <p:spPr>
          <a:xfrm>
            <a:off x="8969161" y="2291431"/>
            <a:ext cx="397675" cy="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FE0672DD-5CC6-4C7B-2821-97D083C421C5}"/>
              </a:ext>
            </a:extLst>
          </p:cNvPr>
          <p:cNvSpPr txBox="1"/>
          <p:nvPr/>
        </p:nvSpPr>
        <p:spPr>
          <a:xfrm>
            <a:off x="9009273" y="2282678"/>
            <a:ext cx="32252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600" dirty="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증가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75A362C0-0FB4-601A-5FCB-83E9AFD47E7A}"/>
              </a:ext>
            </a:extLst>
          </p:cNvPr>
          <p:cNvSpPr txBox="1"/>
          <p:nvPr/>
        </p:nvSpPr>
        <p:spPr>
          <a:xfrm>
            <a:off x="5683385" y="2000090"/>
            <a:ext cx="5020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정상 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  <a:endParaRPr lang="ko-KR" altLang="en-US" sz="9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D97FC02C-A653-61AD-8E47-3B322428155B}"/>
              </a:ext>
            </a:extLst>
          </p:cNvPr>
          <p:cNvSpPr txBox="1"/>
          <p:nvPr/>
        </p:nvSpPr>
        <p:spPr>
          <a:xfrm>
            <a:off x="7242698" y="1990564"/>
            <a:ext cx="6030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오염시 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  <a:endParaRPr lang="ko-KR" altLang="en-US" sz="9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642F5A26-709E-03A7-2582-E4B9A0374F9B}"/>
              </a:ext>
            </a:extLst>
          </p:cNvPr>
          <p:cNvSpPr txBox="1"/>
          <p:nvPr/>
        </p:nvSpPr>
        <p:spPr>
          <a:xfrm>
            <a:off x="8796492" y="2000090"/>
            <a:ext cx="6174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[ Leak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시 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  <a:endParaRPr lang="ko-KR" altLang="en-US" sz="9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5A6E5AA7-D065-A806-613A-115A4C14DEF4}"/>
              </a:ext>
            </a:extLst>
          </p:cNvPr>
          <p:cNvSpPr txBox="1"/>
          <p:nvPr/>
        </p:nvSpPr>
        <p:spPr>
          <a:xfrm>
            <a:off x="5119925" y="1684597"/>
            <a:ext cx="464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진공 흡착 시간의 감소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오염시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)/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증가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리크시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 변화를 감지하여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흡착 이상으로 인한 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BM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을 사전에 </a:t>
            </a:r>
            <a:endParaRPr lang="en-US" altLang="ko-KR" sz="9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/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       예방하고자 함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7FC7C3A8-9373-1CC8-FCF6-0A3C62609BC9}"/>
              </a:ext>
            </a:extLst>
          </p:cNvPr>
          <p:cNvSpPr txBox="1"/>
          <p:nvPr/>
        </p:nvSpPr>
        <p:spPr>
          <a:xfrm>
            <a:off x="4930842" y="6449131"/>
            <a:ext cx="47926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피더기부 호스의 볼트 감지 시점부터 체결기 볼트 인식 시점까지의 슈팅 시간 이상을 감지하고자 함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CC8A558F-AB38-2FDC-3496-911CBD20B8A1}"/>
              </a:ext>
            </a:extLst>
          </p:cNvPr>
          <p:cNvSpPr txBox="1"/>
          <p:nvPr/>
        </p:nvSpPr>
        <p:spPr>
          <a:xfrm>
            <a:off x="6829776" y="3723622"/>
            <a:ext cx="147208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/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실린더 동작시간 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Raw Data ]</a:t>
            </a:r>
            <a:endParaRPr lang="ko-KR" altLang="en-US" sz="9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A9605B2C-EB9C-A56C-3CE6-C1998037FB9B}"/>
              </a:ext>
            </a:extLst>
          </p:cNvPr>
          <p:cNvSpPr txBox="1"/>
          <p:nvPr/>
        </p:nvSpPr>
        <p:spPr>
          <a:xfrm>
            <a:off x="6478591" y="4984017"/>
            <a:ext cx="19267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/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실린더 전후진 동작시간 비율 트렌드 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  <a:endParaRPr lang="ko-KR" altLang="en-US" sz="9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055EC3F9-EF70-D10E-0BB8-FB5F29194C8E}"/>
              </a:ext>
            </a:extLst>
          </p:cNvPr>
          <p:cNvSpPr txBox="1"/>
          <p:nvPr/>
        </p:nvSpPr>
        <p:spPr>
          <a:xfrm>
            <a:off x="5648883" y="604919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highlight>
                  <a:srgbClr val="E8E8E8"/>
                </a:highlight>
                <a:latin typeface="Arial Narrow"/>
                <a:ea typeface="LG스마트체 Regular"/>
              </a:rPr>
              <a:t>4/8</a:t>
            </a:r>
            <a:endParaRPr lang="ko-KR" altLang="en-US" sz="700" dirty="0">
              <a:solidFill>
                <a:prstClr val="black"/>
              </a:solidFill>
              <a:highlight>
                <a:srgbClr val="E8E8E8"/>
              </a:highlight>
              <a:latin typeface="Arial Narrow"/>
              <a:ea typeface="LG스마트체 Regular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C3BB4F6-66DB-003E-ADA7-A1E44F4E188F}"/>
              </a:ext>
            </a:extLst>
          </p:cNvPr>
          <p:cNvSpPr txBox="1"/>
          <p:nvPr/>
        </p:nvSpPr>
        <p:spPr>
          <a:xfrm>
            <a:off x="9124921" y="6049193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prstClr val="black"/>
                </a:solidFill>
                <a:highlight>
                  <a:srgbClr val="E8E8E8"/>
                </a:highlight>
                <a:latin typeface="Arial Narrow"/>
                <a:ea typeface="LG스마트체 Regular"/>
              </a:rPr>
              <a:t>4/12</a:t>
            </a:r>
            <a:endParaRPr lang="ko-KR" altLang="en-US" sz="700" dirty="0">
              <a:solidFill>
                <a:prstClr val="black"/>
              </a:solidFill>
              <a:highlight>
                <a:srgbClr val="E8E8E8"/>
              </a:highlight>
              <a:latin typeface="Arial Narrow"/>
              <a:ea typeface="LG스마트체 Regular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BC82BBC-44BA-D530-D3D6-7DA9707BE259}"/>
              </a:ext>
            </a:extLst>
          </p:cNvPr>
          <p:cNvSpPr txBox="1"/>
          <p:nvPr/>
        </p:nvSpPr>
        <p:spPr>
          <a:xfrm>
            <a:off x="5119925" y="3519100"/>
            <a:ext cx="47926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Steel Bar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설비 알람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(4/10, 22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건 발생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 사례 기반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실린더 동작 이상을 사전 감지 및 원인 특정하고자 함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B9B88565-9681-2F8D-9B17-F617A394E0C1}"/>
              </a:ext>
            </a:extLst>
          </p:cNvPr>
          <p:cNvSpPr txBox="1"/>
          <p:nvPr/>
        </p:nvSpPr>
        <p:spPr>
          <a:xfrm>
            <a:off x="258586" y="1438376"/>
            <a:ext cx="17251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체결 공정 및 체결기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피더기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graphicFrame>
        <p:nvGraphicFramePr>
          <p:cNvPr id="211" name="표 210">
            <a:extLst>
              <a:ext uri="{FF2B5EF4-FFF2-40B4-BE49-F238E27FC236}">
                <a16:creationId xmlns:a16="http://schemas.microsoft.com/office/drawing/2014/main" id="{2C792594-9D03-09F7-4F6A-6AB06857F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692031"/>
              </p:ext>
            </p:extLst>
          </p:nvPr>
        </p:nvGraphicFramePr>
        <p:xfrm>
          <a:off x="3294685" y="1719903"/>
          <a:ext cx="1498820" cy="2130978"/>
        </p:xfrm>
        <a:graphic>
          <a:graphicData uri="http://schemas.openxmlformats.org/drawingml/2006/table">
            <a:tbl>
              <a:tblPr firstRow="1" bandRow="1"/>
              <a:tblGrid>
                <a:gridCol w="290163">
                  <a:extLst>
                    <a:ext uri="{9D8B030D-6E8A-4147-A177-3AD203B41FA5}">
                      <a16:colId xmlns:a16="http://schemas.microsoft.com/office/drawing/2014/main" val="815016697"/>
                    </a:ext>
                  </a:extLst>
                </a:gridCol>
                <a:gridCol w="1208657">
                  <a:extLst>
                    <a:ext uri="{9D8B030D-6E8A-4147-A177-3AD203B41FA5}">
                      <a16:colId xmlns:a16="http://schemas.microsoft.com/office/drawing/2014/main" val="1018093223"/>
                    </a:ext>
                  </a:extLst>
                </a:gridCol>
              </a:tblGrid>
              <a:tr h="35416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No.</a:t>
                      </a:r>
                      <a:endParaRPr lang="pl-PL" sz="900" b="1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Process</a:t>
                      </a:r>
                      <a:endParaRPr lang="pl-PL" sz="900" b="1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626137"/>
                  </a:ext>
                </a:extLst>
              </a:tr>
              <a:tr h="22210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/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</a:t>
                      </a:r>
                      <a:endParaRPr lang="pl-PL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/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Busbar Fastener</a:t>
                      </a:r>
                      <a:endParaRPr lang="pl-PL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219223"/>
                  </a:ext>
                </a:extLst>
              </a:tr>
              <a:tr h="222102">
                <a:tc vMerge="1">
                  <a:txBody>
                    <a:bodyPr/>
                    <a:lstStyle/>
                    <a:p>
                      <a:pPr algn="ctr"/>
                      <a:endParaRPr lang="pl-PL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/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Steel bar Fastener</a:t>
                      </a:r>
                      <a:endParaRPr lang="pl-PL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970250"/>
                  </a:ext>
                </a:extLst>
              </a:tr>
              <a:tr h="22210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/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90</a:t>
                      </a:r>
                      <a:endParaRPr lang="pl-PL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/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BMA CMA Fastener</a:t>
                      </a:r>
                      <a:endParaRPr lang="pl-PL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30240"/>
                  </a:ext>
                </a:extLst>
              </a:tr>
              <a:tr h="22210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/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100</a:t>
                      </a:r>
                      <a:endParaRPr lang="pl-PL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/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CMA BRK Fastener</a:t>
                      </a:r>
                      <a:endParaRPr lang="pl-PL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957944"/>
                  </a:ext>
                </a:extLst>
              </a:tr>
              <a:tr h="222102">
                <a:tc vMerge="1">
                  <a:txBody>
                    <a:bodyPr/>
                    <a:lstStyle/>
                    <a:p>
                      <a:pPr algn="ctr"/>
                      <a:endParaRPr lang="pl-PL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/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Inter busbar Fastener</a:t>
                      </a:r>
                      <a:endParaRPr lang="pl-PL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930012"/>
                  </a:ext>
                </a:extLst>
              </a:tr>
              <a:tr h="22210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/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110</a:t>
                      </a:r>
                      <a:endParaRPr lang="pl-PL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/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Front plate Fastener</a:t>
                      </a:r>
                      <a:endParaRPr lang="pl-PL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501242"/>
                  </a:ext>
                </a:extLst>
              </a:tr>
              <a:tr h="22210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/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120</a:t>
                      </a:r>
                      <a:endParaRPr lang="pl-PL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/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Top plate Fastener (Pre)</a:t>
                      </a:r>
                      <a:endParaRPr lang="pl-PL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067498"/>
                  </a:ext>
                </a:extLst>
              </a:tr>
              <a:tr h="22210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Top plate Fastener </a:t>
                      </a:r>
                      <a:endParaRPr lang="pl-PL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449674"/>
                  </a:ext>
                </a:extLst>
              </a:tr>
            </a:tbl>
          </a:graphicData>
        </a:graphic>
      </p:graphicFrame>
      <p:sp>
        <p:nvSpPr>
          <p:cNvPr id="212" name="TextBox 211">
            <a:extLst>
              <a:ext uri="{FF2B5EF4-FFF2-40B4-BE49-F238E27FC236}">
                <a16:creationId xmlns:a16="http://schemas.microsoft.com/office/drawing/2014/main" id="{50637AF9-A6E8-8942-8A7B-36F1D8B62A5B}"/>
              </a:ext>
            </a:extLst>
          </p:cNvPr>
          <p:cNvSpPr txBox="1"/>
          <p:nvPr/>
        </p:nvSpPr>
        <p:spPr>
          <a:xfrm>
            <a:off x="7472867" y="3924397"/>
            <a:ext cx="64152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600" dirty="0">
                <a:solidFill>
                  <a:srgbClr val="FF0000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FWD Time </a:t>
            </a:r>
            <a:r>
              <a:rPr lang="ko-KR" altLang="en-US" sz="600" dirty="0">
                <a:solidFill>
                  <a:srgbClr val="FF0000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증가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F78F16DE-BF5B-BB62-B569-E8AA6550FA83}"/>
              </a:ext>
            </a:extLst>
          </p:cNvPr>
          <p:cNvSpPr txBox="1"/>
          <p:nvPr/>
        </p:nvSpPr>
        <p:spPr>
          <a:xfrm>
            <a:off x="7472867" y="4621068"/>
            <a:ext cx="64472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600" dirty="0">
                <a:solidFill>
                  <a:srgbClr val="FF0000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BWD Time </a:t>
            </a:r>
            <a:r>
              <a:rPr lang="ko-KR" altLang="en-US" sz="600" dirty="0">
                <a:solidFill>
                  <a:srgbClr val="FF0000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감소</a:t>
            </a:r>
          </a:p>
        </p:txBody>
      </p:sp>
      <p:sp>
        <p:nvSpPr>
          <p:cNvPr id="214" name="타원 213">
            <a:extLst>
              <a:ext uri="{FF2B5EF4-FFF2-40B4-BE49-F238E27FC236}">
                <a16:creationId xmlns:a16="http://schemas.microsoft.com/office/drawing/2014/main" id="{17693A2E-6113-E1A5-AB54-D1D4D0A3EF14}"/>
              </a:ext>
            </a:extLst>
          </p:cNvPr>
          <p:cNvSpPr/>
          <p:nvPr/>
        </p:nvSpPr>
        <p:spPr>
          <a:xfrm>
            <a:off x="7629832" y="4394402"/>
            <a:ext cx="258430" cy="24245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215" name="폭발: 8pt 214">
            <a:extLst>
              <a:ext uri="{FF2B5EF4-FFF2-40B4-BE49-F238E27FC236}">
                <a16:creationId xmlns:a16="http://schemas.microsoft.com/office/drawing/2014/main" id="{56EC1880-B9F0-467D-423A-70B1743BDA72}"/>
              </a:ext>
            </a:extLst>
          </p:cNvPr>
          <p:cNvSpPr/>
          <p:nvPr/>
        </p:nvSpPr>
        <p:spPr>
          <a:xfrm>
            <a:off x="7795337" y="5167348"/>
            <a:ext cx="185850" cy="185850"/>
          </a:xfrm>
          <a:prstGeom prst="irregularSeal1">
            <a:avLst/>
          </a:prstGeom>
          <a:solidFill>
            <a:srgbClr val="FFFF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pic>
        <p:nvPicPr>
          <p:cNvPr id="216" name="Picture 4">
            <a:extLst>
              <a:ext uri="{FF2B5EF4-FFF2-40B4-BE49-F238E27FC236}">
                <a16:creationId xmlns:a16="http://schemas.microsoft.com/office/drawing/2014/main" id="{3155121C-66C7-B40C-BCEC-F5254755CA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0" t="9871" r="13380" b="11270"/>
          <a:stretch/>
        </p:blipFill>
        <p:spPr bwMode="auto">
          <a:xfrm>
            <a:off x="1289002" y="1728369"/>
            <a:ext cx="1888594" cy="212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Picture 6">
            <a:extLst>
              <a:ext uri="{FF2B5EF4-FFF2-40B4-BE49-F238E27FC236}">
                <a16:creationId xmlns:a16="http://schemas.microsoft.com/office/drawing/2014/main" id="{0FEC32A8-1C19-D7F7-429D-F94378568E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7" t="8353" r="31976" b="8354"/>
          <a:stretch/>
        </p:blipFill>
        <p:spPr bwMode="auto">
          <a:xfrm>
            <a:off x="269084" y="1728369"/>
            <a:ext cx="882840" cy="213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5B44D4AB-ADF0-FC56-CDA0-569B4D0401C1}"/>
              </a:ext>
            </a:extLst>
          </p:cNvPr>
          <p:cNvSpPr/>
          <p:nvPr/>
        </p:nvSpPr>
        <p:spPr>
          <a:xfrm>
            <a:off x="2335798" y="2797875"/>
            <a:ext cx="840276" cy="105300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 w="57150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CA54F46B-7E3D-AA76-B1D9-4AA239E24CE6}"/>
              </a:ext>
            </a:extLst>
          </p:cNvPr>
          <p:cNvSpPr txBox="1"/>
          <p:nvPr/>
        </p:nvSpPr>
        <p:spPr>
          <a:xfrm>
            <a:off x="2521354" y="2597326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피더기</a:t>
            </a: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2980DDA0-7F4F-9B1D-2A2B-B82A58892E9D}"/>
              </a:ext>
            </a:extLst>
          </p:cNvPr>
          <p:cNvSpPr/>
          <p:nvPr/>
        </p:nvSpPr>
        <p:spPr>
          <a:xfrm>
            <a:off x="1706277" y="1730752"/>
            <a:ext cx="492443" cy="184213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 w="57150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555DDE7-AB18-9B35-DFC7-AE91B47602F3}"/>
              </a:ext>
            </a:extLst>
          </p:cNvPr>
          <p:cNvSpPr txBox="1"/>
          <p:nvPr/>
        </p:nvSpPr>
        <p:spPr>
          <a:xfrm>
            <a:off x="1501225" y="3546538"/>
            <a:ext cx="8515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볼트 공급 호스</a:t>
            </a: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14785051-3517-AEF7-C802-ADADE3E2704B}"/>
              </a:ext>
            </a:extLst>
          </p:cNvPr>
          <p:cNvSpPr/>
          <p:nvPr/>
        </p:nvSpPr>
        <p:spPr>
          <a:xfrm>
            <a:off x="1356975" y="2291411"/>
            <a:ext cx="285463" cy="53674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 w="57150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33C02F33-C5AE-85FD-B385-3FD145963AF7}"/>
              </a:ext>
            </a:extLst>
          </p:cNvPr>
          <p:cNvSpPr txBox="1"/>
          <p:nvPr/>
        </p:nvSpPr>
        <p:spPr>
          <a:xfrm>
            <a:off x="1263045" y="2072989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체결기</a:t>
            </a:r>
          </a:p>
        </p:txBody>
      </p: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E02C2006-8631-9878-A857-D6888D5D8CD8}"/>
              </a:ext>
            </a:extLst>
          </p:cNvPr>
          <p:cNvCxnSpPr/>
          <p:nvPr/>
        </p:nvCxnSpPr>
        <p:spPr>
          <a:xfrm flipH="1">
            <a:off x="1151924" y="2814507"/>
            <a:ext cx="204324" cy="104833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3B80E461-CCCF-93CC-3B60-5757E08BD7E7}"/>
              </a:ext>
            </a:extLst>
          </p:cNvPr>
          <p:cNvCxnSpPr/>
          <p:nvPr/>
        </p:nvCxnSpPr>
        <p:spPr>
          <a:xfrm>
            <a:off x="1151924" y="1728369"/>
            <a:ext cx="203529" cy="57659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/>
            <a:tailEnd type="none"/>
          </a:ln>
          <a:effectLst/>
        </p:spPr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8F6FA8E8-A3E4-F8A6-6AE2-0C08ADC69683}"/>
              </a:ext>
            </a:extLst>
          </p:cNvPr>
          <p:cNvSpPr txBox="1"/>
          <p:nvPr/>
        </p:nvSpPr>
        <p:spPr>
          <a:xfrm>
            <a:off x="852945" y="2445850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 latinLnBrk="0"/>
            <a:r>
              <a:rPr lang="ko-KR" altLang="en-US" sz="900" dirty="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체결기</a:t>
            </a:r>
            <a:endParaRPr lang="en-US" altLang="ko-KR" sz="900" dirty="0">
              <a:solidFill>
                <a:srgbClr val="FF0000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  <a:p>
            <a:pPr algn="ctr" defTabSz="457200" latinLnBrk="0"/>
            <a:r>
              <a:rPr lang="ko-KR" altLang="en-US" sz="900" dirty="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확대</a:t>
            </a:r>
          </a:p>
        </p:txBody>
      </p:sp>
      <p:cxnSp>
        <p:nvCxnSpPr>
          <p:cNvPr id="227" name="직선 화살표 연결선 226">
            <a:extLst>
              <a:ext uri="{FF2B5EF4-FFF2-40B4-BE49-F238E27FC236}">
                <a16:creationId xmlns:a16="http://schemas.microsoft.com/office/drawing/2014/main" id="{021C741E-4F68-8231-D884-F43BEBE634A0}"/>
              </a:ext>
            </a:extLst>
          </p:cNvPr>
          <p:cNvCxnSpPr/>
          <p:nvPr/>
        </p:nvCxnSpPr>
        <p:spPr>
          <a:xfrm>
            <a:off x="599565" y="3244523"/>
            <a:ext cx="0" cy="404813"/>
          </a:xfrm>
          <a:prstGeom prst="straightConnector1">
            <a:avLst/>
          </a:prstGeom>
          <a:noFill/>
          <a:ln w="19050" cap="flat" cmpd="sng" algn="ctr">
            <a:solidFill>
              <a:srgbClr val="FFFF00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3" name="실행 단추: 홈으로 이동 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37EEE33C-7C53-D0C0-998D-F959ECD04B16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1997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리드 벤딩 툴 마모 감지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5892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리드 벤딩 공정 중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벤딩 툴 마모 됨에 따라 용접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Hole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(Gap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증가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 가능성 증가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하며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주기적으로 벤딩툴 서보모터 티칭 주기를</a:t>
            </a:r>
            <a:b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서보모터 부하율 기준으로 티칭 조정 제안하고자 함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(CBM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화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34475C-2B27-C1EF-D0A3-B9979153AC65}"/>
              </a:ext>
            </a:extLst>
          </p:cNvPr>
          <p:cNvSpPr txBox="1"/>
          <p:nvPr/>
        </p:nvSpPr>
        <p:spPr>
          <a:xfrm>
            <a:off x="204839" y="1180888"/>
            <a:ext cx="933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이슈 사례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1AB940B5-06AE-E196-C6F2-6F9CD9DFD1C4}"/>
              </a:ext>
            </a:extLst>
          </p:cNvPr>
          <p:cNvCxnSpPr>
            <a:cxnSpLocks/>
          </p:cNvCxnSpPr>
          <p:nvPr/>
        </p:nvCxnSpPr>
        <p:spPr>
          <a:xfrm>
            <a:off x="4968188" y="1106305"/>
            <a:ext cx="0" cy="5456979"/>
          </a:xfrm>
          <a:prstGeom prst="line">
            <a:avLst/>
          </a:prstGeom>
          <a:noFill/>
          <a:ln w="12700" cap="flat" cmpd="sng" algn="ctr">
            <a:solidFill>
              <a:srgbClr val="E8E8E8"/>
            </a:solidFill>
            <a:prstDash val="solid"/>
            <a:miter lim="800000"/>
          </a:ln>
          <a:effectLst/>
        </p:spPr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1EAB3EF1-7F95-DC10-23C9-E9B66A334733}"/>
              </a:ext>
            </a:extLst>
          </p:cNvPr>
          <p:cNvSpPr txBox="1"/>
          <p:nvPr/>
        </p:nvSpPr>
        <p:spPr>
          <a:xfrm>
            <a:off x="5070236" y="1180888"/>
            <a:ext cx="10583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■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FDC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모델링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0AC1E09-FA83-1C7A-65F1-AB98F48E449E}"/>
              </a:ext>
            </a:extLst>
          </p:cNvPr>
          <p:cNvSpPr txBox="1"/>
          <p:nvPr/>
        </p:nvSpPr>
        <p:spPr>
          <a:xfrm>
            <a:off x="284379" y="1417600"/>
            <a:ext cx="4176143" cy="715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리드 용접 시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Gap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발생으로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인한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용접홀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NG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발생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가능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>
              <a:lnSpc>
                <a:spcPct val="150000"/>
              </a:lnSpc>
            </a:pP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    -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 과거 리드 접촉면만 마모 진행으로 인한 상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/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하부면 잔존 발생</a:t>
            </a:r>
            <a:endParaRPr lang="en-US" altLang="ko-KR" sz="9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>
              <a:lnSpc>
                <a:spcPct val="150000"/>
              </a:lnSpc>
            </a:pP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     → 벤딩 시 버스바에 간섭되어 벤딩 품질 저하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→ 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Gap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증가에 따른 용접 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Hole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불량 발생</a:t>
            </a:r>
            <a:endParaRPr lang="en-US" altLang="ko-KR" sz="9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E4508470-E8F7-F2E8-76CB-0B4719CE1CDA}"/>
              </a:ext>
            </a:extLst>
          </p:cNvPr>
          <p:cNvGrpSpPr/>
          <p:nvPr/>
        </p:nvGrpSpPr>
        <p:grpSpPr>
          <a:xfrm>
            <a:off x="398534" y="4459075"/>
            <a:ext cx="3960333" cy="1702086"/>
            <a:chOff x="415324" y="2477424"/>
            <a:chExt cx="3330032" cy="1767080"/>
          </a:xfrm>
        </p:grpSpPr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E6B2398F-F77C-9DD1-3C5F-A583821A0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673" y="2491233"/>
              <a:ext cx="3000713" cy="1571240"/>
            </a:xfrm>
            <a:prstGeom prst="rect">
              <a:avLst/>
            </a:prstGeom>
          </p:spPr>
        </p:pic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6124EED1-02E6-8A91-66FF-B19221AB26E1}"/>
                </a:ext>
              </a:extLst>
            </p:cNvPr>
            <p:cNvCxnSpPr/>
            <p:nvPr/>
          </p:nvCxnSpPr>
          <p:spPr>
            <a:xfrm>
              <a:off x="2733675" y="2477424"/>
              <a:ext cx="0" cy="1642139"/>
            </a:xfrm>
            <a:prstGeom prst="line">
              <a:avLst/>
            </a:prstGeom>
            <a:noFill/>
            <a:ln w="19050" cap="flat" cmpd="sng" algn="ctr">
              <a:solidFill>
                <a:srgbClr val="0E2841"/>
              </a:solidFill>
              <a:prstDash val="dash"/>
              <a:miter lim="800000"/>
              <a:headEnd type="none"/>
              <a:tailEnd type="none"/>
            </a:ln>
            <a:effectLst/>
          </p:spPr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85EEFF4-8193-95E3-EA54-01663CB32593}"/>
                </a:ext>
              </a:extLst>
            </p:cNvPr>
            <p:cNvSpPr txBox="1"/>
            <p:nvPr/>
          </p:nvSpPr>
          <p:spPr>
            <a:xfrm>
              <a:off x="2690780" y="2552963"/>
              <a:ext cx="9717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벤딩툴 교체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(1/16)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05B68642-BA43-49B3-BCB8-35310F92ED4F}"/>
                    </a:ext>
                  </a:extLst>
                </p:cNvPr>
                <p:cNvSpPr txBox="1"/>
                <p:nvPr/>
              </p:nvSpPr>
              <p:spPr>
                <a:xfrm>
                  <a:off x="415324" y="3089629"/>
                  <a:ext cx="370999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ko-KR" altLang="en-US" sz="9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kumimoji="0" lang="en-US" altLang="ko-KR" sz="9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F41D9FF-CB1F-B2A1-D747-7818275A93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324" y="3089629"/>
                  <a:ext cx="370999" cy="2308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762B96D-3B37-EFAE-4046-EDE49DDC1E69}"/>
                </a:ext>
              </a:extLst>
            </p:cNvPr>
            <p:cNvSpPr txBox="1"/>
            <p:nvPr/>
          </p:nvSpPr>
          <p:spPr>
            <a:xfrm>
              <a:off x="2135368" y="4013672"/>
              <a:ext cx="36260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time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4C5AAF4-0BA3-B98A-563B-DFAD1A3219D9}"/>
                </a:ext>
              </a:extLst>
            </p:cNvPr>
            <p:cNvSpPr txBox="1"/>
            <p:nvPr/>
          </p:nvSpPr>
          <p:spPr>
            <a:xfrm>
              <a:off x="3240089" y="3704615"/>
              <a:ext cx="5052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관리범위</a:t>
              </a:r>
            </a:p>
          </p:txBody>
        </p:sp>
        <p:cxnSp>
          <p:nvCxnSpPr>
            <p:cNvPr id="98" name="직선 화살표 연결선 97">
              <a:extLst>
                <a:ext uri="{FF2B5EF4-FFF2-40B4-BE49-F238E27FC236}">
                  <a16:creationId xmlns:a16="http://schemas.microsoft.com/office/drawing/2014/main" id="{BB95531D-477D-6EF5-B3D1-3E2C02556C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8541" y="2783795"/>
              <a:ext cx="358094" cy="115416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3D3E150C-CE91-DD9B-6EAF-A109D8B63767}"/>
              </a:ext>
            </a:extLst>
          </p:cNvPr>
          <p:cNvGrpSpPr/>
          <p:nvPr/>
        </p:nvGrpSpPr>
        <p:grpSpPr>
          <a:xfrm>
            <a:off x="2775177" y="2562883"/>
            <a:ext cx="882961" cy="1555659"/>
            <a:chOff x="2724468" y="2500124"/>
            <a:chExt cx="882961" cy="1555659"/>
          </a:xfrm>
        </p:grpSpPr>
        <p:pic>
          <p:nvPicPr>
            <p:cNvPr id="100" name="Picture 4">
              <a:extLst>
                <a:ext uri="{FF2B5EF4-FFF2-40B4-BE49-F238E27FC236}">
                  <a16:creationId xmlns:a16="http://schemas.microsoft.com/office/drawing/2014/main" id="{6CC9CF3F-7DEA-A200-4857-34448B9E4E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2" t="15820" r="77559" b="16949"/>
            <a:stretch/>
          </p:blipFill>
          <p:spPr bwMode="auto">
            <a:xfrm rot="5400000">
              <a:off x="2930247" y="2294345"/>
              <a:ext cx="471404" cy="882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6267DE11-FBB4-2667-0205-012A4A7DE6AA}"/>
                </a:ext>
              </a:extLst>
            </p:cNvPr>
            <p:cNvGrpSpPr/>
            <p:nvPr/>
          </p:nvGrpSpPr>
          <p:grpSpPr>
            <a:xfrm>
              <a:off x="2837862" y="3017112"/>
              <a:ext cx="650775" cy="1038671"/>
              <a:chOff x="499567" y="3043364"/>
              <a:chExt cx="610577" cy="974513"/>
            </a:xfrm>
          </p:grpSpPr>
          <p:pic>
            <p:nvPicPr>
              <p:cNvPr id="102" name="Picture 4">
                <a:extLst>
                  <a:ext uri="{FF2B5EF4-FFF2-40B4-BE49-F238E27FC236}">
                    <a16:creationId xmlns:a16="http://schemas.microsoft.com/office/drawing/2014/main" id="{F62E47C5-D7C1-9F74-1EC0-34D2DA7EFD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52" t="15820" r="12320" b="16949"/>
              <a:stretch/>
            </p:blipFill>
            <p:spPr bwMode="auto">
              <a:xfrm rot="5400000">
                <a:off x="352647" y="3280745"/>
                <a:ext cx="904418" cy="5698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3" name="사각형: 둥근 모서리 102">
                <a:extLst>
                  <a:ext uri="{FF2B5EF4-FFF2-40B4-BE49-F238E27FC236}">
                    <a16:creationId xmlns:a16="http://schemas.microsoft.com/office/drawing/2014/main" id="{B1E78DDA-7353-DDEA-6D09-987BB7F58F29}"/>
                  </a:ext>
                </a:extLst>
              </p:cNvPr>
              <p:cNvSpPr/>
              <p:nvPr/>
            </p:nvSpPr>
            <p:spPr>
              <a:xfrm>
                <a:off x="499567" y="3043364"/>
                <a:ext cx="610577" cy="175295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 algn="ctr">
                <a:solidFill>
                  <a:srgbClr val="FF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</p:grp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9A0FF6E6-96D5-0599-0C3E-462B06C80EFD}"/>
              </a:ext>
            </a:extLst>
          </p:cNvPr>
          <p:cNvGrpSpPr/>
          <p:nvPr/>
        </p:nvGrpSpPr>
        <p:grpSpPr>
          <a:xfrm>
            <a:off x="3620284" y="2927053"/>
            <a:ext cx="391453" cy="567833"/>
            <a:chOff x="3616023" y="2883100"/>
            <a:chExt cx="391453" cy="567833"/>
          </a:xfrm>
        </p:grpSpPr>
        <p:sp>
          <p:nvSpPr>
            <p:cNvPr id="105" name="화살표: 오른쪽 104">
              <a:extLst>
                <a:ext uri="{FF2B5EF4-FFF2-40B4-BE49-F238E27FC236}">
                  <a16:creationId xmlns:a16="http://schemas.microsoft.com/office/drawing/2014/main" id="{91C809DD-7572-F45F-9ADC-A7296C9C4B3D}"/>
                </a:ext>
              </a:extLst>
            </p:cNvPr>
            <p:cNvSpPr/>
            <p:nvPr/>
          </p:nvSpPr>
          <p:spPr>
            <a:xfrm>
              <a:off x="3698486" y="3200587"/>
              <a:ext cx="248519" cy="250346"/>
            </a:xfrm>
            <a:prstGeom prst="rightArrow">
              <a:avLst/>
            </a:prstGeom>
            <a:solidFill>
              <a:srgbClr val="FFC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DD580D6-D25A-228B-CC1A-CD1AE88805A7}"/>
                </a:ext>
              </a:extLst>
            </p:cNvPr>
            <p:cNvSpPr txBox="1"/>
            <p:nvPr/>
          </p:nvSpPr>
          <p:spPr>
            <a:xfrm>
              <a:off x="3616023" y="2883100"/>
              <a:ext cx="391453" cy="3537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벤딩툴</a:t>
              </a: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  <a:p>
              <a:pPr marL="0" marR="0" lvl="0" indent="0" algn="ctr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마모</a:t>
              </a: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13441361-7875-F60D-EBFF-6D7D74276E1A}"/>
              </a:ext>
            </a:extLst>
          </p:cNvPr>
          <p:cNvGrpSpPr/>
          <p:nvPr/>
        </p:nvGrpSpPr>
        <p:grpSpPr>
          <a:xfrm>
            <a:off x="3972156" y="2496506"/>
            <a:ext cx="1059724" cy="1608506"/>
            <a:chOff x="4008758" y="2438329"/>
            <a:chExt cx="1059724" cy="1608506"/>
          </a:xfrm>
        </p:grpSpPr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6EF5904A-E3B2-F19C-706A-5555237A4303}"/>
                </a:ext>
              </a:extLst>
            </p:cNvPr>
            <p:cNvGrpSpPr/>
            <p:nvPr/>
          </p:nvGrpSpPr>
          <p:grpSpPr>
            <a:xfrm>
              <a:off x="4112582" y="3017112"/>
              <a:ext cx="650775" cy="1029723"/>
              <a:chOff x="2690850" y="3317826"/>
              <a:chExt cx="610577" cy="966118"/>
            </a:xfrm>
          </p:grpSpPr>
          <p:pic>
            <p:nvPicPr>
              <p:cNvPr id="116" name="Picture 2">
                <a:extLst>
                  <a:ext uri="{FF2B5EF4-FFF2-40B4-BE49-F238E27FC236}">
                    <a16:creationId xmlns:a16="http://schemas.microsoft.com/office/drawing/2014/main" id="{2919A774-D4E3-B721-110C-181CA4BB28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530" t="14666" r="14735" b="8629"/>
              <a:stretch/>
            </p:blipFill>
            <p:spPr bwMode="auto">
              <a:xfrm>
                <a:off x="2690850" y="3375436"/>
                <a:ext cx="610577" cy="9085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7" name="사각형: 둥근 모서리 116">
                <a:extLst>
                  <a:ext uri="{FF2B5EF4-FFF2-40B4-BE49-F238E27FC236}">
                    <a16:creationId xmlns:a16="http://schemas.microsoft.com/office/drawing/2014/main" id="{AC820DCB-D478-A11C-73FF-F330A3CE3DF8}"/>
                  </a:ext>
                </a:extLst>
              </p:cNvPr>
              <p:cNvSpPr/>
              <p:nvPr/>
            </p:nvSpPr>
            <p:spPr>
              <a:xfrm>
                <a:off x="2690850" y="3317826"/>
                <a:ext cx="610577" cy="175295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 algn="ctr">
                <a:solidFill>
                  <a:srgbClr val="FF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</p:grp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AAF5963E-523D-1CDF-AF15-DB4D12C0AB41}"/>
                </a:ext>
              </a:extLst>
            </p:cNvPr>
            <p:cNvGrpSpPr/>
            <p:nvPr/>
          </p:nvGrpSpPr>
          <p:grpSpPr>
            <a:xfrm>
              <a:off x="4008758" y="2438329"/>
              <a:ext cx="1059724" cy="542468"/>
              <a:chOff x="3792246" y="2834201"/>
              <a:chExt cx="994266" cy="508959"/>
            </a:xfrm>
          </p:grpSpPr>
          <p:pic>
            <p:nvPicPr>
              <p:cNvPr id="110" name="Picture 2">
                <a:extLst>
                  <a:ext uri="{FF2B5EF4-FFF2-40B4-BE49-F238E27FC236}">
                    <a16:creationId xmlns:a16="http://schemas.microsoft.com/office/drawing/2014/main" id="{BE8DE1D2-76FF-971C-D79E-EA60C40BDF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530" t="13226" r="14735" b="79752"/>
              <a:stretch/>
            </p:blipFill>
            <p:spPr bwMode="auto">
              <a:xfrm>
                <a:off x="3792246" y="2900875"/>
                <a:ext cx="828422" cy="4422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7A228C3E-721E-8C16-EA79-2F9172892FA0}"/>
                  </a:ext>
                </a:extLst>
              </p:cNvPr>
              <p:cNvGrpSpPr/>
              <p:nvPr/>
            </p:nvGrpSpPr>
            <p:grpSpPr>
              <a:xfrm>
                <a:off x="3901166" y="2954911"/>
                <a:ext cx="622011" cy="57534"/>
                <a:chOff x="3943736" y="4572000"/>
                <a:chExt cx="1232834" cy="250762"/>
              </a:xfrm>
            </p:grpSpPr>
            <p:cxnSp>
              <p:nvCxnSpPr>
                <p:cNvPr id="113" name="직선 연결선 112">
                  <a:extLst>
                    <a:ext uri="{FF2B5EF4-FFF2-40B4-BE49-F238E27FC236}">
                      <a16:creationId xmlns:a16="http://schemas.microsoft.com/office/drawing/2014/main" id="{75D7F6CB-3156-E8F4-71DB-17223FF2E0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43736" y="4572000"/>
                  <a:ext cx="88057" cy="250759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ysDot"/>
                  <a:miter lim="800000"/>
                </a:ln>
                <a:effectLst/>
              </p:spPr>
            </p:cxnSp>
            <p:cxnSp>
              <p:nvCxnSpPr>
                <p:cNvPr id="114" name="직선 연결선 113">
                  <a:extLst>
                    <a:ext uri="{FF2B5EF4-FFF2-40B4-BE49-F238E27FC236}">
                      <a16:creationId xmlns:a16="http://schemas.microsoft.com/office/drawing/2014/main" id="{894C551B-503D-8A92-2B99-39D4B59109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31793" y="4822762"/>
                  <a:ext cx="1056720" cy="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FF0000"/>
                  </a:solidFill>
                  <a:prstDash val="dash"/>
                  <a:miter lim="800000"/>
                </a:ln>
                <a:effectLst/>
              </p:spPr>
            </p:cxnSp>
            <p:cxnSp>
              <p:nvCxnSpPr>
                <p:cNvPr id="115" name="직선 연결선 114">
                  <a:extLst>
                    <a:ext uri="{FF2B5EF4-FFF2-40B4-BE49-F238E27FC236}">
                      <a16:creationId xmlns:a16="http://schemas.microsoft.com/office/drawing/2014/main" id="{EB2FE4BF-8210-CE29-04B1-3E747F3990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88513" y="4572000"/>
                  <a:ext cx="88057" cy="250755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ysDot"/>
                  <a:miter lim="800000"/>
                </a:ln>
                <a:effectLst/>
              </p:spPr>
            </p:cxnSp>
          </p:grp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53C2613-18B0-8F8A-627D-54BA7BA5080B}"/>
                  </a:ext>
                </a:extLst>
              </p:cNvPr>
              <p:cNvSpPr txBox="1"/>
              <p:nvPr/>
            </p:nvSpPr>
            <p:spPr>
              <a:xfrm>
                <a:off x="3838318" y="2834201"/>
                <a:ext cx="948194" cy="221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리드 닿는 위치 마모</a:t>
                </a:r>
              </a:p>
            </p:txBody>
          </p:sp>
        </p:grp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1FFFC49F-D6EB-8D70-BD80-2643538C4EAD}"/>
              </a:ext>
            </a:extLst>
          </p:cNvPr>
          <p:cNvSpPr txBox="1"/>
          <p:nvPr/>
        </p:nvSpPr>
        <p:spPr>
          <a:xfrm>
            <a:off x="524156" y="4040924"/>
            <a:ext cx="13115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Ø"/>
            </a:pP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리드 용접 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Gap Trend </a:t>
            </a:r>
            <a:endParaRPr lang="ko-KR" altLang="en-US" sz="9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D799A4B-5D53-3791-3356-241A5C9F0B4A}"/>
              </a:ext>
            </a:extLst>
          </p:cNvPr>
          <p:cNvSpPr txBox="1"/>
          <p:nvPr/>
        </p:nvSpPr>
        <p:spPr>
          <a:xfrm>
            <a:off x="712442" y="4239297"/>
            <a:ext cx="14574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prstClr val="black"/>
                </a:solidFill>
                <a:latin typeface="Arial Narrow"/>
                <a:ea typeface="LG스마트체 Regular"/>
              </a:rPr>
              <a:t>- A</a:t>
            </a:r>
            <a:r>
              <a:rPr lang="ko-KR" altLang="en-US" sz="800" dirty="0">
                <a:solidFill>
                  <a:prstClr val="black"/>
                </a:solidFill>
                <a:latin typeface="Arial Narrow"/>
                <a:ea typeface="LG스마트체 Regular"/>
              </a:rPr>
              <a:t>용접기</a:t>
            </a:r>
            <a:r>
              <a:rPr lang="en-US" altLang="ko-KR" sz="800" dirty="0">
                <a:solidFill>
                  <a:prstClr val="black"/>
                </a:solidFill>
                <a:latin typeface="Arial Narrow"/>
                <a:ea typeface="LG스마트체 Regular"/>
              </a:rPr>
              <a:t>, Rear</a:t>
            </a:r>
            <a:r>
              <a:rPr lang="ko-KR" altLang="en-US" sz="800" dirty="0">
                <a:solidFill>
                  <a:prstClr val="black"/>
                </a:solidFill>
                <a:latin typeface="Arial Narrow"/>
                <a:ea typeface="LG스마트체 Regular"/>
              </a:rPr>
              <a:t>부</a:t>
            </a:r>
            <a:r>
              <a:rPr lang="en-US" altLang="ko-KR" sz="800" dirty="0">
                <a:solidFill>
                  <a:prstClr val="black"/>
                </a:solidFill>
                <a:latin typeface="Arial Narrow"/>
                <a:ea typeface="LG스마트체 Regular"/>
              </a:rPr>
              <a:t>, Cu 10</a:t>
            </a:r>
            <a:r>
              <a:rPr lang="ko-KR" altLang="en-US" sz="800" dirty="0">
                <a:solidFill>
                  <a:prstClr val="black"/>
                </a:solidFill>
                <a:latin typeface="Arial Narrow"/>
                <a:ea typeface="LG스마트체 Regular"/>
              </a:rPr>
              <a:t>번 위치</a:t>
            </a:r>
          </a:p>
        </p:txBody>
      </p:sp>
      <p:pic>
        <p:nvPicPr>
          <p:cNvPr id="120" name="Picture 2">
            <a:extLst>
              <a:ext uri="{FF2B5EF4-FFF2-40B4-BE49-F238E27FC236}">
                <a16:creationId xmlns:a16="http://schemas.microsoft.com/office/drawing/2014/main" id="{C7614182-B78D-4266-2D82-40E7767EF9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3" t="18479" r="8482"/>
          <a:stretch/>
        </p:blipFill>
        <p:spPr bwMode="auto">
          <a:xfrm>
            <a:off x="208363" y="2606401"/>
            <a:ext cx="2410235" cy="124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6CA6F151-854F-33F8-6DD7-F9391401E5E4}"/>
              </a:ext>
            </a:extLst>
          </p:cNvPr>
          <p:cNvSpPr txBox="1"/>
          <p:nvPr/>
        </p:nvSpPr>
        <p:spPr>
          <a:xfrm>
            <a:off x="891141" y="2355186"/>
            <a:ext cx="9573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리드 밴딩 공정 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  <a:endParaRPr lang="ko-KR" altLang="en-US" sz="9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A97E0A7B-86A8-E225-9755-B677E47F345A}"/>
              </a:ext>
            </a:extLst>
          </p:cNvPr>
          <p:cNvCxnSpPr/>
          <p:nvPr/>
        </p:nvCxnSpPr>
        <p:spPr>
          <a:xfrm flipH="1" flipV="1">
            <a:off x="844347" y="3178578"/>
            <a:ext cx="181241" cy="447246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FD4F4131-5F4F-ACD5-94B7-BC0698D49939}"/>
              </a:ext>
            </a:extLst>
          </p:cNvPr>
          <p:cNvCxnSpPr/>
          <p:nvPr/>
        </p:nvCxnSpPr>
        <p:spPr>
          <a:xfrm flipV="1">
            <a:off x="881616" y="3096824"/>
            <a:ext cx="166097" cy="60204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CBC43882-E6C5-91CA-301E-C7CA3CC7C2B5}"/>
              </a:ext>
            </a:extLst>
          </p:cNvPr>
          <p:cNvCxnSpPr>
            <a:cxnSpLocks/>
          </p:cNvCxnSpPr>
          <p:nvPr/>
        </p:nvCxnSpPr>
        <p:spPr>
          <a:xfrm flipH="1" flipV="1">
            <a:off x="973507" y="2898916"/>
            <a:ext cx="66368" cy="147593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F68A09D6-FB55-FC3F-79BA-2F33FFD0BA5E}"/>
              </a:ext>
            </a:extLst>
          </p:cNvPr>
          <p:cNvCxnSpPr>
            <a:cxnSpLocks/>
          </p:cNvCxnSpPr>
          <p:nvPr/>
        </p:nvCxnSpPr>
        <p:spPr>
          <a:xfrm flipV="1">
            <a:off x="1005418" y="2795605"/>
            <a:ext cx="175749" cy="58272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46DEAD8C-D568-65EB-A53C-AA885322A8BB}"/>
              </a:ext>
            </a:extLst>
          </p:cNvPr>
          <p:cNvSpPr txBox="1"/>
          <p:nvPr/>
        </p:nvSpPr>
        <p:spPr>
          <a:xfrm>
            <a:off x="691147" y="3331690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①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09590A7-CC31-5025-87AD-4B2E113A3A92}"/>
              </a:ext>
            </a:extLst>
          </p:cNvPr>
          <p:cNvSpPr txBox="1"/>
          <p:nvPr/>
        </p:nvSpPr>
        <p:spPr>
          <a:xfrm>
            <a:off x="867994" y="3113206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②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B3A4F63-A146-4D3F-3250-6B51515954F3}"/>
              </a:ext>
            </a:extLst>
          </p:cNvPr>
          <p:cNvSpPr txBox="1"/>
          <p:nvPr/>
        </p:nvSpPr>
        <p:spPr>
          <a:xfrm>
            <a:off x="767937" y="2831065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③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714F633-535D-F189-46C4-4C4F08E9EA85}"/>
              </a:ext>
            </a:extLst>
          </p:cNvPr>
          <p:cNvSpPr txBox="1"/>
          <p:nvPr/>
        </p:nvSpPr>
        <p:spPr>
          <a:xfrm>
            <a:off x="968601" y="2606401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④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8DA0E75-4C19-D835-0651-2DE83D0C72AE}"/>
              </a:ext>
            </a:extLst>
          </p:cNvPr>
          <p:cNvSpPr txBox="1"/>
          <p:nvPr/>
        </p:nvSpPr>
        <p:spPr>
          <a:xfrm>
            <a:off x="598353" y="3824827"/>
            <a:ext cx="21355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*Front/Rear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부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각 서보모터 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Y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축 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1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개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, X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축 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5</a:t>
            </a:r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개 구성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36D012C-3EEC-2E3A-FF89-67C5F42B0C5A}"/>
              </a:ext>
            </a:extLst>
          </p:cNvPr>
          <p:cNvSpPr txBox="1"/>
          <p:nvPr/>
        </p:nvSpPr>
        <p:spPr>
          <a:xfrm>
            <a:off x="3140937" y="2308793"/>
            <a:ext cx="14446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개선전 벤딩툴 마모 전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·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후 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  <a:endParaRPr lang="ko-KR" altLang="en-US" sz="9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7F2D773-310B-CFD6-9533-32816DCD89BB}"/>
              </a:ext>
            </a:extLst>
          </p:cNvPr>
          <p:cNvSpPr txBox="1"/>
          <p:nvPr/>
        </p:nvSpPr>
        <p:spPr>
          <a:xfrm>
            <a:off x="5257407" y="1417600"/>
            <a:ext cx="4700293" cy="528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벤딩툴이 마모될수록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서보모터 부하 감소함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부하율이 서서히 낮아지는 특성을 모니터링하여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서보 티칭 시점을 제안하고자 함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F31AF72-32A1-8B1B-F3FA-A3E29B44F765}"/>
              </a:ext>
            </a:extLst>
          </p:cNvPr>
          <p:cNvSpPr txBox="1"/>
          <p:nvPr/>
        </p:nvSpPr>
        <p:spPr>
          <a:xfrm>
            <a:off x="5430414" y="2026759"/>
            <a:ext cx="2329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Ø"/>
            </a:pP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서보모터 피크부하율 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Max(10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분 단위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트렌드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405BF0A-8BC1-1C3D-F3EF-9FFDE8E0A2AA}"/>
              </a:ext>
            </a:extLst>
          </p:cNvPr>
          <p:cNvSpPr txBox="1"/>
          <p:nvPr/>
        </p:nvSpPr>
        <p:spPr>
          <a:xfrm>
            <a:off x="355867" y="6113231"/>
            <a:ext cx="4431039" cy="528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한달에 약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0.3mm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감소 경향으로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, 1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개월 주기 서보 티칭 위치 조정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전진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</a:p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PM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시 마모도 확인후 교체 진행 중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A5809E5-E0CC-0B91-408E-E92287474D68}"/>
              </a:ext>
            </a:extLst>
          </p:cNvPr>
          <p:cNvSpPr txBox="1"/>
          <p:nvPr/>
        </p:nvSpPr>
        <p:spPr>
          <a:xfrm>
            <a:off x="5256209" y="4163072"/>
            <a:ext cx="8963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buFont typeface="Arial" panose="020B0604020202020204" pitchFamily="34" charset="0"/>
              <a:buChar char="•"/>
            </a:pP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모델링 방법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C756EC1-1004-C95B-1200-637FC7972418}"/>
              </a:ext>
            </a:extLst>
          </p:cNvPr>
          <p:cNvSpPr txBox="1"/>
          <p:nvPr/>
        </p:nvSpPr>
        <p:spPr>
          <a:xfrm>
            <a:off x="5359155" y="4393904"/>
            <a:ext cx="3114955" cy="484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-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교체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이후의 피크부하율 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Max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 관리선 학습하여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하한 기준선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산출</a:t>
            </a:r>
            <a:endParaRPr lang="en-US" altLang="ko-KR" sz="9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>
              <a:lnSpc>
                <a:spcPct val="150000"/>
              </a:lnSpc>
            </a:pP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-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최근 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1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일 동안 하한 기준선보다 낮아진 부하율의 비율 계산</a:t>
            </a: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9723A9BD-954E-D2DB-53C8-142B387FF901}"/>
              </a:ext>
            </a:extLst>
          </p:cNvPr>
          <p:cNvGrpSpPr/>
          <p:nvPr/>
        </p:nvGrpSpPr>
        <p:grpSpPr>
          <a:xfrm>
            <a:off x="5464652" y="2326271"/>
            <a:ext cx="4184070" cy="1666562"/>
            <a:chOff x="5435405" y="2495515"/>
            <a:chExt cx="4184070" cy="1666562"/>
          </a:xfrm>
        </p:grpSpPr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11D257DB-11B8-4DFB-0A69-C1FE9D1771CF}"/>
                </a:ext>
              </a:extLst>
            </p:cNvPr>
            <p:cNvGrpSpPr/>
            <p:nvPr/>
          </p:nvGrpSpPr>
          <p:grpSpPr>
            <a:xfrm>
              <a:off x="5435405" y="2495515"/>
              <a:ext cx="4184070" cy="1666562"/>
              <a:chOff x="5435405" y="2590515"/>
              <a:chExt cx="4184070" cy="1666562"/>
            </a:xfrm>
          </p:grpSpPr>
          <p:pic>
            <p:nvPicPr>
              <p:cNvPr id="140" name="그림 139">
                <a:extLst>
                  <a:ext uri="{FF2B5EF4-FFF2-40B4-BE49-F238E27FC236}">
                    <a16:creationId xmlns:a16="http://schemas.microsoft.com/office/drawing/2014/main" id="{8C2D15F2-7139-E1B9-40DC-684BCE6016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l="52222" b="67251"/>
              <a:stretch/>
            </p:blipFill>
            <p:spPr>
              <a:xfrm>
                <a:off x="5641955" y="2590515"/>
                <a:ext cx="3599690" cy="1447801"/>
              </a:xfrm>
              <a:prstGeom prst="rect">
                <a:avLst/>
              </a:prstGeom>
            </p:spPr>
          </p:pic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B237CB5-FB10-FBFE-D48B-EB52DC7F4AAB}"/>
                  </a:ext>
                </a:extLst>
              </p:cNvPr>
              <p:cNvSpPr txBox="1"/>
              <p:nvPr/>
            </p:nvSpPr>
            <p:spPr>
              <a:xfrm>
                <a:off x="5435405" y="3198999"/>
                <a:ext cx="268022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%</a:t>
                </a:r>
                <a:endPara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4BDB4CF0-D639-0B05-9248-2E10071F3EA4}"/>
                  </a:ext>
                </a:extLst>
              </p:cNvPr>
              <p:cNvSpPr txBox="1"/>
              <p:nvPr/>
            </p:nvSpPr>
            <p:spPr>
              <a:xfrm>
                <a:off x="7277844" y="3997827"/>
                <a:ext cx="431232" cy="2592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time</a:t>
                </a:r>
                <a:endPara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4B4A6C3F-F37E-0686-3ED6-13EFF71FEEFF}"/>
                  </a:ext>
                </a:extLst>
              </p:cNvPr>
              <p:cNvSpPr txBox="1"/>
              <p:nvPr/>
            </p:nvSpPr>
            <p:spPr>
              <a:xfrm>
                <a:off x="5796668" y="3881231"/>
                <a:ext cx="3289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3/1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DF4A73A8-8F96-BDEA-E078-33E9222B40B5}"/>
                  </a:ext>
                </a:extLst>
              </p:cNvPr>
              <p:cNvSpPr txBox="1"/>
              <p:nvPr/>
            </p:nvSpPr>
            <p:spPr>
              <a:xfrm>
                <a:off x="8865084" y="3874716"/>
                <a:ext cx="3866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4/22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899B8546-0D52-07A0-10D9-5F9D84632C36}"/>
                  </a:ext>
                </a:extLst>
              </p:cNvPr>
              <p:cNvCxnSpPr/>
              <p:nvPr/>
            </p:nvCxnSpPr>
            <p:spPr>
              <a:xfrm>
                <a:off x="6832150" y="3292722"/>
                <a:ext cx="2124075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DD830F1A-EE71-605F-4FC9-2D35A7EF90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32150" y="2640949"/>
                <a:ext cx="0" cy="1397367"/>
              </a:xfrm>
              <a:prstGeom prst="line">
                <a:avLst/>
              </a:prstGeom>
              <a:noFill/>
              <a:ln w="12700" cap="flat" cmpd="sng" algn="ctr">
                <a:solidFill>
                  <a:srgbClr val="0E2841"/>
                </a:solidFill>
                <a:prstDash val="dash"/>
                <a:miter lim="800000"/>
                <a:headEnd type="none"/>
                <a:tailEnd type="none"/>
              </a:ln>
              <a:effectLst/>
            </p:spPr>
          </p:cxn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80860AC2-E997-E1E3-950E-F412219D2CE8}"/>
                  </a:ext>
                </a:extLst>
              </p:cNvPr>
              <p:cNvSpPr txBox="1"/>
              <p:nvPr/>
            </p:nvSpPr>
            <p:spPr>
              <a:xfrm>
                <a:off x="6767867" y="3468984"/>
                <a:ext cx="38985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교체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1D7EE829-9C39-78D8-5933-30C77CDE3598}"/>
                  </a:ext>
                </a:extLst>
              </p:cNvPr>
              <p:cNvSpPr txBox="1"/>
              <p:nvPr/>
            </p:nvSpPr>
            <p:spPr>
              <a:xfrm>
                <a:off x="5747526" y="2672428"/>
                <a:ext cx="132760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Rear</a:t>
                </a: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부</a:t>
                </a: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,</a:t>
                </a: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 </a:t>
                </a: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X2</a:t>
                </a: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 벤딩 서보모터</a:t>
                </a:r>
              </a:p>
            </p:txBody>
          </p: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683FEA68-32C7-06D2-E8E9-BEE1EB2B9AC6}"/>
                  </a:ext>
                </a:extLst>
              </p:cNvPr>
              <p:cNvCxnSpPr/>
              <p:nvPr/>
            </p:nvCxnSpPr>
            <p:spPr>
              <a:xfrm>
                <a:off x="6832150" y="3015979"/>
                <a:ext cx="2124075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B05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</p:cxn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02C6628B-ADA7-42DD-0D0E-86C6C379DAF3}"/>
                  </a:ext>
                </a:extLst>
              </p:cNvPr>
              <p:cNvSpPr txBox="1"/>
              <p:nvPr/>
            </p:nvSpPr>
            <p:spPr>
              <a:xfrm>
                <a:off x="8896200" y="2873818"/>
                <a:ext cx="48603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6600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Target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5BE5BAD-D4F9-17BE-A752-5F59960F89C3}"/>
                  </a:ext>
                </a:extLst>
              </p:cNvPr>
              <p:cNvSpPr txBox="1"/>
              <p:nvPr/>
            </p:nvSpPr>
            <p:spPr>
              <a:xfrm>
                <a:off x="8896200" y="3160891"/>
                <a:ext cx="72327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하한 기준선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72D740A3-53A1-524A-4C03-F9E53CFFB0A8}"/>
                </a:ext>
              </a:extLst>
            </p:cNvPr>
            <p:cNvSpPr txBox="1"/>
            <p:nvPr/>
          </p:nvSpPr>
          <p:spPr>
            <a:xfrm>
              <a:off x="6657395" y="3795756"/>
              <a:ext cx="38664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3/17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ED6FD2FC-9D68-4637-7B43-1E9FEE50A51F}"/>
              </a:ext>
            </a:extLst>
          </p:cNvPr>
          <p:cNvGrpSpPr/>
          <p:nvPr/>
        </p:nvGrpSpPr>
        <p:grpSpPr>
          <a:xfrm>
            <a:off x="6551003" y="5149380"/>
            <a:ext cx="2724168" cy="1551241"/>
            <a:chOff x="6499845" y="5058621"/>
            <a:chExt cx="2724168" cy="1551241"/>
          </a:xfrm>
        </p:grpSpPr>
        <p:pic>
          <p:nvPicPr>
            <p:cNvPr id="153" name="그림 152">
              <a:extLst>
                <a:ext uri="{FF2B5EF4-FFF2-40B4-BE49-F238E27FC236}">
                  <a16:creationId xmlns:a16="http://schemas.microsoft.com/office/drawing/2014/main" id="{CD479707-3BB8-AC97-28A8-535E07A07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672679" y="5058621"/>
              <a:ext cx="2458638" cy="1343319"/>
            </a:xfrm>
            <a:prstGeom prst="rect">
              <a:avLst/>
            </a:prstGeom>
          </p:spPr>
        </p:pic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08247BCF-588B-5D23-B7BC-5980ED27A1FE}"/>
                </a:ext>
              </a:extLst>
            </p:cNvPr>
            <p:cNvSpPr txBox="1"/>
            <p:nvPr/>
          </p:nvSpPr>
          <p:spPr>
            <a:xfrm>
              <a:off x="6647312" y="6268229"/>
              <a:ext cx="36901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en-US" altLang="ko-KR" sz="90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3/17</a:t>
              </a:r>
              <a:endParaRPr lang="ko-KR" altLang="en-US" sz="9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CFEF8BFB-F53F-2302-E407-4F981B91ED56}"/>
                </a:ext>
              </a:extLst>
            </p:cNvPr>
            <p:cNvSpPr txBox="1"/>
            <p:nvPr/>
          </p:nvSpPr>
          <p:spPr>
            <a:xfrm>
              <a:off x="8855001" y="6252189"/>
              <a:ext cx="36901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en-US" altLang="ko-KR" sz="900" dirty="0">
                  <a:solidFill>
                    <a:prstClr val="black"/>
                  </a:solidFill>
                  <a:highlight>
                    <a:srgbClr val="FFFFFF"/>
                  </a:highlight>
                  <a:latin typeface="Arial Narrow"/>
                  <a:ea typeface="LG스마트체 Regular"/>
                </a:rPr>
                <a:t>4/22</a:t>
              </a:r>
              <a:endParaRPr lang="ko-KR" altLang="en-US" sz="900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2E42E1E-C111-C9C3-6310-63AC8571E247}"/>
                </a:ext>
              </a:extLst>
            </p:cNvPr>
            <p:cNvSpPr txBox="1"/>
            <p:nvPr/>
          </p:nvSpPr>
          <p:spPr>
            <a:xfrm>
              <a:off x="6499845" y="5607400"/>
              <a:ext cx="26802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en-US" altLang="ko-KR" sz="900" dirty="0">
                  <a:solidFill>
                    <a:prstClr val="black"/>
                  </a:solidFill>
                  <a:latin typeface="Arial Narrow"/>
                  <a:ea typeface="LG스마트체 Regular"/>
                </a:rPr>
                <a:t>%</a:t>
              </a:r>
              <a:endPara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8030AD00-C14E-DCAD-A92B-777685572735}"/>
                </a:ext>
              </a:extLst>
            </p:cNvPr>
            <p:cNvSpPr txBox="1"/>
            <p:nvPr/>
          </p:nvSpPr>
          <p:spPr>
            <a:xfrm>
              <a:off x="7839928" y="6350612"/>
              <a:ext cx="431232" cy="2592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en-US" altLang="ko-KR" sz="900" dirty="0">
                  <a:solidFill>
                    <a:prstClr val="black"/>
                  </a:solidFill>
                  <a:latin typeface="Arial Narrow"/>
                  <a:ea typeface="LG스마트체 Regular"/>
                </a:rPr>
                <a:t>time</a:t>
              </a:r>
              <a:endPara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endParaRPr>
            </a:p>
          </p:txBody>
        </p:sp>
      </p:grpSp>
      <p:sp>
        <p:nvSpPr>
          <p:cNvPr id="158" name="오른쪽 중괄호 157">
            <a:extLst>
              <a:ext uri="{FF2B5EF4-FFF2-40B4-BE49-F238E27FC236}">
                <a16:creationId xmlns:a16="http://schemas.microsoft.com/office/drawing/2014/main" id="{0F071A19-27DA-06B1-CBF0-DC14D74B6BBC}"/>
              </a:ext>
            </a:extLst>
          </p:cNvPr>
          <p:cNvSpPr/>
          <p:nvPr/>
        </p:nvSpPr>
        <p:spPr>
          <a:xfrm rot="5400000">
            <a:off x="8002125" y="2939624"/>
            <a:ext cx="114808" cy="2190950"/>
          </a:xfrm>
          <a:prstGeom prst="rightBrace">
            <a:avLst>
              <a:gd name="adj1" fmla="val 35848"/>
              <a:gd name="adj2" fmla="val 50000"/>
            </a:avLst>
          </a:prstGeom>
          <a:noFill/>
          <a:ln w="19050" cap="flat" cmpd="sng" algn="ctr">
            <a:solidFill>
              <a:srgbClr val="0E2841"/>
            </a:solidFill>
            <a:prstDash val="solid"/>
            <a:miter lim="800000"/>
            <a:headEnd type="none"/>
            <a:tailEnd type="none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cxnSp>
        <p:nvCxnSpPr>
          <p:cNvPr id="159" name="연결선: 꺾임 158">
            <a:extLst>
              <a:ext uri="{FF2B5EF4-FFF2-40B4-BE49-F238E27FC236}">
                <a16:creationId xmlns:a16="http://schemas.microsoft.com/office/drawing/2014/main" id="{C235BEF2-E655-CBC2-933F-60F803796948}"/>
              </a:ext>
            </a:extLst>
          </p:cNvPr>
          <p:cNvCxnSpPr>
            <a:stCxn id="158" idx="1"/>
            <a:endCxn id="153" idx="3"/>
          </p:cNvCxnSpPr>
          <p:nvPr/>
        </p:nvCxnSpPr>
        <p:spPr>
          <a:xfrm rot="16200000" flipH="1">
            <a:off x="7756733" y="4395298"/>
            <a:ext cx="1728537" cy="1122946"/>
          </a:xfrm>
          <a:prstGeom prst="bentConnector4">
            <a:avLst>
              <a:gd name="adj1" fmla="val 11116"/>
              <a:gd name="adj2" fmla="val 120357"/>
            </a:avLst>
          </a:prstGeom>
          <a:noFill/>
          <a:ln w="19050" cap="flat" cmpd="sng" algn="ctr">
            <a:solidFill>
              <a:srgbClr val="0E2841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A8B707F3-39A2-3488-1967-4141FBB537E2}"/>
              </a:ext>
            </a:extLst>
          </p:cNvPr>
          <p:cNvSpPr txBox="1"/>
          <p:nvPr/>
        </p:nvSpPr>
        <p:spPr>
          <a:xfrm>
            <a:off x="4888390" y="6006485"/>
            <a:ext cx="1522040" cy="440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latinLnBrk="0"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  <a:latin typeface="Arial Narrow"/>
                <a:ea typeface="LG스마트체 Regular"/>
              </a:rPr>
              <a:t>부하율과 모델링 트렌드 모니터링하며 관리선 선정 예정</a:t>
            </a:r>
            <a:endParaRPr lang="en-US" altLang="ko-KR" sz="800" dirty="0">
              <a:solidFill>
                <a:srgbClr val="0000FF"/>
              </a:solidFill>
              <a:latin typeface="Arial Narrow"/>
              <a:ea typeface="LG스마트체 Regular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77A115C-EDD7-8004-8132-E10F19670451}"/>
              </a:ext>
            </a:extLst>
          </p:cNvPr>
          <p:cNvSpPr txBox="1"/>
          <p:nvPr/>
        </p:nvSpPr>
        <p:spPr>
          <a:xfrm>
            <a:off x="3588569" y="4100617"/>
            <a:ext cx="13885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srgbClr val="006600"/>
                </a:solidFill>
                <a:latin typeface="Arial Narrow"/>
                <a:ea typeface="LG스마트체 Regular"/>
              </a:rPr>
              <a:t>리드 밀착면 사이즈 개선</a:t>
            </a:r>
            <a:r>
              <a:rPr lang="en-US" altLang="ko-KR" sz="800" dirty="0">
                <a:solidFill>
                  <a:srgbClr val="006600"/>
                </a:solidFill>
                <a:latin typeface="Arial Narrow"/>
                <a:ea typeface="LG스마트체 Regular"/>
              </a:rPr>
              <a:t>(1/30)</a:t>
            </a:r>
            <a:endParaRPr lang="ko-KR" altLang="en-US" sz="800" dirty="0">
              <a:solidFill>
                <a:srgbClr val="006600"/>
              </a:solidFill>
              <a:latin typeface="Arial Narrow"/>
              <a:ea typeface="LG스마트체 Regular"/>
            </a:endParaRPr>
          </a:p>
        </p:txBody>
      </p: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7CD65F0B-CB58-66C9-227E-82F976B81CC5}"/>
              </a:ext>
            </a:extLst>
          </p:cNvPr>
          <p:cNvCxnSpPr>
            <a:cxnSpLocks/>
          </p:cNvCxnSpPr>
          <p:nvPr/>
        </p:nvCxnSpPr>
        <p:spPr>
          <a:xfrm>
            <a:off x="6872068" y="5333735"/>
            <a:ext cx="2282936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/>
            <a:tailEnd type="none"/>
          </a:ln>
          <a:effectLst/>
        </p:spPr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40C50DFC-4870-F9C9-24BA-902F9963BE39}"/>
              </a:ext>
            </a:extLst>
          </p:cNvPr>
          <p:cNvSpPr txBox="1"/>
          <p:nvPr/>
        </p:nvSpPr>
        <p:spPr>
          <a:xfrm>
            <a:off x="8630266" y="5309974"/>
            <a:ext cx="7601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dirty="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Upper Critical</a:t>
            </a:r>
            <a:endParaRPr lang="ko-KR" altLang="en-US" sz="900" dirty="0">
              <a:solidFill>
                <a:srgbClr val="FF0000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1F06EE6-F5CC-DDC6-D4D3-D6112B2D1526}"/>
              </a:ext>
            </a:extLst>
          </p:cNvPr>
          <p:cNvSpPr txBox="1"/>
          <p:nvPr/>
        </p:nvSpPr>
        <p:spPr>
          <a:xfrm>
            <a:off x="6801994" y="4975607"/>
            <a:ext cx="15568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부하율 감소 비율 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(</a:t>
            </a:r>
            <a:r>
              <a:rPr lang="ko-KR" altLang="en-US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시뮬레이션</a:t>
            </a:r>
            <a:r>
              <a:rPr lang="en-US" altLang="ko-KR" sz="900" dirty="0">
                <a:solidFill>
                  <a:prstClr val="black"/>
                </a:solidFill>
                <a:highlight>
                  <a:srgbClr val="FFFF00"/>
                </a:highlight>
                <a:latin typeface="Arial Narrow"/>
                <a:ea typeface="LG스마트체 Regular"/>
              </a:rPr>
              <a:t>)</a:t>
            </a:r>
            <a:endParaRPr lang="ko-KR" altLang="en-US" sz="900" dirty="0">
              <a:solidFill>
                <a:prstClr val="black"/>
              </a:solidFill>
              <a:highlight>
                <a:srgbClr val="FFFF00"/>
              </a:highlight>
              <a:latin typeface="Arial Narrow"/>
              <a:ea typeface="LG스마트체 Regular"/>
            </a:endParaRPr>
          </a:p>
        </p:txBody>
      </p:sp>
      <p:sp>
        <p:nvSpPr>
          <p:cNvPr id="165" name="화살표: 오른쪽 164">
            <a:extLst>
              <a:ext uri="{FF2B5EF4-FFF2-40B4-BE49-F238E27FC236}">
                <a16:creationId xmlns:a16="http://schemas.microsoft.com/office/drawing/2014/main" id="{4BDCD237-F676-82AB-F9C4-BD7F12F15D4B}"/>
              </a:ext>
            </a:extLst>
          </p:cNvPr>
          <p:cNvSpPr/>
          <p:nvPr/>
        </p:nvSpPr>
        <p:spPr>
          <a:xfrm rot="10800000">
            <a:off x="6418294" y="6099660"/>
            <a:ext cx="248519" cy="250346"/>
          </a:xfrm>
          <a:prstGeom prst="rightArrow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E4D7DBC-1D29-406D-68C8-970EAA7DEB2F}"/>
              </a:ext>
            </a:extLst>
          </p:cNvPr>
          <p:cNvSpPr txBox="1"/>
          <p:nvPr/>
        </p:nvSpPr>
        <p:spPr>
          <a:xfrm>
            <a:off x="9350540" y="4699777"/>
            <a:ext cx="574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srgbClr val="0000FF"/>
                </a:solidFill>
                <a:latin typeface="Arial Narrow"/>
                <a:ea typeface="LG스마트체 Regular"/>
              </a:rPr>
              <a:t>하한 이탈</a:t>
            </a:r>
            <a:endParaRPr lang="en-US" altLang="ko-KR" sz="800" dirty="0">
              <a:solidFill>
                <a:srgbClr val="0000FF"/>
              </a:solidFill>
              <a:latin typeface="Arial Narrow"/>
              <a:ea typeface="LG스마트체 Regular"/>
            </a:endParaRPr>
          </a:p>
          <a:p>
            <a:pPr defTabSz="457200" latinLnBrk="0"/>
            <a:r>
              <a:rPr lang="ko-KR" altLang="en-US" sz="800" dirty="0">
                <a:solidFill>
                  <a:srgbClr val="0000FF"/>
                </a:solidFill>
                <a:latin typeface="Arial Narrow"/>
                <a:ea typeface="LG스마트체 Regular"/>
              </a:rPr>
              <a:t>비율 계산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E54749F-2C6F-5054-DB06-79D9E63ED0CD}"/>
              </a:ext>
            </a:extLst>
          </p:cNvPr>
          <p:cNvSpPr txBox="1"/>
          <p:nvPr/>
        </p:nvSpPr>
        <p:spPr>
          <a:xfrm>
            <a:off x="2484829" y="4603726"/>
            <a:ext cx="5501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800" dirty="0">
                <a:solidFill>
                  <a:srgbClr val="FF0000"/>
                </a:solidFill>
                <a:latin typeface="Arial Narrow"/>
                <a:ea typeface="LG스마트체 Regular"/>
              </a:rPr>
              <a:t>Gap </a:t>
            </a:r>
            <a:r>
              <a:rPr lang="ko-KR" altLang="en-US" sz="800" dirty="0">
                <a:solidFill>
                  <a:srgbClr val="FF0000"/>
                </a:solidFill>
                <a:latin typeface="Arial Narrow"/>
                <a:ea typeface="LG스마트체 Regular"/>
              </a:rPr>
              <a:t>증가</a:t>
            </a:r>
          </a:p>
        </p:txBody>
      </p:sp>
      <p:sp>
        <p:nvSpPr>
          <p:cNvPr id="4" name="실행 단추: 홈으로 이동 3">
            <a:hlinkClick r:id="rId13" action="ppaction://hlinksldjump" highlightClick="1"/>
            <a:extLst>
              <a:ext uri="{FF2B5EF4-FFF2-40B4-BE49-F238E27FC236}">
                <a16:creationId xmlns:a16="http://schemas.microsoft.com/office/drawing/2014/main" id="{80ACBFF5-C2F0-9157-9324-9F3C2FB8548A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86720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8435643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리드 용접 지그 가압량 최적화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EEC14-5BCA-26AD-41E2-700BC21C7780}"/>
              </a:ext>
            </a:extLst>
          </p:cNvPr>
          <p:cNvSpPr txBox="1"/>
          <p:nvPr/>
        </p:nvSpPr>
        <p:spPr>
          <a:xfrm>
            <a:off x="196281" y="620688"/>
            <a:ext cx="9581255" cy="55521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리드 용접 시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가압 지그 서보모터 부하율 기반으로 가압량 조정하여 가압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Retry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수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(Tact Time)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감소시키고자 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→ 가압량 조정 테스트 진행하여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용접 </a:t>
            </a:r>
            <a:r>
              <a:rPr kumimoji="1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Gap </a:t>
            </a:r>
            <a:r>
              <a:rPr kumimoji="1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값 산포 감소 확인</a:t>
            </a:r>
            <a:endParaRPr kumimoji="1" lang="en-US" altLang="ko-KR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21B0E-A622-8EB9-47B8-CD9AE6522A10}"/>
              </a:ext>
            </a:extLst>
          </p:cNvPr>
          <p:cNvSpPr txBox="1"/>
          <p:nvPr/>
        </p:nvSpPr>
        <p:spPr>
          <a:xfrm>
            <a:off x="204839" y="1180888"/>
            <a:ext cx="12378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리드 용접 가압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F238304-B754-8F74-FB61-5BD5F8612452}"/>
              </a:ext>
            </a:extLst>
          </p:cNvPr>
          <p:cNvSpPr txBox="1"/>
          <p:nvPr/>
        </p:nvSpPr>
        <p:spPr>
          <a:xfrm>
            <a:off x="302318" y="1430418"/>
            <a:ext cx="4651103" cy="528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리드 용접 시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, 2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개 리드 묶음씩 가압하며 용접 진행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리드 가압 위치별 가압 거리로 가압량 조절 가능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218CDB37-1F6E-83F1-E37B-A0FE7B2BFA1C}"/>
              </a:ext>
            </a:extLst>
          </p:cNvPr>
          <p:cNvGrpSpPr/>
          <p:nvPr/>
        </p:nvGrpSpPr>
        <p:grpSpPr>
          <a:xfrm>
            <a:off x="309589" y="2103663"/>
            <a:ext cx="2621226" cy="501308"/>
            <a:chOff x="400218" y="6044805"/>
            <a:chExt cx="2820418" cy="539403"/>
          </a:xfrm>
        </p:grpSpPr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3C8A80B1-8C94-B176-9116-48F2656FDC6A}"/>
                </a:ext>
              </a:extLst>
            </p:cNvPr>
            <p:cNvGrpSpPr/>
            <p:nvPr/>
          </p:nvGrpSpPr>
          <p:grpSpPr>
            <a:xfrm>
              <a:off x="400218" y="6107571"/>
              <a:ext cx="2820418" cy="476637"/>
              <a:chOff x="2287856" y="805938"/>
              <a:chExt cx="4116276" cy="695631"/>
            </a:xfrm>
          </p:grpSpPr>
          <p:pic>
            <p:nvPicPr>
              <p:cNvPr id="110" name="Picture 4">
                <a:extLst>
                  <a:ext uri="{FF2B5EF4-FFF2-40B4-BE49-F238E27FC236}">
                    <a16:creationId xmlns:a16="http://schemas.microsoft.com/office/drawing/2014/main" id="{A8ACCF6D-2070-C0BC-BC1C-3FC884ADB3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01" t="37011" r="1508" b="41476"/>
              <a:stretch/>
            </p:blipFill>
            <p:spPr bwMode="auto">
              <a:xfrm>
                <a:off x="2287856" y="805938"/>
                <a:ext cx="4116276" cy="6956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8BB2F5A1-ED1D-8D20-2C35-F49AFB78295A}"/>
                  </a:ext>
                </a:extLst>
              </p:cNvPr>
              <p:cNvSpPr/>
              <p:nvPr/>
            </p:nvSpPr>
            <p:spPr>
              <a:xfrm>
                <a:off x="2461285" y="953488"/>
                <a:ext cx="436295" cy="452288"/>
              </a:xfrm>
              <a:prstGeom prst="rect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cxnSp>
            <p:nvCxnSpPr>
              <p:cNvPr id="112" name="직선 화살표 연결선 111">
                <a:extLst>
                  <a:ext uri="{FF2B5EF4-FFF2-40B4-BE49-F238E27FC236}">
                    <a16:creationId xmlns:a16="http://schemas.microsoft.com/office/drawing/2014/main" id="{121A48C0-19AA-3C21-5508-933A2CD425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7580" y="1158270"/>
                <a:ext cx="1562108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CCE25A5-72DE-4AAE-DE84-84FEDE2B28F8}"/>
                </a:ext>
              </a:extLst>
            </p:cNvPr>
            <p:cNvSpPr txBox="1"/>
            <p:nvPr/>
          </p:nvSpPr>
          <p:spPr>
            <a:xfrm>
              <a:off x="773466" y="6044805"/>
              <a:ext cx="1036961" cy="231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가압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/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용접 진행방향</a:t>
              </a: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4204C1-F188-FD8C-F35C-805961BE5FB0}"/>
              </a:ext>
            </a:extLst>
          </p:cNvPr>
          <p:cNvGrpSpPr/>
          <p:nvPr/>
        </p:nvGrpSpPr>
        <p:grpSpPr>
          <a:xfrm>
            <a:off x="309590" y="2887723"/>
            <a:ext cx="2602539" cy="452327"/>
            <a:chOff x="3538851" y="6053010"/>
            <a:chExt cx="2636318" cy="540280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EACC76A2-7995-DE03-3D6D-AA12B960B322}"/>
                </a:ext>
              </a:extLst>
            </p:cNvPr>
            <p:cNvGrpSpPr/>
            <p:nvPr/>
          </p:nvGrpSpPr>
          <p:grpSpPr>
            <a:xfrm>
              <a:off x="3538851" y="6086027"/>
              <a:ext cx="2636318" cy="507263"/>
              <a:chOff x="2287856" y="1797648"/>
              <a:chExt cx="4221124" cy="812201"/>
            </a:xfrm>
          </p:grpSpPr>
          <p:pic>
            <p:nvPicPr>
              <p:cNvPr id="116" name="Picture 2">
                <a:extLst>
                  <a:ext uri="{FF2B5EF4-FFF2-40B4-BE49-F238E27FC236}">
                    <a16:creationId xmlns:a16="http://schemas.microsoft.com/office/drawing/2014/main" id="{B507BF71-1056-8387-010F-9642733E6D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05" t="37636" r="1172" b="37345"/>
              <a:stretch/>
            </p:blipFill>
            <p:spPr bwMode="auto">
              <a:xfrm>
                <a:off x="2287856" y="1797648"/>
                <a:ext cx="4221124" cy="812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38D0A4ED-713F-AF98-7DF6-A9C5EE60D4BC}"/>
                  </a:ext>
                </a:extLst>
              </p:cNvPr>
              <p:cNvSpPr/>
              <p:nvPr/>
            </p:nvSpPr>
            <p:spPr>
              <a:xfrm>
                <a:off x="5834063" y="2029018"/>
                <a:ext cx="427974" cy="418908"/>
              </a:xfrm>
              <a:prstGeom prst="rect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cxnSp>
            <p:nvCxnSpPr>
              <p:cNvPr id="118" name="직선 화살표 연결선 117">
                <a:extLst>
                  <a:ext uri="{FF2B5EF4-FFF2-40B4-BE49-F238E27FC236}">
                    <a16:creationId xmlns:a16="http://schemas.microsoft.com/office/drawing/2014/main" id="{828B7CDF-96DB-9080-BD83-D80BD9DA44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00550" y="2200275"/>
                <a:ext cx="1433513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CC73D83-7D29-367E-CA95-90214055BBFD}"/>
                </a:ext>
              </a:extLst>
            </p:cNvPr>
            <p:cNvSpPr txBox="1"/>
            <p:nvPr/>
          </p:nvSpPr>
          <p:spPr>
            <a:xfrm>
              <a:off x="4897602" y="6053010"/>
              <a:ext cx="976234" cy="2573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가압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/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용접 진행방향</a:t>
              </a: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25401282-18B1-996D-12B8-1FBA93EA0BF4}"/>
              </a:ext>
            </a:extLst>
          </p:cNvPr>
          <p:cNvSpPr txBox="1"/>
          <p:nvPr/>
        </p:nvSpPr>
        <p:spPr>
          <a:xfrm>
            <a:off x="1074494" y="1914102"/>
            <a:ext cx="1098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[ Front 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리드 용접부 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  <a:endParaRPr lang="ko-KR" altLang="en-US" sz="9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641101A-5A85-9010-048B-04E152335A72}"/>
              </a:ext>
            </a:extLst>
          </p:cNvPr>
          <p:cNvSpPr txBox="1"/>
          <p:nvPr/>
        </p:nvSpPr>
        <p:spPr>
          <a:xfrm>
            <a:off x="1074494" y="2694530"/>
            <a:ext cx="1058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[ Rear </a:t>
            </a:r>
            <a:r>
              <a:rPr lang="ko-KR" altLang="en-US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리드 용접부 </a:t>
            </a:r>
            <a:r>
              <a:rPr lang="en-US" altLang="ko-KR" sz="900" b="1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  <a:endParaRPr lang="ko-KR" altLang="en-US" sz="9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50ED244-2504-CD07-361B-CBD01DC1DF59}"/>
              </a:ext>
            </a:extLst>
          </p:cNvPr>
          <p:cNvSpPr txBox="1"/>
          <p:nvPr/>
        </p:nvSpPr>
        <p:spPr>
          <a:xfrm>
            <a:off x="3620985" y="3110282"/>
            <a:ext cx="127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700" dirty="0">
                <a:solidFill>
                  <a:srgbClr val="006600"/>
                </a:solidFill>
                <a:latin typeface="Arial Narrow"/>
                <a:ea typeface="LG스마트체 Regular"/>
              </a:rPr>
              <a:t>*Gap </a:t>
            </a:r>
            <a:r>
              <a:rPr lang="ko-KR" altLang="en-US" sz="700" dirty="0">
                <a:solidFill>
                  <a:srgbClr val="006600"/>
                </a:solidFill>
                <a:latin typeface="Arial Narrow"/>
                <a:ea typeface="LG스마트체 Regular"/>
              </a:rPr>
              <a:t>관리 범위 </a:t>
            </a:r>
            <a:r>
              <a:rPr lang="en-US" altLang="ko-KR" sz="700" dirty="0">
                <a:solidFill>
                  <a:srgbClr val="006600"/>
                </a:solidFill>
                <a:latin typeface="Arial Narrow"/>
                <a:ea typeface="LG스마트체 Regular"/>
              </a:rPr>
              <a:t>: 300 ~ 600(Cu),</a:t>
            </a:r>
          </a:p>
          <a:p>
            <a:pPr defTabSz="457200" latinLnBrk="0"/>
            <a:r>
              <a:rPr lang="en-US" altLang="ko-KR" sz="700" dirty="0">
                <a:solidFill>
                  <a:srgbClr val="006600"/>
                </a:solidFill>
                <a:latin typeface="Arial Narrow"/>
                <a:ea typeface="LG스마트체 Regular"/>
              </a:rPr>
              <a:t>                            700 ~ 1100(Al)</a:t>
            </a:r>
            <a:endParaRPr lang="ko-KR" altLang="en-US" sz="700" dirty="0">
              <a:solidFill>
                <a:srgbClr val="006600"/>
              </a:solidFill>
              <a:latin typeface="Arial Narrow"/>
              <a:ea typeface="LG스마트체 Regular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6A32B84-EDFE-9C0E-4065-F3D5932E8200}"/>
              </a:ext>
            </a:extLst>
          </p:cNvPr>
          <p:cNvSpPr txBox="1"/>
          <p:nvPr/>
        </p:nvSpPr>
        <p:spPr>
          <a:xfrm>
            <a:off x="271703" y="3837194"/>
            <a:ext cx="4651103" cy="528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용접 시 가압량이 부족하면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Retry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수가 증가하거나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Gap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불량 발생 확률 증가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71450" indent="-171450" defTabSz="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현재는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Retry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수와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Gap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측정값이 크면 가압량 조정 진행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→ 정량적 기준 필요</a:t>
            </a:r>
            <a:endParaRPr lang="en-US" altLang="ko-KR" sz="10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D06179D-CDA5-4314-A648-E58EBE734B60}"/>
              </a:ext>
            </a:extLst>
          </p:cNvPr>
          <p:cNvSpPr txBox="1"/>
          <p:nvPr/>
        </p:nvSpPr>
        <p:spPr>
          <a:xfrm>
            <a:off x="5078224" y="1189382"/>
            <a:ext cx="628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분석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51C10DA-9051-601A-369F-F2F5852C9640}"/>
              </a:ext>
            </a:extLst>
          </p:cNvPr>
          <p:cNvSpPr txBox="1"/>
          <p:nvPr/>
        </p:nvSpPr>
        <p:spPr>
          <a:xfrm>
            <a:off x="5203082" y="1459274"/>
            <a:ext cx="34099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defTabSz="457200" latinLnBrk="0"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가압 위치별 부하율 </a:t>
            </a:r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/ Gap </a:t>
            </a: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분포  </a:t>
            </a:r>
            <a:r>
              <a:rPr lang="en-US" altLang="ko-KR" sz="800" dirty="0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800" dirty="0">
                <a:solidFill>
                  <a:prstClr val="black"/>
                </a:solidFill>
                <a:latin typeface="Arial Narrow"/>
                <a:ea typeface="LG스마트체 Regular"/>
              </a:rPr>
              <a:t>용접기</a:t>
            </a:r>
            <a:r>
              <a:rPr lang="en-US" altLang="ko-KR" sz="800" dirty="0">
                <a:solidFill>
                  <a:prstClr val="black"/>
                </a:solidFill>
                <a:latin typeface="Arial Narrow"/>
                <a:ea typeface="LG스마트체 Regular"/>
              </a:rPr>
              <a:t>A, Front</a:t>
            </a:r>
            <a:r>
              <a:rPr lang="ko-KR" altLang="en-US" sz="800" dirty="0">
                <a:solidFill>
                  <a:prstClr val="black"/>
                </a:solidFill>
                <a:latin typeface="Arial Narrow"/>
                <a:ea typeface="LG스마트체 Regular"/>
              </a:rPr>
              <a:t>부</a:t>
            </a:r>
            <a:r>
              <a:rPr lang="en-US" altLang="ko-KR" sz="800" dirty="0">
                <a:solidFill>
                  <a:prstClr val="black"/>
                </a:solidFill>
                <a:latin typeface="Arial Narrow"/>
                <a:ea typeface="LG스마트체 Regular"/>
              </a:rPr>
              <a:t>,</a:t>
            </a:r>
            <a:r>
              <a:rPr lang="ko-KR" altLang="en-US" sz="8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Arial Narrow"/>
                <a:ea typeface="LG스마트체 Regular"/>
              </a:rPr>
              <a:t>Cu</a:t>
            </a:r>
            <a:r>
              <a:rPr lang="ko-KR" altLang="en-US" sz="800" dirty="0">
                <a:solidFill>
                  <a:prstClr val="black"/>
                </a:solidFill>
                <a:latin typeface="Arial Narrow"/>
                <a:ea typeface="LG스마트체 Regular"/>
              </a:rPr>
              <a:t>리드</a:t>
            </a:r>
            <a:r>
              <a:rPr lang="en-US" altLang="ko-KR" sz="800" dirty="0">
                <a:solidFill>
                  <a:prstClr val="black"/>
                </a:solidFill>
                <a:latin typeface="Arial Narrow"/>
                <a:ea typeface="LG스마트체 Regular"/>
              </a:rPr>
              <a:t>)(4/13 ~ 20)</a:t>
            </a:r>
            <a:endParaRPr lang="ko-KR" altLang="en-US" sz="8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1CC3FA5-39E6-75A7-4249-C1A01F41BC23}"/>
              </a:ext>
            </a:extLst>
          </p:cNvPr>
          <p:cNvSpPr txBox="1"/>
          <p:nvPr/>
        </p:nvSpPr>
        <p:spPr>
          <a:xfrm>
            <a:off x="5309030" y="3203043"/>
            <a:ext cx="4371710" cy="484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>
              <a:lnSpc>
                <a:spcPct val="150000"/>
              </a:lnSpc>
            </a:pP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-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가압 위치별 부하율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/Gap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수준이 다르며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,  Gap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값이 높은 위치에서 부하율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가장 낮은 현상 보임</a:t>
            </a:r>
            <a:endParaRPr lang="en-US" altLang="ko-KR" sz="9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>
              <a:lnSpc>
                <a:spcPct val="150000"/>
              </a:lnSpc>
            </a:pP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  (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추가 가압 가능 판단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) </a:t>
            </a:r>
            <a:r>
              <a:rPr lang="ko-KR" altLang="en-US" sz="900" b="1" dirty="0">
                <a:solidFill>
                  <a:srgbClr val="0000FF"/>
                </a:solidFill>
                <a:latin typeface="Arial Narrow"/>
                <a:ea typeface="LG스마트체 Regular"/>
              </a:rPr>
              <a:t>→ </a:t>
            </a:r>
            <a:r>
              <a:rPr lang="en-US" altLang="ko-KR" sz="900" b="1" dirty="0">
                <a:solidFill>
                  <a:srgbClr val="0000FF"/>
                </a:solidFill>
                <a:latin typeface="Arial Narrow"/>
                <a:ea typeface="LG스마트체 Regular"/>
              </a:rPr>
              <a:t>PM </a:t>
            </a:r>
            <a:r>
              <a:rPr lang="ko-KR" altLang="en-US" sz="900" b="1" dirty="0">
                <a:solidFill>
                  <a:srgbClr val="0000FF"/>
                </a:solidFill>
                <a:latin typeface="Arial Narrow"/>
                <a:ea typeface="LG스마트체 Regular"/>
              </a:rPr>
              <a:t>시 가압량 조정 제안</a:t>
            </a:r>
            <a:r>
              <a:rPr lang="en-US" altLang="ko-KR" sz="900" b="1" dirty="0">
                <a:solidFill>
                  <a:srgbClr val="0000FF"/>
                </a:solidFill>
                <a:latin typeface="Arial Narrow"/>
                <a:ea typeface="LG스마트체 Regular"/>
              </a:rPr>
              <a:t>(0.3mm </a:t>
            </a:r>
            <a:r>
              <a:rPr lang="ko-KR" altLang="en-US" sz="900" b="1" dirty="0">
                <a:solidFill>
                  <a:srgbClr val="0000FF"/>
                </a:solidFill>
                <a:latin typeface="Arial Narrow"/>
                <a:ea typeface="LG스마트체 Regular"/>
              </a:rPr>
              <a:t>전진</a:t>
            </a:r>
            <a:r>
              <a:rPr lang="en-US" altLang="ko-KR" sz="900" b="1" dirty="0">
                <a:solidFill>
                  <a:srgbClr val="0000FF"/>
                </a:solidFill>
                <a:latin typeface="Arial Narrow"/>
                <a:ea typeface="LG스마트체 Regular"/>
              </a:rPr>
              <a:t>)</a:t>
            </a:r>
            <a:endParaRPr lang="ko-KR" altLang="en-US" sz="900" b="1" dirty="0">
              <a:solidFill>
                <a:srgbClr val="0000FF"/>
              </a:solidFill>
              <a:latin typeface="Arial Narrow"/>
              <a:ea typeface="LG스마트체 Regular"/>
            </a:endParaRPr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95940150-FDD1-8008-ABEF-2C2C614B215D}"/>
              </a:ext>
            </a:extLst>
          </p:cNvPr>
          <p:cNvGrpSpPr/>
          <p:nvPr/>
        </p:nvGrpSpPr>
        <p:grpSpPr>
          <a:xfrm>
            <a:off x="5320099" y="1697343"/>
            <a:ext cx="4398666" cy="1516956"/>
            <a:chOff x="5186534" y="1607447"/>
            <a:chExt cx="2906177" cy="1516956"/>
          </a:xfrm>
        </p:grpSpPr>
        <p:pic>
          <p:nvPicPr>
            <p:cNvPr id="127" name="그림 126">
              <a:extLst>
                <a:ext uri="{FF2B5EF4-FFF2-40B4-BE49-F238E27FC236}">
                  <a16:creationId xmlns:a16="http://schemas.microsoft.com/office/drawing/2014/main" id="{EF60C50A-5580-6991-B016-B02E1326A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86534" y="1675161"/>
              <a:ext cx="1405143" cy="1373321"/>
            </a:xfrm>
            <a:prstGeom prst="rect">
              <a:avLst/>
            </a:prstGeom>
          </p:spPr>
        </p:pic>
        <p:pic>
          <p:nvPicPr>
            <p:cNvPr id="128" name="그림 127">
              <a:extLst>
                <a:ext uri="{FF2B5EF4-FFF2-40B4-BE49-F238E27FC236}">
                  <a16:creationId xmlns:a16="http://schemas.microsoft.com/office/drawing/2014/main" id="{F4659721-AEBC-3949-A26D-1C3C04D582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19481" y="1675161"/>
              <a:ext cx="1416625" cy="1399319"/>
            </a:xfrm>
            <a:prstGeom prst="rect">
              <a:avLst/>
            </a:prstGeom>
          </p:spPr>
        </p:pic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8BF7982-7215-8F7E-DDFE-90D73EC8330E}"/>
                </a:ext>
              </a:extLst>
            </p:cNvPr>
            <p:cNvSpPr txBox="1"/>
            <p:nvPr/>
          </p:nvSpPr>
          <p:spPr>
            <a:xfrm>
              <a:off x="5196324" y="2889171"/>
              <a:ext cx="3802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Seq2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7AFC12A8-6DA1-DAB9-D90C-69E18B89DBFB}"/>
                </a:ext>
              </a:extLst>
            </p:cNvPr>
            <p:cNvSpPr txBox="1"/>
            <p:nvPr/>
          </p:nvSpPr>
          <p:spPr>
            <a:xfrm>
              <a:off x="5455638" y="2889171"/>
              <a:ext cx="3802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Seq4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43FC020-48C7-72EF-3AD1-C25A9F77AA06}"/>
                </a:ext>
              </a:extLst>
            </p:cNvPr>
            <p:cNvSpPr txBox="1"/>
            <p:nvPr/>
          </p:nvSpPr>
          <p:spPr>
            <a:xfrm>
              <a:off x="5719284" y="2889171"/>
              <a:ext cx="3802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Seq6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AD6C05D-7D41-976D-14B8-1255AA2A3C00}"/>
                </a:ext>
              </a:extLst>
            </p:cNvPr>
            <p:cNvSpPr txBox="1"/>
            <p:nvPr/>
          </p:nvSpPr>
          <p:spPr>
            <a:xfrm>
              <a:off x="5982928" y="2889171"/>
              <a:ext cx="3802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Seq8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BAD37B4-7E7E-01D4-B1E8-CA22EE730B92}"/>
                </a:ext>
              </a:extLst>
            </p:cNvPr>
            <p:cNvSpPr txBox="1"/>
            <p:nvPr/>
          </p:nvSpPr>
          <p:spPr>
            <a:xfrm>
              <a:off x="6222363" y="2889171"/>
              <a:ext cx="42672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Seq10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4443A8A-7746-F52D-325C-48B1AE50C96D}"/>
                </a:ext>
              </a:extLst>
            </p:cNvPr>
            <p:cNvSpPr txBox="1"/>
            <p:nvPr/>
          </p:nvSpPr>
          <p:spPr>
            <a:xfrm>
              <a:off x="6639951" y="2908959"/>
              <a:ext cx="3802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Seq2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2C6EDAA-1158-44D3-A9A8-876E06038C49}"/>
                </a:ext>
              </a:extLst>
            </p:cNvPr>
            <p:cNvSpPr txBox="1"/>
            <p:nvPr/>
          </p:nvSpPr>
          <p:spPr>
            <a:xfrm>
              <a:off x="6899266" y="2908959"/>
              <a:ext cx="3802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Seq4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7ACDFB4-A3FD-1A71-95E5-BD9551EC17B5}"/>
                </a:ext>
              </a:extLst>
            </p:cNvPr>
            <p:cNvSpPr txBox="1"/>
            <p:nvPr/>
          </p:nvSpPr>
          <p:spPr>
            <a:xfrm>
              <a:off x="7162910" y="2908959"/>
              <a:ext cx="3802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Seq6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DEA6056-E9F0-583C-D597-CAA225F2F2DA}"/>
                </a:ext>
              </a:extLst>
            </p:cNvPr>
            <p:cNvSpPr txBox="1"/>
            <p:nvPr/>
          </p:nvSpPr>
          <p:spPr>
            <a:xfrm>
              <a:off x="7426556" y="2908959"/>
              <a:ext cx="3802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Seq8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A1D5915A-7E08-54FB-B900-EE6B7EB5E036}"/>
                </a:ext>
              </a:extLst>
            </p:cNvPr>
            <p:cNvSpPr txBox="1"/>
            <p:nvPr/>
          </p:nvSpPr>
          <p:spPr>
            <a:xfrm>
              <a:off x="7665991" y="2908959"/>
              <a:ext cx="42672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Seq10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BA1866C-6F44-1454-BF22-C72EAEE98E0D}"/>
                </a:ext>
              </a:extLst>
            </p:cNvPr>
            <p:cNvSpPr txBox="1"/>
            <p:nvPr/>
          </p:nvSpPr>
          <p:spPr>
            <a:xfrm>
              <a:off x="5527593" y="1607447"/>
              <a:ext cx="74899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서보모터 유효부하율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A6D65C01-4E0C-6389-2FB2-58F68956072F}"/>
                </a:ext>
              </a:extLst>
            </p:cNvPr>
            <p:cNvSpPr txBox="1"/>
            <p:nvPr/>
          </p:nvSpPr>
          <p:spPr>
            <a:xfrm>
              <a:off x="7140898" y="1611066"/>
              <a:ext cx="46091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Gap </a:t>
              </a:r>
              <a:r>
                <a: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측정값</a:t>
              </a: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B52159F1-5557-CDDF-6961-4C83F4ECEACB}"/>
                </a:ext>
              </a:extLst>
            </p:cNvPr>
            <p:cNvSpPr/>
            <p:nvPr/>
          </p:nvSpPr>
          <p:spPr>
            <a:xfrm>
              <a:off x="5275549" y="1807448"/>
              <a:ext cx="200553" cy="1095572"/>
            </a:xfrm>
            <a:prstGeom prst="rect">
              <a:avLst/>
            </a:prstGeom>
            <a:solidFill>
              <a:srgbClr val="A02B93">
                <a:lumMod val="40000"/>
                <a:lumOff val="60000"/>
                <a:alpha val="30000"/>
              </a:srgbClr>
            </a:solidFill>
            <a:ln w="19050" cap="flat" cmpd="sng" algn="ctr">
              <a:noFill/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346C10ED-978B-A5B3-B2BC-B7F2A5D5992B}"/>
                </a:ext>
              </a:extLst>
            </p:cNvPr>
            <p:cNvSpPr/>
            <p:nvPr/>
          </p:nvSpPr>
          <p:spPr>
            <a:xfrm>
              <a:off x="6733555" y="1820648"/>
              <a:ext cx="200553" cy="1090128"/>
            </a:xfrm>
            <a:prstGeom prst="rect">
              <a:avLst/>
            </a:prstGeom>
            <a:solidFill>
              <a:srgbClr val="A02B93">
                <a:lumMod val="40000"/>
                <a:lumOff val="60000"/>
                <a:alpha val="30000"/>
              </a:srgbClr>
            </a:solidFill>
            <a:ln w="19050" cap="flat" cmpd="sng" algn="ctr">
              <a:noFill/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</p:grp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C9AC082F-AB89-F7E1-AF8D-0D4FB1750432}"/>
              </a:ext>
            </a:extLst>
          </p:cNvPr>
          <p:cNvCxnSpPr>
            <a:cxnSpLocks/>
          </p:cNvCxnSpPr>
          <p:nvPr/>
        </p:nvCxnSpPr>
        <p:spPr>
          <a:xfrm>
            <a:off x="5368767" y="2631487"/>
            <a:ext cx="2087620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dash"/>
            <a:miter lim="800000"/>
            <a:headEnd type="none"/>
            <a:tailEnd type="none"/>
          </a:ln>
          <a:effectLst/>
        </p:spPr>
      </p:cxn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A0A89CF6-3EAC-76EB-CD67-568DFC5DB553}"/>
              </a:ext>
            </a:extLst>
          </p:cNvPr>
          <p:cNvGrpSpPr/>
          <p:nvPr/>
        </p:nvGrpSpPr>
        <p:grpSpPr>
          <a:xfrm>
            <a:off x="4976587" y="3681172"/>
            <a:ext cx="4631730" cy="1368130"/>
            <a:chOff x="5043555" y="4029939"/>
            <a:chExt cx="4631730" cy="1368130"/>
          </a:xfrm>
        </p:grpSpPr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108A1C75-E581-CB16-26B3-4B9EE7507A14}"/>
                </a:ext>
              </a:extLst>
            </p:cNvPr>
            <p:cNvGrpSpPr/>
            <p:nvPr/>
          </p:nvGrpSpPr>
          <p:grpSpPr>
            <a:xfrm>
              <a:off x="5043555" y="4029939"/>
              <a:ext cx="4631730" cy="1368130"/>
              <a:chOff x="5061501" y="3934167"/>
              <a:chExt cx="4631730" cy="1368130"/>
            </a:xfrm>
          </p:grpSpPr>
          <p:grpSp>
            <p:nvGrpSpPr>
              <p:cNvPr id="148" name="그룹 147">
                <a:extLst>
                  <a:ext uri="{FF2B5EF4-FFF2-40B4-BE49-F238E27FC236}">
                    <a16:creationId xmlns:a16="http://schemas.microsoft.com/office/drawing/2014/main" id="{863DB3C9-7ABA-C9AE-1AC9-EB3F74133E8F}"/>
                  </a:ext>
                </a:extLst>
              </p:cNvPr>
              <p:cNvGrpSpPr/>
              <p:nvPr/>
            </p:nvGrpSpPr>
            <p:grpSpPr>
              <a:xfrm>
                <a:off x="5061501" y="3934167"/>
                <a:ext cx="4631730" cy="1368130"/>
                <a:chOff x="5061501" y="4064792"/>
                <a:chExt cx="4631730" cy="1368130"/>
              </a:xfrm>
            </p:grpSpPr>
            <p:pic>
              <p:nvPicPr>
                <p:cNvPr id="151" name="그림 150">
                  <a:extLst>
                    <a:ext uri="{FF2B5EF4-FFF2-40B4-BE49-F238E27FC236}">
                      <a16:creationId xmlns:a16="http://schemas.microsoft.com/office/drawing/2014/main" id="{68971A18-B151-AA67-5DA5-AD1DC13BA1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35414" t="25396" r="35728" b="66189"/>
                <a:stretch/>
              </p:blipFill>
              <p:spPr>
                <a:xfrm>
                  <a:off x="5444456" y="4403821"/>
                  <a:ext cx="4248775" cy="813657"/>
                </a:xfrm>
                <a:prstGeom prst="rect">
                  <a:avLst/>
                </a:prstGeom>
              </p:spPr>
            </p:pic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E213C1AB-4075-31BB-7F64-849C9809255A}"/>
                    </a:ext>
                  </a:extLst>
                </p:cNvPr>
                <p:cNvSpPr txBox="1"/>
                <p:nvPr/>
              </p:nvSpPr>
              <p:spPr>
                <a:xfrm>
                  <a:off x="5075940" y="4064792"/>
                  <a:ext cx="1175886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marR="0" lvl="0" indent="-17145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" panose="05000000000000000000" pitchFamily="2" charset="2"/>
                    <a:buChar char="Ø"/>
                    <a:tabLst/>
                    <a:defRPr/>
                  </a:pPr>
                  <a:r>
                    <a:rPr kumimoji="0" lang="en-US" altLang="ko-KR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/>
                      <a:ea typeface="LG스마트체 Regular"/>
                    </a:rPr>
                    <a:t>Gap </a:t>
                  </a:r>
                  <a:r>
                    <a:rPr kumimoji="0" lang="ko-KR" altLang="en-US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/>
                      <a:ea typeface="LG스마트체 Regular"/>
                    </a:rPr>
                    <a:t>트렌드</a:t>
                  </a:r>
                  <a:endParaRPr kumimoji="0" lang="en-US" altLang="ko-KR" sz="105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3B42793A-2C51-4C13-9096-3F1A3167EEDF}"/>
                    </a:ext>
                  </a:extLst>
                </p:cNvPr>
                <p:cNvSpPr txBox="1"/>
                <p:nvPr/>
              </p:nvSpPr>
              <p:spPr>
                <a:xfrm>
                  <a:off x="6403162" y="5217478"/>
                  <a:ext cx="344966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/>
                      <a:ea typeface="LG스마트체 Regular"/>
                    </a:rPr>
                    <a:t>time</a:t>
                  </a:r>
                  <a:endPara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4" name="TextBox 153">
                      <a:extLst>
                        <a:ext uri="{FF2B5EF4-FFF2-40B4-BE49-F238E27FC236}">
                          <a16:creationId xmlns:a16="http://schemas.microsoft.com/office/drawing/2014/main" id="{C4050779-73E5-0CD8-0E37-A3898996B1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61501" y="4641635"/>
                      <a:ext cx="43967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Arial Narrow"/>
                          <a:ea typeface="LG스마트체 Regular"/>
                        </a:rPr>
                        <a:t>Gap</a:t>
                      </a:r>
                    </a:p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altLang="ko-KR" sz="8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FF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0" lang="ko-KR" altLang="en-US" sz="8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FF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kumimoji="0" lang="en-US" altLang="ko-KR" sz="8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FF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kumimoji="0" lang="en-US" altLang="ko-KR" sz="8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FF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Arial Narrow"/>
                        <a:ea typeface="LG스마트체 Regular"/>
                      </a:endParaRPr>
                    </a:p>
                  </p:txBody>
                </p:sp>
              </mc:Choice>
              <mc:Fallback xmlns="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8308E740-016E-6E97-A6DC-EC806B1B64C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61501" y="4641635"/>
                      <a:ext cx="439672" cy="33855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181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2F820405-1C8F-A17C-9C61-5095C6728673}"/>
                    </a:ext>
                  </a:extLst>
                </p:cNvPr>
                <p:cNvSpPr txBox="1"/>
                <p:nvPr/>
              </p:nvSpPr>
              <p:spPr>
                <a:xfrm>
                  <a:off x="5194056" y="4375824"/>
                  <a:ext cx="357790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600</a:t>
                  </a:r>
                  <a:endPara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263F6697-B3DD-D25C-36F0-D2E31330B443}"/>
                    </a:ext>
                  </a:extLst>
                </p:cNvPr>
                <p:cNvSpPr txBox="1"/>
                <p:nvPr/>
              </p:nvSpPr>
              <p:spPr>
                <a:xfrm>
                  <a:off x="5184100" y="4975883"/>
                  <a:ext cx="357790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300</a:t>
                  </a:r>
                  <a:endPara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9235178F-3096-0F39-92EF-40AB6913ABB0}"/>
                    </a:ext>
                  </a:extLst>
                </p:cNvPr>
                <p:cNvSpPr txBox="1"/>
                <p:nvPr/>
              </p:nvSpPr>
              <p:spPr>
                <a:xfrm>
                  <a:off x="5461796" y="5169202"/>
                  <a:ext cx="33054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4/27</a:t>
                  </a:r>
                  <a:endPara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000FF692-87C5-8540-DDF4-542FB3A93724}"/>
                    </a:ext>
                  </a:extLst>
                </p:cNvPr>
                <p:cNvSpPr txBox="1"/>
                <p:nvPr/>
              </p:nvSpPr>
              <p:spPr>
                <a:xfrm>
                  <a:off x="7289778" y="5171204"/>
                  <a:ext cx="288862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5/2</a:t>
                  </a:r>
                  <a:endPara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DEF226E5-7827-487C-4C78-2A702888D519}"/>
                    </a:ext>
                  </a:extLst>
                </p:cNvPr>
                <p:cNvSpPr txBox="1"/>
                <p:nvPr/>
              </p:nvSpPr>
              <p:spPr>
                <a:xfrm>
                  <a:off x="7558366" y="5169202"/>
                  <a:ext cx="33054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4/27</a:t>
                  </a:r>
                  <a:endPara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9404BDA4-C42C-CD1C-C0E7-0D1E8C493832}"/>
                    </a:ext>
                  </a:extLst>
                </p:cNvPr>
                <p:cNvSpPr txBox="1"/>
                <p:nvPr/>
              </p:nvSpPr>
              <p:spPr>
                <a:xfrm>
                  <a:off x="9386348" y="5171204"/>
                  <a:ext cx="288862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5/2</a:t>
                  </a:r>
                  <a:endPara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997BFC6B-0C25-F3E3-0B60-AD12DF683002}"/>
                    </a:ext>
                  </a:extLst>
                </p:cNvPr>
                <p:cNvSpPr txBox="1"/>
                <p:nvPr/>
              </p:nvSpPr>
              <p:spPr>
                <a:xfrm>
                  <a:off x="8465144" y="5206088"/>
                  <a:ext cx="344966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FF"/>
                      </a:highlight>
                      <a:uLnTx/>
                      <a:uFillTx/>
                      <a:latin typeface="Arial Narrow"/>
                      <a:ea typeface="LG스마트체 Regular"/>
                    </a:rPr>
                    <a:t>time</a:t>
                  </a:r>
                  <a:endPara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</p:grp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7A684094-6355-B313-C88B-97CCEF6D770B}"/>
                  </a:ext>
                </a:extLst>
              </p:cNvPr>
              <p:cNvSpPr txBox="1"/>
              <p:nvPr/>
            </p:nvSpPr>
            <p:spPr>
              <a:xfrm>
                <a:off x="6279152" y="4073033"/>
                <a:ext cx="4042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Cu 3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C665FCD5-1A24-1E73-0DD5-018B0E8205D7}"/>
                  </a:ext>
                </a:extLst>
              </p:cNvPr>
              <p:cNvSpPr txBox="1"/>
              <p:nvPr/>
            </p:nvSpPr>
            <p:spPr>
              <a:xfrm>
                <a:off x="8410048" y="4062033"/>
                <a:ext cx="4042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 Narrow"/>
                    <a:ea typeface="LG스마트체 Regular"/>
                  </a:rPr>
                  <a:t>Cu 4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endParaRPr>
              </a:p>
            </p:txBody>
          </p:sp>
        </p:grpSp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2E130190-F079-EB2F-FB51-1CB4C1B25C5A}"/>
                </a:ext>
              </a:extLst>
            </p:cNvPr>
            <p:cNvCxnSpPr/>
            <p:nvPr/>
          </p:nvCxnSpPr>
          <p:spPr>
            <a:xfrm>
              <a:off x="6056675" y="4551901"/>
              <a:ext cx="1253510" cy="16901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  <p:cxnSp>
          <p:nvCxnSpPr>
            <p:cNvPr id="147" name="직선 화살표 연결선 146">
              <a:extLst>
                <a:ext uri="{FF2B5EF4-FFF2-40B4-BE49-F238E27FC236}">
                  <a16:creationId xmlns:a16="http://schemas.microsoft.com/office/drawing/2014/main" id="{BF9EF815-58F4-8425-DC47-3A03009EE59F}"/>
                </a:ext>
              </a:extLst>
            </p:cNvPr>
            <p:cNvCxnSpPr/>
            <p:nvPr/>
          </p:nvCxnSpPr>
          <p:spPr>
            <a:xfrm>
              <a:off x="8136676" y="4506956"/>
              <a:ext cx="1253510" cy="16901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</p:grp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D7C7622B-DF4E-1084-92CC-5AC9027B50EF}"/>
              </a:ext>
            </a:extLst>
          </p:cNvPr>
          <p:cNvCxnSpPr>
            <a:cxnSpLocks/>
          </p:cNvCxnSpPr>
          <p:nvPr/>
        </p:nvCxnSpPr>
        <p:spPr>
          <a:xfrm>
            <a:off x="4974031" y="1176181"/>
            <a:ext cx="0" cy="5456979"/>
          </a:xfrm>
          <a:prstGeom prst="line">
            <a:avLst/>
          </a:prstGeom>
          <a:noFill/>
          <a:ln w="12700" cap="flat" cmpd="sng" algn="ctr">
            <a:solidFill>
              <a:srgbClr val="E8E8E8"/>
            </a:solidFill>
            <a:prstDash val="solid"/>
            <a:miter lim="800000"/>
          </a:ln>
          <a:effectLst/>
        </p:spPr>
      </p:cxn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415A5A9A-BB8E-114B-4F09-78730249683F}"/>
              </a:ext>
            </a:extLst>
          </p:cNvPr>
          <p:cNvGrpSpPr/>
          <p:nvPr/>
        </p:nvGrpSpPr>
        <p:grpSpPr>
          <a:xfrm>
            <a:off x="4964958" y="5103114"/>
            <a:ext cx="2681828" cy="1546594"/>
            <a:chOff x="5869350" y="5284039"/>
            <a:chExt cx="2931449" cy="1604867"/>
          </a:xfrm>
        </p:grpSpPr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E13886DD-7423-0A19-29AE-C3EF8DAEED9F}"/>
                </a:ext>
              </a:extLst>
            </p:cNvPr>
            <p:cNvGrpSpPr/>
            <p:nvPr/>
          </p:nvGrpSpPr>
          <p:grpSpPr>
            <a:xfrm>
              <a:off x="6199802" y="5284039"/>
              <a:ext cx="2600997" cy="1579222"/>
              <a:chOff x="6199802" y="5254157"/>
              <a:chExt cx="2600997" cy="1579222"/>
            </a:xfrm>
          </p:grpSpPr>
          <p:pic>
            <p:nvPicPr>
              <p:cNvPr id="170" name="그림 169">
                <a:extLst>
                  <a:ext uri="{FF2B5EF4-FFF2-40B4-BE49-F238E27FC236}">
                    <a16:creationId xmlns:a16="http://schemas.microsoft.com/office/drawing/2014/main" id="{E9C6E073-A83C-ABB2-80DA-EECDC02CD0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99802" y="5323078"/>
                <a:ext cx="2600997" cy="1510301"/>
              </a:xfrm>
              <a:prstGeom prst="rect">
                <a:avLst/>
              </a:prstGeom>
            </p:spPr>
          </p:pic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D81A7D27-9A04-AD16-3510-2BF280D8D956}"/>
                  </a:ext>
                </a:extLst>
              </p:cNvPr>
              <p:cNvSpPr/>
              <p:nvPr/>
            </p:nvSpPr>
            <p:spPr>
              <a:xfrm>
                <a:off x="7436299" y="5254157"/>
                <a:ext cx="200725" cy="97496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</p:grp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ACD982E6-1A67-0EBE-85F5-B923C366593A}"/>
                </a:ext>
              </a:extLst>
            </p:cNvPr>
            <p:cNvSpPr txBox="1"/>
            <p:nvPr/>
          </p:nvSpPr>
          <p:spPr>
            <a:xfrm>
              <a:off x="6642423" y="6642685"/>
              <a:ext cx="55496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조치 전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0A0751ED-94EA-4B3E-B531-AE64BD9E8B53}"/>
                </a:ext>
              </a:extLst>
            </p:cNvPr>
            <p:cNvSpPr txBox="1"/>
            <p:nvPr/>
          </p:nvSpPr>
          <p:spPr>
            <a:xfrm>
              <a:off x="7880642" y="6642685"/>
              <a:ext cx="55496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 Narrow"/>
                  <a:ea typeface="LG스마트체 Regular"/>
                </a:rPr>
                <a:t>조치 후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AC0CD545-1790-B74D-5F35-05EF90FC4461}"/>
                </a:ext>
              </a:extLst>
            </p:cNvPr>
            <p:cNvSpPr txBox="1"/>
            <p:nvPr/>
          </p:nvSpPr>
          <p:spPr>
            <a:xfrm>
              <a:off x="5869350" y="5888689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유효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Arial Narrow"/>
                <a:ea typeface="LG스마트체 Regular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Arial Narrow"/>
                  <a:ea typeface="LG스마트체 Regular"/>
                </a:rPr>
                <a:t>부하율</a:t>
              </a:r>
            </a:p>
          </p:txBody>
        </p:sp>
        <p:cxnSp>
          <p:nvCxnSpPr>
            <p:cNvPr id="168" name="직선 화살표 연결선 167">
              <a:extLst>
                <a:ext uri="{FF2B5EF4-FFF2-40B4-BE49-F238E27FC236}">
                  <a16:creationId xmlns:a16="http://schemas.microsoft.com/office/drawing/2014/main" id="{0C5FFA73-C6F0-38D6-6863-79159E126022}"/>
                </a:ext>
              </a:extLst>
            </p:cNvPr>
            <p:cNvCxnSpPr/>
            <p:nvPr/>
          </p:nvCxnSpPr>
          <p:spPr>
            <a:xfrm flipV="1">
              <a:off x="7116153" y="6012235"/>
              <a:ext cx="898954" cy="12224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79E684F5-B993-608E-14B3-16E513201B8B}"/>
                </a:ext>
              </a:extLst>
            </p:cNvPr>
            <p:cNvSpPr txBox="1"/>
            <p:nvPr/>
          </p:nvSpPr>
          <p:spPr>
            <a:xfrm>
              <a:off x="7167459" y="5809978"/>
              <a:ext cx="74892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부하율 증가</a:t>
              </a:r>
            </a:p>
          </p:txBody>
        </p:sp>
      </p:grpSp>
      <p:cxnSp>
        <p:nvCxnSpPr>
          <p:cNvPr id="172" name="연결선: 꺾임 171">
            <a:extLst>
              <a:ext uri="{FF2B5EF4-FFF2-40B4-BE49-F238E27FC236}">
                <a16:creationId xmlns:a16="http://schemas.microsoft.com/office/drawing/2014/main" id="{C35C3225-FF55-B2E9-DB49-D9347B041AAA}"/>
              </a:ext>
            </a:extLst>
          </p:cNvPr>
          <p:cNvCxnSpPr>
            <a:cxnSpLocks/>
            <a:stCxn id="134" idx="0"/>
            <a:endCxn id="151" idx="3"/>
          </p:cNvCxnSpPr>
          <p:nvPr/>
        </p:nvCxnSpPr>
        <p:spPr>
          <a:xfrm rot="16200000" flipH="1">
            <a:off x="7993911" y="2812625"/>
            <a:ext cx="1428175" cy="1800635"/>
          </a:xfrm>
          <a:prstGeom prst="bentConnector4">
            <a:avLst>
              <a:gd name="adj1" fmla="val 14751"/>
              <a:gd name="adj2" fmla="val 112696"/>
            </a:avLst>
          </a:prstGeom>
          <a:noFill/>
          <a:ln w="19050" cap="flat" cmpd="sng" algn="ctr">
            <a:solidFill>
              <a:srgbClr val="0E2841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A1F40E94-AA15-7117-16ED-C6FCD894CB13}"/>
              </a:ext>
            </a:extLst>
          </p:cNvPr>
          <p:cNvSpPr txBox="1"/>
          <p:nvPr/>
        </p:nvSpPr>
        <p:spPr>
          <a:xfrm>
            <a:off x="4997528" y="4956960"/>
            <a:ext cx="117588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 defTabSz="457200" latinLnBrk="0">
              <a:buFont typeface="Wingdings" panose="05000000000000000000" pitchFamily="2" charset="2"/>
              <a:buChar char="Ø"/>
            </a:pPr>
            <a:r>
              <a:rPr lang="ko-KR" altLang="en-US" sz="1050" b="1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부하율</a:t>
            </a:r>
            <a:r>
              <a:rPr lang="en-US" altLang="ko-KR" sz="1050" b="1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 </a:t>
            </a:r>
            <a:r>
              <a:rPr lang="ko-KR" altLang="en-US" sz="1050" b="1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분포</a:t>
            </a:r>
            <a:endParaRPr lang="en-US" altLang="ko-KR" sz="1050" b="1" dirty="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BF90E24D-2D14-A451-DBAC-DF2622BBF59E}"/>
              </a:ext>
            </a:extLst>
          </p:cNvPr>
          <p:cNvCxnSpPr/>
          <p:nvPr/>
        </p:nvCxnSpPr>
        <p:spPr>
          <a:xfrm>
            <a:off x="5470834" y="2638210"/>
            <a:ext cx="0" cy="19880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/>
            <a:tailEnd type="triangle"/>
          </a:ln>
          <a:effectLst/>
        </p:spPr>
      </p:cxn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D15CFBF5-2B70-372F-76A9-5030A43EEF4D}"/>
              </a:ext>
            </a:extLst>
          </p:cNvPr>
          <p:cNvGrpSpPr/>
          <p:nvPr/>
        </p:nvGrpSpPr>
        <p:grpSpPr>
          <a:xfrm>
            <a:off x="3262592" y="2078951"/>
            <a:ext cx="1695670" cy="921764"/>
            <a:chOff x="2965070" y="2189097"/>
            <a:chExt cx="1695670" cy="921764"/>
          </a:xfrm>
        </p:grpSpPr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CAC632B5-9DC8-ED21-B89C-A61989011339}"/>
                </a:ext>
              </a:extLst>
            </p:cNvPr>
            <p:cNvSpPr txBox="1"/>
            <p:nvPr/>
          </p:nvSpPr>
          <p:spPr>
            <a:xfrm>
              <a:off x="3306846" y="2189097"/>
              <a:ext cx="81304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[ Gap </a:t>
              </a:r>
              <a:r>
                <a: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측정값 </a:t>
              </a: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]</a:t>
              </a:r>
              <a:endPara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AF323AF7-7757-389B-0D6C-3B07348C313C}"/>
                </a:ext>
              </a:extLst>
            </p:cNvPr>
            <p:cNvGrpSpPr/>
            <p:nvPr/>
          </p:nvGrpSpPr>
          <p:grpSpPr>
            <a:xfrm>
              <a:off x="2965070" y="2531228"/>
              <a:ext cx="1695670" cy="579633"/>
              <a:chOff x="3372003" y="2796046"/>
              <a:chExt cx="1695670" cy="579633"/>
            </a:xfrm>
          </p:grpSpPr>
          <p:sp>
            <p:nvSpPr>
              <p:cNvPr id="180" name="직사각형 179">
                <a:extLst>
                  <a:ext uri="{FF2B5EF4-FFF2-40B4-BE49-F238E27FC236}">
                    <a16:creationId xmlns:a16="http://schemas.microsoft.com/office/drawing/2014/main" id="{55ED0481-5B17-C60B-464A-DBDAA57D79EB}"/>
                  </a:ext>
                </a:extLst>
              </p:cNvPr>
              <p:cNvSpPr/>
              <p:nvPr/>
            </p:nvSpPr>
            <p:spPr>
              <a:xfrm>
                <a:off x="3372003" y="3207051"/>
                <a:ext cx="1403626" cy="168628"/>
              </a:xfrm>
              <a:prstGeom prst="rect">
                <a:avLst/>
              </a:prstGeom>
              <a:solidFill>
                <a:srgbClr val="FFC00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  <a:cs typeface="+mn-cs"/>
                  </a:rPr>
                  <a:t>Busbar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CF7ACEE0-4BF5-E7EF-3205-76E8091C025C}"/>
                  </a:ext>
                </a:extLst>
              </p:cNvPr>
              <p:cNvSpPr/>
              <p:nvPr/>
            </p:nvSpPr>
            <p:spPr>
              <a:xfrm>
                <a:off x="3534183" y="2974697"/>
                <a:ext cx="1036238" cy="127305"/>
              </a:xfrm>
              <a:prstGeom prst="rect">
                <a:avLst/>
              </a:prstGeom>
              <a:solidFill>
                <a:srgbClr val="E8E8E8">
                  <a:lumMod val="90000"/>
                </a:srgbClr>
              </a:solidFill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82" name="직사각형 181">
                <a:extLst>
                  <a:ext uri="{FF2B5EF4-FFF2-40B4-BE49-F238E27FC236}">
                    <a16:creationId xmlns:a16="http://schemas.microsoft.com/office/drawing/2014/main" id="{96B2144C-C296-EA8A-2BE9-208B1CDFFD01}"/>
                  </a:ext>
                </a:extLst>
              </p:cNvPr>
              <p:cNvSpPr/>
              <p:nvPr/>
            </p:nvSpPr>
            <p:spPr>
              <a:xfrm>
                <a:off x="3533917" y="2802674"/>
                <a:ext cx="1036238" cy="127305"/>
              </a:xfrm>
              <a:prstGeom prst="rect">
                <a:avLst/>
              </a:prstGeom>
              <a:solidFill>
                <a:srgbClr val="E8E8E8">
                  <a:lumMod val="90000"/>
                </a:srgbClr>
              </a:solidFill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cxnSp>
            <p:nvCxnSpPr>
              <p:cNvPr id="183" name="직선 화살표 연결선 182">
                <a:extLst>
                  <a:ext uri="{FF2B5EF4-FFF2-40B4-BE49-F238E27FC236}">
                    <a16:creationId xmlns:a16="http://schemas.microsoft.com/office/drawing/2014/main" id="{058ADDEA-1A4E-9147-D0FC-EF199820B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1448" y="2802674"/>
                <a:ext cx="0" cy="413997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226FD6B-EFC5-5248-6389-5E948C217988}"/>
                  </a:ext>
                </a:extLst>
              </p:cNvPr>
              <p:cNvSpPr txBox="1"/>
              <p:nvPr/>
            </p:nvSpPr>
            <p:spPr>
              <a:xfrm>
                <a:off x="4650571" y="2796046"/>
                <a:ext cx="4171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Total</a:t>
                </a:r>
              </a:p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Gap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endParaRP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6764116B-F07F-97E6-2D72-A888536A6EF4}"/>
                </a:ext>
              </a:extLst>
            </p:cNvPr>
            <p:cNvSpPr txBox="1"/>
            <p:nvPr/>
          </p:nvSpPr>
          <p:spPr>
            <a:xfrm>
              <a:off x="3427920" y="2472453"/>
              <a:ext cx="4154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Lead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4A9E86B7-169F-E3B2-026D-2687048AC731}"/>
                </a:ext>
              </a:extLst>
            </p:cNvPr>
            <p:cNvSpPr txBox="1"/>
            <p:nvPr/>
          </p:nvSpPr>
          <p:spPr>
            <a:xfrm>
              <a:off x="3427920" y="2654819"/>
              <a:ext cx="4154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Lead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58451AF7-6092-DC27-7C4C-007598C0D2EE}"/>
              </a:ext>
            </a:extLst>
          </p:cNvPr>
          <p:cNvGrpSpPr/>
          <p:nvPr/>
        </p:nvGrpSpPr>
        <p:grpSpPr>
          <a:xfrm>
            <a:off x="504813" y="4555643"/>
            <a:ext cx="4116103" cy="1908592"/>
            <a:chOff x="447270" y="4600468"/>
            <a:chExt cx="4116103" cy="1908592"/>
          </a:xfrm>
        </p:grpSpPr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89F9D45E-C78A-785A-C76F-750DB19BB42D}"/>
                </a:ext>
              </a:extLst>
            </p:cNvPr>
            <p:cNvGrpSpPr/>
            <p:nvPr/>
          </p:nvGrpSpPr>
          <p:grpSpPr>
            <a:xfrm>
              <a:off x="447270" y="4600468"/>
              <a:ext cx="4116103" cy="1908592"/>
              <a:chOff x="412780" y="5006933"/>
              <a:chExt cx="4116103" cy="1908592"/>
            </a:xfrm>
          </p:grpSpPr>
          <p:grpSp>
            <p:nvGrpSpPr>
              <p:cNvPr id="188" name="그룹 187">
                <a:extLst>
                  <a:ext uri="{FF2B5EF4-FFF2-40B4-BE49-F238E27FC236}">
                    <a16:creationId xmlns:a16="http://schemas.microsoft.com/office/drawing/2014/main" id="{DB302446-DC89-7682-4A1F-290F499FB39E}"/>
                  </a:ext>
                </a:extLst>
              </p:cNvPr>
              <p:cNvGrpSpPr/>
              <p:nvPr/>
            </p:nvGrpSpPr>
            <p:grpSpPr>
              <a:xfrm>
                <a:off x="412780" y="5006933"/>
                <a:ext cx="4116103" cy="1908592"/>
                <a:chOff x="412780" y="5100240"/>
                <a:chExt cx="4116103" cy="2014935"/>
              </a:xfrm>
            </p:grpSpPr>
            <p:graphicFrame>
              <p:nvGraphicFramePr>
                <p:cNvPr id="191" name="Chart 5">
                  <a:extLst>
                    <a:ext uri="{FF2B5EF4-FFF2-40B4-BE49-F238E27FC236}">
                      <a16:creationId xmlns:a16="http://schemas.microsoft.com/office/drawing/2014/main" id="{1C459F2F-8EF2-9559-EC43-EA7F4C8E0745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042328019"/>
                    </p:ext>
                  </p:extLst>
                </p:nvPr>
              </p:nvGraphicFramePr>
              <p:xfrm>
                <a:off x="412780" y="5215656"/>
                <a:ext cx="4116103" cy="1899519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3"/>
                </a:graphicData>
              </a:graphic>
            </p:graphicFrame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75115B54-CDDA-D378-A1F9-94AB250BC327}"/>
                    </a:ext>
                  </a:extLst>
                </p:cNvPr>
                <p:cNvSpPr txBox="1"/>
                <p:nvPr/>
              </p:nvSpPr>
              <p:spPr>
                <a:xfrm>
                  <a:off x="1636992" y="5100240"/>
                  <a:ext cx="1667677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[ </a:t>
                  </a:r>
                  <a:r>
                    <a:rPr kumimoji="0" lang="ko-KR" altLang="en-US" sz="9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용접기</a:t>
                  </a:r>
                  <a:r>
                    <a:rPr kumimoji="0" lang="en-US" altLang="ko-KR" sz="9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A,</a:t>
                  </a:r>
                  <a:r>
                    <a:rPr kumimoji="0" lang="ko-KR" altLang="en-US" sz="9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 </a:t>
                  </a:r>
                  <a:r>
                    <a:rPr kumimoji="0" lang="en-US" altLang="ko-KR" sz="9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Front 3,4</a:t>
                  </a:r>
                  <a:r>
                    <a:rPr kumimoji="0" lang="ko-KR" altLang="en-US" sz="9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번 </a:t>
                  </a:r>
                  <a:r>
                    <a:rPr kumimoji="0" lang="en-US" altLang="ko-KR" sz="9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Retry</a:t>
                  </a:r>
                  <a:r>
                    <a:rPr kumimoji="0" lang="ko-KR" altLang="en-US" sz="9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수 </a:t>
                  </a:r>
                  <a:r>
                    <a:rPr kumimoji="0" lang="en-US" altLang="ko-KR" sz="9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/>
                      <a:ea typeface="LG스마트체 Regular"/>
                    </a:rPr>
                    <a:t>]</a:t>
                  </a:r>
                  <a:endParaRPr kumimoji="0" lang="ko-KR" alt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endParaRPr>
                </a:p>
              </p:txBody>
            </p:sp>
          </p:grp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51A99507-C0A4-2C6C-6240-81FB0F492EFE}"/>
                  </a:ext>
                </a:extLst>
              </p:cNvPr>
              <p:cNvSpPr txBox="1"/>
              <p:nvPr/>
            </p:nvSpPr>
            <p:spPr>
              <a:xfrm>
                <a:off x="2282267" y="5424763"/>
                <a:ext cx="47641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Retry</a:t>
                </a: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수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0A970518-78AD-78B0-276E-A68BD4EF5DDA}"/>
                  </a:ext>
                </a:extLst>
              </p:cNvPr>
              <p:cNvSpPr txBox="1"/>
              <p:nvPr/>
            </p:nvSpPr>
            <p:spPr>
              <a:xfrm>
                <a:off x="2717328" y="5424763"/>
                <a:ext cx="47641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Retry</a:t>
                </a: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수</a:t>
                </a:r>
              </a:p>
            </p:txBody>
          </p:sp>
        </p:grp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43106DB7-4C61-6A00-2CD9-D111C1A74479}"/>
                </a:ext>
              </a:extLst>
            </p:cNvPr>
            <p:cNvSpPr txBox="1"/>
            <p:nvPr/>
          </p:nvSpPr>
          <p:spPr>
            <a:xfrm>
              <a:off x="2316757" y="6136360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Time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97743BF5-AB2B-8DA5-8709-D1CE6C744DE3}"/>
              </a:ext>
            </a:extLst>
          </p:cNvPr>
          <p:cNvSpPr txBox="1"/>
          <p:nvPr/>
        </p:nvSpPr>
        <p:spPr>
          <a:xfrm>
            <a:off x="834657" y="6361022"/>
            <a:ext cx="31854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srgbClr val="0000FF"/>
                </a:solidFill>
                <a:latin typeface="Arial Narrow"/>
                <a:ea typeface="LG스마트체 Regular"/>
              </a:rPr>
              <a:t>▶ </a:t>
            </a:r>
            <a:r>
              <a:rPr lang="en-US" altLang="ko-KR" sz="900" dirty="0">
                <a:solidFill>
                  <a:srgbClr val="0000FF"/>
                </a:solidFill>
                <a:latin typeface="Arial Narrow"/>
                <a:ea typeface="LG스마트체 Regular"/>
              </a:rPr>
              <a:t>Retry</a:t>
            </a:r>
            <a:r>
              <a:rPr lang="ko-KR" altLang="en-US" sz="900" dirty="0">
                <a:solidFill>
                  <a:srgbClr val="0000FF"/>
                </a:solidFill>
                <a:latin typeface="Arial Narrow"/>
                <a:ea typeface="LG스마트체 Regular"/>
              </a:rPr>
              <a:t>수 안정화 필요 및 가압 지그 포지션 변경 정량적 기준 필요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74B65FF-7C28-AD25-3DE7-6108EA297A61}"/>
              </a:ext>
            </a:extLst>
          </p:cNvPr>
          <p:cNvSpPr txBox="1"/>
          <p:nvPr/>
        </p:nvSpPr>
        <p:spPr>
          <a:xfrm>
            <a:off x="197214" y="3588646"/>
            <a:ext cx="5918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■ 배경</a:t>
            </a:r>
            <a:endParaRPr lang="ko-KR" altLang="en-US" sz="105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7EED312D-EE65-4913-C798-ABBCB357C9BB}"/>
              </a:ext>
            </a:extLst>
          </p:cNvPr>
          <p:cNvCxnSpPr>
            <a:cxnSpLocks/>
          </p:cNvCxnSpPr>
          <p:nvPr/>
        </p:nvCxnSpPr>
        <p:spPr>
          <a:xfrm>
            <a:off x="7263254" y="4011167"/>
            <a:ext cx="0" cy="945793"/>
          </a:xfrm>
          <a:prstGeom prst="line">
            <a:avLst/>
          </a:prstGeom>
          <a:noFill/>
          <a:ln w="9525" cap="flat" cmpd="sng" algn="ctr">
            <a:solidFill>
              <a:srgbClr val="0000FF"/>
            </a:solidFill>
            <a:prstDash val="dash"/>
            <a:miter lim="800000"/>
            <a:headEnd type="none"/>
            <a:tailEnd type="none"/>
          </a:ln>
          <a:effectLst/>
        </p:spPr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6B7D336C-3346-32C6-50DF-84B4CF287172}"/>
              </a:ext>
            </a:extLst>
          </p:cNvPr>
          <p:cNvSpPr txBox="1"/>
          <p:nvPr/>
        </p:nvSpPr>
        <p:spPr>
          <a:xfrm>
            <a:off x="7070025" y="3868985"/>
            <a:ext cx="3674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srgbClr val="0000FF"/>
                </a:solidFill>
                <a:latin typeface="Arial Narrow"/>
                <a:ea typeface="LG스마트체 Regular"/>
              </a:rPr>
              <a:t>조치</a:t>
            </a:r>
          </a:p>
        </p:txBody>
      </p: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EE212C25-D4D8-781C-85BF-9591A41920CB}"/>
              </a:ext>
            </a:extLst>
          </p:cNvPr>
          <p:cNvCxnSpPr>
            <a:cxnSpLocks/>
          </p:cNvCxnSpPr>
          <p:nvPr/>
        </p:nvCxnSpPr>
        <p:spPr>
          <a:xfrm>
            <a:off x="9345371" y="4012229"/>
            <a:ext cx="0" cy="945793"/>
          </a:xfrm>
          <a:prstGeom prst="line">
            <a:avLst/>
          </a:prstGeom>
          <a:noFill/>
          <a:ln w="9525" cap="flat" cmpd="sng" algn="ctr">
            <a:solidFill>
              <a:srgbClr val="0000FF"/>
            </a:solidFill>
            <a:prstDash val="dash"/>
            <a:miter lim="800000"/>
            <a:headEnd type="none"/>
            <a:tailEnd type="none"/>
          </a:ln>
          <a:effectLst/>
        </p:spPr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9EC3104D-52B1-9059-70A8-95FEB39A8BCC}"/>
              </a:ext>
            </a:extLst>
          </p:cNvPr>
          <p:cNvSpPr txBox="1"/>
          <p:nvPr/>
        </p:nvSpPr>
        <p:spPr>
          <a:xfrm>
            <a:off x="9152142" y="3870047"/>
            <a:ext cx="3674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srgbClr val="0000FF"/>
                </a:solidFill>
                <a:latin typeface="Arial Narrow"/>
                <a:ea typeface="LG스마트체 Regular"/>
              </a:rPr>
              <a:t>조치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2A0AA677-1E2A-1502-2EBC-00B0BCC72F0C}"/>
              </a:ext>
            </a:extLst>
          </p:cNvPr>
          <p:cNvSpPr txBox="1"/>
          <p:nvPr/>
        </p:nvSpPr>
        <p:spPr>
          <a:xfrm>
            <a:off x="8002945" y="5432338"/>
            <a:ext cx="19906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▶ 부하율 수준 문제 없음 판단</a:t>
            </a:r>
            <a:endParaRPr lang="en-US" altLang="ko-KR" sz="9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/>
            <a:endParaRPr lang="en-US" altLang="ko-KR" sz="9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/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▶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조정 후 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Retry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감소 시 타 위치 조정 </a:t>
            </a:r>
            <a:b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    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테스트 진행</a:t>
            </a:r>
            <a:r>
              <a:rPr lang="en-US" altLang="ko-KR" sz="90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예정</a:t>
            </a:r>
            <a:endParaRPr lang="en-US" altLang="ko-KR" sz="9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/>
            <a:endParaRPr lang="en-US" altLang="ko-KR" sz="90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/>
            <a:r>
              <a:rPr lang="ko-KR" altLang="en-US" sz="900" dirty="0">
                <a:solidFill>
                  <a:prstClr val="black"/>
                </a:solidFill>
                <a:latin typeface="Arial Narrow"/>
                <a:ea typeface="LG스마트체 Regular"/>
              </a:rPr>
              <a:t>▶ 기준 확립 후 알람 운영 예정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CB3E719A-34F4-DC17-9226-09AD6F250334}"/>
              </a:ext>
            </a:extLst>
          </p:cNvPr>
          <p:cNvSpPr txBox="1"/>
          <p:nvPr/>
        </p:nvSpPr>
        <p:spPr>
          <a:xfrm>
            <a:off x="7907610" y="5150675"/>
            <a:ext cx="117588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 latinLnBrk="0">
              <a:buFont typeface="Wingdings" panose="05000000000000000000" pitchFamily="2" charset="2"/>
              <a:buChar char="Ø"/>
            </a:pPr>
            <a:r>
              <a:rPr lang="ko-KR" altLang="en-US" sz="1050" b="1" dirty="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계획</a:t>
            </a:r>
            <a:endParaRPr lang="en-US" altLang="ko-KR" sz="1050" b="1" dirty="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AA9390BC-F2E2-EF9A-3495-21BE39BC09F6}"/>
              </a:ext>
            </a:extLst>
          </p:cNvPr>
          <p:cNvSpPr txBox="1"/>
          <p:nvPr/>
        </p:nvSpPr>
        <p:spPr>
          <a:xfrm>
            <a:off x="6015155" y="4332226"/>
            <a:ext cx="1258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표준편차 </a:t>
            </a:r>
            <a:r>
              <a:rPr lang="en-US" altLang="ko-KR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34.5 </a:t>
            </a:r>
            <a:r>
              <a:rPr lang="ko-KR" altLang="en-US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→ </a:t>
            </a:r>
            <a:r>
              <a:rPr lang="en-US" altLang="ko-KR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27.0 </a:t>
            </a:r>
            <a:r>
              <a:rPr lang="ko-KR" altLang="en-US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감소</a:t>
            </a:r>
            <a:endParaRPr lang="en-US" altLang="ko-KR" sz="800" dirty="0">
              <a:solidFill>
                <a:srgbClr val="006600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  <a:p>
            <a:pPr defTabSz="457200" latinLnBrk="0"/>
            <a:r>
              <a:rPr lang="ko-KR" altLang="en-US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평균 </a:t>
            </a:r>
            <a:r>
              <a:rPr lang="en-US" altLang="ko-KR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417.3 </a:t>
            </a:r>
            <a:r>
              <a:rPr lang="ko-KR" altLang="en-US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→ </a:t>
            </a:r>
            <a:r>
              <a:rPr lang="en-US" altLang="ko-KR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387.3 </a:t>
            </a:r>
            <a:r>
              <a:rPr lang="ko-KR" altLang="en-US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감소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0D515A6-2F43-B2C6-EA0B-3422514A7EA2}"/>
              </a:ext>
            </a:extLst>
          </p:cNvPr>
          <p:cNvSpPr txBox="1"/>
          <p:nvPr/>
        </p:nvSpPr>
        <p:spPr>
          <a:xfrm>
            <a:off x="8042282" y="4316153"/>
            <a:ext cx="1258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표준편차 </a:t>
            </a:r>
            <a:r>
              <a:rPr lang="en-US" altLang="ko-KR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47.3 </a:t>
            </a:r>
            <a:r>
              <a:rPr lang="ko-KR" altLang="en-US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→ </a:t>
            </a:r>
            <a:r>
              <a:rPr lang="en-US" altLang="ko-KR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39.3 </a:t>
            </a:r>
            <a:r>
              <a:rPr lang="ko-KR" altLang="en-US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감소</a:t>
            </a:r>
            <a:endParaRPr lang="en-US" altLang="ko-KR" sz="800" dirty="0">
              <a:solidFill>
                <a:srgbClr val="006600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  <a:p>
            <a:pPr defTabSz="457200" latinLnBrk="0"/>
            <a:r>
              <a:rPr lang="ko-KR" altLang="en-US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평균 </a:t>
            </a:r>
            <a:r>
              <a:rPr lang="en-US" altLang="ko-KR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483.5 </a:t>
            </a:r>
            <a:r>
              <a:rPr lang="ko-KR" altLang="en-US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→ </a:t>
            </a:r>
            <a:r>
              <a:rPr lang="en-US" altLang="ko-KR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434.3 </a:t>
            </a:r>
            <a:r>
              <a:rPr lang="ko-KR" altLang="en-US" sz="800" dirty="0">
                <a:solidFill>
                  <a:srgbClr val="0066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감소</a:t>
            </a:r>
          </a:p>
        </p:txBody>
      </p:sp>
      <p:sp>
        <p:nvSpPr>
          <p:cNvPr id="4" name="실행 단추: 홈으로 이동 3">
            <a:hlinkClick r:id="rId14" action="ppaction://hlinksldjump" highlightClick="1"/>
            <a:extLst>
              <a:ext uri="{FF2B5EF4-FFF2-40B4-BE49-F238E27FC236}">
                <a16:creationId xmlns:a16="http://schemas.microsoft.com/office/drawing/2014/main" id="{A7C88578-F0CB-1E3C-FD91-C1A0FC1FBB12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054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성과 검증 위한 관리 지표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선정</a:t>
            </a: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092D3-2A12-C826-17B5-74C8D5B34178}"/>
              </a:ext>
            </a:extLst>
          </p:cNvPr>
          <p:cNvSpPr txBox="1"/>
          <p:nvPr/>
        </p:nvSpPr>
        <p:spPr>
          <a:xfrm>
            <a:off x="196281" y="620688"/>
            <a:ext cx="9581255" cy="5847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성과 검증을 위해 과제별 관리 지표를 선정하여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다빈치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W/F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를 통해 모니터링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&amp;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관리 하고자 합니다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br>
              <a:rPr kumimoji="1" lang="en-US" altLang="ko-KR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- </a:t>
            </a:r>
            <a:r>
              <a:rPr kumimoji="1" lang="ko-KR" altLang="en-US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관리 지표 모니터링은 향후 </a:t>
            </a:r>
            <a:r>
              <a:rPr kumimoji="1" lang="en-US" altLang="ko-KR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Agent </a:t>
            </a:r>
            <a:r>
              <a:rPr kumimoji="1" lang="ko-KR" altLang="en-US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운영될 수 있도록 구체화 검토를 해보겠습니다</a:t>
            </a:r>
            <a:r>
              <a:rPr kumimoji="1" lang="en-US" altLang="ko-KR" sz="13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kumimoji="1" lang="en-US" altLang="ko-KR" sz="13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4" name="내용 개체 틀 6">
            <a:extLst>
              <a:ext uri="{FF2B5EF4-FFF2-40B4-BE49-F238E27FC236}">
                <a16:creationId xmlns:a16="http://schemas.microsoft.com/office/drawing/2014/main" id="{C0BB9875-FE4B-D69F-D7DC-03A480BDD6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2787693"/>
              </p:ext>
            </p:extLst>
          </p:nvPr>
        </p:nvGraphicFramePr>
        <p:xfrm>
          <a:off x="279799" y="1316838"/>
          <a:ext cx="9353722" cy="4704450"/>
        </p:xfrm>
        <a:graphic>
          <a:graphicData uri="http://schemas.openxmlformats.org/drawingml/2006/table">
            <a:tbl>
              <a:tblPr firstRow="1" bandRow="1"/>
              <a:tblGrid>
                <a:gridCol w="280713">
                  <a:extLst>
                    <a:ext uri="{9D8B030D-6E8A-4147-A177-3AD203B41FA5}">
                      <a16:colId xmlns:a16="http://schemas.microsoft.com/office/drawing/2014/main" val="344354737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385856475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692268080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3771899823"/>
                    </a:ext>
                  </a:extLst>
                </a:gridCol>
                <a:gridCol w="2232249">
                  <a:extLst>
                    <a:ext uri="{9D8B030D-6E8A-4147-A177-3AD203B41FA5}">
                      <a16:colId xmlns:a16="http://schemas.microsoft.com/office/drawing/2014/main" val="119417741"/>
                    </a:ext>
                  </a:extLst>
                </a:gridCol>
              </a:tblGrid>
              <a:tr h="128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과제명</a:t>
                      </a:r>
                      <a:endParaRPr lang="en-US" altLang="ko-KR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관리 지표</a:t>
                      </a:r>
                      <a:endParaRPr lang="en-US" altLang="ko-KR" sz="10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096874"/>
                  </a:ext>
                </a:extLst>
              </a:tr>
              <a:tr h="90321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CMA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가압 보정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전폭 공정 산포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평균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분산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전체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Pallet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전폭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Spec(789.5 ~ 791.8mm)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기준으로 관리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Target(790.0mm)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설정하여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 산포 이탈 여부 점검</a:t>
                      </a:r>
                      <a:endParaRPr lang="en-US" altLang="ko-KR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579761"/>
                  </a:ext>
                </a:extLst>
              </a:tr>
              <a:tr h="90321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Metal Strap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체결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Station &amp; Vision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Point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공정 산포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평균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표준편차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체결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Hole Y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축 위치 틀어짐 방지 위해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Target(0mm)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설정하여 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 산포 이탈 및 틀어짐 여부 점검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407172"/>
                  </a:ext>
                </a:extLst>
              </a:tr>
              <a:tr h="90321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Resin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도포 자동보정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팩당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Resin 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평균 무게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기준 월 대비 절감량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월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(25.12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대비 월 평균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Resin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무게 기준 절감량 및 절감 효과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Resin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무게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NG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점검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832237"/>
                  </a:ext>
                </a:extLst>
              </a:tr>
              <a:tr h="90321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FDC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BM/PD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기준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부동시간 </a:t>
                      </a: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&amp;</a:t>
                      </a: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부동률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Vision BM/PD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기준 부동시간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&amp;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부동률 및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Vision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별 현황 점검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488353"/>
                  </a:ext>
                </a:extLst>
              </a:tr>
              <a:tr h="9032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1000" kern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가성 불량</a:t>
                      </a:r>
                      <a:br>
                        <a:rPr lang="en-US" altLang="ko-KR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사전 감지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검사 가성 불량률</a:t>
                      </a:r>
                      <a:b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(Ground Bonding, Leak)</a:t>
                      </a:r>
                      <a:endParaRPr lang="ko-KR" altLang="en-US" sz="10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검사 가성 불량률 현황 점검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143208"/>
                  </a:ext>
                </a:extLst>
              </a:tr>
            </a:tbl>
          </a:graphicData>
        </a:graphic>
      </p:graphicFrame>
      <p:sp>
        <p:nvSpPr>
          <p:cNvPr id="11" name="실행 단추: 앞으로 또는 다음으로 이동 10">
            <a:hlinkClick r:id="rId4" action="ppaction://hlinksldjump"/>
            <a:extLst>
              <a:ext uri="{FF2B5EF4-FFF2-40B4-BE49-F238E27FC236}">
                <a16:creationId xmlns:a16="http://schemas.microsoft.com/office/drawing/2014/main" id="{717254E7-6529-7287-BCC8-B314837A4681}"/>
              </a:ext>
            </a:extLst>
          </p:cNvPr>
          <p:cNvSpPr/>
          <p:nvPr/>
        </p:nvSpPr>
        <p:spPr>
          <a:xfrm>
            <a:off x="1748788" y="2225759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7295A48-5521-1C33-EA2E-D76C2BCC2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167" y="1519756"/>
            <a:ext cx="911615" cy="85000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D38E46C-AC8D-E0BC-8C3E-489D8D54FD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8349" y="1630723"/>
            <a:ext cx="1191212" cy="628068"/>
          </a:xfrm>
          <a:prstGeom prst="rect">
            <a:avLst/>
          </a:prstGeom>
        </p:spPr>
      </p:pic>
      <p:sp>
        <p:nvSpPr>
          <p:cNvPr id="15" name="실행 단추: 앞으로 또는 다음으로 이동 14">
            <a:hlinkClick r:id="rId7" action="ppaction://hlinksldjump"/>
            <a:extLst>
              <a:ext uri="{FF2B5EF4-FFF2-40B4-BE49-F238E27FC236}">
                <a16:creationId xmlns:a16="http://schemas.microsoft.com/office/drawing/2014/main" id="{08209B35-1560-2C5C-D608-719D03847EF0}"/>
              </a:ext>
            </a:extLst>
          </p:cNvPr>
          <p:cNvSpPr/>
          <p:nvPr/>
        </p:nvSpPr>
        <p:spPr>
          <a:xfrm>
            <a:off x="1748788" y="3134984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" name="실행 단추: 앞으로 또는 다음으로 이동 15">
            <a:hlinkClick r:id="rId8" action="ppaction://hlinksldjump"/>
            <a:extLst>
              <a:ext uri="{FF2B5EF4-FFF2-40B4-BE49-F238E27FC236}">
                <a16:creationId xmlns:a16="http://schemas.microsoft.com/office/drawing/2014/main" id="{458AC13D-62B9-0DA5-4AFB-05A918B18C0A}"/>
              </a:ext>
            </a:extLst>
          </p:cNvPr>
          <p:cNvSpPr/>
          <p:nvPr/>
        </p:nvSpPr>
        <p:spPr>
          <a:xfrm>
            <a:off x="1748788" y="4026279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08926F6-A9FE-5F5E-6736-3B33294524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2683" y="2488526"/>
            <a:ext cx="1750469" cy="75020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EDD55D8-227E-AE96-536D-42A1ACD3AB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8455" y="2457236"/>
            <a:ext cx="1310890" cy="81278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4FC2167-6C28-1A2C-041E-B0C07AFD3C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8167" y="3339001"/>
            <a:ext cx="2133211" cy="81278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8DE99F7-14EC-1C7B-B3BD-37EFBC1355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6496" y="3746190"/>
            <a:ext cx="1951579" cy="352089"/>
          </a:xfrm>
          <a:prstGeom prst="rect">
            <a:avLst/>
          </a:prstGeom>
        </p:spPr>
      </p:pic>
      <p:sp>
        <p:nvSpPr>
          <p:cNvPr id="21" name="실행 단추: 앞으로 또는 다음으로 이동 20">
            <a:hlinkClick r:id="rId13" action="ppaction://hlinksldjump"/>
            <a:extLst>
              <a:ext uri="{FF2B5EF4-FFF2-40B4-BE49-F238E27FC236}">
                <a16:creationId xmlns:a16="http://schemas.microsoft.com/office/drawing/2014/main" id="{A22DFD0E-E539-BCF4-D41B-117C0319E0F7}"/>
              </a:ext>
            </a:extLst>
          </p:cNvPr>
          <p:cNvSpPr/>
          <p:nvPr/>
        </p:nvSpPr>
        <p:spPr>
          <a:xfrm>
            <a:off x="1748788" y="4953518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2" name="실행 단추: 앞으로 또는 다음으로 이동 21">
            <a:hlinkClick r:id="rId14" action="ppaction://hlinksldjump"/>
            <a:extLst>
              <a:ext uri="{FF2B5EF4-FFF2-40B4-BE49-F238E27FC236}">
                <a16:creationId xmlns:a16="http://schemas.microsoft.com/office/drawing/2014/main" id="{1F00AAB8-A853-54F5-FE0B-564A24A64E7C}"/>
              </a:ext>
            </a:extLst>
          </p:cNvPr>
          <p:cNvSpPr/>
          <p:nvPr/>
        </p:nvSpPr>
        <p:spPr>
          <a:xfrm>
            <a:off x="1748788" y="5844813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7676582-86B1-7E2D-2273-54137CB3B84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8167" y="4256754"/>
            <a:ext cx="2048734" cy="66763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E0DB5FE-0A61-862C-1A8E-B9B40FC4436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87565" y="4477979"/>
            <a:ext cx="1349439" cy="58180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6352FE6-438E-E30C-AAA8-4D7BD01EE0A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34682" y="5169782"/>
            <a:ext cx="2088232" cy="79208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15E9A0B-3FAF-E218-D082-0BAB88F3B32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63219" y="5240566"/>
            <a:ext cx="2088232" cy="74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93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DX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관리 지표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_CMA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가압보정</a:t>
            </a: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4A35562-9004-32D2-5FE4-75AD274AA5CD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092D3-2A12-C826-17B5-74C8D5B34178}"/>
              </a:ext>
            </a:extLst>
          </p:cNvPr>
          <p:cNvSpPr txBox="1"/>
          <p:nvPr/>
        </p:nvSpPr>
        <p:spPr>
          <a:xfrm>
            <a:off x="196281" y="620688"/>
            <a:ext cx="9581255" cy="33066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Pallet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별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CMA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전폭 공정 산포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평균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분산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를 모니터링 및 관리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하기 위해 관리 지표 선정하였음</a:t>
            </a:r>
            <a:endParaRPr kumimoji="1" lang="en-US" altLang="ko-KR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3B5E64-0474-E6FE-7048-23D3F044D9D1}"/>
              </a:ext>
            </a:extLst>
          </p:cNvPr>
          <p:cNvSpPr txBox="1"/>
          <p:nvPr/>
        </p:nvSpPr>
        <p:spPr>
          <a:xfrm>
            <a:off x="344488" y="876058"/>
            <a:ext cx="4953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1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 </a:t>
            </a:r>
            <a:r>
              <a:rPr kumimoji="1" lang="ko-KR" altLang="en-US" sz="11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전폭 </a:t>
            </a:r>
            <a:r>
              <a:rPr kumimoji="1" lang="en-US" altLang="ko-KR" sz="11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Spec</a:t>
            </a:r>
            <a:r>
              <a:rPr kumimoji="1" lang="ko-KR" altLang="en-US" sz="11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sz="11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789.5 ~ 791.8mm, </a:t>
            </a:r>
            <a:r>
              <a:rPr kumimoji="1" lang="ko-KR" altLang="en-US" sz="11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관리 </a:t>
            </a:r>
            <a:r>
              <a:rPr kumimoji="1" lang="en-US" altLang="ko-KR" sz="11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Target : 790.0mm</a:t>
            </a:r>
            <a:endParaRPr lang="ko-KR" altLang="en-US" sz="1100" dirty="0">
              <a:solidFill>
                <a:srgbClr val="0066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FEC6545-2886-BDB9-6257-402F41D2D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870326"/>
              </p:ext>
            </p:extLst>
          </p:nvPr>
        </p:nvGraphicFramePr>
        <p:xfrm>
          <a:off x="295834" y="1179831"/>
          <a:ext cx="8329573" cy="743082"/>
        </p:xfrm>
        <a:graphic>
          <a:graphicData uri="http://schemas.openxmlformats.org/drawingml/2006/table">
            <a:tbl>
              <a:tblPr/>
              <a:tblGrid>
                <a:gridCol w="1189939">
                  <a:extLst>
                    <a:ext uri="{9D8B030D-6E8A-4147-A177-3AD203B41FA5}">
                      <a16:colId xmlns:a16="http://schemas.microsoft.com/office/drawing/2014/main" val="1527220756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4031184609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1480047546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4233749858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3596358398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377725228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2272909205"/>
                    </a:ext>
                  </a:extLst>
                </a:gridCol>
              </a:tblGrid>
              <a:tr h="17791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Period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mm]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759051"/>
                  </a:ext>
                </a:extLst>
              </a:tr>
              <a:tr h="177912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Jan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Feb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Apr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01782"/>
                  </a:ext>
                </a:extLst>
              </a:tr>
              <a:tr h="1936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전폭 평균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789.07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789.28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789.55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790.19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789.75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798.84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403116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전폭 분산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597239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ADD2EA47-A65A-9A1E-89F8-73CD57BF5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81" y="2149197"/>
            <a:ext cx="3784770" cy="35289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8135C18-7F3D-E0AC-9CEB-CAD44368A8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1788" y="2159645"/>
            <a:ext cx="6144212" cy="32395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74B581-A328-ACAB-F753-A6617BD4B084}"/>
              </a:ext>
            </a:extLst>
          </p:cNvPr>
          <p:cNvSpPr txBox="1"/>
          <p:nvPr/>
        </p:nvSpPr>
        <p:spPr>
          <a:xfrm>
            <a:off x="704528" y="2131267"/>
            <a:ext cx="1167844" cy="161159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</p:spPr>
        <p:txBody>
          <a:bodyPr wrap="none" lIns="3600" tIns="3600" rIns="3600" bIns="3600" rtlCol="0">
            <a:spAutoFit/>
          </a:bodyPr>
          <a:lstStyle/>
          <a:p>
            <a:pPr>
              <a:defRPr/>
            </a:pP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전폭 평균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분산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Box Plot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EC8261-A5FA-EC3F-C23B-C0BB84B4A082}"/>
              </a:ext>
            </a:extLst>
          </p:cNvPr>
          <p:cNvSpPr txBox="1"/>
          <p:nvPr/>
        </p:nvSpPr>
        <p:spPr>
          <a:xfrm>
            <a:off x="4583995" y="2122302"/>
            <a:ext cx="1573405" cy="161159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</p:spPr>
        <p:txBody>
          <a:bodyPr wrap="none" lIns="3600" tIns="3600" rIns="3600" bIns="3600" rtlCol="0">
            <a:spAutoFit/>
          </a:bodyPr>
          <a:lstStyle/>
          <a:p>
            <a:pPr>
              <a:defRPr/>
            </a:pP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Pallet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별 전폭 평균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분산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Box Plot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89516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4318E37-200A-B997-6686-DCAFCF072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56" y="4183789"/>
            <a:ext cx="3012560" cy="186422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FCAB7FD-5262-56FA-F60F-101E6B5C7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718" y="4183789"/>
            <a:ext cx="3939416" cy="2235660"/>
          </a:xfrm>
          <a:prstGeom prst="rect">
            <a:avLst/>
          </a:prstGeom>
        </p:spPr>
      </p:pic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DX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관리 지표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_Metal Strap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체결 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Vision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3D5D0-9445-AEA7-2584-6C0C58BC757E}"/>
              </a:ext>
            </a:extLst>
          </p:cNvPr>
          <p:cNvSpPr txBox="1"/>
          <p:nvPr/>
        </p:nvSpPr>
        <p:spPr>
          <a:xfrm>
            <a:off x="196281" y="620688"/>
            <a:ext cx="9581255" cy="33066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Station &amp; Vision Point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별 공정 산포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평균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표준편차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를 모니터링 및 관리하기 위해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관리 지표 선정하였음</a:t>
            </a:r>
            <a:endParaRPr kumimoji="1" lang="en-US" altLang="ko-KR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8A61B87-C24E-1B21-7803-6C71EEDE3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18597"/>
              </p:ext>
            </p:extLst>
          </p:nvPr>
        </p:nvGraphicFramePr>
        <p:xfrm>
          <a:off x="295834" y="967349"/>
          <a:ext cx="8329574" cy="1137114"/>
        </p:xfrm>
        <a:graphic>
          <a:graphicData uri="http://schemas.openxmlformats.org/drawingml/2006/table">
            <a:tbl>
              <a:tblPr/>
              <a:tblGrid>
                <a:gridCol w="594970">
                  <a:extLst>
                    <a:ext uri="{9D8B030D-6E8A-4147-A177-3AD203B41FA5}">
                      <a16:colId xmlns:a16="http://schemas.microsoft.com/office/drawing/2014/main" val="1527220756"/>
                    </a:ext>
                  </a:extLst>
                </a:gridCol>
                <a:gridCol w="594970">
                  <a:extLst>
                    <a:ext uri="{9D8B030D-6E8A-4147-A177-3AD203B41FA5}">
                      <a16:colId xmlns:a16="http://schemas.microsoft.com/office/drawing/2014/main" val="1056334909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4031184609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1480047546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4233749858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3596358398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377725228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2272909205"/>
                    </a:ext>
                  </a:extLst>
                </a:gridCol>
              </a:tblGrid>
              <a:tr h="155004">
                <a:tc rowSpan="2"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Period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mm]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759051"/>
                  </a:ext>
                </a:extLst>
              </a:tr>
              <a:tr h="155004">
                <a:tc gridSpan="2"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Jan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Feb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Apr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01782"/>
                  </a:ext>
                </a:extLst>
              </a:tr>
              <a:tr h="203316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Station 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-4.33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6.47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403116"/>
                  </a:ext>
                </a:extLst>
              </a:tr>
              <a:tr h="203316">
                <a:tc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표준편차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7.16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92748"/>
                  </a:ext>
                </a:extLst>
              </a:tr>
              <a:tr h="20331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Station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-3.39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33768"/>
                  </a:ext>
                </a:extLst>
              </a:tr>
              <a:tr h="203316">
                <a:tc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표준편차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7.36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4317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1CCD786-3B38-7697-74DB-0FA5B8D410B6}"/>
              </a:ext>
            </a:extLst>
          </p:cNvPr>
          <p:cNvSpPr txBox="1"/>
          <p:nvPr/>
        </p:nvSpPr>
        <p:spPr>
          <a:xfrm>
            <a:off x="7706024" y="4008040"/>
            <a:ext cx="16385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[ Metal Strap </a:t>
            </a:r>
            <a:r>
              <a:rPr lang="ko-KR" altLang="en-US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체결 비전 위치 </a:t>
            </a:r>
            <a:r>
              <a:rPr lang="en-US" altLang="ko-KR" sz="1000" b="1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  <a:endParaRPr lang="ko-KR" altLang="en-US" sz="1000" b="1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760F18F-0818-3C6E-6383-D3A3D3CE3603}"/>
              </a:ext>
            </a:extLst>
          </p:cNvPr>
          <p:cNvGrpSpPr/>
          <p:nvPr/>
        </p:nvGrpSpPr>
        <p:grpSpPr>
          <a:xfrm>
            <a:off x="7142522" y="4337144"/>
            <a:ext cx="2756455" cy="2237184"/>
            <a:chOff x="7200122" y="1766263"/>
            <a:chExt cx="2756455" cy="2237184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DFB4F19-ED17-029E-B413-4FC0034AAA20}"/>
                </a:ext>
              </a:extLst>
            </p:cNvPr>
            <p:cNvGrpSpPr/>
            <p:nvPr/>
          </p:nvGrpSpPr>
          <p:grpSpPr>
            <a:xfrm>
              <a:off x="7225204" y="1766263"/>
              <a:ext cx="2731373" cy="1799643"/>
              <a:chOff x="693596" y="2743200"/>
              <a:chExt cx="3122851" cy="1607379"/>
            </a:xfrm>
          </p:grpSpPr>
          <p:pic>
            <p:nvPicPr>
              <p:cNvPr id="24" name="Picture 2">
                <a:extLst>
                  <a:ext uri="{FF2B5EF4-FFF2-40B4-BE49-F238E27FC236}">
                    <a16:creationId xmlns:a16="http://schemas.microsoft.com/office/drawing/2014/main" id="{BDC7D10F-FE96-D0C9-685F-DB392D9003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266" t="12507" r="8281" b="22045"/>
              <a:stretch/>
            </p:blipFill>
            <p:spPr bwMode="auto">
              <a:xfrm rot="16200000">
                <a:off x="1463999" y="2424586"/>
                <a:ext cx="1607379" cy="22446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B4C22DF-1B46-EE9B-57B8-9821B816B55D}"/>
                  </a:ext>
                </a:extLst>
              </p:cNvPr>
              <p:cNvSpPr txBox="1"/>
              <p:nvPr/>
            </p:nvSpPr>
            <p:spPr>
              <a:xfrm>
                <a:off x="697475" y="3780511"/>
                <a:ext cx="351741" cy="226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①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614D5C2-63D2-BE07-0B1E-3E978A4ECC5A}"/>
                  </a:ext>
                </a:extLst>
              </p:cNvPr>
              <p:cNvSpPr txBox="1"/>
              <p:nvPr/>
            </p:nvSpPr>
            <p:spPr>
              <a:xfrm>
                <a:off x="693596" y="3030794"/>
                <a:ext cx="351741" cy="226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②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870EECC-9D76-DF7A-4CC0-0EF4FA623CF1}"/>
                  </a:ext>
                </a:extLst>
              </p:cNvPr>
              <p:cNvSpPr txBox="1"/>
              <p:nvPr/>
            </p:nvSpPr>
            <p:spPr>
              <a:xfrm>
                <a:off x="3464701" y="3776604"/>
                <a:ext cx="351741" cy="226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③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96E541C-0C77-CCE5-3B99-D6CB54965EF7}"/>
                  </a:ext>
                </a:extLst>
              </p:cNvPr>
              <p:cNvSpPr txBox="1"/>
              <p:nvPr/>
            </p:nvSpPr>
            <p:spPr>
              <a:xfrm>
                <a:off x="3464706" y="3046310"/>
                <a:ext cx="351741" cy="226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arrow"/>
                    <a:ea typeface="LG스마트체 Regular"/>
                  </a:rPr>
                  <a:t>④</a:t>
                </a:r>
              </a:p>
            </p:txBody>
          </p:sp>
          <p:sp>
            <p:nvSpPr>
              <p:cNvPr id="29" name="왼쪽 중괄호 28">
                <a:extLst>
                  <a:ext uri="{FF2B5EF4-FFF2-40B4-BE49-F238E27FC236}">
                    <a16:creationId xmlns:a16="http://schemas.microsoft.com/office/drawing/2014/main" id="{D32468E5-95D4-E48F-A6EE-B77D9A06BAF8}"/>
                  </a:ext>
                </a:extLst>
              </p:cNvPr>
              <p:cNvSpPr/>
              <p:nvPr/>
            </p:nvSpPr>
            <p:spPr>
              <a:xfrm>
                <a:off x="998788" y="2978528"/>
                <a:ext cx="107844" cy="343458"/>
              </a:xfrm>
              <a:prstGeom prst="leftBrace">
                <a:avLst>
                  <a:gd name="adj1" fmla="val 26150"/>
                  <a:gd name="adj2" fmla="val 50000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30" name="왼쪽 중괄호 29">
                <a:extLst>
                  <a:ext uri="{FF2B5EF4-FFF2-40B4-BE49-F238E27FC236}">
                    <a16:creationId xmlns:a16="http://schemas.microsoft.com/office/drawing/2014/main" id="{25FD9C75-8CB2-160B-0C10-1FED7B926F22}"/>
                  </a:ext>
                </a:extLst>
              </p:cNvPr>
              <p:cNvSpPr/>
              <p:nvPr/>
            </p:nvSpPr>
            <p:spPr>
              <a:xfrm>
                <a:off x="998787" y="3708763"/>
                <a:ext cx="107844" cy="382223"/>
              </a:xfrm>
              <a:prstGeom prst="leftBrace">
                <a:avLst>
                  <a:gd name="adj1" fmla="val 26150"/>
                  <a:gd name="adj2" fmla="val 50000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31" name="왼쪽 중괄호 30">
                <a:extLst>
                  <a:ext uri="{FF2B5EF4-FFF2-40B4-BE49-F238E27FC236}">
                    <a16:creationId xmlns:a16="http://schemas.microsoft.com/office/drawing/2014/main" id="{8F6C5D51-7773-CAD1-C164-3DA9545080EE}"/>
                  </a:ext>
                </a:extLst>
              </p:cNvPr>
              <p:cNvSpPr/>
              <p:nvPr/>
            </p:nvSpPr>
            <p:spPr>
              <a:xfrm flipH="1">
                <a:off x="3421960" y="2995492"/>
                <a:ext cx="107842" cy="343458"/>
              </a:xfrm>
              <a:prstGeom prst="leftBrace">
                <a:avLst>
                  <a:gd name="adj1" fmla="val 26150"/>
                  <a:gd name="adj2" fmla="val 50000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32" name="왼쪽 중괄호 31">
                <a:extLst>
                  <a:ext uri="{FF2B5EF4-FFF2-40B4-BE49-F238E27FC236}">
                    <a16:creationId xmlns:a16="http://schemas.microsoft.com/office/drawing/2014/main" id="{650A4E42-CA4D-B750-66B3-5D4EB24E0059}"/>
                  </a:ext>
                </a:extLst>
              </p:cNvPr>
              <p:cNvSpPr/>
              <p:nvPr/>
            </p:nvSpPr>
            <p:spPr>
              <a:xfrm flipH="1">
                <a:off x="3421960" y="3699398"/>
                <a:ext cx="107842" cy="382223"/>
              </a:xfrm>
              <a:prstGeom prst="leftBrace">
                <a:avLst>
                  <a:gd name="adj1" fmla="val 26150"/>
                  <a:gd name="adj2" fmla="val 50000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</p:grp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1453EAD-816E-436C-68F2-0F32DF60CF17}"/>
                </a:ext>
              </a:extLst>
            </p:cNvPr>
            <p:cNvCxnSpPr>
              <a:cxnSpLocks/>
            </p:cNvCxnSpPr>
            <p:nvPr/>
          </p:nvCxnSpPr>
          <p:spPr>
            <a:xfrm>
              <a:off x="7485582" y="3771900"/>
              <a:ext cx="410999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6A895597-0D75-281C-14C0-CC6A47A04C1C}"/>
                </a:ext>
              </a:extLst>
            </p:cNvPr>
            <p:cNvCxnSpPr/>
            <p:nvPr/>
          </p:nvCxnSpPr>
          <p:spPr>
            <a:xfrm flipV="1">
              <a:off x="7485582" y="3381375"/>
              <a:ext cx="0" cy="390525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D7C352-19FB-7556-DF9D-5F7FDEDA7ABE}"/>
                </a:ext>
              </a:extLst>
            </p:cNvPr>
            <p:cNvSpPr txBox="1"/>
            <p:nvPr/>
          </p:nvSpPr>
          <p:spPr>
            <a:xfrm>
              <a:off x="7523453" y="3788003"/>
              <a:ext cx="33214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X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축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7C8DC9-AE05-BB4A-3BEC-3ACC5F2294A4}"/>
                </a:ext>
              </a:extLst>
            </p:cNvPr>
            <p:cNvSpPr txBox="1"/>
            <p:nvPr/>
          </p:nvSpPr>
          <p:spPr>
            <a:xfrm>
              <a:off x="7200122" y="3502919"/>
              <a:ext cx="33214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Y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축</a:t>
              </a:r>
            </a:p>
          </p:txBody>
        </p:sp>
      </p:grp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5A64DDA-AACE-4EE8-9743-599EBADA2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841483"/>
              </p:ext>
            </p:extLst>
          </p:nvPr>
        </p:nvGraphicFramePr>
        <p:xfrm>
          <a:off x="295834" y="2204864"/>
          <a:ext cx="8477512" cy="1781175"/>
        </p:xfrm>
        <a:graphic>
          <a:graphicData uri="http://schemas.openxmlformats.org/drawingml/2006/table">
            <a:tbl>
              <a:tblPr/>
              <a:tblGrid>
                <a:gridCol w="468312">
                  <a:extLst>
                    <a:ext uri="{9D8B030D-6E8A-4147-A177-3AD203B41FA5}">
                      <a16:colId xmlns:a16="http://schemas.microsoft.com/office/drawing/2014/main" val="1527220756"/>
                    </a:ext>
                  </a:extLst>
                </a:gridCol>
                <a:gridCol w="320368">
                  <a:extLst>
                    <a:ext uri="{9D8B030D-6E8A-4147-A177-3AD203B41FA5}">
                      <a16:colId xmlns:a16="http://schemas.microsoft.com/office/drawing/2014/main" val="1056334909"/>
                    </a:ext>
                  </a:extLst>
                </a:gridCol>
                <a:gridCol w="640736">
                  <a:extLst>
                    <a:ext uri="{9D8B030D-6E8A-4147-A177-3AD203B41FA5}">
                      <a16:colId xmlns:a16="http://schemas.microsoft.com/office/drawing/2014/main" val="4031184609"/>
                    </a:ext>
                  </a:extLst>
                </a:gridCol>
                <a:gridCol w="640736">
                  <a:extLst>
                    <a:ext uri="{9D8B030D-6E8A-4147-A177-3AD203B41FA5}">
                      <a16:colId xmlns:a16="http://schemas.microsoft.com/office/drawing/2014/main" val="1480047546"/>
                    </a:ext>
                  </a:extLst>
                </a:gridCol>
                <a:gridCol w="640736">
                  <a:extLst>
                    <a:ext uri="{9D8B030D-6E8A-4147-A177-3AD203B41FA5}">
                      <a16:colId xmlns:a16="http://schemas.microsoft.com/office/drawing/2014/main" val="4233749858"/>
                    </a:ext>
                  </a:extLst>
                </a:gridCol>
                <a:gridCol w="640736">
                  <a:extLst>
                    <a:ext uri="{9D8B030D-6E8A-4147-A177-3AD203B41FA5}">
                      <a16:colId xmlns:a16="http://schemas.microsoft.com/office/drawing/2014/main" val="3596358398"/>
                    </a:ext>
                  </a:extLst>
                </a:gridCol>
                <a:gridCol w="640736">
                  <a:extLst>
                    <a:ext uri="{9D8B030D-6E8A-4147-A177-3AD203B41FA5}">
                      <a16:colId xmlns:a16="http://schemas.microsoft.com/office/drawing/2014/main" val="377725228"/>
                    </a:ext>
                  </a:extLst>
                </a:gridCol>
                <a:gridCol w="640736">
                  <a:extLst>
                    <a:ext uri="{9D8B030D-6E8A-4147-A177-3AD203B41FA5}">
                      <a16:colId xmlns:a16="http://schemas.microsoft.com/office/drawing/2014/main" val="2272909205"/>
                    </a:ext>
                  </a:extLst>
                </a:gridCol>
                <a:gridCol w="640736">
                  <a:extLst>
                    <a:ext uri="{9D8B030D-6E8A-4147-A177-3AD203B41FA5}">
                      <a16:colId xmlns:a16="http://schemas.microsoft.com/office/drawing/2014/main" val="2113012340"/>
                    </a:ext>
                  </a:extLst>
                </a:gridCol>
                <a:gridCol w="640736">
                  <a:extLst>
                    <a:ext uri="{9D8B030D-6E8A-4147-A177-3AD203B41FA5}">
                      <a16:colId xmlns:a16="http://schemas.microsoft.com/office/drawing/2014/main" val="4261904521"/>
                    </a:ext>
                  </a:extLst>
                </a:gridCol>
                <a:gridCol w="640736">
                  <a:extLst>
                    <a:ext uri="{9D8B030D-6E8A-4147-A177-3AD203B41FA5}">
                      <a16:colId xmlns:a16="http://schemas.microsoft.com/office/drawing/2014/main" val="627716109"/>
                    </a:ext>
                  </a:extLst>
                </a:gridCol>
                <a:gridCol w="640736">
                  <a:extLst>
                    <a:ext uri="{9D8B030D-6E8A-4147-A177-3AD203B41FA5}">
                      <a16:colId xmlns:a16="http://schemas.microsoft.com/office/drawing/2014/main" val="2345750592"/>
                    </a:ext>
                  </a:extLst>
                </a:gridCol>
                <a:gridCol w="640736">
                  <a:extLst>
                    <a:ext uri="{9D8B030D-6E8A-4147-A177-3AD203B41FA5}">
                      <a16:colId xmlns:a16="http://schemas.microsoft.com/office/drawing/2014/main" val="1703179286"/>
                    </a:ext>
                  </a:extLst>
                </a:gridCol>
                <a:gridCol w="640736">
                  <a:extLst>
                    <a:ext uri="{9D8B030D-6E8A-4147-A177-3AD203B41FA5}">
                      <a16:colId xmlns:a16="http://schemas.microsoft.com/office/drawing/2014/main" val="3143683822"/>
                    </a:ext>
                  </a:extLst>
                </a:gridCol>
              </a:tblGrid>
              <a:tr h="80999">
                <a:tc rowSpan="3" gridSpan="2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Period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mm]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평균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표준편차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613311"/>
                  </a:ext>
                </a:extLst>
              </a:tr>
              <a:tr h="80999">
                <a:tc gridSpan="2"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759051"/>
                  </a:ext>
                </a:extLst>
              </a:tr>
              <a:tr h="80999">
                <a:tc gridSpan="2"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Jan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Feb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Apr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Jan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Feb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Apr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01782"/>
                  </a:ext>
                </a:extLst>
              </a:tr>
              <a:tr h="84387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Station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961031"/>
                  </a:ext>
                </a:extLst>
              </a:tr>
              <a:tr h="84387">
                <a:tc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6.33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881892"/>
                  </a:ext>
                </a:extLst>
              </a:tr>
              <a:tr h="84387">
                <a:tc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-14.56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-5.70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6.66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20.40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6.36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125730"/>
                  </a:ext>
                </a:extLst>
              </a:tr>
              <a:tr h="84387">
                <a:tc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-4.52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7.11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6.47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6.83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979995"/>
                  </a:ext>
                </a:extLst>
              </a:tr>
              <a:tr h="84387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Station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6.61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843204"/>
                  </a:ext>
                </a:extLst>
              </a:tr>
              <a:tr h="84387">
                <a:tc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6.44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256733"/>
                  </a:ext>
                </a:extLst>
              </a:tr>
              <a:tr h="84387">
                <a:tc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-13.96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-2.93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19.07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57230"/>
                  </a:ext>
                </a:extLst>
              </a:tr>
              <a:tr h="84387">
                <a:tc vMerge="1"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-3.92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615045"/>
                  </a:ext>
                </a:extLst>
              </a:tr>
            </a:tbl>
          </a:graphicData>
        </a:graphic>
      </p:graphicFrame>
      <p:sp>
        <p:nvSpPr>
          <p:cNvPr id="6" name="실행 단추: 홈으로 이동 5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95E807F2-0247-16A0-D701-E855B74478AB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1C7708-715D-E5CE-7363-81F251B618C2}"/>
              </a:ext>
            </a:extLst>
          </p:cNvPr>
          <p:cNvSpPr txBox="1"/>
          <p:nvPr/>
        </p:nvSpPr>
        <p:spPr>
          <a:xfrm>
            <a:off x="560512" y="4132170"/>
            <a:ext cx="2230636" cy="161159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</p:spPr>
        <p:txBody>
          <a:bodyPr wrap="none" lIns="3600" tIns="3600" rIns="3600" bIns="3600" rtlCol="0">
            <a:spAutoFit/>
          </a:bodyPr>
          <a:lstStyle/>
          <a:p>
            <a:pPr>
              <a:defRPr/>
            </a:pP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Station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별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Vision Offset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평균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표준편차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Box Plot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CB4503-7410-7726-3FED-D4EA4A2B217F}"/>
              </a:ext>
            </a:extLst>
          </p:cNvPr>
          <p:cNvSpPr txBox="1"/>
          <p:nvPr/>
        </p:nvSpPr>
        <p:spPr>
          <a:xfrm>
            <a:off x="4736976" y="4132170"/>
            <a:ext cx="1639127" cy="161159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</p:spPr>
        <p:txBody>
          <a:bodyPr wrap="none" lIns="3600" tIns="3600" rIns="3600" bIns="3600" rtlCol="0">
            <a:spAutoFit/>
          </a:bodyPr>
          <a:lstStyle/>
          <a:p>
            <a:pPr>
              <a:defRPr/>
            </a:pP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Station/Point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별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Vision Offset Trend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76107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DX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관리 지표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_Resin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도포 자동보정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04087D4-1938-4230-F86D-607A47A58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026772"/>
              </p:ext>
            </p:extLst>
          </p:nvPr>
        </p:nvGraphicFramePr>
        <p:xfrm>
          <a:off x="295834" y="967349"/>
          <a:ext cx="8329573" cy="936711"/>
        </p:xfrm>
        <a:graphic>
          <a:graphicData uri="http://schemas.openxmlformats.org/drawingml/2006/table">
            <a:tbl>
              <a:tblPr/>
              <a:tblGrid>
                <a:gridCol w="1189939">
                  <a:extLst>
                    <a:ext uri="{9D8B030D-6E8A-4147-A177-3AD203B41FA5}">
                      <a16:colId xmlns:a16="http://schemas.microsoft.com/office/drawing/2014/main" val="1527220756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4031184609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1480047546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4233749858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3596358398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377725228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2272909205"/>
                    </a:ext>
                  </a:extLst>
                </a:gridCol>
              </a:tblGrid>
              <a:tr h="17791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Period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g]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759051"/>
                  </a:ext>
                </a:extLst>
              </a:tr>
              <a:tr h="177912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Dec(</a:t>
                      </a:r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기준</a:t>
                      </a:r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Jan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Feb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Apr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01782"/>
                  </a:ext>
                </a:extLst>
              </a:tr>
              <a:tr h="1936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팩당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Resin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무게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5,178.78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5,160.02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5,143.01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5,112.53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5,142.76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5,085.45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403116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절감 무게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▲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18.76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▲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35.77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▲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66.25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▲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36.02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▲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597239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절감율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18935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F22D09D-4E53-5F93-6428-638A3B4556C2}"/>
              </a:ext>
            </a:extLst>
          </p:cNvPr>
          <p:cNvSpPr txBox="1"/>
          <p:nvPr/>
        </p:nvSpPr>
        <p:spPr>
          <a:xfrm>
            <a:off x="196281" y="620688"/>
            <a:ext cx="9581255" cy="33066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팩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당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Resin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무게를 관리 지표로 선정하였고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기준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Resin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무게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(25.12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대비 절감량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절감 금액 포함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을 모니터링 하고자 함</a:t>
            </a:r>
            <a:endParaRPr kumimoji="1" lang="en-US" altLang="ko-KR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실행 단추: 홈으로 이동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72E34AD-75D8-9ACC-5ECF-CB574C3DA8BC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2D6A49E-09E1-5C92-F65B-8B68C8DF5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835" y="1943046"/>
            <a:ext cx="6313350" cy="29100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85752A8-5565-1587-66D6-A9FE9201C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34" y="4953941"/>
            <a:ext cx="7440063" cy="1343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6C26C6-8786-9901-82BE-738C7A818E2E}"/>
              </a:ext>
            </a:extLst>
          </p:cNvPr>
          <p:cNvSpPr txBox="1"/>
          <p:nvPr/>
        </p:nvSpPr>
        <p:spPr>
          <a:xfrm>
            <a:off x="2648744" y="2004895"/>
            <a:ext cx="1300894" cy="161159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</p:spPr>
        <p:txBody>
          <a:bodyPr wrap="none" lIns="3600" tIns="3600" rIns="3600" bIns="3600" rtlCol="0">
            <a:spAutoFit/>
          </a:bodyPr>
          <a:lstStyle/>
          <a:p>
            <a:pPr>
              <a:defRPr/>
            </a:pP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월별 팩당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Resin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평균 무게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C3AD9C-8BE2-521D-C6D7-90E380FBCF64}"/>
              </a:ext>
            </a:extLst>
          </p:cNvPr>
          <p:cNvSpPr txBox="1"/>
          <p:nvPr/>
        </p:nvSpPr>
        <p:spPr>
          <a:xfrm>
            <a:off x="3059051" y="5045811"/>
            <a:ext cx="1076474" cy="161159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</p:spPr>
        <p:txBody>
          <a:bodyPr wrap="none" lIns="3600" tIns="3600" rIns="3600" bIns="3600" rtlCol="0">
            <a:spAutoFit/>
          </a:bodyPr>
          <a:lstStyle/>
          <a:p>
            <a:pPr>
              <a:defRPr/>
            </a:pP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레진 무게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NG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 수</a:t>
            </a:r>
          </a:p>
        </p:txBody>
      </p:sp>
    </p:spTree>
    <p:extLst>
      <p:ext uri="{BB962C8B-B14F-4D97-AF65-F5344CB8AC3E}">
        <p14:creationId xmlns:p14="http://schemas.microsoft.com/office/powerpoint/2010/main" val="25860166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 DX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관리 지표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_Vision FDC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B0173-6D31-3FF2-03F2-B2A70102C0E6}"/>
              </a:ext>
            </a:extLst>
          </p:cNvPr>
          <p:cNvSpPr txBox="1"/>
          <p:nvPr/>
        </p:nvSpPr>
        <p:spPr>
          <a:xfrm>
            <a:off x="196281" y="620688"/>
            <a:ext cx="9581255" cy="33066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가동시간 대비 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Vision BM/PD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부동시간 기준 부동률을 관리 지표로 선정하였고</a:t>
            </a: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이를 모니터링 하고자 함</a:t>
            </a:r>
            <a:endParaRPr kumimoji="1" lang="en-US" altLang="ko-KR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34D17E5-1FA4-FBF3-201A-5754BA197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195847"/>
              </p:ext>
            </p:extLst>
          </p:nvPr>
        </p:nvGraphicFramePr>
        <p:xfrm>
          <a:off x="295834" y="967349"/>
          <a:ext cx="8329573" cy="936711"/>
        </p:xfrm>
        <a:graphic>
          <a:graphicData uri="http://schemas.openxmlformats.org/drawingml/2006/table">
            <a:tbl>
              <a:tblPr/>
              <a:tblGrid>
                <a:gridCol w="143437">
                  <a:extLst>
                    <a:ext uri="{9D8B030D-6E8A-4147-A177-3AD203B41FA5}">
                      <a16:colId xmlns:a16="http://schemas.microsoft.com/office/drawing/2014/main" val="1527220756"/>
                    </a:ext>
                  </a:extLst>
                </a:gridCol>
                <a:gridCol w="1046502">
                  <a:extLst>
                    <a:ext uri="{9D8B030D-6E8A-4147-A177-3AD203B41FA5}">
                      <a16:colId xmlns:a16="http://schemas.microsoft.com/office/drawing/2014/main" val="549481149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4031184609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1480047546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4233749858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3596358398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377725228"/>
                    </a:ext>
                  </a:extLst>
                </a:gridCol>
                <a:gridCol w="1189939">
                  <a:extLst>
                    <a:ext uri="{9D8B030D-6E8A-4147-A177-3AD203B41FA5}">
                      <a16:colId xmlns:a16="http://schemas.microsoft.com/office/drawing/2014/main" val="2272909205"/>
                    </a:ext>
                  </a:extLst>
                </a:gridCol>
              </a:tblGrid>
              <a:tr h="177912">
                <a:tc rowSpan="2"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2026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759051"/>
                  </a:ext>
                </a:extLst>
              </a:tr>
              <a:tr h="177912">
                <a:tc gridSpan="2"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Jan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Feb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Apr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01782"/>
                  </a:ext>
                </a:extLst>
              </a:tr>
              <a:tr h="193629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부동률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(%)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7.67%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1.91%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403116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부동시간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(sec)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142,565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40,001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7,643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20,258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7,289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1,360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189359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가동시간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(sec)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1,859,529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2,089,893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2,001,152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2,241,635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2,311,908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4,500,732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9274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662D0CB-C9C4-3300-6183-197584B2B226}"/>
              </a:ext>
            </a:extLst>
          </p:cNvPr>
          <p:cNvSpPr txBox="1"/>
          <p:nvPr/>
        </p:nvSpPr>
        <p:spPr>
          <a:xfrm>
            <a:off x="8824475" y="1208946"/>
            <a:ext cx="6463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26.1Q</a:t>
            </a:r>
          </a:p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1.07%</a:t>
            </a:r>
          </a:p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67,902</a:t>
            </a:r>
          </a:p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6,332,680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실행 단추: 홈으로 이동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024E112-74B5-42C7-BF59-A1F5360867FF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D065AB-8345-AD96-7E72-C860A61CD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713" y="1980998"/>
            <a:ext cx="5183343" cy="22542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AB3033B-6CE7-5F03-29FD-3B81A66DF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681" y="4375196"/>
            <a:ext cx="6091530" cy="186211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B0208DB-67F1-8F79-B7F5-9F8B5F6244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697" y="4338021"/>
            <a:ext cx="3952308" cy="223505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769A765-84D0-D451-AC8B-0C02F3783EEA}"/>
              </a:ext>
            </a:extLst>
          </p:cNvPr>
          <p:cNvSpPr txBox="1"/>
          <p:nvPr/>
        </p:nvSpPr>
        <p:spPr>
          <a:xfrm>
            <a:off x="3008784" y="2004895"/>
            <a:ext cx="1231965" cy="161159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</p:spPr>
        <p:txBody>
          <a:bodyPr wrap="none" lIns="3600" tIns="3600" rIns="3600" bIns="3600" rtlCol="0">
            <a:spAutoFit/>
          </a:bodyPr>
          <a:lstStyle/>
          <a:p>
            <a:pPr>
              <a:defRPr/>
            </a:pP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비전 부동시간 및 부동률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3BB40E-E7E9-A360-FFE5-48BDAA805E51}"/>
              </a:ext>
            </a:extLst>
          </p:cNvPr>
          <p:cNvSpPr txBox="1"/>
          <p:nvPr/>
        </p:nvSpPr>
        <p:spPr>
          <a:xfrm>
            <a:off x="2249401" y="4375196"/>
            <a:ext cx="1312115" cy="161159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</p:spPr>
        <p:txBody>
          <a:bodyPr wrap="none" lIns="3600" tIns="3600" rIns="3600" bIns="3600" rtlCol="0">
            <a:spAutoFit/>
          </a:bodyPr>
          <a:lstStyle/>
          <a:p>
            <a:pPr>
              <a:defRPr/>
            </a:pP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비전 부동시간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Pareto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차트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DC19A2-F517-99AE-05B8-6C25B317589F}"/>
              </a:ext>
            </a:extLst>
          </p:cNvPr>
          <p:cNvSpPr txBox="1"/>
          <p:nvPr/>
        </p:nvSpPr>
        <p:spPr>
          <a:xfrm>
            <a:off x="7231625" y="4375196"/>
            <a:ext cx="988308" cy="161159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</p:spPr>
        <p:txBody>
          <a:bodyPr wrap="none" lIns="3600" tIns="3600" rIns="3600" bIns="3600" rtlCol="0">
            <a:spAutoFit/>
          </a:bodyPr>
          <a:lstStyle/>
          <a:p>
            <a:pPr>
              <a:defRPr/>
            </a:pP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Trouble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별 발생 횟수</a:t>
            </a:r>
          </a:p>
        </p:txBody>
      </p:sp>
    </p:spTree>
    <p:extLst>
      <p:ext uri="{BB962C8B-B14F-4D97-AF65-F5344CB8AC3E}">
        <p14:creationId xmlns:p14="http://schemas.microsoft.com/office/powerpoint/2010/main" val="3604511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4">
            <a:extLst>
              <a:ext uri="{FF2B5EF4-FFF2-40B4-BE49-F238E27FC236}">
                <a16:creationId xmlns:a16="http://schemas.microsoft.com/office/drawing/2014/main" id="{C5A4D57E-22B5-8197-D989-CB2E38AA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5771347" cy="3693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DX 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관리 지표</a:t>
            </a:r>
            <a:r>
              <a:rPr lang="en-US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검사 가성 불량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B0173-6D31-3FF2-03F2-B2A70102C0E6}"/>
              </a:ext>
            </a:extLst>
          </p:cNvPr>
          <p:cNvSpPr txBox="1"/>
          <p:nvPr/>
        </p:nvSpPr>
        <p:spPr>
          <a:xfrm>
            <a:off x="196281" y="620688"/>
            <a:ext cx="9581255" cy="33066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Ground Bonding / Leak</a:t>
            </a:r>
            <a:r>
              <a:rPr kumimoji="1" lang="ko-KR" altLang="en-US" sz="1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검사에 대한 가성 불량률을 모니터링하는 부분으로 관리 지표 선정하였음</a:t>
            </a:r>
            <a:endParaRPr kumimoji="1" lang="en-US" altLang="ko-KR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실행 단추: 홈으로 이동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FF4B710-A2FD-032E-AE8A-63FE90811C39}"/>
              </a:ext>
            </a:extLst>
          </p:cNvPr>
          <p:cNvSpPr/>
          <p:nvPr/>
        </p:nvSpPr>
        <p:spPr>
          <a:xfrm>
            <a:off x="9615522" y="39481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E6E401-0DAD-914A-A25B-D827E5634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375" y="1072627"/>
            <a:ext cx="7848872" cy="30044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3AEA1FC-19DA-50EB-B5E1-1F1C9B80D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375" y="3761856"/>
            <a:ext cx="7848872" cy="27728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AD150B-18ED-7796-B90D-143729E7D0B3}"/>
              </a:ext>
            </a:extLst>
          </p:cNvPr>
          <p:cNvSpPr txBox="1"/>
          <p:nvPr/>
        </p:nvSpPr>
        <p:spPr>
          <a:xfrm>
            <a:off x="2360712" y="1107601"/>
            <a:ext cx="1116548" cy="161159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</p:spPr>
        <p:txBody>
          <a:bodyPr wrap="none" lIns="3600" tIns="3600" rIns="3600" bIns="3600" rtlCol="0">
            <a:spAutoFit/>
          </a:bodyPr>
          <a:lstStyle/>
          <a:p>
            <a:pPr>
              <a:defRPr/>
            </a:pP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Leak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검사 가성 불량률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B4CBFD-4700-BA8E-BBB4-26D2E69099AE}"/>
              </a:ext>
            </a:extLst>
          </p:cNvPr>
          <p:cNvSpPr txBox="1"/>
          <p:nvPr/>
        </p:nvSpPr>
        <p:spPr>
          <a:xfrm>
            <a:off x="2684324" y="3793693"/>
            <a:ext cx="1650349" cy="161159"/>
          </a:xfrm>
          <a:prstGeom prst="rect">
            <a:avLst/>
          </a:prstGeom>
          <a:solidFill>
            <a:schemeClr val="bg1">
              <a:lumMod val="85000"/>
              <a:alpha val="69804"/>
            </a:schemeClr>
          </a:solidFill>
        </p:spPr>
        <p:txBody>
          <a:bodyPr wrap="none" lIns="3600" tIns="3600" rIns="3600" bIns="3600" rtlCol="0">
            <a:spAutoFit/>
          </a:bodyPr>
          <a:lstStyle/>
          <a:p>
            <a:pPr>
              <a:defRPr/>
            </a:pP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Ground Bonding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검사 가성 불량률</a:t>
            </a:r>
          </a:p>
        </p:txBody>
      </p:sp>
    </p:spTree>
    <p:extLst>
      <p:ext uri="{BB962C8B-B14F-4D97-AF65-F5344CB8AC3E}">
        <p14:creationId xmlns:p14="http://schemas.microsoft.com/office/powerpoint/2010/main" val="1368987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0_기본 디자인">
  <a:themeElements>
    <a:clrScheme name="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None/>
          <a:defRPr sz="1400" dirty="0" smtClean="0">
            <a:latin typeface="LG스마트체 Light" panose="020B0600000101010101" pitchFamily="50" charset="-127"/>
            <a:ea typeface="LG스마트체 Light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테마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사용자 지정 3">
    <a:majorFont>
      <a:latin typeface="Arial Narrow"/>
      <a:ea typeface="LG스마트체 Regular"/>
      <a:cs typeface=""/>
    </a:majorFont>
    <a:minorFont>
      <a:latin typeface="Arial Narrow"/>
      <a:ea typeface="LG스마트체 Regular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2" ma:contentTypeDescription="새 문서를 만듭니다." ma:contentTypeScope="" ma:versionID="de1f028b3b844b6bfb083b74f2e11fee">
  <xsd:schema xmlns:xsd="http://www.w3.org/2001/XMLSchema" xmlns:xs="http://www.w3.org/2001/XMLSchema" xmlns:p="http://schemas.microsoft.com/office/2006/metadata/properties" xmlns:ns2="69aacc19-8f48-4ba8-bfc1-057a6d56306d" xmlns:ns3="0f910403-d5ec-4b4d-b87e-3beae0ea94c9" targetNamespace="http://schemas.microsoft.com/office/2006/metadata/properties" ma:root="true" ma:fieldsID="e9c0ce2dbcaab04d4579c4ab1800f8b7" ns2:_="" ns3:_="">
    <xsd:import namespace="69aacc19-8f48-4ba8-bfc1-057a6d56306d"/>
    <xsd:import namespace="0f910403-d5ec-4b4d-b87e-3beae0ea94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86b6c907-f9fa-4eeb-aa90-8a0f9d866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910403-d5ec-4b4d-b87e-3beae0ea94c9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789cb6d-c4d8-4373-910b-f80dca9b53fc}" ma:internalName="TaxCatchAll" ma:showField="CatchAllData" ma:web="0f910403-d5ec-4b4d-b87e-3beae0ea94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aacc19-8f48-4ba8-bfc1-057a6d56306d">
      <Terms xmlns="http://schemas.microsoft.com/office/infopath/2007/PartnerControls"/>
    </lcf76f155ced4ddcb4097134ff3c332f>
    <TaxCatchAll xmlns="0f910403-d5ec-4b4d-b87e-3beae0ea94c9" xsi:nil="true"/>
  </documentManagement>
</p:properties>
</file>

<file path=customXml/itemProps1.xml><?xml version="1.0" encoding="utf-8"?>
<ds:datastoreItem xmlns:ds="http://schemas.openxmlformats.org/officeDocument/2006/customXml" ds:itemID="{D691EEA7-83E6-4915-A5B5-D973F1F780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aacc19-8f48-4ba8-bfc1-057a6d56306d"/>
    <ds:schemaRef ds:uri="0f910403-d5ec-4b4d-b87e-3beae0ea94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DD55D8-2D40-45C9-A70E-F20982E88E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9C36E7-514E-432C-B266-0A628ED41450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0f910403-d5ec-4b4d-b87e-3beae0ea94c9"/>
    <ds:schemaRef ds:uri="http://schemas.openxmlformats.org/package/2006/metadata/core-properties"/>
    <ds:schemaRef ds:uri="http://purl.org/dc/elements/1.1/"/>
    <ds:schemaRef ds:uri="69aacc19-8f48-4ba8-bfc1-057a6d56306d"/>
    <ds:schemaRef ds:uri="http://purl.org/dc/terms/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36564</TotalTime>
  <Words>10015</Words>
  <Application>Microsoft Office PowerPoint</Application>
  <PresentationFormat>A4 용지(210x297mm)</PresentationFormat>
  <Paragraphs>1972</Paragraphs>
  <Slides>37</Slides>
  <Notes>36</Notes>
  <HiddenSlides>1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37</vt:i4>
      </vt:variant>
    </vt:vector>
  </HeadingPairs>
  <TitlesOfParts>
    <vt:vector size="49" baseType="lpstr">
      <vt:lpstr>LG스마트체 Regular</vt:lpstr>
      <vt:lpstr>LG스마트체2.0 Bold</vt:lpstr>
      <vt:lpstr>LG스마트체2.0 Regular</vt:lpstr>
      <vt:lpstr>LG스마트체2.0 SemiBold</vt:lpstr>
      <vt:lpstr>굴림</vt:lpstr>
      <vt:lpstr>맑은 고딕</vt:lpstr>
      <vt:lpstr>Arial</vt:lpstr>
      <vt:lpstr>Arial Narrow</vt:lpstr>
      <vt:lpstr>Cambria Math</vt:lpstr>
      <vt:lpstr>Wingdings</vt:lpstr>
      <vt:lpstr>Office 테마</vt:lpstr>
      <vt:lpstr>10_기본 디자인</vt:lpstr>
      <vt:lpstr>PowerPoint 프레젠테이션</vt:lpstr>
      <vt:lpstr>PowerPoint 프레젠테이션</vt:lpstr>
      <vt:lpstr>보고에 앞서</vt:lpstr>
      <vt:lpstr>0. 진행 개요</vt:lpstr>
      <vt:lpstr>1. 과제 Team Chart</vt:lpstr>
      <vt:lpstr>2. ESS 모듈/팩 DX 과제 현황</vt:lpstr>
      <vt:lpstr>PowerPoint 프레젠테이션</vt:lpstr>
      <vt:lpstr>유첨. JF2 직행률 및 가동률 Trend</vt:lpstr>
      <vt:lpstr>유첨. DX 과제 대상 직행불량 Trend</vt:lpstr>
      <vt:lpstr>유첨. 확산 전개 대상 검토</vt:lpstr>
      <vt:lpstr>유첨. 확산 전개 지원 방안</vt:lpstr>
      <vt:lpstr>자동보정 과제 완료 보고</vt:lpstr>
      <vt:lpstr>유첨. Pallet 별 CMA Width 편차 현황 및 원인</vt:lpstr>
      <vt:lpstr>유첨. CMA 가압 자동보정 결과</vt:lpstr>
      <vt:lpstr>유첨. CTP(Cell to Pack) 레진 도포 자동보정을 통한 레진 무게 산포/소모량 최적화</vt:lpstr>
      <vt:lpstr>유첨. 모듈 공정 Resin 무게 자동보정</vt:lpstr>
      <vt:lpstr>유첨. 레진 무게 자동보정 양산 적용 결과 – MI4동 ESS Line (Resin)</vt:lpstr>
      <vt:lpstr>유첨. 레진 무게 자동보정 양산 적용 결과 – MI4동 Toyota Line (Resin Station)</vt:lpstr>
      <vt:lpstr>유첨. 체결 Vision 보정 값 기반 TRF Unloading Y축 위치 자동보정</vt:lpstr>
      <vt:lpstr>유첨. Metal Strap 체결 Y축 자동보정 결과</vt:lpstr>
      <vt:lpstr>FDC 과제 완료 보고</vt:lpstr>
      <vt:lpstr>유첨. Metal Strap 체결 Vision 보정량 이상감지(1/2)</vt:lpstr>
      <vt:lpstr>유첨. Metal Strap 체결 Vision 보정량 이상감지(2/2)</vt:lpstr>
      <vt:lpstr>유첨. 검사 가성 불량 감지_Ground Bonding Test(1/2)</vt:lpstr>
      <vt:lpstr>유첨. 검사 가성 불량 감지_Leak Test(2/2)</vt:lpstr>
      <vt:lpstr>유첨. CMA 가압 Pallet 이상 감지</vt:lpstr>
      <vt:lpstr>유첨. BFA(Busbar Frame Assy) 체결 공정 이상 감지(1/2)</vt:lpstr>
      <vt:lpstr>유첨. BFA(Busbar Frame Assy) 체결 공정 이상 감지(2/2)</vt:lpstr>
      <vt:lpstr>유첨. 체결기/피더기 이상 감지</vt:lpstr>
      <vt:lpstr>유첨. 리드 벤딩 툴 마모 감지</vt:lpstr>
      <vt:lpstr>유첨. 리드 용접 지그 가압량 최적화</vt:lpstr>
      <vt:lpstr>DX 과제 성과 검증 위한 관리 지표 선정</vt:lpstr>
      <vt:lpstr>유첨. DX 과제 관리 지표_CMA 가압보정</vt:lpstr>
      <vt:lpstr>유첨. DX 과제 관리 지표_Metal Strap 체결 Vision 보정</vt:lpstr>
      <vt:lpstr>유첨. DX 과제 관리 지표_Resin 도포 자동보정</vt:lpstr>
      <vt:lpstr>유첨. DX 과제 관리 지표_Vision FDC</vt:lpstr>
      <vt:lpstr>DX 과제 관리 지표_검사 가성 불량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kw.park</dc:creator>
  <cp:lastModifiedBy>김태경(TAEKYEONG KIM)[tkkim2010]/책임/생산기획.생산DX추진팀</cp:lastModifiedBy>
  <cp:revision>1108</cp:revision>
  <cp:lastPrinted>2026-02-03T04:21:36Z</cp:lastPrinted>
  <dcterms:created xsi:type="dcterms:W3CDTF">2021-03-04T06:42:13Z</dcterms:created>
  <dcterms:modified xsi:type="dcterms:W3CDTF">2026-06-16T02:17:37Z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</Properties>
</file>