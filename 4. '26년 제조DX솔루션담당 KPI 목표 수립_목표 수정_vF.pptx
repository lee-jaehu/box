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00" r:id="rId3"/>
  </p:sldMasterIdLst>
  <p:notesMasterIdLst>
    <p:notesMasterId r:id="rId18"/>
  </p:notesMasterIdLst>
  <p:sldIdLst>
    <p:sldId id="260" r:id="rId4"/>
    <p:sldId id="257" r:id="rId5"/>
    <p:sldId id="2147483640" r:id="rId6"/>
    <p:sldId id="2147483647" r:id="rId7"/>
    <p:sldId id="2147483642" r:id="rId8"/>
    <p:sldId id="2147483643" r:id="rId9"/>
    <p:sldId id="2147483645" r:id="rId10"/>
    <p:sldId id="2147481899" r:id="rId11"/>
    <p:sldId id="2147483641" r:id="rId12"/>
    <p:sldId id="2147483639" r:id="rId13"/>
    <p:sldId id="2147481897" r:id="rId14"/>
    <p:sldId id="2147481898" r:id="rId15"/>
    <p:sldId id="2147481896" r:id="rId16"/>
    <p:sldId id="261" r:id="rId17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목표합의서_제조DX솔루션담당" id="{9934FA5A-E548-4120-A164-A5DC333AAD1A}">
          <p14:sldIdLst>
            <p14:sldId id="260"/>
            <p14:sldId id="257"/>
            <p14:sldId id="2147483640"/>
            <p14:sldId id="2147483647"/>
            <p14:sldId id="2147483642"/>
            <p14:sldId id="2147483643"/>
            <p14:sldId id="2147483645"/>
            <p14:sldId id="2147481899"/>
            <p14:sldId id="2147483641"/>
            <p14:sldId id="2147483639"/>
          </p14:sldIdLst>
        </p14:section>
        <p14:section name="KPI 변경 검토" id="{466C8448-23C2-483E-B8A1-20E520145E38}">
          <p14:sldIdLst>
            <p14:sldId id="2147481897"/>
          </p14:sldIdLst>
        </p14:section>
        <p14:section name="KPI 수정 근거_제조DX솔루션담당" id="{02A024D9-1BF4-4E53-A21A-87D23FDDCD7E}">
          <p14:sldIdLst>
            <p14:sldId id="2147481898"/>
            <p14:sldId id="2147481896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6114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pos="5796" userDrawn="1">
          <p15:clr>
            <a:srgbClr val="A4A3A4"/>
          </p15:clr>
        </p15:guide>
        <p15:guide id="6" pos="126" userDrawn="1">
          <p15:clr>
            <a:srgbClr val="A4A3A4"/>
          </p15:clr>
        </p15:guide>
        <p15:guide id="7" pos="489" userDrawn="1">
          <p15:clr>
            <a:srgbClr val="A4A3A4"/>
          </p15:clr>
        </p15:guide>
        <p15:guide id="8" pos="580" userDrawn="1">
          <p15:clr>
            <a:srgbClr val="A4A3A4"/>
          </p15:clr>
        </p15:guide>
        <p15:guide id="9" orient="horz" pos="4156" userDrawn="1">
          <p15:clr>
            <a:srgbClr val="A4A3A4"/>
          </p15:clr>
        </p15:guide>
        <p15:guide id="10" orient="horz" pos="2908" userDrawn="1">
          <p15:clr>
            <a:srgbClr val="A4A3A4"/>
          </p15:clr>
        </p15:guide>
        <p15:guide id="11" orient="horz" pos="3113" userDrawn="1">
          <p15:clr>
            <a:srgbClr val="A4A3A4"/>
          </p15:clr>
        </p15:guide>
        <p15:guide id="12" orient="horz" pos="3430" userDrawn="1">
          <p15:clr>
            <a:srgbClr val="A4A3A4"/>
          </p15:clr>
        </p15:guide>
        <p15:guide id="13" pos="1079" userDrawn="1">
          <p15:clr>
            <a:srgbClr val="A4A3A4"/>
          </p15:clr>
        </p15:guide>
        <p15:guide id="14" pos="1669" userDrawn="1">
          <p15:clr>
            <a:srgbClr val="A4A3A4"/>
          </p15:clr>
        </p15:guide>
        <p15:guide id="15" pos="1850" userDrawn="1">
          <p15:clr>
            <a:srgbClr val="A4A3A4"/>
          </p15:clr>
        </p15:guide>
        <p15:guide id="16" pos="3619" userDrawn="1">
          <p15:clr>
            <a:srgbClr val="A4A3A4"/>
          </p15:clr>
        </p15:guide>
        <p15:guide id="17" pos="3778" userDrawn="1">
          <p15:clr>
            <a:srgbClr val="A4A3A4"/>
          </p15:clr>
        </p15:guide>
        <p15:guide id="18" orient="horz" pos="890" userDrawn="1">
          <p15:clr>
            <a:srgbClr val="A4A3A4"/>
          </p15:clr>
        </p15:guide>
        <p15:guide id="19" orient="horz" pos="1162" userDrawn="1">
          <p15:clr>
            <a:srgbClr val="A4A3A4"/>
          </p15:clr>
        </p15:guide>
        <p15:guide id="20" orient="horz" pos="14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6600"/>
    <a:srgbClr val="0000FF"/>
    <a:srgbClr val="FFFF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9" autoAdjust="0"/>
    <p:restoredTop sz="94667" autoAdjust="0"/>
  </p:normalViewPr>
  <p:slideViewPr>
    <p:cSldViewPr snapToGrid="0" showGuides="1">
      <p:cViewPr varScale="1">
        <p:scale>
          <a:sx n="101" d="100"/>
          <a:sy n="101" d="100"/>
        </p:scale>
        <p:origin x="1692" y="96"/>
      </p:cViewPr>
      <p:guideLst>
        <p:guide orient="horz" pos="391"/>
        <p:guide pos="6114"/>
        <p:guide orient="horz" pos="618"/>
        <p:guide pos="5796"/>
        <p:guide pos="126"/>
        <p:guide pos="489"/>
        <p:guide pos="580"/>
        <p:guide orient="horz" pos="4156"/>
        <p:guide orient="horz" pos="2908"/>
        <p:guide orient="horz" pos="3113"/>
        <p:guide orient="horz" pos="3430"/>
        <p:guide pos="1079"/>
        <p:guide pos="1669"/>
        <p:guide pos="1850"/>
        <p:guide pos="3619"/>
        <p:guide pos="3778"/>
        <p:guide orient="horz" pos="890"/>
        <p:guide orient="horz" pos="1162"/>
        <p:guide orient="horz" pos="14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AA317-D649-4A5F-9D2F-E5B84DA77317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1233488"/>
            <a:ext cx="481330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7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44F66-54D9-4BCF-8DFA-2EE3BF76F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091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9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39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572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71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08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5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04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33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37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02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64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66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34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204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882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0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9577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599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906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841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322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08371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0185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79182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7673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6884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13952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34624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12217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34928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20276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45463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0752" y="1863716"/>
            <a:ext cx="7189342" cy="584775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4442044" y="6660775"/>
            <a:ext cx="10150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  <p:custDataLst>
              <p:tags r:id="rId3"/>
            </p:custDataLst>
          </p:nvPr>
        </p:nvSpPr>
        <p:spPr>
          <a:xfrm>
            <a:off x="1208089" y="2565400"/>
            <a:ext cx="6961187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xfrm>
            <a:off x="1208089" y="5176203"/>
            <a:ext cx="6960333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grpSp>
        <p:nvGrpSpPr>
          <p:cNvPr id="12" name="그룹 11"/>
          <p:cNvGrpSpPr/>
          <p:nvPr userDrawn="1">
            <p:custDataLst>
              <p:tags r:id="rId5"/>
            </p:custDataLst>
          </p:nvPr>
        </p:nvGrpSpPr>
        <p:grpSpPr>
          <a:xfrm>
            <a:off x="200025" y="188914"/>
            <a:ext cx="9505950" cy="6480175"/>
            <a:chOff x="200025" y="188913"/>
            <a:chExt cx="9505950" cy="6480175"/>
          </a:xfrm>
        </p:grpSpPr>
        <p:sp>
          <p:nvSpPr>
            <p:cNvPr id="17" name="직사각형 16"/>
            <p:cNvSpPr/>
            <p:nvPr>
              <p:custDataLst>
                <p:tags r:id="rId7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sz="1800" dirty="0"/>
            </a:p>
          </p:txBody>
        </p:sp>
        <p:pic>
          <p:nvPicPr>
            <p:cNvPr id="18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8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9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 useBgFill="1">
        <p:nvSpPr>
          <p:cNvPr id="3" name="직사각형 2"/>
          <p:cNvSpPr/>
          <p:nvPr userDrawn="1">
            <p:custDataLst>
              <p:tags r:id="rId6"/>
            </p:custDataLst>
          </p:nvPr>
        </p:nvSpPr>
        <p:spPr>
          <a:xfrm>
            <a:off x="9273481" y="6677891"/>
            <a:ext cx="632519" cy="162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82398033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75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F6ED3-60AD-48CD-B581-5C42264DF8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92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  <p:sldLayoutId id="214748371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9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7" r:id="rId3"/>
    <p:sldLayoutId id="2147483678" r:id="rId4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9825" indent="-2254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8613" indent="-22542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542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8558A-1595-413E-AD89-BF302E68AF1D}" type="datetimeFigureOut">
              <a:rPr lang="ko-KR" altLang="en-US" smtClean="0"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A4B7A-B6C7-41E7-96ED-542947DBDB5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0308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307660B-2F8C-3899-C87B-639E0047B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628070"/>
              </p:ext>
            </p:extLst>
          </p:nvPr>
        </p:nvGraphicFramePr>
        <p:xfrm>
          <a:off x="150794" y="620713"/>
          <a:ext cx="9634435" cy="4986823"/>
        </p:xfrm>
        <a:graphic>
          <a:graphicData uri="http://schemas.openxmlformats.org/drawingml/2006/table">
            <a:tbl>
              <a:tblPr/>
              <a:tblGrid>
                <a:gridCol w="509405">
                  <a:extLst>
                    <a:ext uri="{9D8B030D-6E8A-4147-A177-3AD203B41FA5}">
                      <a16:colId xmlns:a16="http://schemas.microsoft.com/office/drawing/2014/main" val="1285339405"/>
                    </a:ext>
                  </a:extLst>
                </a:gridCol>
                <a:gridCol w="796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0950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53007">
                  <a:extLst>
                    <a:ext uri="{9D8B030D-6E8A-4147-A177-3AD203B41FA5}">
                      <a16:colId xmlns:a16="http://schemas.microsoft.com/office/drawing/2014/main" val="3694603259"/>
                    </a:ext>
                  </a:extLst>
                </a:gridCol>
                <a:gridCol w="2545802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4379263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206260"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  <a:endParaRPr 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sz="1000" b="1" i="0" u="none" strike="noStrike" spc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000" b="1" i="0" u="none" strike="noStrike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실행 계획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2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핵심</a:t>
                      </a:r>
                      <a:br>
                        <a:rPr kumimoji="1" lang="en-US" altLang="ko-KR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성과지표</a:t>
                      </a:r>
                      <a:br>
                        <a:rPr kumimoji="1" lang="en-US" altLang="ko-KR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(10%)</a:t>
                      </a: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재무목표 달성</a:t>
                      </a:r>
                      <a:br>
                        <a:rPr kumimoji="1" lang="en-US" altLang="ko-KR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(10%)</a:t>
                      </a: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30.05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8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 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225254"/>
                  </a:ext>
                </a:extLst>
              </a:tr>
              <a:tr h="1342936">
                <a:tc rowSpan="3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전략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(75%)</a:t>
                      </a: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제품 경쟁력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확보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(50%)</a:t>
                      </a: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종합 수율 </a:t>
                      </a:r>
                      <a:b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개선 </a:t>
                      </a: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Daily/Weekly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별 수율 개선 점검 현황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Tracking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별 주요 핵심 불량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결과의 적확도 및 조치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 Tracking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기술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FDC)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반복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재발 불량 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현황 정기 리뷰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주단위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담당급 회의체 운영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8900" indent="-88900">
                        <a:buFont typeface="Arial" panose="020B0604020202020204" pitchFamily="34" charset="0"/>
                        <a:buChar char="•"/>
                        <a:tabLst>
                          <a:tab pos="88900" algn="l"/>
                        </a:tabLst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8900" indent="-88900">
                        <a:buFont typeface="Arial" panose="020B0604020202020204" pitchFamily="34" charset="0"/>
                        <a:buChar char="•"/>
                        <a:tabLst>
                          <a:tab pos="88900" algn="l"/>
                        </a:tabLst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분석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W/F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확대 및 고도화 기반 분석 및 조치의 적확도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확보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개선 목적 고도화 항목 확대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위치 불량 외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88900" indent="-88900">
                        <a:buFont typeface="Arial" panose="020B0604020202020204" pitchFamily="34" charset="0"/>
                        <a:buChar char="•"/>
                        <a:tabLst>
                          <a:tab pos="88900" algn="l"/>
                        </a:tabLst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88900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별 핵심 불량에 대한 수율 분석 솔루션 발굴 및 고도화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(L&amp;S ~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Drilldown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레포트 활용 불량 현상 조기 파악 및 개선 활동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활용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前공정 반제품 품질 상태를 고려한 後공정 선별 투입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자동화 과제 발굴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전공정 연계 분석을 통한 영향 인자 발굴 및 개선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65298"/>
                  </a:ext>
                </a:extLst>
              </a:tr>
              <a:tr h="13429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873863"/>
                  </a:ext>
                </a:extLst>
              </a:tr>
              <a:tr h="16316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ko-KR" sz="1000" b="0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및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연계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아이템 개발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확산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L&amp;S,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공정 대상 불량 분석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 추천 기능 개발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 모니터링 및 조치 시간 단축을 위한 솔루션 개발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Agent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적용을 통한 불량 분석 및 조치 고도화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공정 대상 과제 발굴 및 개발 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(WA)</a:t>
                      </a: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수율 개선 활동과 실행 계획 동일 진행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분석 솔루션 발굴 및 고도화 기반 공정 핵심 불량 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원인에 대해 법인 간 비교를 통한 기술 고도화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Point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발굴 및 개선 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914315"/>
                  </a:ext>
                </a:extLst>
              </a:tr>
            </a:tbl>
          </a:graphicData>
        </a:graphic>
      </p:graphicFrame>
      <p:sp>
        <p:nvSpPr>
          <p:cNvPr id="16" name="Text Box 3">
            <a:extLst>
              <a:ext uri="{FF2B5EF4-FFF2-40B4-BE49-F238E27FC236}">
                <a16:creationId xmlns:a16="http://schemas.microsoft.com/office/drawing/2014/main" id="{C9F1DCF3-3110-CBF4-2D2A-C027B2133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B55152-9B8A-EFF3-5367-9DE788AACE20}"/>
              </a:ext>
            </a:extLst>
          </p:cNvPr>
          <p:cNvSpPr txBox="1"/>
          <p:nvPr/>
        </p:nvSpPr>
        <p:spPr>
          <a:xfrm>
            <a:off x="4700972" y="6586900"/>
            <a:ext cx="504056" cy="27110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0" marR="0" lvl="0" indent="0" algn="ctr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2 - 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2116823-0A76-3023-FB3B-B2A9B5F37498}"/>
              </a:ext>
            </a:extLst>
          </p:cNvPr>
          <p:cNvSpPr/>
          <p:nvPr/>
        </p:nvSpPr>
        <p:spPr>
          <a:xfrm>
            <a:off x="3420257" y="1601836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87CE7B-3F08-122E-311E-5E95CA3BECB7}"/>
              </a:ext>
            </a:extLst>
          </p:cNvPr>
          <p:cNvSpPr/>
          <p:nvPr/>
        </p:nvSpPr>
        <p:spPr>
          <a:xfrm>
            <a:off x="2890935" y="1601836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E7A82E1-F7E2-207C-673A-9A6523E78E15}"/>
              </a:ext>
            </a:extLst>
          </p:cNvPr>
          <p:cNvSpPr/>
          <p:nvPr/>
        </p:nvSpPr>
        <p:spPr>
          <a:xfrm>
            <a:off x="2890935" y="2935393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A744219-074E-6B12-D953-29BF4028F93D}"/>
              </a:ext>
            </a:extLst>
          </p:cNvPr>
          <p:cNvSpPr/>
          <p:nvPr/>
        </p:nvSpPr>
        <p:spPr>
          <a:xfrm>
            <a:off x="2890935" y="4468918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369044-54A0-2EDA-DBAD-5ADFFFAA5A17}"/>
              </a:ext>
            </a:extLst>
          </p:cNvPr>
          <p:cNvSpPr txBox="1"/>
          <p:nvPr/>
        </p:nvSpPr>
        <p:spPr>
          <a:xfrm>
            <a:off x="7224093" y="135047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➊ 목표 합의서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(1/2)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708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307660B-2F8C-3899-C87B-639E0047B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796865"/>
              </p:ext>
            </p:extLst>
          </p:nvPr>
        </p:nvGraphicFramePr>
        <p:xfrm>
          <a:off x="150794" y="620712"/>
          <a:ext cx="9634436" cy="5837237"/>
        </p:xfrm>
        <a:graphic>
          <a:graphicData uri="http://schemas.openxmlformats.org/drawingml/2006/table">
            <a:tbl>
              <a:tblPr/>
              <a:tblGrid>
                <a:gridCol w="512594">
                  <a:extLst>
                    <a:ext uri="{9D8B030D-6E8A-4147-A177-3AD203B41FA5}">
                      <a16:colId xmlns:a16="http://schemas.microsoft.com/office/drawing/2014/main" val="1285339405"/>
                    </a:ext>
                  </a:extLst>
                </a:gridCol>
                <a:gridCol w="797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86871">
                  <a:extLst>
                    <a:ext uri="{9D8B030D-6E8A-4147-A177-3AD203B41FA5}">
                      <a16:colId xmlns:a16="http://schemas.microsoft.com/office/drawing/2014/main" val="3694603259"/>
                    </a:ext>
                  </a:extLst>
                </a:gridCol>
                <a:gridCol w="2545976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4370548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234258"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  <a:endParaRPr 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sz="1000" b="1" i="0" u="none" strike="noStrike" spc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000" b="1" i="0" u="none" strike="noStrike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실행 계획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742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1" kern="1200" spc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구조적 </a:t>
                      </a:r>
                      <a:b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경쟁력 강화</a:t>
                      </a:r>
                      <a:r>
                        <a:rPr lang="en-US" altLang="ko-KR" sz="1000" b="0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(25%)</a:t>
                      </a:r>
                      <a:endParaRPr lang="ko-KR" altLang="en-US" sz="1000" b="0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기술 기반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L&amp;S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개발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L&amp;S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 솔루션 개발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L&amp;S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(NG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 제외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20%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                              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[WA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E77A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                             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98.6% ,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스태킹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98.9%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                               </a:t>
                      </a:r>
                      <a:r>
                        <a:rPr kumimoji="1" lang="en-US" altLang="ko-KR" sz="7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[MI2 JF2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전년실적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                             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96.9% ,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스태킹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97.9%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‘26.12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제어 기술 및 데이터 기반 수율 개선 솔루션 발굴 </a:t>
                      </a: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br>
                        <a:rPr lang="en-US" altLang="ko-KR" sz="1000" b="1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동작 이상 분석을 통한 수율 개선 기술 개발</a:t>
                      </a:r>
                      <a:b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반제품 최적 경로 투입 기술 개발</a:t>
                      </a:r>
                      <a:b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WA 13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(E77A), MI2 4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(JF2) 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스태킹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공통적용 가능 기술 개발</a:t>
                      </a:r>
                      <a:endParaRPr lang="en-US" altLang="ko-KR" sz="1000" b="1" strike="noStrike" kern="1200" spc="-3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681181"/>
                  </a:ext>
                </a:extLst>
              </a:tr>
              <a:tr h="2013895">
                <a:tc vMerge="1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ko-KR" sz="1000" b="0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고질 불량 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고질불량 및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가동률 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고질불량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항목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Loss,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불량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           EOL IR)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20%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~’26.8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SPC/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비전</a:t>
                      </a: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데이터 연계를 통한 </a:t>
                      </a: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Pattern 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기반의 근본 원인 불량 개선</a:t>
                      </a:r>
                      <a:endParaRPr lang="en-US" altLang="ko-KR" sz="1000" b="1" strike="noStrike" kern="1200" spc="-3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 </a:t>
                      </a:r>
                      <a:b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strike="noStrike" kern="1200" spc="-3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: </a:t>
                      </a:r>
                      <a:r>
                        <a:rPr lang="ko-KR" altLang="en-US" sz="1000" b="0" strike="noStrike" kern="1200" spc="-3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자공정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strike="noStrike" kern="1200" spc="-3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전공정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발생 개소 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Detecting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및 개선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용접 비전 불량 유형 세부 분류를 통한 원인 분석 및 개선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EOL IR : Drill down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공정 간 연계 불량 분석 및 개선</a:t>
                      </a:r>
                      <a:b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Loss(WA),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(MI), EOL IR(MI/WA) </a:t>
                      </a:r>
                      <a:endParaRPr lang="en-US" altLang="ko-KR" sz="1000" b="1" strike="noStrike" kern="1200" spc="-3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가동률 개선</a:t>
                      </a:r>
                      <a:b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롤맵 정보 활용 공정 간 검사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분석을 통한 롤프레스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 단선 개선 </a:t>
                      </a:r>
                      <a:b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* </a:t>
                      </a:r>
                      <a:r>
                        <a:rPr lang="ko-KR" altLang="en-US" sz="1000" b="0" strike="noStrike" kern="1200" spc="-3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간 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분석을 통한 </a:t>
                      </a:r>
                      <a:r>
                        <a:rPr lang="ko-KR" altLang="en-US" sz="1000" b="0" strike="noStrike" kern="1200" spc="-3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기인 롤프레스 단선 영향 인자 발굴</a:t>
                      </a:r>
                      <a:b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*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영향 인자 및 수준을 고려한 롤프레스 자동보정 로직 고도화 기여 및 투입 전극 경로 </a:t>
                      </a:r>
                      <a:b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최적화 </a:t>
                      </a:r>
                      <a:b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WA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 양극 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호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MI, MI_LS, OT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대표라인 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현재 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라인 가동 중</a:t>
                      </a:r>
                      <a:endParaRPr lang="en-US" altLang="ko-KR" sz="1000" b="1" strike="noStrike" kern="1200" spc="-3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595501"/>
                  </a:ext>
                </a:extLst>
              </a:tr>
              <a:tr h="114425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구조적</a:t>
                      </a:r>
                      <a:br>
                        <a:rPr lang="en-US" altLang="ko-KR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경쟁력</a:t>
                      </a:r>
                      <a:br>
                        <a:rPr lang="en-US" altLang="ko-KR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강화</a:t>
                      </a:r>
                      <a:br>
                        <a:rPr lang="en-US" altLang="ko-KR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(15%)</a:t>
                      </a:r>
                      <a:endParaRPr lang="ko-KR" altLang="en-US" sz="1000" b="0" spc="-10" dirty="0">
                        <a:solidFill>
                          <a:schemeClr val="tx1"/>
                        </a:solidFill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미래기술 역량강화</a:t>
                      </a:r>
                      <a:r>
                        <a:rPr lang="en-US" altLang="ko-KR" sz="1000" b="0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(15%)</a:t>
                      </a:r>
                      <a:endParaRPr lang="ko-KR" altLang="en-US" sz="1000" b="0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불량 분석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Agent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위치 불량 대상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Agent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’26.11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*분석 정확성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Tool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 정확히 분석하는지 평가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산출식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정확성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= 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정확히 분석된 사례 수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사례 수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XAI (Explainable AI) 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불량 원인 분석 정확도 확보</a:t>
                      </a:r>
                      <a:b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멀티 모달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비정형 데이터 기반의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XAI(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설명 가능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AI)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원인 분석 체계 구축</a:t>
                      </a:r>
                      <a:b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*XAI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AI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 내린 결과에 대해 엔지니어가 이해 할 수 있는 논리적 근거 제시</a:t>
                      </a:r>
                      <a:b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생성형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활용한 수율 자동분석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Agent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</a:t>
                      </a:r>
                      <a:b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ESWA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</a:t>
                      </a:r>
                      <a:endParaRPr lang="en-US" altLang="ko-KR" sz="1000" b="0" strike="sngStrike" kern="1200" spc="-3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700780"/>
                  </a:ext>
                </a:extLst>
              </a:tr>
              <a:tr h="114739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dirty="0">
                        <a:solidFill>
                          <a:srgbClr val="0000FF"/>
                        </a:solidFill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spc="-1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조기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Ramp up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을 위한 진단 솔루션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 불량 항목 원인</a:t>
                      </a: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 추천 솔루션 개발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ESHD (ESS)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위치 불량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‘26.11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현상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조치에 대해 자동으로 확인 가능한 솔루션 구축 및 활용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위치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 Checklist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이상 진단 솔루션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ESHD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(ESS)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적용을 통한 라미 위치 불량 조기 조치 및 대응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’26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위치 불량 대상 원인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적확도 확보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’27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이후 공정 확대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815069"/>
                  </a:ext>
                </a:extLst>
              </a:tr>
            </a:tbl>
          </a:graphicData>
        </a:graphic>
      </p:graphicFrame>
      <p:sp>
        <p:nvSpPr>
          <p:cNvPr id="16" name="Text Box 3">
            <a:extLst>
              <a:ext uri="{FF2B5EF4-FFF2-40B4-BE49-F238E27FC236}">
                <a16:creationId xmlns:a16="http://schemas.microsoft.com/office/drawing/2014/main" id="{C9F1DCF3-3110-CBF4-2D2A-C027B2133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B55152-9B8A-EFF3-5367-9DE788AACE20}"/>
              </a:ext>
            </a:extLst>
          </p:cNvPr>
          <p:cNvSpPr txBox="1"/>
          <p:nvPr/>
        </p:nvSpPr>
        <p:spPr>
          <a:xfrm>
            <a:off x="4700972" y="6586900"/>
            <a:ext cx="504056" cy="27110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0" marR="0" lvl="0" indent="0" algn="ctr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- 2 / 2 - 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8014BAF-1742-6E22-3F5C-026433907B69}"/>
              </a:ext>
            </a:extLst>
          </p:cNvPr>
          <p:cNvSpPr/>
          <p:nvPr/>
        </p:nvSpPr>
        <p:spPr>
          <a:xfrm>
            <a:off x="2890935" y="5504899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41510-44ED-DE3B-B70E-C8509BEACB3D}"/>
              </a:ext>
            </a:extLst>
          </p:cNvPr>
          <p:cNvSpPr txBox="1"/>
          <p:nvPr/>
        </p:nvSpPr>
        <p:spPr>
          <a:xfrm>
            <a:off x="7224093" y="135047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➊ 목표 합의서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(2/2)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51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836310"/>
              </p:ext>
            </p:extLst>
          </p:nvPr>
        </p:nvGraphicFramePr>
        <p:xfrm>
          <a:off x="173693" y="582589"/>
          <a:ext cx="9535408" cy="5683225"/>
        </p:xfrm>
        <a:graphic>
          <a:graphicData uri="http://schemas.openxmlformats.org/drawingml/2006/table">
            <a:tbl>
              <a:tblPr/>
              <a:tblGrid>
                <a:gridCol w="85356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949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209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120935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b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개선</a:t>
                      </a: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ESS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 90.5%, OT 79.9% (’25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누적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MI, MI_L, OT, HD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 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전라인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공급 극대화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MI,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MI_L, OT,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HD ESS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 라인 기준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 기준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평균 기준 목표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93.5%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52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93.7%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93.6%)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52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94.4%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0661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NG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라미위치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미스매치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장변실링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모노세파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모노스택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스택외관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스택치수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용접비전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/IR/EOL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치수 불량 개선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(11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*.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대상 항목은 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셀수율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목적으로 지속 발굴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활동 진행</a:t>
                      </a:r>
                      <a:b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WA </a:t>
                      </a:r>
                      <a:r>
                        <a:rPr lang="ko-KR" altLang="en-US" sz="105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아이템 </a:t>
                      </a: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MI, OT 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보완</a:t>
                      </a:r>
                      <a:b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Drilldown </a:t>
                      </a:r>
                      <a:r>
                        <a:rPr lang="ko-KR" altLang="en-US" sz="10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레포트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활용 불량 현상 조기 파악 및 개선 활동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기술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DX(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FDC)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반복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재발 불량 개선</a:t>
                      </a:r>
                      <a:b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현황 정기 리뷰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주단위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담당급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회의체 운영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지속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MI, OT </a:t>
                      </a:r>
                      <a:r>
                        <a:rPr lang="ko-KR" altLang="en-US" sz="105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아이템 고도화 및 </a:t>
                      </a: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MI_L, HD 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보완</a:t>
                      </a:r>
                      <a:endParaRPr lang="en-US" altLang="ko-KR" sz="9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Drilldown </a:t>
                      </a:r>
                      <a:r>
                        <a:rPr lang="ko-KR" altLang="en-US" sz="10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레포트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항목 확대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(L&amp;S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모노세파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외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L&amp;S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적용</a:t>
                      </a:r>
                      <a:b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lang="ko-KR" altLang="en-US" sz="105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불량 중점 현황 점검 및 집중 개선</a:t>
                      </a:r>
                      <a:br>
                        <a:rPr lang="en-US" altLang="ko-KR" sz="105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Drilldown </a:t>
                      </a:r>
                      <a:r>
                        <a:rPr lang="ko-KR" altLang="en-US" sz="10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레포트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항목 추가 확대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(L&amp;S 7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 외 패키지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전공정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연계 분석을 통한 영향 인자 발굴 및 개선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</a:t>
                      </a:r>
                      <a:r>
                        <a:rPr lang="ko-KR" altLang="en-US" sz="10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타공정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확대 검토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2093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383302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383302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25211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25211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25211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2" name="Text Box 3">
            <a:extLst>
              <a:ext uri="{FF2B5EF4-FFF2-40B4-BE49-F238E27FC236}">
                <a16:creationId xmlns:a16="http://schemas.microsoft.com/office/drawing/2014/main" id="{210F0CF8-57B8-562E-1072-9EECCE922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277625-E9BA-2A44-2CB6-49047091DBCB}"/>
              </a:ext>
            </a:extLst>
          </p:cNvPr>
          <p:cNvSpPr txBox="1"/>
          <p:nvPr/>
        </p:nvSpPr>
        <p:spPr>
          <a:xfrm>
            <a:off x="4695660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(1/7)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58F651-49E9-8B63-281D-F2B309EE7A42}"/>
              </a:ext>
            </a:extLst>
          </p:cNvPr>
          <p:cNvSpPr txBox="1"/>
          <p:nvPr/>
        </p:nvSpPr>
        <p:spPr>
          <a:xfrm>
            <a:off x="4026054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F597E09-8CDC-7721-5870-DDD4589F0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12400"/>
              </p:ext>
            </p:extLst>
          </p:nvPr>
        </p:nvGraphicFramePr>
        <p:xfrm>
          <a:off x="2427677" y="1944469"/>
          <a:ext cx="2611047" cy="1210692"/>
        </p:xfrm>
        <a:graphic>
          <a:graphicData uri="http://schemas.openxmlformats.org/drawingml/2006/table">
            <a:tbl>
              <a:tblPr/>
              <a:tblGrid>
                <a:gridCol w="70895">
                  <a:extLst>
                    <a:ext uri="{9D8B030D-6E8A-4147-A177-3AD203B41FA5}">
                      <a16:colId xmlns:a16="http://schemas.microsoft.com/office/drawing/2014/main" val="434980051"/>
                    </a:ext>
                  </a:extLst>
                </a:gridCol>
                <a:gridCol w="517930">
                  <a:extLst>
                    <a:ext uri="{9D8B030D-6E8A-4147-A177-3AD203B41FA5}">
                      <a16:colId xmlns:a16="http://schemas.microsoft.com/office/drawing/2014/main" val="398871790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04508481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69027881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881494102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186657930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2697388443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3166372132"/>
                    </a:ext>
                  </a:extLst>
                </a:gridCol>
              </a:tblGrid>
              <a:tr h="172956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 분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(%)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25</a:t>
                      </a:r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  <a:endParaRPr lang="en-US" altLang="ko-KR" sz="8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목표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906540"/>
                  </a:ext>
                </a:extLst>
              </a:tr>
              <a:tr h="1729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365867"/>
                  </a:ext>
                </a:extLst>
              </a:tr>
              <a:tr h="172956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북미 </a:t>
                      </a:r>
                      <a:r>
                        <a:rPr lang="en-US" altLang="ko-KR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9967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ESMI_HL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41710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138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ESOT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3655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ESHD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27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51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B21C-100C-6D0F-C903-CCFF93ECC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804568A-5C5C-1AB5-0A9B-780092E44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865036"/>
              </p:ext>
            </p:extLst>
          </p:nvPr>
        </p:nvGraphicFramePr>
        <p:xfrm>
          <a:off x="173693" y="582589"/>
          <a:ext cx="9535408" cy="5617185"/>
        </p:xfrm>
        <a:graphic>
          <a:graphicData uri="http://schemas.openxmlformats.org/drawingml/2006/table">
            <a:tbl>
              <a:tblPr/>
              <a:tblGrid>
                <a:gridCol w="85356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949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209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120935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b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개선</a:t>
                      </a: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WA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ESS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94.5%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92.7%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52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94.1%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93.5%)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52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95.3%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94.2%)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06613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NG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라미위치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미스매치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장변실링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모노세파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모노스택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스택외관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스택치수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용접비전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/IR/EOL 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치수 불량 개선 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(11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*. 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대상 항목은 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셀수율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목적으로 지속 발굴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활동 진행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 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type/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별 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기반 공정 핵심 불량 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ESWA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혼용 생산 물동 비중 높은 모델 집중 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불량 분석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 down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확대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L&amp;S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적용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5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확대 및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활용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type/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관점 분석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지속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불량 분석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 down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확대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타공정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확대 검토</a:t>
                      </a:r>
                      <a:endParaRPr kumimoji="0" lang="en-US" altLang="ko-KR" sz="105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3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kumimoji="0" lang="ko-KR" altLang="en-US" sz="105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불량 중점 현황 점검 및 집중 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간 불량 원인 비교를 통한 기술 고도화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Point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발굴 및 개선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2093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383302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95.6%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383302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95.1%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25211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25211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25211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2" name="Text Box 3">
            <a:extLst>
              <a:ext uri="{FF2B5EF4-FFF2-40B4-BE49-F238E27FC236}">
                <a16:creationId xmlns:a16="http://schemas.microsoft.com/office/drawing/2014/main" id="{A66B7CD0-6676-7899-991B-F9A098991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573FD3-880A-B9AC-CE2C-2B083D093555}"/>
              </a:ext>
            </a:extLst>
          </p:cNvPr>
          <p:cNvSpPr txBox="1"/>
          <p:nvPr/>
        </p:nvSpPr>
        <p:spPr>
          <a:xfrm>
            <a:off x="4695660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(2/7)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FD7688-6C0E-1C1A-6FA6-D80964E0643F}"/>
              </a:ext>
            </a:extLst>
          </p:cNvPr>
          <p:cNvSpPr txBox="1"/>
          <p:nvPr/>
        </p:nvSpPr>
        <p:spPr>
          <a:xfrm>
            <a:off x="4026054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AE2E4C-576F-CE70-003D-6ECFF3FBA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142966"/>
              </p:ext>
            </p:extLst>
          </p:nvPr>
        </p:nvGraphicFramePr>
        <p:xfrm>
          <a:off x="2475516" y="1375502"/>
          <a:ext cx="2648746" cy="652595"/>
        </p:xfrm>
        <a:graphic>
          <a:graphicData uri="http://schemas.openxmlformats.org/drawingml/2006/table">
            <a:tbl>
              <a:tblPr/>
              <a:tblGrid>
                <a:gridCol w="382704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35890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423592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03078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03078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34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342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ESWA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종합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72.5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74.8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6.2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483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417048"/>
              </p:ext>
            </p:extLst>
          </p:nvPr>
        </p:nvGraphicFramePr>
        <p:xfrm>
          <a:off x="173693" y="620689"/>
          <a:ext cx="9535408" cy="6070583"/>
        </p:xfrm>
        <a:graphic>
          <a:graphicData uri="http://schemas.openxmlformats.org/drawingml/2006/table">
            <a:tbl>
              <a:tblPr/>
              <a:tblGrid>
                <a:gridCol w="794495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028563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732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173250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lang="ko-KR" altLang="en-US" sz="1000" b="1" kern="1200" spc="-1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1755" marR="0" lvl="0" indent="-717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WA, NA,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NB,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HM,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MI,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HG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1732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97.7%)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1732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97.9%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96383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NG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라미위치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미스매치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장변실링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모노세파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모노스택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스택외관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스택치수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용접비전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/IR/EOL 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치수 불량 개선 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(11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*. 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대상 항목은 </a:t>
                      </a:r>
                      <a:r>
                        <a:rPr kumimoji="0" lang="ko-KR" altLang="en-US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셀수율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목적으로 지속 발굴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활동 진행</a:t>
                      </a: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 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type/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별 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기반 공정 핵심 불량 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ESWA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혼용 생산 물동 비중 높은 모델 집중 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불량 분석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 down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확대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L&amp;S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적용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5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확대 및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활용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type/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관점 분석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지속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불량 분석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 down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확대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타공정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확대 검토</a:t>
                      </a:r>
                      <a:endParaRPr kumimoji="0" lang="en-US" altLang="ko-KR" sz="105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3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5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kumimoji="0" lang="ko-KR" altLang="en-US" sz="105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불량 중점 현황 점검 및 집중 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간 불량 원인 비교를 통한 기술 고도화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Point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발굴 및 개선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7325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39426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98.3%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39426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98.1%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39426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39426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66343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A2C45533-51ED-3D3E-1B49-348E1B712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403AEC-AC6B-5F78-FF0E-30E8832F8EED}"/>
              </a:ext>
            </a:extLst>
          </p:cNvPr>
          <p:cNvSpPr txBox="1"/>
          <p:nvPr/>
        </p:nvSpPr>
        <p:spPr>
          <a:xfrm>
            <a:off x="4695660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(3/7)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25BC5-8DE3-3AA4-94D4-6B1A6AD5363D}"/>
              </a:ext>
            </a:extLst>
          </p:cNvPr>
          <p:cNvSpPr txBox="1"/>
          <p:nvPr/>
        </p:nvSpPr>
        <p:spPr>
          <a:xfrm>
            <a:off x="4026054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DEFF015-5339-E49A-D9AC-A6CDA4371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961987"/>
              </p:ext>
            </p:extLst>
          </p:nvPr>
        </p:nvGraphicFramePr>
        <p:xfrm>
          <a:off x="2492884" y="1387629"/>
          <a:ext cx="2779757" cy="2727617"/>
        </p:xfrm>
        <a:graphic>
          <a:graphicData uri="http://schemas.openxmlformats.org/drawingml/2006/table">
            <a:tbl>
              <a:tblPr/>
              <a:tblGrid>
                <a:gridCol w="401633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42611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397511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65101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88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 목표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882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97.6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98.4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  <a:tr h="8292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96.0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97865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64898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301224"/>
                  </a:ext>
                </a:extLst>
              </a:tr>
              <a:tr h="8292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40837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99.1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06238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22582"/>
                  </a:ext>
                </a:extLst>
              </a:tr>
              <a:tr h="8292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019001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5326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304851"/>
                  </a:ext>
                </a:extLst>
              </a:tr>
              <a:tr h="8292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HM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2683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76053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99.4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117535"/>
                  </a:ext>
                </a:extLst>
              </a:tr>
              <a:tr h="8292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91.0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12738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6371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613245"/>
                  </a:ext>
                </a:extLst>
              </a:tr>
              <a:tr h="8292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HG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0693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95342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32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F29A9FB-65E6-95D9-A50C-83C24D5BBC73}"/>
              </a:ext>
            </a:extLst>
          </p:cNvPr>
          <p:cNvSpPr txBox="1"/>
          <p:nvPr/>
        </p:nvSpPr>
        <p:spPr>
          <a:xfrm>
            <a:off x="3643957" y="1187574"/>
            <a:ext cx="17194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*Total 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산출 로직 </a:t>
            </a:r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7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법인별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물동 가중 평균</a:t>
            </a:r>
          </a:p>
        </p:txBody>
      </p:sp>
    </p:spTree>
    <p:extLst>
      <p:ext uri="{BB962C8B-B14F-4D97-AF65-F5344CB8AC3E}">
        <p14:creationId xmlns:p14="http://schemas.microsoft.com/office/powerpoint/2010/main" val="224781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35408" cy="6027149"/>
        </p:xfrm>
        <a:graphic>
          <a:graphicData uri="http://schemas.openxmlformats.org/drawingml/2006/table">
            <a:tbl>
              <a:tblPr/>
              <a:tblGrid>
                <a:gridCol w="85356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949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7965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72525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기술 기반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L&amp;S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개발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L&amp;S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개발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L&amp;S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솔루션 개발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동작 이상 분석을 통한 수율 개선 기술 개발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반제품 최적 경로 투입 기술 개발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L&amp;S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(NG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 제외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20%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(’26.12)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WA 13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(E77A), MI2 4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(JF2) 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스태킹 공통 적용 가능 기술 개발 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 기준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’26.12,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L&amp;S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(NG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 제외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20%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Item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도출 및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컨셉 수립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(’26.03)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38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솔루션 대표호기 검증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(’26.06)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18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솔루션 수평전개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(’26.09) 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9487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Item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도출 및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컨셉 수립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(’26.03)</a:t>
                      </a:r>
                      <a:b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설비 주요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Unit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신호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동작 데이터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ID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매칭 및 수집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분석 및 근본 개선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Item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도출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수집 데이터 활용 개발 솔루션 컨셉 확정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솔루션 대표호기 검증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솔루션 대표호기 적용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 결과 분석 및 솔루션 보완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솔루션 수평전개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(’26.09) </a:t>
                      </a:r>
                      <a:b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솔루션 수평전개 후 수율 개선 결과 확인 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Global Site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수평전개 추진 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7965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WA 13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(E77A), MI2 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(JF2) L&amp;S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(NG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 제외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25.0%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(’26.12)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22.5%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(’26.12)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20.0%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(’26.12)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17.5%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(’26.12)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이하 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(’26.12)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WA 13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(E77A), MI2 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(JF2) L&amp;S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WA 13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(E77A), MI2 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(JF2) L&amp;S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22.5%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WA 13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(E77A), MI2 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(JF2) L&amp;S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20.0%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WA 13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(E77A), MI2 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(JF2) L&amp;S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17.5%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WA 13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(E77A), MI2 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(JF2) L&amp;S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이하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2" name="Text Box 3">
            <a:extLst>
              <a:ext uri="{FF2B5EF4-FFF2-40B4-BE49-F238E27FC236}">
                <a16:creationId xmlns:a16="http://schemas.microsoft.com/office/drawing/2014/main" id="{57D20DF1-3477-E98D-0427-F5DDA0FEE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42C5E-E1C8-2167-434C-59D974832D5D}"/>
              </a:ext>
            </a:extLst>
          </p:cNvPr>
          <p:cNvSpPr txBox="1"/>
          <p:nvPr/>
        </p:nvSpPr>
        <p:spPr>
          <a:xfrm>
            <a:off x="4695660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(4/7)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6EA543-9FFD-57F3-D838-8ABBCE47D7D3}"/>
              </a:ext>
            </a:extLst>
          </p:cNvPr>
          <p:cNvSpPr txBox="1"/>
          <p:nvPr/>
        </p:nvSpPr>
        <p:spPr>
          <a:xfrm>
            <a:off x="4026054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A3F13-56D6-B69F-93DE-CC5D377B1724}"/>
              </a:ext>
            </a:extLst>
          </p:cNvPr>
          <p:cNvSpPr txBox="1"/>
          <p:nvPr/>
        </p:nvSpPr>
        <p:spPr>
          <a:xfrm>
            <a:off x="2277037" y="880373"/>
            <a:ext cx="27790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[WA</a:t>
            </a:r>
            <a:r>
              <a:rPr kumimoji="1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E77A </a:t>
            </a:r>
            <a:r>
              <a:rPr kumimoji="1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전년실적</a:t>
            </a:r>
            <a: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b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라미 </a:t>
            </a:r>
            <a: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98.6% , </a:t>
            </a:r>
            <a:r>
              <a:rPr kumimoji="1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스태킹 </a:t>
            </a:r>
            <a: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98.9%</a:t>
            </a:r>
            <a:b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[MI2 JF2</a:t>
            </a:r>
            <a:r>
              <a:rPr kumimoji="1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전년실적</a:t>
            </a:r>
            <a: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b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라미 </a:t>
            </a:r>
            <a: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96.9% , </a:t>
            </a:r>
            <a:r>
              <a:rPr kumimoji="1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스태킹 </a:t>
            </a:r>
            <a:r>
              <a:rPr kumimoji="1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97.9%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1084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2" y="620688"/>
          <a:ext cx="9446557" cy="6157662"/>
        </p:xfrm>
        <a:graphic>
          <a:graphicData uri="http://schemas.openxmlformats.org/drawingml/2006/table">
            <a:tbl>
              <a:tblPr/>
              <a:tblGrid>
                <a:gridCol w="78709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018979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3588">
                  <a:extLst>
                    <a:ext uri="{9D8B030D-6E8A-4147-A177-3AD203B41FA5}">
                      <a16:colId xmlns:a16="http://schemas.microsoft.com/office/drawing/2014/main" val="929406752"/>
                    </a:ext>
                  </a:extLst>
                </a:gridCol>
                <a:gridCol w="367344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5316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388133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338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79114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고질 불량 개선</a:t>
                      </a:r>
                      <a:endParaRPr lang="en-US" altLang="ko-KR" sz="1000" b="1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조립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활성화 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고질불량 및 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롤프레스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노칭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가동률 개선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Q :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조립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활성화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고질불량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불량 항목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공정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Loss,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패키지 용접 비전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불량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EOL IR)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롤프레스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노칭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PD Loss 20%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~’26.8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조립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활성화 고질불량 및 롤프레스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노칭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가동률 개선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Q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조립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활성화 고질불량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(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불량 항목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공정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Loss /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패키지 용접 비전 불량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EOL IR)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대상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공정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Loss(WA),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패키지 용접 비전 불량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(MI), EOL IR (MI/WA)  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롤프레스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노칭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PD Loss 20%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대상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WA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롤프레스 양극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7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호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MI, MI_LS, ST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대표 라인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* ST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현재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라인 가동 중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~’26.8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     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L&amp;S Drill Down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분석체계 활용을 통한 개선</a:t>
                      </a:r>
                      <a:endParaRPr lang="en-US" altLang="ko-KR" sz="900" b="1" kern="12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900" b="1" kern="1200" spc="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 공정 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수집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요건 수립</a:t>
                      </a:r>
                      <a:endParaRPr lang="en-US" altLang="ko-KR" sz="900" b="1" kern="12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791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고도화 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Point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발굴 및 개선점 적용</a:t>
                      </a:r>
                      <a:endParaRPr lang="en-US" altLang="ko-KR" sz="900" b="1" kern="12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1" kern="1200" spc="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 spc="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로딩량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공정간 연계 및 투입 경로 최적화 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Logic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endParaRPr lang="en-US" altLang="ko-KR" sz="900" b="1" kern="12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791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기반 관리 및 모니터링 강화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지속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1" kern="1200" spc="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 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및 경로 최적화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대표호기 적용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검증</a:t>
                      </a:r>
                      <a:endParaRPr lang="en-US" altLang="ko-KR" sz="900" b="1" kern="12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54972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L&amp;S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고질 불량 항목 대상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 down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분석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b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기인 롤프레스 단선 영향 인자 발굴 및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수집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요건 수립</a:t>
                      </a:r>
                      <a:b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: 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자공정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전공정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발생 개소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Detecting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및 개선 </a:t>
                      </a:r>
                      <a:b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유형 세부 분류를 통한 원인 분석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개선</a:t>
                      </a:r>
                      <a:b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9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DX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체계 개선점 적용 및 관리</a:t>
                      </a:r>
                      <a:b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9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영향 인자를 고려한 롤프레스 자동보정 로직 고도화 기여 및 </a:t>
                      </a:r>
                      <a:b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투입 경로 최적화 로직 개발 </a:t>
                      </a:r>
                      <a:b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사항 발굴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수율 개선을 위한 개선점 적용 및 관리</a:t>
                      </a:r>
                      <a:endParaRPr lang="en-US" altLang="ko-KR" sz="9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9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DX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체계 활용을 통한 목표 달성</a:t>
                      </a:r>
                      <a:b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lang="ko-KR" altLang="en-US" sz="900" b="1" kern="1200" spc="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 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및 경로 최적화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대표호기 적용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검증</a:t>
                      </a:r>
                      <a:b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현상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 </a:t>
                      </a: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Point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데이터 기반으로 활용하여 </a:t>
                      </a:r>
                      <a:b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lang="ko-KR" altLang="en-US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 및 관리</a:t>
                      </a:r>
                      <a:endParaRPr lang="en-US" altLang="ko-KR" sz="9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3388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6872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EOL IR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(~’26.8)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EOL IR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(~’26.8)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EOL IR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(~’26.8)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EOL IR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(~’26.8)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EOL IR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(~’26.8)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EOL IR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’26.8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6872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EOL IR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’26.8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6872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EOL IR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’26.8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6872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EOL IR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’26.8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6872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EOL IR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’26.8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2" name="Text Box 3">
            <a:extLst>
              <a:ext uri="{FF2B5EF4-FFF2-40B4-BE49-F238E27FC236}">
                <a16:creationId xmlns:a16="http://schemas.microsoft.com/office/drawing/2014/main" id="{F7E52BFB-A85C-99F4-D4C4-61D557E59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8D05C-61C5-0781-A062-1E05D6568D6D}"/>
              </a:ext>
            </a:extLst>
          </p:cNvPr>
          <p:cNvSpPr txBox="1"/>
          <p:nvPr/>
        </p:nvSpPr>
        <p:spPr>
          <a:xfrm>
            <a:off x="4695660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(5/7)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0FBAC-7CE9-56AE-6B74-F531D9960503}"/>
              </a:ext>
            </a:extLst>
          </p:cNvPr>
          <p:cNvSpPr txBox="1"/>
          <p:nvPr/>
        </p:nvSpPr>
        <p:spPr>
          <a:xfrm>
            <a:off x="4026054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7935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9"/>
          <a:ext cx="9574626" cy="6070586"/>
        </p:xfrm>
        <a:graphic>
          <a:graphicData uri="http://schemas.openxmlformats.org/drawingml/2006/table">
            <a:tbl>
              <a:tblPr/>
              <a:tblGrid>
                <a:gridCol w="755138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115280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698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55864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불량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Agent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위치 불량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Agent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3600" marR="0" lvl="0" indent="-93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Agent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br>
                        <a:rPr kumimoji="0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spc="-3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Process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에서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Eng’r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 현상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원인을 분석하고 판단하는 부분을 </a:t>
                      </a:r>
                      <a:b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AI Agent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기반으로 전환하여 ‘지능화 분석 체계’ 구현</a:t>
                      </a:r>
                      <a:b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생성형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활용한 </a:t>
                      </a:r>
                      <a:r>
                        <a:rPr lang="ko-KR" altLang="en-US" sz="1000" b="0" kern="1200" spc="-3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자동분석 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Tool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정확성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90%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(’26.11)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ESWA </a:t>
                      </a:r>
                      <a:r>
                        <a:rPr lang="ko-KR" altLang="en-US" sz="1000" b="0" kern="1200" spc="-3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en-US" altLang="ko-KR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 기준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’26.11,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90%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AI Tool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분석을 정확히 분석하는지 평가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산출식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정확성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= 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정확히 분석된 사례 수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사례 수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모듈 환경 세팅 및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Core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초도 개발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(’26.03)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558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수율 자동분석 알고리즘 개발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검증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(’26.07)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558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 기능 최적화 및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서비스 화면 개발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(’26.10)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02613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모듈 환경 세팅 및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Core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초도 개발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(’26.03)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환경 구축 및 데이터 파이프 라인 설계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초기 학습 및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Core AI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모듈 초도 개발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이미지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문서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확인 검증된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멀티모달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B-lex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내 비정형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학습 및 활용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수율 자동분석 알고리즘 개발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검증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(’26.07)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AI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알고리즘 개발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학습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검증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AI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성능 정확도 향상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XAI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수율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Report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r>
                        <a:rPr lang="ko-KR" altLang="en-US" sz="10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챗봇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형태의 설명형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LLM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제공 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 기능 최적화 및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서비스 화면 개발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(’26.10)</a:t>
                      </a:r>
                      <a:b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항목 반영 및 주요 기능 고도화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최적화</a:t>
                      </a: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980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2744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(’26.9)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(’26.10)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(’26.11)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(’26.12)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(’26.12)</a:t>
                      </a: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정확성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’26.9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2744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정확성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’26.10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2744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정확성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2744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정확성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80%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2744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정확성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80%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2" name="Text Box 3">
            <a:extLst>
              <a:ext uri="{FF2B5EF4-FFF2-40B4-BE49-F238E27FC236}">
                <a16:creationId xmlns:a16="http://schemas.microsoft.com/office/drawing/2014/main" id="{ED325499-23FF-7EE2-0F0F-AE52EF136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ADCD2F-B31A-AB91-3FE7-01EEA72F6787}"/>
              </a:ext>
            </a:extLst>
          </p:cNvPr>
          <p:cNvSpPr txBox="1"/>
          <p:nvPr/>
        </p:nvSpPr>
        <p:spPr>
          <a:xfrm>
            <a:off x="4695660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(6/7)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27704-93E0-D9CF-4A01-312AA6769B0A}"/>
              </a:ext>
            </a:extLst>
          </p:cNvPr>
          <p:cNvSpPr txBox="1"/>
          <p:nvPr/>
        </p:nvSpPr>
        <p:spPr>
          <a:xfrm>
            <a:off x="4026054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1691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35408" cy="6179549"/>
        </p:xfrm>
        <a:graphic>
          <a:graphicData uri="http://schemas.openxmlformats.org/drawingml/2006/table">
            <a:tbl>
              <a:tblPr/>
              <a:tblGrid>
                <a:gridCol w="85356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949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7965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72525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조기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Ramp up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을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위한 진단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항목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 추천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개발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ESHD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(ESS)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위치 불량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30%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‘26.11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SOP ‘26.5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경쟁지표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ESMI2 SOP ‘25.5 0.41%, ‘25.8 0.44% (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출처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SRPT_M293)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ESMI2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협업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‘25.8 0.44%, ‘25.11 0.34% (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출처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SRPT_M293)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SOP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당월 대비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M+3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동안 물량 증가로 인한 가동 라인 추가로 </a:t>
                      </a:r>
                      <a:b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안정화에 어려움이 있음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ESMI2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협업을 시작한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’25.8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월과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(M+3) ’25.11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월의 위치불량률 비교시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23%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개선됨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(‘25.8 0.44%, 25.11 0.34%)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’25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실적 기준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23%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수준이나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년에는 수율 개선 활동을 </a:t>
                      </a:r>
                      <a:b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보완하여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달성하겠음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불량 항목 원인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조치 추천 솔루션 개발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ESHD (ESS)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위치 불량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11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현상 및 연관 인자 자동 확인 가능 로직 개발 및 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(’26.03)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38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연관 인자간 유의차 자동 선별 가능 로직 개발 및 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(’26.06)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18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유의 인자별 조치 필요 사항 자동 확인 가능 로직 개발 및 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(’26.09) 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9487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현상 및 연관 인자 자동 확인 로직 개발 및 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(’26.03)</a:t>
                      </a:r>
                      <a:b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불량 현상에 따른 발생 유닛 자동 확인 가능 로직 개발</a:t>
                      </a: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발생 유닛별 연관 인자 자동 확인 가능 로직 개발</a:t>
                      </a: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ESWA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(~‘26.3)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유의 인자 자동 선별 가능 로직 개발 및 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(’26.06)</a:t>
                      </a:r>
                      <a:b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ESWA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고도화를 통한 적확도 확보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(~’26.4)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b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조치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Delay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활용</a:t>
                      </a:r>
                      <a:b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ESMI2, ESST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검증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(~’26.4)</a:t>
                      </a:r>
                      <a:endParaRPr lang="en-US" altLang="ko-KR" sz="1000" b="1" kern="12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ESHD (ESS)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SOP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 활용 및 기능 보완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유의 인자별 조치 필요 사항 자동 확인 가능 로직 개발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(’26.09) </a:t>
                      </a:r>
                      <a:b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유의 인자에 따른 조치 방안 맵핑</a:t>
                      </a: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ESHD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외 타 법인 수평전개</a:t>
                      </a: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7965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33%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27%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3600" marR="0" lvl="0" indent="-93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(30%) 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= { (SOP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당월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‘26.11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위치불량률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/ SOP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당월 위치불량률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} *100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위치불량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36%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위치불량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33%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위치불량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위치불량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27%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위치불량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24%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2" name="Text Box 3">
            <a:extLst>
              <a:ext uri="{FF2B5EF4-FFF2-40B4-BE49-F238E27FC236}">
                <a16:creationId xmlns:a16="http://schemas.microsoft.com/office/drawing/2014/main" id="{CCBAF151-5CA1-C7EB-44BD-E3DDE021A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177F7-5006-EA97-F539-762051D455D5}"/>
              </a:ext>
            </a:extLst>
          </p:cNvPr>
          <p:cNvSpPr txBox="1"/>
          <p:nvPr/>
        </p:nvSpPr>
        <p:spPr>
          <a:xfrm>
            <a:off x="4695660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(7/7)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9D431-33BD-94A1-53F2-D118B5696DAF}"/>
              </a:ext>
            </a:extLst>
          </p:cNvPr>
          <p:cNvSpPr txBox="1"/>
          <p:nvPr/>
        </p:nvSpPr>
        <p:spPr>
          <a:xfrm>
            <a:off x="4026054" y="106918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805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501462"/>
              </p:ext>
            </p:extLst>
          </p:nvPr>
        </p:nvGraphicFramePr>
        <p:xfrm>
          <a:off x="200025" y="701079"/>
          <a:ext cx="9643221" cy="5979707"/>
        </p:xfrm>
        <a:graphic>
          <a:graphicData uri="http://schemas.openxmlformats.org/drawingml/2006/table">
            <a:tbl>
              <a:tblPr/>
              <a:tblGrid>
                <a:gridCol w="1029405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536598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280313">
                  <a:extLst>
                    <a:ext uri="{9D8B030D-6E8A-4147-A177-3AD203B41FA5}">
                      <a16:colId xmlns:a16="http://schemas.microsoft.com/office/drawing/2014/main" val="185255041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1923265575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905851894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3300058648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3159466843"/>
                    </a:ext>
                  </a:extLst>
                </a:gridCol>
                <a:gridCol w="1225466">
                  <a:extLst>
                    <a:ext uri="{9D8B030D-6E8A-4147-A177-3AD203B41FA5}">
                      <a16:colId xmlns:a16="http://schemas.microsoft.com/office/drawing/2014/main" val="819276790"/>
                    </a:ext>
                  </a:extLst>
                </a:gridCol>
                <a:gridCol w="289683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1847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1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1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100" b="1" i="0" u="none" strike="noStrike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r>
                        <a:rPr lang="ko-KR" altLang="en-US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" marR="3600" marT="10800" marB="108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</a:t>
                      </a:r>
                      <a:b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지표</a:t>
                      </a:r>
                      <a:endParaRPr lang="en-US" sz="1100" b="1" i="0" u="none" strike="noStrike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9136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2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11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11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1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1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endParaRPr lang="en-US" sz="1100" b="1" i="0" u="none" strike="noStrike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686049"/>
                  </a:ext>
                </a:extLst>
              </a:tr>
              <a:tr h="198818"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30.05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36.06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 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33.055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30.05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24.04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24.04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818">
                <a:tc vMerge="1">
                  <a:txBody>
                    <a:bodyPr/>
                    <a:lstStyle/>
                    <a:p>
                      <a:pPr marL="108000" marR="0" lvl="0" indent="-108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 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4,800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4,400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3,200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3,200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379521"/>
                  </a:ext>
                </a:extLst>
              </a:tr>
              <a:tr h="77281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1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b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개선 </a:t>
                      </a: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65298"/>
                  </a:ext>
                </a:extLst>
              </a:tr>
              <a:tr h="772810">
                <a:tc vMerge="1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95.6%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95.1%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186567"/>
                  </a:ext>
                </a:extLst>
              </a:tr>
              <a:tr h="654683">
                <a:tc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lang="ko-KR" altLang="en-US" sz="1000" b="1" kern="1200" spc="-1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목표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98.3%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98.1%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002411"/>
                  </a:ext>
                </a:extLst>
              </a:tr>
              <a:tr h="59516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기술 기반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L&amp;S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개발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L&amp;S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수율 개선 솔루션 개발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L&amp;S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(NG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 제외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20%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WA 13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(E77A), MI2 4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(JF2)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’26.12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22.5%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’26.12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’26.12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17.5%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’26.12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불량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이하개선 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’26.12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214913"/>
                  </a:ext>
                </a:extLst>
              </a:tr>
              <a:tr h="1066340"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고질 불량 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고질불량 및 롤프레스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가동률 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고질불량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항목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Loss(WA),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(MI), EOL IR(MI,WA))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20%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(WA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양극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MI, MI_LS, ST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대표라인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D : ~’26.8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EOL IR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’26.8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EOL IR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’26.8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EOL IR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’26.8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EOL IR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’26.8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/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패키지 용접 비전 불량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EOL IR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롤프레스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노칭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 Loss 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’26.8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16744"/>
                  </a:ext>
                </a:extLst>
              </a:tr>
              <a:tr h="7687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불량 분석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Agent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위치 불량 대상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Agent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/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’26.11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*분석 정확성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AI Tool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 정확히 분석하는지 평가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산출식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정확성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= 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정확히 분석된 사례 수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사례 수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90%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’26.9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90%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90%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80%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’26.12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정확성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80%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’26.12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422409"/>
                  </a:ext>
                </a:extLst>
              </a:tr>
              <a:tr h="4910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조기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Ramp up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을 위한 진단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 불량 원인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 추천 솔루션 개발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ESHD (ESS)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위치 불량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‘26.11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불량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불량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33%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불량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불량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27%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불량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98642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16FC5BA-7E40-4398-94C6-553D4E6FC6CA}"/>
              </a:ext>
            </a:extLst>
          </p:cNvPr>
          <p:cNvSpPr txBox="1"/>
          <p:nvPr/>
        </p:nvSpPr>
        <p:spPr>
          <a:xfrm>
            <a:off x="6937222" y="119658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➌ 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592498-96D3-4FF8-B548-D49CEB0FE505}"/>
              </a:ext>
            </a:extLst>
          </p:cNvPr>
          <p:cNvSpPr txBox="1"/>
          <p:nvPr/>
        </p:nvSpPr>
        <p:spPr>
          <a:xfrm>
            <a:off x="7181505" y="88880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83167BA7-A8F2-C54B-B677-F6C4FDC29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129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FA3ADA6-01DE-4292-8CB6-A80B3EA94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004011"/>
              </p:ext>
            </p:extLst>
          </p:nvPr>
        </p:nvGraphicFramePr>
        <p:xfrm>
          <a:off x="112932" y="625053"/>
          <a:ext cx="9680135" cy="3526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34">
                  <a:extLst>
                    <a:ext uri="{9D8B030D-6E8A-4147-A177-3AD203B41FA5}">
                      <a16:colId xmlns:a16="http://schemas.microsoft.com/office/drawing/2014/main" val="2812083310"/>
                    </a:ext>
                  </a:extLst>
                </a:gridCol>
                <a:gridCol w="1516625">
                  <a:extLst>
                    <a:ext uri="{9D8B030D-6E8A-4147-A177-3AD203B41FA5}">
                      <a16:colId xmlns:a16="http://schemas.microsoft.com/office/drawing/2014/main" val="3081028036"/>
                    </a:ext>
                  </a:extLst>
                </a:gridCol>
                <a:gridCol w="1965888">
                  <a:extLst>
                    <a:ext uri="{9D8B030D-6E8A-4147-A177-3AD203B41FA5}">
                      <a16:colId xmlns:a16="http://schemas.microsoft.com/office/drawing/2014/main" val="286802300"/>
                    </a:ext>
                  </a:extLst>
                </a:gridCol>
                <a:gridCol w="2029388">
                  <a:extLst>
                    <a:ext uri="{9D8B030D-6E8A-4147-A177-3AD203B41FA5}">
                      <a16:colId xmlns:a16="http://schemas.microsoft.com/office/drawing/2014/main" val="1983613499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421180291"/>
                    </a:ext>
                  </a:extLst>
                </a:gridCol>
              </a:tblGrid>
              <a:tr h="181311"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대상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사유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 </a:t>
                      </a: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사유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577804"/>
                  </a:ext>
                </a:extLst>
              </a:tr>
              <a:tr h="181311"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후 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382961"/>
                  </a:ext>
                </a:extLst>
              </a:tr>
              <a:tr h="1412881">
                <a:tc rowSpan="3">
                  <a:txBody>
                    <a:bodyPr/>
                    <a:lstStyle/>
                    <a:p>
                      <a:pPr marL="34925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목표 범위</a:t>
                      </a:r>
                      <a:endParaRPr kumimoji="1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목표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 Scale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변경</a:t>
                      </a:r>
                      <a:endParaRPr kumimoji="1" lang="en-US" altLang="ko-KR" sz="9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AX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 개선</a:t>
                      </a:r>
                      <a:b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ESS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全 라인 셀 수율 달성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(MI 96.4%, MI_L 95.3%, OT 96.0%, 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HD 95.0%)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수율 개선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ESS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全 라인 종합 수율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indent="-55563" algn="l" defTabSz="914400" rtl="0" eaLnBrk="1" latinLnBrk="1" hangingPunct="1"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CDO KPI Align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394214"/>
                  </a:ext>
                </a:extLst>
              </a:tr>
              <a:tr h="87529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연간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목표 및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 Scale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법인 확대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WA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WA, NA, NB,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HM, MI, HG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site)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9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목표 달성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비중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97.2%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ESWA ESS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셀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96.2%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자동차 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9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비중 </a:t>
                      </a:r>
                      <a: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10%)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NA,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NB,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HM,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MI,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</a:t>
                      </a:r>
                      <a:r>
                        <a:rPr kumimoji="1" lang="pl-PL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HG 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9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수행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w.CPO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ESWA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중심의 셀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활동을 근거로 글로벌 생산 법인으로 평가 확장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개선 활동의 확산 성과를 반영하고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특정 법인이 아닌 자동차 생산 운영 전반의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성과를 포함하여 평가 확장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125485"/>
                  </a:ext>
                </a:extLst>
              </a:tr>
              <a:tr h="8752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연간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 목표 및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 Scale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공정 확대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ESWA ESS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ESWA ESS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종합 </a:t>
                      </a:r>
                      <a:r>
                        <a:rPr kumimoji="1" lang="ko-KR" altLang="en-US" sz="9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5%)</a:t>
                      </a:r>
                      <a:br>
                        <a:rPr kumimoji="1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CPO 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부문과 지표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Align (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→ 종합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을 통해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WA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생산성 상향 평준화 진행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수행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w.CPO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 전극 자동보정 및 전극 </a:t>
                      </a:r>
                      <a:r>
                        <a:rPr lang="en-US" altLang="ko-KR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를 통해 전극 </a:t>
                      </a:r>
                      <a:r>
                        <a:rPr lang="ko-KR" altLang="en-US" sz="11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1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개선활동 포함 평가 확장</a:t>
                      </a: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334748"/>
                  </a:ext>
                </a:extLst>
              </a:tr>
            </a:tbl>
          </a:graphicData>
        </a:graphic>
      </p:graphicFrame>
      <p:sp>
        <p:nvSpPr>
          <p:cNvPr id="12" name="Text Box 3">
            <a:extLst>
              <a:ext uri="{FF2B5EF4-FFF2-40B4-BE49-F238E27FC236}">
                <a16:creationId xmlns:a16="http://schemas.microsoft.com/office/drawing/2014/main" id="{FEFC288F-77CA-406B-9803-9093227EC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6699" y="115888"/>
            <a:ext cx="938325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algn="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KPI </a:t>
            </a:r>
            <a:r>
              <a:rPr kumimoji="1"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수정안</a:t>
            </a:r>
            <a:endParaRPr kumimoji="1" lang="ko-KR" altLang="en-US" sz="1600" dirty="0">
              <a:solidFill>
                <a:prstClr val="black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4" name="실행 단추: 앞으로 또는 다음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CAFE8EE-AE13-6A6E-0FAA-DB57EE236E13}"/>
              </a:ext>
            </a:extLst>
          </p:cNvPr>
          <p:cNvSpPr/>
          <p:nvPr/>
        </p:nvSpPr>
        <p:spPr>
          <a:xfrm>
            <a:off x="6140844" y="3297685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8" name="실행 단추: 앞으로 또는 다음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D07F15F-4ACB-3051-0C2C-5F5E6859B31D}"/>
              </a:ext>
            </a:extLst>
          </p:cNvPr>
          <p:cNvSpPr/>
          <p:nvPr/>
        </p:nvSpPr>
        <p:spPr>
          <a:xfrm>
            <a:off x="6140844" y="2420207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E86E6-57D7-4FCA-8318-6CA28D5A88FF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1 -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실행 단추: 앞으로 또는 다음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D705E3B-8234-72E2-BE12-D217AAD45ACD}"/>
              </a:ext>
            </a:extLst>
          </p:cNvPr>
          <p:cNvSpPr/>
          <p:nvPr/>
        </p:nvSpPr>
        <p:spPr>
          <a:xfrm>
            <a:off x="6140844" y="1010024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02459930-D8F2-6523-6842-530E11761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482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A15CE-7540-DA38-B3F3-D9758F9A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2E09F84-77B8-65C0-BC79-84725809C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419211"/>
              </p:ext>
            </p:extLst>
          </p:nvPr>
        </p:nvGraphicFramePr>
        <p:xfrm>
          <a:off x="917420" y="620689"/>
          <a:ext cx="8797255" cy="5992202"/>
        </p:xfrm>
        <a:graphic>
          <a:graphicData uri="http://schemas.openxmlformats.org/drawingml/2006/table">
            <a:tbl>
              <a:tblPr/>
              <a:tblGrid>
                <a:gridCol w="79133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377878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570935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20665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64294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81288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907258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094912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433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3920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수율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수율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(94.3%)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ESS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</a:t>
                      </a:r>
                      <a:r>
                        <a:rPr lang="en-US" altLang="ko-KR" sz="1000" spc="-5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 94.1%, OT 91.4% (’25</a:t>
                      </a:r>
                      <a:r>
                        <a:rPr lang="ko-KR" altLang="en-US" sz="1000" spc="-5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누적</a:t>
                      </a:r>
                      <a:r>
                        <a:rPr lang="en-US" altLang="ko-KR" sz="1000" spc="-5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MI, MI_L, OT, HD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 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전라인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공급 극대화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MI,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MI_L, OT,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HD ESS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 라인 기준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 기준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평균 기준 목표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기준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93.5%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2000" b="0" i="0" u="none" strike="noStrike" kern="1200" cap="none" spc="-50" normalizeH="0" baseline="0" noProof="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●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3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93.7%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93.6%)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3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94.4%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7779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NG</a:t>
                      </a:r>
                      <a:r>
                        <a:rPr lang="ko-KR" altLang="en-US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라미위치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미스매치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장변실링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모노세파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모노스택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</a:t>
                      </a:r>
                      <a:r>
                        <a:rPr lang="ko-KR" altLang="en-US" sz="8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스택외관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스택치수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용접비전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/IR/EOL </a:t>
                      </a:r>
                      <a:r>
                        <a:rPr lang="ko-KR" altLang="en-US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치수 불량 개선 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(11</a:t>
                      </a:r>
                      <a:r>
                        <a:rPr lang="ko-KR" altLang="en-US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*. </a:t>
                      </a:r>
                      <a:r>
                        <a:rPr lang="ko-KR" altLang="en-US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대상 항목은 </a:t>
                      </a:r>
                      <a:r>
                        <a:rPr lang="ko-KR" altLang="en-US" sz="8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셀수율</a:t>
                      </a:r>
                      <a:r>
                        <a:rPr lang="ko-KR" altLang="en-US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목적으로 지속 발굴</a:t>
                      </a:r>
                      <a:r>
                        <a:rPr lang="en-US" altLang="ko-KR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활동 진행</a:t>
                      </a:r>
                      <a:b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7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WA </a:t>
                      </a:r>
                      <a:r>
                        <a:rPr lang="ko-KR" altLang="en-US" sz="10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아이템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MI, OT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보완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Drilldown 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레포트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활용 불량 현상 조기 파악 및 개선 활동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기술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DX(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FDC)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반복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재발 불량 개선</a:t>
                      </a:r>
                      <a:b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현황 정기 리뷰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주단위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담당급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회의체 운영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지속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MI, OT </a:t>
                      </a:r>
                      <a:r>
                        <a:rPr lang="ko-KR" altLang="en-US" sz="10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아이템 고도화 및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MI_L, HD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보완</a:t>
                      </a:r>
                      <a:endParaRPr lang="en-US" altLang="ko-KR" sz="8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Drilldown 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레포트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항목 확대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(L&amp;S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모노세파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외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L&amp;S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적용</a:t>
                      </a:r>
                      <a:b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lang="ko-KR" altLang="en-US" sz="10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불량 중점 현황 점검 및 집중 개선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Drilldown 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레포트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항목 추가 확대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(L&amp;S 7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 외 패키지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전공정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연계 분석을 통한 영향 인자 발굴 및 개선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타공정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확대 검토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7648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16764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504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52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728172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8B5109-F183-83BB-90E0-A5403B02F89B}"/>
              </a:ext>
            </a:extLst>
          </p:cNvPr>
          <p:cNvSpPr/>
          <p:nvPr/>
        </p:nvSpPr>
        <p:spPr>
          <a:xfrm>
            <a:off x="200025" y="620688"/>
            <a:ext cx="576263" cy="59769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변경 후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E4B2BFDD-1C93-C60C-0EC0-B320B6B9F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" name="실행 단추: 홈으로 이동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93A2613-5CD8-AD44-9F30-94C963C076E9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DBDC5E5-6380-3C77-D5D5-2202E5182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452665"/>
              </p:ext>
            </p:extLst>
          </p:nvPr>
        </p:nvGraphicFramePr>
        <p:xfrm>
          <a:off x="3008702" y="2087344"/>
          <a:ext cx="2611047" cy="1210692"/>
        </p:xfrm>
        <a:graphic>
          <a:graphicData uri="http://schemas.openxmlformats.org/drawingml/2006/table">
            <a:tbl>
              <a:tblPr/>
              <a:tblGrid>
                <a:gridCol w="70895">
                  <a:extLst>
                    <a:ext uri="{9D8B030D-6E8A-4147-A177-3AD203B41FA5}">
                      <a16:colId xmlns:a16="http://schemas.microsoft.com/office/drawing/2014/main" val="434980051"/>
                    </a:ext>
                  </a:extLst>
                </a:gridCol>
                <a:gridCol w="517930">
                  <a:extLst>
                    <a:ext uri="{9D8B030D-6E8A-4147-A177-3AD203B41FA5}">
                      <a16:colId xmlns:a16="http://schemas.microsoft.com/office/drawing/2014/main" val="398871790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04508481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69027881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881494102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186657930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2697388443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3166372132"/>
                    </a:ext>
                  </a:extLst>
                </a:gridCol>
              </a:tblGrid>
              <a:tr h="172956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 분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(%)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25</a:t>
                      </a:r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  <a:endParaRPr lang="en-US" altLang="ko-KR" sz="8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목표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906540"/>
                  </a:ext>
                </a:extLst>
              </a:tr>
              <a:tr h="1729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365867"/>
                  </a:ext>
                </a:extLst>
              </a:tr>
              <a:tr h="172956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북미 </a:t>
                      </a:r>
                      <a:r>
                        <a:rPr lang="en-US" altLang="ko-KR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9967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ESMI_HL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41710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138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ESOT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3655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ESHD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2703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033748-34A1-E139-1E89-BBAA3E030A8E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3 -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6E046CF-139D-B511-B50D-679F74CD8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532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153EA-7DC5-E769-D66A-19A78AD52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AAD7488-39F7-6543-4E83-B3108730C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91084"/>
              </p:ext>
            </p:extLst>
          </p:nvPr>
        </p:nvGraphicFramePr>
        <p:xfrm>
          <a:off x="917420" y="620690"/>
          <a:ext cx="8798080" cy="5995306"/>
        </p:xfrm>
        <a:graphic>
          <a:graphicData uri="http://schemas.openxmlformats.org/drawingml/2006/table">
            <a:tbl>
              <a:tblPr/>
              <a:tblGrid>
                <a:gridCol w="792000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263922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674608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188163">
                  <a:extLst>
                    <a:ext uri="{9D8B030D-6E8A-4147-A177-3AD203B41FA5}">
                      <a16:colId xmlns:a16="http://schemas.microsoft.com/office/drawing/2014/main" val="3142531987"/>
                    </a:ext>
                  </a:extLst>
                </a:gridCol>
                <a:gridCol w="107112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654445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898808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256622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433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3920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  <a:endParaRPr lang="ko-KR" altLang="en-US" dirty="0"/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3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WA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ESS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94.5%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92.7%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3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94.1%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93.5%)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3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95.3%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94.2%)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18870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NG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라미위치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미스매치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장변실링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모노세파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모노스택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스택외관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스택치수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용접비전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/IR/EOL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치수 불량 개선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(11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*.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대상 항목은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셀수율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목적으로 지속 발굴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활동 진행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type/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기반 공정 핵심 불량 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ESWA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혼용 생산 물동 비중 높은 모델 집중 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불량 분석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 down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확대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L&amp;S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적용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확대 및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활용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type/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별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관점 분석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지속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불량 분석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 down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확대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</a:t>
                      </a:r>
                      <a:r>
                        <a:rPr kumimoji="0" lang="ko-KR" altLang="en-US" sz="9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타공정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확대 검토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2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kumimoji="0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불량 중점 현황 점검 및 집중 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간 불량 원인 비교를 통한 기술 고도화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Point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발굴 및 개선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920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1692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504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95.6%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95.1%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52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879391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678A5B-11C4-258C-A693-73310D585725}"/>
              </a:ext>
            </a:extLst>
          </p:cNvPr>
          <p:cNvSpPr/>
          <p:nvPr/>
        </p:nvSpPr>
        <p:spPr>
          <a:xfrm>
            <a:off x="200025" y="620687"/>
            <a:ext cx="576263" cy="597696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1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42004BC-74A9-F05B-0BFD-7652B1091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803771"/>
              </p:ext>
            </p:extLst>
          </p:nvPr>
        </p:nvGraphicFramePr>
        <p:xfrm>
          <a:off x="3019425" y="1518377"/>
          <a:ext cx="2648746" cy="652595"/>
        </p:xfrm>
        <a:graphic>
          <a:graphicData uri="http://schemas.openxmlformats.org/drawingml/2006/table">
            <a:tbl>
              <a:tblPr/>
              <a:tblGrid>
                <a:gridCol w="382704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35890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423592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03078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03078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34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34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ESWA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종합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72.5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74.8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6.2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</a:tbl>
          </a:graphicData>
        </a:graphic>
      </p:graphicFrame>
      <p:sp>
        <p:nvSpPr>
          <p:cNvPr id="6" name="Text Box 3">
            <a:extLst>
              <a:ext uri="{FF2B5EF4-FFF2-40B4-BE49-F238E27FC236}">
                <a16:creationId xmlns:a16="http://schemas.microsoft.com/office/drawing/2014/main" id="{B8C456EF-0700-CDB0-5B8D-14F449E89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8" name="실행 단추: 홈으로 이동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237DC53-68A3-8421-20CC-0C1E6BE3599C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0C7D2-C019-7B66-A851-6DD56A2EDF16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- 2 / 3 -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0EA5B7A-DF52-87C7-2BE3-29FCDDEDD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796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D521-3665-D119-3174-D7DA4DB59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69790D9-0AE7-CAD0-839F-CE3423363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225467"/>
              </p:ext>
            </p:extLst>
          </p:nvPr>
        </p:nvGraphicFramePr>
        <p:xfrm>
          <a:off x="917420" y="620690"/>
          <a:ext cx="8798080" cy="5996915"/>
        </p:xfrm>
        <a:graphic>
          <a:graphicData uri="http://schemas.openxmlformats.org/drawingml/2006/table">
            <a:tbl>
              <a:tblPr/>
              <a:tblGrid>
                <a:gridCol w="792000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263922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674608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188163">
                  <a:extLst>
                    <a:ext uri="{9D8B030D-6E8A-4147-A177-3AD203B41FA5}">
                      <a16:colId xmlns:a16="http://schemas.microsoft.com/office/drawing/2014/main" val="3142531987"/>
                    </a:ext>
                  </a:extLst>
                </a:gridCol>
                <a:gridCol w="107112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654445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898808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256622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433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3920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 셀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3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WA, NA,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NB,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HM,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MI,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HG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셀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3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97.7%)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3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97.9%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33938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NG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라미위치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미스매치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장변실링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모노세파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모노스택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스택외관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스택치수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용접비전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/IR/EOL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치수 불량 개선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(11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*.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대상 항목은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셀수율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목적으로 지속 발굴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활동 진행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type/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기반 공정 핵심 불량 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ESWA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혼용 생산 물동 비중 높은 모델 집중 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불량 분석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 down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확대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L&amp;S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적용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확대 및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활용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type/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별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관점 분석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지속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불량 분석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 down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확대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</a:t>
                      </a:r>
                      <a:r>
                        <a:rPr kumimoji="0" lang="ko-KR" altLang="en-US" sz="9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타공정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확대 검토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2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kumimoji="0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불량 중점 현황 점검 및 집중 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간 불량 원인 비교를 통한 기술 고도화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Point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발굴 및 개선</a:t>
                      </a: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7920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14889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5315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98.3%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98.1%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52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879391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431B00-11B9-BB93-03DF-ABBF749CBAF8}"/>
              </a:ext>
            </a:extLst>
          </p:cNvPr>
          <p:cNvSpPr/>
          <p:nvPr/>
        </p:nvSpPr>
        <p:spPr>
          <a:xfrm>
            <a:off x="200025" y="620687"/>
            <a:ext cx="576263" cy="597696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1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후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49539B82-6F4D-A0E8-9652-2421E6D6B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8" name="실행 단추: 홈으로 이동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E5B9F0C-28CB-0250-C088-BB155F3C85D1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D4DB3-DD3B-22CD-54E3-56F4163B4447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- 3 / 3 -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ABC2B79-3626-EA8B-0A06-F7518D52E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87963"/>
              </p:ext>
            </p:extLst>
          </p:nvPr>
        </p:nvGraphicFramePr>
        <p:xfrm>
          <a:off x="2965406" y="1578129"/>
          <a:ext cx="2779757" cy="2727617"/>
        </p:xfrm>
        <a:graphic>
          <a:graphicData uri="http://schemas.openxmlformats.org/drawingml/2006/table">
            <a:tbl>
              <a:tblPr/>
              <a:tblGrid>
                <a:gridCol w="401633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42611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397511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65101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88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 목표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88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97.6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98.4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96.0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97865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64898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301224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40837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99.1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06238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22582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019001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5326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304851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HM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2683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76053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99.4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11753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91.0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12738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6371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61324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HG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0693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95342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327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0830C6C-421C-4F83-216D-B0698F824731}"/>
              </a:ext>
            </a:extLst>
          </p:cNvPr>
          <p:cNvSpPr txBox="1"/>
          <p:nvPr/>
        </p:nvSpPr>
        <p:spPr>
          <a:xfrm>
            <a:off x="4116479" y="1378074"/>
            <a:ext cx="17194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*Total 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산출 로직 </a:t>
            </a:r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7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법인별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물동 가중 평균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DFF6992B-1BE4-F31D-4284-67111090F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94" y="166727"/>
            <a:ext cx="3307563" cy="3497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솔루션담당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유연택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21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9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9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200" b="1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13909</TotalTime>
  <Words>8313</Words>
  <Application>Microsoft Office PowerPoint</Application>
  <PresentationFormat>A4 용지(210x297mm)</PresentationFormat>
  <Paragraphs>1253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14</vt:i4>
      </vt:variant>
    </vt:vector>
  </HeadingPairs>
  <TitlesOfParts>
    <vt:vector size="28" baseType="lpstr">
      <vt:lpstr>LG스마트체 Regular</vt:lpstr>
      <vt:lpstr>LG스마트체2.0 Bold</vt:lpstr>
      <vt:lpstr>LG스마트체2.0 Regular</vt:lpstr>
      <vt:lpstr>LG스마트체2.0 SemiBold</vt:lpstr>
      <vt:lpstr>굴림</vt:lpstr>
      <vt:lpstr>맑은 고딕</vt:lpstr>
      <vt:lpstr>Arial</vt:lpstr>
      <vt:lpstr>Arial Narrow</vt:lpstr>
      <vt:lpstr>Calibri</vt:lpstr>
      <vt:lpstr>Calibri Light</vt:lpstr>
      <vt:lpstr>Wingdings</vt:lpstr>
      <vt:lpstr>Office 테마</vt:lpstr>
      <vt:lpstr>19_기본 디자인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김대홍(DaehongKim)[daehong_kim]/책임/자동차.사업전략.사업전략팀</dc:creator>
  <cp:lastModifiedBy>이재후(JAEHU LEE)[jaehu]/사원/제조DX.기획팀</cp:lastModifiedBy>
  <cp:revision>785</cp:revision>
  <cp:lastPrinted>2025-03-26T08:19:46Z</cp:lastPrinted>
  <dcterms:created xsi:type="dcterms:W3CDTF">2025-01-20T23:43:33Z</dcterms:created>
  <dcterms:modified xsi:type="dcterms:W3CDTF">2026-08-03T04:38:36Z</dcterms:modified>
</cp:coreProperties>
</file>