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</p:sldMasterIdLst>
  <p:notesMasterIdLst>
    <p:notesMasterId r:id="rId20"/>
  </p:notesMasterIdLst>
  <p:sldIdLst>
    <p:sldId id="2147483647" r:id="rId4"/>
    <p:sldId id="256" r:id="rId5"/>
    <p:sldId id="2147483442" r:id="rId6"/>
    <p:sldId id="261" r:id="rId7"/>
    <p:sldId id="2147483644" r:id="rId8"/>
    <p:sldId id="257" r:id="rId9"/>
    <p:sldId id="2147483642" r:id="rId10"/>
    <p:sldId id="2147483641" r:id="rId11"/>
    <p:sldId id="2147483478" r:id="rId12"/>
    <p:sldId id="260" r:id="rId13"/>
    <p:sldId id="2147483637" r:id="rId14"/>
    <p:sldId id="2147481897" r:id="rId15"/>
    <p:sldId id="2147481901" r:id="rId16"/>
    <p:sldId id="2147481898" r:id="rId17"/>
    <p:sldId id="2147481895" r:id="rId18"/>
    <p:sldId id="2147481896" r:id="rId19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목표합의서_FDC DX담당" id="{0723F50F-72A2-4132-B4A5-E7BD966855A6}">
          <p14:sldIdLst>
            <p14:sldId id="2147483647"/>
            <p14:sldId id="256"/>
            <p14:sldId id="2147483442"/>
            <p14:sldId id="261"/>
            <p14:sldId id="2147483644"/>
            <p14:sldId id="257"/>
            <p14:sldId id="2147483642"/>
            <p14:sldId id="2147483641"/>
            <p14:sldId id="2147483478"/>
            <p14:sldId id="260"/>
            <p14:sldId id="2147483637"/>
          </p14:sldIdLst>
        </p14:section>
        <p14:section name="KPI 변경 검토" id="{466C8448-23C2-483E-B8A1-20E520145E38}">
          <p14:sldIdLst>
            <p14:sldId id="2147481897"/>
          </p14:sldIdLst>
        </p14:section>
        <p14:section name="KPI 수정 근거_FDC DX담당" id="{02A024D9-1BF4-4E53-A21A-87D23FDDCD7E}">
          <p14:sldIdLst>
            <p14:sldId id="2147481901"/>
            <p14:sldId id="2147481898"/>
            <p14:sldId id="2147481895"/>
            <p14:sldId id="21474818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6114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orient="horz" pos="4201" userDrawn="1">
          <p15:clr>
            <a:srgbClr val="A4A3A4"/>
          </p15:clr>
        </p15:guide>
        <p15:guide id="5" pos="5751" userDrawn="1">
          <p15:clr>
            <a:srgbClr val="A4A3A4"/>
          </p15:clr>
        </p15:guide>
        <p15:guide id="6" pos="126" userDrawn="1">
          <p15:clr>
            <a:srgbClr val="A4A3A4"/>
          </p15:clr>
        </p15:guide>
        <p15:guide id="7" pos="489" userDrawn="1">
          <p15:clr>
            <a:srgbClr val="A4A3A4"/>
          </p15:clr>
        </p15:guide>
        <p15:guide id="8" orient="horz" pos="3067" userDrawn="1">
          <p15:clr>
            <a:srgbClr val="A4A3A4"/>
          </p15:clr>
        </p15:guide>
        <p15:guide id="9" orient="horz" pos="3453" userDrawn="1">
          <p15:clr>
            <a:srgbClr val="A4A3A4"/>
          </p15:clr>
        </p15:guide>
        <p15:guide id="10" orient="horz" pos="36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FFFF99"/>
    <a:srgbClr val="FFFF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4667" autoAdjust="0"/>
  </p:normalViewPr>
  <p:slideViewPr>
    <p:cSldViewPr snapToGrid="0" showGuides="1">
      <p:cViewPr varScale="1">
        <p:scale>
          <a:sx n="101" d="100"/>
          <a:sy n="101" d="100"/>
        </p:scale>
        <p:origin x="1692" y="96"/>
      </p:cViewPr>
      <p:guideLst>
        <p:guide orient="horz" pos="391"/>
        <p:guide pos="6114"/>
        <p:guide orient="horz" pos="618"/>
        <p:guide orient="horz" pos="4201"/>
        <p:guide pos="5751"/>
        <p:guide pos="126"/>
        <p:guide pos="489"/>
        <p:guide orient="horz" pos="3067"/>
        <p:guide orient="horz" pos="3453"/>
        <p:guide orient="horz" pos="36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A317-D649-4A5F-9D2F-E5B84DA77317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44F66-54D9-4BCF-8DFA-2EE3BF76F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09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32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04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9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39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936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1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08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5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04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3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7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2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64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6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34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20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882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599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906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841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322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97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304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433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095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282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277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261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993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466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916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73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2058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13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2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9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9037C-F6BC-4C17-B680-989F54A9FCBC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07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14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398984"/>
              </p:ext>
            </p:extLst>
          </p:nvPr>
        </p:nvGraphicFramePr>
        <p:xfrm>
          <a:off x="152400" y="620714"/>
          <a:ext cx="9613195" cy="5870448"/>
        </p:xfrm>
        <a:graphic>
          <a:graphicData uri="http://schemas.openxmlformats.org/drawingml/2006/table">
            <a:tbl>
              <a:tblPr/>
              <a:tblGrid>
                <a:gridCol w="502725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645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970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85397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431512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844320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212995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실행 계획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0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성과지표</a:t>
                      </a:r>
                      <a:b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재무목표</a:t>
                      </a:r>
                      <a:endParaRPr kumimoji="1" lang="en-US" altLang="ko-KR" sz="1000" b="1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달성</a:t>
                      </a:r>
                      <a: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225254"/>
                  </a:ext>
                </a:extLst>
              </a:tr>
              <a:tr h="118014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</a:t>
                      </a:r>
                      <a:endParaRPr lang="en-US" altLang="ko-KR" sz="1000" b="1" kern="1200" spc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전략</a:t>
                      </a:r>
                      <a:endParaRPr lang="en-US" altLang="ko-KR" sz="1000" b="1" kern="1200" spc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</a:t>
                      </a:r>
                      <a:endParaRPr lang="en-US" altLang="ko-KR" sz="1000" b="1" kern="1200" spc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kern="1200" spc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(80%)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구조적 </a:t>
                      </a:r>
                      <a:br>
                        <a:rPr lang="en-US" altLang="ko-KR" sz="1000" b="1" kern="1200" spc="-10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경쟁력</a:t>
                      </a:r>
                      <a:endParaRPr lang="en-US" altLang="ko-KR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 </a:t>
                      </a:r>
                      <a:r>
                        <a:rPr lang="en-US" altLang="ko-KR" sz="1000" b="0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(30%)</a:t>
                      </a: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 운영</a:t>
                      </a:r>
                      <a:r>
                        <a:rPr lang="en-US" altLang="ko-KR" sz="1000" b="1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AX</a:t>
                      </a:r>
                      <a:br>
                        <a:rPr lang="en-US" altLang="ko-KR" sz="1000" b="1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1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</a:t>
                      </a:r>
                      <a:r>
                        <a:rPr lang="ko-KR" altLang="en-US" sz="1000" b="1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30%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(’25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 모델 개발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적용을 통한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 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L&amp;S 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 연계 이상감지를 통한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en-US" altLang="ko-KR" sz="1000" b="0" i="0" u="sng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ESMI-ESS, ESWA)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1.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 컨베이어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롤러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모터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(LM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블럭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베어링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등의 열화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마모 감지를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위한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모델개발 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2.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공급부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EPC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파단 및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Auto Splice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실패에 대한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모델링 적용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3.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서보모터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동작 포지션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테이프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어태처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흡착 압력 에 대한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설비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u="sng" kern="1200" spc="-3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동작 분석 기반 </a:t>
                      </a:r>
                      <a:r>
                        <a:rPr lang="en-US" altLang="ko-KR" sz="1000" b="0" u="sng" kern="1200" spc="-3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Roll-Press</a:t>
                      </a:r>
                      <a:r>
                        <a:rPr lang="ko-KR" altLang="en-US" sz="1000" b="0" u="sng" kern="1200" spc="-3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단선 원인 분석을 통한 </a:t>
                      </a:r>
                      <a:r>
                        <a:rPr lang="en-US" altLang="ko-KR" sz="1000" b="0" u="sng" kern="1200" spc="-3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 </a:t>
                      </a:r>
                      <a:r>
                        <a:rPr lang="ko-KR" altLang="en-US" sz="1000" b="0" u="sng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u="sng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(ESOT, ESWA)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1.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동작분석 기반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Outfeed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관련 치명인자 도출과 이상감지를 통한 단선 개선</a:t>
                      </a:r>
                      <a:endParaRPr lang="en-US" altLang="ko-KR" sz="1000" b="0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marR="0" lvl="0" indent="-17780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2.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설비적 요인으로 인한 치명인자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Spec-Out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감지와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연계를 통한 단선 개선</a:t>
                      </a:r>
                      <a:endParaRPr lang="en-US" altLang="ko-KR" sz="1000" b="0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3. 1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/2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Outfeed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개선을 통한 재단선 방지 활동으로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원단 연결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4. </a:t>
                      </a:r>
                      <a:r>
                        <a:rPr lang="ko-KR" altLang="en-US" sz="1000" b="0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금형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교체 주기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미커팅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레이저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(Power, </a:t>
                      </a:r>
                      <a:r>
                        <a:rPr lang="ko-KR" altLang="en-US" sz="1000" b="0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미커팅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감지를 통한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[NFF] FDC 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조치 프로세스 구축을 통한 </a:t>
                      </a:r>
                      <a:r>
                        <a:rPr lang="ko-KR" altLang="en-US" sz="1000" b="0" u="sng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Loss 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1000" b="0" u="sng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1.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구동부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서보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모터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실린더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이상감지를 통한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 Loss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2. FDC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급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재발 방지를 통한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 Loss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3.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조명이상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자재기인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PC H/W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기인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오검출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이상감지를 통한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PD Loss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681181"/>
                  </a:ext>
                </a:extLst>
              </a:tr>
              <a:tr h="8005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spc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제품 </a:t>
                      </a:r>
                      <a:br>
                        <a:rPr lang="en-US" altLang="ko-KR" sz="1000" b="1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경쟁우위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 </a:t>
                      </a: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(50%)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이상감지 확산 운영 및 신규 불량 원인인자 적용 모델링을 통한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  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L&amp;S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라미실러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(Y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 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모노스태킹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불량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(ESMI)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1.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정지 후 재가동 시 제어 안정성 확보 및 라미 컷터 패턴 기반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확산 적용  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2.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실러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속도 편차 데이터 신규 연결을 통한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이상감지 확산 적용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3. D-STK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벨트텐션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터틀펌프 진공압 기반으로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모노스태킹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공정능력 개선을 위한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 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NND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치수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(Pitch/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어깨선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외관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(Tab,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포일노출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연결부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(ESOT,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ESMI)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1. Sameness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호기별 원인인자 도출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개선을 통한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치수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(Pitch/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어깨선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2. FTA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통한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기인 주요 외관 불량 원인인자 도출과 개선을 위한 이상감지 적용하여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(Tab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관련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포일노출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연결부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792281"/>
                  </a:ext>
                </a:extLst>
              </a:tr>
              <a:tr h="8843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  <a:endParaRPr kumimoji="1" lang="ko-KR" altLang="en-US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455642"/>
                  </a:ext>
                </a:extLst>
              </a:tr>
              <a:tr h="91373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0" marT="0" marB="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다변량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이상감지 기반 고속구동 제어 안정성 확보 및 고질불량 개선을 통한 셀 수율 향상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L&amp;S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라미실러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(Y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 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모노스태킹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불량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0" u="sng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1.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컷터 패턴 데이터 기반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및 법인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Co-work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강화를 통한 이슈 적기 조치  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2.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실러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상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하부 모터 속도 편차 데이터를 활용한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및 모터 튜닝 시점 제안 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3. STK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Gripper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Finger Clamp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고속 모터 구동 특성을 반영한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모델링  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2690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840EEE-62B5-4D03-8C5C-64736B03EE3B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(1/2)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06E73C-157A-493E-B652-BDEC418441E0}"/>
              </a:ext>
            </a:extLst>
          </p:cNvPr>
          <p:cNvSpPr txBox="1"/>
          <p:nvPr/>
        </p:nvSpPr>
        <p:spPr>
          <a:xfrm>
            <a:off x="95895" y="174087"/>
            <a:ext cx="281404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FDC 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72C586B-C0C1-F17E-8CF4-DB2801464EE2}"/>
              </a:ext>
            </a:extLst>
          </p:cNvPr>
          <p:cNvSpPr/>
          <p:nvPr/>
        </p:nvSpPr>
        <p:spPr>
          <a:xfrm>
            <a:off x="1406062" y="2331437"/>
            <a:ext cx="252000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 I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BBEA7B-C454-D68F-2453-4E6CC7D24EFC}"/>
              </a:ext>
            </a:extLst>
          </p:cNvPr>
          <p:cNvSpPr/>
          <p:nvPr/>
        </p:nvSpPr>
        <p:spPr>
          <a:xfrm>
            <a:off x="3042553" y="3937110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865CCAC-9E65-A19D-15BC-EE75E98375A4}"/>
              </a:ext>
            </a:extLst>
          </p:cNvPr>
          <p:cNvSpPr/>
          <p:nvPr/>
        </p:nvSpPr>
        <p:spPr>
          <a:xfrm>
            <a:off x="2513231" y="3937110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75877E-AA17-836B-65A7-82286027F211}"/>
              </a:ext>
            </a:extLst>
          </p:cNvPr>
          <p:cNvSpPr/>
          <p:nvPr/>
        </p:nvSpPr>
        <p:spPr>
          <a:xfrm>
            <a:off x="3042553" y="2313967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BFA638D-742C-EB1E-D8F5-45A52BC9FA43}"/>
              </a:ext>
            </a:extLst>
          </p:cNvPr>
          <p:cNvSpPr/>
          <p:nvPr/>
        </p:nvSpPr>
        <p:spPr>
          <a:xfrm>
            <a:off x="2513231" y="2313967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F38958-2F52-AF90-FEE0-C42C3DC7E24F}"/>
              </a:ext>
            </a:extLst>
          </p:cNvPr>
          <p:cNvSpPr/>
          <p:nvPr/>
        </p:nvSpPr>
        <p:spPr>
          <a:xfrm>
            <a:off x="2513231" y="4780881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 err="1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A3DADA-9CE2-5DFB-D3E0-F258536D11A4}"/>
              </a:ext>
            </a:extLst>
          </p:cNvPr>
          <p:cNvSpPr/>
          <p:nvPr/>
        </p:nvSpPr>
        <p:spPr>
          <a:xfrm>
            <a:off x="2513231" y="5676239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 err="1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589A3-1209-735E-F0BC-CFE187544702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2 -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65D94E-4717-6682-A0B0-A2B46F3D8112}"/>
              </a:ext>
            </a:extLst>
          </p:cNvPr>
          <p:cNvSpPr txBox="1"/>
          <p:nvPr/>
        </p:nvSpPr>
        <p:spPr>
          <a:xfrm>
            <a:off x="1405636" y="2791145"/>
            <a:ext cx="50485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CPO Co-KPI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715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965446"/>
              </p:ext>
            </p:extLst>
          </p:nvPr>
        </p:nvGraphicFramePr>
        <p:xfrm>
          <a:off x="142875" y="620712"/>
          <a:ext cx="9617426" cy="4394268"/>
        </p:xfrm>
        <a:graphic>
          <a:graphicData uri="http://schemas.openxmlformats.org/drawingml/2006/table">
            <a:tbl>
              <a:tblPr/>
              <a:tblGrid>
                <a:gridCol w="426367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545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025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307146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507575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852724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실행 계획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14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전략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(80%)</a:t>
                      </a:r>
                    </a:p>
                  </a:txBody>
                  <a:tcPr marL="18000" marR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제품 </a:t>
                      </a:r>
                      <a:br>
                        <a:rPr lang="en-US" altLang="ko-KR" sz="1000" b="1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경쟁우위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확보 </a:t>
                      </a: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(50%)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7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18000" marR="18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수율 목표 달성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97.7%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EP2 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’26.12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불량 개선을 위한 설비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치명인자 도출 및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모델 개발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u="sng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Worst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분리막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Path Line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치명인자 도출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EPC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롤러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권심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이상감지를 통한 사행 불량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2.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 중 치명인자 도출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전극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Slip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에어 압력 이상감지를 통한 음극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3.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접시롤러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떨림 방지 롤러 및 에어 유량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압력 이상감지를 통한 양극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TFT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Worst </a:t>
                      </a:r>
                      <a:r>
                        <a:rPr lang="ko-KR" altLang="en-US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r>
                        <a:rPr lang="en-US" altLang="ko-KR" sz="1000" b="0" u="sng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1.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하부 홀더 구동이상 및 진동센서 기반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Head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별 이상감지를 통한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CBD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비틀림 불량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2. Head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별 좌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우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토시컬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가이드 진공 이상감지를 통한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CIT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테이프 불량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971215"/>
                  </a:ext>
                </a:extLst>
              </a:tr>
              <a:tr h="7270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0" marT="0" marB="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NJ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고질 이슈 개선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- Q : M53F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발열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0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- D : 26.3Q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이물 발생 방지를 위한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부품 열화 및 성능 저하 사전감지를 통한 발열 개선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귄취부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투입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Clamp, EPC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롤러부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부품 갈림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마모 사전 감지를 통한 이물 발생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이물 제거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Unit(Air Blower &amp; Suction, EFU)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성능 저하 사전감지를 통한 이물 유입 개선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932548"/>
                  </a:ext>
                </a:extLst>
              </a:tr>
              <a:tr h="96939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구조적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경쟁력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br>
                        <a:rPr lang="en-US" altLang="ko-KR" sz="10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  <a:endParaRPr lang="ko-KR" altLang="en-US" sz="1000" b="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미래기술</a:t>
                      </a:r>
                      <a:endParaRPr lang="en-US" altLang="ko-KR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역량강화</a:t>
                      </a:r>
                      <a:endParaRPr lang="en-US" altLang="ko-KR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치명인자 도출 자동화를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통한 업무효율 향상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분석 업무 생산성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알고리즘 개발 업무효율성 개선을 위한 치명인자 추출 자동화 </a:t>
                      </a:r>
                      <a:endParaRPr lang="en-US" altLang="ko-KR" sz="1000" b="1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1.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정상 데이터 구분 자동화 로직 구현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보완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2.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변수간 유의차 분석 자동화 로직 구현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보완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변수 도출 자동화 및 유효성 검증 테스트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133066"/>
                  </a:ext>
                </a:extLst>
              </a:tr>
              <a:tr h="82349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18000" marR="180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Q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’26.9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테스트서버 요건 정의 및 아키텍처 설계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(1Q)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사전 예측을 위한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Test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 인프라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검증 환경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(3Q)</a:t>
                      </a:r>
                      <a:endParaRPr kumimoji="0" lang="ko-KR" altLang="en-US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0067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840EEE-62B5-4D03-8C5C-64736B03EE3B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(2/2)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06E73C-157A-493E-B652-BDEC418441E0}"/>
              </a:ext>
            </a:extLst>
          </p:cNvPr>
          <p:cNvSpPr txBox="1"/>
          <p:nvPr/>
        </p:nvSpPr>
        <p:spPr>
          <a:xfrm>
            <a:off x="95895" y="174087"/>
            <a:ext cx="281404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FDC DX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2966CF3-0D8A-44A5-6130-9CC905ABE33F}"/>
              </a:ext>
            </a:extLst>
          </p:cNvPr>
          <p:cNvSpPr/>
          <p:nvPr/>
        </p:nvSpPr>
        <p:spPr>
          <a:xfrm>
            <a:off x="2442477" y="1302530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BD343-0818-D3CA-48B3-B1D0390A561C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- 2 / 2 -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23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944444"/>
              </p:ext>
            </p:extLst>
          </p:nvPr>
        </p:nvGraphicFramePr>
        <p:xfrm>
          <a:off x="182233" y="536045"/>
          <a:ext cx="9582666" cy="6072886"/>
        </p:xfrm>
        <a:graphic>
          <a:graphicData uri="http://schemas.openxmlformats.org/drawingml/2006/table">
            <a:tbl>
              <a:tblPr/>
              <a:tblGrid>
                <a:gridCol w="853200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4506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459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'26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6800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연말 인원 사업계획 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 절감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설비별 주요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파악 및 선정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설비 동작 구분을 통한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BMPD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현상 세부 분석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[NFF]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이상 감지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 개발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이상감지 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동작 별 데이터 패턴 분석을 통해 이상인자 도출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[NFF]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알람 조치 프로세스 구축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EMS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수행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FDC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고도화 기반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및 유지 관리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도출 결과 적용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BMPD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 유지 관리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[NFF] FDC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이상감지 알고리즘 양산 검증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Coverage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확대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4592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24%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22%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22%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C572D3-1560-496D-9648-77117FE761B3}"/>
              </a:ext>
            </a:extLst>
          </p:cNvPr>
          <p:cNvGraphicFramePr>
            <a:graphicFrameLocks noGrp="1"/>
          </p:cNvGraphicFramePr>
          <p:nvPr/>
        </p:nvGraphicFramePr>
        <p:xfrm>
          <a:off x="2366039" y="885999"/>
          <a:ext cx="3542165" cy="648000"/>
        </p:xfrm>
        <a:graphic>
          <a:graphicData uri="http://schemas.openxmlformats.org/drawingml/2006/table">
            <a:tbl>
              <a:tblPr/>
              <a:tblGrid>
                <a:gridCol w="338296">
                  <a:extLst>
                    <a:ext uri="{9D8B030D-6E8A-4147-A177-3AD203B41FA5}">
                      <a16:colId xmlns:a16="http://schemas.microsoft.com/office/drawing/2014/main" val="448372699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53196185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76058939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11445783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5819491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169071675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9389540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4198906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00816768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672968338"/>
                    </a:ext>
                  </a:extLst>
                </a:gridCol>
                <a:gridCol w="338296">
                  <a:extLst>
                    <a:ext uri="{9D8B030D-6E8A-4147-A177-3AD203B41FA5}">
                      <a16:colId xmlns:a16="http://schemas.microsoft.com/office/drawing/2014/main" val="1593203743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9082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8428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43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156D26-62D4-4E32-9751-019749323187}"/>
              </a:ext>
            </a:extLst>
          </p:cNvPr>
          <p:cNvSpPr txBox="1"/>
          <p:nvPr/>
        </p:nvSpPr>
        <p:spPr>
          <a:xfrm>
            <a:off x="2319691" y="1562102"/>
            <a:ext cx="4736613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공정 개선율의 산술평균으로 목표 산정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24029-9488-E7C8-8A5D-D20C1E8A0827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4ACA6-8A48-5F69-BF6B-F97C706E449D}"/>
              </a:ext>
            </a:extLst>
          </p:cNvPr>
          <p:cNvSpPr txBox="1"/>
          <p:nvPr/>
        </p:nvSpPr>
        <p:spPr>
          <a:xfrm>
            <a:off x="95895" y="174087"/>
            <a:ext cx="2875905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93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11576"/>
              </p:ext>
            </p:extLst>
          </p:nvPr>
        </p:nvGraphicFramePr>
        <p:xfrm>
          <a:off x="173693" y="620690"/>
          <a:ext cx="9535408" cy="6052838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33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60106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제조운영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90.5%, OT 79.9% (’25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누적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OT,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 ESS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라인 기준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93600" marR="0" lvl="0" indent="-93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08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08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97715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정상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동작 패턴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비교를 통한 이상 예측 감지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연관인자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 감지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연동 및 정합성 확보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기개발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적용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FTA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통한 원인인자 도출 </a:t>
                      </a:r>
                      <a:b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이송부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전/후, 상/하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속도비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정합화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노셀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이송체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및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적재부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셀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틀어짐 이상 감지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호기간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 분석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현황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Workflow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및 적용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ADE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기반으로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알고리즘 고도화 및 유지관리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 공정 불량 연계 추가 개선인자 발굴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개선방안 추가 도출 및 적용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336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54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54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0818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0818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0818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B7232E-7AAB-4660-A254-D34B70EF9005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7E148-5C21-58A9-03AF-C14B2C17B08F}"/>
              </a:ext>
            </a:extLst>
          </p:cNvPr>
          <p:cNvSpPr txBox="1"/>
          <p:nvPr/>
        </p:nvSpPr>
        <p:spPr>
          <a:xfrm>
            <a:off x="95895" y="174087"/>
            <a:ext cx="287058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F99C6-591E-DBE1-8EC3-41F6FC99A7AA}"/>
              </a:ext>
            </a:extLst>
          </p:cNvPr>
          <p:cNvSpPr txBox="1"/>
          <p:nvPr/>
        </p:nvSpPr>
        <p:spPr>
          <a:xfrm>
            <a:off x="4332735" y="98899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214A9E-5DAC-D11E-89A5-5238411CC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095279"/>
              </p:ext>
            </p:extLst>
          </p:nvPr>
        </p:nvGraphicFramePr>
        <p:xfrm>
          <a:off x="2427677" y="2087344"/>
          <a:ext cx="2611047" cy="1210692"/>
        </p:xfrm>
        <a:graphic>
          <a:graphicData uri="http://schemas.openxmlformats.org/drawingml/2006/table">
            <a:tbl>
              <a:tblPr/>
              <a:tblGrid>
                <a:gridCol w="70895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17930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2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179007"/>
              </p:ext>
            </p:extLst>
          </p:nvPr>
        </p:nvGraphicFramePr>
        <p:xfrm>
          <a:off x="173693" y="620689"/>
          <a:ext cx="9535408" cy="5991712"/>
        </p:xfrm>
        <a:graphic>
          <a:graphicData uri="http://schemas.openxmlformats.org/drawingml/2006/table">
            <a:tbl>
              <a:tblPr/>
              <a:tblGrid>
                <a:gridCol w="86453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58526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5818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1239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WA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94.5%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92.7%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634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94.1%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93.5%)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479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95.3%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94.2%)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60957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정상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동작 패턴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비교를 통한 이상 예측 감지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연관인자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 감지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연동 및 정합성 확보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기개발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적용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FTA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통한 원인인자 도출 </a:t>
                      </a:r>
                      <a:b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속도비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정합화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개소 및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수율기반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적재부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셀 틀어짐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오버행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석션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컨베이어 등 진공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이송체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호기간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 분석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현황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Workflow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및 적용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ADE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기반으로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알고리즘 고도화 및 유지관리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 공정 불량 연계 추가 개선인자 발굴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개선방안 추가 도출 및 적용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5818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C1BC5B8-A80B-575F-2924-D38BD2B85C19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6B82E-0955-F34C-5A46-5B58983A30EC}"/>
              </a:ext>
            </a:extLst>
          </p:cNvPr>
          <p:cNvSpPr txBox="1"/>
          <p:nvPr/>
        </p:nvSpPr>
        <p:spPr>
          <a:xfrm>
            <a:off x="95896" y="174087"/>
            <a:ext cx="2822742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B7360-E39B-199F-872B-97C0BE1C09C3}"/>
              </a:ext>
            </a:extLst>
          </p:cNvPr>
          <p:cNvSpPr txBox="1"/>
          <p:nvPr/>
        </p:nvSpPr>
        <p:spPr>
          <a:xfrm>
            <a:off x="4332735" y="98899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C7BD757-7D17-C8F9-44BA-90EC4F63D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892611"/>
              </p:ext>
            </p:extLst>
          </p:nvPr>
        </p:nvGraphicFramePr>
        <p:xfrm>
          <a:off x="2475516" y="1461227"/>
          <a:ext cx="2648746" cy="652595"/>
        </p:xfrm>
        <a:graphic>
          <a:graphicData uri="http://schemas.openxmlformats.org/drawingml/2006/table">
            <a:tbl>
              <a:tblPr/>
              <a:tblGrid>
                <a:gridCol w="382704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35890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23592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34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34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ESWA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72.5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74.8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63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8231-A5A9-A56D-342F-9686D9FE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7EB1E24-8452-36ED-043D-A1B8FE348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752930"/>
              </p:ext>
            </p:extLst>
          </p:nvPr>
        </p:nvGraphicFramePr>
        <p:xfrm>
          <a:off x="173693" y="620689"/>
          <a:ext cx="9535408" cy="5966058"/>
        </p:xfrm>
        <a:graphic>
          <a:graphicData uri="http://schemas.openxmlformats.org/drawingml/2006/table">
            <a:tbl>
              <a:tblPr/>
              <a:tblGrid>
                <a:gridCol w="86453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58526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5818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1239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NA,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634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97.7%)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479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97.9%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60957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정상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동작 패턴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비교를 통한 이상 예측 감지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연관인자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 감지</a:t>
                      </a:r>
                      <a:b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속도비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정합화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개소 및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수율기반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적재부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셀 틀어짐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오버행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석션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컨베이어 등 진공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이송체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ADE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기반으로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다변량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알고리즘 고도화 및 유지관리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5818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298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54A0AD6-6DB7-DFF5-6432-1D9A2837926A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F3BE0-7C4E-1CB2-6D7A-6B12AD583CA1}"/>
              </a:ext>
            </a:extLst>
          </p:cNvPr>
          <p:cNvSpPr txBox="1"/>
          <p:nvPr/>
        </p:nvSpPr>
        <p:spPr>
          <a:xfrm>
            <a:off x="95896" y="174087"/>
            <a:ext cx="2822742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65772-E1DF-A9F3-0963-FDC262DBDB45}"/>
              </a:ext>
            </a:extLst>
          </p:cNvPr>
          <p:cNvSpPr txBox="1"/>
          <p:nvPr/>
        </p:nvSpPr>
        <p:spPr>
          <a:xfrm>
            <a:off x="4332735" y="98899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3BB0E3E-AF23-9D4F-7455-A7A3B41FC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669050"/>
              </p:ext>
            </p:extLst>
          </p:nvPr>
        </p:nvGraphicFramePr>
        <p:xfrm>
          <a:off x="2559559" y="1320954"/>
          <a:ext cx="2779757" cy="2727617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397511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65101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88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목표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88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7865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64898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01224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40837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6238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22582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19001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326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04851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683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76053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1753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91.0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2738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6371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1324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693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5342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2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2A6BC7-9E3D-769F-41E7-34A73AE6784C}"/>
              </a:ext>
            </a:extLst>
          </p:cNvPr>
          <p:cNvSpPr txBox="1"/>
          <p:nvPr/>
        </p:nvSpPr>
        <p:spPr>
          <a:xfrm>
            <a:off x="3710632" y="1120899"/>
            <a:ext cx="17194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*Total 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산출 로직 </a:t>
            </a:r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법인별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물동 가중 평균</a:t>
            </a:r>
          </a:p>
        </p:txBody>
      </p:sp>
    </p:spTree>
    <p:extLst>
      <p:ext uri="{BB962C8B-B14F-4D97-AF65-F5344CB8AC3E}">
        <p14:creationId xmlns:p14="http://schemas.microsoft.com/office/powerpoint/2010/main" val="3575827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34" cy="6075564"/>
        </p:xfrm>
        <a:graphic>
          <a:graphicData uri="http://schemas.openxmlformats.org/drawingml/2006/table">
            <a:tbl>
              <a:tblPr/>
              <a:tblGrid>
                <a:gridCol w="855007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82319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79356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88301">
                  <a:extLst>
                    <a:ext uri="{9D8B030D-6E8A-4147-A177-3AD203B41FA5}">
                      <a16:colId xmlns:a16="http://schemas.microsoft.com/office/drawing/2014/main" val="245507083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94712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제조 운영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NFF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셀수율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달성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97.7%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대상라인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EP2 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실적 없음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(’25.12/23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부터 양산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달성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NFF 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산출 로직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*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endParaRPr lang="ko-KR" altLang="en-US" sz="1000" b="0" dirty="0"/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발굴 인자 데이터 연계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대표호기 기준 치명인자 발굴 및 모델 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5715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호기 전개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모델 검증 및 개선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98.4%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달성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61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98.5%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달성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327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Worst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발생 원인 인자 도출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이상감지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전극 주행 중 떨림 관련 치명인자 도출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이상감지를 통한</a:t>
                      </a:r>
                      <a:b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Tab,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사행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불량별 원인 인자 도출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이상감지를 통한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CBD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비틀림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CIT</a:t>
                      </a:r>
                      <a:b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테이프 개선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현황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현상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 분석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프로세스 구축을 통한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Worst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23413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달성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98.2%(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97.9%(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97.7%(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97.2%(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97.2%(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9282FCC-8E0A-86A0-7403-314EBE206269}"/>
              </a:ext>
            </a:extLst>
          </p:cNvPr>
          <p:cNvSpPr txBox="1"/>
          <p:nvPr/>
        </p:nvSpPr>
        <p:spPr>
          <a:xfrm>
            <a:off x="95896" y="174087"/>
            <a:ext cx="2828058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EB71074-8D73-87B6-B212-7838039CD441}"/>
              </a:ext>
            </a:extLst>
          </p:cNvPr>
          <p:cNvGraphicFramePr>
            <a:graphicFrameLocks noGrp="1"/>
          </p:cNvGraphicFramePr>
          <p:nvPr/>
        </p:nvGraphicFramePr>
        <p:xfrm>
          <a:off x="2335083" y="2567460"/>
          <a:ext cx="3652470" cy="11532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054">
                  <a:extLst>
                    <a:ext uri="{9D8B030D-6E8A-4147-A177-3AD203B41FA5}">
                      <a16:colId xmlns:a16="http://schemas.microsoft.com/office/drawing/2014/main" val="120312897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27159767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689088534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99128332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879541565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150445287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570115129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794204350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314716314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406347630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325014861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024673014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1660441626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648192283"/>
                    </a:ext>
                  </a:extLst>
                </a:gridCol>
              </a:tblGrid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951128"/>
                  </a:ext>
                </a:extLst>
              </a:tr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Cell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659236"/>
                  </a:ext>
                </a:extLst>
              </a:tr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876589"/>
                  </a:ext>
                </a:extLst>
              </a:tr>
              <a:tr h="12635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Winder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92471"/>
                  </a:ext>
                </a:extLst>
              </a:tr>
              <a:tr h="12635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75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528477"/>
                  </a:ext>
                </a:extLst>
              </a:tr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890945"/>
                  </a:ext>
                </a:extLst>
              </a:tr>
              <a:tr h="1846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물동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7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Kcell</a:t>
                      </a:r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4,241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3,301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4,295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4,315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4,332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4,187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3,901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4,274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3,765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4,532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4,164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839192"/>
                  </a:ext>
                </a:extLst>
              </a:tr>
              <a:tr h="21056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누적수율</a:t>
                      </a:r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4471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E842A1-4395-F5AD-BF5B-D1C3084AFD06}"/>
              </a:ext>
            </a:extLst>
          </p:cNvPr>
          <p:cNvSpPr txBox="1"/>
          <p:nvPr/>
        </p:nvSpPr>
        <p:spPr>
          <a:xfrm>
            <a:off x="4953000" y="119658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8F824-7B57-95E0-A83F-241443B3628E}"/>
              </a:ext>
            </a:extLst>
          </p:cNvPr>
          <p:cNvSpPr txBox="1"/>
          <p:nvPr/>
        </p:nvSpPr>
        <p:spPr>
          <a:xfrm>
            <a:off x="4332735" y="98899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14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36341" cy="6001561"/>
        </p:xfrm>
        <a:graphic>
          <a:graphicData uri="http://schemas.openxmlformats.org/drawingml/2006/table">
            <a:tbl>
              <a:tblPr/>
              <a:tblGrid>
                <a:gridCol w="88358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5374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3015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9060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523853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제조 운영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 수율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NJ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고질 이슈 개선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Q : M53F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발열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0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’26.3Q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NJ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(#15~28) 112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호기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M53F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발열 불량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발생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(25.3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_ 2.4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발생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M53F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발열 불량 발생 횟수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NJ 6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(#15~28)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권취부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완료기준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26.3Q 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이하 달성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이하 달성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※ 26.6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월까지 개선활동을 완료하고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3Q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 개선 효과 판단함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발열 발생 횟수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(NJ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법인에서 집계함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ko-KR" alt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데이터 연계 및 알고리즘 개발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238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라인 확산 및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EMS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연동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794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발열 발생 횟수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Zero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달성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71542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대표호기 신규 파라미터 데이터 연계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롤러 이상감지 모델 개발 및 적용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신규개소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(Air blower, Suction) Sameness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이상감지 모델 개발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전호기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확대 전개 및 양산 검증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발열 불량 이상감지 양산 검증 완료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9060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9556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26.3Q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동안 발열 발생 횟수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Zero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26.3Q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동안 발열 발생 횟수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이하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(0.33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26.3Q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동안 발열 발생 횟수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이하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(0.67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26.3Q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동안 발열 발생 횟수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이하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26.3Q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동안 발열 발생 횟수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초과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0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달성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0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26.3Q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9556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0.33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이하 달성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1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26.3Q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9556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0.67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이하 달성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26.3Q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9556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1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이하 달성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3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26.3Q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9556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1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초과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26.3Q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29D35EF4-1391-AD9B-176E-91D5891EA972}"/>
              </a:ext>
            </a:extLst>
          </p:cNvPr>
          <p:cNvSpPr/>
          <p:nvPr/>
        </p:nvSpPr>
        <p:spPr>
          <a:xfrm>
            <a:off x="2299845" y="4356252"/>
            <a:ext cx="3516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발열 발생 횟수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Zero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화가 목표이며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Zero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보다 극한 목표는 없기 때문에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Zero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화를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 scale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에서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점으로 반영하고 발열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 발생 시 마다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등급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1scale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씩 감소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10AB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D827-FD23-43E5-EE39-01BB2FBBC605}"/>
              </a:ext>
            </a:extLst>
          </p:cNvPr>
          <p:cNvSpPr txBox="1"/>
          <p:nvPr/>
        </p:nvSpPr>
        <p:spPr>
          <a:xfrm>
            <a:off x="95896" y="174087"/>
            <a:ext cx="2854640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2F37C8-3F29-EDD5-0BEF-E389E3B48B4F}"/>
              </a:ext>
            </a:extLst>
          </p:cNvPr>
          <p:cNvSpPr txBox="1"/>
          <p:nvPr/>
        </p:nvSpPr>
        <p:spPr>
          <a:xfrm>
            <a:off x="4953000" y="119658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C7F92-3EEC-1E4B-8351-B9D81E90DCB1}"/>
              </a:ext>
            </a:extLst>
          </p:cNvPr>
          <p:cNvSpPr txBox="1"/>
          <p:nvPr/>
        </p:nvSpPr>
        <p:spPr>
          <a:xfrm>
            <a:off x="4332735" y="98899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53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99069"/>
          <a:ext cx="9541534" cy="5923183"/>
        </p:xfrm>
        <a:graphic>
          <a:graphicData uri="http://schemas.openxmlformats.org/drawingml/2006/table">
            <a:tbl>
              <a:tblPr/>
              <a:tblGrid>
                <a:gridCol w="61244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853923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190602">
                  <a:extLst>
                    <a:ext uri="{9D8B030D-6E8A-4147-A177-3AD203B41FA5}">
                      <a16:colId xmlns:a16="http://schemas.microsoft.com/office/drawing/2014/main" val="2239839724"/>
                    </a:ext>
                  </a:extLst>
                </a:gridCol>
              </a:tblGrid>
              <a:tr h="1759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5259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치명인자 도출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자동화를 통한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업무효율 향상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Q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분석 업무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생산성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D : ’26.12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모델링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과정 자동화 미적용 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분석 소요시간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70 Hr. 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분석 시 필요인원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8.75MD(Man Day)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주요인자 도출은 설비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이상감지 모델 개발에 필수적인 단계이나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반복적인 수작업이 필요한 과정임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해당 과정의 프로세스 정립과 자동화를 통한 엔지니어에 따른 편차 제거로 업무효율화를 이끌고자 변수 추출 자동화가 필요함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분석 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70Hr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소요되던 시간을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감축을 통해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49Hr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 소요되는 것을 목표로 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(21Hr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2.63MD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감소와 같은 효과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 컨셉 및 요건 정의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프로세스 확정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535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알고리즘 개발 및 수정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업무시간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15%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5612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시스템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/DB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연계 완료 및 개발 검증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업무시간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309954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1. 25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개발된 주요 인자 도출 자동화 알고리즘 고도화 및 검증작업을 진행하고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제조운영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AX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전략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Part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 협업하여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AI Agent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플랫폼에 탑재하고자 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중장기 선행개발 과제를 통해 개발된 정상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구간 최적화 및 변수 추출 알고리즘에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신규 설비 동작구분 알고리즘을 적용하여 고도화 진행할 예정입니다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알고리즘의 모듈화 및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Agent </a:t>
                      </a:r>
                      <a:r>
                        <a:rPr lang="ko-KR" altLang="en-US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탑재로 표준화된 데이터 분석 방법을 제공하고자 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597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17597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업무 시간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36%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120%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(25.2Hr =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3.15MD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업무 시간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33%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(23.1Hr = 2.89MD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업무 시간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(16.8Hr = 2.10MD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업무 시간 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주요인자 선정 자동화를 통한 개발 업무 시간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36%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18462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주요인자 선정 자동화를 통한 개발 업무 시간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33%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17597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주요인자 선정 자동화를 통한 개발 업무 시간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30%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17597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주요인자 선정 자동화를 통한 개발 업무 시간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24%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226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주요인자 선정 자동화를 통한 개발 업무 시간</a:t>
                      </a: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24%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65456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3CFDE66-4B23-D7A1-B845-6EE8300AA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740" y="1321424"/>
            <a:ext cx="3659300" cy="2242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EE9A6B-983C-3492-6A9A-8D2FB148EFFA}"/>
              </a:ext>
            </a:extLst>
          </p:cNvPr>
          <p:cNvSpPr txBox="1"/>
          <p:nvPr/>
        </p:nvSpPr>
        <p:spPr>
          <a:xfrm>
            <a:off x="3650567" y="3564221"/>
            <a:ext cx="2494267" cy="1012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약 </a:t>
            </a:r>
            <a:r>
              <a:rPr kumimoji="0" lang="en-US" altLang="ko-KR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</a:t>
            </a:r>
            <a:r>
              <a: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천개 </a:t>
            </a:r>
            <a:r>
              <a:rPr kumimoji="0" lang="en-US" altLang="ko-KR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Feature, </a:t>
            </a:r>
            <a:r>
              <a: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단일 공정 </a:t>
            </a:r>
            <a:r>
              <a:rPr kumimoji="0" lang="en-US" altLang="ko-KR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3</a:t>
            </a:r>
            <a:r>
              <a: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개월 데이터</a:t>
            </a:r>
            <a:r>
              <a:rPr kumimoji="0" lang="en-US" altLang="ko-KR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(1</a:t>
            </a:r>
            <a:r>
              <a:rPr kumimoji="0" lang="ko-KR" altLang="en-US" sz="731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초주기</a:t>
            </a:r>
            <a:r>
              <a:rPr kumimoji="0" lang="en-US" altLang="ko-KR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 1</a:t>
            </a:r>
            <a:r>
              <a: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회 기준 산출</a:t>
            </a:r>
            <a:endParaRPr kumimoji="0" lang="en-US" altLang="ko-KR" sz="731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CFA3A-EBED-675D-86D4-63D5E2424108}"/>
              </a:ext>
            </a:extLst>
          </p:cNvPr>
          <p:cNvSpPr txBox="1"/>
          <p:nvPr/>
        </p:nvSpPr>
        <p:spPr>
          <a:xfrm>
            <a:off x="4953000" y="119658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BDCA8-2BF6-DD9A-3269-983BED72CA63}"/>
              </a:ext>
            </a:extLst>
          </p:cNvPr>
          <p:cNvSpPr txBox="1"/>
          <p:nvPr/>
        </p:nvSpPr>
        <p:spPr>
          <a:xfrm>
            <a:off x="95895" y="174087"/>
            <a:ext cx="2790845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5333C1-3432-70B8-D3BE-F0A2B4DC43AF}"/>
              </a:ext>
            </a:extLst>
          </p:cNvPr>
          <p:cNvSpPr txBox="1"/>
          <p:nvPr/>
        </p:nvSpPr>
        <p:spPr>
          <a:xfrm>
            <a:off x="4332735" y="98899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83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34" cy="6019809"/>
        </p:xfrm>
        <a:graphic>
          <a:graphicData uri="http://schemas.openxmlformats.org/drawingml/2006/table">
            <a:tbl>
              <a:tblPr/>
              <a:tblGrid>
                <a:gridCol w="550207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609702">
                  <a:extLst>
                    <a:ext uri="{9D8B030D-6E8A-4147-A177-3AD203B41FA5}">
                      <a16:colId xmlns:a16="http://schemas.microsoft.com/office/drawing/2014/main" val="3159860772"/>
                    </a:ext>
                  </a:extLst>
                </a:gridCol>
              </a:tblGrid>
              <a:tr h="1990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25473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위한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검증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환경 구축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설정 근거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FDC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검증 환경 구축을 통한 이상감지 적확도 개선 진행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BM : 60%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80%, 20%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PD :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65%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85%, 20%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Q(50%) :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적확도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D(50%) : 12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대상법인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WA 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사전 예측 검증 환경 요건 정의 및 아키텍처 설계 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165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검증 환경 테스트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 인프라 구축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936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모델링 검증 환경 구축 및 고도화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05658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[1Q]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사전 예측 검증 환경 요건 정의 및 아키텍처 설계 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사전 예측 검증 환경 요건 정의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테스트서버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다빈치 연계 아키텍처 설계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검증 환경 테스트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 인프라 구축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테스트 서버 인프라 구축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모델링 검증 환경 구축 및 고도화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모델 검증 테스트 서버 운영 적용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(9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테스트 서버 고도화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26937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0602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M+1</a:t>
                      </a: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0602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0602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163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7939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M+1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44E37E7-375C-D048-6845-E533E30AB68C}"/>
              </a:ext>
            </a:extLst>
          </p:cNvPr>
          <p:cNvSpPr txBox="1"/>
          <p:nvPr/>
        </p:nvSpPr>
        <p:spPr>
          <a:xfrm>
            <a:off x="95895" y="174087"/>
            <a:ext cx="279616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2561D-47D8-AA56-B359-292ADC2F5424}"/>
              </a:ext>
            </a:extLst>
          </p:cNvPr>
          <p:cNvSpPr txBox="1"/>
          <p:nvPr/>
        </p:nvSpPr>
        <p:spPr>
          <a:xfrm>
            <a:off x="4953000" y="119658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(8/8)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61EFA-DF64-275B-246D-53DA783D7F89}"/>
              </a:ext>
            </a:extLst>
          </p:cNvPr>
          <p:cNvSpPr txBox="1"/>
          <p:nvPr/>
        </p:nvSpPr>
        <p:spPr>
          <a:xfrm>
            <a:off x="4332735" y="98899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562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096362"/>
              </p:ext>
            </p:extLst>
          </p:nvPr>
        </p:nvGraphicFramePr>
        <p:xfrm>
          <a:off x="200025" y="633045"/>
          <a:ext cx="9577387" cy="5917353"/>
        </p:xfrm>
        <a:graphic>
          <a:graphicData uri="http://schemas.openxmlformats.org/drawingml/2006/table">
            <a:tbl>
              <a:tblPr/>
              <a:tblGrid>
                <a:gridCol w="864543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185255041"/>
                    </a:ext>
                  </a:extLst>
                </a:gridCol>
                <a:gridCol w="1022513">
                  <a:extLst>
                    <a:ext uri="{9D8B030D-6E8A-4147-A177-3AD203B41FA5}">
                      <a16:colId xmlns:a16="http://schemas.microsoft.com/office/drawing/2014/main" val="1923265575"/>
                    </a:ext>
                  </a:extLst>
                </a:gridCol>
                <a:gridCol w="1022513">
                  <a:extLst>
                    <a:ext uri="{9D8B030D-6E8A-4147-A177-3AD203B41FA5}">
                      <a16:colId xmlns:a16="http://schemas.microsoft.com/office/drawing/2014/main" val="905851894"/>
                    </a:ext>
                  </a:extLst>
                </a:gridCol>
                <a:gridCol w="1022513">
                  <a:extLst>
                    <a:ext uri="{9D8B030D-6E8A-4147-A177-3AD203B41FA5}">
                      <a16:colId xmlns:a16="http://schemas.microsoft.com/office/drawing/2014/main" val="3300058648"/>
                    </a:ext>
                  </a:extLst>
                </a:gridCol>
                <a:gridCol w="1022513">
                  <a:extLst>
                    <a:ext uri="{9D8B030D-6E8A-4147-A177-3AD203B41FA5}">
                      <a16:colId xmlns:a16="http://schemas.microsoft.com/office/drawing/2014/main" val="3159466843"/>
                    </a:ext>
                  </a:extLst>
                </a:gridCol>
                <a:gridCol w="1022513">
                  <a:extLst>
                    <a:ext uri="{9D8B030D-6E8A-4147-A177-3AD203B41FA5}">
                      <a16:colId xmlns:a16="http://schemas.microsoft.com/office/drawing/2014/main" val="819276790"/>
                    </a:ext>
                  </a:extLst>
                </a:gridCol>
                <a:gridCol w="1224015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20017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1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1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1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2000"/>
                        </a:lnSpc>
                      </a:pP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2000"/>
                        </a:lnSpc>
                      </a:pP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비고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 지표</a:t>
                      </a:r>
                      <a:endParaRPr lang="en-US" sz="11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9136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800" b="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kumimoji="0" lang="ko-KR" altLang="en-US" sz="8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kumimoji="0" lang="ko-KR" altLang="en-US" sz="8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kumimoji="0" lang="ko-KR" altLang="en-US" sz="8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8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en-US" sz="11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686049"/>
                  </a:ext>
                </a:extLst>
              </a:tr>
              <a:tr h="188727"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36.06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 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33.055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30.05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825">
                <a:tc vMerge="1">
                  <a:txBody>
                    <a:bodyPr/>
                    <a:lstStyle/>
                    <a:p>
                      <a:pPr marL="108000" marR="0" lvl="0" indent="-108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4,800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4,400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379521"/>
                  </a:ext>
                </a:extLst>
              </a:tr>
              <a:tr h="5173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제조 운영 </a:t>
                      </a: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AX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BM/PD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개선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 </a:t>
                      </a:r>
                      <a:r>
                        <a:rPr kumimoji="1"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kern="1200" spc="-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BM/PD Loss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(Global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전체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567235">
                <a:tc rowSpan="5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제조 운영 </a:t>
                      </a: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AX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생산수율</a:t>
                      </a: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개선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</a:t>
                      </a: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002411"/>
                  </a:ext>
                </a:extLst>
              </a:tr>
              <a:tr h="7467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13836"/>
                  </a:ext>
                </a:extLst>
              </a:tr>
              <a:tr h="7467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377770"/>
                  </a:ext>
                </a:extLst>
              </a:tr>
              <a:tr h="5967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NFF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목표 달성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대상라인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EP2 2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D : ’26.12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[OC]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98.2% 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97.9%(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 실적 없음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937024"/>
                  </a:ext>
                </a:extLst>
              </a:tr>
              <a:tr h="59300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NJ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고질 이슈 개선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M53F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발열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0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D : ’26 3Q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[NJ]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M53F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발열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0.33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이하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0.67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이하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이하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 초과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발열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Zero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905005"/>
                  </a:ext>
                </a:extLst>
              </a:tr>
              <a:tr h="640049"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실행 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가속화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AI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활용 치명인자 도출 자동화를 통한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업무 효율 향상 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분석 업무 생산성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 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D : ’26.12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시간 개선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36%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33%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073"/>
                  </a:ext>
                </a:extLst>
              </a:tr>
              <a:tr h="61650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7200" marB="72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FDC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사전 예측을 위한 모델링 검증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환경 구축  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 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D : ’26.9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22%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213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6FC5BA-7E40-4398-94C6-553D4E6FC6CA}"/>
              </a:ext>
            </a:extLst>
          </p:cNvPr>
          <p:cNvSpPr txBox="1"/>
          <p:nvPr/>
        </p:nvSpPr>
        <p:spPr>
          <a:xfrm>
            <a:off x="7224092" y="119658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➌ 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BE9371B-64AA-91EE-BCB6-F607690EB624}"/>
              </a:ext>
            </a:extLst>
          </p:cNvPr>
          <p:cNvSpPr/>
          <p:nvPr/>
        </p:nvSpPr>
        <p:spPr>
          <a:xfrm>
            <a:off x="2186449" y="4747962"/>
            <a:ext cx="175352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700" b="0" i="0" u="sng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M53F </a:t>
            </a:r>
            <a:r>
              <a:rPr kumimoji="0" lang="ko-KR" altLang="en-US" sz="700" b="0" i="0" u="sng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발열 </a:t>
            </a:r>
            <a:endParaRPr kumimoji="0" lang="en-US" altLang="ko-KR" sz="700" b="0" i="0" u="sng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발생 횟수 </a:t>
            </a: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Zero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 목표</a:t>
            </a:r>
            <a:endParaRPr kumimoji="0" lang="en-US" altLang="ko-KR" sz="7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Zero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보다 극한 목표는 없기에 </a:t>
            </a: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Zero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</a:t>
            </a: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점으로 반영</a:t>
            </a:r>
            <a:endParaRPr kumimoji="0" lang="en-US" altLang="ko-KR" sz="7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분기별  발생 </a:t>
            </a: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 마다 평가 등급 </a:t>
            </a: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1-Scale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씩</a:t>
            </a:r>
            <a:r>
              <a:rPr kumimoji="0" lang="en-US" altLang="ko-KR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감소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10AB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19E3C-012E-4E5C-2A92-4EE2EC7A2635}"/>
              </a:ext>
            </a:extLst>
          </p:cNvPr>
          <p:cNvSpPr txBox="1"/>
          <p:nvPr/>
        </p:nvSpPr>
        <p:spPr>
          <a:xfrm>
            <a:off x="95895" y="174087"/>
            <a:ext cx="2877717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FDC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017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A3ADA6-01DE-4292-8CB6-A80B3EA94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340868"/>
              </p:ext>
            </p:extLst>
          </p:nvPr>
        </p:nvGraphicFramePr>
        <p:xfrm>
          <a:off x="112932" y="625053"/>
          <a:ext cx="9680135" cy="440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34">
                  <a:extLst>
                    <a:ext uri="{9D8B030D-6E8A-4147-A177-3AD203B41FA5}">
                      <a16:colId xmlns:a16="http://schemas.microsoft.com/office/drawing/2014/main" val="2812083310"/>
                    </a:ext>
                  </a:extLst>
                </a:gridCol>
                <a:gridCol w="1516625">
                  <a:extLst>
                    <a:ext uri="{9D8B030D-6E8A-4147-A177-3AD203B41FA5}">
                      <a16:colId xmlns:a16="http://schemas.microsoft.com/office/drawing/2014/main" val="3081028036"/>
                    </a:ext>
                  </a:extLst>
                </a:gridCol>
                <a:gridCol w="1965888">
                  <a:extLst>
                    <a:ext uri="{9D8B030D-6E8A-4147-A177-3AD203B41FA5}">
                      <a16:colId xmlns:a16="http://schemas.microsoft.com/office/drawing/2014/main" val="286802300"/>
                    </a:ext>
                  </a:extLst>
                </a:gridCol>
                <a:gridCol w="2029388">
                  <a:extLst>
                    <a:ext uri="{9D8B030D-6E8A-4147-A177-3AD203B41FA5}">
                      <a16:colId xmlns:a16="http://schemas.microsoft.com/office/drawing/2014/main" val="1983613499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421180291"/>
                    </a:ext>
                  </a:extLst>
                </a:gridCol>
              </a:tblGrid>
              <a:tr h="181311"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대상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 </a:t>
                      </a: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77804"/>
                  </a:ext>
                </a:extLst>
              </a:tr>
              <a:tr h="181311"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후 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82961"/>
                  </a:ext>
                </a:extLst>
              </a:tr>
              <a:tr h="875297">
                <a:tc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전사 공통</a:t>
                      </a:r>
                      <a:br>
                        <a:rPr kumimoji="1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(CSO </a:t>
                      </a: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요청</a:t>
                      </a:r>
                      <a:r>
                        <a:rPr kumimoji="1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3492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중복 내용 삭제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목표 삭제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효율화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Δ890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년말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인원 기준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1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9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indent="-55563" algn="l" defTabSz="914400" rtl="0" eaLnBrk="1" latinLnBrk="1" hangingPunct="1"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CDO KPI Align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700172"/>
                  </a:ext>
                </a:extLst>
              </a:tr>
              <a:tr h="1412881">
                <a:tc rowSpan="3"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목표 범위</a:t>
                      </a: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변경</a:t>
                      </a:r>
                      <a:endParaRPr kumimoji="1" lang="en-US" altLang="ko-KR" sz="9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AX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 개선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全 라인 셀 수율 달성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(MI 96.4%, MI_L 95.3%, OT 96.0%,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HD 95.0%)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全 라인 종합 수율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indent="-55563" algn="l" defTabSz="914400" rtl="0" eaLnBrk="1" latinLnBrk="1" hangingPunct="1"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CDO KPI Align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94214"/>
                  </a:ext>
                </a:extLst>
              </a:tr>
              <a:tr h="87529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 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법인 확대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WA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WA, NA, NB,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HM, MI, HG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site)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9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목표 달성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97.2%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ESWA ESS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96.2%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자동차 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9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10%)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NA,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 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수행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w.CPO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ESWA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중심의 셀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활동을 근거로 글로벌 생산 법인으로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개선 활동의 확산 성과를 반영하고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특정 법인이 아닌 자동차 생산 운영 전반의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성과를 포함하여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125485"/>
                  </a:ext>
                </a:extLst>
              </a:tr>
              <a:tr h="8752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 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공정 확대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ESWA ESS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ESWA ESS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종합 </a:t>
                      </a:r>
                      <a:r>
                        <a:rPr kumimoji="1" lang="ko-KR" altLang="en-US" sz="9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5%)</a:t>
                      </a:r>
                      <a:b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CPO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부문과 지표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Align (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종합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통해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WA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생산성 상향 평준화 진행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수행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w.CPO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 전극 자동보정 및 전극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통해 전극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개선활동 포함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334748"/>
                  </a:ext>
                </a:extLst>
              </a:tr>
            </a:tbl>
          </a:graphicData>
        </a:graphic>
      </p:graphicFrame>
      <p:sp>
        <p:nvSpPr>
          <p:cNvPr id="12" name="Text Box 3">
            <a:extLst>
              <a:ext uri="{FF2B5EF4-FFF2-40B4-BE49-F238E27FC236}">
                <a16:creationId xmlns:a16="http://schemas.microsoft.com/office/drawing/2014/main" id="{FEFC288F-77CA-406B-9803-9093227EC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6699" y="115888"/>
            <a:ext cx="938325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algn="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KPI </a:t>
            </a:r>
            <a:r>
              <a:rPr kumimoji="1"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수정안</a:t>
            </a:r>
            <a:endParaRPr kumimoji="1" lang="ko-KR" altLang="en-US" sz="1600" dirty="0">
              <a:solidFill>
                <a:prstClr val="black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" name="실행 단추: 앞으로 또는 다음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CAFE8EE-AE13-6A6E-0FAA-DB57EE236E13}"/>
              </a:ext>
            </a:extLst>
          </p:cNvPr>
          <p:cNvSpPr/>
          <p:nvPr/>
        </p:nvSpPr>
        <p:spPr>
          <a:xfrm>
            <a:off x="6131319" y="4164460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8" name="실행 단추: 앞으로 또는 다음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D07F15F-4ACB-3051-0C2C-5F5E6859B31D}"/>
              </a:ext>
            </a:extLst>
          </p:cNvPr>
          <p:cNvSpPr/>
          <p:nvPr/>
        </p:nvSpPr>
        <p:spPr>
          <a:xfrm>
            <a:off x="6131319" y="3286982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11" name="실행 단추: 앞으로 또는 다음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27716D6-DE28-C225-C7D7-EEC51F8F4BEB}"/>
              </a:ext>
            </a:extLst>
          </p:cNvPr>
          <p:cNvSpPr/>
          <p:nvPr/>
        </p:nvSpPr>
        <p:spPr>
          <a:xfrm>
            <a:off x="6131319" y="999321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E86E6-57D7-4FCA-8318-6CA28D5A88FF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실행 단추: 앞으로 또는 다음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D705E3B-8234-72E2-BE12-D217AAD45ACD}"/>
              </a:ext>
            </a:extLst>
          </p:cNvPr>
          <p:cNvSpPr/>
          <p:nvPr/>
        </p:nvSpPr>
        <p:spPr>
          <a:xfrm>
            <a:off x="6131319" y="1876799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37A09-11D8-CFBE-7BF0-3145231F0C08}"/>
              </a:ext>
            </a:extLst>
          </p:cNvPr>
          <p:cNvSpPr txBox="1"/>
          <p:nvPr/>
        </p:nvSpPr>
        <p:spPr>
          <a:xfrm>
            <a:off x="95895" y="174087"/>
            <a:ext cx="281404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FDC 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482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251C-768B-B3D5-3221-E648874F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47C6C3-8C1C-6F96-826A-DB1753170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75812"/>
              </p:ext>
            </p:extLst>
          </p:nvPr>
        </p:nvGraphicFramePr>
        <p:xfrm>
          <a:off x="917420" y="620688"/>
          <a:ext cx="8788555" cy="6059750"/>
        </p:xfrm>
        <a:graphic>
          <a:graphicData uri="http://schemas.openxmlformats.org/drawingml/2006/table">
            <a:tbl>
              <a:tblPr/>
              <a:tblGrid>
                <a:gridCol w="78453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4630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66027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488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3741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05902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899459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363461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48669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2901224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76031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674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59016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BM/PD 20%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59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59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064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설비별 주요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파악 및 선정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설비 동작 구분을 통한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BMPD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현상 세부 분석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[NFF]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이상 감지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 개발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이상감지  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동작 별 데이터 패턴 분석을 통해 이상인자 도출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[NFF]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알람 조치 프로세스 구축 및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EMS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수행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FDC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고도화 기반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및 유지 관리 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도출 결과 적용 및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BMPD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 유지 관리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[NFF] FDC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이상감지 알고리즘 양산 검증 및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Coverage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확대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969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696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284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844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329818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24%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22%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E877E9-D80C-C476-8FF2-3DB5E1897E94}"/>
              </a:ext>
            </a:extLst>
          </p:cNvPr>
          <p:cNvSpPr/>
          <p:nvPr/>
        </p:nvSpPr>
        <p:spPr>
          <a:xfrm>
            <a:off x="200025" y="620687"/>
            <a:ext cx="576263" cy="604839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AF5292-45EC-0CDF-2A20-E472976A6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97243"/>
              </p:ext>
            </p:extLst>
          </p:nvPr>
        </p:nvGraphicFramePr>
        <p:xfrm>
          <a:off x="2985246" y="1206333"/>
          <a:ext cx="2985247" cy="854538"/>
        </p:xfrm>
        <a:graphic>
          <a:graphicData uri="http://schemas.openxmlformats.org/drawingml/2006/table">
            <a:tbl>
              <a:tblPr/>
              <a:tblGrid>
                <a:gridCol w="285107">
                  <a:extLst>
                    <a:ext uri="{9D8B030D-6E8A-4147-A177-3AD203B41FA5}">
                      <a16:colId xmlns:a16="http://schemas.microsoft.com/office/drawing/2014/main" val="448372699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531961852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876058939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1144578316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2758194912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1690716757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938954016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2741989067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3800816768"/>
                    </a:ext>
                  </a:extLst>
                </a:gridCol>
                <a:gridCol w="268337">
                  <a:extLst>
                    <a:ext uri="{9D8B030D-6E8A-4147-A177-3AD203B41FA5}">
                      <a16:colId xmlns:a16="http://schemas.microsoft.com/office/drawing/2014/main" val="672968338"/>
                    </a:ext>
                  </a:extLst>
                </a:gridCol>
                <a:gridCol w="285107">
                  <a:extLst>
                    <a:ext uri="{9D8B030D-6E8A-4147-A177-3AD203B41FA5}">
                      <a16:colId xmlns:a16="http://schemas.microsoft.com/office/drawing/2014/main" val="1593203743"/>
                    </a:ext>
                  </a:extLst>
                </a:gridCol>
              </a:tblGrid>
              <a:tr h="28484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90825"/>
                  </a:ext>
                </a:extLst>
              </a:tr>
              <a:tr h="2848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842810"/>
                  </a:ext>
                </a:extLst>
              </a:tr>
              <a:tr h="2848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43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1F067C-53BE-3CF0-D563-89544D0CBB29}"/>
              </a:ext>
            </a:extLst>
          </p:cNvPr>
          <p:cNvSpPr txBox="1"/>
          <p:nvPr/>
        </p:nvSpPr>
        <p:spPr>
          <a:xfrm>
            <a:off x="2967635" y="2099042"/>
            <a:ext cx="1985366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공정 개선율의 산술평균으로 목표 산정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801E963-55D7-8B83-EDEA-1AFE6E7C7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1" name="실행 단추: 홈으로 이동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58D03BA-CDA1-D681-B5C6-6514E17F61E1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5A5FC-50B1-B39E-8E46-226A1B6D8B1B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4 -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9FB7A-99ED-2A97-DF29-926B6B6F36D1}"/>
              </a:ext>
            </a:extLst>
          </p:cNvPr>
          <p:cNvSpPr txBox="1"/>
          <p:nvPr/>
        </p:nvSpPr>
        <p:spPr>
          <a:xfrm>
            <a:off x="95895" y="174087"/>
            <a:ext cx="281404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FDC DX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679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15CE-7540-DA38-B3F3-D9758F9A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2E09F84-77B8-65C0-BC79-84725809C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22245"/>
              </p:ext>
            </p:extLst>
          </p:nvPr>
        </p:nvGraphicFramePr>
        <p:xfrm>
          <a:off x="917420" y="620691"/>
          <a:ext cx="8788554" cy="6048831"/>
        </p:xfrm>
        <a:graphic>
          <a:graphicData uri="http://schemas.openxmlformats.org/drawingml/2006/table">
            <a:tbl>
              <a:tblPr/>
              <a:tblGrid>
                <a:gridCol w="78453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4630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66027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488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3741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05902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899459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363461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48669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2910667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66587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0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30356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제조운영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</a:t>
                      </a:r>
                      <a:r>
                        <a:rPr lang="en-US" altLang="ko-KR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 94.1%, OT 91.4% (’25</a:t>
                      </a:r>
                      <a:r>
                        <a:rPr lang="ko-KR" altLang="en-US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누적</a:t>
                      </a:r>
                      <a:r>
                        <a:rPr lang="en-US" altLang="ko-KR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종합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목표 달성</a:t>
                      </a:r>
                      <a:b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 MI_L, OT, HD 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기준</a:t>
                      </a:r>
                      <a:b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2000" b="0" i="0" u="none" strike="noStrike" kern="1200" cap="none" spc="-50" normalizeH="0" baseline="0" noProof="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303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303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82697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정상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동작 패턴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비교를 통한 이상 예측 감지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연관인자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 감지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연동 및 정합성 확보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기개발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적용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FTA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통한 원인인자 도출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이송부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전/후, 상/하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속도비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정합화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모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노셀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이송체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및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적재부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셀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틀어짐 이상 감지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호기간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 분석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NG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현황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Workflow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및 적용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ADE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기반으로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다변량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알고리즘 고도화 및 유지관리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 공정 불량 연계 추가 개선인자 발굴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개선방안 추가 도출 및 적용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47469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4746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29645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83416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870987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8B5109-F183-83BB-90E0-A5403B02F89B}"/>
              </a:ext>
            </a:extLst>
          </p:cNvPr>
          <p:cNvSpPr/>
          <p:nvPr/>
        </p:nvSpPr>
        <p:spPr>
          <a:xfrm>
            <a:off x="200025" y="620687"/>
            <a:ext cx="576263" cy="604840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 후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E4B2BFDD-1C93-C60C-0EC0-B320B6B9F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" name="실행 단추: 홈으로 이동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93A2613-5CD8-AD44-9F30-94C963C076E9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DBDC5E5-6380-3C77-D5D5-2202E5182A92}"/>
              </a:ext>
            </a:extLst>
          </p:cNvPr>
          <p:cNvGraphicFramePr>
            <a:graphicFrameLocks noGrp="1"/>
          </p:cNvGraphicFramePr>
          <p:nvPr/>
        </p:nvGraphicFramePr>
        <p:xfrm>
          <a:off x="3056327" y="2115919"/>
          <a:ext cx="2818692" cy="1210692"/>
        </p:xfrm>
        <a:graphic>
          <a:graphicData uri="http://schemas.openxmlformats.org/drawingml/2006/table">
            <a:tbl>
              <a:tblPr/>
              <a:tblGrid>
                <a:gridCol w="76533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59119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63840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033748-34A1-E139-1E89-BBAA3E030A8E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- 2 / 4 -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5D16D-607B-5545-3738-8EC454C81C86}"/>
              </a:ext>
            </a:extLst>
          </p:cNvPr>
          <p:cNvSpPr txBox="1"/>
          <p:nvPr/>
        </p:nvSpPr>
        <p:spPr>
          <a:xfrm>
            <a:off x="95895" y="174087"/>
            <a:ext cx="281404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FDC DX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6532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E3B7-2800-07D3-535F-99C8994F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318B3D2-40F8-C8D4-6C07-475BFBA24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441699"/>
              </p:ext>
            </p:extLst>
          </p:nvPr>
        </p:nvGraphicFramePr>
        <p:xfrm>
          <a:off x="917420" y="620691"/>
          <a:ext cx="8788180" cy="6059928"/>
        </p:xfrm>
        <a:graphic>
          <a:graphicData uri="http://schemas.openxmlformats.org/drawingml/2006/table">
            <a:tbl>
              <a:tblPr/>
              <a:tblGrid>
                <a:gridCol w="70465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66172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205290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130663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61600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11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55111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제조운영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NA,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551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97.7%)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551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97.9%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8466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정상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동작 패턴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비교를 통한 이상 예측 감지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연관인자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 감지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속도비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정합화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개소 및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수율기반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적재부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셀 틀어짐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오버행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석션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컨베이어 등 진공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이송체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ADE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기반으로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다변량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알고리즘 고도화 및 유지관리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584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584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2952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844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895350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880F5B-3046-0409-9B4C-58840F543209}"/>
              </a:ext>
            </a:extLst>
          </p:cNvPr>
          <p:cNvSpPr/>
          <p:nvPr/>
        </p:nvSpPr>
        <p:spPr>
          <a:xfrm>
            <a:off x="200025" y="620687"/>
            <a:ext cx="576263" cy="604840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86D05B1-495C-28A1-00B0-2BCAE3304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848811"/>
              </p:ext>
            </p:extLst>
          </p:nvPr>
        </p:nvGraphicFramePr>
        <p:xfrm>
          <a:off x="2906345" y="1578129"/>
          <a:ext cx="2779757" cy="2727617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44543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88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목표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88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7865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64898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01224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40837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6238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22582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19001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326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04851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683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76053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1753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91.0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2738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6371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1324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693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5342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2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0E459F-0A1E-9C3D-488E-81B989CA01D1}"/>
              </a:ext>
            </a:extLst>
          </p:cNvPr>
          <p:cNvSpPr txBox="1"/>
          <p:nvPr/>
        </p:nvSpPr>
        <p:spPr>
          <a:xfrm>
            <a:off x="4057418" y="1378074"/>
            <a:ext cx="17194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*Total 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산출 로직 </a:t>
            </a:r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법인별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물동 가중 평균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2CEA3693-ACA8-EF05-2D67-BAAD6FD9E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3" name="실행 단추: 홈으로 이동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76FC85D-1EDA-B1A0-A2F0-1945A59BFF04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818057-A7D9-C28A-8744-451B1BB2666C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- 3 / 4 -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0E6C7-50F6-EC39-31AE-9779E916A272}"/>
              </a:ext>
            </a:extLst>
          </p:cNvPr>
          <p:cNvSpPr txBox="1"/>
          <p:nvPr/>
        </p:nvSpPr>
        <p:spPr>
          <a:xfrm>
            <a:off x="95895" y="174087"/>
            <a:ext cx="281404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FDC DX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527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53EA-7DC5-E769-D66A-19A78AD5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AAD7488-39F7-6543-4E83-B3108730C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57077"/>
              </p:ext>
            </p:extLst>
          </p:nvPr>
        </p:nvGraphicFramePr>
        <p:xfrm>
          <a:off x="917420" y="620690"/>
          <a:ext cx="8788555" cy="6057953"/>
        </p:xfrm>
        <a:graphic>
          <a:graphicData uri="http://schemas.openxmlformats.org/drawingml/2006/table">
            <a:tbl>
              <a:tblPr/>
              <a:tblGrid>
                <a:gridCol w="70465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66172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205290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130663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654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80165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제조운영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kumimoji="0" lang="ko-KR" altLang="en-US" sz="1000" b="1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WA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92.7%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801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94.1%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93.5%)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801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95.3%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94.2%)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75536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정상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&amp;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동작 패턴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비교를 통한 이상 예측 감지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연관인자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 사전 이상 감지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연동 및 정합성 확보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기개발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적용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FTA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통한 원인인자 도출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속도비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정합화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개소 및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주행부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수율기반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적재부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셀 틀어짐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오버행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석션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컨베이어 등 진공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이송체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이상감지 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호기간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 분석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NG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현황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Workflow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및 적용 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ADE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기반으로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다변량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알고리즘 고도화 및 유지관리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 공정 불량 연계 추가 개선인자 발굴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개선방안 추가 도출 및 적용 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58463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584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2952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844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900000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678A5B-11C4-258C-A693-73310D585725}"/>
              </a:ext>
            </a:extLst>
          </p:cNvPr>
          <p:cNvSpPr/>
          <p:nvPr/>
        </p:nvSpPr>
        <p:spPr>
          <a:xfrm>
            <a:off x="200025" y="620687"/>
            <a:ext cx="576263" cy="604840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42004BC-74A9-F05B-0BFD-7652B1091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348264"/>
              </p:ext>
            </p:extLst>
          </p:nvPr>
        </p:nvGraphicFramePr>
        <p:xfrm>
          <a:off x="2888415" y="1637364"/>
          <a:ext cx="2779757" cy="652595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44543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34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34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ESWA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72.5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74.8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</a:tbl>
          </a:graphicData>
        </a:graphic>
      </p:graphicFrame>
      <p:sp>
        <p:nvSpPr>
          <p:cNvPr id="6" name="Text Box 3">
            <a:extLst>
              <a:ext uri="{FF2B5EF4-FFF2-40B4-BE49-F238E27FC236}">
                <a16:creationId xmlns:a16="http://schemas.microsoft.com/office/drawing/2014/main" id="{B8C456EF-0700-CDB0-5B8D-14F449E89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8" name="실행 단추: 홈으로 이동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237DC53-68A3-8421-20CC-0C1E6BE3599C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0C7D2-C019-7B66-A851-6DD56A2EDF16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- 4 / 4 -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F4B00-2C25-CF76-00C0-F5688A442941}"/>
              </a:ext>
            </a:extLst>
          </p:cNvPr>
          <p:cNvSpPr txBox="1"/>
          <p:nvPr/>
        </p:nvSpPr>
        <p:spPr>
          <a:xfrm>
            <a:off x="95895" y="174087"/>
            <a:ext cx="2814049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FDC DX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민경춘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79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13882</TotalTime>
  <Words>7844</Words>
  <Application>Microsoft Office PowerPoint</Application>
  <PresentationFormat>A4 용지(210x297mm)</PresentationFormat>
  <Paragraphs>1695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16</vt:i4>
      </vt:variant>
    </vt:vector>
  </HeadingPairs>
  <TitlesOfParts>
    <vt:vector size="28" baseType="lpstr">
      <vt:lpstr>LG스마트체 Regular</vt:lpstr>
      <vt:lpstr>굴림</vt:lpstr>
      <vt:lpstr>맑은 고딕</vt:lpstr>
      <vt:lpstr>Aptos Narrow</vt:lpstr>
      <vt:lpstr>Arial</vt:lpstr>
      <vt:lpstr>Arial Narrow</vt:lpstr>
      <vt:lpstr>Calibri</vt:lpstr>
      <vt:lpstr>Calibri Light</vt:lpstr>
      <vt:lpstr>Wingdings</vt:lpstr>
      <vt:lpstr>Office 테마</vt:lpstr>
      <vt:lpstr>19_기본 디자인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김대홍(DaehongKim)[daehong_kim]/책임/자동차.사업전략.사업전략팀</dc:creator>
  <cp:lastModifiedBy>이재후(JAEHU LEE)[jaehu]/사원/제조DX.기획팀</cp:lastModifiedBy>
  <cp:revision>758</cp:revision>
  <cp:lastPrinted>2025-03-26T08:19:46Z</cp:lastPrinted>
  <dcterms:created xsi:type="dcterms:W3CDTF">2025-01-20T23:43:33Z</dcterms:created>
  <dcterms:modified xsi:type="dcterms:W3CDTF">2026-08-03T04:38:03Z</dcterms:modified>
</cp:coreProperties>
</file>