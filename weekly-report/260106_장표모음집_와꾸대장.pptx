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1"/>
    <p:sldMasterId id="2147483723" r:id="rId2"/>
    <p:sldMasterId id="2147483736" r:id="rId3"/>
    <p:sldMasterId id="2147483762" r:id="rId4"/>
    <p:sldMasterId id="2147483776" r:id="rId5"/>
    <p:sldMasterId id="2147483832" r:id="rId6"/>
    <p:sldMasterId id="2147483855" r:id="rId7"/>
    <p:sldMasterId id="2147483912" r:id="rId8"/>
  </p:sldMasterIdLst>
  <p:notesMasterIdLst>
    <p:notesMasterId r:id="rId19"/>
  </p:notesMasterIdLst>
  <p:sldIdLst>
    <p:sldId id="275" r:id="rId9"/>
    <p:sldId id="297" r:id="rId10"/>
    <p:sldId id="282" r:id="rId11"/>
    <p:sldId id="287" r:id="rId12"/>
    <p:sldId id="313" r:id="rId13"/>
    <p:sldId id="259" r:id="rId14"/>
    <p:sldId id="2147481774" r:id="rId15"/>
    <p:sldId id="2147481945" r:id="rId16"/>
    <p:sldId id="332" r:id="rId17"/>
    <p:sldId id="2147481946" r:id="rId1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2" autoAdjust="0"/>
    <p:restoredTop sz="94660"/>
  </p:normalViewPr>
  <p:slideViewPr>
    <p:cSldViewPr snapToGrid="0">
      <p:cViewPr varScale="1">
        <p:scale>
          <a:sx n="98" d="100"/>
          <a:sy n="98" d="100"/>
        </p:scale>
        <p:origin x="1236" y="96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kihunkim\Desktop\&#48372;&#44256;&#51088;&#47308;\(18&#45380;09&#50900;)%20&#52509;&#47141;Task\20&#48516;&#47732;\18.1H%20PLA&#49892;&#51201;_Raw_&#44608;&#44592;&#54984;&#49440;&#51076;_&#49688;&#51221;_2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7383230797323543E-2"/>
          <c:y val="1.9556653310721029E-2"/>
          <c:w val="0.89751716457103115"/>
          <c:h val="0.96088669337855792"/>
        </c:manualLayout>
      </c:layout>
      <c:lineChart>
        <c:grouping val="standard"/>
        <c:varyColors val="0"/>
        <c:ser>
          <c:idx val="0"/>
          <c:order val="0"/>
          <c:tx>
            <c:strRef>
              <c:f>'Whale Curve'!$K$4</c:f>
              <c:strCache>
                <c:ptCount val="1"/>
                <c:pt idx="0">
                  <c:v>전체이익</c:v>
                </c:pt>
              </c:strCache>
            </c:strRef>
          </c:tx>
          <c:spPr>
            <a:ln w="19050">
              <a:solidFill>
                <a:schemeClr val="tx1"/>
              </a:solidFill>
            </a:ln>
          </c:spPr>
          <c:marker>
            <c:symbol val="none"/>
          </c:marker>
          <c:dPt>
            <c:idx val="1048"/>
            <c:marker>
              <c:symbol val="circle"/>
              <c:size val="3"/>
              <c:spPr>
                <a:solidFill>
                  <a:sysClr val="window" lastClr="FFFFFF"/>
                </a:solidFill>
                <a:ln w="12700">
                  <a:solidFill>
                    <a:sysClr val="windowText" lastClr="000000"/>
                  </a:solidFill>
                </a:ln>
              </c:spPr>
            </c:marker>
            <c:bubble3D val="0"/>
            <c:spPr>
              <a:ln w="19050">
                <a:solidFill>
                  <a:sysClr val="windowText" lastClr="000000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CA4-4B42-A355-F9757BCA24A3}"/>
              </c:ext>
            </c:extLst>
          </c:dPt>
          <c:val>
            <c:numRef>
              <c:f>'Whale Curve'!$L$4:$ANT$4</c:f>
              <c:numCache>
                <c:formatCode>#,##0_ </c:formatCode>
                <c:ptCount val="1049"/>
                <c:pt idx="0">
                  <c:v>22.782247640715141</c:v>
                </c:pt>
                <c:pt idx="1">
                  <c:v>39.102884389407308</c:v>
                </c:pt>
                <c:pt idx="2">
                  <c:v>52.124875024402243</c:v>
                </c:pt>
                <c:pt idx="3">
                  <c:v>62.693748725016633</c:v>
                </c:pt>
                <c:pt idx="4">
                  <c:v>70.703640475578752</c:v>
                </c:pt>
                <c:pt idx="5">
                  <c:v>78.514993766824077</c:v>
                </c:pt>
                <c:pt idx="6">
                  <c:v>86.119141545486201</c:v>
                </c:pt>
                <c:pt idx="7">
                  <c:v>93.059598100938715</c:v>
                </c:pt>
                <c:pt idx="8">
                  <c:v>99.936549289166067</c:v>
                </c:pt>
                <c:pt idx="9">
                  <c:v>106.62947093843512</c:v>
                </c:pt>
                <c:pt idx="10">
                  <c:v>112.93868565792002</c:v>
                </c:pt>
                <c:pt idx="11">
                  <c:v>119.23446695508859</c:v>
                </c:pt>
                <c:pt idx="12">
                  <c:v>125.10263360585346</c:v>
                </c:pt>
                <c:pt idx="13">
                  <c:v>130.87310498942591</c:v>
                </c:pt>
                <c:pt idx="14">
                  <c:v>136.57317402122516</c:v>
                </c:pt>
                <c:pt idx="15">
                  <c:v>142.15093069696431</c:v>
                </c:pt>
                <c:pt idx="16">
                  <c:v>147.54266153410887</c:v>
                </c:pt>
                <c:pt idx="17">
                  <c:v>152.84183249709881</c:v>
                </c:pt>
                <c:pt idx="18">
                  <c:v>158.06623602438802</c:v>
                </c:pt>
                <c:pt idx="19">
                  <c:v>163.1625794272511</c:v>
                </c:pt>
                <c:pt idx="20">
                  <c:v>168.15424187693014</c:v>
                </c:pt>
                <c:pt idx="21">
                  <c:v>172.70335716545128</c:v>
                </c:pt>
                <c:pt idx="22">
                  <c:v>177.09615549314256</c:v>
                </c:pt>
                <c:pt idx="23">
                  <c:v>181.22879496760436</c:v>
                </c:pt>
                <c:pt idx="24">
                  <c:v>185.35272253753922</c:v>
                </c:pt>
                <c:pt idx="25">
                  <c:v>189.36961795262829</c:v>
                </c:pt>
                <c:pt idx="26">
                  <c:v>193.3605901275256</c:v>
                </c:pt>
                <c:pt idx="27">
                  <c:v>197.11254830480343</c:v>
                </c:pt>
                <c:pt idx="28">
                  <c:v>200.81854455694446</c:v>
                </c:pt>
                <c:pt idx="29">
                  <c:v>204.4872520642223</c:v>
                </c:pt>
                <c:pt idx="30">
                  <c:v>208.10631748180171</c:v>
                </c:pt>
                <c:pt idx="31">
                  <c:v>211.67287319021074</c:v>
                </c:pt>
                <c:pt idx="32">
                  <c:v>215.14440918645184</c:v>
                </c:pt>
                <c:pt idx="33">
                  <c:v>218.55651527225098</c:v>
                </c:pt>
                <c:pt idx="34">
                  <c:v>221.80489962095388</c:v>
                </c:pt>
                <c:pt idx="35">
                  <c:v>224.99881601393426</c:v>
                </c:pt>
                <c:pt idx="36">
                  <c:v>228.00543543407684</c:v>
                </c:pt>
                <c:pt idx="37">
                  <c:v>230.96977390461583</c:v>
                </c:pt>
                <c:pt idx="38">
                  <c:v>233.92021753625875</c:v>
                </c:pt>
                <c:pt idx="39">
                  <c:v>236.83639841189995</c:v>
                </c:pt>
                <c:pt idx="40">
                  <c:v>239.74174155478352</c:v>
                </c:pt>
                <c:pt idx="41">
                  <c:v>242.63124850700484</c:v>
                </c:pt>
                <c:pt idx="42">
                  <c:v>245.41614397045564</c:v>
                </c:pt>
                <c:pt idx="43">
                  <c:v>248.15229693100628</c:v>
                </c:pt>
                <c:pt idx="44">
                  <c:v>250.86585004581866</c:v>
                </c:pt>
                <c:pt idx="45">
                  <c:v>253.5690831772601</c:v>
                </c:pt>
                <c:pt idx="46">
                  <c:v>256.19444699754331</c:v>
                </c:pt>
                <c:pt idx="47">
                  <c:v>258.76332871994902</c:v>
                </c:pt>
                <c:pt idx="48">
                  <c:v>261.27411396409269</c:v>
                </c:pt>
                <c:pt idx="49">
                  <c:v>263.70055687810219</c:v>
                </c:pt>
                <c:pt idx="50">
                  <c:v>266.12143829215336</c:v>
                </c:pt>
                <c:pt idx="51">
                  <c:v>268.47457580164991</c:v>
                </c:pt>
                <c:pt idx="52">
                  <c:v>270.8197936695052</c:v>
                </c:pt>
                <c:pt idx="53">
                  <c:v>273.15735578681642</c:v>
                </c:pt>
                <c:pt idx="54">
                  <c:v>275.45190109834152</c:v>
                </c:pt>
                <c:pt idx="55">
                  <c:v>277.66749573044467</c:v>
                </c:pt>
                <c:pt idx="56">
                  <c:v>279.77025507843439</c:v>
                </c:pt>
                <c:pt idx="57">
                  <c:v>281.79686319778392</c:v>
                </c:pt>
                <c:pt idx="58">
                  <c:v>283.77104631796476</c:v>
                </c:pt>
                <c:pt idx="59">
                  <c:v>285.73798113581125</c:v>
                </c:pt>
                <c:pt idx="60">
                  <c:v>287.69390191753456</c:v>
                </c:pt>
                <c:pt idx="61">
                  <c:v>289.64732448720588</c:v>
                </c:pt>
                <c:pt idx="62">
                  <c:v>291.54409241276511</c:v>
                </c:pt>
                <c:pt idx="63">
                  <c:v>293.32845367852968</c:v>
                </c:pt>
                <c:pt idx="64">
                  <c:v>295.10168062951624</c:v>
                </c:pt>
                <c:pt idx="65">
                  <c:v>296.86330299464072</c:v>
                </c:pt>
                <c:pt idx="66">
                  <c:v>298.61476798658532</c:v>
                </c:pt>
                <c:pt idx="67">
                  <c:v>300.31558208179547</c:v>
                </c:pt>
                <c:pt idx="68">
                  <c:v>301.99582756962764</c:v>
                </c:pt>
                <c:pt idx="69">
                  <c:v>303.65604509815358</c:v>
                </c:pt>
                <c:pt idx="70">
                  <c:v>305.26919458913721</c:v>
                </c:pt>
                <c:pt idx="71">
                  <c:v>306.86544869556315</c:v>
                </c:pt>
                <c:pt idx="72">
                  <c:v>308.41195568524211</c:v>
                </c:pt>
                <c:pt idx="73">
                  <c:v>309.95697585536772</c:v>
                </c:pt>
                <c:pt idx="74">
                  <c:v>311.48682120963309</c:v>
                </c:pt>
                <c:pt idx="75">
                  <c:v>313.01154595423452</c:v>
                </c:pt>
                <c:pt idx="76">
                  <c:v>314.53106285155854</c:v>
                </c:pt>
                <c:pt idx="77">
                  <c:v>316.00063170836512</c:v>
                </c:pt>
                <c:pt idx="78">
                  <c:v>317.46859377762638</c:v>
                </c:pt>
                <c:pt idx="79">
                  <c:v>318.89822385526145</c:v>
                </c:pt>
                <c:pt idx="80">
                  <c:v>320.31483303890172</c:v>
                </c:pt>
                <c:pt idx="81">
                  <c:v>321.73110350711573</c:v>
                </c:pt>
                <c:pt idx="82">
                  <c:v>323.14490199350968</c:v>
                </c:pt>
                <c:pt idx="83">
                  <c:v>324.55559711100631</c:v>
                </c:pt>
                <c:pt idx="84">
                  <c:v>325.96154788996927</c:v>
                </c:pt>
                <c:pt idx="85">
                  <c:v>327.36356277790685</c:v>
                </c:pt>
                <c:pt idx="86">
                  <c:v>328.74765723239602</c:v>
                </c:pt>
                <c:pt idx="87">
                  <c:v>330.12125293668095</c:v>
                </c:pt>
                <c:pt idx="88">
                  <c:v>331.47404700019308</c:v>
                </c:pt>
                <c:pt idx="89">
                  <c:v>332.82670083979502</c:v>
                </c:pt>
                <c:pt idx="90">
                  <c:v>334.16544971068521</c:v>
                </c:pt>
                <c:pt idx="91">
                  <c:v>335.4808907094789</c:v>
                </c:pt>
                <c:pt idx="92">
                  <c:v>336.7818109117573</c:v>
                </c:pt>
                <c:pt idx="93">
                  <c:v>338.05509943954206</c:v>
                </c:pt>
                <c:pt idx="94">
                  <c:v>339.32531683416096</c:v>
                </c:pt>
                <c:pt idx="95">
                  <c:v>340.54762911326725</c:v>
                </c:pt>
                <c:pt idx="96">
                  <c:v>341.76199226911314</c:v>
                </c:pt>
                <c:pt idx="97">
                  <c:v>342.9763298032874</c:v>
                </c:pt>
                <c:pt idx="98">
                  <c:v>344.1898868818339</c:v>
                </c:pt>
                <c:pt idx="99">
                  <c:v>345.37312301058057</c:v>
                </c:pt>
                <c:pt idx="100">
                  <c:v>346.55631926228483</c:v>
                </c:pt>
                <c:pt idx="101">
                  <c:v>347.7353264878974</c:v>
                </c:pt>
                <c:pt idx="102">
                  <c:v>348.90035370145551</c:v>
                </c:pt>
                <c:pt idx="103">
                  <c:v>350.05976937042448</c:v>
                </c:pt>
                <c:pt idx="104">
                  <c:v>351.21832064602893</c:v>
                </c:pt>
                <c:pt idx="105">
                  <c:v>352.37246735349237</c:v>
                </c:pt>
                <c:pt idx="106">
                  <c:v>353.52646658646859</c:v>
                </c:pt>
                <c:pt idx="107">
                  <c:v>354.65454630630171</c:v>
                </c:pt>
                <c:pt idx="108">
                  <c:v>355.7780355491509</c:v>
                </c:pt>
                <c:pt idx="109">
                  <c:v>356.87923686233916</c:v>
                </c:pt>
                <c:pt idx="110">
                  <c:v>357.958853377862</c:v>
                </c:pt>
                <c:pt idx="111">
                  <c:v>359.01600556825127</c:v>
                </c:pt>
                <c:pt idx="112">
                  <c:v>360.06472898012407</c:v>
                </c:pt>
                <c:pt idx="113">
                  <c:v>361.10515817162138</c:v>
                </c:pt>
                <c:pt idx="114">
                  <c:v>362.12490945324504</c:v>
                </c:pt>
                <c:pt idx="115">
                  <c:v>363.13447275644751</c:v>
                </c:pt>
                <c:pt idx="116">
                  <c:v>364.12583306275849</c:v>
                </c:pt>
                <c:pt idx="117">
                  <c:v>365.11302756916558</c:v>
                </c:pt>
                <c:pt idx="118">
                  <c:v>366.09557826636819</c:v>
                </c:pt>
                <c:pt idx="119">
                  <c:v>367.06604927161771</c:v>
                </c:pt>
                <c:pt idx="120">
                  <c:v>368.00831672823409</c:v>
                </c:pt>
                <c:pt idx="121">
                  <c:v>368.94967823095106</c:v>
                </c:pt>
                <c:pt idx="122">
                  <c:v>369.88300703648997</c:v>
                </c:pt>
                <c:pt idx="123">
                  <c:v>370.80253217877282</c:v>
                </c:pt>
                <c:pt idx="124">
                  <c:v>371.71358600526952</c:v>
                </c:pt>
                <c:pt idx="125">
                  <c:v>372.62118624516387</c:v>
                </c:pt>
                <c:pt idx="126">
                  <c:v>373.51951253664225</c:v>
                </c:pt>
                <c:pt idx="127">
                  <c:v>374.41607918257859</c:v>
                </c:pt>
                <c:pt idx="128">
                  <c:v>375.31171359573608</c:v>
                </c:pt>
                <c:pt idx="129">
                  <c:v>376.20299714905968</c:v>
                </c:pt>
                <c:pt idx="130">
                  <c:v>377.08982255854812</c:v>
                </c:pt>
                <c:pt idx="131">
                  <c:v>377.96944029033386</c:v>
                </c:pt>
                <c:pt idx="132">
                  <c:v>378.8295862770301</c:v>
                </c:pt>
                <c:pt idx="133">
                  <c:v>379.6770214976151</c:v>
                </c:pt>
                <c:pt idx="134">
                  <c:v>380.52338637747408</c:v>
                </c:pt>
                <c:pt idx="135">
                  <c:v>381.36874365576057</c:v>
                </c:pt>
                <c:pt idx="136">
                  <c:v>382.1995517423403</c:v>
                </c:pt>
                <c:pt idx="137">
                  <c:v>382.99805697180807</c:v>
                </c:pt>
                <c:pt idx="138">
                  <c:v>383.79651938496096</c:v>
                </c:pt>
                <c:pt idx="139">
                  <c:v>384.57953295042768</c:v>
                </c:pt>
                <c:pt idx="140">
                  <c:v>385.33161200500763</c:v>
                </c:pt>
                <c:pt idx="141">
                  <c:v>386.06245117063418</c:v>
                </c:pt>
                <c:pt idx="142">
                  <c:v>386.75928654546271</c:v>
                </c:pt>
                <c:pt idx="143">
                  <c:v>387.45366898133688</c:v>
                </c:pt>
                <c:pt idx="144">
                  <c:v>388.13925601704955</c:v>
                </c:pt>
                <c:pt idx="145">
                  <c:v>388.81171017598325</c:v>
                </c:pt>
                <c:pt idx="146">
                  <c:v>389.48258871634062</c:v>
                </c:pt>
                <c:pt idx="147">
                  <c:v>390.14186330770411</c:v>
                </c:pt>
                <c:pt idx="148">
                  <c:v>390.78177547519078</c:v>
                </c:pt>
                <c:pt idx="149">
                  <c:v>391.41935228466355</c:v>
                </c:pt>
                <c:pt idx="150">
                  <c:v>392.04166371478834</c:v>
                </c:pt>
                <c:pt idx="151">
                  <c:v>392.6610764864916</c:v>
                </c:pt>
                <c:pt idx="152">
                  <c:v>393.27882856250471</c:v>
                </c:pt>
                <c:pt idx="153">
                  <c:v>393.89607158164506</c:v>
                </c:pt>
                <c:pt idx="154">
                  <c:v>394.48908789431357</c:v>
                </c:pt>
                <c:pt idx="155">
                  <c:v>395.08030299875389</c:v>
                </c:pt>
                <c:pt idx="156">
                  <c:v>395.65611037821753</c:v>
                </c:pt>
                <c:pt idx="157">
                  <c:v>396.21632045871661</c:v>
                </c:pt>
                <c:pt idx="158">
                  <c:v>396.77369475398018</c:v>
                </c:pt>
                <c:pt idx="159">
                  <c:v>397.3171821716395</c:v>
                </c:pt>
                <c:pt idx="160">
                  <c:v>397.84616675765625</c:v>
                </c:pt>
                <c:pt idx="161">
                  <c:v>398.36267104233099</c:v>
                </c:pt>
                <c:pt idx="162">
                  <c:v>398.87770257578291</c:v>
                </c:pt>
                <c:pt idx="163">
                  <c:v>399.38954462408913</c:v>
                </c:pt>
                <c:pt idx="164">
                  <c:v>399.86877487482178</c:v>
                </c:pt>
                <c:pt idx="165">
                  <c:v>400.34030463412353</c:v>
                </c:pt>
                <c:pt idx="166">
                  <c:v>400.80023554319769</c:v>
                </c:pt>
                <c:pt idx="167">
                  <c:v>401.24882675141504</c:v>
                </c:pt>
                <c:pt idx="168">
                  <c:v>401.68460598137079</c:v>
                </c:pt>
                <c:pt idx="169">
                  <c:v>402.11933197493994</c:v>
                </c:pt>
                <c:pt idx="170">
                  <c:v>402.55121789884964</c:v>
                </c:pt>
                <c:pt idx="171">
                  <c:v>402.98282236063636</c:v>
                </c:pt>
                <c:pt idx="172">
                  <c:v>403.40898643399282</c:v>
                </c:pt>
                <c:pt idx="173">
                  <c:v>403.83440997524065</c:v>
                </c:pt>
                <c:pt idx="174">
                  <c:v>404.25618916240762</c:v>
                </c:pt>
                <c:pt idx="175">
                  <c:v>404.6752424344802</c:v>
                </c:pt>
                <c:pt idx="176">
                  <c:v>405.09115291450121</c:v>
                </c:pt>
                <c:pt idx="177">
                  <c:v>405.50170592692496</c:v>
                </c:pt>
                <c:pt idx="178">
                  <c:v>405.91151289487482</c:v>
                </c:pt>
                <c:pt idx="179">
                  <c:v>406.32023745520769</c:v>
                </c:pt>
                <c:pt idx="180">
                  <c:v>406.72305830485084</c:v>
                </c:pt>
                <c:pt idx="181">
                  <c:v>407.12335398903514</c:v>
                </c:pt>
                <c:pt idx="182">
                  <c:v>407.52120060144938</c:v>
                </c:pt>
                <c:pt idx="183">
                  <c:v>407.91232121465316</c:v>
                </c:pt>
                <c:pt idx="184">
                  <c:v>408.30039464960089</c:v>
                </c:pt>
                <c:pt idx="185">
                  <c:v>408.68782398807218</c:v>
                </c:pt>
                <c:pt idx="186">
                  <c:v>409.06947402538003</c:v>
                </c:pt>
                <c:pt idx="187">
                  <c:v>409.44886170641121</c:v>
                </c:pt>
                <c:pt idx="188">
                  <c:v>409.82637024403556</c:v>
                </c:pt>
                <c:pt idx="189">
                  <c:v>410.19729047039681</c:v>
                </c:pt>
                <c:pt idx="190">
                  <c:v>410.56747332427915</c:v>
                </c:pt>
                <c:pt idx="191">
                  <c:v>410.92682561761984</c:v>
                </c:pt>
                <c:pt idx="192">
                  <c:v>411.27935442517793</c:v>
                </c:pt>
                <c:pt idx="193">
                  <c:v>411.6059326380618</c:v>
                </c:pt>
                <c:pt idx="194">
                  <c:v>411.91375516615273</c:v>
                </c:pt>
                <c:pt idx="195">
                  <c:v>412.19254389460298</c:v>
                </c:pt>
                <c:pt idx="196">
                  <c:v>412.46682128363989</c:v>
                </c:pt>
                <c:pt idx="197">
                  <c:v>412.73651450645622</c:v>
                </c:pt>
                <c:pt idx="198">
                  <c:v>412.99643775055898</c:v>
                </c:pt>
                <c:pt idx="199">
                  <c:v>413.25226277217308</c:v>
                </c:pt>
                <c:pt idx="200">
                  <c:v>413.5066843571945</c:v>
                </c:pt>
                <c:pt idx="201">
                  <c:v>413.75978481473351</c:v>
                </c:pt>
                <c:pt idx="202">
                  <c:v>414.00947876771409</c:v>
                </c:pt>
                <c:pt idx="203">
                  <c:v>414.2453726988428</c:v>
                </c:pt>
                <c:pt idx="204">
                  <c:v>414.48107073186509</c:v>
                </c:pt>
                <c:pt idx="205">
                  <c:v>414.71310615168619</c:v>
                </c:pt>
                <c:pt idx="206">
                  <c:v>414.9448492008699</c:v>
                </c:pt>
                <c:pt idx="207">
                  <c:v>415.17356477255083</c:v>
                </c:pt>
                <c:pt idx="208">
                  <c:v>415.40016847425471</c:v>
                </c:pt>
                <c:pt idx="209">
                  <c:v>415.62601515185776</c:v>
                </c:pt>
                <c:pt idx="210">
                  <c:v>415.8501472479677</c:v>
                </c:pt>
                <c:pt idx="211">
                  <c:v>416.06966478913682</c:v>
                </c:pt>
                <c:pt idx="212">
                  <c:v>416.2875820571889</c:v>
                </c:pt>
                <c:pt idx="213">
                  <c:v>416.50268899164251</c:v>
                </c:pt>
                <c:pt idx="214">
                  <c:v>416.71439588032621</c:v>
                </c:pt>
                <c:pt idx="215">
                  <c:v>416.92202815271219</c:v>
                </c:pt>
                <c:pt idx="216">
                  <c:v>417.12953887265974</c:v>
                </c:pt>
                <c:pt idx="217">
                  <c:v>417.33674496109938</c:v>
                </c:pt>
                <c:pt idx="218">
                  <c:v>417.53216045492883</c:v>
                </c:pt>
                <c:pt idx="219">
                  <c:v>417.72499780714958</c:v>
                </c:pt>
                <c:pt idx="220">
                  <c:v>417.91727529294161</c:v>
                </c:pt>
                <c:pt idx="221">
                  <c:v>418.10801639545861</c:v>
                </c:pt>
                <c:pt idx="222">
                  <c:v>418.29662297399187</c:v>
                </c:pt>
                <c:pt idx="223">
                  <c:v>418.4823645413951</c:v>
                </c:pt>
                <c:pt idx="224">
                  <c:v>418.6661800390072</c:v>
                </c:pt>
                <c:pt idx="225">
                  <c:v>418.84921771035937</c:v>
                </c:pt>
                <c:pt idx="226">
                  <c:v>419.0315522234684</c:v>
                </c:pt>
                <c:pt idx="227">
                  <c:v>419.20750813240608</c:v>
                </c:pt>
                <c:pt idx="228">
                  <c:v>419.37672875117823</c:v>
                </c:pt>
                <c:pt idx="229">
                  <c:v>419.54502017938836</c:v>
                </c:pt>
                <c:pt idx="230">
                  <c:v>419.70722218895429</c:v>
                </c:pt>
                <c:pt idx="231">
                  <c:v>419.86770875103372</c:v>
                </c:pt>
                <c:pt idx="232">
                  <c:v>420.01512145283129</c:v>
                </c:pt>
                <c:pt idx="233">
                  <c:v>420.15262943828429</c:v>
                </c:pt>
                <c:pt idx="234">
                  <c:v>420.28375583828301</c:v>
                </c:pt>
                <c:pt idx="235">
                  <c:v>420.40926281506285</c:v>
                </c:pt>
                <c:pt idx="236">
                  <c:v>420.5337866750931</c:v>
                </c:pt>
                <c:pt idx="237">
                  <c:v>420.65703471270899</c:v>
                </c:pt>
                <c:pt idx="238">
                  <c:v>420.78003603300436</c:v>
                </c:pt>
                <c:pt idx="239">
                  <c:v>420.90197812939113</c:v>
                </c:pt>
                <c:pt idx="240">
                  <c:v>421.02160012749403</c:v>
                </c:pt>
                <c:pt idx="241">
                  <c:v>421.13948364063759</c:v>
                </c:pt>
                <c:pt idx="242">
                  <c:v>421.25708654281362</c:v>
                </c:pt>
                <c:pt idx="243">
                  <c:v>421.37313099422067</c:v>
                </c:pt>
                <c:pt idx="244">
                  <c:v>421.48650703020724</c:v>
                </c:pt>
                <c:pt idx="245">
                  <c:v>421.59958499226934</c:v>
                </c:pt>
                <c:pt idx="246">
                  <c:v>421.71139193579552</c:v>
                </c:pt>
                <c:pt idx="247">
                  <c:v>421.81959687921784</c:v>
                </c:pt>
                <c:pt idx="248">
                  <c:v>421.92739645527962</c:v>
                </c:pt>
                <c:pt idx="249">
                  <c:v>422.03443149145937</c:v>
                </c:pt>
                <c:pt idx="250">
                  <c:v>422.14062886251787</c:v>
                </c:pt>
                <c:pt idx="251">
                  <c:v>422.24298823551101</c:v>
                </c:pt>
                <c:pt idx="252">
                  <c:v>422.34499193638067</c:v>
                </c:pt>
                <c:pt idx="253">
                  <c:v>422.44477255522429</c:v>
                </c:pt>
                <c:pt idx="254">
                  <c:v>422.54441133281421</c:v>
                </c:pt>
                <c:pt idx="255">
                  <c:v>422.63989777332</c:v>
                </c:pt>
                <c:pt idx="256">
                  <c:v>422.73280533084022</c:v>
                </c:pt>
                <c:pt idx="257">
                  <c:v>422.82474314869745</c:v>
                </c:pt>
                <c:pt idx="258">
                  <c:v>422.91649652961166</c:v>
                </c:pt>
                <c:pt idx="259">
                  <c:v>423.00307622694601</c:v>
                </c:pt>
                <c:pt idx="260">
                  <c:v>423.0877584001986</c:v>
                </c:pt>
                <c:pt idx="261">
                  <c:v>423.17057394345113</c:v>
                </c:pt>
                <c:pt idx="262">
                  <c:v>423.25234302856819</c:v>
                </c:pt>
                <c:pt idx="263">
                  <c:v>423.33362988759012</c:v>
                </c:pt>
                <c:pt idx="264">
                  <c:v>423.41491082468985</c:v>
                </c:pt>
                <c:pt idx="265">
                  <c:v>423.49599143753363</c:v>
                </c:pt>
                <c:pt idx="266">
                  <c:v>423.57541401696488</c:v>
                </c:pt>
                <c:pt idx="267">
                  <c:v>423.64947926471854</c:v>
                </c:pt>
                <c:pt idx="268">
                  <c:v>423.71889767686224</c:v>
                </c:pt>
                <c:pt idx="269">
                  <c:v>423.78831441611754</c:v>
                </c:pt>
                <c:pt idx="270">
                  <c:v>423.85555666256914</c:v>
                </c:pt>
                <c:pt idx="271">
                  <c:v>423.9211449125205</c:v>
                </c:pt>
                <c:pt idx="272">
                  <c:v>423.98597839799606</c:v>
                </c:pt>
                <c:pt idx="273">
                  <c:v>424.04922478987572</c:v>
                </c:pt>
                <c:pt idx="274">
                  <c:v>424.11231447110015</c:v>
                </c:pt>
                <c:pt idx="275">
                  <c:v>424.1736133913484</c:v>
                </c:pt>
                <c:pt idx="276">
                  <c:v>424.2347760603443</c:v>
                </c:pt>
                <c:pt idx="277">
                  <c:v>424.29417025198916</c:v>
                </c:pt>
                <c:pt idx="278">
                  <c:v>424.35352817251078</c:v>
                </c:pt>
                <c:pt idx="279">
                  <c:v>424.41284372837089</c:v>
                </c:pt>
                <c:pt idx="280">
                  <c:v>424.47105805279642</c:v>
                </c:pt>
                <c:pt idx="281">
                  <c:v>424.5283657227759</c:v>
                </c:pt>
                <c:pt idx="282">
                  <c:v>424.58475178705345</c:v>
                </c:pt>
                <c:pt idx="283">
                  <c:v>424.64067964515817</c:v>
                </c:pt>
                <c:pt idx="284">
                  <c:v>424.69641456709093</c:v>
                </c:pt>
                <c:pt idx="285">
                  <c:v>424.74836211672488</c:v>
                </c:pt>
                <c:pt idx="286">
                  <c:v>424.79742681817453</c:v>
                </c:pt>
                <c:pt idx="287">
                  <c:v>424.84445888194261</c:v>
                </c:pt>
                <c:pt idx="288">
                  <c:v>424.89120372962105</c:v>
                </c:pt>
                <c:pt idx="289">
                  <c:v>424.93664943105262</c:v>
                </c:pt>
                <c:pt idx="290">
                  <c:v>424.98196633222307</c:v>
                </c:pt>
                <c:pt idx="291">
                  <c:v>425.02719499989325</c:v>
                </c:pt>
                <c:pt idx="292">
                  <c:v>425.07126642036286</c:v>
                </c:pt>
                <c:pt idx="293">
                  <c:v>425.11386398649222</c:v>
                </c:pt>
                <c:pt idx="294">
                  <c:v>425.15613275325353</c:v>
                </c:pt>
                <c:pt idx="295">
                  <c:v>425.19829707563929</c:v>
                </c:pt>
                <c:pt idx="296">
                  <c:v>425.24032758368759</c:v>
                </c:pt>
                <c:pt idx="297">
                  <c:v>425.28216968339927</c:v>
                </c:pt>
                <c:pt idx="298">
                  <c:v>425.32348863561447</c:v>
                </c:pt>
                <c:pt idx="299">
                  <c:v>425.36319158602385</c:v>
                </c:pt>
                <c:pt idx="300">
                  <c:v>425.40278983214967</c:v>
                </c:pt>
                <c:pt idx="301">
                  <c:v>425.44219571612894</c:v>
                </c:pt>
                <c:pt idx="302">
                  <c:v>425.48146367006768</c:v>
                </c:pt>
                <c:pt idx="303">
                  <c:v>425.52015999941409</c:v>
                </c:pt>
                <c:pt idx="304">
                  <c:v>425.55865737836797</c:v>
                </c:pt>
                <c:pt idx="305">
                  <c:v>425.59695438842391</c:v>
                </c:pt>
                <c:pt idx="306">
                  <c:v>425.63431030881401</c:v>
                </c:pt>
                <c:pt idx="307">
                  <c:v>425.67094900357489</c:v>
                </c:pt>
                <c:pt idx="308">
                  <c:v>425.70753471682787</c:v>
                </c:pt>
                <c:pt idx="309">
                  <c:v>425.74395669582941</c:v>
                </c:pt>
                <c:pt idx="310">
                  <c:v>425.78034548075203</c:v>
                </c:pt>
                <c:pt idx="311">
                  <c:v>425.81564356067651</c:v>
                </c:pt>
                <c:pt idx="312">
                  <c:v>425.85088383173951</c:v>
                </c:pt>
                <c:pt idx="313">
                  <c:v>425.88572118864141</c:v>
                </c:pt>
                <c:pt idx="314">
                  <c:v>425.92040721758019</c:v>
                </c:pt>
                <c:pt idx="315">
                  <c:v>425.95456321797872</c:v>
                </c:pt>
                <c:pt idx="316">
                  <c:v>425.98865620496872</c:v>
                </c:pt>
                <c:pt idx="317">
                  <c:v>426.02213327496872</c:v>
                </c:pt>
                <c:pt idx="318">
                  <c:v>426.05445236909338</c:v>
                </c:pt>
                <c:pt idx="319">
                  <c:v>426.08630784211311</c:v>
                </c:pt>
                <c:pt idx="320">
                  <c:v>426.1180780409249</c:v>
                </c:pt>
                <c:pt idx="321">
                  <c:v>426.14940356129233</c:v>
                </c:pt>
                <c:pt idx="322">
                  <c:v>426.18011818392938</c:v>
                </c:pt>
                <c:pt idx="323">
                  <c:v>426.21080877211222</c:v>
                </c:pt>
                <c:pt idx="324">
                  <c:v>426.24042594957183</c:v>
                </c:pt>
                <c:pt idx="325">
                  <c:v>426.26935150957183</c:v>
                </c:pt>
                <c:pt idx="326">
                  <c:v>426.29822656857954</c:v>
                </c:pt>
                <c:pt idx="327">
                  <c:v>426.32700439821519</c:v>
                </c:pt>
                <c:pt idx="328">
                  <c:v>426.35549639750366</c:v>
                </c:pt>
                <c:pt idx="329">
                  <c:v>426.38383845656273</c:v>
                </c:pt>
                <c:pt idx="330">
                  <c:v>426.41215305385424</c:v>
                </c:pt>
                <c:pt idx="331">
                  <c:v>426.44022802203256</c:v>
                </c:pt>
                <c:pt idx="332">
                  <c:v>426.46818896692344</c:v>
                </c:pt>
                <c:pt idx="333">
                  <c:v>426.49595141471366</c:v>
                </c:pt>
                <c:pt idx="334">
                  <c:v>426.52331647553461</c:v>
                </c:pt>
                <c:pt idx="335">
                  <c:v>426.54898016713736</c:v>
                </c:pt>
                <c:pt idx="336">
                  <c:v>426.57276582260772</c:v>
                </c:pt>
                <c:pt idx="337">
                  <c:v>426.59584396520273</c:v>
                </c:pt>
                <c:pt idx="338">
                  <c:v>426.61862464932381</c:v>
                </c:pt>
                <c:pt idx="339">
                  <c:v>426.64116226227821</c:v>
                </c:pt>
                <c:pt idx="340">
                  <c:v>426.66333288999812</c:v>
                </c:pt>
                <c:pt idx="341">
                  <c:v>426.68525332109454</c:v>
                </c:pt>
                <c:pt idx="342">
                  <c:v>426.70681514686316</c:v>
                </c:pt>
                <c:pt idx="343">
                  <c:v>426.72806628077291</c:v>
                </c:pt>
                <c:pt idx="344">
                  <c:v>426.74889651734992</c:v>
                </c:pt>
                <c:pt idx="345">
                  <c:v>426.76942077497085</c:v>
                </c:pt>
                <c:pt idx="346">
                  <c:v>426.78933926178695</c:v>
                </c:pt>
                <c:pt idx="347">
                  <c:v>426.80900819831697</c:v>
                </c:pt>
                <c:pt idx="348">
                  <c:v>426.82838576392652</c:v>
                </c:pt>
                <c:pt idx="349">
                  <c:v>426.84737754259851</c:v>
                </c:pt>
                <c:pt idx="350">
                  <c:v>426.86564844792639</c:v>
                </c:pt>
                <c:pt idx="351">
                  <c:v>426.88191073134277</c:v>
                </c:pt>
                <c:pt idx="352">
                  <c:v>426.89808565048406</c:v>
                </c:pt>
                <c:pt idx="353">
                  <c:v>426.91424902109765</c:v>
                </c:pt>
                <c:pt idx="354">
                  <c:v>426.92990727161458</c:v>
                </c:pt>
                <c:pt idx="355">
                  <c:v>426.94504398000487</c:v>
                </c:pt>
                <c:pt idx="356">
                  <c:v>426.95930758679907</c:v>
                </c:pt>
                <c:pt idx="357">
                  <c:v>426.97339427859373</c:v>
                </c:pt>
                <c:pt idx="358">
                  <c:v>426.98743923404857</c:v>
                </c:pt>
                <c:pt idx="359">
                  <c:v>427.00106440404852</c:v>
                </c:pt>
                <c:pt idx="360">
                  <c:v>427.01424815981318</c:v>
                </c:pt>
                <c:pt idx="361">
                  <c:v>427.02649997305792</c:v>
                </c:pt>
                <c:pt idx="362">
                  <c:v>427.03658693087692</c:v>
                </c:pt>
                <c:pt idx="363">
                  <c:v>427.04630518963683</c:v>
                </c:pt>
                <c:pt idx="364">
                  <c:v>427.05550128404883</c:v>
                </c:pt>
                <c:pt idx="365">
                  <c:v>427.0645265492862</c:v>
                </c:pt>
                <c:pt idx="366">
                  <c:v>427.07335810630235</c:v>
                </c:pt>
                <c:pt idx="367">
                  <c:v>427.08179890094613</c:v>
                </c:pt>
                <c:pt idx="368">
                  <c:v>427.0899619367687</c:v>
                </c:pt>
                <c:pt idx="369">
                  <c:v>427.09809901711009</c:v>
                </c:pt>
                <c:pt idx="370">
                  <c:v>427.10613317556636</c:v>
                </c:pt>
                <c:pt idx="371">
                  <c:v>427.11395851271385</c:v>
                </c:pt>
                <c:pt idx="372">
                  <c:v>427.12177214199312</c:v>
                </c:pt>
                <c:pt idx="373">
                  <c:v>427.12937577696096</c:v>
                </c:pt>
                <c:pt idx="374">
                  <c:v>427.13642869810212</c:v>
                </c:pt>
                <c:pt idx="375">
                  <c:v>427.14323503383514</c:v>
                </c:pt>
                <c:pt idx="376">
                  <c:v>427.14975979327897</c:v>
                </c:pt>
                <c:pt idx="377">
                  <c:v>427.15563081509856</c:v>
                </c:pt>
                <c:pt idx="378">
                  <c:v>427.16148244083428</c:v>
                </c:pt>
                <c:pt idx="379">
                  <c:v>427.16711215455024</c:v>
                </c:pt>
                <c:pt idx="380">
                  <c:v>427.17235349434503</c:v>
                </c:pt>
                <c:pt idx="381">
                  <c:v>427.17725911435082</c:v>
                </c:pt>
                <c:pt idx="382">
                  <c:v>427.18184769715629</c:v>
                </c:pt>
                <c:pt idx="383">
                  <c:v>427.18639092425315</c:v>
                </c:pt>
                <c:pt idx="384">
                  <c:v>427.19083309151046</c:v>
                </c:pt>
                <c:pt idx="385">
                  <c:v>427.19524971036566</c:v>
                </c:pt>
                <c:pt idx="386">
                  <c:v>427.19933860086326</c:v>
                </c:pt>
                <c:pt idx="387">
                  <c:v>427.20333164511504</c:v>
                </c:pt>
                <c:pt idx="388">
                  <c:v>427.20710757583885</c:v>
                </c:pt>
                <c:pt idx="389">
                  <c:v>427.21041451146937</c:v>
                </c:pt>
                <c:pt idx="390">
                  <c:v>427.21370043031709</c:v>
                </c:pt>
                <c:pt idx="391">
                  <c:v>427.2167061027568</c:v>
                </c:pt>
                <c:pt idx="392">
                  <c:v>427.21937459005335</c:v>
                </c:pt>
                <c:pt idx="393">
                  <c:v>427.22201452679695</c:v>
                </c:pt>
                <c:pt idx="394">
                  <c:v>427.22457115160273</c:v>
                </c:pt>
                <c:pt idx="395">
                  <c:v>427.22706543062685</c:v>
                </c:pt>
                <c:pt idx="396">
                  <c:v>427.22951982508079</c:v>
                </c:pt>
                <c:pt idx="397">
                  <c:v>427.23172677336731</c:v>
                </c:pt>
                <c:pt idx="398">
                  <c:v>427.23371534872751</c:v>
                </c:pt>
                <c:pt idx="399">
                  <c:v>427.23561071053933</c:v>
                </c:pt>
                <c:pt idx="400">
                  <c:v>427.23748898772067</c:v>
                </c:pt>
                <c:pt idx="401">
                  <c:v>427.23933625811361</c:v>
                </c:pt>
                <c:pt idx="402">
                  <c:v>427.24114794601701</c:v>
                </c:pt>
                <c:pt idx="403">
                  <c:v>427.24282136184121</c:v>
                </c:pt>
                <c:pt idx="404">
                  <c:v>427.24445051160433</c:v>
                </c:pt>
                <c:pt idx="405">
                  <c:v>427.24582697205665</c:v>
                </c:pt>
                <c:pt idx="406">
                  <c:v>427.24711201677923</c:v>
                </c:pt>
                <c:pt idx="407">
                  <c:v>427.24822730696104</c:v>
                </c:pt>
                <c:pt idx="408">
                  <c:v>427.24928460943499</c:v>
                </c:pt>
                <c:pt idx="409">
                  <c:v>427.25030571938521</c:v>
                </c:pt>
                <c:pt idx="410">
                  <c:v>427.25130175085587</c:v>
                </c:pt>
                <c:pt idx="411">
                  <c:v>427.25224817331599</c:v>
                </c:pt>
                <c:pt idx="412">
                  <c:v>427.25317570497759</c:v>
                </c:pt>
                <c:pt idx="413">
                  <c:v>427.25383562489782</c:v>
                </c:pt>
                <c:pt idx="414">
                  <c:v>427.25434727104727</c:v>
                </c:pt>
                <c:pt idx="415">
                  <c:v>427.25463403985617</c:v>
                </c:pt>
                <c:pt idx="416">
                  <c:v>427.25486735509446</c:v>
                </c:pt>
                <c:pt idx="417">
                  <c:v>427.2550752936429</c:v>
                </c:pt>
                <c:pt idx="418">
                  <c:v>427.25517416054254</c:v>
                </c:pt>
                <c:pt idx="419">
                  <c:v>427.25523794865006</c:v>
                </c:pt>
                <c:pt idx="420">
                  <c:v>427.25517073463931</c:v>
                </c:pt>
                <c:pt idx="421">
                  <c:v>427.25497726444922</c:v>
                </c:pt>
                <c:pt idx="422">
                  <c:v>427.2547815327581</c:v>
                </c:pt>
                <c:pt idx="423">
                  <c:v>427.25453234341268</c:v>
                </c:pt>
                <c:pt idx="424">
                  <c:v>427.25422927378924</c:v>
                </c:pt>
                <c:pt idx="425">
                  <c:v>427.25392601608274</c:v>
                </c:pt>
                <c:pt idx="426">
                  <c:v>427.25358175677337</c:v>
                </c:pt>
                <c:pt idx="427">
                  <c:v>427.25281002573843</c:v>
                </c:pt>
                <c:pt idx="428">
                  <c:v>427.25201575698037</c:v>
                </c:pt>
                <c:pt idx="429">
                  <c:v>427.25103748999368</c:v>
                </c:pt>
                <c:pt idx="430">
                  <c:v>427.25001647620996</c:v>
                </c:pt>
                <c:pt idx="431">
                  <c:v>427.2489629702107</c:v>
                </c:pt>
                <c:pt idx="432">
                  <c:v>427.24771337030467</c:v>
                </c:pt>
                <c:pt idx="433">
                  <c:v>427.2461903391021</c:v>
                </c:pt>
                <c:pt idx="434">
                  <c:v>427.24455820198813</c:v>
                </c:pt>
                <c:pt idx="435">
                  <c:v>427.24277078689011</c:v>
                </c:pt>
                <c:pt idx="436">
                  <c:v>427.24073895936311</c:v>
                </c:pt>
                <c:pt idx="437">
                  <c:v>427.23860152728093</c:v>
                </c:pt>
                <c:pt idx="438">
                  <c:v>427.23610568963204</c:v>
                </c:pt>
                <c:pt idx="439">
                  <c:v>427.23358768594659</c:v>
                </c:pt>
                <c:pt idx="440">
                  <c:v>427.23091898968636</c:v>
                </c:pt>
                <c:pt idx="441">
                  <c:v>427.22816599717009</c:v>
                </c:pt>
                <c:pt idx="442">
                  <c:v>427.22534234637078</c:v>
                </c:pt>
                <c:pt idx="443">
                  <c:v>427.22221721636862</c:v>
                </c:pt>
                <c:pt idx="444">
                  <c:v>427.21868972298438</c:v>
                </c:pt>
                <c:pt idx="445">
                  <c:v>427.21513210773134</c:v>
                </c:pt>
                <c:pt idx="446">
                  <c:v>427.2114682715042</c:v>
                </c:pt>
                <c:pt idx="447">
                  <c:v>427.20776802141296</c:v>
                </c:pt>
                <c:pt idx="448">
                  <c:v>427.20376171630852</c:v>
                </c:pt>
                <c:pt idx="449">
                  <c:v>427.19967372827631</c:v>
                </c:pt>
                <c:pt idx="450">
                  <c:v>427.19548712573288</c:v>
                </c:pt>
                <c:pt idx="451">
                  <c:v>427.19121011870971</c:v>
                </c:pt>
                <c:pt idx="452">
                  <c:v>427.18669907402784</c:v>
                </c:pt>
                <c:pt idx="453">
                  <c:v>427.18210542680953</c:v>
                </c:pt>
                <c:pt idx="454">
                  <c:v>427.17742281219893</c:v>
                </c:pt>
                <c:pt idx="455">
                  <c:v>427.17267498898173</c:v>
                </c:pt>
                <c:pt idx="456">
                  <c:v>427.16773556805794</c:v>
                </c:pt>
                <c:pt idx="457">
                  <c:v>427.16262453990134</c:v>
                </c:pt>
                <c:pt idx="458">
                  <c:v>427.15734988618919</c:v>
                </c:pt>
                <c:pt idx="459">
                  <c:v>427.1514764174608</c:v>
                </c:pt>
                <c:pt idx="460">
                  <c:v>427.14532021713973</c:v>
                </c:pt>
                <c:pt idx="461">
                  <c:v>427.13903190061279</c:v>
                </c:pt>
                <c:pt idx="462">
                  <c:v>427.1327006534018</c:v>
                </c:pt>
                <c:pt idx="463">
                  <c:v>427.12620476380823</c:v>
                </c:pt>
                <c:pt idx="464">
                  <c:v>427.11838264249701</c:v>
                </c:pt>
                <c:pt idx="465">
                  <c:v>427.11049834665528</c:v>
                </c:pt>
                <c:pt idx="466">
                  <c:v>427.10122891245391</c:v>
                </c:pt>
                <c:pt idx="467">
                  <c:v>427.09168399933952</c:v>
                </c:pt>
                <c:pt idx="468">
                  <c:v>427.08162964171891</c:v>
                </c:pt>
                <c:pt idx="469">
                  <c:v>427.07153775098658</c:v>
                </c:pt>
                <c:pt idx="470">
                  <c:v>427.06123879856148</c:v>
                </c:pt>
                <c:pt idx="471">
                  <c:v>427.05034454725961</c:v>
                </c:pt>
                <c:pt idx="472">
                  <c:v>427.03855487664964</c:v>
                </c:pt>
                <c:pt idx="473">
                  <c:v>427.02637118117758</c:v>
                </c:pt>
                <c:pt idx="474">
                  <c:v>427.01378679390058</c:v>
                </c:pt>
                <c:pt idx="475">
                  <c:v>427.00089448154205</c:v>
                </c:pt>
                <c:pt idx="476">
                  <c:v>426.98736586107253</c:v>
                </c:pt>
                <c:pt idx="477">
                  <c:v>426.97337843696317</c:v>
                </c:pt>
                <c:pt idx="478">
                  <c:v>426.95892942037665</c:v>
                </c:pt>
                <c:pt idx="479">
                  <c:v>426.94378593927581</c:v>
                </c:pt>
                <c:pt idx="480">
                  <c:v>426.92830052344436</c:v>
                </c:pt>
                <c:pt idx="481">
                  <c:v>426.91257813648497</c:v>
                </c:pt>
                <c:pt idx="482">
                  <c:v>426.89668700670006</c:v>
                </c:pt>
                <c:pt idx="483">
                  <c:v>426.88021523085973</c:v>
                </c:pt>
                <c:pt idx="484">
                  <c:v>426.86297135738914</c:v>
                </c:pt>
                <c:pt idx="485">
                  <c:v>426.84531243267355</c:v>
                </c:pt>
                <c:pt idx="486">
                  <c:v>426.82764054825236</c:v>
                </c:pt>
                <c:pt idx="487">
                  <c:v>426.80898283130261</c:v>
                </c:pt>
                <c:pt idx="488">
                  <c:v>426.78571160183333</c:v>
                </c:pt>
                <c:pt idx="489">
                  <c:v>426.76241607624877</c:v>
                </c:pt>
                <c:pt idx="490">
                  <c:v>426.73900623705146</c:v>
                </c:pt>
                <c:pt idx="491">
                  <c:v>426.71557529169121</c:v>
                </c:pt>
                <c:pt idx="492">
                  <c:v>426.69176698779268</c:v>
                </c:pt>
                <c:pt idx="493">
                  <c:v>426.66791567592378</c:v>
                </c:pt>
                <c:pt idx="494">
                  <c:v>426.64370415875578</c:v>
                </c:pt>
                <c:pt idx="495">
                  <c:v>426.61906800513395</c:v>
                </c:pt>
                <c:pt idx="496">
                  <c:v>426.59389256203951</c:v>
                </c:pt>
                <c:pt idx="497">
                  <c:v>426.56834905021708</c:v>
                </c:pt>
                <c:pt idx="498">
                  <c:v>426.54248982439486</c:v>
                </c:pt>
                <c:pt idx="499">
                  <c:v>426.51604048356916</c:v>
                </c:pt>
                <c:pt idx="500">
                  <c:v>426.48957400902896</c:v>
                </c:pt>
                <c:pt idx="501">
                  <c:v>426.46243155988395</c:v>
                </c:pt>
                <c:pt idx="502">
                  <c:v>426.43508246147871</c:v>
                </c:pt>
                <c:pt idx="503">
                  <c:v>426.40661636845533</c:v>
                </c:pt>
                <c:pt idx="504">
                  <c:v>426.37789891935608</c:v>
                </c:pt>
                <c:pt idx="505">
                  <c:v>426.34811652274817</c:v>
                </c:pt>
                <c:pt idx="506">
                  <c:v>426.31831517451667</c:v>
                </c:pt>
                <c:pt idx="507">
                  <c:v>426.28795429592446</c:v>
                </c:pt>
                <c:pt idx="508">
                  <c:v>426.25753691397398</c:v>
                </c:pt>
                <c:pt idx="509">
                  <c:v>426.22696955910067</c:v>
                </c:pt>
                <c:pt idx="510">
                  <c:v>426.19581946659906</c:v>
                </c:pt>
                <c:pt idx="511">
                  <c:v>426.16383563593797</c:v>
                </c:pt>
                <c:pt idx="512">
                  <c:v>426.13181696556234</c:v>
                </c:pt>
                <c:pt idx="513">
                  <c:v>426.09923126224515</c:v>
                </c:pt>
                <c:pt idx="514">
                  <c:v>426.06607332768431</c:v>
                </c:pt>
                <c:pt idx="515">
                  <c:v>426.03253279686544</c:v>
                </c:pt>
                <c:pt idx="516">
                  <c:v>425.99874467059175</c:v>
                </c:pt>
                <c:pt idx="517">
                  <c:v>425.9647616706016</c:v>
                </c:pt>
                <c:pt idx="518">
                  <c:v>425.93060991906952</c:v>
                </c:pt>
                <c:pt idx="519">
                  <c:v>425.89537920704498</c:v>
                </c:pt>
                <c:pt idx="520">
                  <c:v>425.86005421660326</c:v>
                </c:pt>
                <c:pt idx="521">
                  <c:v>425.82362274376129</c:v>
                </c:pt>
                <c:pt idx="522">
                  <c:v>425.78707854319163</c:v>
                </c:pt>
                <c:pt idx="523">
                  <c:v>425.74797540830866</c:v>
                </c:pt>
                <c:pt idx="524">
                  <c:v>425.70859534919714</c:v>
                </c:pt>
                <c:pt idx="525">
                  <c:v>425.66768967382274</c:v>
                </c:pt>
                <c:pt idx="526">
                  <c:v>425.62597415703408</c:v>
                </c:pt>
                <c:pt idx="527">
                  <c:v>425.58361408131697</c:v>
                </c:pt>
                <c:pt idx="528">
                  <c:v>425.541057035113</c:v>
                </c:pt>
                <c:pt idx="529">
                  <c:v>425.49674183631583</c:v>
                </c:pt>
                <c:pt idx="530">
                  <c:v>425.45180479574714</c:v>
                </c:pt>
                <c:pt idx="531">
                  <c:v>425.40670553556185</c:v>
                </c:pt>
                <c:pt idx="532">
                  <c:v>425.35965487385744</c:v>
                </c:pt>
                <c:pt idx="533">
                  <c:v>425.31195291273445</c:v>
                </c:pt>
                <c:pt idx="534">
                  <c:v>425.26184641762217</c:v>
                </c:pt>
                <c:pt idx="535">
                  <c:v>425.2102517505308</c:v>
                </c:pt>
                <c:pt idx="536">
                  <c:v>425.15848561302187</c:v>
                </c:pt>
                <c:pt idx="537">
                  <c:v>425.10661461318773</c:v>
                </c:pt>
                <c:pt idx="538">
                  <c:v>425.05419315668291</c:v>
                </c:pt>
                <c:pt idx="539">
                  <c:v>425.00070403968124</c:v>
                </c:pt>
                <c:pt idx="540">
                  <c:v>424.94701335902147</c:v>
                </c:pt>
                <c:pt idx="541">
                  <c:v>424.89200559475603</c:v>
                </c:pt>
                <c:pt idx="542">
                  <c:v>424.83583979440283</c:v>
                </c:pt>
                <c:pt idx="543">
                  <c:v>424.77888865057531</c:v>
                </c:pt>
                <c:pt idx="544">
                  <c:v>424.72187427609305</c:v>
                </c:pt>
                <c:pt idx="545">
                  <c:v>424.66431069360345</c:v>
                </c:pt>
                <c:pt idx="546">
                  <c:v>424.60668205169759</c:v>
                </c:pt>
                <c:pt idx="547">
                  <c:v>424.54896696218316</c:v>
                </c:pt>
                <c:pt idx="548">
                  <c:v>424.49052499083564</c:v>
                </c:pt>
                <c:pt idx="549">
                  <c:v>424.43146306162248</c:v>
                </c:pt>
                <c:pt idx="550">
                  <c:v>424.37180009498763</c:v>
                </c:pt>
                <c:pt idx="551">
                  <c:v>424.30995847918268</c:v>
                </c:pt>
                <c:pt idx="552">
                  <c:v>424.24799169750253</c:v>
                </c:pt>
                <c:pt idx="553">
                  <c:v>424.1844203938133</c:v>
                </c:pt>
                <c:pt idx="554">
                  <c:v>424.1207793749835</c:v>
                </c:pt>
                <c:pt idx="555">
                  <c:v>424.05637513837138</c:v>
                </c:pt>
                <c:pt idx="556">
                  <c:v>423.99197081788043</c:v>
                </c:pt>
                <c:pt idx="557">
                  <c:v>423.92675800536188</c:v>
                </c:pt>
                <c:pt idx="558">
                  <c:v>423.85962534590163</c:v>
                </c:pt>
                <c:pt idx="559">
                  <c:v>423.79177077758123</c:v>
                </c:pt>
                <c:pt idx="560">
                  <c:v>423.72365209282952</c:v>
                </c:pt>
                <c:pt idx="561">
                  <c:v>423.65431082143539</c:v>
                </c:pt>
                <c:pt idx="562">
                  <c:v>423.58278395840233</c:v>
                </c:pt>
                <c:pt idx="563">
                  <c:v>423.51102643615371</c:v>
                </c:pt>
                <c:pt idx="564">
                  <c:v>423.4391958836178</c:v>
                </c:pt>
                <c:pt idx="565">
                  <c:v>423.36627698310042</c:v>
                </c:pt>
                <c:pt idx="566">
                  <c:v>423.29276722893064</c:v>
                </c:pt>
                <c:pt idx="567">
                  <c:v>423.21909810404304</c:v>
                </c:pt>
                <c:pt idx="568">
                  <c:v>423.14324689500711</c:v>
                </c:pt>
                <c:pt idx="569">
                  <c:v>423.06596810096602</c:v>
                </c:pt>
                <c:pt idx="570">
                  <c:v>422.98838546804041</c:v>
                </c:pt>
                <c:pt idx="571">
                  <c:v>422.90905841269785</c:v>
                </c:pt>
                <c:pt idx="572">
                  <c:v>422.82945070994538</c:v>
                </c:pt>
                <c:pt idx="573">
                  <c:v>422.74768211418183</c:v>
                </c:pt>
                <c:pt idx="574">
                  <c:v>422.66415926242826</c:v>
                </c:pt>
                <c:pt idx="575">
                  <c:v>422.58044853592668</c:v>
                </c:pt>
                <c:pt idx="576">
                  <c:v>422.49629427282127</c:v>
                </c:pt>
                <c:pt idx="577">
                  <c:v>422.40978917338083</c:v>
                </c:pt>
                <c:pt idx="578">
                  <c:v>422.32238298416155</c:v>
                </c:pt>
                <c:pt idx="579">
                  <c:v>422.23480624392806</c:v>
                </c:pt>
                <c:pt idx="580">
                  <c:v>422.1467398359743</c:v>
                </c:pt>
                <c:pt idx="581">
                  <c:v>422.05830980223203</c:v>
                </c:pt>
                <c:pt idx="582">
                  <c:v>421.96943502555581</c:v>
                </c:pt>
                <c:pt idx="583">
                  <c:v>421.87889506459237</c:v>
                </c:pt>
                <c:pt idx="584">
                  <c:v>421.78639763698118</c:v>
                </c:pt>
                <c:pt idx="585">
                  <c:v>421.69341191147265</c:v>
                </c:pt>
                <c:pt idx="586">
                  <c:v>421.59969043353203</c:v>
                </c:pt>
                <c:pt idx="587">
                  <c:v>421.50489082837936</c:v>
                </c:pt>
                <c:pt idx="588">
                  <c:v>421.40871251037959</c:v>
                </c:pt>
                <c:pt idx="589">
                  <c:v>421.31114253277951</c:v>
                </c:pt>
                <c:pt idx="590">
                  <c:v>421.21076783781206</c:v>
                </c:pt>
                <c:pt idx="591">
                  <c:v>421.10981433497727</c:v>
                </c:pt>
                <c:pt idx="592">
                  <c:v>421.00664112285637</c:v>
                </c:pt>
                <c:pt idx="593">
                  <c:v>420.90314096297664</c:v>
                </c:pt>
                <c:pt idx="594">
                  <c:v>420.79880709549661</c:v>
                </c:pt>
                <c:pt idx="595">
                  <c:v>420.69357837435763</c:v>
                </c:pt>
                <c:pt idx="596">
                  <c:v>420.58432231449257</c:v>
                </c:pt>
                <c:pt idx="597">
                  <c:v>420.4740409658682</c:v>
                </c:pt>
                <c:pt idx="598">
                  <c:v>420.36252492984994</c:v>
                </c:pt>
                <c:pt idx="599">
                  <c:v>420.25032817171427</c:v>
                </c:pt>
                <c:pt idx="600">
                  <c:v>420.13719266968155</c:v>
                </c:pt>
                <c:pt idx="601">
                  <c:v>420.02122845167975</c:v>
                </c:pt>
                <c:pt idx="602">
                  <c:v>419.90440587016121</c:v>
                </c:pt>
                <c:pt idx="603">
                  <c:v>419.78472795986784</c:v>
                </c:pt>
                <c:pt idx="604">
                  <c:v>419.66331685161612</c:v>
                </c:pt>
                <c:pt idx="605">
                  <c:v>419.54139482776168</c:v>
                </c:pt>
                <c:pt idx="606">
                  <c:v>419.41867833085519</c:v>
                </c:pt>
                <c:pt idx="607">
                  <c:v>419.2956380109664</c:v>
                </c:pt>
                <c:pt idx="608">
                  <c:v>419.17230688572914</c:v>
                </c:pt>
                <c:pt idx="609">
                  <c:v>419.04887961383849</c:v>
                </c:pt>
                <c:pt idx="610">
                  <c:v>418.92541155907128</c:v>
                </c:pt>
                <c:pt idx="611">
                  <c:v>418.79983252237884</c:v>
                </c:pt>
                <c:pt idx="612">
                  <c:v>418.67372340983007</c:v>
                </c:pt>
                <c:pt idx="613">
                  <c:v>418.54740148751199</c:v>
                </c:pt>
                <c:pt idx="614">
                  <c:v>418.41997345062174</c:v>
                </c:pt>
                <c:pt idx="615">
                  <c:v>418.29244518656679</c:v>
                </c:pt>
                <c:pt idx="616">
                  <c:v>418.16483400976472</c:v>
                </c:pt>
                <c:pt idx="617">
                  <c:v>418.03675734442146</c:v>
                </c:pt>
                <c:pt idx="618">
                  <c:v>417.90863650110765</c:v>
                </c:pt>
                <c:pt idx="619">
                  <c:v>417.77682332376042</c:v>
                </c:pt>
                <c:pt idx="620">
                  <c:v>417.64350069988853</c:v>
                </c:pt>
                <c:pt idx="621">
                  <c:v>417.50999741713491</c:v>
                </c:pt>
                <c:pt idx="622">
                  <c:v>417.37603072844354</c:v>
                </c:pt>
                <c:pt idx="623">
                  <c:v>417.24087912039727</c:v>
                </c:pt>
                <c:pt idx="624">
                  <c:v>417.10482599358903</c:v>
                </c:pt>
                <c:pt idx="625">
                  <c:v>416.9668442732256</c:v>
                </c:pt>
                <c:pt idx="626">
                  <c:v>416.82650040117971</c:v>
                </c:pt>
                <c:pt idx="627">
                  <c:v>416.68507698421286</c:v>
                </c:pt>
                <c:pt idx="628">
                  <c:v>416.54240319187113</c:v>
                </c:pt>
                <c:pt idx="629">
                  <c:v>416.39867116564608</c:v>
                </c:pt>
                <c:pt idx="630">
                  <c:v>416.25486753596641</c:v>
                </c:pt>
                <c:pt idx="631">
                  <c:v>416.10940565604574</c:v>
                </c:pt>
                <c:pt idx="632">
                  <c:v>415.96173492451845</c:v>
                </c:pt>
                <c:pt idx="633">
                  <c:v>415.81302897864839</c:v>
                </c:pt>
                <c:pt idx="634">
                  <c:v>415.66187850910876</c:v>
                </c:pt>
                <c:pt idx="635">
                  <c:v>415.50855503971297</c:v>
                </c:pt>
                <c:pt idx="636">
                  <c:v>415.35376030104254</c:v>
                </c:pt>
                <c:pt idx="637">
                  <c:v>415.19885399741753</c:v>
                </c:pt>
                <c:pt idx="638">
                  <c:v>415.04181697970284</c:v>
                </c:pt>
                <c:pt idx="639">
                  <c:v>414.87774676372436</c:v>
                </c:pt>
                <c:pt idx="640">
                  <c:v>414.71325600442026</c:v>
                </c:pt>
                <c:pt idx="641">
                  <c:v>414.54839342565111</c:v>
                </c:pt>
                <c:pt idx="642">
                  <c:v>414.38121302267797</c:v>
                </c:pt>
                <c:pt idx="643">
                  <c:v>414.21157380044463</c:v>
                </c:pt>
                <c:pt idx="644">
                  <c:v>414.03444232033394</c:v>
                </c:pt>
                <c:pt idx="645">
                  <c:v>413.85294186740026</c:v>
                </c:pt>
                <c:pt idx="646">
                  <c:v>413.67033684729529</c:v>
                </c:pt>
                <c:pt idx="647">
                  <c:v>413.48588344183503</c:v>
                </c:pt>
                <c:pt idx="648">
                  <c:v>413.29951667379493</c:v>
                </c:pt>
                <c:pt idx="649">
                  <c:v>413.10785364839461</c:v>
                </c:pt>
                <c:pt idx="650">
                  <c:v>412.91594893022813</c:v>
                </c:pt>
                <c:pt idx="651">
                  <c:v>412.72359364453354</c:v>
                </c:pt>
                <c:pt idx="652">
                  <c:v>412.53067664530965</c:v>
                </c:pt>
                <c:pt idx="653">
                  <c:v>412.33743327479232</c:v>
                </c:pt>
                <c:pt idx="654">
                  <c:v>412.14292145361509</c:v>
                </c:pt>
                <c:pt idx="655">
                  <c:v>411.94774910806643</c:v>
                </c:pt>
                <c:pt idx="656">
                  <c:v>411.75177458016969</c:v>
                </c:pt>
                <c:pt idx="657">
                  <c:v>411.55398895587922</c:v>
                </c:pt>
                <c:pt idx="658">
                  <c:v>411.35196355010117</c:v>
                </c:pt>
                <c:pt idx="659">
                  <c:v>411.14758504041498</c:v>
                </c:pt>
                <c:pt idx="660">
                  <c:v>410.9423064917118</c:v>
                </c:pt>
                <c:pt idx="661">
                  <c:v>410.73424005997674</c:v>
                </c:pt>
                <c:pt idx="662">
                  <c:v>410.52398137886064</c:v>
                </c:pt>
                <c:pt idx="663">
                  <c:v>410.31302882131467</c:v>
                </c:pt>
                <c:pt idx="664">
                  <c:v>410.10129861578201</c:v>
                </c:pt>
                <c:pt idx="665">
                  <c:v>409.88689491532489</c:v>
                </c:pt>
                <c:pt idx="666">
                  <c:v>409.67209595544989</c:v>
                </c:pt>
                <c:pt idx="667">
                  <c:v>409.45718858048355</c:v>
                </c:pt>
                <c:pt idx="668">
                  <c:v>409.23781597549117</c:v>
                </c:pt>
                <c:pt idx="669">
                  <c:v>409.01624011219155</c:v>
                </c:pt>
                <c:pt idx="670">
                  <c:v>408.79384651296198</c:v>
                </c:pt>
                <c:pt idx="671">
                  <c:v>408.57134197922346</c:v>
                </c:pt>
                <c:pt idx="672">
                  <c:v>408.34844631443696</c:v>
                </c:pt>
                <c:pt idx="673">
                  <c:v>408.12229014719634</c:v>
                </c:pt>
                <c:pt idx="674">
                  <c:v>407.88944171443933</c:v>
                </c:pt>
                <c:pt idx="675">
                  <c:v>407.65434519938088</c:v>
                </c:pt>
                <c:pt idx="676">
                  <c:v>407.41850481554877</c:v>
                </c:pt>
                <c:pt idx="677">
                  <c:v>407.18067975573052</c:v>
                </c:pt>
                <c:pt idx="678">
                  <c:v>406.94073471668526</c:v>
                </c:pt>
                <c:pt idx="679">
                  <c:v>406.69354732636771</c:v>
                </c:pt>
                <c:pt idx="680">
                  <c:v>406.4412777249064</c:v>
                </c:pt>
                <c:pt idx="681">
                  <c:v>406.17921643010072</c:v>
                </c:pt>
                <c:pt idx="682">
                  <c:v>405.915633149982</c:v>
                </c:pt>
                <c:pt idx="683">
                  <c:v>405.65084642368078</c:v>
                </c:pt>
                <c:pt idx="684">
                  <c:v>405.38054066638784</c:v>
                </c:pt>
                <c:pt idx="685">
                  <c:v>405.10961323130471</c:v>
                </c:pt>
                <c:pt idx="686">
                  <c:v>404.83277616630988</c:v>
                </c:pt>
                <c:pt idx="687">
                  <c:v>404.55040524599389</c:v>
                </c:pt>
                <c:pt idx="688">
                  <c:v>404.26696285835806</c:v>
                </c:pt>
                <c:pt idx="689">
                  <c:v>403.98100984232963</c:v>
                </c:pt>
                <c:pt idx="690">
                  <c:v>403.69379842347905</c:v>
                </c:pt>
                <c:pt idx="691">
                  <c:v>403.40506937150701</c:v>
                </c:pt>
                <c:pt idx="692">
                  <c:v>403.11451837436948</c:v>
                </c:pt>
                <c:pt idx="693">
                  <c:v>402.82315004427659</c:v>
                </c:pt>
                <c:pt idx="694">
                  <c:v>402.5306699069435</c:v>
                </c:pt>
                <c:pt idx="695">
                  <c:v>402.23762979307082</c:v>
                </c:pt>
                <c:pt idx="696">
                  <c:v>401.94189055916604</c:v>
                </c:pt>
                <c:pt idx="697">
                  <c:v>401.64528686882761</c:v>
                </c:pt>
                <c:pt idx="698">
                  <c:v>401.34637525266635</c:v>
                </c:pt>
                <c:pt idx="699">
                  <c:v>401.04067123539267</c:v>
                </c:pt>
                <c:pt idx="700">
                  <c:v>400.7341064370878</c:v>
                </c:pt>
                <c:pt idx="701">
                  <c:v>400.4244072479795</c:v>
                </c:pt>
                <c:pt idx="702">
                  <c:v>400.113862228583</c:v>
                </c:pt>
                <c:pt idx="703">
                  <c:v>399.80184583701407</c:v>
                </c:pt>
                <c:pt idx="704">
                  <c:v>399.48827783299805</c:v>
                </c:pt>
                <c:pt idx="705">
                  <c:v>399.17367543710901</c:v>
                </c:pt>
                <c:pt idx="706">
                  <c:v>398.85878883653766</c:v>
                </c:pt>
                <c:pt idx="707">
                  <c:v>398.54244651281601</c:v>
                </c:pt>
                <c:pt idx="708">
                  <c:v>398.22322242271082</c:v>
                </c:pt>
                <c:pt idx="709">
                  <c:v>397.90163394671197</c:v>
                </c:pt>
                <c:pt idx="710">
                  <c:v>397.57693471286569</c:v>
                </c:pt>
                <c:pt idx="711">
                  <c:v>397.25187339878471</c:v>
                </c:pt>
                <c:pt idx="712">
                  <c:v>396.92592880978026</c:v>
                </c:pt>
                <c:pt idx="713">
                  <c:v>396.59939544489794</c:v>
                </c:pt>
                <c:pt idx="714">
                  <c:v>396.27172746775977</c:v>
                </c:pt>
                <c:pt idx="715">
                  <c:v>395.9413486965471</c:v>
                </c:pt>
                <c:pt idx="716">
                  <c:v>395.61062769701698</c:v>
                </c:pt>
                <c:pt idx="717">
                  <c:v>395.27917269624885</c:v>
                </c:pt>
                <c:pt idx="718">
                  <c:v>394.94568907857484</c:v>
                </c:pt>
                <c:pt idx="719">
                  <c:v>394.60956966241048</c:v>
                </c:pt>
                <c:pt idx="720">
                  <c:v>394.2732961340937</c:v>
                </c:pt>
                <c:pt idx="721">
                  <c:v>393.93492787772232</c:v>
                </c:pt>
                <c:pt idx="722">
                  <c:v>393.59581374723564</c:v>
                </c:pt>
                <c:pt idx="723">
                  <c:v>393.25404581399522</c:v>
                </c:pt>
                <c:pt idx="724">
                  <c:v>392.91203004937074</c:v>
                </c:pt>
                <c:pt idx="725">
                  <c:v>392.56612723115046</c:v>
                </c:pt>
                <c:pt idx="726">
                  <c:v>392.21713876765364</c:v>
                </c:pt>
                <c:pt idx="727">
                  <c:v>391.86786718085989</c:v>
                </c:pt>
                <c:pt idx="728">
                  <c:v>391.51764211622367</c:v>
                </c:pt>
                <c:pt idx="729">
                  <c:v>391.1673210023543</c:v>
                </c:pt>
                <c:pt idx="730">
                  <c:v>390.81586419882655</c:v>
                </c:pt>
                <c:pt idx="731">
                  <c:v>390.46396272279389</c:v>
                </c:pt>
                <c:pt idx="732">
                  <c:v>390.11136212481523</c:v>
                </c:pt>
                <c:pt idx="733">
                  <c:v>389.75775653521629</c:v>
                </c:pt>
                <c:pt idx="734">
                  <c:v>389.39324380237503</c:v>
                </c:pt>
                <c:pt idx="735">
                  <c:v>389.02343028194997</c:v>
                </c:pt>
                <c:pt idx="736">
                  <c:v>388.65240260114507</c:v>
                </c:pt>
                <c:pt idx="737">
                  <c:v>388.27156184281495</c:v>
                </c:pt>
                <c:pt idx="738">
                  <c:v>387.88274243598045</c:v>
                </c:pt>
                <c:pt idx="739">
                  <c:v>387.49217538582781</c:v>
                </c:pt>
                <c:pt idx="740">
                  <c:v>387.09873285153685</c:v>
                </c:pt>
                <c:pt idx="741">
                  <c:v>386.70313735570596</c:v>
                </c:pt>
                <c:pt idx="742">
                  <c:v>386.30700462735155</c:v>
                </c:pt>
                <c:pt idx="743">
                  <c:v>385.90825528738367</c:v>
                </c:pt>
                <c:pt idx="744">
                  <c:v>385.50679448605592</c:v>
                </c:pt>
                <c:pt idx="745">
                  <c:v>385.09824319329789</c:v>
                </c:pt>
                <c:pt idx="746">
                  <c:v>384.68825397311991</c:v>
                </c:pt>
                <c:pt idx="747">
                  <c:v>384.2728852189187</c:v>
                </c:pt>
                <c:pt idx="748">
                  <c:v>383.85539867070685</c:v>
                </c:pt>
                <c:pt idx="749">
                  <c:v>383.43376747522478</c:v>
                </c:pt>
                <c:pt idx="750">
                  <c:v>383.01196428619204</c:v>
                </c:pt>
                <c:pt idx="751">
                  <c:v>382.58891130967049</c:v>
                </c:pt>
                <c:pt idx="752">
                  <c:v>382.16545174964102</c:v>
                </c:pt>
                <c:pt idx="753">
                  <c:v>381.73812183310781</c:v>
                </c:pt>
                <c:pt idx="754">
                  <c:v>381.30875683944453</c:v>
                </c:pt>
                <c:pt idx="755">
                  <c:v>380.87580916142446</c:v>
                </c:pt>
                <c:pt idx="756">
                  <c:v>380.44206717042204</c:v>
                </c:pt>
                <c:pt idx="757">
                  <c:v>380.00664755089508</c:v>
                </c:pt>
                <c:pt idx="758">
                  <c:v>379.57063157567762</c:v>
                </c:pt>
                <c:pt idx="759">
                  <c:v>379.13336609508497</c:v>
                </c:pt>
                <c:pt idx="760">
                  <c:v>378.69359046296051</c:v>
                </c:pt>
                <c:pt idx="761">
                  <c:v>378.25007650945861</c:v>
                </c:pt>
                <c:pt idx="762">
                  <c:v>377.80480862078355</c:v>
                </c:pt>
                <c:pt idx="763">
                  <c:v>377.35723471669627</c:v>
                </c:pt>
                <c:pt idx="764">
                  <c:v>376.90955261798592</c:v>
                </c:pt>
                <c:pt idx="765">
                  <c:v>376.45899696418638</c:v>
                </c:pt>
                <c:pt idx="766">
                  <c:v>375.99677065307947</c:v>
                </c:pt>
                <c:pt idx="767">
                  <c:v>375.53451935064066</c:v>
                </c:pt>
                <c:pt idx="768">
                  <c:v>375.06421545217222</c:v>
                </c:pt>
                <c:pt idx="769">
                  <c:v>374.59389583945818</c:v>
                </c:pt>
                <c:pt idx="770">
                  <c:v>374.11459052367576</c:v>
                </c:pt>
                <c:pt idx="771">
                  <c:v>373.62868225247024</c:v>
                </c:pt>
                <c:pt idx="772">
                  <c:v>373.13066044265321</c:v>
                </c:pt>
                <c:pt idx="773">
                  <c:v>372.62551758624022</c:v>
                </c:pt>
                <c:pt idx="774">
                  <c:v>372.11762662307234</c:v>
                </c:pt>
                <c:pt idx="775">
                  <c:v>371.60824300232468</c:v>
                </c:pt>
                <c:pt idx="776">
                  <c:v>371.09400821752882</c:v>
                </c:pt>
                <c:pt idx="777">
                  <c:v>370.57709028117722</c:v>
                </c:pt>
                <c:pt idx="778">
                  <c:v>370.05698123008676</c:v>
                </c:pt>
                <c:pt idx="779">
                  <c:v>369.53582123429953</c:v>
                </c:pt>
                <c:pt idx="780">
                  <c:v>369.01432049550351</c:v>
                </c:pt>
                <c:pt idx="781">
                  <c:v>368.4873695436487</c:v>
                </c:pt>
                <c:pt idx="782">
                  <c:v>367.95659812380887</c:v>
                </c:pt>
                <c:pt idx="783">
                  <c:v>367.42504036833128</c:v>
                </c:pt>
                <c:pt idx="784">
                  <c:v>366.89319353328307</c:v>
                </c:pt>
                <c:pt idx="785">
                  <c:v>366.35772607841386</c:v>
                </c:pt>
                <c:pt idx="786">
                  <c:v>365.81606793990278</c:v>
                </c:pt>
                <c:pt idx="787">
                  <c:v>365.27390126539802</c:v>
                </c:pt>
                <c:pt idx="788">
                  <c:v>364.73087251545263</c:v>
                </c:pt>
                <c:pt idx="789">
                  <c:v>364.18006829689438</c:v>
                </c:pt>
                <c:pt idx="790">
                  <c:v>363.62444679849091</c:v>
                </c:pt>
                <c:pt idx="791">
                  <c:v>363.06831708225798</c:v>
                </c:pt>
                <c:pt idx="792">
                  <c:v>362.51178782482049</c:v>
                </c:pt>
                <c:pt idx="793">
                  <c:v>361.95345460100464</c:v>
                </c:pt>
                <c:pt idx="794">
                  <c:v>361.39413607685623</c:v>
                </c:pt>
                <c:pt idx="795">
                  <c:v>360.83149487372401</c:v>
                </c:pt>
                <c:pt idx="796">
                  <c:v>360.25309936652735</c:v>
                </c:pt>
                <c:pt idx="797">
                  <c:v>359.67082292147376</c:v>
                </c:pt>
                <c:pt idx="798">
                  <c:v>359.08620536001757</c:v>
                </c:pt>
                <c:pt idx="799">
                  <c:v>358.49480481460427</c:v>
                </c:pt>
                <c:pt idx="800">
                  <c:v>357.90243809120233</c:v>
                </c:pt>
                <c:pt idx="801">
                  <c:v>357.30682566192979</c:v>
                </c:pt>
                <c:pt idx="802">
                  <c:v>356.70619689014626</c:v>
                </c:pt>
                <c:pt idx="803">
                  <c:v>356.10401391877673</c:v>
                </c:pt>
                <c:pt idx="804">
                  <c:v>355.49919355784988</c:v>
                </c:pt>
                <c:pt idx="805">
                  <c:v>354.89106565259482</c:v>
                </c:pt>
                <c:pt idx="806">
                  <c:v>354.27970758531234</c:v>
                </c:pt>
                <c:pt idx="807">
                  <c:v>353.66459868224189</c:v>
                </c:pt>
                <c:pt idx="808">
                  <c:v>353.04823144620264</c:v>
                </c:pt>
                <c:pt idx="809">
                  <c:v>352.43174696349547</c:v>
                </c:pt>
                <c:pt idx="810">
                  <c:v>351.81281178054576</c:v>
                </c:pt>
                <c:pt idx="811">
                  <c:v>351.19280641018435</c:v>
                </c:pt>
                <c:pt idx="812">
                  <c:v>350.56860671791986</c:v>
                </c:pt>
                <c:pt idx="813">
                  <c:v>349.94015891717339</c:v>
                </c:pt>
                <c:pt idx="814">
                  <c:v>349.30906518232393</c:v>
                </c:pt>
                <c:pt idx="815">
                  <c:v>348.67532186582571</c:v>
                </c:pt>
                <c:pt idx="816">
                  <c:v>348.04041368147995</c:v>
                </c:pt>
                <c:pt idx="817">
                  <c:v>347.40302297189322</c:v>
                </c:pt>
                <c:pt idx="818">
                  <c:v>346.74868845627867</c:v>
                </c:pt>
                <c:pt idx="819">
                  <c:v>346.08983853452878</c:v>
                </c:pt>
                <c:pt idx="820">
                  <c:v>345.42823947631098</c:v>
                </c:pt>
                <c:pt idx="821">
                  <c:v>344.76192794586194</c:v>
                </c:pt>
                <c:pt idx="822">
                  <c:v>344.09147843321762</c:v>
                </c:pt>
                <c:pt idx="823">
                  <c:v>343.41797665780103</c:v>
                </c:pt>
                <c:pt idx="824">
                  <c:v>342.743800277047</c:v>
                </c:pt>
                <c:pt idx="825">
                  <c:v>342.06886813773912</c:v>
                </c:pt>
                <c:pt idx="826">
                  <c:v>341.37674750962015</c:v>
                </c:pt>
                <c:pt idx="827">
                  <c:v>340.66925531927467</c:v>
                </c:pt>
                <c:pt idx="828">
                  <c:v>339.960462500684</c:v>
                </c:pt>
                <c:pt idx="829">
                  <c:v>339.24856109783389</c:v>
                </c:pt>
                <c:pt idx="830">
                  <c:v>338.53383262209513</c:v>
                </c:pt>
                <c:pt idx="831">
                  <c:v>337.81472585202147</c:v>
                </c:pt>
                <c:pt idx="832">
                  <c:v>337.09538323787496</c:v>
                </c:pt>
                <c:pt idx="833">
                  <c:v>336.35852081186022</c:v>
                </c:pt>
                <c:pt idx="834">
                  <c:v>335.62044127578588</c:v>
                </c:pt>
                <c:pt idx="835">
                  <c:v>334.87770632661415</c:v>
                </c:pt>
                <c:pt idx="836">
                  <c:v>334.13075418866077</c:v>
                </c:pt>
                <c:pt idx="837">
                  <c:v>333.3732856767092</c:v>
                </c:pt>
                <c:pt idx="838">
                  <c:v>332.61481224856971</c:v>
                </c:pt>
                <c:pt idx="839">
                  <c:v>331.84007331681261</c:v>
                </c:pt>
                <c:pt idx="840">
                  <c:v>331.05804541986805</c:v>
                </c:pt>
                <c:pt idx="841">
                  <c:v>330.26475096872792</c:v>
                </c:pt>
                <c:pt idx="842">
                  <c:v>329.46716432915736</c:v>
                </c:pt>
                <c:pt idx="843">
                  <c:v>328.66468628950804</c:v>
                </c:pt>
                <c:pt idx="844">
                  <c:v>327.85371025643366</c:v>
                </c:pt>
                <c:pt idx="845">
                  <c:v>327.04236092095232</c:v>
                </c:pt>
                <c:pt idx="846">
                  <c:v>326.22731111620459</c:v>
                </c:pt>
                <c:pt idx="847">
                  <c:v>325.40788408433002</c:v>
                </c:pt>
                <c:pt idx="848">
                  <c:v>324.58451161895044</c:v>
                </c:pt>
                <c:pt idx="849">
                  <c:v>323.75612863858862</c:v>
                </c:pt>
                <c:pt idx="850">
                  <c:v>322.92584798745207</c:v>
                </c:pt>
                <c:pt idx="851">
                  <c:v>322.09490217378499</c:v>
                </c:pt>
                <c:pt idx="852">
                  <c:v>321.26164480733786</c:v>
                </c:pt>
                <c:pt idx="853">
                  <c:v>320.40924162954707</c:v>
                </c:pt>
                <c:pt idx="854">
                  <c:v>319.54619071358508</c:v>
                </c:pt>
                <c:pt idx="855">
                  <c:v>318.68261374292388</c:v>
                </c:pt>
                <c:pt idx="856">
                  <c:v>317.80625435304319</c:v>
                </c:pt>
                <c:pt idx="857">
                  <c:v>316.91348262543806</c:v>
                </c:pt>
                <c:pt idx="858">
                  <c:v>316.01598265104639</c:v>
                </c:pt>
                <c:pt idx="859">
                  <c:v>315.10806211099032</c:v>
                </c:pt>
                <c:pt idx="860">
                  <c:v>314.18653545859655</c:v>
                </c:pt>
                <c:pt idx="861">
                  <c:v>313.26390828736487</c:v>
                </c:pt>
                <c:pt idx="862">
                  <c:v>312.32938770856663</c:v>
                </c:pt>
                <c:pt idx="863">
                  <c:v>311.38068192298601</c:v>
                </c:pt>
                <c:pt idx="864">
                  <c:v>310.42983017977053</c:v>
                </c:pt>
                <c:pt idx="865">
                  <c:v>309.47257783038361</c:v>
                </c:pt>
                <c:pt idx="866">
                  <c:v>308.51247711897287</c:v>
                </c:pt>
                <c:pt idx="867">
                  <c:v>307.5484225778784</c:v>
                </c:pt>
                <c:pt idx="868">
                  <c:v>306.55519280216834</c:v>
                </c:pt>
                <c:pt idx="869">
                  <c:v>305.54332612956586</c:v>
                </c:pt>
                <c:pt idx="870">
                  <c:v>304.52204006039563</c:v>
                </c:pt>
                <c:pt idx="871">
                  <c:v>303.49392833931364</c:v>
                </c:pt>
                <c:pt idx="872">
                  <c:v>302.46313668417361</c:v>
                </c:pt>
                <c:pt idx="873">
                  <c:v>301.42315412514574</c:v>
                </c:pt>
                <c:pt idx="874">
                  <c:v>300.37766208890508</c:v>
                </c:pt>
                <c:pt idx="875">
                  <c:v>299.32344835780987</c:v>
                </c:pt>
                <c:pt idx="876">
                  <c:v>298.23837558367563</c:v>
                </c:pt>
                <c:pt idx="877">
                  <c:v>297.13951130956229</c:v>
                </c:pt>
                <c:pt idx="878">
                  <c:v>296.03621694063048</c:v>
                </c:pt>
                <c:pt idx="879">
                  <c:v>294.93246986504744</c:v>
                </c:pt>
                <c:pt idx="880">
                  <c:v>293.81770841056664</c:v>
                </c:pt>
                <c:pt idx="881">
                  <c:v>292.70114473343239</c:v>
                </c:pt>
                <c:pt idx="882">
                  <c:v>291.57565305618152</c:v>
                </c:pt>
                <c:pt idx="883">
                  <c:v>290.4484007881299</c:v>
                </c:pt>
                <c:pt idx="884">
                  <c:v>289.31931339579393</c:v>
                </c:pt>
                <c:pt idx="885">
                  <c:v>288.18833737736787</c:v>
                </c:pt>
                <c:pt idx="886">
                  <c:v>287.05660651445044</c:v>
                </c:pt>
                <c:pt idx="887">
                  <c:v>285.91092365466596</c:v>
                </c:pt>
                <c:pt idx="888">
                  <c:v>284.7468371884413</c:v>
                </c:pt>
                <c:pt idx="889">
                  <c:v>283.58240865259853</c:v>
                </c:pt>
                <c:pt idx="890">
                  <c:v>282.41534693233586</c:v>
                </c:pt>
                <c:pt idx="891">
                  <c:v>281.24724567756681</c:v>
                </c:pt>
                <c:pt idx="892">
                  <c:v>280.05388274155342</c:v>
                </c:pt>
                <c:pt idx="893">
                  <c:v>278.85376903524855</c:v>
                </c:pt>
                <c:pt idx="894">
                  <c:v>277.64318474068682</c:v>
                </c:pt>
                <c:pt idx="895">
                  <c:v>276.41938516918918</c:v>
                </c:pt>
                <c:pt idx="896">
                  <c:v>275.18894822956645</c:v>
                </c:pt>
                <c:pt idx="897">
                  <c:v>273.95605356829452</c:v>
                </c:pt>
                <c:pt idx="898">
                  <c:v>272.71763939290986</c:v>
                </c:pt>
                <c:pt idx="899">
                  <c:v>271.47619841220296</c:v>
                </c:pt>
                <c:pt idx="900">
                  <c:v>270.23242183461076</c:v>
                </c:pt>
                <c:pt idx="901">
                  <c:v>268.98607321619005</c:v>
                </c:pt>
                <c:pt idx="902">
                  <c:v>267.73649984726961</c:v>
                </c:pt>
                <c:pt idx="903">
                  <c:v>266.48294209499238</c:v>
                </c:pt>
                <c:pt idx="904">
                  <c:v>265.19883516194403</c:v>
                </c:pt>
                <c:pt idx="905">
                  <c:v>263.90536530938084</c:v>
                </c:pt>
                <c:pt idx="906">
                  <c:v>262.60871081320795</c:v>
                </c:pt>
                <c:pt idx="907">
                  <c:v>261.30265217391718</c:v>
                </c:pt>
                <c:pt idx="908">
                  <c:v>259.97261728203705</c:v>
                </c:pt>
                <c:pt idx="909">
                  <c:v>258.63427037685079</c:v>
                </c:pt>
                <c:pt idx="910">
                  <c:v>257.29346771570033</c:v>
                </c:pt>
                <c:pt idx="911">
                  <c:v>255.94448886639483</c:v>
                </c:pt>
                <c:pt idx="912">
                  <c:v>254.57326627841061</c:v>
                </c:pt>
                <c:pt idx="913">
                  <c:v>253.16859414101702</c:v>
                </c:pt>
                <c:pt idx="914">
                  <c:v>251.74949194417434</c:v>
                </c:pt>
                <c:pt idx="915">
                  <c:v>250.30648990158616</c:v>
                </c:pt>
                <c:pt idx="916">
                  <c:v>248.85003208460097</c:v>
                </c:pt>
                <c:pt idx="917">
                  <c:v>247.39176116050601</c:v>
                </c:pt>
                <c:pt idx="918">
                  <c:v>245.9183576896971</c:v>
                </c:pt>
                <c:pt idx="919">
                  <c:v>244.42326631970872</c:v>
                </c:pt>
                <c:pt idx="920">
                  <c:v>242.92409294224097</c:v>
                </c:pt>
                <c:pt idx="921">
                  <c:v>241.41679634683945</c:v>
                </c:pt>
                <c:pt idx="922">
                  <c:v>239.89223325347476</c:v>
                </c:pt>
                <c:pt idx="923">
                  <c:v>238.33817406200097</c:v>
                </c:pt>
                <c:pt idx="924">
                  <c:v>236.77950592438523</c:v>
                </c:pt>
                <c:pt idx="925">
                  <c:v>235.11964950325634</c:v>
                </c:pt>
                <c:pt idx="926">
                  <c:v>233.4242195508798</c:v>
                </c:pt>
                <c:pt idx="927">
                  <c:v>231.71294176070026</c:v>
                </c:pt>
                <c:pt idx="928">
                  <c:v>229.99275886722816</c:v>
                </c:pt>
                <c:pt idx="929">
                  <c:v>228.2596561186609</c:v>
                </c:pt>
                <c:pt idx="930">
                  <c:v>226.51272764854028</c:v>
                </c:pt>
                <c:pt idx="931">
                  <c:v>224.72768694887012</c:v>
                </c:pt>
                <c:pt idx="932">
                  <c:v>222.89809942438887</c:v>
                </c:pt>
                <c:pt idx="933">
                  <c:v>221.02810788114465</c:v>
                </c:pt>
                <c:pt idx="934">
                  <c:v>219.15612781179249</c:v>
                </c:pt>
                <c:pt idx="935">
                  <c:v>217.26441832829647</c:v>
                </c:pt>
                <c:pt idx="936">
                  <c:v>215.34894802789546</c:v>
                </c:pt>
                <c:pt idx="937">
                  <c:v>213.38566961582939</c:v>
                </c:pt>
                <c:pt idx="938">
                  <c:v>211.41991184209942</c:v>
                </c:pt>
                <c:pt idx="939">
                  <c:v>209.39371514505885</c:v>
                </c:pt>
                <c:pt idx="940">
                  <c:v>207.36106359454558</c:v>
                </c:pt>
                <c:pt idx="941">
                  <c:v>205.30791266034302</c:v>
                </c:pt>
                <c:pt idx="942">
                  <c:v>203.21279992343807</c:v>
                </c:pt>
                <c:pt idx="943">
                  <c:v>201.09520803989707</c:v>
                </c:pt>
                <c:pt idx="944">
                  <c:v>198.95931882245773</c:v>
                </c:pt>
                <c:pt idx="945">
                  <c:v>196.81759511834019</c:v>
                </c:pt>
                <c:pt idx="946">
                  <c:v>194.67153610508453</c:v>
                </c:pt>
                <c:pt idx="947">
                  <c:v>192.49421800478714</c:v>
                </c:pt>
                <c:pt idx="948">
                  <c:v>190.2997722292593</c:v>
                </c:pt>
                <c:pt idx="949">
                  <c:v>188.09152938541806</c:v>
                </c:pt>
                <c:pt idx="950">
                  <c:v>185.88250693517185</c:v>
                </c:pt>
                <c:pt idx="951">
                  <c:v>183.6648882978572</c:v>
                </c:pt>
                <c:pt idx="952">
                  <c:v>181.44122951725797</c:v>
                </c:pt>
                <c:pt idx="953">
                  <c:v>179.16408065468033</c:v>
                </c:pt>
                <c:pt idx="954">
                  <c:v>176.86788903422786</c:v>
                </c:pt>
                <c:pt idx="955">
                  <c:v>174.50373270186259</c:v>
                </c:pt>
                <c:pt idx="956">
                  <c:v>172.12531123499105</c:v>
                </c:pt>
                <c:pt idx="957">
                  <c:v>169.74329758239173</c:v>
                </c:pt>
                <c:pt idx="958">
                  <c:v>167.32045994100707</c:v>
                </c:pt>
                <c:pt idx="959">
                  <c:v>164.81268948831266</c:v>
                </c:pt>
                <c:pt idx="960">
                  <c:v>162.30288254246645</c:v>
                </c:pt>
                <c:pt idx="961">
                  <c:v>159.78932380665205</c:v>
                </c:pt>
                <c:pt idx="962">
                  <c:v>157.27310720383153</c:v>
                </c:pt>
                <c:pt idx="963">
                  <c:v>154.73742831675662</c:v>
                </c:pt>
                <c:pt idx="964">
                  <c:v>152.20045343809545</c:v>
                </c:pt>
                <c:pt idx="965">
                  <c:v>149.65268444923842</c:v>
                </c:pt>
                <c:pt idx="966">
                  <c:v>147.07242339329267</c:v>
                </c:pt>
                <c:pt idx="967">
                  <c:v>144.47927768868487</c:v>
                </c:pt>
                <c:pt idx="968">
                  <c:v>141.86576379433717</c:v>
                </c:pt>
                <c:pt idx="969">
                  <c:v>139.24446463110573</c:v>
                </c:pt>
                <c:pt idx="970">
                  <c:v>136.59842044362708</c:v>
                </c:pt>
                <c:pt idx="971">
                  <c:v>133.8949962135494</c:v>
                </c:pt>
                <c:pt idx="972">
                  <c:v>131.17039826897172</c:v>
                </c:pt>
                <c:pt idx="973">
                  <c:v>128.43442366460431</c:v>
                </c:pt>
                <c:pt idx="974">
                  <c:v>125.58662086222851</c:v>
                </c:pt>
                <c:pt idx="975">
                  <c:v>122.73284632262876</c:v>
                </c:pt>
                <c:pt idx="976">
                  <c:v>119.82769946264405</c:v>
                </c:pt>
                <c:pt idx="977">
                  <c:v>116.89501564044541</c:v>
                </c:pt>
                <c:pt idx="978">
                  <c:v>113.94317599746169</c:v>
                </c:pt>
                <c:pt idx="979">
                  <c:v>110.98891275188339</c:v>
                </c:pt>
                <c:pt idx="980">
                  <c:v>107.8722082931492</c:v>
                </c:pt>
                <c:pt idx="981">
                  <c:v>104.74077560837534</c:v>
                </c:pt>
                <c:pt idx="982">
                  <c:v>101.59390653833694</c:v>
                </c:pt>
                <c:pt idx="983">
                  <c:v>98.406749919701824</c:v>
                </c:pt>
                <c:pt idx="984">
                  <c:v>95.181840777558349</c:v>
                </c:pt>
                <c:pt idx="985">
                  <c:v>91.943300408605438</c:v>
                </c:pt>
                <c:pt idx="986">
                  <c:v>88.684193119065952</c:v>
                </c:pt>
                <c:pt idx="987">
                  <c:v>85.413495266087807</c:v>
                </c:pt>
                <c:pt idx="988">
                  <c:v>82.062677192724053</c:v>
                </c:pt>
                <c:pt idx="989">
                  <c:v>78.70032253216597</c:v>
                </c:pt>
                <c:pt idx="990">
                  <c:v>75.305137364150866</c:v>
                </c:pt>
                <c:pt idx="991">
                  <c:v>71.826106987806412</c:v>
                </c:pt>
                <c:pt idx="992">
                  <c:v>68.249415348386805</c:v>
                </c:pt>
                <c:pt idx="993">
                  <c:v>64.650870956407687</c:v>
                </c:pt>
                <c:pt idx="994">
                  <c:v>61.026617966134651</c:v>
                </c:pt>
                <c:pt idx="995">
                  <c:v>57.397302147127839</c:v>
                </c:pt>
                <c:pt idx="996">
                  <c:v>53.765809983920555</c:v>
                </c:pt>
                <c:pt idx="997">
                  <c:v>50.110279673753681</c:v>
                </c:pt>
                <c:pt idx="998">
                  <c:v>46.407569285497487</c:v>
                </c:pt>
                <c:pt idx="999">
                  <c:v>42.679340773881385</c:v>
                </c:pt>
                <c:pt idx="1000">
                  <c:v>38.916693877958849</c:v>
                </c:pt>
                <c:pt idx="1001">
                  <c:v>35.084270301406896</c:v>
                </c:pt>
                <c:pt idx="1002">
                  <c:v>31.170063993607016</c:v>
                </c:pt>
                <c:pt idx="1003">
                  <c:v>27.228476111234908</c:v>
                </c:pt>
                <c:pt idx="1004">
                  <c:v>23.276016932563071</c:v>
                </c:pt>
                <c:pt idx="1005">
                  <c:v>19.289127280901745</c:v>
                </c:pt>
                <c:pt idx="1006">
                  <c:v>15.217037326928789</c:v>
                </c:pt>
                <c:pt idx="1007">
                  <c:v>10.948382013281259</c:v>
                </c:pt>
                <c:pt idx="1008">
                  <c:v>6.6608188138930915</c:v>
                </c:pt>
                <c:pt idx="1009">
                  <c:v>2.2925912589812012</c:v>
                </c:pt>
                <c:pt idx="1010">
                  <c:v>-2.0772713297454266</c:v>
                </c:pt>
                <c:pt idx="1011">
                  <c:v>-6.4872780872325491</c:v>
                </c:pt>
                <c:pt idx="1012">
                  <c:v>-10.954408526380151</c:v>
                </c:pt>
                <c:pt idx="1013">
                  <c:v>-15.55587795693984</c:v>
                </c:pt>
                <c:pt idx="1014">
                  <c:v>-20.16281578796805</c:v>
                </c:pt>
                <c:pt idx="1015">
                  <c:v>-24.972594805466777</c:v>
                </c:pt>
                <c:pt idx="1016">
                  <c:v>-29.820572828199928</c:v>
                </c:pt>
                <c:pt idx="1017">
                  <c:v>-34.790100125739748</c:v>
                </c:pt>
                <c:pt idx="1018">
                  <c:v>-39.837803201814786</c:v>
                </c:pt>
                <c:pt idx="1019">
                  <c:v>-44.96152394800184</c:v>
                </c:pt>
                <c:pt idx="1020">
                  <c:v>-50.471449047898844</c:v>
                </c:pt>
                <c:pt idx="1021">
                  <c:v>-55.989052812778652</c:v>
                </c:pt>
                <c:pt idx="1022">
                  <c:v>-61.521264149549005</c:v>
                </c:pt>
                <c:pt idx="1023">
                  <c:v>-67.125734515109372</c:v>
                </c:pt>
                <c:pt idx="1024">
                  <c:v>-73.13291066445295</c:v>
                </c:pt>
                <c:pt idx="1025">
                  <c:v>-79.165306666101003</c:v>
                </c:pt>
                <c:pt idx="1026">
                  <c:v>-85.290606437030277</c:v>
                </c:pt>
                <c:pt idx="1027">
                  <c:v>-91.647531174888172</c:v>
                </c:pt>
                <c:pt idx="1028">
                  <c:v>-98.133516680295656</c:v>
                </c:pt>
                <c:pt idx="1029">
                  <c:v>-104.63854165125757</c:v>
                </c:pt>
                <c:pt idx="1030">
                  <c:v>-111.42408932784191</c:v>
                </c:pt>
                <c:pt idx="1031">
                  <c:v>-118.38709399971903</c:v>
                </c:pt>
                <c:pt idx="1032">
                  <c:v>-125.53150483447699</c:v>
                </c:pt>
                <c:pt idx="1033">
                  <c:v>-132.91905154312815</c:v>
                </c:pt>
                <c:pt idx="1034">
                  <c:v>-140.61147674657582</c:v>
                </c:pt>
                <c:pt idx="1035">
                  <c:v>-148.35474460860095</c:v>
                </c:pt>
                <c:pt idx="1036">
                  <c:v>-156.42297357736348</c:v>
                </c:pt>
                <c:pt idx="1037">
                  <c:v>-165.53541327472533</c:v>
                </c:pt>
                <c:pt idx="1038">
                  <c:v>-175.18004566499326</c:v>
                </c:pt>
                <c:pt idx="1039">
                  <c:v>-185.08054476399425</c:v>
                </c:pt>
                <c:pt idx="1040">
                  <c:v>-195.36024185352764</c:v>
                </c:pt>
                <c:pt idx="1041">
                  <c:v>-206.56151045816873</c:v>
                </c:pt>
                <c:pt idx="1042">
                  <c:v>-218.23081895597301</c:v>
                </c:pt>
                <c:pt idx="1043">
                  <c:v>-230.00086041725274</c:v>
                </c:pt>
                <c:pt idx="1044">
                  <c:v>-242.58091353472679</c:v>
                </c:pt>
                <c:pt idx="1045">
                  <c:v>-256.03956242395549</c:v>
                </c:pt>
                <c:pt idx="1046">
                  <c:v>-274.1876755033756</c:v>
                </c:pt>
                <c:pt idx="1047">
                  <c:v>-301.13746389599476</c:v>
                </c:pt>
                <c:pt idx="1048">
                  <c:v>-330.73022758451384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A4-4B42-A355-F9757BCA24A3}"/>
            </c:ext>
          </c:extLst>
        </c:ser>
        <c:ser>
          <c:idx val="1"/>
          <c:order val="1"/>
          <c:tx>
            <c:strRef>
              <c:f>'Whale Curve'!$K$5</c:f>
              <c:strCache>
                <c:ptCount val="1"/>
                <c:pt idx="0">
                  <c:v>LGD</c:v>
                </c:pt>
              </c:strCache>
            </c:strRef>
          </c:tx>
          <c:spPr>
            <a:ln w="19050">
              <a:solidFill>
                <a:srgbClr val="C10C3F"/>
              </a:solidFill>
            </a:ln>
          </c:spPr>
          <c:marker>
            <c:symbol val="none"/>
          </c:marker>
          <c:dPt>
            <c:idx val="641"/>
            <c:marker>
              <c:symbol val="circle"/>
              <c:size val="3"/>
              <c:spPr>
                <a:solidFill>
                  <a:sysClr val="window" lastClr="FFFFFF"/>
                </a:solidFill>
                <a:ln w="12700">
                  <a:solidFill>
                    <a:srgbClr val="C10C3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CA4-4B42-A355-F9757BCA24A3}"/>
              </c:ext>
            </c:extLst>
          </c:dPt>
          <c:val>
            <c:numRef>
              <c:f>'Whale Curve'!$L$5:$YC$5</c:f>
              <c:numCache>
                <c:formatCode>#,##0_ </c:formatCode>
                <c:ptCount val="642"/>
                <c:pt idx="0">
                  <c:v>4.1326394744618407</c:v>
                </c:pt>
                <c:pt idx="1">
                  <c:v>8.2565670443966788</c:v>
                </c:pt>
                <c:pt idx="2">
                  <c:v>11.823122752805677</c:v>
                </c:pt>
                <c:pt idx="3">
                  <c:v>15.294658749046784</c:v>
                </c:pt>
                <c:pt idx="4">
                  <c:v>18.706764834845931</c:v>
                </c:pt>
                <c:pt idx="5">
                  <c:v>21.713384254988537</c:v>
                </c:pt>
                <c:pt idx="6">
                  <c:v>24.66382788663147</c:v>
                </c:pt>
                <c:pt idx="7">
                  <c:v>27.377381001443872</c:v>
                </c:pt>
                <c:pt idx="8">
                  <c:v>29.88816624558752</c:v>
                </c:pt>
                <c:pt idx="9">
                  <c:v>32.314609159597055</c:v>
                </c:pt>
                <c:pt idx="10">
                  <c:v>34.417368507586772</c:v>
                </c:pt>
                <c:pt idx="11">
                  <c:v>36.384303325433265</c:v>
                </c:pt>
                <c:pt idx="12">
                  <c:v>38.340224107156608</c:v>
                </c:pt>
                <c:pt idx="13">
                  <c:v>40.124585372921189</c:v>
                </c:pt>
                <c:pt idx="14">
                  <c:v>41.897812323907736</c:v>
                </c:pt>
                <c:pt idx="15">
                  <c:v>43.578057811739924</c:v>
                </c:pt>
                <c:pt idx="16">
                  <c:v>45.174311918165834</c:v>
                </c:pt>
                <c:pt idx="17">
                  <c:v>46.699036662767227</c:v>
                </c:pt>
                <c:pt idx="18">
                  <c:v>48.168605519573752</c:v>
                </c:pt>
                <c:pt idx="19">
                  <c:v>49.579300637070382</c:v>
                </c:pt>
                <c:pt idx="20">
                  <c:v>50.932094700582546</c:v>
                </c:pt>
                <c:pt idx="21">
                  <c:v>52.27084357147276</c:v>
                </c:pt>
                <c:pt idx="22">
                  <c:v>53.541060966091649</c:v>
                </c:pt>
                <c:pt idx="23">
                  <c:v>54.754618044638157</c:v>
                </c:pt>
                <c:pt idx="24">
                  <c:v>55.919645258196262</c:v>
                </c:pt>
                <c:pt idx="25">
                  <c:v>57.073791965659723</c:v>
                </c:pt>
                <c:pt idx="26">
                  <c:v>58.201871685492904</c:v>
                </c:pt>
                <c:pt idx="27">
                  <c:v>59.281488201015733</c:v>
                </c:pt>
                <c:pt idx="28">
                  <c:v>60.338640391404979</c:v>
                </c:pt>
                <c:pt idx="29">
                  <c:v>61.379069582902318</c:v>
                </c:pt>
                <c:pt idx="30">
                  <c:v>62.388632886104794</c:v>
                </c:pt>
                <c:pt idx="31">
                  <c:v>63.37118358330742</c:v>
                </c:pt>
                <c:pt idx="32">
                  <c:v>64.313451039923777</c:v>
                </c:pt>
                <c:pt idx="33">
                  <c:v>65.204734593247395</c:v>
                </c:pt>
                <c:pt idx="34">
                  <c:v>65.987748158714183</c:v>
                </c:pt>
                <c:pt idx="35">
                  <c:v>66.68213059458833</c:v>
                </c:pt>
                <c:pt idx="36">
                  <c:v>67.354584753522062</c:v>
                </c:pt>
                <c:pt idx="37">
                  <c:v>67.973997525225343</c:v>
                </c:pt>
                <c:pt idx="38">
                  <c:v>68.565212629665638</c:v>
                </c:pt>
                <c:pt idx="39">
                  <c:v>69.122586924929195</c:v>
                </c:pt>
                <c:pt idx="40">
                  <c:v>69.651571510945985</c:v>
                </c:pt>
                <c:pt idx="41">
                  <c:v>70.166603044397931</c:v>
                </c:pt>
                <c:pt idx="42">
                  <c:v>70.678445092704138</c:v>
                </c:pt>
                <c:pt idx="43">
                  <c:v>71.157675343436821</c:v>
                </c:pt>
                <c:pt idx="44">
                  <c:v>71.629205102738567</c:v>
                </c:pt>
                <c:pt idx="45">
                  <c:v>72.077796310955918</c:v>
                </c:pt>
                <c:pt idx="46">
                  <c:v>72.47564292337016</c:v>
                </c:pt>
                <c:pt idx="47">
                  <c:v>72.863716358317916</c:v>
                </c:pt>
                <c:pt idx="48">
                  <c:v>73.251145696789251</c:v>
                </c:pt>
                <c:pt idx="49">
                  <c:v>73.632795734097058</c:v>
                </c:pt>
                <c:pt idx="50">
                  <c:v>73.985324541655089</c:v>
                </c:pt>
                <c:pt idx="51">
                  <c:v>74.259601930692057</c:v>
                </c:pt>
                <c:pt idx="52">
                  <c:v>74.529295153508372</c:v>
                </c:pt>
                <c:pt idx="53">
                  <c:v>74.789218397611165</c:v>
                </c:pt>
                <c:pt idx="54">
                  <c:v>75.042318855150114</c:v>
                </c:pt>
                <c:pt idx="55">
                  <c:v>75.292012808130693</c:v>
                </c:pt>
                <c:pt idx="56">
                  <c:v>75.52790673925935</c:v>
                </c:pt>
                <c:pt idx="57">
                  <c:v>75.763604772281653</c:v>
                </c:pt>
                <c:pt idx="58">
                  <c:v>75.98945144988474</c:v>
                </c:pt>
                <c:pt idx="59">
                  <c:v>76.197083722270662</c:v>
                </c:pt>
                <c:pt idx="60">
                  <c:v>76.40459444221824</c:v>
                </c:pt>
                <c:pt idx="61">
                  <c:v>76.600009936047698</c:v>
                </c:pt>
                <c:pt idx="62">
                  <c:v>76.792287421839717</c:v>
                </c:pt>
                <c:pt idx="63">
                  <c:v>76.978028989243001</c:v>
                </c:pt>
                <c:pt idx="64">
                  <c:v>77.161844486855117</c:v>
                </c:pt>
                <c:pt idx="65">
                  <c:v>77.337800395792812</c:v>
                </c:pt>
                <c:pt idx="66">
                  <c:v>77.506091824002979</c:v>
                </c:pt>
                <c:pt idx="67">
                  <c:v>77.643599809455992</c:v>
                </c:pt>
                <c:pt idx="68">
                  <c:v>77.774726209454656</c:v>
                </c:pt>
                <c:pt idx="69">
                  <c:v>77.90023318623453</c:v>
                </c:pt>
                <c:pt idx="70">
                  <c:v>78.023234506529917</c:v>
                </c:pt>
                <c:pt idx="71">
                  <c:v>78.142856504632888</c:v>
                </c:pt>
                <c:pt idx="72">
                  <c:v>78.260740017776428</c:v>
                </c:pt>
                <c:pt idx="73">
                  <c:v>78.376784469183434</c:v>
                </c:pt>
                <c:pt idx="74">
                  <c:v>78.490160505169996</c:v>
                </c:pt>
                <c:pt idx="75">
                  <c:v>78.59719554134972</c:v>
                </c:pt>
                <c:pt idx="76">
                  <c:v>78.703392912408233</c:v>
                </c:pt>
                <c:pt idx="77">
                  <c:v>78.795330730265462</c:v>
                </c:pt>
                <c:pt idx="78">
                  <c:v>78.881910427599834</c:v>
                </c:pt>
                <c:pt idx="79">
                  <c:v>78.961333007031016</c:v>
                </c:pt>
                <c:pt idx="80">
                  <c:v>79.035398254784724</c:v>
                </c:pt>
                <c:pt idx="81">
                  <c:v>79.104814994040055</c:v>
                </c:pt>
                <c:pt idx="82">
                  <c:v>79.169648479515587</c:v>
                </c:pt>
                <c:pt idx="83">
                  <c:v>79.230811148511492</c:v>
                </c:pt>
                <c:pt idx="84">
                  <c:v>79.289025472937027</c:v>
                </c:pt>
                <c:pt idx="85">
                  <c:v>79.346333142916521</c:v>
                </c:pt>
                <c:pt idx="86">
                  <c:v>79.402719207194096</c:v>
                </c:pt>
                <c:pt idx="87">
                  <c:v>79.458454129126878</c:v>
                </c:pt>
                <c:pt idx="88">
                  <c:v>79.505486192894949</c:v>
                </c:pt>
                <c:pt idx="89">
                  <c:v>79.552231040573375</c:v>
                </c:pt>
                <c:pt idx="90">
                  <c:v>79.597676742004936</c:v>
                </c:pt>
                <c:pt idx="91">
                  <c:v>79.642993643175359</c:v>
                </c:pt>
                <c:pt idx="92">
                  <c:v>79.688222310845589</c:v>
                </c:pt>
                <c:pt idx="93">
                  <c:v>79.732293731315167</c:v>
                </c:pt>
                <c:pt idx="94">
                  <c:v>79.77489129744454</c:v>
                </c:pt>
                <c:pt idx="95">
                  <c:v>79.817160064205879</c:v>
                </c:pt>
                <c:pt idx="96">
                  <c:v>79.859190572254235</c:v>
                </c:pt>
                <c:pt idx="97">
                  <c:v>79.901032671965936</c:v>
                </c:pt>
                <c:pt idx="98">
                  <c:v>79.940735622375342</c:v>
                </c:pt>
                <c:pt idx="99">
                  <c:v>79.979431951721764</c:v>
                </c:pt>
                <c:pt idx="100">
                  <c:v>80.01601766497474</c:v>
                </c:pt>
                <c:pt idx="101">
                  <c:v>80.052439643976285</c:v>
                </c:pt>
                <c:pt idx="102">
                  <c:v>80.087737723900716</c:v>
                </c:pt>
                <c:pt idx="103">
                  <c:v>80.122977994963719</c:v>
                </c:pt>
                <c:pt idx="104">
                  <c:v>80.157664023902498</c:v>
                </c:pt>
                <c:pt idx="105">
                  <c:v>80.191757010892431</c:v>
                </c:pt>
                <c:pt idx="106">
                  <c:v>80.224076105017076</c:v>
                </c:pt>
                <c:pt idx="107">
                  <c:v>80.254790727654139</c:v>
                </c:pt>
                <c:pt idx="108">
                  <c:v>80.284407905113781</c:v>
                </c:pt>
                <c:pt idx="109">
                  <c:v>80.313185734749396</c:v>
                </c:pt>
                <c:pt idx="110">
                  <c:v>80.341677734037873</c:v>
                </c:pt>
                <c:pt idx="111">
                  <c:v>80.370019793096958</c:v>
                </c:pt>
                <c:pt idx="112">
                  <c:v>80.398094761275317</c:v>
                </c:pt>
                <c:pt idx="113">
                  <c:v>80.423758452878062</c:v>
                </c:pt>
                <c:pt idx="114">
                  <c:v>80.44754410834841</c:v>
                </c:pt>
                <c:pt idx="115">
                  <c:v>80.470622250943407</c:v>
                </c:pt>
                <c:pt idx="116">
                  <c:v>80.492792878663295</c:v>
                </c:pt>
                <c:pt idx="117">
                  <c:v>80.513623115240279</c:v>
                </c:pt>
                <c:pt idx="118">
                  <c:v>80.534147372861213</c:v>
                </c:pt>
                <c:pt idx="119">
                  <c:v>80.553816309391209</c:v>
                </c:pt>
                <c:pt idx="120">
                  <c:v>80.57208721471909</c:v>
                </c:pt>
                <c:pt idx="121">
                  <c:v>80.587745465236068</c:v>
                </c:pt>
                <c:pt idx="122">
                  <c:v>80.602009072030242</c:v>
                </c:pt>
                <c:pt idx="123">
                  <c:v>80.615192827794843</c:v>
                </c:pt>
                <c:pt idx="124">
                  <c:v>80.624911086554775</c:v>
                </c:pt>
                <c:pt idx="125">
                  <c:v>80.63393635179213</c:v>
                </c:pt>
                <c:pt idx="126">
                  <c:v>80.642767908808253</c:v>
                </c:pt>
                <c:pt idx="127">
                  <c:v>80.650904989149595</c:v>
                </c:pt>
                <c:pt idx="128">
                  <c:v>80.658939147605864</c:v>
                </c:pt>
                <c:pt idx="129">
                  <c:v>80.66675277688509</c:v>
                </c:pt>
                <c:pt idx="130">
                  <c:v>80.673559112618094</c:v>
                </c:pt>
                <c:pt idx="131">
                  <c:v>80.680083872061914</c:v>
                </c:pt>
                <c:pt idx="132">
                  <c:v>80.685935497797658</c:v>
                </c:pt>
                <c:pt idx="133">
                  <c:v>80.691565211513606</c:v>
                </c:pt>
                <c:pt idx="134">
                  <c:v>80.69680655130837</c:v>
                </c:pt>
                <c:pt idx="135">
                  <c:v>80.701712171314213</c:v>
                </c:pt>
                <c:pt idx="136">
                  <c:v>80.706300754119667</c:v>
                </c:pt>
                <c:pt idx="137">
                  <c:v>80.710843981216541</c:v>
                </c:pt>
                <c:pt idx="138">
                  <c:v>80.71526060007173</c:v>
                </c:pt>
                <c:pt idx="139">
                  <c:v>80.719036530795535</c:v>
                </c:pt>
                <c:pt idx="140">
                  <c:v>80.722343466426054</c:v>
                </c:pt>
                <c:pt idx="141">
                  <c:v>80.72562938527382</c:v>
                </c:pt>
                <c:pt idx="142">
                  <c:v>80.728635057713561</c:v>
                </c:pt>
                <c:pt idx="143">
                  <c:v>80.731303545010093</c:v>
                </c:pt>
                <c:pt idx="144">
                  <c:v>80.733943481753741</c:v>
                </c:pt>
                <c:pt idx="145">
                  <c:v>80.736500106559475</c:v>
                </c:pt>
                <c:pt idx="146">
                  <c:v>80.738994385583567</c:v>
                </c:pt>
                <c:pt idx="147">
                  <c:v>80.74120133387008</c:v>
                </c:pt>
                <c:pt idx="148">
                  <c:v>80.743096695681899</c:v>
                </c:pt>
                <c:pt idx="149">
                  <c:v>80.744943966074928</c:v>
                </c:pt>
                <c:pt idx="150">
                  <c:v>80.746755653978298</c:v>
                </c:pt>
                <c:pt idx="151">
                  <c:v>80.748429069802484</c:v>
                </c:pt>
                <c:pt idx="152">
                  <c:v>80.750058219565588</c:v>
                </c:pt>
                <c:pt idx="153">
                  <c:v>80.751343264288209</c:v>
                </c:pt>
                <c:pt idx="154">
                  <c:v>80.752458554470039</c:v>
                </c:pt>
                <c:pt idx="155">
                  <c:v>80.753515856943949</c:v>
                </c:pt>
                <c:pt idx="156">
                  <c:v>80.754536966894207</c:v>
                </c:pt>
                <c:pt idx="157">
                  <c:v>80.755483389354282</c:v>
                </c:pt>
                <c:pt idx="158">
                  <c:v>80.75641092101587</c:v>
                </c:pt>
                <c:pt idx="159">
                  <c:v>80.757070840936123</c:v>
                </c:pt>
                <c:pt idx="160">
                  <c:v>80.757582487085585</c:v>
                </c:pt>
                <c:pt idx="161">
                  <c:v>80.757869255894491</c:v>
                </c:pt>
                <c:pt idx="162">
                  <c:v>80.758102571132781</c:v>
                </c:pt>
                <c:pt idx="163">
                  <c:v>80.75820143803243</c:v>
                </c:pt>
                <c:pt idx="164">
                  <c:v>80.758265226139955</c:v>
                </c:pt>
                <c:pt idx="165">
                  <c:v>80.758198012129228</c:v>
                </c:pt>
                <c:pt idx="166">
                  <c:v>80.758004541939158</c:v>
                </c:pt>
                <c:pt idx="167">
                  <c:v>80.757808810248051</c:v>
                </c:pt>
                <c:pt idx="168">
                  <c:v>80.75755962090264</c:v>
                </c:pt>
                <c:pt idx="169">
                  <c:v>80.757256363196205</c:v>
                </c:pt>
                <c:pt idx="170">
                  <c:v>80.756912103886847</c:v>
                </c:pt>
                <c:pt idx="171">
                  <c:v>80.755933836900127</c:v>
                </c:pt>
                <c:pt idx="172">
                  <c:v>80.754912823116371</c:v>
                </c:pt>
                <c:pt idx="173">
                  <c:v>80.753859317117104</c:v>
                </c:pt>
                <c:pt idx="174">
                  <c:v>80.752609717211072</c:v>
                </c:pt>
                <c:pt idx="175">
                  <c:v>80.751086686008563</c:v>
                </c:pt>
                <c:pt idx="176">
                  <c:v>80.749299270910512</c:v>
                </c:pt>
                <c:pt idx="177">
                  <c:v>80.747267443383478</c:v>
                </c:pt>
                <c:pt idx="178">
                  <c:v>80.744771605734542</c:v>
                </c:pt>
                <c:pt idx="179">
                  <c:v>80.742102909474298</c:v>
                </c:pt>
                <c:pt idx="180">
                  <c:v>80.739349916958034</c:v>
                </c:pt>
                <c:pt idx="181">
                  <c:v>80.736526266158734</c:v>
                </c:pt>
                <c:pt idx="182">
                  <c:v>80.732998772774451</c:v>
                </c:pt>
                <c:pt idx="183">
                  <c:v>80.729334936547318</c:v>
                </c:pt>
                <c:pt idx="184">
                  <c:v>80.72563468645609</c:v>
                </c:pt>
                <c:pt idx="185">
                  <c:v>80.721628381351678</c:v>
                </c:pt>
                <c:pt idx="186">
                  <c:v>80.717540393319467</c:v>
                </c:pt>
                <c:pt idx="187">
                  <c:v>80.713353790776083</c:v>
                </c:pt>
                <c:pt idx="188">
                  <c:v>80.709076783752892</c:v>
                </c:pt>
                <c:pt idx="189">
                  <c:v>80.704483136534563</c:v>
                </c:pt>
                <c:pt idx="190">
                  <c:v>80.699800521923933</c:v>
                </c:pt>
                <c:pt idx="191">
                  <c:v>80.695052698706732</c:v>
                </c:pt>
                <c:pt idx="192">
                  <c:v>80.69011327778297</c:v>
                </c:pt>
                <c:pt idx="193">
                  <c:v>80.685002249626379</c:v>
                </c:pt>
                <c:pt idx="194">
                  <c:v>80.679727595914215</c:v>
                </c:pt>
                <c:pt idx="195">
                  <c:v>80.673854127185777</c:v>
                </c:pt>
                <c:pt idx="196">
                  <c:v>80.667697926864719</c:v>
                </c:pt>
                <c:pt idx="197">
                  <c:v>80.661409610337756</c:v>
                </c:pt>
                <c:pt idx="198">
                  <c:v>80.65491372074419</c:v>
                </c:pt>
                <c:pt idx="199">
                  <c:v>80.64564428654279</c:v>
                </c:pt>
                <c:pt idx="200">
                  <c:v>80.635552395810407</c:v>
                </c:pt>
                <c:pt idx="201">
                  <c:v>80.625253443385319</c:v>
                </c:pt>
                <c:pt idx="202">
                  <c:v>80.614359192083413</c:v>
                </c:pt>
                <c:pt idx="203">
                  <c:v>80.60256952147347</c:v>
                </c:pt>
                <c:pt idx="204">
                  <c:v>80.590385826001395</c:v>
                </c:pt>
                <c:pt idx="205">
                  <c:v>80.576857205531866</c:v>
                </c:pt>
                <c:pt idx="206">
                  <c:v>80.562408188945327</c:v>
                </c:pt>
                <c:pt idx="207">
                  <c:v>80.547264707844491</c:v>
                </c:pt>
                <c:pt idx="208">
                  <c:v>80.531779292013027</c:v>
                </c:pt>
                <c:pt idx="209">
                  <c:v>80.515888162228109</c:v>
                </c:pt>
                <c:pt idx="210">
                  <c:v>80.498644288757532</c:v>
                </c:pt>
                <c:pt idx="211">
                  <c:v>80.480972404336313</c:v>
                </c:pt>
                <c:pt idx="212">
                  <c:v>80.462314687386609</c:v>
                </c:pt>
                <c:pt idx="213">
                  <c:v>80.439043457917336</c:v>
                </c:pt>
                <c:pt idx="214">
                  <c:v>80.415633618719994</c:v>
                </c:pt>
                <c:pt idx="215">
                  <c:v>80.392202673359705</c:v>
                </c:pt>
                <c:pt idx="216">
                  <c:v>80.368394369461143</c:v>
                </c:pt>
                <c:pt idx="217">
                  <c:v>80.344543057592205</c:v>
                </c:pt>
                <c:pt idx="218">
                  <c:v>80.320331540424263</c:v>
                </c:pt>
                <c:pt idx="219">
                  <c:v>80.295695386802464</c:v>
                </c:pt>
                <c:pt idx="220">
                  <c:v>80.269836160980205</c:v>
                </c:pt>
                <c:pt idx="221">
                  <c:v>80.243386820154527</c:v>
                </c:pt>
                <c:pt idx="222">
                  <c:v>80.216920345614284</c:v>
                </c:pt>
                <c:pt idx="223">
                  <c:v>80.189571247209059</c:v>
                </c:pt>
                <c:pt idx="224">
                  <c:v>80.160853798109784</c:v>
                </c:pt>
                <c:pt idx="225">
                  <c:v>80.13107140150187</c:v>
                </c:pt>
                <c:pt idx="226">
                  <c:v>80.101270053270383</c:v>
                </c:pt>
                <c:pt idx="227">
                  <c:v>80.07011996076875</c:v>
                </c:pt>
                <c:pt idx="228">
                  <c:v>80.038101290393172</c:v>
                </c:pt>
                <c:pt idx="229">
                  <c:v>80.00551558707599</c:v>
                </c:pt>
                <c:pt idx="230">
                  <c:v>79.9723576525151</c:v>
                </c:pt>
                <c:pt idx="231">
                  <c:v>79.938817121696218</c:v>
                </c:pt>
                <c:pt idx="232">
                  <c:v>79.903492131254481</c:v>
                </c:pt>
                <c:pt idx="233">
                  <c:v>79.867060658412498</c:v>
                </c:pt>
                <c:pt idx="234">
                  <c:v>79.827957523529534</c:v>
                </c:pt>
                <c:pt idx="235">
                  <c:v>79.786242006740935</c:v>
                </c:pt>
                <c:pt idx="236">
                  <c:v>79.743881931023822</c:v>
                </c:pt>
                <c:pt idx="237">
                  <c:v>79.698944890455124</c:v>
                </c:pt>
                <c:pt idx="238">
                  <c:v>79.653845630269828</c:v>
                </c:pt>
                <c:pt idx="239">
                  <c:v>79.606794968565382</c:v>
                </c:pt>
                <c:pt idx="240">
                  <c:v>79.559093007442442</c:v>
                </c:pt>
                <c:pt idx="241">
                  <c:v>79.508986512330139</c:v>
                </c:pt>
                <c:pt idx="242">
                  <c:v>79.457391845238746</c:v>
                </c:pt>
                <c:pt idx="243">
                  <c:v>79.40562570772984</c:v>
                </c:pt>
                <c:pt idx="244">
                  <c:v>79.353754707895703</c:v>
                </c:pt>
                <c:pt idx="245">
                  <c:v>79.301333251390872</c:v>
                </c:pt>
                <c:pt idx="246">
                  <c:v>79.247844134389226</c:v>
                </c:pt>
                <c:pt idx="247">
                  <c:v>79.194153453729456</c:v>
                </c:pt>
                <c:pt idx="248">
                  <c:v>79.139145689464016</c:v>
                </c:pt>
                <c:pt idx="249">
                  <c:v>79.082979889110845</c:v>
                </c:pt>
                <c:pt idx="250">
                  <c:v>79.026028745283355</c:v>
                </c:pt>
                <c:pt idx="251">
                  <c:v>78.969014370801119</c:v>
                </c:pt>
                <c:pt idx="252">
                  <c:v>78.911385728895269</c:v>
                </c:pt>
                <c:pt idx="253">
                  <c:v>78.853670639380795</c:v>
                </c:pt>
                <c:pt idx="254">
                  <c:v>78.795228668033261</c:v>
                </c:pt>
                <c:pt idx="255">
                  <c:v>78.736166738820117</c:v>
                </c:pt>
                <c:pt idx="256">
                  <c:v>78.674325123015166</c:v>
                </c:pt>
                <c:pt idx="257">
                  <c:v>78.612358341335039</c:v>
                </c:pt>
                <c:pt idx="258">
                  <c:v>78.547954104722848</c:v>
                </c:pt>
                <c:pt idx="259">
                  <c:v>78.483549784231926</c:v>
                </c:pt>
                <c:pt idx="260">
                  <c:v>78.418336971713359</c:v>
                </c:pt>
                <c:pt idx="261">
                  <c:v>78.351204312253117</c:v>
                </c:pt>
                <c:pt idx="262">
                  <c:v>78.283349743932718</c:v>
                </c:pt>
                <c:pt idx="263">
                  <c:v>78.215231059181008</c:v>
                </c:pt>
                <c:pt idx="264">
                  <c:v>78.145889787786899</c:v>
                </c:pt>
                <c:pt idx="265">
                  <c:v>78.074132265538253</c:v>
                </c:pt>
                <c:pt idx="266">
                  <c:v>78.000463140650638</c:v>
                </c:pt>
                <c:pt idx="267">
                  <c:v>77.924611931614677</c:v>
                </c:pt>
                <c:pt idx="268">
                  <c:v>77.847029298689023</c:v>
                </c:pt>
                <c:pt idx="269">
                  <c:v>77.767421595936568</c:v>
                </c:pt>
                <c:pt idx="270">
                  <c:v>77.683710869434933</c:v>
                </c:pt>
                <c:pt idx="271">
                  <c:v>77.597205769994503</c:v>
                </c:pt>
                <c:pt idx="272">
                  <c:v>77.509799580775251</c:v>
                </c:pt>
                <c:pt idx="273">
                  <c:v>77.42092480409903</c:v>
                </c:pt>
                <c:pt idx="274">
                  <c:v>77.33038484313559</c:v>
                </c:pt>
                <c:pt idx="275">
                  <c:v>77.237887415524455</c:v>
                </c:pt>
                <c:pt idx="276">
                  <c:v>77.14416593758385</c:v>
                </c:pt>
                <c:pt idx="277">
                  <c:v>77.047987619584049</c:v>
                </c:pt>
                <c:pt idx="278">
                  <c:v>76.950417641984018</c:v>
                </c:pt>
                <c:pt idx="279">
                  <c:v>76.85004294701649</c:v>
                </c:pt>
                <c:pt idx="280">
                  <c:v>76.746869734895611</c:v>
                </c:pt>
                <c:pt idx="281">
                  <c:v>76.643369575015839</c:v>
                </c:pt>
                <c:pt idx="282">
                  <c:v>76.539035707535831</c:v>
                </c:pt>
                <c:pt idx="283">
                  <c:v>76.433806986396803</c:v>
                </c:pt>
                <c:pt idx="284">
                  <c:v>76.323525637772448</c:v>
                </c:pt>
                <c:pt idx="285">
                  <c:v>76.212009601754175</c:v>
                </c:pt>
                <c:pt idx="286">
                  <c:v>76.099812843618494</c:v>
                </c:pt>
                <c:pt idx="287">
                  <c:v>75.986677341585775</c:v>
                </c:pt>
                <c:pt idx="288">
                  <c:v>75.870713123583968</c:v>
                </c:pt>
                <c:pt idx="289">
                  <c:v>75.751035213290621</c:v>
                </c:pt>
                <c:pt idx="290">
                  <c:v>75.6296241050389</c:v>
                </c:pt>
                <c:pt idx="291">
                  <c:v>75.507702081184476</c:v>
                </c:pt>
                <c:pt idx="292">
                  <c:v>75.384985584277942</c:v>
                </c:pt>
                <c:pt idx="293">
                  <c:v>75.261945264389169</c:v>
                </c:pt>
                <c:pt idx="294">
                  <c:v>75.138517992498535</c:v>
                </c:pt>
                <c:pt idx="295">
                  <c:v>75.01504993773132</c:v>
                </c:pt>
                <c:pt idx="296">
                  <c:v>74.889470901038877</c:v>
                </c:pt>
                <c:pt idx="297">
                  <c:v>74.763361788490144</c:v>
                </c:pt>
                <c:pt idx="298">
                  <c:v>74.637039866172032</c:v>
                </c:pt>
                <c:pt idx="299">
                  <c:v>74.509511602117087</c:v>
                </c:pt>
                <c:pt idx="300">
                  <c:v>74.381900425314996</c:v>
                </c:pt>
                <c:pt idx="301">
                  <c:v>74.253823759971795</c:v>
                </c:pt>
                <c:pt idx="302">
                  <c:v>74.122010582624583</c:v>
                </c:pt>
                <c:pt idx="303">
                  <c:v>73.988687958752692</c:v>
                </c:pt>
                <c:pt idx="304">
                  <c:v>73.853536350706449</c:v>
                </c:pt>
                <c:pt idx="305">
                  <c:v>73.717483223898185</c:v>
                </c:pt>
                <c:pt idx="306">
                  <c:v>73.577139351852267</c:v>
                </c:pt>
                <c:pt idx="307">
                  <c:v>73.434465559510471</c:v>
                </c:pt>
                <c:pt idx="308">
                  <c:v>73.290733533285405</c:v>
                </c:pt>
                <c:pt idx="309">
                  <c:v>73.145271653364773</c:v>
                </c:pt>
                <c:pt idx="310">
                  <c:v>72.99760092183746</c:v>
                </c:pt>
                <c:pt idx="311">
                  <c:v>72.848894975967411</c:v>
                </c:pt>
                <c:pt idx="312">
                  <c:v>72.695571506571639</c:v>
                </c:pt>
                <c:pt idx="313">
                  <c:v>72.540776767901221</c:v>
                </c:pt>
                <c:pt idx="314">
                  <c:v>72.383739750186535</c:v>
                </c:pt>
                <c:pt idx="315">
                  <c:v>72.219669534208094</c:v>
                </c:pt>
                <c:pt idx="316">
                  <c:v>72.055178774903979</c:v>
                </c:pt>
                <c:pt idx="317">
                  <c:v>71.878047294793234</c:v>
                </c:pt>
                <c:pt idx="318">
                  <c:v>71.695442274688233</c:v>
                </c:pt>
                <c:pt idx="319">
                  <c:v>71.510988869227958</c:v>
                </c:pt>
                <c:pt idx="320">
                  <c:v>71.319325843827613</c:v>
                </c:pt>
                <c:pt idx="321">
                  <c:v>71.126970558133024</c:v>
                </c:pt>
                <c:pt idx="322">
                  <c:v>70.934053558909184</c:v>
                </c:pt>
                <c:pt idx="323">
                  <c:v>70.740810188391833</c:v>
                </c:pt>
                <c:pt idx="324">
                  <c:v>70.546298367214575</c:v>
                </c:pt>
                <c:pt idx="325">
                  <c:v>70.344272961436545</c:v>
                </c:pt>
                <c:pt idx="326">
                  <c:v>70.139894451750351</c:v>
                </c:pt>
                <c:pt idx="327">
                  <c:v>69.934615903047145</c:v>
                </c:pt>
                <c:pt idx="328">
                  <c:v>69.726549471312097</c:v>
                </c:pt>
                <c:pt idx="329">
                  <c:v>69.516290790196024</c:v>
                </c:pt>
                <c:pt idx="330">
                  <c:v>69.305338232650058</c:v>
                </c:pt>
                <c:pt idx="331">
                  <c:v>69.090934532192904</c:v>
                </c:pt>
                <c:pt idx="332">
                  <c:v>68.876135572317978</c:v>
                </c:pt>
                <c:pt idx="333">
                  <c:v>68.661228197351647</c:v>
                </c:pt>
                <c:pt idx="334">
                  <c:v>68.441855592359261</c:v>
                </c:pt>
                <c:pt idx="335">
                  <c:v>68.21946199312967</c:v>
                </c:pt>
                <c:pt idx="336">
                  <c:v>67.996957459391197</c:v>
                </c:pt>
                <c:pt idx="337">
                  <c:v>67.774061794604691</c:v>
                </c:pt>
                <c:pt idx="338">
                  <c:v>67.547905627364088</c:v>
                </c:pt>
                <c:pt idx="339">
                  <c:v>67.315057194607064</c:v>
                </c:pt>
                <c:pt idx="340">
                  <c:v>67.079960679548648</c:v>
                </c:pt>
                <c:pt idx="341">
                  <c:v>66.832773289231071</c:v>
                </c:pt>
                <c:pt idx="342">
                  <c:v>66.580503687769721</c:v>
                </c:pt>
                <c:pt idx="343">
                  <c:v>66.318442392964016</c:v>
                </c:pt>
                <c:pt idx="344">
                  <c:v>66.054859112845264</c:v>
                </c:pt>
                <c:pt idx="345">
                  <c:v>65.790072386544097</c:v>
                </c:pt>
                <c:pt idx="346">
                  <c:v>65.51976662925118</c:v>
                </c:pt>
                <c:pt idx="347">
                  <c:v>65.248839194168042</c:v>
                </c:pt>
                <c:pt idx="348">
                  <c:v>64.972002129173262</c:v>
                </c:pt>
                <c:pt idx="349">
                  <c:v>64.689631208857264</c:v>
                </c:pt>
                <c:pt idx="350">
                  <c:v>64.402419790006718</c:v>
                </c:pt>
                <c:pt idx="351">
                  <c:v>64.111868792869174</c:v>
                </c:pt>
                <c:pt idx="352">
                  <c:v>63.820500462776209</c:v>
                </c:pt>
                <c:pt idx="353">
                  <c:v>63.528020325443173</c:v>
                </c:pt>
                <c:pt idx="354">
                  <c:v>63.23498021157048</c:v>
                </c:pt>
                <c:pt idx="355">
                  <c:v>62.93837652123208</c:v>
                </c:pt>
                <c:pt idx="356">
                  <c:v>62.639464905070845</c:v>
                </c:pt>
                <c:pt idx="357">
                  <c:v>62.333760887797219</c:v>
                </c:pt>
                <c:pt idx="358">
                  <c:v>62.027196089492314</c:v>
                </c:pt>
                <c:pt idx="359">
                  <c:v>61.716651070095807</c:v>
                </c:pt>
                <c:pt idx="360">
                  <c:v>61.403083066079795</c:v>
                </c:pt>
                <c:pt idx="361">
                  <c:v>61.088480670190712</c:v>
                </c:pt>
                <c:pt idx="362">
                  <c:v>60.773594069619371</c:v>
                </c:pt>
                <c:pt idx="363">
                  <c:v>60.45725174589775</c:v>
                </c:pt>
                <c:pt idx="364">
                  <c:v>60.135663269898913</c:v>
                </c:pt>
                <c:pt idx="365">
                  <c:v>59.810964036052624</c:v>
                </c:pt>
                <c:pt idx="366">
                  <c:v>59.485902721971634</c:v>
                </c:pt>
                <c:pt idx="367">
                  <c:v>59.159958132967176</c:v>
                </c:pt>
                <c:pt idx="368">
                  <c:v>58.833424768084804</c:v>
                </c:pt>
                <c:pt idx="369">
                  <c:v>58.505756790946648</c:v>
                </c:pt>
                <c:pt idx="370">
                  <c:v>58.175378019733934</c:v>
                </c:pt>
                <c:pt idx="371">
                  <c:v>57.844657020203826</c:v>
                </c:pt>
                <c:pt idx="372">
                  <c:v>57.511173402529771</c:v>
                </c:pt>
                <c:pt idx="373">
                  <c:v>57.175053986365455</c:v>
                </c:pt>
                <c:pt idx="374">
                  <c:v>56.83878045804866</c:v>
                </c:pt>
                <c:pt idx="375">
                  <c:v>56.500412201677285</c:v>
                </c:pt>
                <c:pt idx="376">
                  <c:v>56.161298071190622</c:v>
                </c:pt>
                <c:pt idx="377">
                  <c:v>55.819530137950188</c:v>
                </c:pt>
                <c:pt idx="378">
                  <c:v>55.477514373325711</c:v>
                </c:pt>
                <c:pt idx="379">
                  <c:v>55.131611555105422</c:v>
                </c:pt>
                <c:pt idx="380">
                  <c:v>54.78262309160867</c:v>
                </c:pt>
                <c:pt idx="381">
                  <c:v>54.433351504814922</c:v>
                </c:pt>
                <c:pt idx="382">
                  <c:v>54.083126440178702</c:v>
                </c:pt>
                <c:pt idx="383">
                  <c:v>53.730525842200031</c:v>
                </c:pt>
                <c:pt idx="384">
                  <c:v>53.376920252601082</c:v>
                </c:pt>
                <c:pt idx="385">
                  <c:v>53.012407519759819</c:v>
                </c:pt>
                <c:pt idx="386">
                  <c:v>52.642593999334814</c:v>
                </c:pt>
                <c:pt idx="387">
                  <c:v>52.271566318529899</c:v>
                </c:pt>
                <c:pt idx="388">
                  <c:v>51.890725560199726</c:v>
                </c:pt>
                <c:pt idx="389">
                  <c:v>51.501906153365205</c:v>
                </c:pt>
                <c:pt idx="390">
                  <c:v>51.111339103212529</c:v>
                </c:pt>
                <c:pt idx="391">
                  <c:v>50.717896568921574</c:v>
                </c:pt>
                <c:pt idx="392">
                  <c:v>50.322301073090649</c:v>
                </c:pt>
                <c:pt idx="393">
                  <c:v>49.92616834473624</c:v>
                </c:pt>
                <c:pt idx="394">
                  <c:v>49.527419004768333</c:v>
                </c:pt>
                <c:pt idx="395">
                  <c:v>49.125958203440618</c:v>
                </c:pt>
                <c:pt idx="396">
                  <c:v>48.715968983262599</c:v>
                </c:pt>
                <c:pt idx="397">
                  <c:v>48.298482435050744</c:v>
                </c:pt>
                <c:pt idx="398">
                  <c:v>47.876851239568623</c:v>
                </c:pt>
                <c:pt idx="399">
                  <c:v>47.455048050535872</c:v>
                </c:pt>
                <c:pt idx="400">
                  <c:v>47.031995074014375</c:v>
                </c:pt>
                <c:pt idx="401">
                  <c:v>46.604665157481158</c:v>
                </c:pt>
                <c:pt idx="402">
                  <c:v>46.175300163817866</c:v>
                </c:pt>
                <c:pt idx="403">
                  <c:v>45.742352485797824</c:v>
                </c:pt>
                <c:pt idx="404">
                  <c:v>45.308610494795424</c:v>
                </c:pt>
                <c:pt idx="405">
                  <c:v>44.873190875268428</c:v>
                </c:pt>
                <c:pt idx="406">
                  <c:v>44.437174900050955</c:v>
                </c:pt>
                <c:pt idx="407">
                  <c:v>43.999909419458312</c:v>
                </c:pt>
                <c:pt idx="408">
                  <c:v>43.560133787333804</c:v>
                </c:pt>
                <c:pt idx="409">
                  <c:v>43.116619833831884</c:v>
                </c:pt>
                <c:pt idx="410">
                  <c:v>42.671351945156815</c:v>
                </c:pt>
                <c:pt idx="411">
                  <c:v>42.223778041069551</c:v>
                </c:pt>
                <c:pt idx="412">
                  <c:v>41.776095942359213</c:v>
                </c:pt>
                <c:pt idx="413">
                  <c:v>41.325540288559672</c:v>
                </c:pt>
                <c:pt idx="414">
                  <c:v>40.863313977452719</c:v>
                </c:pt>
                <c:pt idx="415">
                  <c:v>40.401062675013897</c:v>
                </c:pt>
                <c:pt idx="416">
                  <c:v>39.930758776545503</c:v>
                </c:pt>
                <c:pt idx="417">
                  <c:v>39.460439163831445</c:v>
                </c:pt>
                <c:pt idx="418">
                  <c:v>38.974530892625893</c:v>
                </c:pt>
                <c:pt idx="419">
                  <c:v>38.47650908280886</c:v>
                </c:pt>
                <c:pt idx="420">
                  <c:v>37.971366226395922</c:v>
                </c:pt>
                <c:pt idx="421">
                  <c:v>37.463475263228055</c:v>
                </c:pt>
                <c:pt idx="422">
                  <c:v>36.95409164248035</c:v>
                </c:pt>
                <c:pt idx="423">
                  <c:v>36.439856857684482</c:v>
                </c:pt>
                <c:pt idx="424">
                  <c:v>35.922938921332886</c:v>
                </c:pt>
                <c:pt idx="425">
                  <c:v>35.402829870242414</c:v>
                </c:pt>
                <c:pt idx="426">
                  <c:v>34.881329131446407</c:v>
                </c:pt>
                <c:pt idx="427">
                  <c:v>34.354378179591521</c:v>
                </c:pt>
                <c:pt idx="428">
                  <c:v>33.823606759751762</c:v>
                </c:pt>
                <c:pt idx="429">
                  <c:v>33.29204900427419</c:v>
                </c:pt>
                <c:pt idx="430">
                  <c:v>32.756581549404949</c:v>
                </c:pt>
                <c:pt idx="431">
                  <c:v>32.214923410893874</c:v>
                </c:pt>
                <c:pt idx="432">
                  <c:v>31.672756736389069</c:v>
                </c:pt>
                <c:pt idx="433">
                  <c:v>31.121952517830792</c:v>
                </c:pt>
                <c:pt idx="434">
                  <c:v>30.566331019427334</c:v>
                </c:pt>
                <c:pt idx="435">
                  <c:v>30.010201303194446</c:v>
                </c:pt>
                <c:pt idx="436">
                  <c:v>29.453672045756917</c:v>
                </c:pt>
                <c:pt idx="437">
                  <c:v>28.895338821941095</c:v>
                </c:pt>
                <c:pt idx="438">
                  <c:v>28.336020297792668</c:v>
                </c:pt>
                <c:pt idx="439">
                  <c:v>27.75762479059598</c:v>
                </c:pt>
                <c:pt idx="440">
                  <c:v>27.175348345542456</c:v>
                </c:pt>
                <c:pt idx="441">
                  <c:v>26.59073078408624</c:v>
                </c:pt>
                <c:pt idx="442">
                  <c:v>25.999330238672961</c:v>
                </c:pt>
                <c:pt idx="443">
                  <c:v>25.403717809400426</c:v>
                </c:pt>
                <c:pt idx="444">
                  <c:v>24.80153483803085</c:v>
                </c:pt>
                <c:pt idx="445">
                  <c:v>24.196714477104059</c:v>
                </c:pt>
                <c:pt idx="446">
                  <c:v>23.588586571849014</c:v>
                </c:pt>
                <c:pt idx="447">
                  <c:v>22.977228504566551</c:v>
                </c:pt>
                <c:pt idx="448">
                  <c:v>22.362119601496129</c:v>
                </c:pt>
                <c:pt idx="449">
                  <c:v>21.745752365456873</c:v>
                </c:pt>
                <c:pt idx="450">
                  <c:v>21.129267882749716</c:v>
                </c:pt>
                <c:pt idx="451">
                  <c:v>20.510332699799982</c:v>
                </c:pt>
                <c:pt idx="452">
                  <c:v>19.890327329438549</c:v>
                </c:pt>
                <c:pt idx="453">
                  <c:v>19.266127637174058</c:v>
                </c:pt>
                <c:pt idx="454">
                  <c:v>18.63767983642758</c:v>
                </c:pt>
                <c:pt idx="455">
                  <c:v>18.006586101578087</c:v>
                </c:pt>
                <c:pt idx="456">
                  <c:v>17.372842785079893</c:v>
                </c:pt>
                <c:pt idx="457">
                  <c:v>16.737934600734089</c:v>
                </c:pt>
                <c:pt idx="458">
                  <c:v>16.079084678984234</c:v>
                </c:pt>
                <c:pt idx="459">
                  <c:v>15.41748562076638</c:v>
                </c:pt>
                <c:pt idx="460">
                  <c:v>14.751174090317411</c:v>
                </c:pt>
                <c:pt idx="461">
                  <c:v>14.080724577673029</c:v>
                </c:pt>
                <c:pt idx="462">
                  <c:v>13.407222802256417</c:v>
                </c:pt>
                <c:pt idx="463">
                  <c:v>12.733046421502406</c:v>
                </c:pt>
                <c:pt idx="464">
                  <c:v>12.058114282194559</c:v>
                </c:pt>
                <c:pt idx="465">
                  <c:v>11.350622091849086</c:v>
                </c:pt>
                <c:pt idx="466">
                  <c:v>10.641829273258443</c:v>
                </c:pt>
                <c:pt idx="467">
                  <c:v>9.9299278704082976</c:v>
                </c:pt>
                <c:pt idx="468">
                  <c:v>9.2151993946695558</c:v>
                </c:pt>
                <c:pt idx="469">
                  <c:v>8.4958567805230452</c:v>
                </c:pt>
                <c:pt idx="470">
                  <c:v>7.7589943545083537</c:v>
                </c:pt>
                <c:pt idx="471">
                  <c:v>7.0209148184340116</c:v>
                </c:pt>
                <c:pt idx="472">
                  <c:v>6.2781798692622459</c:v>
                </c:pt>
                <c:pt idx="473">
                  <c:v>5.5312277313088751</c:v>
                </c:pt>
                <c:pt idx="474">
                  <c:v>4.773759219357288</c:v>
                </c:pt>
                <c:pt idx="475">
                  <c:v>4.0152857912178339</c:v>
                </c:pt>
                <c:pt idx="476">
                  <c:v>3.221991340077734</c:v>
                </c:pt>
                <c:pt idx="477">
                  <c:v>2.424404700507115</c:v>
                </c:pt>
                <c:pt idx="478">
                  <c:v>1.6134286674327394</c:v>
                </c:pt>
                <c:pt idx="479">
                  <c:v>0.79837886268502223</c:v>
                </c:pt>
                <c:pt idx="480">
                  <c:v>-2.1048169189545662E-2</c:v>
                </c:pt>
                <c:pt idx="481">
                  <c:v>-0.8444206345691635</c:v>
                </c:pt>
                <c:pt idx="482">
                  <c:v>-1.6747012857056922</c:v>
                </c:pt>
                <c:pt idx="483">
                  <c:v>-2.5056470993727813</c:v>
                </c:pt>
                <c:pt idx="484">
                  <c:v>-3.3389044658199323</c:v>
                </c:pt>
                <c:pt idx="485">
                  <c:v>-4.1913076436106858</c:v>
                </c:pt>
                <c:pt idx="486">
                  <c:v>-5.0543585595726634</c:v>
                </c:pt>
                <c:pt idx="487">
                  <c:v>-5.9307179494533333</c:v>
                </c:pt>
                <c:pt idx="488">
                  <c:v>-6.823489677058463</c:v>
                </c:pt>
                <c:pt idx="489">
                  <c:v>-7.7314102171145738</c:v>
                </c:pt>
                <c:pt idx="490">
                  <c:v>-8.6529368695082933</c:v>
                </c:pt>
                <c:pt idx="491">
                  <c:v>-9.5755640407399767</c:v>
                </c:pt>
                <c:pt idx="492">
                  <c:v>-10.510084619538233</c:v>
                </c:pt>
                <c:pt idx="493">
                  <c:v>-11.45879040511887</c:v>
                </c:pt>
                <c:pt idx="494">
                  <c:v>-12.416042754505757</c:v>
                </c:pt>
                <c:pt idx="495">
                  <c:v>-13.380097295600255</c:v>
                </c:pt>
                <c:pt idx="496">
                  <c:v>-14.373327071310275</c:v>
                </c:pt>
                <c:pt idx="497">
                  <c:v>-15.385193743912778</c:v>
                </c:pt>
                <c:pt idx="498">
                  <c:v>-16.406479813083013</c:v>
                </c:pt>
                <c:pt idx="499">
                  <c:v>-17.434591534164991</c:v>
                </c:pt>
                <c:pt idx="500">
                  <c:v>-18.465383189305047</c:v>
                </c:pt>
                <c:pt idx="501">
                  <c:v>-19.505365748332892</c:v>
                </c:pt>
                <c:pt idx="502">
                  <c:v>-20.559579479428095</c:v>
                </c:pt>
                <c:pt idx="503">
                  <c:v>-21.64465225356232</c:v>
                </c:pt>
                <c:pt idx="504">
                  <c:v>-22.743516527675691</c:v>
                </c:pt>
                <c:pt idx="505">
                  <c:v>-23.846810896607508</c:v>
                </c:pt>
                <c:pt idx="506">
                  <c:v>-24.950557972190584</c:v>
                </c:pt>
                <c:pt idx="507">
                  <c:v>-26.065319426671376</c:v>
                </c:pt>
                <c:pt idx="508">
                  <c:v>-27.181883103805625</c:v>
                </c:pt>
                <c:pt idx="509">
                  <c:v>-28.307374781056506</c:v>
                </c:pt>
                <c:pt idx="510">
                  <c:v>-29.436462173392453</c:v>
                </c:pt>
                <c:pt idx="511">
                  <c:v>-30.567438191818557</c:v>
                </c:pt>
                <c:pt idx="512">
                  <c:v>-31.713121051602979</c:v>
                </c:pt>
                <c:pt idx="513">
                  <c:v>-32.877549587445735</c:v>
                </c:pt>
                <c:pt idx="514">
                  <c:v>-34.044611307708422</c:v>
                </c:pt>
                <c:pt idx="515">
                  <c:v>-35.212712562477492</c:v>
                </c:pt>
                <c:pt idx="516">
                  <c:v>-36.406075498490878</c:v>
                </c:pt>
                <c:pt idx="517">
                  <c:v>-37.606189204795726</c:v>
                </c:pt>
                <c:pt idx="518">
                  <c:v>-38.816773499357481</c:v>
                </c:pt>
                <c:pt idx="519">
                  <c:v>-40.040573070855096</c:v>
                </c:pt>
                <c:pt idx="520">
                  <c:v>-41.271010010477873</c:v>
                </c:pt>
                <c:pt idx="521">
                  <c:v>-42.503904671749758</c:v>
                </c:pt>
                <c:pt idx="522">
                  <c:v>-43.742318847134435</c:v>
                </c:pt>
                <c:pt idx="523">
                  <c:v>-44.983759827841332</c:v>
                </c:pt>
                <c:pt idx="524">
                  <c:v>-46.22753640543349</c:v>
                </c:pt>
                <c:pt idx="525">
                  <c:v>-47.473885023854265</c:v>
                </c:pt>
                <c:pt idx="526">
                  <c:v>-48.723458392774724</c:v>
                </c:pt>
                <c:pt idx="527">
                  <c:v>-49.977016145051927</c:v>
                </c:pt>
                <c:pt idx="528">
                  <c:v>-51.261123078100269</c:v>
                </c:pt>
                <c:pt idx="529">
                  <c:v>-52.557777574273196</c:v>
                </c:pt>
                <c:pt idx="530">
                  <c:v>-53.863836213563928</c:v>
                </c:pt>
                <c:pt idx="531">
                  <c:v>-55.193871105444067</c:v>
                </c:pt>
                <c:pt idx="532">
                  <c:v>-56.534673766594487</c:v>
                </c:pt>
                <c:pt idx="533">
                  <c:v>-57.905896354578722</c:v>
                </c:pt>
                <c:pt idx="534">
                  <c:v>-59.31056849197229</c:v>
                </c:pt>
                <c:pt idx="535">
                  <c:v>-60.729670688814977</c:v>
                </c:pt>
                <c:pt idx="536">
                  <c:v>-62.172672731403182</c:v>
                </c:pt>
                <c:pt idx="537">
                  <c:v>-63.629130548388346</c:v>
                </c:pt>
                <c:pt idx="538">
                  <c:v>-65.087401472483322</c:v>
                </c:pt>
                <c:pt idx="539">
                  <c:v>-66.560804943292212</c:v>
                </c:pt>
                <c:pt idx="540">
                  <c:v>-68.055896313280613</c:v>
                </c:pt>
                <c:pt idx="541">
                  <c:v>-69.55506969074834</c:v>
                </c:pt>
                <c:pt idx="542">
                  <c:v>-71.062366286149896</c:v>
                </c:pt>
                <c:pt idx="543">
                  <c:v>-72.586929379514572</c:v>
                </c:pt>
                <c:pt idx="544">
                  <c:v>-74.140988570988355</c:v>
                </c:pt>
                <c:pt idx="545">
                  <c:v>-75.699656708604081</c:v>
                </c:pt>
                <c:pt idx="546">
                  <c:v>-77.410934498783604</c:v>
                </c:pt>
                <c:pt idx="547">
                  <c:v>-79.131117392255689</c:v>
                </c:pt>
                <c:pt idx="548">
                  <c:v>-80.864220140822965</c:v>
                </c:pt>
                <c:pt idx="549">
                  <c:v>-82.611148610943587</c:v>
                </c:pt>
                <c:pt idx="550">
                  <c:v>-84.39618931061375</c:v>
                </c:pt>
                <c:pt idx="551">
                  <c:v>-86.225776835095004</c:v>
                </c:pt>
                <c:pt idx="552">
                  <c:v>-88.09576837833923</c:v>
                </c:pt>
                <c:pt idx="553">
                  <c:v>-89.987477861835274</c:v>
                </c:pt>
                <c:pt idx="554">
                  <c:v>-91.902948162236271</c:v>
                </c:pt>
                <c:pt idx="555">
                  <c:v>-93.866226574302331</c:v>
                </c:pt>
                <c:pt idx="556">
                  <c:v>-95.831984348032307</c:v>
                </c:pt>
                <c:pt idx="557">
                  <c:v>-97.858181045072854</c:v>
                </c:pt>
                <c:pt idx="558">
                  <c:v>-99.890832595586147</c:v>
                </c:pt>
                <c:pt idx="559">
                  <c:v>-101.94398352978874</c:v>
                </c:pt>
                <c:pt idx="560">
                  <c:v>-104.07987274722809</c:v>
                </c:pt>
                <c:pt idx="561">
                  <c:v>-106.22159645134565</c:v>
                </c:pt>
                <c:pt idx="562">
                  <c:v>-108.36765546460128</c:v>
                </c:pt>
                <c:pt idx="563">
                  <c:v>-110.54497356489868</c:v>
                </c:pt>
                <c:pt idx="564">
                  <c:v>-112.73941934042652</c:v>
                </c:pt>
                <c:pt idx="565">
                  <c:v>-114.94766218426777</c:v>
                </c:pt>
                <c:pt idx="566">
                  <c:v>-117.15668463451397</c:v>
                </c:pt>
                <c:pt idx="567">
                  <c:v>-119.37430327182861</c:v>
                </c:pt>
                <c:pt idx="568">
                  <c:v>-121.59796205242786</c:v>
                </c:pt>
                <c:pt idx="569">
                  <c:v>-123.87511091500549</c:v>
                </c:pt>
                <c:pt idx="570">
                  <c:v>-126.23926724737076</c:v>
                </c:pt>
                <c:pt idx="571">
                  <c:v>-128.61768871424232</c:v>
                </c:pt>
                <c:pt idx="572">
                  <c:v>-130.9997023668416</c:v>
                </c:pt>
                <c:pt idx="573">
                  <c:v>-133.42254000822629</c:v>
                </c:pt>
                <c:pt idx="574">
                  <c:v>-135.93031046092071</c:v>
                </c:pt>
                <c:pt idx="575">
                  <c:v>-138.44386919673511</c:v>
                </c:pt>
                <c:pt idx="576">
                  <c:v>-140.9600857995556</c:v>
                </c:pt>
                <c:pt idx="577">
                  <c:v>-143.49576468663054</c:v>
                </c:pt>
                <c:pt idx="578">
                  <c:v>-146.04353367548757</c:v>
                </c:pt>
                <c:pt idx="579">
                  <c:v>-148.62379473143332</c:v>
                </c:pt>
                <c:pt idx="580">
                  <c:v>-151.21694043604111</c:v>
                </c:pt>
                <c:pt idx="581">
                  <c:v>-153.83045433038882</c:v>
                </c:pt>
                <c:pt idx="582">
                  <c:v>-156.45175349362026</c:v>
                </c:pt>
                <c:pt idx="583">
                  <c:v>-159.17635143819797</c:v>
                </c:pt>
                <c:pt idx="584">
                  <c:v>-161.91232604256535</c:v>
                </c:pt>
                <c:pt idx="585">
                  <c:v>-164.76610058216508</c:v>
                </c:pt>
                <c:pt idx="586">
                  <c:v>-167.67124744214982</c:v>
                </c:pt>
                <c:pt idx="587">
                  <c:v>-170.60393126434846</c:v>
                </c:pt>
                <c:pt idx="588">
                  <c:v>-173.55577090733215</c:v>
                </c:pt>
                <c:pt idx="589">
                  <c:v>-176.67247536606635</c:v>
                </c:pt>
                <c:pt idx="590">
                  <c:v>-179.80390805084022</c:v>
                </c:pt>
                <c:pt idx="591">
                  <c:v>-182.95077712087863</c:v>
                </c:pt>
                <c:pt idx="592">
                  <c:v>-186.13793373951378</c:v>
                </c:pt>
                <c:pt idx="593">
                  <c:v>-189.36284288165726</c:v>
                </c:pt>
                <c:pt idx="594">
                  <c:v>-192.60138325061016</c:v>
                </c:pt>
                <c:pt idx="595">
                  <c:v>-195.8720811035883</c:v>
                </c:pt>
                <c:pt idx="596">
                  <c:v>-199.22289917695207</c:v>
                </c:pt>
                <c:pt idx="597">
                  <c:v>-202.61808434496714</c:v>
                </c:pt>
                <c:pt idx="598">
                  <c:v>-206.09711472131161</c:v>
                </c:pt>
                <c:pt idx="599">
                  <c:v>-209.7264305403184</c:v>
                </c:pt>
                <c:pt idx="600">
                  <c:v>-213.3579227035257</c:v>
                </c:pt>
                <c:pt idx="601">
                  <c:v>-217.01345301369258</c:v>
                </c:pt>
                <c:pt idx="602">
                  <c:v>-220.74168152530868</c:v>
                </c:pt>
                <c:pt idx="603">
                  <c:v>-224.50432842123124</c:v>
                </c:pt>
                <c:pt idx="604">
                  <c:v>-228.33675199778321</c:v>
                </c:pt>
                <c:pt idx="605">
                  <c:v>-232.25095830558308</c:v>
                </c:pt>
                <c:pt idx="606">
                  <c:v>-236.23784795724441</c:v>
                </c:pt>
                <c:pt idx="607">
                  <c:v>-240.30993791121739</c:v>
                </c:pt>
                <c:pt idx="608">
                  <c:v>-244.57859322486493</c:v>
                </c:pt>
                <c:pt idx="609">
                  <c:v>-248.86615642425309</c:v>
                </c:pt>
                <c:pt idx="610">
                  <c:v>-253.23438397916496</c:v>
                </c:pt>
                <c:pt idx="611">
                  <c:v>-257.60424656789155</c:v>
                </c:pt>
                <c:pt idx="612">
                  <c:v>-262.01425332537866</c:v>
                </c:pt>
                <c:pt idx="613">
                  <c:v>-266.4813837645263</c:v>
                </c:pt>
                <c:pt idx="614">
                  <c:v>-271.08285319508599</c:v>
                </c:pt>
                <c:pt idx="615">
                  <c:v>-275.68979102611422</c:v>
                </c:pt>
                <c:pt idx="616">
                  <c:v>-280.49957004361295</c:v>
                </c:pt>
                <c:pt idx="617">
                  <c:v>-285.46909734115275</c:v>
                </c:pt>
                <c:pt idx="618">
                  <c:v>-290.97902244104978</c:v>
                </c:pt>
                <c:pt idx="619">
                  <c:v>-296.49662620592954</c:v>
                </c:pt>
                <c:pt idx="620">
                  <c:v>-302.02883754269993</c:v>
                </c:pt>
                <c:pt idx="621">
                  <c:v>-307.63330790826029</c:v>
                </c:pt>
                <c:pt idx="622">
                  <c:v>-313.64048405760383</c:v>
                </c:pt>
                <c:pt idx="623">
                  <c:v>-319.76578382853307</c:v>
                </c:pt>
                <c:pt idx="624">
                  <c:v>-326.122708566391</c:v>
                </c:pt>
                <c:pt idx="625">
                  <c:v>-332.60869407179848</c:v>
                </c:pt>
                <c:pt idx="626">
                  <c:v>-339.11371904276041</c:v>
                </c:pt>
                <c:pt idx="627">
                  <c:v>-345.89926671934472</c:v>
                </c:pt>
                <c:pt idx="628">
                  <c:v>-352.86227139122184</c:v>
                </c:pt>
                <c:pt idx="629">
                  <c:v>-360.00668222597977</c:v>
                </c:pt>
                <c:pt idx="630">
                  <c:v>-367.69910742942739</c:v>
                </c:pt>
                <c:pt idx="631">
                  <c:v>-375.44237529145255</c:v>
                </c:pt>
                <c:pt idx="632">
                  <c:v>-383.51060426021508</c:v>
                </c:pt>
                <c:pt idx="633">
                  <c:v>-393.155236650483</c:v>
                </c:pt>
                <c:pt idx="634">
                  <c:v>-403.05573574948403</c:v>
                </c:pt>
                <c:pt idx="635">
                  <c:v>-413.33543283901741</c:v>
                </c:pt>
                <c:pt idx="636">
                  <c:v>-424.53670144365844</c:v>
                </c:pt>
                <c:pt idx="637">
                  <c:v>-436.30674290493818</c:v>
                </c:pt>
                <c:pt idx="638">
                  <c:v>-448.88679602241228</c:v>
                </c:pt>
                <c:pt idx="639">
                  <c:v>-462.34544491164093</c:v>
                </c:pt>
                <c:pt idx="640">
                  <c:v>-489.29523330426008</c:v>
                </c:pt>
                <c:pt idx="641">
                  <c:v>-518.88799699277911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A4-4B42-A355-F9757BCA24A3}"/>
            </c:ext>
          </c:extLst>
        </c:ser>
        <c:ser>
          <c:idx val="2"/>
          <c:order val="2"/>
          <c:tx>
            <c:strRef>
              <c:f>'Whale Curve'!$K$6</c:f>
              <c:strCache>
                <c:ptCount val="1"/>
                <c:pt idx="0">
                  <c:v>BOE</c:v>
                </c:pt>
              </c:strCache>
            </c:strRef>
          </c:tx>
          <c:spPr>
            <a:ln w="19050">
              <a:solidFill>
                <a:srgbClr val="007999"/>
              </a:solidFill>
            </a:ln>
          </c:spPr>
          <c:marker>
            <c:symbol val="none"/>
          </c:marker>
          <c:dPt>
            <c:idx val="140"/>
            <c:marker>
              <c:symbol val="circle"/>
              <c:size val="3"/>
              <c:spPr>
                <a:solidFill>
                  <a:sysClr val="window" lastClr="FFFFFF"/>
                </a:solidFill>
                <a:ln w="12700">
                  <a:solidFill>
                    <a:srgbClr val="007999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CA4-4B42-A355-F9757BCA24A3}"/>
              </c:ext>
            </c:extLst>
          </c:dPt>
          <c:val>
            <c:numRef>
              <c:f>'Whale Curve'!$L$6:$EV$6</c:f>
              <c:numCache>
                <c:formatCode>#,##0_ </c:formatCode>
                <c:ptCount val="141"/>
                <c:pt idx="0">
                  <c:v>22.782247640715141</c:v>
                </c:pt>
                <c:pt idx="1">
                  <c:v>35.804238275710077</c:v>
                </c:pt>
                <c:pt idx="2">
                  <c:v>46.373111976324466</c:v>
                </c:pt>
                <c:pt idx="3">
                  <c:v>54.383003726886578</c:v>
                </c:pt>
                <c:pt idx="4">
                  <c:v>61.323460282339099</c:v>
                </c:pt>
                <c:pt idx="5">
                  <c:v>67.619241579507673</c:v>
                </c:pt>
                <c:pt idx="6">
                  <c:v>73.389712963080115</c:v>
                </c:pt>
                <c:pt idx="7">
                  <c:v>78.781443800224707</c:v>
                </c:pt>
                <c:pt idx="8">
                  <c:v>84.080614763214641</c:v>
                </c:pt>
                <c:pt idx="9">
                  <c:v>88.071586938111935</c:v>
                </c:pt>
                <c:pt idx="10">
                  <c:v>91.823545115389763</c:v>
                </c:pt>
                <c:pt idx="11">
                  <c:v>95.529541367530783</c:v>
                </c:pt>
                <c:pt idx="12">
                  <c:v>99.198248874808613</c:v>
                </c:pt>
                <c:pt idx="13">
                  <c:v>102.81731429238802</c:v>
                </c:pt>
                <c:pt idx="14">
                  <c:v>106.0656986410909</c:v>
                </c:pt>
                <c:pt idx="15">
                  <c:v>108.80185160164157</c:v>
                </c:pt>
                <c:pt idx="16">
                  <c:v>111.37073332404728</c:v>
                </c:pt>
                <c:pt idx="17">
                  <c:v>113.79161473809845</c:v>
                </c:pt>
                <c:pt idx="18">
                  <c:v>116.14475224759502</c:v>
                </c:pt>
                <c:pt idx="19">
                  <c:v>118.09817481726635</c:v>
                </c:pt>
                <c:pt idx="20">
                  <c:v>119.99494274282554</c:v>
                </c:pt>
                <c:pt idx="21">
                  <c:v>121.74640773477016</c:v>
                </c:pt>
                <c:pt idx="22">
                  <c:v>123.40662526329612</c:v>
                </c:pt>
                <c:pt idx="23">
                  <c:v>124.95164543342175</c:v>
                </c:pt>
                <c:pt idx="24">
                  <c:v>126.47116233074583</c:v>
                </c:pt>
                <c:pt idx="25">
                  <c:v>127.93912440000713</c:v>
                </c:pt>
                <c:pt idx="26">
                  <c:v>129.35539486822114</c:v>
                </c:pt>
                <c:pt idx="27">
                  <c:v>130.76919335461506</c:v>
                </c:pt>
                <c:pt idx="28">
                  <c:v>132.17514413357799</c:v>
                </c:pt>
                <c:pt idx="29">
                  <c:v>133.54873983786294</c:v>
                </c:pt>
                <c:pt idx="30">
                  <c:v>134.86418083665663</c:v>
                </c:pt>
                <c:pt idx="31">
                  <c:v>136.08649311576292</c:v>
                </c:pt>
                <c:pt idx="32">
                  <c:v>137.30085627160878</c:v>
                </c:pt>
                <c:pt idx="33">
                  <c:v>138.48409240035548</c:v>
                </c:pt>
                <c:pt idx="34">
                  <c:v>139.66309962596804</c:v>
                </c:pt>
                <c:pt idx="35">
                  <c:v>140.82165090157241</c:v>
                </c:pt>
                <c:pt idx="36">
                  <c:v>141.73270472806917</c:v>
                </c:pt>
                <c:pt idx="37">
                  <c:v>142.6283391412266</c:v>
                </c:pt>
                <c:pt idx="38">
                  <c:v>143.51516455071507</c:v>
                </c:pt>
                <c:pt idx="39">
                  <c:v>144.36259977130007</c:v>
                </c:pt>
                <c:pt idx="40">
                  <c:v>145.20795704958661</c:v>
                </c:pt>
                <c:pt idx="41">
                  <c:v>146.03876513616632</c:v>
                </c:pt>
                <c:pt idx="42">
                  <c:v>146.83722754931918</c:v>
                </c:pt>
                <c:pt idx="43">
                  <c:v>147.52281458503188</c:v>
                </c:pt>
                <c:pt idx="44">
                  <c:v>148.14056666104497</c:v>
                </c:pt>
                <c:pt idx="45">
                  <c:v>148.73358297371354</c:v>
                </c:pt>
                <c:pt idx="46">
                  <c:v>149.25008725838831</c:v>
                </c:pt>
                <c:pt idx="47">
                  <c:v>149.67551079963613</c:v>
                </c:pt>
                <c:pt idx="48">
                  <c:v>150.09456407170873</c:v>
                </c:pt>
                <c:pt idx="49">
                  <c:v>150.50328863204157</c:v>
                </c:pt>
                <c:pt idx="50">
                  <c:v>150.88267631307275</c:v>
                </c:pt>
                <c:pt idx="51">
                  <c:v>151.20925452595662</c:v>
                </c:pt>
                <c:pt idx="52">
                  <c:v>151.43797009763759</c:v>
                </c:pt>
                <c:pt idx="53">
                  <c:v>151.66457379934144</c:v>
                </c:pt>
                <c:pt idx="54">
                  <c:v>151.87628068802513</c:v>
                </c:pt>
                <c:pt idx="55">
                  <c:v>152.06488726655837</c:v>
                </c:pt>
                <c:pt idx="56">
                  <c:v>152.23410788533053</c:v>
                </c:pt>
                <c:pt idx="57">
                  <c:v>152.38152058712811</c:v>
                </c:pt>
                <c:pt idx="58">
                  <c:v>152.504768624744</c:v>
                </c:pt>
                <c:pt idx="59">
                  <c:v>152.62671072113076</c:v>
                </c:pt>
                <c:pt idx="60">
                  <c:v>152.73978868319287</c:v>
                </c:pt>
                <c:pt idx="61">
                  <c:v>152.85159562671899</c:v>
                </c:pt>
                <c:pt idx="62">
                  <c:v>152.95395499971215</c:v>
                </c:pt>
                <c:pt idx="63">
                  <c:v>153.049441440218</c:v>
                </c:pt>
                <c:pt idx="64">
                  <c:v>153.13412361347056</c:v>
                </c:pt>
                <c:pt idx="65">
                  <c:v>153.2169391567231</c:v>
                </c:pt>
                <c:pt idx="66">
                  <c:v>153.298226015745</c:v>
                </c:pt>
                <c:pt idx="67">
                  <c:v>153.36147240762466</c:v>
                </c:pt>
                <c:pt idx="68">
                  <c:v>153.42086659926949</c:v>
                </c:pt>
                <c:pt idx="69">
                  <c:v>153.48022451979114</c:v>
                </c:pt>
                <c:pt idx="70">
                  <c:v>153.53954007565125</c:v>
                </c:pt>
                <c:pt idx="71">
                  <c:v>153.59148762528514</c:v>
                </c:pt>
                <c:pt idx="72">
                  <c:v>153.64055232673476</c:v>
                </c:pt>
                <c:pt idx="73">
                  <c:v>153.67995821071401</c:v>
                </c:pt>
                <c:pt idx="74">
                  <c:v>153.71845558966788</c:v>
                </c:pt>
                <c:pt idx="75">
                  <c:v>153.75484437459056</c:v>
                </c:pt>
                <c:pt idx="76">
                  <c:v>153.78900037498909</c:v>
                </c:pt>
                <c:pt idx="77">
                  <c:v>153.82077057380093</c:v>
                </c:pt>
                <c:pt idx="78">
                  <c:v>153.84969613380093</c:v>
                </c:pt>
                <c:pt idx="79">
                  <c:v>153.87125795956962</c:v>
                </c:pt>
                <c:pt idx="80">
                  <c:v>153.89117644638574</c:v>
                </c:pt>
                <c:pt idx="81">
                  <c:v>153.90480161638575</c:v>
                </c:pt>
                <c:pt idx="82">
                  <c:v>153.90725601083969</c:v>
                </c:pt>
                <c:pt idx="83">
                  <c:v>153.90924458619986</c:v>
                </c:pt>
                <c:pt idx="84">
                  <c:v>153.91112286338122</c:v>
                </c:pt>
                <c:pt idx="85">
                  <c:v>153.9124993238336</c:v>
                </c:pt>
                <c:pt idx="86">
                  <c:v>153.91349535530426</c:v>
                </c:pt>
                <c:pt idx="87">
                  <c:v>153.91319228568076</c:v>
                </c:pt>
                <c:pt idx="88">
                  <c:v>153.91105485359859</c:v>
                </c:pt>
                <c:pt idx="89">
                  <c:v>153.90853684991313</c:v>
                </c:pt>
                <c:pt idx="90">
                  <c:v>153.905411719911</c:v>
                </c:pt>
                <c:pt idx="91">
                  <c:v>153.90090067522914</c:v>
                </c:pt>
                <c:pt idx="92">
                  <c:v>153.88831628795216</c:v>
                </c:pt>
                <c:pt idx="93">
                  <c:v>153.87542397559361</c:v>
                </c:pt>
                <c:pt idx="94">
                  <c:v>153.86143655148427</c:v>
                </c:pt>
                <c:pt idx="95">
                  <c:v>153.84571416452488</c:v>
                </c:pt>
                <c:pt idx="96">
                  <c:v>153.81857171537987</c:v>
                </c:pt>
                <c:pt idx="97">
                  <c:v>153.78821083678767</c:v>
                </c:pt>
                <c:pt idx="98">
                  <c:v>153.7576434819143</c:v>
                </c:pt>
                <c:pt idx="99">
                  <c:v>153.72385535564061</c:v>
                </c:pt>
                <c:pt idx="100">
                  <c:v>153.68970360410859</c:v>
                </c:pt>
                <c:pt idx="101">
                  <c:v>153.65032354499709</c:v>
                </c:pt>
                <c:pt idx="102">
                  <c:v>153.59275996250753</c:v>
                </c:pt>
                <c:pt idx="103">
                  <c:v>153.53309699587268</c:v>
                </c:pt>
                <c:pt idx="104">
                  <c:v>153.46952569218345</c:v>
                </c:pt>
                <c:pt idx="105">
                  <c:v>153.40588467335365</c:v>
                </c:pt>
                <c:pt idx="106">
                  <c:v>153.33405412081771</c:v>
                </c:pt>
                <c:pt idx="107">
                  <c:v>153.26113522030036</c:v>
                </c:pt>
                <c:pt idx="108">
                  <c:v>153.17936662453684</c:v>
                </c:pt>
                <c:pt idx="109">
                  <c:v>153.0958437727833</c:v>
                </c:pt>
                <c:pt idx="110">
                  <c:v>153.01168950967789</c:v>
                </c:pt>
                <c:pt idx="111">
                  <c:v>152.92411276944443</c:v>
                </c:pt>
                <c:pt idx="112">
                  <c:v>152.82931316429173</c:v>
                </c:pt>
                <c:pt idx="113">
                  <c:v>152.7124905827732</c:v>
                </c:pt>
                <c:pt idx="114">
                  <c:v>152.58915945753591</c:v>
                </c:pt>
                <c:pt idx="115">
                  <c:v>152.46173142064563</c:v>
                </c:pt>
                <c:pt idx="116">
                  <c:v>152.3336105773318</c:v>
                </c:pt>
                <c:pt idx="117">
                  <c:v>152.1996438886404</c:v>
                </c:pt>
                <c:pt idx="118">
                  <c:v>152.06166216827702</c:v>
                </c:pt>
                <c:pt idx="119">
                  <c:v>151.91785853859739</c:v>
                </c:pt>
                <c:pt idx="120">
                  <c:v>151.76670806905776</c:v>
                </c:pt>
                <c:pt idx="121">
                  <c:v>151.61180176543277</c:v>
                </c:pt>
                <c:pt idx="122">
                  <c:v>151.41989704726632</c:v>
                </c:pt>
                <c:pt idx="123">
                  <c:v>151.18405666343421</c:v>
                </c:pt>
                <c:pt idx="124">
                  <c:v>150.9006142757984</c:v>
                </c:pt>
                <c:pt idx="125">
                  <c:v>150.59091508669013</c:v>
                </c:pt>
                <c:pt idx="126">
                  <c:v>150.06975509090293</c:v>
                </c:pt>
                <c:pt idx="127">
                  <c:v>149.47738836750099</c:v>
                </c:pt>
                <c:pt idx="128">
                  <c:v>148.78526773938199</c:v>
                </c:pt>
                <c:pt idx="129">
                  <c:v>147.98278969973268</c:v>
                </c:pt>
                <c:pt idx="130">
                  <c:v>147.1714403642514</c:v>
                </c:pt>
                <c:pt idx="131">
                  <c:v>146.12594832801068</c:v>
                </c:pt>
                <c:pt idx="132">
                  <c:v>144.83247847544746</c:v>
                </c:pt>
                <c:pt idx="133">
                  <c:v>143.4941315702612</c:v>
                </c:pt>
                <c:pt idx="134">
                  <c:v>142.14515272095571</c:v>
                </c:pt>
                <c:pt idx="135">
                  <c:v>140.44972276857914</c:v>
                </c:pt>
                <c:pt idx="136">
                  <c:v>138.57774269922697</c:v>
                </c:pt>
                <c:pt idx="137">
                  <c:v>135.93169851174832</c:v>
                </c:pt>
                <c:pt idx="138">
                  <c:v>133.22827428167065</c:v>
                </c:pt>
                <c:pt idx="139">
                  <c:v>129.86591962111257</c:v>
                </c:pt>
                <c:pt idx="140">
                  <c:v>118.19661112330826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CA4-4B42-A355-F9757BCA24A3}"/>
            </c:ext>
          </c:extLst>
        </c:ser>
        <c:ser>
          <c:idx val="3"/>
          <c:order val="3"/>
          <c:tx>
            <c:strRef>
              <c:f>'Whale Curve'!$K$7</c:f>
              <c:strCache>
                <c:ptCount val="1"/>
                <c:pt idx="0">
                  <c:v>LGD, BOE 외</c:v>
                </c:pt>
              </c:strCache>
            </c:strRef>
          </c:tx>
          <c:spPr>
            <a:ln w="19050">
              <a:solidFill>
                <a:sysClr val="window" lastClr="FFFFFF">
                  <a:lumMod val="75000"/>
                </a:sysClr>
              </a:solidFill>
            </a:ln>
          </c:spPr>
          <c:marker>
            <c:symbol val="none"/>
          </c:marker>
          <c:dPt>
            <c:idx val="265"/>
            <c:marker>
              <c:symbol val="circle"/>
              <c:size val="3"/>
              <c:spPr>
                <a:solidFill>
                  <a:sysClr val="window" lastClr="FFFFFF"/>
                </a:solidFill>
                <a:ln w="12700">
                  <a:solidFill>
                    <a:sysClr val="window" lastClr="FFFFFF">
                      <a:lumMod val="65000"/>
                    </a:sysClr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CA4-4B42-A355-F9757BCA24A3}"/>
              </c:ext>
            </c:extLst>
          </c:dPt>
          <c:val>
            <c:numRef>
              <c:f>'Whale Curve'!$L$7:$JQ$7</c:f>
              <c:numCache>
                <c:formatCode>#,##0_ </c:formatCode>
                <c:ptCount val="266"/>
                <c:pt idx="0">
                  <c:v>16.32063674869217</c:v>
                </c:pt>
                <c:pt idx="1">
                  <c:v>24.131990039937506</c:v>
                </c:pt>
                <c:pt idx="2">
                  <c:v>31.736137818599623</c:v>
                </c:pt>
                <c:pt idx="3">
                  <c:v>38.613089006826961</c:v>
                </c:pt>
                <c:pt idx="4">
                  <c:v>45.306010656096014</c:v>
                </c:pt>
                <c:pt idx="5">
                  <c:v>51.615225375580913</c:v>
                </c:pt>
                <c:pt idx="6">
                  <c:v>57.48339202634579</c:v>
                </c:pt>
                <c:pt idx="7">
                  <c:v>63.183461058145028</c:v>
                </c:pt>
                <c:pt idx="8">
                  <c:v>68.761217733884195</c:v>
                </c:pt>
                <c:pt idx="9">
                  <c:v>73.985621261173407</c:v>
                </c:pt>
                <c:pt idx="10">
                  <c:v>79.081964664036477</c:v>
                </c:pt>
                <c:pt idx="11">
                  <c:v>84.073627113715531</c:v>
                </c:pt>
                <c:pt idx="12">
                  <c:v>88.622742402236668</c:v>
                </c:pt>
                <c:pt idx="13">
                  <c:v>93.015540729927935</c:v>
                </c:pt>
                <c:pt idx="14">
                  <c:v>97.03243614501703</c:v>
                </c:pt>
                <c:pt idx="15">
                  <c:v>100.22635253799741</c:v>
                </c:pt>
                <c:pt idx="16">
                  <c:v>103.19069100853638</c:v>
                </c:pt>
                <c:pt idx="17">
                  <c:v>106.10687188417759</c:v>
                </c:pt>
                <c:pt idx="18">
                  <c:v>109.01221502706117</c:v>
                </c:pt>
                <c:pt idx="19">
                  <c:v>111.90172197928253</c:v>
                </c:pt>
                <c:pt idx="20">
                  <c:v>114.68661744273329</c:v>
                </c:pt>
                <c:pt idx="21">
                  <c:v>117.38985057417473</c:v>
                </c:pt>
                <c:pt idx="22">
                  <c:v>120.01521439445797</c:v>
                </c:pt>
                <c:pt idx="23">
                  <c:v>122.36043226231324</c:v>
                </c:pt>
                <c:pt idx="24">
                  <c:v>124.69799437962442</c:v>
                </c:pt>
                <c:pt idx="25">
                  <c:v>126.99253969114952</c:v>
                </c:pt>
                <c:pt idx="26">
                  <c:v>129.20813432325266</c:v>
                </c:pt>
                <c:pt idx="27">
                  <c:v>131.2347424426022</c:v>
                </c:pt>
                <c:pt idx="28">
                  <c:v>133.20892556278301</c:v>
                </c:pt>
                <c:pt idx="29">
                  <c:v>134.97054792790746</c:v>
                </c:pt>
                <c:pt idx="30">
                  <c:v>136.67136202311761</c:v>
                </c:pt>
                <c:pt idx="31">
                  <c:v>138.28451151410121</c:v>
                </c:pt>
                <c:pt idx="32">
                  <c:v>139.8310185037802</c:v>
                </c:pt>
                <c:pt idx="33">
                  <c:v>141.36086385804555</c:v>
                </c:pt>
                <c:pt idx="34">
                  <c:v>142.79049393568059</c:v>
                </c:pt>
                <c:pt idx="35">
                  <c:v>144.20710311932092</c:v>
                </c:pt>
                <c:pt idx="36">
                  <c:v>145.6091180072585</c:v>
                </c:pt>
                <c:pt idx="37">
                  <c:v>146.99321246174767</c:v>
                </c:pt>
                <c:pt idx="38">
                  <c:v>148.34586630134956</c:v>
                </c:pt>
                <c:pt idx="39">
                  <c:v>149.64678650362799</c:v>
                </c:pt>
                <c:pt idx="40">
                  <c:v>150.92007503141272</c:v>
                </c:pt>
                <c:pt idx="41">
                  <c:v>152.13441256558696</c:v>
                </c:pt>
                <c:pt idx="42">
                  <c:v>153.31760881729124</c:v>
                </c:pt>
                <c:pt idx="43">
                  <c:v>154.47702448626023</c:v>
                </c:pt>
                <c:pt idx="44">
                  <c:v>155.63102371923642</c:v>
                </c:pt>
                <c:pt idx="45">
                  <c:v>156.75451296208564</c:v>
                </c:pt>
                <c:pt idx="46">
                  <c:v>157.85571427527387</c:v>
                </c:pt>
                <c:pt idx="47">
                  <c:v>158.9044376871467</c:v>
                </c:pt>
                <c:pt idx="48">
                  <c:v>159.92418896877032</c:v>
                </c:pt>
                <c:pt idx="49">
                  <c:v>160.91554927508125</c:v>
                </c:pt>
                <c:pt idx="50">
                  <c:v>161.90274378148831</c:v>
                </c:pt>
                <c:pt idx="51">
                  <c:v>162.87321478673783</c:v>
                </c:pt>
                <c:pt idx="52">
                  <c:v>163.81457628945483</c:v>
                </c:pt>
                <c:pt idx="53">
                  <c:v>164.74790509499371</c:v>
                </c:pt>
                <c:pt idx="54">
                  <c:v>165.66743023727656</c:v>
                </c:pt>
                <c:pt idx="55">
                  <c:v>166.57503047717088</c:v>
                </c:pt>
                <c:pt idx="56">
                  <c:v>167.47335676864927</c:v>
                </c:pt>
                <c:pt idx="57">
                  <c:v>168.36992341458557</c:v>
                </c:pt>
                <c:pt idx="58">
                  <c:v>169.24954114637126</c:v>
                </c:pt>
                <c:pt idx="59">
                  <c:v>170.10968713306747</c:v>
                </c:pt>
                <c:pt idx="60">
                  <c:v>170.95605201292642</c:v>
                </c:pt>
                <c:pt idx="61">
                  <c:v>171.75455724239418</c:v>
                </c:pt>
                <c:pt idx="62">
                  <c:v>172.50663629697411</c:v>
                </c:pt>
                <c:pt idx="63">
                  <c:v>173.23747546260063</c:v>
                </c:pt>
                <c:pt idx="64">
                  <c:v>173.93431083742917</c:v>
                </c:pt>
                <c:pt idx="65">
                  <c:v>174.60518937778656</c:v>
                </c:pt>
                <c:pt idx="66">
                  <c:v>175.26446396914997</c:v>
                </c:pt>
                <c:pt idx="67">
                  <c:v>175.9043761366367</c:v>
                </c:pt>
                <c:pt idx="68">
                  <c:v>176.54195294610943</c:v>
                </c:pt>
                <c:pt idx="69">
                  <c:v>177.1642643762342</c:v>
                </c:pt>
                <c:pt idx="70">
                  <c:v>177.78150739537452</c:v>
                </c:pt>
                <c:pt idx="71">
                  <c:v>178.35731477483819</c:v>
                </c:pt>
                <c:pt idx="72">
                  <c:v>178.91752485533721</c:v>
                </c:pt>
                <c:pt idx="73">
                  <c:v>179.46101227299647</c:v>
                </c:pt>
                <c:pt idx="74">
                  <c:v>179.92094318207066</c:v>
                </c:pt>
                <c:pt idx="75">
                  <c:v>180.35672241202636</c:v>
                </c:pt>
                <c:pt idx="76">
                  <c:v>180.79144840559559</c:v>
                </c:pt>
                <c:pt idx="77">
                  <c:v>181.22333432950524</c:v>
                </c:pt>
                <c:pt idx="78">
                  <c:v>181.65493879129195</c:v>
                </c:pt>
                <c:pt idx="79">
                  <c:v>182.08110286464847</c:v>
                </c:pt>
                <c:pt idx="80">
                  <c:v>182.50288205181545</c:v>
                </c:pt>
                <c:pt idx="81">
                  <c:v>182.91879253183646</c:v>
                </c:pt>
                <c:pt idx="82">
                  <c:v>183.32934554426029</c:v>
                </c:pt>
                <c:pt idx="83">
                  <c:v>183.73915251221013</c:v>
                </c:pt>
                <c:pt idx="84">
                  <c:v>184.1419733618533</c:v>
                </c:pt>
                <c:pt idx="85">
                  <c:v>184.54226904603755</c:v>
                </c:pt>
                <c:pt idx="86">
                  <c:v>184.93338965924133</c:v>
                </c:pt>
                <c:pt idx="87">
                  <c:v>185.31089819686568</c:v>
                </c:pt>
                <c:pt idx="88">
                  <c:v>185.6818184232269</c:v>
                </c:pt>
                <c:pt idx="89">
                  <c:v>186.05200127710927</c:v>
                </c:pt>
                <c:pt idx="90">
                  <c:v>186.4113535704499</c:v>
                </c:pt>
                <c:pt idx="91">
                  <c:v>186.7191760985408</c:v>
                </c:pt>
                <c:pt idx="92">
                  <c:v>186.99796482699099</c:v>
                </c:pt>
                <c:pt idx="93">
                  <c:v>187.25378984860512</c:v>
                </c:pt>
                <c:pt idx="94">
                  <c:v>187.50821143362657</c:v>
                </c:pt>
                <c:pt idx="95">
                  <c:v>187.74024685344767</c:v>
                </c:pt>
                <c:pt idx="96">
                  <c:v>187.97198990263141</c:v>
                </c:pt>
                <c:pt idx="97">
                  <c:v>188.19612199874129</c:v>
                </c:pt>
                <c:pt idx="98">
                  <c:v>188.41563953991047</c:v>
                </c:pt>
                <c:pt idx="99">
                  <c:v>188.63355680796252</c:v>
                </c:pt>
                <c:pt idx="100">
                  <c:v>188.84866374241622</c:v>
                </c:pt>
                <c:pt idx="101">
                  <c:v>189.05586983085584</c:v>
                </c:pt>
                <c:pt idx="102">
                  <c:v>189.24870718307659</c:v>
                </c:pt>
                <c:pt idx="103">
                  <c:v>189.43944828559361</c:v>
                </c:pt>
                <c:pt idx="104">
                  <c:v>189.62248595694575</c:v>
                </c:pt>
                <c:pt idx="105">
                  <c:v>189.80482047005478</c:v>
                </c:pt>
                <c:pt idx="106">
                  <c:v>189.96702247962074</c:v>
                </c:pt>
                <c:pt idx="107">
                  <c:v>190.12750904170014</c:v>
                </c:pt>
                <c:pt idx="108">
                  <c:v>190.25203290173039</c:v>
                </c:pt>
                <c:pt idx="109">
                  <c:v>190.36963580390645</c:v>
                </c:pt>
                <c:pt idx="110">
                  <c:v>190.4778407473288</c:v>
                </c:pt>
                <c:pt idx="111">
                  <c:v>190.58564032339058</c:v>
                </c:pt>
                <c:pt idx="112">
                  <c:v>190.68764402426029</c:v>
                </c:pt>
                <c:pt idx="113">
                  <c:v>190.78742464310395</c:v>
                </c:pt>
                <c:pt idx="114">
                  <c:v>190.88706342069378</c:v>
                </c:pt>
                <c:pt idx="115">
                  <c:v>190.979970978214</c:v>
                </c:pt>
                <c:pt idx="116">
                  <c:v>191.07172435912824</c:v>
                </c:pt>
                <c:pt idx="117">
                  <c:v>191.1534934442453</c:v>
                </c:pt>
                <c:pt idx="118">
                  <c:v>191.23477438134506</c:v>
                </c:pt>
                <c:pt idx="119">
                  <c:v>191.31585499418884</c:v>
                </c:pt>
                <c:pt idx="120">
                  <c:v>191.38527340633252</c:v>
                </c:pt>
                <c:pt idx="121">
                  <c:v>191.45251565278409</c:v>
                </c:pt>
                <c:pt idx="122">
                  <c:v>191.51810390273548</c:v>
                </c:pt>
                <c:pt idx="123">
                  <c:v>191.58119358395987</c:v>
                </c:pt>
                <c:pt idx="124">
                  <c:v>191.64249250420815</c:v>
                </c:pt>
                <c:pt idx="125">
                  <c:v>191.6984203623129</c:v>
                </c:pt>
                <c:pt idx="126">
                  <c:v>191.74058468469858</c:v>
                </c:pt>
                <c:pt idx="127">
                  <c:v>191.78190363691371</c:v>
                </c:pt>
                <c:pt idx="128">
                  <c:v>191.82150188303947</c:v>
                </c:pt>
                <c:pt idx="129">
                  <c:v>191.86076983697825</c:v>
                </c:pt>
                <c:pt idx="130">
                  <c:v>191.89906684703416</c:v>
                </c:pt>
                <c:pt idx="131">
                  <c:v>191.93642276742429</c:v>
                </c:pt>
                <c:pt idx="132">
                  <c:v>191.97306146218517</c:v>
                </c:pt>
                <c:pt idx="133">
                  <c:v>192.00789881908713</c:v>
                </c:pt>
                <c:pt idx="134">
                  <c:v>192.04137588908713</c:v>
                </c:pt>
                <c:pt idx="135">
                  <c:v>192.07323136210687</c:v>
                </c:pt>
                <c:pt idx="136">
                  <c:v>192.10455688247424</c:v>
                </c:pt>
                <c:pt idx="137">
                  <c:v>192.13524747065708</c:v>
                </c:pt>
                <c:pt idx="138">
                  <c:v>192.16412252966481</c:v>
                </c:pt>
                <c:pt idx="139">
                  <c:v>192.19243712695629</c:v>
                </c:pt>
                <c:pt idx="140">
                  <c:v>192.22039807184714</c:v>
                </c:pt>
                <c:pt idx="141">
                  <c:v>192.24816051963737</c:v>
                </c:pt>
                <c:pt idx="142">
                  <c:v>192.27552558045829</c:v>
                </c:pt>
                <c:pt idx="143">
                  <c:v>192.29830626457937</c:v>
                </c:pt>
                <c:pt idx="144">
                  <c:v>192.3208438775338</c:v>
                </c:pt>
                <c:pt idx="145">
                  <c:v>192.34276430863022</c:v>
                </c:pt>
                <c:pt idx="146">
                  <c:v>192.36401544253997</c:v>
                </c:pt>
                <c:pt idx="147">
                  <c:v>192.38339300814957</c:v>
                </c:pt>
                <c:pt idx="148">
                  <c:v>192.40238478682147</c:v>
                </c:pt>
                <c:pt idx="149">
                  <c:v>192.41864707023788</c:v>
                </c:pt>
                <c:pt idx="150">
                  <c:v>192.43482198937923</c:v>
                </c:pt>
                <c:pt idx="151">
                  <c:v>192.45098535999279</c:v>
                </c:pt>
                <c:pt idx="152">
                  <c:v>192.46612206838307</c:v>
                </c:pt>
                <c:pt idx="153">
                  <c:v>192.48020876017773</c:v>
                </c:pt>
                <c:pt idx="154">
                  <c:v>192.49425371563248</c:v>
                </c:pt>
                <c:pt idx="155">
                  <c:v>192.50650552887726</c:v>
                </c:pt>
                <c:pt idx="156">
                  <c:v>192.51659248669628</c:v>
                </c:pt>
                <c:pt idx="157">
                  <c:v>192.52578858110829</c:v>
                </c:pt>
                <c:pt idx="158">
                  <c:v>192.53422937575206</c:v>
                </c:pt>
                <c:pt idx="159">
                  <c:v>192.54239241157467</c:v>
                </c:pt>
                <c:pt idx="160">
                  <c:v>192.55021774872219</c:v>
                </c:pt>
                <c:pt idx="161">
                  <c:v>192.55782138369011</c:v>
                </c:pt>
                <c:pt idx="162">
                  <c:v>192.56487430483119</c:v>
                </c:pt>
                <c:pt idx="163">
                  <c:v>192.57074532665081</c:v>
                </c:pt>
                <c:pt idx="164">
                  <c:v>192.57518749390815</c:v>
                </c:pt>
                <c:pt idx="165">
                  <c:v>192.57927638440577</c:v>
                </c:pt>
                <c:pt idx="166">
                  <c:v>192.58326942865756</c:v>
                </c:pt>
                <c:pt idx="167">
                  <c:v>192.583477367206</c:v>
                </c:pt>
                <c:pt idx="168">
                  <c:v>192.58270563617103</c:v>
                </c:pt>
                <c:pt idx="169">
                  <c:v>192.58191136741294</c:v>
                </c:pt>
                <c:pt idx="170">
                  <c:v>192.580279230299</c:v>
                </c:pt>
                <c:pt idx="171">
                  <c:v>192.5767216150459</c:v>
                </c:pt>
                <c:pt idx="172">
                  <c:v>192.5703903678349</c:v>
                </c:pt>
                <c:pt idx="173">
                  <c:v>192.56256824652371</c:v>
                </c:pt>
                <c:pt idx="174">
                  <c:v>192.55468395068192</c:v>
                </c:pt>
                <c:pt idx="175">
                  <c:v>192.54513903756751</c:v>
                </c:pt>
                <c:pt idx="176">
                  <c:v>192.53508467994686</c:v>
                </c:pt>
                <c:pt idx="177">
                  <c:v>192.51861290410656</c:v>
                </c:pt>
                <c:pt idx="178">
                  <c:v>192.50095397939097</c:v>
                </c:pt>
                <c:pt idx="179">
                  <c:v>192.47765845380641</c:v>
                </c:pt>
                <c:pt idx="180">
                  <c:v>192.45248301071194</c:v>
                </c:pt>
                <c:pt idx="181">
                  <c:v>192.42693949888954</c:v>
                </c:pt>
                <c:pt idx="182">
                  <c:v>192.39847340586621</c:v>
                </c:pt>
                <c:pt idx="183">
                  <c:v>192.36805602391578</c:v>
                </c:pt>
                <c:pt idx="184">
                  <c:v>192.33607219325469</c:v>
                </c:pt>
                <c:pt idx="185">
                  <c:v>192.30208919326455</c:v>
                </c:pt>
                <c:pt idx="186">
                  <c:v>192.26685848124004</c:v>
                </c:pt>
                <c:pt idx="187">
                  <c:v>192.2303142806704</c:v>
                </c:pt>
                <c:pt idx="188">
                  <c:v>192.18940860529594</c:v>
                </c:pt>
                <c:pt idx="189">
                  <c:v>192.14685155909194</c:v>
                </c:pt>
                <c:pt idx="190">
                  <c:v>192.10253636029481</c:v>
                </c:pt>
                <c:pt idx="191">
                  <c:v>192.03100949726172</c:v>
                </c:pt>
                <c:pt idx="192">
                  <c:v>191.95749974309192</c:v>
                </c:pt>
                <c:pt idx="193">
                  <c:v>191.88022094905085</c:v>
                </c:pt>
                <c:pt idx="194">
                  <c:v>191.80089389370835</c:v>
                </c:pt>
                <c:pt idx="195">
                  <c:v>191.71282748575456</c:v>
                </c:pt>
                <c:pt idx="196">
                  <c:v>191.62439745201232</c:v>
                </c:pt>
                <c:pt idx="197">
                  <c:v>191.53141172650376</c:v>
                </c:pt>
                <c:pt idx="198">
                  <c:v>191.43045822366895</c:v>
                </c:pt>
                <c:pt idx="199">
                  <c:v>191.32120216380395</c:v>
                </c:pt>
                <c:pt idx="200">
                  <c:v>191.18769888105035</c:v>
                </c:pt>
                <c:pt idx="201">
                  <c:v>191.04627546408352</c:v>
                </c:pt>
                <c:pt idx="202">
                  <c:v>190.8814128853144</c:v>
                </c:pt>
                <c:pt idx="203">
                  <c:v>190.71423248234132</c:v>
                </c:pt>
                <c:pt idx="204">
                  <c:v>190.54459326010792</c:v>
                </c:pt>
                <c:pt idx="205">
                  <c:v>190.36309280717427</c:v>
                </c:pt>
                <c:pt idx="206">
                  <c:v>190.17672603913422</c:v>
                </c:pt>
                <c:pt idx="207">
                  <c:v>189.98155369358554</c:v>
                </c:pt>
                <c:pt idx="208">
                  <c:v>189.78557916568877</c:v>
                </c:pt>
                <c:pt idx="209">
                  <c:v>189.58779354139833</c:v>
                </c:pt>
                <c:pt idx="210">
                  <c:v>189.37606333586564</c:v>
                </c:pt>
                <c:pt idx="211">
                  <c:v>189.15448747256605</c:v>
                </c:pt>
                <c:pt idx="212">
                  <c:v>188.91666241274777</c:v>
                </c:pt>
                <c:pt idx="213">
                  <c:v>188.6767173737025</c:v>
                </c:pt>
                <c:pt idx="214">
                  <c:v>188.39076435767402</c:v>
                </c:pt>
                <c:pt idx="215">
                  <c:v>188.10203530570195</c:v>
                </c:pt>
                <c:pt idx="216">
                  <c:v>187.80629607179714</c:v>
                </c:pt>
                <c:pt idx="217">
                  <c:v>187.49427968022823</c:v>
                </c:pt>
                <c:pt idx="218">
                  <c:v>187.17505559012298</c:v>
                </c:pt>
                <c:pt idx="219">
                  <c:v>186.84360058935482</c:v>
                </c:pt>
                <c:pt idx="220">
                  <c:v>186.49327947548542</c:v>
                </c:pt>
                <c:pt idx="221">
                  <c:v>186.14182267195767</c:v>
                </c:pt>
                <c:pt idx="222">
                  <c:v>185.78992119592507</c:v>
                </c:pt>
                <c:pt idx="223">
                  <c:v>185.38136990316701</c:v>
                </c:pt>
                <c:pt idx="224">
                  <c:v>184.9660011489658</c:v>
                </c:pt>
                <c:pt idx="225">
                  <c:v>184.54254158893636</c:v>
                </c:pt>
                <c:pt idx="226">
                  <c:v>184.06323627315396</c:v>
                </c:pt>
                <c:pt idx="227">
                  <c:v>183.53138943810575</c:v>
                </c:pt>
                <c:pt idx="228">
                  <c:v>182.98836068816041</c:v>
                </c:pt>
                <c:pt idx="229">
                  <c:v>182.42571948502814</c:v>
                </c:pt>
                <c:pt idx="230">
                  <c:v>181.82509071324466</c:v>
                </c:pt>
                <c:pt idx="231">
                  <c:v>181.18770000365799</c:v>
                </c:pt>
                <c:pt idx="232">
                  <c:v>180.53336548804344</c:v>
                </c:pt>
                <c:pt idx="233">
                  <c:v>179.81425871796978</c:v>
                </c:pt>
                <c:pt idx="234">
                  <c:v>179.03951978621268</c:v>
                </c:pt>
                <c:pt idx="235">
                  <c:v>178.25749188926812</c:v>
                </c:pt>
                <c:pt idx="236">
                  <c:v>177.4291089089063</c:v>
                </c:pt>
                <c:pt idx="237">
                  <c:v>176.56553193824504</c:v>
                </c:pt>
                <c:pt idx="238">
                  <c:v>175.66803196385342</c:v>
                </c:pt>
                <c:pt idx="239">
                  <c:v>174.71718022063794</c:v>
                </c:pt>
                <c:pt idx="240">
                  <c:v>173.75707950922722</c:v>
                </c:pt>
                <c:pt idx="241">
                  <c:v>172.62982724117558</c:v>
                </c:pt>
                <c:pt idx="242">
                  <c:v>171.49809637825814</c:v>
                </c:pt>
                <c:pt idx="243">
                  <c:v>170.33400991203345</c:v>
                </c:pt>
                <c:pt idx="244">
                  <c:v>168.67415349090456</c:v>
                </c:pt>
                <c:pt idx="245">
                  <c:v>166.57904075399961</c:v>
                </c:pt>
                <c:pt idx="246">
                  <c:v>164.46144887045861</c:v>
                </c:pt>
                <c:pt idx="247">
                  <c:v>162.16525725000614</c:v>
                </c:pt>
                <c:pt idx="248">
                  <c:v>159.65545030415996</c:v>
                </c:pt>
                <c:pt idx="249">
                  <c:v>157.11847542549879</c:v>
                </c:pt>
                <c:pt idx="250">
                  <c:v>154.27067262312298</c:v>
                </c:pt>
                <c:pt idx="251">
                  <c:v>151.31640937754466</c:v>
                </c:pt>
                <c:pt idx="252">
                  <c:v>148.05730208800517</c:v>
                </c:pt>
                <c:pt idx="253">
                  <c:v>144.48061044858557</c:v>
                </c:pt>
                <c:pt idx="254">
                  <c:v>140.88206605660648</c:v>
                </c:pt>
                <c:pt idx="255">
                  <c:v>137.25781306633343</c:v>
                </c:pt>
                <c:pt idx="256">
                  <c:v>133.55510267807725</c:v>
                </c:pt>
                <c:pt idx="257">
                  <c:v>129.61351479570513</c:v>
                </c:pt>
                <c:pt idx="258">
                  <c:v>125.66105561703328</c:v>
                </c:pt>
                <c:pt idx="259">
                  <c:v>120.81307759430014</c:v>
                </c:pt>
                <c:pt idx="260">
                  <c:v>115.7653745182251</c:v>
                </c:pt>
                <c:pt idx="261">
                  <c:v>110.64165377203804</c:v>
                </c:pt>
                <c:pt idx="262">
                  <c:v>104.60925777039</c:v>
                </c:pt>
                <c:pt idx="263">
                  <c:v>97.22171106173883</c:v>
                </c:pt>
                <c:pt idx="264">
                  <c:v>88.10927136437698</c:v>
                </c:pt>
                <c:pt idx="265">
                  <c:v>69.961158284956866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CA4-4B42-A355-F9757BCA24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054272"/>
        <c:axId val="114055808"/>
      </c:lineChart>
      <c:catAx>
        <c:axId val="114054272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solidFill>
            <a:sysClr val="window" lastClr="FFFFFF"/>
          </a:solidFill>
          <a:ln w="6350" cmpd="sng">
            <a:tailEnd type="triangle" w="sm" len="sm"/>
          </a:ln>
          <a:effectLst/>
        </c:spPr>
        <c:txPr>
          <a:bodyPr/>
          <a:lstStyle/>
          <a:p>
            <a:pPr>
              <a:defRPr sz="800"/>
            </a:pPr>
            <a:endParaRPr lang="ko-KR"/>
          </a:p>
        </c:txPr>
        <c:crossAx val="114055808"/>
        <c:crossesAt val="0"/>
        <c:auto val="1"/>
        <c:lblAlgn val="ctr"/>
        <c:lblOffset val="100"/>
        <c:tickLblSkip val="80"/>
        <c:noMultiLvlLbl val="0"/>
      </c:catAx>
      <c:valAx>
        <c:axId val="114055808"/>
        <c:scaling>
          <c:orientation val="minMax"/>
          <c:max val="480"/>
          <c:min val="-520"/>
        </c:scaling>
        <c:delete val="0"/>
        <c:axPos val="l"/>
        <c:majorGridlines>
          <c:spPr>
            <a:ln>
              <a:prstDash val="dash"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ln>
            <a:tailEnd type="triangle" w="sm" len="sm"/>
          </a:ln>
        </c:spPr>
        <c:txPr>
          <a:bodyPr/>
          <a:lstStyle/>
          <a:p>
            <a: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pPr>
            <a:endParaRPr lang="ko-KR"/>
          </a:p>
        </c:txPr>
        <c:crossAx val="114054272"/>
        <c:crosses val="autoZero"/>
        <c:crossBetween val="between"/>
        <c:majorUnit val="120"/>
        <c:minorUnit val="16"/>
      </c:valAx>
    </c:plotArea>
    <c:legend>
      <c:legendPos val="r"/>
      <c:layout>
        <c:manualLayout>
          <c:xMode val="edge"/>
          <c:yMode val="edge"/>
          <c:x val="0.63512012774594706"/>
          <c:y val="0.64046835050554141"/>
          <c:w val="0.21103320971391185"/>
          <c:h val="0.22816850467074953"/>
        </c:manualLayout>
      </c:layout>
      <c:overlay val="0"/>
      <c:spPr>
        <a:noFill/>
        <a:ln>
          <a:noFill/>
        </a:ln>
        <a:effectLst/>
      </c:spPr>
      <c:txPr>
        <a:bodyPr/>
        <a:lstStyle/>
        <a:p>
          <a:pPr>
            <a:defRPr sz="900" b="0"/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800">
          <a:latin typeface="Arial Narrow" panose="020B0606020202030204" pitchFamily="34" charset="0"/>
          <a:ea typeface="LG스마트체 Regular" panose="020B0600000101010101" pitchFamily="50" charset="-127"/>
        </a:defRPr>
      </a:pPr>
      <a:endParaRPr lang="ko-K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8192090780760916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Sheet1!$B$4</c:f>
              <c:strCache>
                <c:ptCount val="1"/>
                <c:pt idx="0">
                  <c:v>LGES</c:v>
                </c:pt>
              </c:strCache>
            </c:strRef>
          </c:tx>
          <c:spPr>
            <a:ln w="127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2700">
                <a:solidFill>
                  <a:srgbClr val="C0000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8244501816869093E-2"/>
                  <c:y val="-6.96031296812807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3A-4289-B9CA-731813CE8109}"/>
                </c:ext>
              </c:extLst>
            </c:dLbl>
            <c:dLbl>
              <c:idx val="2"/>
              <c:layout>
                <c:manualLayout>
                  <c:x val="-3.824444867920769E-2"/>
                  <c:y val="-6.96033569968880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429712579530887E-2"/>
                      <c:h val="9.87899990225428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D3A-4289-B9CA-731813CE8109}"/>
                </c:ext>
              </c:extLst>
            </c:dLbl>
            <c:dLbl>
              <c:idx val="3"/>
              <c:layout>
                <c:manualLayout>
                  <c:x val="-3.663044066674357E-2"/>
                  <c:y val="-5.80554968323570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4A9-4F1C-83A5-1BBF75A94653}"/>
                </c:ext>
              </c:extLst>
            </c:dLbl>
            <c:dLbl>
              <c:idx val="4"/>
              <c:layout>
                <c:manualLayout>
                  <c:x val="-4.0178901776358078E-2"/>
                  <c:y val="7.47950181511511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AEB-4874-9935-5C9EBAD4BF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C0000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multiLvlStrRef>
              <c:f>Sheet1!$C$2:$G$3</c:f>
              <c:multiLvlStrCache>
                <c:ptCount val="5"/>
                <c:lvl>
                  <c:pt idx="0">
                    <c:v>2H</c:v>
                  </c:pt>
                  <c:pt idx="1">
                    <c:v>1H</c:v>
                  </c:pt>
                  <c:pt idx="2">
                    <c:v>2H</c:v>
                  </c:pt>
                  <c:pt idx="3">
                    <c:v>1H</c:v>
                  </c:pt>
                  <c:pt idx="4">
                    <c:v>2H</c:v>
                  </c:pt>
                </c:lvl>
                <c:lvl>
                  <c:pt idx="0">
                    <c:v>'23년</c:v>
                  </c:pt>
                  <c:pt idx="1">
                    <c:v>'24년 (작년)</c:v>
                  </c:pt>
                  <c:pt idx="3">
                    <c:v>'25년 (올해)</c:v>
                  </c:pt>
                </c:lvl>
              </c:multiLvlStrCache>
            </c:multiLvlStrRef>
          </c:xVal>
          <c:yVal>
            <c:numRef>
              <c:f>Sheet1!$C$4:$G$4</c:f>
              <c:numCache>
                <c:formatCode>#,##0"일";\Δ#,##0;\-</c:formatCode>
                <c:ptCount val="5"/>
                <c:pt idx="0">
                  <c:v>92.791936256331283</c:v>
                </c:pt>
                <c:pt idx="1">
                  <c:v>94.366577965469375</c:v>
                </c:pt>
                <c:pt idx="2">
                  <c:v>84.114860052707328</c:v>
                </c:pt>
                <c:pt idx="3">
                  <c:v>81.58035427576327</c:v>
                </c:pt>
                <c:pt idx="4">
                  <c:v>66.154314887808198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AEB-4874-9935-5C9EBAD4BFB4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C社</c:v>
                </c:pt>
              </c:strCache>
            </c:strRef>
          </c:tx>
          <c:spPr>
            <a:ln w="9525" cap="rnd">
              <a:solidFill>
                <a:srgbClr val="00009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rgbClr val="000099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3.5751153633974402E-2"/>
                  <c:y val="6.52441255964193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A9-4F1C-83A5-1BBF75A94653}"/>
                </c:ext>
              </c:extLst>
            </c:dLbl>
            <c:dLbl>
              <c:idx val="3"/>
              <c:layout>
                <c:manualLayout>
                  <c:x val="-3.4445365453281855E-2"/>
                  <c:y val="-6.37765760359340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AEB-4874-9935-5C9EBAD4BFB4}"/>
                </c:ext>
              </c:extLst>
            </c:dLbl>
            <c:dLbl>
              <c:idx val="4"/>
              <c:layout>
                <c:manualLayout>
                  <c:x val="-3.6031915475771406E-2"/>
                  <c:y val="-6.67116751569045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AEB-4874-9935-5C9EBAD4BF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50" b="1" i="0" u="none" strike="noStrike" kern="1200" baseline="0">
                    <a:solidFill>
                      <a:srgbClr val="000099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multiLvlStrRef>
              <c:f>Sheet1!$C$2:$G$3</c:f>
              <c:multiLvlStrCache>
                <c:ptCount val="5"/>
                <c:lvl>
                  <c:pt idx="0">
                    <c:v>2H</c:v>
                  </c:pt>
                  <c:pt idx="1">
                    <c:v>1H</c:v>
                  </c:pt>
                  <c:pt idx="2">
                    <c:v>2H</c:v>
                  </c:pt>
                  <c:pt idx="3">
                    <c:v>1H</c:v>
                  </c:pt>
                  <c:pt idx="4">
                    <c:v>2H</c:v>
                  </c:pt>
                </c:lvl>
                <c:lvl>
                  <c:pt idx="0">
                    <c:v>'23년</c:v>
                  </c:pt>
                  <c:pt idx="1">
                    <c:v>'24년 (작년)</c:v>
                  </c:pt>
                  <c:pt idx="3">
                    <c:v>'25년 (올해)</c:v>
                  </c:pt>
                </c:lvl>
              </c:multiLvlStrCache>
            </c:multiLvlStrRef>
          </c:xVal>
          <c:yVal>
            <c:numRef>
              <c:f>Sheet1!$C$5:$G$5</c:f>
              <c:numCache>
                <c:formatCode>#,##0"일";\Δ#,##0;\-</c:formatCode>
                <c:ptCount val="5"/>
                <c:pt idx="0">
                  <c:v>54</c:v>
                </c:pt>
                <c:pt idx="1">
                  <c:v>68.5</c:v>
                </c:pt>
                <c:pt idx="2">
                  <c:v>81</c:v>
                </c:pt>
                <c:pt idx="3">
                  <c:v>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AAEB-4874-9935-5C9EBAD4BF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737903"/>
        <c:axId val="447615391"/>
      </c:scatterChart>
      <c:valAx>
        <c:axId val="1877379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47615391"/>
        <c:crosses val="autoZero"/>
        <c:crossBetween val="midCat"/>
      </c:valAx>
      <c:valAx>
        <c:axId val="447615391"/>
        <c:scaling>
          <c:orientation val="minMax"/>
          <c:max val="110"/>
          <c:min val="50"/>
        </c:scaling>
        <c:delete val="1"/>
        <c:axPos val="l"/>
        <c:numFmt formatCode="#,##0&quot;일&quot;;\Δ#,##0;\-" sourceLinked="1"/>
        <c:majorTickMark val="out"/>
        <c:minorTickMark val="none"/>
        <c:tickLblPos val="nextTo"/>
        <c:crossAx val="187737903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arrow" panose="020B0606020202030204" pitchFamily="34" charset="0"/>
          <a:ea typeface="LG스마트체 Regular" panose="020B0600000101010101" pitchFamily="50" charset="-127"/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36E27-5E0B-496A-B3CE-E3633443C04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C609E-4C45-4856-8C33-727C04394F0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143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84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/>
          <a:p>
            <a:pPr defTabSz="957644"/>
            <a:fld id="{B70624E2-5FE6-4053-AA5B-5CD266321493}" type="datetimeFigureOut">
              <a:rPr lang="ko-KR" altLang="en-US" sz="1900" smtClean="0">
                <a:solidFill>
                  <a:prstClr val="black">
                    <a:tint val="75000"/>
                  </a:prstClr>
                </a:solidFill>
              </a:rPr>
              <a:pPr defTabSz="957644"/>
              <a:t>2026-10-04</a:t>
            </a:fld>
            <a:endParaRPr lang="ko-KR" altLang="en-US" sz="19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/>
          <a:p>
            <a:pPr defTabSz="957644"/>
            <a:endParaRPr lang="ko-KR" altLang="en-US" sz="19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/>
          <a:p>
            <a:pPr defTabSz="957644"/>
            <a:fld id="{796CAFA6-8129-40F6-8661-705D38C8A924}" type="slidenum">
              <a:rPr lang="ko-KR" altLang="en-US" sz="1900" smtClean="0">
                <a:solidFill>
                  <a:prstClr val="black">
                    <a:tint val="75000"/>
                  </a:prstClr>
                </a:solidFill>
              </a:rPr>
              <a:pPr defTabSz="957644"/>
              <a:t>‹#›</a:t>
            </a:fld>
            <a:endParaRPr lang="ko-KR" altLang="en-US" sz="19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4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529FC7-F23B-44F4-BF3F-0F650DB577EA}" type="datetimeFigureOut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2026-10-04</a:t>
            </a:fld>
            <a:endParaRPr kumimoji="0" lang="ko-KR" alt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982B82-F00E-43DD-8700-5A148F07F7EF}" type="slidenum">
              <a:rPr kumimoji="0" lang="ko-KR" altLang="en-US" sz="9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73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65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868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768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00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76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94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236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364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8532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29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3045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69260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SCM센터 통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6377714"/>
            <a:ext cx="19784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200" dirty="0">
                <a:solidFill>
                  <a:prstClr val="white">
                    <a:lumMod val="65000"/>
                  </a:prstClr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ⓒ 2021 </a:t>
            </a:r>
            <a:r>
              <a:rPr kumimoji="0" lang="ko-KR" altLang="en-US" sz="1200" dirty="0">
                <a:solidFill>
                  <a:prstClr val="white">
                    <a:lumMod val="65000"/>
                  </a:prstClr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㈜ </a:t>
            </a:r>
            <a:r>
              <a:rPr kumimoji="0" lang="en-US" altLang="ko-KR" sz="1200" dirty="0">
                <a:solidFill>
                  <a:prstClr val="white">
                    <a:lumMod val="65000"/>
                  </a:prstClr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LG</a:t>
            </a:r>
            <a:r>
              <a:rPr kumimoji="0" lang="ko-KR" altLang="en-US" sz="1200" dirty="0">
                <a:solidFill>
                  <a:prstClr val="white">
                    <a:lumMod val="65000"/>
                  </a:prstClr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에너지솔루션</a:t>
            </a:r>
            <a:endParaRPr kumimoji="0" lang="ko-KR" altLang="en-US" sz="1200" b="0" dirty="0">
              <a:solidFill>
                <a:prstClr val="white">
                  <a:lumMod val="65000"/>
                </a:prstClr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6928" y="6614784"/>
            <a:ext cx="119135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dirty="0">
                <a:solidFill>
                  <a:prstClr val="white">
                    <a:lumMod val="65000"/>
                  </a:prstClr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대외비</a:t>
            </a:r>
            <a:r>
              <a:rPr kumimoji="0" lang="en-US" altLang="ko-KR" sz="1000" b="0" dirty="0">
                <a:solidFill>
                  <a:prstClr val="white">
                    <a:lumMod val="65000"/>
                  </a:prstClr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(Confidential)</a:t>
            </a:r>
            <a:endParaRPr kumimoji="0" lang="ko-KR" altLang="en-US" sz="1000" b="0" dirty="0">
              <a:solidFill>
                <a:prstClr val="white">
                  <a:lumMod val="65000"/>
                </a:prstClr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453" y="6509178"/>
            <a:ext cx="1529255" cy="28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69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5663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092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584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8845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301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8380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3870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6754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679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8918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756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2480" y="116672"/>
            <a:ext cx="7200000" cy="360000"/>
          </a:xfrm>
        </p:spPr>
        <p:txBody>
          <a:bodyPr wrap="none" lIns="0" tIns="0" rIns="0" bIns="0">
            <a:noAutofit/>
          </a:bodyPr>
          <a:lstStyle>
            <a:lvl1pPr>
              <a:lnSpc>
                <a:spcPct val="120000"/>
              </a:lnSpc>
              <a:defRPr sz="1800" b="1" i="0" baseline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18pt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73000" y="476632"/>
            <a:ext cx="936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2480" y="548736"/>
            <a:ext cx="9360000" cy="504000"/>
          </a:xfrm>
        </p:spPr>
        <p:txBody>
          <a:bodyPr vert="horz" wrap="non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400" b="1" i="0" baseline="0" dirty="0"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 altLang="ko-KR" sz="1400" dirty="0"/>
              <a:t>Governing Message </a:t>
            </a:r>
            <a:r>
              <a:rPr lang="en-US" altLang="ko-KR" sz="1400" baseline="0" dirty="0"/>
              <a:t>14pt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27565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12" name="그룹 11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05136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그룹 2"/>
          <p:cNvGrpSpPr/>
          <p:nvPr userDrawn="1"/>
        </p:nvGrpSpPr>
        <p:grpSpPr>
          <a:xfrm>
            <a:off x="6289701" y="5101438"/>
            <a:ext cx="2777388" cy="655530"/>
            <a:chOff x="6546079" y="5101438"/>
            <a:chExt cx="2777388" cy="65553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4"/>
            <a:srcRect r="24736" b="72521"/>
            <a:stretch/>
          </p:blipFill>
          <p:spPr>
            <a:xfrm>
              <a:off x="6546079" y="5101438"/>
              <a:ext cx="2325174" cy="419555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 userDrawn="1"/>
          </p:nvSpPr>
          <p:spPr bwMode="auto">
            <a:xfrm>
              <a:off x="7016763" y="5415336"/>
              <a:ext cx="2306704" cy="341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SzPct val="80000"/>
                <a:buFont typeface="Wingdings" pitchFamily="2" charset="2"/>
                <a:buNone/>
              </a:pPr>
              <a:r>
                <a:rPr lang="en-US" altLang="ko-KR" sz="1850" b="1" spc="-10" baseline="0" dirty="0">
                  <a:solidFill>
                    <a:srgbClr val="686868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CPO.SCM.SCM</a:t>
              </a:r>
              <a:r>
                <a:rPr lang="ko-KR" altLang="en-US" sz="1850" b="1" spc="-10" baseline="0" dirty="0">
                  <a:solidFill>
                    <a:srgbClr val="68686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운영담당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1719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prstClr val="black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prstClr val="black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prstClr val="black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prstClr val="black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2" name="직사각형 11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pic>
          <p:nvPicPr>
            <p:cNvPr id="13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8574" b="66425"/>
            <a:stretch/>
          </p:blipFill>
          <p:spPr bwMode="auto">
            <a:xfrm>
              <a:off x="200025" y="188913"/>
              <a:ext cx="735032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82" t="77634"/>
            <a:stretch/>
          </p:blipFill>
          <p:spPr bwMode="auto">
            <a:xfrm>
              <a:off x="8294844" y="5229088"/>
              <a:ext cx="1411131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80707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200025" y="544512"/>
            <a:ext cx="950595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5300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5750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3682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2024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631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8569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8733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744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196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273B-6032-4839-95F4-9A409DB2442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C4C9F-E78F-4384-B14A-274F0F21A4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10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C03-834E-478E-8C04-7B1C1333B307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8C0BA-60BF-4FF0-BC3A-E2E0FD85106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581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 hasCustomPrompt="1"/>
          </p:nvPr>
        </p:nvSpPr>
        <p:spPr>
          <a:xfrm>
            <a:off x="273050" y="102681"/>
            <a:ext cx="2951758" cy="40999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846"/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728665"/>
            <a:ext cx="9359900" cy="5761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/>
            </a:lvl1pPr>
          </a:lstStyle>
          <a:p>
            <a:pPr lvl="0"/>
            <a:r>
              <a:rPr lang="en-US" altLang="ko-KR" dirty="0"/>
              <a:t>Governing </a:t>
            </a:r>
            <a:r>
              <a:rPr lang="ko-KR" altLang="en-US" dirty="0"/>
              <a:t>메시지를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5825924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95519" y="404664"/>
            <a:ext cx="7498984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lang="ko-KR" altLang="en-US" sz="2025" b="1" kern="1200" spc="-23" baseline="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99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+mj-ea"/>
                <a:cs typeface="Helvetic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3800475" y="6448431"/>
            <a:ext cx="2311400" cy="365125"/>
          </a:xfrm>
        </p:spPr>
        <p:txBody>
          <a:bodyPr lIns="91440" tIns="45720" rIns="91440" bIns="45720" rtlCol="0" anchor="b"/>
          <a:lstStyle>
            <a:lvl1pPr algn="ctr">
              <a:defRPr sz="750">
                <a:solidFill>
                  <a:prstClr val="black">
                    <a:tint val="75000"/>
                  </a:prstClr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4D7AE79F-42AB-4956-A69A-7C4240579E97}" type="slidenum">
              <a:rPr lang="ko-KR" altLang="en-US"/>
              <a:pPr>
                <a:defRPr/>
              </a:pPr>
              <a:t>‹#›</a:t>
            </a:fld>
            <a:r>
              <a:rPr lang="en-US" altLang="ko-KR" dirty="0"/>
              <a:t>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6621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9839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946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2480" y="116672"/>
            <a:ext cx="7200000" cy="360000"/>
          </a:xfrm>
        </p:spPr>
        <p:txBody>
          <a:bodyPr wrap="none" lIns="0" tIns="0" rIns="0" bIns="0">
            <a:noAutofit/>
          </a:bodyPr>
          <a:lstStyle>
            <a:lvl1pPr>
              <a:lnSpc>
                <a:spcPct val="120000"/>
              </a:lnSpc>
              <a:defRPr sz="1800" b="1" i="0" baseline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18pt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73000" y="476632"/>
            <a:ext cx="936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2480" y="548736"/>
            <a:ext cx="9360000" cy="504000"/>
          </a:xfrm>
        </p:spPr>
        <p:txBody>
          <a:bodyPr vert="horz" wrap="non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400" b="1" i="0" baseline="0" dirty="0"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 altLang="ko-KR" sz="1400" dirty="0"/>
              <a:t>Governing Message </a:t>
            </a:r>
            <a:r>
              <a:rPr lang="en-US" altLang="ko-KR" sz="1400" baseline="0" dirty="0"/>
              <a:t>14pt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995289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SCM센터 통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340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4530"/>
            <a:ext cx="7429500" cy="2387600"/>
          </a:xfrm>
        </p:spPr>
        <p:txBody>
          <a:bodyPr anchor="b">
            <a:normAutofit/>
          </a:bodyPr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9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1475" indent="0" algn="ctr">
              <a:buNone/>
              <a:defRPr sz="2275"/>
            </a:lvl2pPr>
            <a:lvl3pPr marL="742950" indent="0" algn="ctr">
              <a:buNone/>
              <a:defRPr sz="1950"/>
            </a:lvl3pPr>
            <a:lvl4pPr marL="1114425" indent="0" algn="ctr">
              <a:buNone/>
              <a:defRPr sz="1625"/>
            </a:lvl4pPr>
            <a:lvl5pPr marL="1485900" indent="0" algn="ctr">
              <a:buNone/>
              <a:defRPr sz="1625"/>
            </a:lvl5pPr>
            <a:lvl6pPr marL="1857375" indent="0" algn="ctr">
              <a:buNone/>
              <a:defRPr sz="1625"/>
            </a:lvl6pPr>
            <a:lvl7pPr marL="2228850" indent="0" algn="ctr">
              <a:buNone/>
              <a:defRPr sz="1625"/>
            </a:lvl7pPr>
            <a:lvl8pPr marL="2600325" indent="0" algn="ctr">
              <a:buNone/>
              <a:defRPr sz="1625"/>
            </a:lvl8pPr>
            <a:lvl9pPr marL="2971800" indent="0" algn="ctr">
              <a:buNone/>
              <a:defRPr sz="162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107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1844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12423"/>
            <a:ext cx="8543925" cy="2851208"/>
          </a:xfrm>
        </p:spPr>
        <p:txBody>
          <a:bodyPr anchor="b">
            <a:normAutofit/>
          </a:bodyPr>
          <a:lstStyle>
            <a:lvl1pPr>
              <a:defRPr sz="4875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52634"/>
            <a:ext cx="8543925" cy="1500187"/>
          </a:xfrm>
        </p:spPr>
        <p:txBody>
          <a:bodyPr anchor="t">
            <a:normAutofit/>
          </a:bodyPr>
          <a:lstStyle>
            <a:lvl1pPr marL="0" indent="0">
              <a:buNone/>
              <a:defRPr sz="19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2246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666" y="1828801"/>
            <a:ext cx="421005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8801"/>
            <a:ext cx="421005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9805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665" y="1681851"/>
            <a:ext cx="4189413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665" y="2507551"/>
            <a:ext cx="4189413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851"/>
            <a:ext cx="421005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7551"/>
            <a:ext cx="421005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49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189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9314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1"/>
            <a:ext cx="3194685" cy="1600197"/>
          </a:xfrm>
        </p:spPr>
        <p:txBody>
          <a:bodyPr anchor="b">
            <a:normAutofit/>
          </a:bodyPr>
          <a:lstStyle>
            <a:lvl1pPr>
              <a:defRPr sz="2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399"/>
            <a:ext cx="3194685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/>
            </a:lvl1pPr>
            <a:lvl2pPr marL="371475" indent="0">
              <a:buNone/>
              <a:defRPr sz="975"/>
            </a:lvl2pPr>
            <a:lvl3pPr marL="742950" indent="0">
              <a:buNone/>
              <a:defRPr sz="813"/>
            </a:lvl3pPr>
            <a:lvl4pPr marL="1114425" indent="0">
              <a:buNone/>
              <a:defRPr sz="731"/>
            </a:lvl4pPr>
            <a:lvl5pPr marL="1485900" indent="0">
              <a:buNone/>
              <a:defRPr sz="731"/>
            </a:lvl5pPr>
            <a:lvl6pPr marL="1857375" indent="0">
              <a:buNone/>
              <a:defRPr sz="731"/>
            </a:lvl6pPr>
            <a:lvl7pPr marL="2228850" indent="0">
              <a:buNone/>
              <a:defRPr sz="731"/>
            </a:lvl7pPr>
            <a:lvl8pPr marL="2600325" indent="0">
              <a:buNone/>
              <a:defRPr sz="731"/>
            </a:lvl8pPr>
            <a:lvl9pPr marL="2971800" indent="0">
              <a:buNone/>
              <a:defRPr sz="73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4215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0"/>
            <a:ext cx="3194685" cy="1600200"/>
          </a:xfrm>
        </p:spPr>
        <p:txBody>
          <a:bodyPr anchor="b">
            <a:normAutofit/>
          </a:bodyPr>
          <a:lstStyle>
            <a:lvl1pPr>
              <a:defRPr sz="2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400"/>
            <a:ext cx="3194685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/>
            </a:lvl1pPr>
            <a:lvl2pPr marL="371475" indent="0">
              <a:buNone/>
              <a:defRPr sz="975"/>
            </a:lvl2pPr>
            <a:lvl3pPr marL="742950" indent="0">
              <a:buNone/>
              <a:defRPr sz="813"/>
            </a:lvl3pPr>
            <a:lvl4pPr marL="1114425" indent="0">
              <a:buNone/>
              <a:defRPr sz="731"/>
            </a:lvl4pPr>
            <a:lvl5pPr marL="1485900" indent="0">
              <a:buNone/>
              <a:defRPr sz="731"/>
            </a:lvl5pPr>
            <a:lvl6pPr marL="1857375" indent="0">
              <a:buNone/>
              <a:defRPr sz="731"/>
            </a:lvl6pPr>
            <a:lvl7pPr marL="2228850" indent="0">
              <a:buNone/>
              <a:defRPr sz="731"/>
            </a:lvl7pPr>
            <a:lvl8pPr marL="2600325" indent="0">
              <a:buNone/>
              <a:defRPr sz="731"/>
            </a:lvl8pPr>
            <a:lvl9pPr marL="2971800" indent="0">
              <a:buNone/>
              <a:defRPr sz="73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7102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3252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0362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0363"/>
            <a:ext cx="6284119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9738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그룹 2"/>
          <p:cNvGrpSpPr/>
          <p:nvPr userDrawn="1"/>
        </p:nvGrpSpPr>
        <p:grpSpPr>
          <a:xfrm>
            <a:off x="6289701" y="5101438"/>
            <a:ext cx="2777388" cy="655530"/>
            <a:chOff x="6546079" y="5101438"/>
            <a:chExt cx="2777388" cy="655530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4"/>
            <a:srcRect r="24736" b="72521"/>
            <a:stretch/>
          </p:blipFill>
          <p:spPr>
            <a:xfrm>
              <a:off x="6546079" y="5101438"/>
              <a:ext cx="2325174" cy="419555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 userDrawn="1"/>
          </p:nvSpPr>
          <p:spPr bwMode="auto">
            <a:xfrm>
              <a:off x="7016763" y="5415336"/>
              <a:ext cx="2306704" cy="3416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indent="0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SzPct val="80000"/>
                <a:buFont typeface="Wingdings" pitchFamily="2" charset="2"/>
                <a:buNone/>
              </a:pPr>
              <a:r>
                <a:rPr lang="en-US" altLang="ko-KR" sz="1850" b="1" spc="-10" baseline="0" dirty="0">
                  <a:solidFill>
                    <a:srgbClr val="686868"/>
                  </a:solidFill>
                  <a:latin typeface="Arial Narrow" panose="020B0606020202030204" pitchFamily="34" charset="0"/>
                  <a:ea typeface="LG스마트체2.0 Regular" panose="020B0600000101010101" pitchFamily="50" charset="-127"/>
                </a:rPr>
                <a:t>CPO.SCM.SCM</a:t>
              </a:r>
              <a:r>
                <a:rPr lang="ko-KR" altLang="en-US" sz="1850" b="1" spc="-10" baseline="0" dirty="0">
                  <a:solidFill>
                    <a:srgbClr val="686868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운영담당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77621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12" name="그룹 11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74981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prstClr val="black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prstClr val="black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prstClr val="black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prstClr val="black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2" name="직사각형 11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pic>
          <p:nvPicPr>
            <p:cNvPr id="13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8574" b="66425"/>
            <a:stretch/>
          </p:blipFill>
          <p:spPr bwMode="auto">
            <a:xfrm>
              <a:off x="200025" y="188913"/>
              <a:ext cx="735032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82" t="77634"/>
            <a:stretch/>
          </p:blipFill>
          <p:spPr bwMode="auto">
            <a:xfrm>
              <a:off x="8294844" y="5229088"/>
              <a:ext cx="1411131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73250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 hasCustomPrompt="1"/>
          </p:nvPr>
        </p:nvSpPr>
        <p:spPr>
          <a:xfrm>
            <a:off x="273050" y="102681"/>
            <a:ext cx="2951758" cy="40999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846"/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728665"/>
            <a:ext cx="9359900" cy="5761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/>
            </a:lvl1pPr>
          </a:lstStyle>
          <a:p>
            <a:pPr lvl="0"/>
            <a:r>
              <a:rPr lang="en-US" altLang="ko-KR" dirty="0"/>
              <a:t>Governing </a:t>
            </a:r>
            <a:r>
              <a:rPr lang="ko-KR" altLang="en-US" dirty="0"/>
              <a:t>메시지를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5114504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95519" y="404664"/>
            <a:ext cx="7498984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lang="ko-KR" altLang="en-US" sz="2025" b="1" kern="1200" spc="-23" baseline="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99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+mj-ea"/>
                <a:cs typeface="Helvetic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3800475" y="6448431"/>
            <a:ext cx="2311400" cy="365125"/>
          </a:xfrm>
        </p:spPr>
        <p:txBody>
          <a:bodyPr lIns="91440" tIns="45720" rIns="91440" bIns="45720" rtlCol="0" anchor="b"/>
          <a:lstStyle>
            <a:lvl1pPr algn="ctr">
              <a:defRPr sz="750">
                <a:solidFill>
                  <a:prstClr val="black">
                    <a:tint val="75000"/>
                  </a:prstClr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4D7AE79F-42AB-4956-A69A-7C4240579E97}" type="slidenum">
              <a:rPr lang="ko-KR" altLang="en-US"/>
              <a:pPr>
                <a:defRPr/>
              </a:pPr>
              <a:t>‹#›</a:t>
            </a:fld>
            <a:r>
              <a:rPr lang="en-US" altLang="ko-KR" dirty="0"/>
              <a:t>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47378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8080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8235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2480" y="116672"/>
            <a:ext cx="7200000" cy="360000"/>
          </a:xfrm>
        </p:spPr>
        <p:txBody>
          <a:bodyPr wrap="none" lIns="0" tIns="0" rIns="0" bIns="0">
            <a:noAutofit/>
          </a:bodyPr>
          <a:lstStyle>
            <a:lvl1pPr>
              <a:lnSpc>
                <a:spcPct val="120000"/>
              </a:lnSpc>
              <a:defRPr sz="1800" b="1" i="0" baseline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18pt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73000" y="476632"/>
            <a:ext cx="9360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7"/>
          <p:cNvSpPr>
            <a:spLocks noGrp="1"/>
          </p:cNvSpPr>
          <p:nvPr>
            <p:ph type="body" sz="quarter" idx="10" hasCustomPrompt="1"/>
          </p:nvPr>
        </p:nvSpPr>
        <p:spPr>
          <a:xfrm>
            <a:off x="272480" y="548736"/>
            <a:ext cx="9360000" cy="504000"/>
          </a:xfrm>
        </p:spPr>
        <p:txBody>
          <a:bodyPr vert="horz" wrap="none" lIns="0" tIns="0" rIns="0" bIns="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400" b="1" i="0" baseline="0" dirty="0"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>
              <a:lnSpc>
                <a:spcPct val="120000"/>
              </a:lnSpc>
            </a:pPr>
            <a:r>
              <a:rPr lang="en-US" altLang="ko-KR" sz="1400" dirty="0"/>
              <a:t>Governing Message </a:t>
            </a:r>
            <a:r>
              <a:rPr lang="en-US" altLang="ko-KR" sz="1400" baseline="0" dirty="0"/>
              <a:t>14pt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053438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SCM센터 통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9171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50F996F-65DD-4E45-97BB-22E9D0E2B05B}"/>
              </a:ext>
            </a:extLst>
          </p:cNvPr>
          <p:cNvCxnSpPr/>
          <p:nvPr userDrawn="1"/>
        </p:nvCxnSpPr>
        <p:spPr>
          <a:xfrm>
            <a:off x="258793" y="425478"/>
            <a:ext cx="9378000" cy="0"/>
          </a:xfrm>
          <a:prstGeom prst="line">
            <a:avLst/>
          </a:prstGeom>
          <a:ln>
            <a:solidFill>
              <a:srgbClr val="3EC2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EE49D2-CCAD-4853-8BB4-C827ECC1E7B2}"/>
              </a:ext>
            </a:extLst>
          </p:cNvPr>
          <p:cNvSpPr txBox="1"/>
          <p:nvPr userDrawn="1"/>
        </p:nvSpPr>
        <p:spPr>
          <a:xfrm>
            <a:off x="14748" y="6575901"/>
            <a:ext cx="807147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kumimoji="0" lang="ko-KR" altLang="en-US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220056-BB97-415B-9B4F-B2363B88C8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483" y="6619281"/>
            <a:ext cx="2646040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2022 LG Energy Solution, Ltd. 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95A1ECB-801C-4006-8AEE-6E68674C4B4C}"/>
              </a:ext>
            </a:extLst>
          </p:cNvPr>
          <p:cNvSpPr txBox="1">
            <a:spLocks/>
          </p:cNvSpPr>
          <p:nvPr userDrawn="1"/>
        </p:nvSpPr>
        <p:spPr>
          <a:xfrm>
            <a:off x="3797300" y="656924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76B14B7-4B95-4BCF-BE6F-24EDBBF6D2BA}" type="slidenum">
              <a:rPr lang="ko-KR" altLang="en-US" sz="1000" b="1" smtClean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pPr algn="ctr"/>
              <a:t>‹#›</a:t>
            </a:fld>
            <a:r>
              <a:rPr lang="en-US" altLang="ko-KR" sz="1000" b="1" dirty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/</a:t>
            </a:r>
            <a:fld id="{276B14B7-4B95-4BCF-BE6F-24EDBBF6D2BA}" type="slidenum">
              <a:rPr lang="ko-KR" altLang="en-US" sz="1000" b="1" smtClean="0">
                <a:solidFill>
                  <a:schemeClr val="tx1"/>
                </a:solidFill>
                <a:latin typeface="Arial Narrow" panose="020B0606020202030204" pitchFamily="34" charset="0"/>
                <a:ea typeface="+mn-ea"/>
              </a:rPr>
              <a:pPr/>
              <a:t>‹#›</a:t>
            </a:fld>
            <a:endParaRPr lang="en-US" altLang="ko-KR" sz="1000" b="1" dirty="0">
              <a:solidFill>
                <a:schemeClr val="tx1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5700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7780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0771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01918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2156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2844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57122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94560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2339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2114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68112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868875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867803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763991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36407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870736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77396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7358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362544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061634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455455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478689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516745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pic>
          <p:nvPicPr>
            <p:cNvPr id="15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3B255D3A-C732-4707-8AF5-E4B301DD51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736" b="72521"/>
          <a:stretch/>
        </p:blipFill>
        <p:spPr>
          <a:xfrm>
            <a:off x="6496732" y="5101438"/>
            <a:ext cx="2325174" cy="41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1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1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1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4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41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1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3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35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47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38" indent="-34283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816" indent="-28569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794" indent="-22855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9911" indent="-22855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029" indent="-228559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147" indent="-22855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264" indent="-22855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382" indent="-22855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499" indent="-228559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7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5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3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0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88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05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23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40" algn="l" defTabSz="91423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9EFCE-86A7-4352-BA4A-02BC2EE631E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056DC-0FE3-4302-8442-2ABD8321AB8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25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44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hf hdr="0" ftr="0" dt="0"/>
  <p:txStyles>
    <p:titleStyle>
      <a:lvl1pPr algn="l" defTabSz="957263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돋움" pitchFamily="50" charset="-127"/>
          <a:cs typeface="+mj-cs"/>
        </a:defRPr>
      </a:lvl1pPr>
      <a:lvl2pPr algn="l" defTabSz="957263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2pPr>
      <a:lvl3pPr algn="l" defTabSz="957263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3pPr>
      <a:lvl4pPr algn="l" defTabSz="957263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4pPr>
      <a:lvl5pPr algn="l" defTabSz="957263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l" defTabSz="957263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l" defTabSz="957263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l" defTabSz="957263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l" defTabSz="957263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957263" rtl="0" eaLnBrk="0" fontAlgn="base" latinLnBrk="1" hangingPunct="0">
        <a:spcBef>
          <a:spcPct val="0"/>
        </a:spcBef>
        <a:spcAft>
          <a:spcPct val="0"/>
        </a:spcAft>
        <a:buSzPct val="120000"/>
        <a:buChar char="•"/>
        <a:defRPr kumimoji="1" sz="1600" b="1">
          <a:solidFill>
            <a:schemeClr val="tx1"/>
          </a:solidFill>
          <a:latin typeface="+mn-lt"/>
          <a:ea typeface="돋움" pitchFamily="50" charset="-127"/>
          <a:cs typeface="+mn-cs"/>
        </a:defRPr>
      </a:lvl1pPr>
      <a:lvl2pPr marL="153988" indent="-152400" algn="l" defTabSz="957263" rtl="0" eaLnBrk="0" fontAlgn="base" latinLnBrk="1" hangingPunct="0">
        <a:spcBef>
          <a:spcPct val="0"/>
        </a:spcBef>
        <a:spcAft>
          <a:spcPct val="0"/>
        </a:spcAft>
        <a:buSzPct val="120000"/>
        <a:buChar char="•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315913" indent="-160338" algn="l" defTabSz="957263" rtl="0" eaLnBrk="0" fontAlgn="base" latinLnBrk="1" hangingPunct="0">
        <a:spcBef>
          <a:spcPct val="0"/>
        </a:spcBef>
        <a:spcAft>
          <a:spcPct val="0"/>
        </a:spcAft>
        <a:buChar char="–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461963" indent="-144463" algn="l" defTabSz="957263" rtl="0" eaLnBrk="0" fontAlgn="base" latinLnBrk="1" hangingPunct="0">
        <a:spcBef>
          <a:spcPct val="0"/>
        </a:spcBef>
        <a:spcAft>
          <a:spcPct val="0"/>
        </a:spcAft>
        <a:buSzPct val="89000"/>
        <a:buChar char="•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622300" indent="-158750" algn="l" defTabSz="957263" rtl="0" eaLnBrk="0" fontAlgn="base" latinLnBrk="1" hangingPunct="0">
        <a:spcBef>
          <a:spcPct val="0"/>
        </a:spcBef>
        <a:spcAft>
          <a:spcPct val="0"/>
        </a:spcAft>
        <a:buSzPct val="75000"/>
        <a:buChar char="–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1079500" indent="-158750" algn="l" defTabSz="957263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536700" indent="-158750" algn="l" defTabSz="957263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993900" indent="-158750" algn="l" defTabSz="957263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451100" indent="-158750" algn="l" defTabSz="957263" rtl="0" fontAlgn="base" latinLnBrk="1">
        <a:spcBef>
          <a:spcPct val="0"/>
        </a:spcBef>
        <a:spcAft>
          <a:spcPct val="0"/>
        </a:spcAft>
        <a:buSzPct val="75000"/>
        <a:buChar char="–"/>
        <a:defRPr kumimoji="1" sz="16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D27AF-D2A1-4E34-8C26-3EBB35A6C10B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DFF60-7624-4A63-8659-779F0B83AF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449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6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5" r:id="rId18"/>
    <p:sldLayoutId id="2147483796" r:id="rId19"/>
    <p:sldLayoutId id="2147483797" r:id="rId2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666" y="365760"/>
            <a:ext cx="8543925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666" y="1828801"/>
            <a:ext cx="8543925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372FA77-3421-4E18-A2D2-9EB5C9B3B58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2026-10-04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1741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9EA8-1174-473C-9B96-8FC272E230F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41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2" r:id="rId18"/>
    <p:sldLayoutId id="2147483853" r:id="rId19"/>
    <p:sldLayoutId id="2147483854" r:id="rId20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Wingdings 2" pitchFamily="18" charset="2"/>
        <a:buChar char="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839AE-1884-4077-BEF5-5F134238E07C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BD825-4D1B-4001-B75B-664F1AE1299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781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A9211-7FB6-47C9-98DF-9729DEC5DFA8}" type="datetimeFigureOut">
              <a:rPr lang="ko-KR" altLang="en-US" smtClean="0"/>
              <a:t>2026-10-04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91182-2CF5-4D8F-B590-264A50C06F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554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8.svg"/><Relationship Id="rId18" Type="http://schemas.openxmlformats.org/officeDocument/2006/relationships/image" Target="../media/image23.svg"/><Relationship Id="rId26" Type="http://schemas.microsoft.com/office/2007/relationships/hdphoto" Target="../media/hdphoto7.wdp"/><Relationship Id="rId3" Type="http://schemas.microsoft.com/office/2007/relationships/hdphoto" Target="../media/hdphoto2.wdp"/><Relationship Id="rId21" Type="http://schemas.openxmlformats.org/officeDocument/2006/relationships/image" Target="../media/image26.emf"/><Relationship Id="rId7" Type="http://schemas.microsoft.com/office/2007/relationships/hdphoto" Target="../media/hdphoto4.wdp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9.png"/><Relationship Id="rId2" Type="http://schemas.openxmlformats.org/officeDocument/2006/relationships/image" Target="../media/image13.png"/><Relationship Id="rId16" Type="http://schemas.openxmlformats.org/officeDocument/2006/relationships/image" Target="../media/image21.svg"/><Relationship Id="rId20" Type="http://schemas.openxmlformats.org/officeDocument/2006/relationships/image" Target="../media/image25.emf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5.png"/><Relationship Id="rId11" Type="http://schemas.microsoft.com/office/2007/relationships/hdphoto" Target="../media/hdphoto1.wdp"/><Relationship Id="rId24" Type="http://schemas.microsoft.com/office/2007/relationships/hdphoto" Target="../media/hdphoto6.wdp"/><Relationship Id="rId5" Type="http://schemas.microsoft.com/office/2007/relationships/hdphoto" Target="../media/hdphoto3.wdp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microsoft.com/office/2007/relationships/hdphoto" Target="../media/hdphoto8.wdp"/><Relationship Id="rId10" Type="http://schemas.openxmlformats.org/officeDocument/2006/relationships/image" Target="../media/image12.png"/><Relationship Id="rId19" Type="http://schemas.openxmlformats.org/officeDocument/2006/relationships/image" Target="../media/image24.emf"/><Relationship Id="rId4" Type="http://schemas.openxmlformats.org/officeDocument/2006/relationships/image" Target="../media/image14.png"/><Relationship Id="rId9" Type="http://schemas.microsoft.com/office/2007/relationships/hdphoto" Target="../media/hdphoto5.wdp"/><Relationship Id="rId14" Type="http://schemas.openxmlformats.org/officeDocument/2006/relationships/image" Target="../media/image19.png"/><Relationship Id="rId22" Type="http://schemas.openxmlformats.org/officeDocument/2006/relationships/image" Target="../media/image27.emf"/><Relationship Id="rId27" Type="http://schemas.openxmlformats.org/officeDocument/2006/relationships/image" Target="../media/image30.png"/><Relationship Id="rId30" Type="http://schemas.microsoft.com/office/2007/relationships/hdphoto" Target="../media/hdphoto9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0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7.xml"/><Relationship Id="rId5" Type="http://schemas.microsoft.com/office/2007/relationships/hdphoto" Target="../media/hdphoto10.wdp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차트 69"/>
          <p:cNvGraphicFramePr>
            <a:graphicFrameLocks/>
          </p:cNvGraphicFramePr>
          <p:nvPr/>
        </p:nvGraphicFramePr>
        <p:xfrm>
          <a:off x="416496" y="2276872"/>
          <a:ext cx="4536504" cy="3002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0876" y="604186"/>
            <a:ext cx="5662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매출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&amp;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영업이익 고려한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Low Performance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 관리가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필요함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464" y="53010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복잡도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9001" y="145343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제품 복잡도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80517" y="6581001"/>
            <a:ext cx="344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2/6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7755" y="1680060"/>
            <a:ext cx="3695242" cy="5616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상위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10%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(97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전체 영업이익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80%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기여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60%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(629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영업이익 적자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440443" y="6247712"/>
            <a:ext cx="3272050" cy="246221"/>
            <a:chOff x="440443" y="6247712"/>
            <a:chExt cx="3272050" cy="246221"/>
          </a:xfrm>
        </p:grpSpPr>
        <p:sp>
          <p:nvSpPr>
            <p:cNvPr id="46" name="TextBox 45"/>
            <p:cNvSpPr txBox="1"/>
            <p:nvPr/>
          </p:nvSpPr>
          <p:spPr>
            <a:xfrm>
              <a:off x="440443" y="6247712"/>
              <a:ext cx="3272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* Source : TV, MNT 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제품군 기준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`18.1H 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매출실적 기준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양산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7" name="직선 연결선 46"/>
            <p:cNvCxnSpPr/>
            <p:nvPr/>
          </p:nvCxnSpPr>
          <p:spPr>
            <a:xfrm>
              <a:off x="473395" y="6254573"/>
              <a:ext cx="3128491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5138053" y="1680060"/>
            <a:ext cx="4044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Low Performance SKU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비중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35.7%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음영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Ⅲ, Ⅳ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등급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5239210" y="2426488"/>
          <a:ext cx="4330832" cy="2904329"/>
        </p:xfrm>
        <a:graphic>
          <a:graphicData uri="http://schemas.openxmlformats.org/drawingml/2006/table">
            <a:tbl>
              <a:tblPr/>
              <a:tblGrid>
                <a:gridCol w="905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0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08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2684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영업이익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영업이익 적자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684">
                <a:tc gridSpan="2" vMerge="1">
                  <a:txBody>
                    <a:bodyPr/>
                    <a:lstStyle/>
                    <a:p>
                      <a:pPr algn="ctr" rtl="0" fontAlgn="ctr"/>
                      <a:endParaRPr lang="ko-KR" altLang="en-US" sz="1100" b="0" i="0" u="none" strike="noStrike" dirty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흑자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</a:t>
                      </a:r>
                      <a:r>
                        <a:rPr lang="el-GR" altLang="ko-KR" sz="11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altLang="ko-KR" sz="1100" b="1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altLang="ko-KR" sz="11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altLang="ko-KR" sz="1100" b="1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10~20%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altLang="ko-KR" sz="11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altLang="ko-KR" sz="1100" b="1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20~30%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altLang="ko-KR" sz="1100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altLang="ko-KR" sz="1100" b="1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30%~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24.5%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매출상위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80%)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(257)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(42)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(38)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12.1%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(10%≤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&lt;20%)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(127)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(17)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(22)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11.4%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(5%≤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&lt;10%)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(18)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(21)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(18)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(23)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20.2%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15.9%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(5%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(545)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(212)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(47)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(167)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68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6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(1,049)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(420)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(140)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(136)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(103)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(250)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7" name="직선 연결선 56"/>
          <p:cNvCxnSpPr/>
          <p:nvPr/>
        </p:nvCxnSpPr>
        <p:spPr>
          <a:xfrm>
            <a:off x="1057073" y="2418651"/>
            <a:ext cx="0" cy="3614859"/>
          </a:xfrm>
          <a:prstGeom prst="line">
            <a:avLst/>
          </a:prstGeom>
          <a:ln cmpd="sng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32131" y="4205459"/>
            <a:ext cx="1005403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10%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(97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흑자비중 </a:t>
            </a:r>
            <a:r>
              <a:rPr kumimoji="0" lang="en-US" altLang="ko-KR" sz="1000" b="1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80% </a:t>
            </a:r>
            <a:r>
              <a:rPr kumimoji="0" lang="ko-KR" altLang="en-US" sz="1000" b="1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기여</a:t>
            </a:r>
          </a:p>
        </p:txBody>
      </p:sp>
      <p:cxnSp>
        <p:nvCxnSpPr>
          <p:cNvPr id="59" name="직선 연결선 58"/>
          <p:cNvCxnSpPr/>
          <p:nvPr/>
        </p:nvCxnSpPr>
        <p:spPr>
          <a:xfrm>
            <a:off x="4607139" y="2396476"/>
            <a:ext cx="0" cy="373339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179836" y="2474584"/>
            <a:ext cx="939360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하위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4%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모델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(39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매출비중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23%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차지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2320687" y="2396476"/>
            <a:ext cx="0" cy="367493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350602" y="2657657"/>
            <a:ext cx="455253" cy="44627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적자모델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9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(60%,629</a:t>
            </a:r>
            <a:r>
              <a:rPr kumimoji="0" lang="ko-KR" altLang="en-US" sz="900" b="1" i="0" u="none" strike="noStrike" kern="1200" cap="none" spc="-9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</a:t>
            </a:r>
            <a:r>
              <a:rPr kumimoji="0" lang="en-US" altLang="ko-KR" sz="900" b="1" i="0" u="none" strike="noStrike" kern="1200" cap="none" spc="-9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239210" y="5433496"/>
          <a:ext cx="2308902" cy="769620"/>
        </p:xfrm>
        <a:graphic>
          <a:graphicData uri="http://schemas.openxmlformats.org/drawingml/2006/table">
            <a:tbl>
              <a:tblPr/>
              <a:tblGrid>
                <a:gridCol w="462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Ⅰ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 </a:t>
                      </a:r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정상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75.3%</a:t>
                      </a:r>
                      <a:endParaRPr lang="ko-KR" altLang="en-US" sz="10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Ⅱ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 </a:t>
                      </a:r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개선대책 수립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9.7%</a:t>
                      </a:r>
                      <a:endParaRPr lang="ko-KR" altLang="en-US" sz="10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Ⅲ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 </a:t>
                      </a:r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선적통제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13.1%</a:t>
                      </a:r>
                      <a:endParaRPr lang="ko-KR" altLang="en-US" sz="10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Ⅳ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 </a:t>
                      </a:r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강제단종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1.9%</a:t>
                      </a:r>
                      <a:endParaRPr lang="ko-KR" altLang="en-US" sz="10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5143746" y="5204904"/>
            <a:ext cx="10647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LG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전자 관리 기준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787926" y="5218697"/>
            <a:ext cx="18646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1) Stock Keeping Unit 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완제품코드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8423" y="5494407"/>
            <a:ext cx="1045158" cy="355276"/>
          </a:xfrm>
          <a:prstGeom prst="rect">
            <a:avLst/>
          </a:prstGeom>
          <a:noFill/>
        </p:spPr>
        <p:txBody>
          <a:bodyPr wrap="none" lIns="0" tIns="36000" rIns="0" bIns="36000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매출금액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2,090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영업이익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341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 익  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16.3%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2718" y="5494407"/>
            <a:ext cx="1045158" cy="355276"/>
          </a:xfrm>
          <a:prstGeom prst="rect">
            <a:avLst/>
          </a:prstGeom>
          <a:noFill/>
        </p:spPr>
        <p:txBody>
          <a:bodyPr wrap="none" lIns="0" tIns="36000" rIns="0" bIns="36000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매출금액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958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영업이익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85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 익  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8.8%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2735" y="5494407"/>
            <a:ext cx="1045158" cy="355276"/>
          </a:xfrm>
          <a:prstGeom prst="rect">
            <a:avLst/>
          </a:prstGeom>
          <a:noFill/>
        </p:spPr>
        <p:txBody>
          <a:bodyPr wrap="none" lIns="0" tIns="36000" rIns="0" bIns="36000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매출금액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2,474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영업이익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l-GR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424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 익  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l-GR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Δ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835" y="4950838"/>
            <a:ext cx="12984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265" y="4950838"/>
            <a:ext cx="12984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78267" y="4950838"/>
            <a:ext cx="12984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Ⓒ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60383" y="4950838"/>
            <a:ext cx="12984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Ⓓ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63753" y="5494407"/>
            <a:ext cx="905872" cy="355276"/>
          </a:xfrm>
          <a:prstGeom prst="rect">
            <a:avLst/>
          </a:prstGeom>
          <a:solidFill>
            <a:sysClr val="window" lastClr="FFFFFF">
              <a:alpha val="70000"/>
            </a:sysClr>
          </a:solidFill>
        </p:spPr>
        <p:txBody>
          <a:bodyPr wrap="none" lIns="0" tIns="36000" rIns="0" bIns="36000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매출금액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1,280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영업이익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l-GR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333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 익  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l-GR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Δ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26.0%</a:t>
            </a:r>
          </a:p>
        </p:txBody>
      </p:sp>
      <p:cxnSp>
        <p:nvCxnSpPr>
          <p:cNvPr id="40" name="직선 연결선 39"/>
          <p:cNvCxnSpPr/>
          <p:nvPr/>
        </p:nvCxnSpPr>
        <p:spPr>
          <a:xfrm>
            <a:off x="894613" y="5139440"/>
            <a:ext cx="0" cy="360000"/>
          </a:xfrm>
          <a:prstGeom prst="line">
            <a:avLst/>
          </a:prstGeom>
          <a:ln>
            <a:solidFill>
              <a:srgbClr val="008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669246" y="5147060"/>
            <a:ext cx="0" cy="360000"/>
          </a:xfrm>
          <a:prstGeom prst="line">
            <a:avLst/>
          </a:prstGeom>
          <a:ln>
            <a:solidFill>
              <a:srgbClr val="008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3446045" y="5147061"/>
            <a:ext cx="0" cy="324000"/>
          </a:xfrm>
          <a:prstGeom prst="line">
            <a:avLst/>
          </a:prstGeom>
          <a:ln>
            <a:solidFill>
              <a:srgbClr val="008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4727062" y="5147060"/>
            <a:ext cx="0" cy="324000"/>
          </a:xfrm>
          <a:prstGeom prst="line">
            <a:avLst/>
          </a:prstGeom>
          <a:ln>
            <a:solidFill>
              <a:srgbClr val="008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1"/>
          <p:cNvSpPr txBox="1"/>
          <p:nvPr/>
        </p:nvSpPr>
        <p:spPr>
          <a:xfrm>
            <a:off x="401323" y="2194268"/>
            <a:ext cx="668216" cy="1919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전체이익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억원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TextBox 1"/>
          <p:cNvSpPr txBox="1"/>
          <p:nvPr/>
        </p:nvSpPr>
        <p:spPr>
          <a:xfrm>
            <a:off x="4665559" y="3622238"/>
            <a:ext cx="668216" cy="1919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모델수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(EA)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839197" y="2657657"/>
            <a:ext cx="455253" cy="44627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>
              <a:defRPr sz="100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흑자모델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-9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(40%,420</a:t>
            </a:r>
            <a:r>
              <a:rPr kumimoji="0" lang="ko-KR" altLang="en-US" sz="900" b="1" i="0" u="none" strike="noStrike" kern="1200" cap="none" spc="-9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</a:t>
            </a:r>
            <a:r>
              <a:rPr kumimoji="0" lang="en-US" altLang="ko-KR" sz="900" b="1" i="0" u="none" strike="noStrike" kern="1200" cap="none" spc="-9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pic>
        <p:nvPicPr>
          <p:cNvPr id="76" name="그림 7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90"/>
          <a:stretch/>
        </p:blipFill>
        <p:spPr bwMode="auto">
          <a:xfrm>
            <a:off x="3863648" y="4554088"/>
            <a:ext cx="14216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그림 76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67" b="5227"/>
          <a:stretch/>
        </p:blipFill>
        <p:spPr bwMode="auto">
          <a:xfrm>
            <a:off x="3854335" y="4366948"/>
            <a:ext cx="146366" cy="1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1"/>
          <p:cNvSpPr txBox="1"/>
          <p:nvPr/>
        </p:nvSpPr>
        <p:spPr>
          <a:xfrm>
            <a:off x="4124526" y="4373133"/>
            <a:ext cx="545721" cy="15976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46.5%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9" name="TextBox 1"/>
          <p:cNvSpPr txBox="1"/>
          <p:nvPr/>
        </p:nvSpPr>
        <p:spPr>
          <a:xfrm>
            <a:off x="4124526" y="4546577"/>
            <a:ext cx="545721" cy="15976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20.4%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0" name="TextBox 1"/>
          <p:cNvSpPr txBox="1"/>
          <p:nvPr/>
        </p:nvSpPr>
        <p:spPr>
          <a:xfrm>
            <a:off x="4124526" y="4720020"/>
            <a:ext cx="545721" cy="15976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33.1%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TextBox 1"/>
          <p:cNvSpPr txBox="1"/>
          <p:nvPr/>
        </p:nvSpPr>
        <p:spPr>
          <a:xfrm>
            <a:off x="4124526" y="4199689"/>
            <a:ext cx="545721" cy="15976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12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매출비중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3746" y="6213158"/>
            <a:ext cx="33425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당 사업부 사업특성에 따라 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POL SET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분석 진행 중</a:t>
            </a:r>
          </a:p>
        </p:txBody>
      </p:sp>
      <p:sp>
        <p:nvSpPr>
          <p:cNvPr id="83" name="실행 단추: 앞으로 또는 다음 82">
            <a:hlinkClick r:id="" action="ppaction://noaction" highlightClick="1"/>
          </p:cNvPr>
          <p:cNvSpPr/>
          <p:nvPr/>
        </p:nvSpPr>
        <p:spPr>
          <a:xfrm>
            <a:off x="8308286" y="6238372"/>
            <a:ext cx="180000" cy="180000"/>
          </a:xfrm>
          <a:prstGeom prst="actionButtonForwardNex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440443" y="1250857"/>
            <a:ext cx="4329618" cy="338554"/>
            <a:chOff x="299565" y="1584430"/>
            <a:chExt cx="4003032" cy="356767"/>
          </a:xfrm>
        </p:grpSpPr>
        <p:sp>
          <p:nvSpPr>
            <p:cNvPr id="85" name="TextBox 84"/>
            <p:cNvSpPr txBox="1"/>
            <p:nvPr/>
          </p:nvSpPr>
          <p:spPr>
            <a:xfrm>
              <a:off x="661356" y="1584430"/>
              <a:ext cx="3279451" cy="356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모델 수익성 현황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(Whale Chart)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87" name="직선 연결선 86"/>
            <p:cNvCxnSpPr/>
            <p:nvPr/>
          </p:nvCxnSpPr>
          <p:spPr bwMode="auto">
            <a:xfrm>
              <a:off x="299565" y="1920514"/>
              <a:ext cx="4003032" cy="0"/>
            </a:xfrm>
            <a:prstGeom prst="line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8" name="그룹 87"/>
          <p:cNvGrpSpPr/>
          <p:nvPr/>
        </p:nvGrpSpPr>
        <p:grpSpPr>
          <a:xfrm>
            <a:off x="5230741" y="1250857"/>
            <a:ext cx="4329618" cy="338554"/>
            <a:chOff x="299565" y="1584430"/>
            <a:chExt cx="4003032" cy="356767"/>
          </a:xfrm>
        </p:grpSpPr>
        <p:sp>
          <p:nvSpPr>
            <p:cNvPr id="89" name="TextBox 88"/>
            <p:cNvSpPr txBox="1"/>
            <p:nvPr/>
          </p:nvSpPr>
          <p:spPr>
            <a:xfrm>
              <a:off x="661356" y="1584430"/>
              <a:ext cx="3279451" cy="356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모델 현황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(20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분면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SKU</a:t>
              </a:r>
              <a:r>
                <a:rPr kumimoji="0" lang="en-US" altLang="ko-KR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400" b="1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1)</a:t>
              </a:r>
              <a:r>
                <a:rPr kumimoji="0" lang="en-US" altLang="ko-KR" sz="400" b="1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90" name="직선 연결선 89"/>
            <p:cNvCxnSpPr/>
            <p:nvPr/>
          </p:nvCxnSpPr>
          <p:spPr bwMode="auto">
            <a:xfrm>
              <a:off x="299565" y="1920514"/>
              <a:ext cx="4003032" cy="0"/>
            </a:xfrm>
            <a:prstGeom prst="line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1" name="TextBox 1"/>
          <p:cNvSpPr txBox="1"/>
          <p:nvPr/>
        </p:nvSpPr>
        <p:spPr>
          <a:xfrm>
            <a:off x="8119533" y="2151138"/>
            <a:ext cx="1431521" cy="2675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SKU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 비중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%</a:t>
            </a: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(SKU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EA)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705828" y="1330382"/>
            <a:ext cx="16546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SKU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별 이익금액 크기 순 배열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3428" y="1904917"/>
            <a:ext cx="16065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Ⅱ, Ⅲ, Ⅳ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등급 전체는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65.2%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01739" y="5196329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당사매출비중</a:t>
            </a:r>
          </a:p>
        </p:txBody>
      </p:sp>
    </p:spTree>
    <p:extLst>
      <p:ext uri="{BB962C8B-B14F-4D97-AF65-F5344CB8AC3E}">
        <p14:creationId xmlns:p14="http://schemas.microsoft.com/office/powerpoint/2010/main" val="413922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00472" y="137838"/>
            <a:ext cx="4320000" cy="406647"/>
            <a:chOff x="200472" y="214041"/>
            <a:chExt cx="4320000" cy="406647"/>
          </a:xfrm>
        </p:grpSpPr>
        <p:sp>
          <p:nvSpPr>
            <p:cNvPr id="5" name="TextBox 4"/>
            <p:cNvSpPr txBox="1"/>
            <p:nvPr/>
          </p:nvSpPr>
          <p:spPr>
            <a:xfrm>
              <a:off x="200472" y="214041"/>
              <a:ext cx="38619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1.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수요계획 입력현황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수요계획적확도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  <p:cxnSp>
          <p:nvCxnSpPr>
            <p:cNvPr id="6" name="직선 연결선 5"/>
            <p:cNvCxnSpPr/>
            <p:nvPr/>
          </p:nvCxnSpPr>
          <p:spPr bwMode="auto">
            <a:xfrm>
              <a:off x="200472" y="620688"/>
              <a:ext cx="432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" name="TextBox 7"/>
          <p:cNvSpPr txBox="1"/>
          <p:nvPr/>
        </p:nvSpPr>
        <p:spPr>
          <a:xfrm>
            <a:off x="200472" y="692695"/>
            <a:ext cx="9434066" cy="56883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수요계획 및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RP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 입력되는 제품코드의 입력 정확도 수준을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80~90%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대로 향상시켜 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’19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년부터 개별 코드에 대한 수요계획 적확도를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KPI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 가져가고 ②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Single Plan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수요계획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-RP-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공급계획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Capa.)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기반을 다져야 함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86951" y="1686719"/>
            <a:ext cx="4847851" cy="307777"/>
            <a:chOff x="273211" y="1685950"/>
            <a:chExt cx="4391998" cy="307777"/>
          </a:xfrm>
        </p:grpSpPr>
        <p:sp>
          <p:nvSpPr>
            <p:cNvPr id="10" name="TextBox 9"/>
            <p:cNvSpPr txBox="1"/>
            <p:nvPr/>
          </p:nvSpPr>
          <p:spPr>
            <a:xfrm>
              <a:off x="274046" y="1685950"/>
              <a:ext cx="43903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이슈현황</a:t>
              </a:r>
            </a:p>
          </p:txBody>
        </p:sp>
        <p:cxnSp>
          <p:nvCxnSpPr>
            <p:cNvPr id="11" name="직선 연결선 10"/>
            <p:cNvCxnSpPr/>
            <p:nvPr/>
          </p:nvCxnSpPr>
          <p:spPr bwMode="auto">
            <a:xfrm>
              <a:off x="273211" y="1989138"/>
              <a:ext cx="4391998" cy="0"/>
            </a:xfrm>
            <a:prstGeom prst="line">
              <a:avLst/>
            </a:prstGeom>
            <a:noFill/>
            <a:ln w="9525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5" name="그룹 44"/>
          <p:cNvGrpSpPr/>
          <p:nvPr/>
        </p:nvGrpSpPr>
        <p:grpSpPr>
          <a:xfrm>
            <a:off x="5298922" y="1689004"/>
            <a:ext cx="4320000" cy="307777"/>
            <a:chOff x="273210" y="1685950"/>
            <a:chExt cx="4565067" cy="307777"/>
          </a:xfrm>
        </p:grpSpPr>
        <p:sp>
          <p:nvSpPr>
            <p:cNvPr id="46" name="TextBox 45"/>
            <p:cNvSpPr txBox="1"/>
            <p:nvPr/>
          </p:nvSpPr>
          <p:spPr>
            <a:xfrm>
              <a:off x="360579" y="1685950"/>
              <a:ext cx="43903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진행방향</a:t>
              </a:r>
            </a:p>
          </p:txBody>
        </p:sp>
        <p:cxnSp>
          <p:nvCxnSpPr>
            <p:cNvPr id="47" name="직선 연결선 46"/>
            <p:cNvCxnSpPr/>
            <p:nvPr/>
          </p:nvCxnSpPr>
          <p:spPr bwMode="auto">
            <a:xfrm>
              <a:off x="273210" y="1989138"/>
              <a:ext cx="4565067" cy="0"/>
            </a:xfrm>
            <a:prstGeom prst="line">
              <a:avLst/>
            </a:prstGeom>
            <a:noFill/>
            <a:ln w="9525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33" name="표 132"/>
          <p:cNvGraphicFramePr>
            <a:graphicFrameLocks noGrp="1"/>
          </p:cNvGraphicFramePr>
          <p:nvPr/>
        </p:nvGraphicFramePr>
        <p:xfrm>
          <a:off x="107580" y="6592899"/>
          <a:ext cx="889000" cy="250317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18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돋움" pitchFamily="50" charset="-127"/>
                          <a:cs typeface="Arial" pitchFamily="34" charset="0"/>
                        </a:rPr>
                        <a:t>대외비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돋움" pitchFamily="50" charset="-127"/>
                          <a:cs typeface="Arial" pitchFamily="34" charset="0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돋움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돋움" pitchFamily="50" charset="-127"/>
                          <a:cs typeface="Arial" pitchFamily="34" charset="0"/>
                        </a:rPr>
                        <a:t>Confidential)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" name="Rectangle 474"/>
          <p:cNvSpPr txBox="1">
            <a:spLocks noChangeArrowheads="1"/>
          </p:cNvSpPr>
          <p:nvPr/>
        </p:nvSpPr>
        <p:spPr bwMode="auto">
          <a:xfrm>
            <a:off x="4749920" y="6560483"/>
            <a:ext cx="406179" cy="263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000" tIns="46800" rIns="90000" bIns="46800" numCol="1" anchor="t" anchorCtr="0" compatLnSpc="1">
            <a:prstTxWarp prst="textNoShape">
              <a:avLst/>
            </a:prstTxWarp>
            <a:spAutoFit/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+mj-lt"/>
                <a:ea typeface="돋움" pitchFamily="50" charset="-127"/>
                <a:cs typeface="+mj-cs"/>
              </a:defRPr>
            </a:lvl1pPr>
            <a:lvl2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2pPr>
            <a:lvl3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3pPr>
            <a:lvl4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4pPr>
            <a:lvl5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5pPr>
            <a:lvl6pPr marL="4572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6pPr>
            <a:lvl7pPr marL="9144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7pPr>
            <a:lvl8pPr marL="13716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8pPr>
            <a:lvl9pPr marL="18288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9pPr>
          </a:lstStyle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 / 1</a:t>
            </a: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45" name="Rectangle 2"/>
          <p:cNvSpPr>
            <a:spLocks noChangeArrowheads="1"/>
          </p:cNvSpPr>
          <p:nvPr/>
        </p:nvSpPr>
        <p:spPr bwMode="auto">
          <a:xfrm>
            <a:off x="7896238" y="47415"/>
            <a:ext cx="1876243" cy="21040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600" tIns="3600" rIns="3600" bIns="3600" anchor="b" anchorCtr="0">
            <a:spAutoFit/>
          </a:bodyPr>
          <a:lstStyle/>
          <a:p>
            <a:pPr marL="0" marR="0" lvl="0" indent="0" algn="r" defTabSz="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CC0066"/>
              </a:buClr>
              <a:buSzTx/>
              <a:buFont typeface="Wingdings" pitchFamily="2" charset="2"/>
              <a:buNone/>
              <a:tabLst>
                <a:tab pos="0" algn="l"/>
                <a:tab pos="3855600" algn="l"/>
              </a:tabLst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&lt;GSCM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팀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2P, 2018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년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10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17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일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&gt;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Light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60" name="Picture 289" descr="화살표"/>
          <p:cNvPicPr>
            <a:picLocks noChangeAspect="1" noChangeArrowheads="1"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4194" t="70580" r="14194"/>
          <a:stretch>
            <a:fillRect/>
          </a:stretch>
        </p:blipFill>
        <p:spPr bwMode="auto">
          <a:xfrm rot="10800000">
            <a:off x="6544274" y="4378764"/>
            <a:ext cx="1800200" cy="102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1"/>
          <p:cNvGrpSpPr/>
          <p:nvPr/>
        </p:nvGrpSpPr>
        <p:grpSpPr>
          <a:xfrm>
            <a:off x="5298922" y="5409718"/>
            <a:ext cx="4290905" cy="550813"/>
            <a:chOff x="5560395" y="5926666"/>
            <a:chExt cx="4029432" cy="550813"/>
          </a:xfrm>
        </p:grpSpPr>
        <p:grpSp>
          <p:nvGrpSpPr>
            <p:cNvPr id="157" name="그룹 156"/>
            <p:cNvGrpSpPr/>
            <p:nvPr/>
          </p:nvGrpSpPr>
          <p:grpSpPr>
            <a:xfrm>
              <a:off x="5560395" y="5926666"/>
              <a:ext cx="4029432" cy="550813"/>
              <a:chOff x="1453643" y="5733256"/>
              <a:chExt cx="6989111" cy="681092"/>
            </a:xfrm>
          </p:grpSpPr>
          <p:sp>
            <p:nvSpPr>
              <p:cNvPr id="158" name="Freeform 6"/>
              <p:cNvSpPr>
                <a:spLocks/>
              </p:cNvSpPr>
              <p:nvPr/>
            </p:nvSpPr>
            <p:spPr bwMode="auto">
              <a:xfrm>
                <a:off x="1453643" y="5733256"/>
                <a:ext cx="182910" cy="681092"/>
              </a:xfrm>
              <a:custGeom>
                <a:avLst/>
                <a:gdLst>
                  <a:gd name="T0" fmla="*/ 642 w 642"/>
                  <a:gd name="T1" fmla="*/ 4157 h 4157"/>
                  <a:gd name="T2" fmla="*/ 0 w 642"/>
                  <a:gd name="T3" fmla="*/ 4157 h 4157"/>
                  <a:gd name="T4" fmla="*/ 0 w 642"/>
                  <a:gd name="T5" fmla="*/ 0 h 4157"/>
                  <a:gd name="T6" fmla="*/ 642 w 642"/>
                  <a:gd name="T7" fmla="*/ 0 h 4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2" h="4157">
                    <a:moveTo>
                      <a:pt x="642" y="4157"/>
                    </a:moveTo>
                    <a:lnTo>
                      <a:pt x="0" y="4157"/>
                    </a:lnTo>
                    <a:lnTo>
                      <a:pt x="0" y="0"/>
                    </a:lnTo>
                    <a:lnTo>
                      <a:pt x="642" y="0"/>
                    </a:lnTo>
                  </a:path>
                </a:pathLst>
              </a:custGeom>
              <a:noFill/>
              <a:ln w="57150" cap="flat">
                <a:solidFill>
                  <a:srgbClr val="D8D8D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1" hangingPunct="1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9" name="Freeform 6"/>
              <p:cNvSpPr>
                <a:spLocks/>
              </p:cNvSpPr>
              <p:nvPr/>
            </p:nvSpPr>
            <p:spPr bwMode="auto">
              <a:xfrm flipH="1">
                <a:off x="8259844" y="5733256"/>
                <a:ext cx="182910" cy="681092"/>
              </a:xfrm>
              <a:custGeom>
                <a:avLst/>
                <a:gdLst>
                  <a:gd name="T0" fmla="*/ 642 w 642"/>
                  <a:gd name="T1" fmla="*/ 4157 h 4157"/>
                  <a:gd name="T2" fmla="*/ 0 w 642"/>
                  <a:gd name="T3" fmla="*/ 4157 h 4157"/>
                  <a:gd name="T4" fmla="*/ 0 w 642"/>
                  <a:gd name="T5" fmla="*/ 0 h 4157"/>
                  <a:gd name="T6" fmla="*/ 642 w 642"/>
                  <a:gd name="T7" fmla="*/ 0 h 4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2" h="4157">
                    <a:moveTo>
                      <a:pt x="642" y="4157"/>
                    </a:moveTo>
                    <a:lnTo>
                      <a:pt x="0" y="4157"/>
                    </a:lnTo>
                    <a:lnTo>
                      <a:pt x="0" y="0"/>
                    </a:lnTo>
                    <a:lnTo>
                      <a:pt x="642" y="0"/>
                    </a:lnTo>
                  </a:path>
                </a:pathLst>
              </a:custGeom>
              <a:noFill/>
              <a:ln w="57150" cap="flat">
                <a:solidFill>
                  <a:srgbClr val="D8D8D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1" hangingPunct="1">
                  <a:lnSpc>
                    <a:spcPct val="11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1" name="Text Box 106"/>
            <p:cNvSpPr txBox="1">
              <a:spLocks noChangeArrowheads="1"/>
            </p:cNvSpPr>
            <p:nvPr/>
          </p:nvSpPr>
          <p:spPr bwMode="auto">
            <a:xfrm>
              <a:off x="5573654" y="5926667"/>
              <a:ext cx="4016173" cy="5508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108000" tIns="36000" rIns="108000" bIns="36000">
              <a:noAutofit/>
            </a:bodyPr>
            <a:lstStyle>
              <a:defPPr>
                <a:defRPr lang="en-US"/>
              </a:defPPr>
              <a:lvl1pPr marL="179388" indent="-179388">
                <a:lnSpc>
                  <a:spcPct val="120000"/>
                </a:lnSpc>
                <a:spcBef>
                  <a:spcPts val="0"/>
                </a:spcBef>
                <a:buSzPct val="85000"/>
                <a:buFont typeface="Wingdings" pitchFamily="2" charset="2"/>
                <a:buChar char="q"/>
                <a:defRPr sz="140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</a:lstStyle>
            <a:p>
              <a:pPr marL="0" marR="0" lvl="0" indent="0" algn="l" defTabSz="914400" rtl="0" eaLnBrk="1" fontAlgn="base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85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수요계획이 시작된 </a:t>
              </a:r>
              <a:r>
                <a:rPr kumimoji="1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’12</a:t>
              </a:r>
              <a:r>
                <a:rPr kumimoji="1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년부터 현재까지 누구도 해결하지 못한 정확한 코드입력이라는 난제를 이번 기회에 해결필요</a:t>
              </a:r>
              <a:endPara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66" name="Rectangle 2"/>
          <p:cNvSpPr>
            <a:spLocks noChangeArrowheads="1"/>
          </p:cNvSpPr>
          <p:nvPr/>
        </p:nvSpPr>
        <p:spPr bwMode="auto">
          <a:xfrm>
            <a:off x="7789491" y="6700524"/>
            <a:ext cx="1847518" cy="14269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3600" tIns="3600" rIns="3600" bIns="3600" anchor="b" anchorCtr="0">
            <a:spAutoFit/>
          </a:bodyPr>
          <a:lstStyle/>
          <a:p>
            <a:pPr marL="0" marR="0" lvl="0" indent="0" algn="r" defTabSz="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CC0066"/>
              </a:buClr>
              <a:buSzTx/>
              <a:buFont typeface="Wingdings" pitchFamily="2" charset="2"/>
              <a:buNone/>
              <a:tabLst>
                <a:tab pos="0" algn="l"/>
                <a:tab pos="3855600" algn="l"/>
              </a:tabLst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*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외부전달 및 임의변경 삼가를 부탁드립니다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.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Light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199193" y="2492636"/>
            <a:ext cx="540000" cy="1964033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입력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관련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5298922" y="2251350"/>
            <a:ext cx="4251478" cy="339832"/>
            <a:chOff x="5476730" y="2098502"/>
            <a:chExt cx="4073670" cy="339832"/>
          </a:xfrm>
        </p:grpSpPr>
        <p:sp>
          <p:nvSpPr>
            <p:cNvPr id="83" name="직사각형 82"/>
            <p:cNvSpPr/>
            <p:nvPr/>
          </p:nvSpPr>
          <p:spPr bwMode="auto">
            <a:xfrm>
              <a:off x="5602730" y="2098502"/>
              <a:ext cx="3947670" cy="3398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anchor="ctr"/>
            <a:lstStyle/>
            <a:p>
              <a:pPr marL="0" marR="0" lvl="0" indent="160338" algn="l" defTabSz="957263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全 </a:t>
              </a:r>
              <a:r>
                <a:rPr kumimoji="0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Site </a:t>
              </a: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영업 담당자 </a:t>
              </a:r>
              <a:r>
                <a:rPr kumimoji="0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· </a:t>
              </a: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관리자 입력개선</a:t>
              </a:r>
            </a:p>
          </p:txBody>
        </p:sp>
        <p:sp>
          <p:nvSpPr>
            <p:cNvPr id="84" name="타원 83"/>
            <p:cNvSpPr>
              <a:spLocks noChangeAspect="1"/>
            </p:cNvSpPr>
            <p:nvPr/>
          </p:nvSpPr>
          <p:spPr bwMode="auto">
            <a:xfrm>
              <a:off x="5476730" y="2147688"/>
              <a:ext cx="241461" cy="24146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3600" tIns="46800" rIns="93600" bIns="468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762000" rtl="0" eaLnBrk="1" fontAlgn="base" latinLnBrk="1" hangingPunct="1">
                <a:lnSpc>
                  <a:spcPct val="12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85" name="직사각형 84"/>
          <p:cNvSpPr/>
          <p:nvPr/>
        </p:nvSpPr>
        <p:spPr bwMode="auto">
          <a:xfrm>
            <a:off x="201612" y="4693150"/>
            <a:ext cx="540000" cy="1299534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시스템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관련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5298922" y="3143983"/>
            <a:ext cx="4251478" cy="339832"/>
            <a:chOff x="5476730" y="2098502"/>
            <a:chExt cx="4073670" cy="339832"/>
          </a:xfrm>
        </p:grpSpPr>
        <p:sp>
          <p:nvSpPr>
            <p:cNvPr id="88" name="직사각형 87"/>
            <p:cNvSpPr/>
            <p:nvPr/>
          </p:nvSpPr>
          <p:spPr bwMode="auto">
            <a:xfrm>
              <a:off x="5602730" y="2098502"/>
              <a:ext cx="3947670" cy="3398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anchor="ctr"/>
            <a:lstStyle/>
            <a:p>
              <a:pPr marL="0" marR="0" lvl="0" indent="160338" algn="l" defTabSz="957263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시스템 코드 </a:t>
              </a:r>
              <a:r>
                <a:rPr kumimoji="0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Matching</a:t>
              </a: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 도입</a:t>
              </a:r>
            </a:p>
          </p:txBody>
        </p:sp>
        <p:sp>
          <p:nvSpPr>
            <p:cNvPr id="91" name="타원 90"/>
            <p:cNvSpPr>
              <a:spLocks noChangeAspect="1"/>
            </p:cNvSpPr>
            <p:nvPr/>
          </p:nvSpPr>
          <p:spPr bwMode="auto">
            <a:xfrm>
              <a:off x="5476730" y="2147688"/>
              <a:ext cx="241461" cy="24146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3600" tIns="46800" rIns="93600" bIns="468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762000" rtl="0" eaLnBrk="1" fontAlgn="base" latinLnBrk="1" hangingPunct="1">
                <a:lnSpc>
                  <a:spcPct val="12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5298922" y="4036616"/>
            <a:ext cx="4251478" cy="339832"/>
            <a:chOff x="5476730" y="2098502"/>
            <a:chExt cx="4073670" cy="339832"/>
          </a:xfrm>
        </p:grpSpPr>
        <p:sp>
          <p:nvSpPr>
            <p:cNvPr id="100" name="직사각형 99"/>
            <p:cNvSpPr/>
            <p:nvPr/>
          </p:nvSpPr>
          <p:spPr bwMode="auto">
            <a:xfrm>
              <a:off x="5602730" y="2098502"/>
              <a:ext cx="3947670" cy="3398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36000" tIns="36000" rIns="36000" bIns="36000" anchor="ctr"/>
            <a:lstStyle/>
            <a:p>
              <a:pPr marL="0" marR="0" lvl="0" indent="160338" algn="l" defTabSz="957263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통합</a:t>
              </a:r>
              <a:r>
                <a:rPr kumimoji="0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DW </a:t>
              </a: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건전성지표</a:t>
              </a:r>
              <a:r>
                <a:rPr kumimoji="0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수요계획 적확도 항목 적용</a:t>
              </a:r>
            </a:p>
          </p:txBody>
        </p:sp>
        <p:sp>
          <p:nvSpPr>
            <p:cNvPr id="103" name="타원 102"/>
            <p:cNvSpPr>
              <a:spLocks noChangeAspect="1"/>
            </p:cNvSpPr>
            <p:nvPr/>
          </p:nvSpPr>
          <p:spPr bwMode="auto">
            <a:xfrm>
              <a:off x="5476730" y="2147688"/>
              <a:ext cx="241461" cy="24146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3600" tIns="46800" rIns="93600" bIns="468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762000" rtl="0" eaLnBrk="1" fontAlgn="base" latinLnBrk="1" hangingPunct="1">
                <a:lnSpc>
                  <a:spcPct val="12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7" name="TextBox 6"/>
          <p:cNvSpPr txBox="1"/>
          <p:nvPr/>
        </p:nvSpPr>
        <p:spPr bwMode="auto">
          <a:xfrm>
            <a:off x="897467" y="2492637"/>
            <a:ext cx="2810934" cy="196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“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제품코드가 아닌 상태로의 입력이 만연화 됨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”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인치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상하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P/N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의 조합 표현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(LGD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광저우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단순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Grade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만의 표현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(LGD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구미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코드 앞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·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뒤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“T”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 빠진 표현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대만 전체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Grade,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인치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상하의 조합 표현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(CEC)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인치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모델명 일부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세트수량 기준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(INNL)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Roll Biz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서술형 표현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(SHARP)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endParaRPr kumimoji="1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897466" y="2135384"/>
            <a:ext cx="2810934" cy="277787"/>
            <a:chOff x="273211" y="1711351"/>
            <a:chExt cx="4391998" cy="277787"/>
          </a:xfrm>
        </p:grpSpPr>
        <p:sp>
          <p:nvSpPr>
            <p:cNvPr id="105" name="TextBox 104"/>
            <p:cNvSpPr txBox="1"/>
            <p:nvPr/>
          </p:nvSpPr>
          <p:spPr>
            <a:xfrm>
              <a:off x="274045" y="1711351"/>
              <a:ext cx="43903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As-Is</a:t>
              </a:r>
              <a:endPara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106" name="직선 연결선 105"/>
            <p:cNvCxnSpPr/>
            <p:nvPr/>
          </p:nvCxnSpPr>
          <p:spPr bwMode="auto">
            <a:xfrm>
              <a:off x="273211" y="1989138"/>
              <a:ext cx="4391998" cy="0"/>
            </a:xfrm>
            <a:prstGeom prst="line">
              <a:avLst/>
            </a:prstGeom>
            <a:noFill/>
            <a:ln w="9525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8" name="Text Box 106"/>
          <p:cNvSpPr txBox="1">
            <a:spLocks noChangeArrowheads="1"/>
          </p:cNvSpPr>
          <p:nvPr/>
        </p:nvSpPr>
        <p:spPr bwMode="auto">
          <a:xfrm>
            <a:off x="5430422" y="2591182"/>
            <a:ext cx="4204116" cy="5287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36000" tIns="72000" rIns="90000">
            <a:noAutofit/>
          </a:bodyPr>
          <a:lstStyle>
            <a:defPPr>
              <a:defRPr lang="en-US"/>
            </a:defPPr>
            <a:lvl1pPr marL="179388" indent="-179388">
              <a:lnSpc>
                <a:spcPct val="120000"/>
              </a:lnSpc>
              <a:spcBef>
                <a:spcPts val="0"/>
              </a:spcBef>
              <a:buSzPct val="85000"/>
              <a:buFont typeface="Wingdings" pitchFamily="2" charset="2"/>
              <a:buChar char="q"/>
              <a:defRPr sz="14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국내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10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31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일까지 입력개선 진행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해외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11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15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일까지 입력개선 진행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09" name="Text Box 106"/>
          <p:cNvSpPr txBox="1">
            <a:spLocks noChangeArrowheads="1"/>
          </p:cNvSpPr>
          <p:nvPr/>
        </p:nvSpPr>
        <p:spPr bwMode="auto">
          <a:xfrm>
            <a:off x="5432893" y="3491077"/>
            <a:ext cx="4204116" cy="5287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36000" tIns="72000" rIns="90000">
            <a:noAutofit/>
          </a:bodyPr>
          <a:lstStyle>
            <a:defPPr>
              <a:defRPr lang="en-US"/>
            </a:defPPr>
            <a:lvl1pPr marL="179388" indent="-179388">
              <a:lnSpc>
                <a:spcPct val="120000"/>
              </a:lnSpc>
              <a:spcBef>
                <a:spcPts val="0"/>
              </a:spcBef>
              <a:buSzPct val="85000"/>
              <a:buFont typeface="Wingdings" pitchFamily="2" charset="2"/>
              <a:buChar char="q"/>
              <a:defRPr sz="14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85000"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1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번 입력개선이 진행 된 후 김기훈 선임 ↔ 이범규 책임 진행계획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3776019" y="2135384"/>
            <a:ext cx="1258783" cy="277787"/>
            <a:chOff x="273211" y="1711351"/>
            <a:chExt cx="4391998" cy="277787"/>
          </a:xfrm>
        </p:grpSpPr>
        <p:sp>
          <p:nvSpPr>
            <p:cNvPr id="111" name="TextBox 110"/>
            <p:cNvSpPr txBox="1"/>
            <p:nvPr/>
          </p:nvSpPr>
          <p:spPr>
            <a:xfrm>
              <a:off x="274045" y="1711351"/>
              <a:ext cx="43903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담당부서</a:t>
              </a: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/</a:t>
              </a: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담당자</a:t>
              </a:r>
            </a:p>
          </p:txBody>
        </p:sp>
        <p:cxnSp>
          <p:nvCxnSpPr>
            <p:cNvPr id="112" name="직선 연결선 111"/>
            <p:cNvCxnSpPr/>
            <p:nvPr/>
          </p:nvCxnSpPr>
          <p:spPr bwMode="auto">
            <a:xfrm>
              <a:off x="273211" y="1989138"/>
              <a:ext cx="4391998" cy="0"/>
            </a:xfrm>
            <a:prstGeom prst="line">
              <a:avLst/>
            </a:prstGeom>
            <a:noFill/>
            <a:ln w="9525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3" name="TextBox 112"/>
          <p:cNvSpPr txBox="1"/>
          <p:nvPr/>
        </p:nvSpPr>
        <p:spPr bwMode="auto">
          <a:xfrm>
            <a:off x="3776258" y="2492637"/>
            <a:ext cx="1257624" cy="1964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마케팅기획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이영진 책임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윤승도 책임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1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Global SCM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방영선 책임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김기훈 선임</a:t>
            </a:r>
          </a:p>
        </p:txBody>
      </p:sp>
      <p:sp>
        <p:nvSpPr>
          <p:cNvPr id="114" name="TextBox 113"/>
          <p:cNvSpPr txBox="1"/>
          <p:nvPr/>
        </p:nvSpPr>
        <p:spPr bwMode="auto">
          <a:xfrm>
            <a:off x="896932" y="4693150"/>
            <a:ext cx="2810934" cy="1299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“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시스템으로 코드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Matching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계획됨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”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“PH”, “PN”, “GH”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동일코드 인식필요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“OF”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와 </a:t>
            </a: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“SF”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동일코드 인식필요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“SMPL”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포함된 견본 삭제필요</a:t>
            </a:r>
          </a:p>
        </p:txBody>
      </p:sp>
      <p:sp>
        <p:nvSpPr>
          <p:cNvPr id="115" name="TextBox 114"/>
          <p:cNvSpPr txBox="1"/>
          <p:nvPr/>
        </p:nvSpPr>
        <p:spPr bwMode="auto">
          <a:xfrm>
            <a:off x="3775723" y="4693150"/>
            <a:ext cx="1257624" cy="1299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 CNS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이범규 책임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1" lang="en-US" altLang="ko-KR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Global SCM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김기훈 선임</a:t>
            </a: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41599" y="3567144"/>
            <a:ext cx="773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RP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16885" y="3814975"/>
            <a:ext cx="773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수요</a:t>
            </a:r>
          </a:p>
        </p:txBody>
      </p:sp>
      <p:cxnSp>
        <p:nvCxnSpPr>
          <p:cNvPr id="52" name="직선 연결선 51"/>
          <p:cNvCxnSpPr/>
          <p:nvPr/>
        </p:nvCxnSpPr>
        <p:spPr bwMode="auto">
          <a:xfrm>
            <a:off x="199193" y="4574910"/>
            <a:ext cx="4842707" cy="0"/>
          </a:xfrm>
          <a:prstGeom prst="line">
            <a:avLst/>
          </a:prstGeom>
          <a:noFill/>
          <a:ln w="9525" cap="rnd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9115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 131"/>
          <p:cNvSpPr/>
          <p:nvPr/>
        </p:nvSpPr>
        <p:spPr bwMode="auto">
          <a:xfrm>
            <a:off x="248893" y="4559999"/>
            <a:ext cx="1263202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ESWA 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조립 </a:t>
            </a: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2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호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(E6x 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배정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9170815" y="2397125"/>
            <a:ext cx="506585" cy="326233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7124982" y="2397125"/>
            <a:ext cx="338166" cy="326233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7810137" y="2397125"/>
            <a:ext cx="673392" cy="326233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5595883" y="2397125"/>
            <a:ext cx="849827" cy="326233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71662" y="2397125"/>
            <a:ext cx="508947" cy="326233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275888" y="134918"/>
            <a:ext cx="5730614" cy="332944"/>
            <a:chOff x="275888" y="144443"/>
            <a:chExt cx="5730614" cy="332944"/>
          </a:xfrm>
        </p:grpSpPr>
        <p:sp>
          <p:nvSpPr>
            <p:cNvPr id="86" name="Text Box 41"/>
            <p:cNvSpPr txBox="1">
              <a:spLocks noChangeArrowheads="1"/>
            </p:cNvSpPr>
            <p:nvPr/>
          </p:nvSpPr>
          <p:spPr bwMode="auto">
            <a:xfrm>
              <a:off x="280511" y="144443"/>
              <a:ext cx="572599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E6x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계열 물동 감소에 따른 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ESWA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조립라인 운영案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(’21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년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87" name="직선 연결선 86"/>
            <p:cNvCxnSpPr/>
            <p:nvPr/>
          </p:nvCxnSpPr>
          <p:spPr bwMode="auto">
            <a:xfrm>
              <a:off x="275888" y="477387"/>
              <a:ext cx="5642027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8" name="그룹 207"/>
          <p:cNvGrpSpPr/>
          <p:nvPr/>
        </p:nvGrpSpPr>
        <p:grpSpPr>
          <a:xfrm>
            <a:off x="238126" y="984704"/>
            <a:ext cx="9429750" cy="289739"/>
            <a:chOff x="232514" y="187648"/>
            <a:chExt cx="1725697" cy="289739"/>
          </a:xfrm>
        </p:grpSpPr>
        <p:sp>
          <p:nvSpPr>
            <p:cNvPr id="209" name="Text Box 41"/>
            <p:cNvSpPr txBox="1">
              <a:spLocks noChangeArrowheads="1"/>
            </p:cNvSpPr>
            <p:nvPr/>
          </p:nvSpPr>
          <p:spPr bwMode="auto">
            <a:xfrm>
              <a:off x="772400" y="187648"/>
              <a:ext cx="64592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’21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년 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ESWA L&amp;S E6x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조립계획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(W51 RP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기준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10" name="직선 연결선 209"/>
            <p:cNvCxnSpPr/>
            <p:nvPr/>
          </p:nvCxnSpPr>
          <p:spPr bwMode="auto">
            <a:xfrm>
              <a:off x="232514" y="477387"/>
              <a:ext cx="1725697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2" name="Text Box 41"/>
          <p:cNvSpPr txBox="1">
            <a:spLocks noChangeArrowheads="1"/>
          </p:cNvSpPr>
          <p:nvPr/>
        </p:nvSpPr>
        <p:spPr bwMode="auto">
          <a:xfrm>
            <a:off x="253192" y="557306"/>
            <a:ext cx="9414683" cy="29546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물동 변동에 대한 선제적인 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DP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반영을 통해 효율적 라인 운영에 대한 검토가 이루어져야함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238147" y="1380342"/>
          <a:ext cx="9440215" cy="2682065"/>
        </p:xfrm>
        <a:graphic>
          <a:graphicData uri="http://schemas.openxmlformats.org/drawingml/2006/table">
            <a:tbl>
              <a:tblPr/>
              <a:tblGrid>
                <a:gridCol w="423538">
                  <a:extLst>
                    <a:ext uri="{9D8B030D-6E8A-4147-A177-3AD203B41FA5}">
                      <a16:colId xmlns:a16="http://schemas.microsoft.com/office/drawing/2014/main" val="2463617086"/>
                    </a:ext>
                  </a:extLst>
                </a:gridCol>
                <a:gridCol w="423538">
                  <a:extLst>
                    <a:ext uri="{9D8B030D-6E8A-4147-A177-3AD203B41FA5}">
                      <a16:colId xmlns:a16="http://schemas.microsoft.com/office/drawing/2014/main" val="4170867098"/>
                    </a:ext>
                  </a:extLst>
                </a:gridCol>
                <a:gridCol w="423538">
                  <a:extLst>
                    <a:ext uri="{9D8B030D-6E8A-4147-A177-3AD203B41FA5}">
                      <a16:colId xmlns:a16="http://schemas.microsoft.com/office/drawing/2014/main" val="3306541617"/>
                    </a:ext>
                  </a:extLst>
                </a:gridCol>
                <a:gridCol w="157464">
                  <a:extLst>
                    <a:ext uri="{9D8B030D-6E8A-4147-A177-3AD203B41FA5}">
                      <a16:colId xmlns:a16="http://schemas.microsoft.com/office/drawing/2014/main" val="1106420175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478888404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144153374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44806617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57108242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189237036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17488001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102413991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491123277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419259011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536173517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83738404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79881481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14052729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283327574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752547701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372760588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206131336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90218104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219474717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2681511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062581862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12484074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579648926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146429147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60314315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84529675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37520569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14934178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24633620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130271054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78651288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853813414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834069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477863137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97681318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613561425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750656322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15347875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21021813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974588971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4138635395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40527688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343516669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2184904890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91803592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1150848398"/>
                    </a:ext>
                  </a:extLst>
                </a:gridCol>
                <a:gridCol w="170471">
                  <a:extLst>
                    <a:ext uri="{9D8B030D-6E8A-4147-A177-3AD203B41FA5}">
                      <a16:colId xmlns:a16="http://schemas.microsoft.com/office/drawing/2014/main" val="3321409078"/>
                    </a:ext>
                  </a:extLst>
                </a:gridCol>
              </a:tblGrid>
              <a:tr h="4531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셀모델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Project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6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'21.1H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2H</a:t>
                      </a:r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15378"/>
                  </a:ext>
                </a:extLst>
              </a:tr>
              <a:tr h="453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138757"/>
                  </a:ext>
                </a:extLst>
              </a:tr>
              <a:tr h="2088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W01</a:t>
                      </a:r>
                    </a:p>
                  </a:txBody>
                  <a:tcPr marL="0" marR="0" marT="0" marB="0" vert="vert27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W02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W03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W04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W08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W09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W10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W11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W12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W13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W14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W18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W19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W20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W21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W22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W23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W24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W27</a:t>
                      </a:r>
                    </a:p>
                  </a:txBody>
                  <a:tcPr marL="0" marR="0" marT="0" marB="0" vert="vert27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W28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W29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W30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W31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W32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W33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W34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W38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W39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W40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W41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W42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W43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W44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W45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W46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W47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W48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299946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E61D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EB300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793141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C-BEV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428121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E66A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J1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801731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E61D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EB300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700870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C-BEV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144266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C-BEV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68315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E66A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J1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685220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08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E61D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EB300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605700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e-Up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78825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E61D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EB300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169049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C-BEV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124675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E71A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C727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730031"/>
                  </a:ext>
                </a:extLst>
              </a:tr>
              <a:tr h="166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17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7200" marB="720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E66A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J1</a:t>
                      </a:r>
                    </a:p>
                  </a:txBody>
                  <a:tcPr marL="0" marR="0" marT="7200" marB="72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140430"/>
                  </a:ext>
                </a:extLst>
              </a:tr>
            </a:tbl>
          </a:graphicData>
        </a:graphic>
      </p:graphicFrame>
      <p:sp>
        <p:nvSpPr>
          <p:cNvPr id="109" name="타원 108"/>
          <p:cNvSpPr>
            <a:spLocks noChangeAspect="1"/>
          </p:cNvSpPr>
          <p:nvPr/>
        </p:nvSpPr>
        <p:spPr bwMode="auto">
          <a:xfrm>
            <a:off x="165011" y="4479212"/>
            <a:ext cx="165280" cy="158367"/>
          </a:xfrm>
          <a:prstGeom prst="ellipse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1516381" y="3080109"/>
            <a:ext cx="8161019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1516382" y="2083025"/>
            <a:ext cx="1343499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516381" y="3915354"/>
            <a:ext cx="1525269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5416803" y="2087044"/>
            <a:ext cx="1190372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122042" y="2083025"/>
            <a:ext cx="682213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8483529" y="2083025"/>
            <a:ext cx="1193871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368675" y="3915354"/>
            <a:ext cx="1374675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067301" y="3915353"/>
            <a:ext cx="4610100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859882" y="2255279"/>
            <a:ext cx="2553494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613525" y="2255279"/>
            <a:ext cx="508517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7804255" y="2255279"/>
            <a:ext cx="689190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1516381" y="3246929"/>
            <a:ext cx="8161019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1516381" y="3756517"/>
            <a:ext cx="2195990" cy="12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393406" y="3753580"/>
            <a:ext cx="1878347" cy="12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712370" y="3584180"/>
            <a:ext cx="681036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6271753" y="3599955"/>
            <a:ext cx="3405647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516381" y="2919886"/>
            <a:ext cx="8161019" cy="12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2859881" y="2587919"/>
            <a:ext cx="678657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393407" y="2587133"/>
            <a:ext cx="859981" cy="126000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1516381" y="2413780"/>
            <a:ext cx="147319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180609" y="2413780"/>
            <a:ext cx="679273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3538539" y="2413780"/>
            <a:ext cx="854868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5245955" y="2413780"/>
            <a:ext cx="346988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6436889" y="2413780"/>
            <a:ext cx="685153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7465854" y="2413780"/>
            <a:ext cx="335226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8489410" y="2413780"/>
            <a:ext cx="673392" cy="126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417765" y="1881356"/>
            <a:ext cx="4259635" cy="506722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타원 109"/>
          <p:cNvSpPr>
            <a:spLocks noChangeAspect="1"/>
          </p:cNvSpPr>
          <p:nvPr/>
        </p:nvSpPr>
        <p:spPr bwMode="auto">
          <a:xfrm>
            <a:off x="5352894" y="1825483"/>
            <a:ext cx="141329" cy="146214"/>
          </a:xfrm>
          <a:prstGeom prst="ellipse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6271753" y="3391890"/>
            <a:ext cx="3405647" cy="497328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타원 111"/>
          <p:cNvSpPr>
            <a:spLocks noChangeAspect="1"/>
          </p:cNvSpPr>
          <p:nvPr/>
        </p:nvSpPr>
        <p:spPr bwMode="auto">
          <a:xfrm>
            <a:off x="6191642" y="3320777"/>
            <a:ext cx="141329" cy="129782"/>
          </a:xfrm>
          <a:prstGeom prst="ellipse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5592944" y="2388078"/>
            <a:ext cx="4084456" cy="327660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7" name="타원 116"/>
          <p:cNvSpPr>
            <a:spLocks noChangeAspect="1"/>
          </p:cNvSpPr>
          <p:nvPr/>
        </p:nvSpPr>
        <p:spPr bwMode="auto">
          <a:xfrm>
            <a:off x="5528160" y="2323001"/>
            <a:ext cx="141329" cy="146214"/>
          </a:xfrm>
          <a:prstGeom prst="ellipse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8" name="직사각형 117"/>
          <p:cNvSpPr/>
          <p:nvPr/>
        </p:nvSpPr>
        <p:spPr bwMode="auto">
          <a:xfrm>
            <a:off x="243652" y="5172029"/>
            <a:ext cx="1263202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ESWA 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조립 </a:t>
            </a: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5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호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(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부동 가능성 有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</p:txBody>
      </p:sp>
      <p:sp>
        <p:nvSpPr>
          <p:cNvPr id="119" name="타원 118"/>
          <p:cNvSpPr>
            <a:spLocks noChangeAspect="1"/>
          </p:cNvSpPr>
          <p:nvPr/>
        </p:nvSpPr>
        <p:spPr bwMode="auto">
          <a:xfrm>
            <a:off x="165011" y="5090470"/>
            <a:ext cx="165280" cy="158367"/>
          </a:xfrm>
          <a:prstGeom prst="ellipse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0" name="직사각형 119"/>
          <p:cNvSpPr/>
          <p:nvPr/>
        </p:nvSpPr>
        <p:spPr bwMode="auto">
          <a:xfrm>
            <a:off x="243652" y="5784059"/>
            <a:ext cx="1263202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ESWA 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조립 </a:t>
            </a: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16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호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(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모델 전환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+mn-cs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/>
              <a:cs typeface="+mn-cs"/>
            </a:endParaRPr>
          </a:p>
        </p:txBody>
      </p:sp>
      <p:sp>
        <p:nvSpPr>
          <p:cNvPr id="121" name="타원 120"/>
          <p:cNvSpPr>
            <a:spLocks noChangeAspect="1"/>
          </p:cNvSpPr>
          <p:nvPr/>
        </p:nvSpPr>
        <p:spPr bwMode="auto">
          <a:xfrm>
            <a:off x="165011" y="5701728"/>
            <a:ext cx="165280" cy="158367"/>
          </a:xfrm>
          <a:prstGeom prst="ellipse">
            <a:avLst/>
          </a:prstGeom>
          <a:solidFill>
            <a:srgbClr val="008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600" tIns="46800" rIns="93600" bIns="468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122" name="그룹 121"/>
          <p:cNvGrpSpPr/>
          <p:nvPr/>
        </p:nvGrpSpPr>
        <p:grpSpPr>
          <a:xfrm>
            <a:off x="4249506" y="4184684"/>
            <a:ext cx="2520616" cy="301120"/>
            <a:chOff x="632519" y="1067976"/>
            <a:chExt cx="2315348" cy="301120"/>
          </a:xfrm>
        </p:grpSpPr>
        <p:cxnSp>
          <p:nvCxnSpPr>
            <p:cNvPr id="123" name="직선 연결선 122"/>
            <p:cNvCxnSpPr/>
            <p:nvPr/>
          </p:nvCxnSpPr>
          <p:spPr>
            <a:xfrm>
              <a:off x="632519" y="1369096"/>
              <a:ext cx="2315348" cy="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 Box 189"/>
            <p:cNvSpPr txBox="1">
              <a:spLocks noChangeArrowheads="1"/>
            </p:cNvSpPr>
            <p:nvPr/>
          </p:nvSpPr>
          <p:spPr bwMode="auto">
            <a:xfrm>
              <a:off x="1246914" y="1067976"/>
              <a:ext cx="1086555" cy="299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ts val="19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조립라인 운영案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endParaRPr>
            </a:p>
          </p:txBody>
        </p:sp>
      </p:grpSp>
      <p:sp>
        <p:nvSpPr>
          <p:cNvPr id="125" name="직사각형 124"/>
          <p:cNvSpPr/>
          <p:nvPr/>
        </p:nvSpPr>
        <p:spPr>
          <a:xfrm>
            <a:off x="4730750" y="3915353"/>
            <a:ext cx="346075" cy="12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J1PA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3036828" y="3915353"/>
            <a:ext cx="335022" cy="12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J1PA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1613001" y="4182434"/>
            <a:ext cx="2286647" cy="301120"/>
            <a:chOff x="632519" y="1067976"/>
            <a:chExt cx="2315348" cy="301120"/>
          </a:xfrm>
        </p:grpSpPr>
        <p:cxnSp>
          <p:nvCxnSpPr>
            <p:cNvPr id="129" name="직선 연결선 128"/>
            <p:cNvCxnSpPr/>
            <p:nvPr/>
          </p:nvCxnSpPr>
          <p:spPr>
            <a:xfrm>
              <a:off x="632519" y="1369096"/>
              <a:ext cx="2315348" cy="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 Box 189"/>
            <p:cNvSpPr txBox="1">
              <a:spLocks noChangeArrowheads="1"/>
            </p:cNvSpPr>
            <p:nvPr/>
          </p:nvSpPr>
          <p:spPr bwMode="auto">
            <a:xfrm>
              <a:off x="1214514" y="1067976"/>
              <a:ext cx="1151369" cy="299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ts val="19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물동 전망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(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가정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)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endParaRPr>
            </a:p>
          </p:txBody>
        </p:sp>
      </p:grpSp>
      <p:sp>
        <p:nvSpPr>
          <p:cNvPr id="131" name="Text Box 118"/>
          <p:cNvSpPr txBox="1">
            <a:spLocks noChangeArrowheads="1"/>
          </p:cNvSpPr>
          <p:nvPr/>
        </p:nvSpPr>
        <p:spPr bwMode="auto">
          <a:xfrm>
            <a:off x="1613004" y="4559999"/>
            <a:ext cx="2286644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12700" dir="2700000" algn="tl" rotWithShape="0">
              <a:schemeClr val="bg1">
                <a:lumMod val="95000"/>
                <a:alpha val="40000"/>
              </a:schemeClr>
            </a:outerShdw>
          </a:effectLst>
        </p:spPr>
        <p:txBody>
          <a:bodyPr wrap="square" lIns="7200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Audi C-BEV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(E61V)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하반기 물동 無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</a:t>
            </a:r>
          </a:p>
          <a:p>
            <a:pPr marL="0" marR="0" lvl="0" indent="6985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Porche J1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(E66A)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물동 유지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33" name="Text Box 118"/>
          <p:cNvSpPr txBox="1">
            <a:spLocks noChangeArrowheads="1"/>
          </p:cNvSpPr>
          <p:nvPr/>
        </p:nvSpPr>
        <p:spPr bwMode="auto">
          <a:xfrm>
            <a:off x="1613004" y="5172028"/>
            <a:ext cx="2286644" cy="502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12700" dir="2700000" algn="tl" rotWithShape="0">
              <a:schemeClr val="bg1">
                <a:lumMod val="95000"/>
                <a:alpha val="40000"/>
              </a:schemeClr>
            </a:outerShdw>
          </a:effectLst>
        </p:spPr>
        <p:txBody>
          <a:bodyPr wrap="square" lIns="7200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MBAG EB300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(E61D)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물동 유지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34" name="Text Box 118"/>
          <p:cNvSpPr txBox="1">
            <a:spLocks noChangeArrowheads="1"/>
          </p:cNvSpPr>
          <p:nvPr/>
        </p:nvSpPr>
        <p:spPr bwMode="auto">
          <a:xfrm>
            <a:off x="1617630" y="5782283"/>
            <a:ext cx="2286644" cy="505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12700" dir="2700000" algn="tl" rotWithShape="0">
              <a:schemeClr val="bg1">
                <a:lumMod val="95000"/>
                <a:alpha val="40000"/>
              </a:schemeClr>
            </a:outerShdw>
          </a:effectLst>
        </p:spPr>
        <p:txBody>
          <a:bodyPr wrap="square" lIns="7200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Audi C-BEV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(E61V)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하반기 물동 無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6985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Ford C727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(E71A)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물동 유지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39" name="Text Box 189"/>
          <p:cNvSpPr txBox="1">
            <a:spLocks noChangeArrowheads="1"/>
          </p:cNvSpPr>
          <p:nvPr/>
        </p:nvSpPr>
        <p:spPr bwMode="auto">
          <a:xfrm>
            <a:off x="238126" y="4061689"/>
            <a:ext cx="1268728" cy="177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*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해당 셀모델 전용라인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0" name="Text Box 118"/>
          <p:cNvSpPr txBox="1">
            <a:spLocks noChangeArrowheads="1"/>
          </p:cNvSpPr>
          <p:nvPr/>
        </p:nvSpPr>
        <p:spPr bwMode="auto">
          <a:xfrm>
            <a:off x="4244880" y="4559999"/>
            <a:ext cx="2520616" cy="503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12700" dir="2700000" algn="tl" rotWithShape="0">
              <a:schemeClr val="bg1">
                <a:lumMod val="95000"/>
                <a:alpha val="40000"/>
              </a:schemeClr>
            </a:outerShdw>
          </a:effectLst>
        </p:spPr>
        <p:txBody>
          <a:bodyPr wrap="square" lIns="7200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Porche J1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(E66A)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기존 계획 유지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8890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MBAG EB300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(E61D)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호기 전환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(5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→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호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41" name="Text Box 118"/>
          <p:cNvSpPr txBox="1">
            <a:spLocks noChangeArrowheads="1"/>
          </p:cNvSpPr>
          <p:nvPr/>
        </p:nvSpPr>
        <p:spPr bwMode="auto">
          <a:xfrm>
            <a:off x="4244880" y="5172028"/>
            <a:ext cx="2520616" cy="502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12700" dir="2700000" algn="tl" rotWithShape="0">
              <a:schemeClr val="bg1">
                <a:lumMod val="95000"/>
                <a:alpha val="40000"/>
              </a:schemeClr>
            </a:outerShdw>
          </a:effectLst>
        </p:spPr>
        <p:txBody>
          <a:bodyPr wrap="square" lIns="72000" tIns="0" rIns="0" bIns="3600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MBAG EB300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(E61D)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호기 전환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(5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→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호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라인 활용 검토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(W25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이후 약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21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만셀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42" name="Text Box 118"/>
          <p:cNvSpPr txBox="1">
            <a:spLocks noChangeArrowheads="1"/>
          </p:cNvSpPr>
          <p:nvPr/>
        </p:nvSpPr>
        <p:spPr bwMode="auto">
          <a:xfrm>
            <a:off x="4249506" y="5782283"/>
            <a:ext cx="2520616" cy="505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12700" dir="2700000" algn="tl" rotWithShape="0">
              <a:schemeClr val="bg1">
                <a:lumMod val="95000"/>
                <a:alpha val="40000"/>
              </a:schemeClr>
            </a:outerShdw>
          </a:effectLst>
        </p:spPr>
        <p:txBody>
          <a:bodyPr wrap="square" lIns="7200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Ford C727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(E71A)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전용화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</a:t>
            </a:r>
          </a:p>
          <a:p>
            <a:pPr marL="0" marR="0" lvl="0" indent="80963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ESNB 9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호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ESS JH4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배정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(’21.5-12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43" name="AutoShape 26"/>
          <p:cNvSpPr>
            <a:spLocks noChangeAspect="1" noChangeArrowheads="1"/>
          </p:cNvSpPr>
          <p:nvPr/>
        </p:nvSpPr>
        <p:spPr bwMode="auto">
          <a:xfrm rot="5400000">
            <a:off x="3307298" y="5332930"/>
            <a:ext cx="1549235" cy="166583"/>
          </a:xfrm>
          <a:prstGeom prst="triangle">
            <a:avLst>
              <a:gd name="adj" fmla="val 50005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6854563" y="4184684"/>
            <a:ext cx="1195743" cy="316360"/>
            <a:chOff x="632519" y="1067976"/>
            <a:chExt cx="2315348" cy="316360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32519" y="1369096"/>
              <a:ext cx="2315348" cy="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 Box 189"/>
            <p:cNvSpPr txBox="1">
              <a:spLocks noChangeArrowheads="1"/>
            </p:cNvSpPr>
            <p:nvPr/>
          </p:nvSpPr>
          <p:spPr bwMode="auto">
            <a:xfrm>
              <a:off x="974420" y="1067976"/>
              <a:ext cx="1631535" cy="316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ts val="19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To-Do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  <a:sym typeface="Wingdings"/>
                </a:rPr>
                <a:t>사항</a:t>
              </a: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endParaRPr>
            </a:p>
          </p:txBody>
        </p:sp>
      </p:grpSp>
      <p:sp>
        <p:nvSpPr>
          <p:cNvPr id="151" name="Rectangle 474"/>
          <p:cNvSpPr txBox="1">
            <a:spLocks noChangeArrowheads="1"/>
          </p:cNvSpPr>
          <p:nvPr/>
        </p:nvSpPr>
        <p:spPr bwMode="auto">
          <a:xfrm>
            <a:off x="4749920" y="6560483"/>
            <a:ext cx="406179" cy="263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000" tIns="46800" rIns="90000" bIns="46800" numCol="1" anchor="t" anchorCtr="0" compatLnSpc="1">
            <a:prstTxWarp prst="textNoShape">
              <a:avLst/>
            </a:prstTxWarp>
            <a:spAutoFit/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+mj-lt"/>
                <a:ea typeface="돋움" pitchFamily="50" charset="-127"/>
                <a:cs typeface="+mj-cs"/>
              </a:defRPr>
            </a:lvl1pPr>
            <a:lvl2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2pPr>
            <a:lvl3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3pPr>
            <a:lvl4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4pPr>
            <a:lvl5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돋움" pitchFamily="50" charset="-127"/>
              </a:defRPr>
            </a:lvl5pPr>
            <a:lvl6pPr marL="4572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6pPr>
            <a:lvl7pPr marL="9144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7pPr>
            <a:lvl8pPr marL="13716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8pPr>
            <a:lvl9pPr marL="1828800" algn="l" defTabSz="957263" rtl="0" fontAlgn="base" latinLnBrk="1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2"/>
                </a:solidFill>
                <a:latin typeface="Arial" charset="0"/>
                <a:ea typeface="Dotum" pitchFamily="50" charset="-127"/>
              </a:defRPr>
            </a:lvl9pPr>
          </a:lstStyle>
          <a:p>
            <a:pPr marL="0" marR="0" lvl="0" indent="0" algn="ctr" defTabSz="95726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 / 1</a:t>
            </a: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8146833" y="4479212"/>
          <a:ext cx="1618205" cy="901065"/>
        </p:xfrm>
        <a:graphic>
          <a:graphicData uri="http://schemas.openxmlformats.org/drawingml/2006/table">
            <a:tbl>
              <a:tblPr/>
              <a:tblGrid>
                <a:gridCol w="323641">
                  <a:extLst>
                    <a:ext uri="{9D8B030D-6E8A-4147-A177-3AD203B41FA5}">
                      <a16:colId xmlns:a16="http://schemas.microsoft.com/office/drawing/2014/main" val="2524140117"/>
                    </a:ext>
                  </a:extLst>
                </a:gridCol>
                <a:gridCol w="323641">
                  <a:extLst>
                    <a:ext uri="{9D8B030D-6E8A-4147-A177-3AD203B41FA5}">
                      <a16:colId xmlns:a16="http://schemas.microsoft.com/office/drawing/2014/main" val="2289825169"/>
                    </a:ext>
                  </a:extLst>
                </a:gridCol>
                <a:gridCol w="323641">
                  <a:extLst>
                    <a:ext uri="{9D8B030D-6E8A-4147-A177-3AD203B41FA5}">
                      <a16:colId xmlns:a16="http://schemas.microsoft.com/office/drawing/2014/main" val="2356205723"/>
                    </a:ext>
                  </a:extLst>
                </a:gridCol>
                <a:gridCol w="323641">
                  <a:extLst>
                    <a:ext uri="{9D8B030D-6E8A-4147-A177-3AD203B41FA5}">
                      <a16:colId xmlns:a16="http://schemas.microsoft.com/office/drawing/2014/main" val="3182203820"/>
                    </a:ext>
                  </a:extLst>
                </a:gridCol>
                <a:gridCol w="323641">
                  <a:extLst>
                    <a:ext uri="{9D8B030D-6E8A-4147-A177-3AD203B41FA5}">
                      <a16:colId xmlns:a16="http://schemas.microsoft.com/office/drawing/2014/main" val="886219100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</a:t>
                      </a:r>
                      <a:endParaRPr lang="en-US" altLang="ko-KR" sz="800" b="0" i="0" u="none" strike="noStrike" dirty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DP</a:t>
                      </a:r>
                    </a:p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(W51)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1732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EB300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  <a:endParaRPr lang="en-US" sz="800" b="0" i="0" u="none" strike="noStrike" dirty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17.33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14.00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3.33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8770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</a:t>
                      </a:r>
                      <a:endParaRPr lang="en-US" sz="800" b="0" i="0" u="none" strike="noStrike" dirty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2.12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2.09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8183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C-BEV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</a:t>
                      </a:r>
                      <a:endParaRPr lang="en-US" sz="800" b="0" i="0" u="none" strike="noStrike" dirty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0.84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0.46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△</a:t>
                      </a:r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0.38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34960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e-Up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  <a:r>
                        <a:rPr lang="ko-KR" altLang="en-US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</a:t>
                      </a:r>
                      <a:endParaRPr lang="en-US" sz="800" b="0" i="0" u="none" strike="noStrike" dirty="0">
                        <a:solidFill>
                          <a:srgbClr val="008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0.82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0.89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8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0.07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556730"/>
                  </a:ext>
                </a:extLst>
              </a:tr>
            </a:tbl>
          </a:graphicData>
        </a:graphic>
      </p:graphicFrame>
      <p:sp>
        <p:nvSpPr>
          <p:cNvPr id="153" name="Text Box 189"/>
          <p:cNvSpPr txBox="1">
            <a:spLocks noChangeArrowheads="1"/>
          </p:cNvSpPr>
          <p:nvPr/>
        </p:nvSpPr>
        <p:spPr bwMode="auto">
          <a:xfrm>
            <a:off x="8146833" y="5388833"/>
            <a:ext cx="1268728" cy="13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* C-BEV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하반기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‘0’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가정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 W51 0.93M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모듈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4" name="Text Box 189"/>
          <p:cNvSpPr txBox="1">
            <a:spLocks noChangeArrowheads="1"/>
          </p:cNvSpPr>
          <p:nvPr/>
        </p:nvSpPr>
        <p:spPr bwMode="auto">
          <a:xfrm>
            <a:off x="8094535" y="4276777"/>
            <a:ext cx="1268728" cy="188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E6x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물동 현황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사업계획 比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749627" y="6305311"/>
            <a:ext cx="2304950" cy="1671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└  현재는 해당구간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Ford C727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 (E71A)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배정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224802" y="6305309"/>
            <a:ext cx="677560" cy="16714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ESS 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rPr>
              <a:t>호 ┘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Rectangle 2"/>
          <p:cNvSpPr>
            <a:spLocks noChangeArrowheads="1"/>
          </p:cNvSpPr>
          <p:nvPr/>
        </p:nvSpPr>
        <p:spPr bwMode="auto">
          <a:xfrm>
            <a:off x="8552744" y="0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2020.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12.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22</a:t>
            </a: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SCP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팀 김기훈 선임</a:t>
            </a:r>
          </a:p>
        </p:txBody>
      </p:sp>
      <p:sp>
        <p:nvSpPr>
          <p:cNvPr id="114" name="Text Box 118"/>
          <p:cNvSpPr txBox="1">
            <a:spLocks noChangeArrowheads="1"/>
          </p:cNvSpPr>
          <p:nvPr/>
        </p:nvSpPr>
        <p:spPr bwMode="auto">
          <a:xfrm>
            <a:off x="6854421" y="4562858"/>
            <a:ext cx="1195885" cy="503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E61D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라인 인증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마케팅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유럽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4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15" name="Text Box 118"/>
          <p:cNvSpPr txBox="1">
            <a:spLocks noChangeArrowheads="1"/>
          </p:cNvSpPr>
          <p:nvPr/>
        </p:nvSpPr>
        <p:spPr bwMode="auto">
          <a:xfrm>
            <a:off x="6854421" y="5174887"/>
            <a:ext cx="1195885" cy="5022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라인 활용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검토 필요</a:t>
            </a:r>
            <a:endParaRPr kumimoji="1" lang="en-US" altLang="ko-KR" sz="900" b="0" i="0" u="none" strike="noStrike" kern="1200" cap="none" spc="-8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26" name="Text Box 118"/>
          <p:cNvSpPr txBox="1">
            <a:spLocks noChangeArrowheads="1"/>
          </p:cNvSpPr>
          <p:nvPr/>
        </p:nvSpPr>
        <p:spPr bwMode="auto">
          <a:xfrm>
            <a:off x="6859047" y="5785142"/>
            <a:ext cx="1195885" cy="50577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E71A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↔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JH4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Allo.</a:t>
            </a: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ko-KR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</a:t>
            </a:r>
            <a:r>
              <a:rPr kumimoji="1" lang="en-US" altLang="ko-KR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SCP</a:t>
            </a:r>
            <a:r>
              <a:rPr kumimoji="1" lang="ko-KR" altLang="en-US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</a:t>
            </a:r>
            <a:r>
              <a:rPr kumimoji="1" lang="en-US" altLang="ko-KR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ESS SCP</a:t>
            </a:r>
            <a:r>
              <a:rPr kumimoji="1" lang="ko-KR" altLang="en-US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</a:t>
            </a:r>
            <a:r>
              <a:rPr kumimoji="1" lang="en-US" altLang="ko-KR" sz="9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858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1125449" y="1803084"/>
            <a:ext cx="8580525" cy="6813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물류 자재 회의체 운영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)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14" name="내용 개체 틀 3"/>
          <p:cNvSpPr txBox="1">
            <a:spLocks/>
          </p:cNvSpPr>
          <p:nvPr/>
        </p:nvSpPr>
        <p:spPr>
          <a:xfrm>
            <a:off x="1125450" y="5434642"/>
            <a:ext cx="4000443" cy="270443"/>
          </a:xfrm>
          <a:prstGeom prst="rect">
            <a:avLst/>
          </a:prstGeom>
        </p:spPr>
        <p:txBody>
          <a:bodyPr lIns="90000" tIns="0" rIns="90000" bIns="0"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자동차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SCM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+mn-cs"/>
              </a:rPr>
              <a:t>2021. 12. 8.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5450" y="2715445"/>
            <a:ext cx="4000443" cy="239081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Global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물류 운영 점검 회의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신규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Global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자재 수급 점검 회의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강화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(’22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CPO 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정기 회의체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간담회 운영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案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))</a:t>
            </a:r>
            <a:endParaRPr kumimoji="0" lang="en-US" altLang="ko-KR" sz="16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(SCM 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센터 정기 회의체 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간담회 운영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안</a:t>
            </a:r>
            <a:r>
              <a:rPr kumimoji="0" lang="en-US" altLang="ko-KR" sz="1400" b="0" i="0" u="none" strike="noStrike" kern="1200" cap="none" spc="-3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))</a:t>
            </a:r>
            <a:endParaRPr kumimoji="0" lang="en-US" altLang="ko-KR" sz="1600" b="0" i="0" u="none" strike="noStrike" kern="1200" cap="none" spc="-3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회의록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3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EDC38764-06D0-4385-A70F-F865E4C8BCFA}"/>
              </a:ext>
            </a:extLst>
          </p:cNvPr>
          <p:cNvSpPr/>
          <p:nvPr/>
        </p:nvSpPr>
        <p:spPr>
          <a:xfrm>
            <a:off x="1634343" y="3514596"/>
            <a:ext cx="4068000" cy="1091250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일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상향 여부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]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1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ESWA </a:t>
            </a:r>
            <a:r>
              <a:rPr kumimoji="1" lang="ko-KR" altLang="en-US" sz="12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셀총괄 산하 검토결과 반영필요</a:t>
            </a:r>
            <a:endParaRPr kumimoji="1" lang="en-US" altLang="ko-KR" sz="1200" b="0" i="0" u="none" strike="noStrike" kern="12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7D4A76D-ACB0-4A3D-816E-1051B35C1F42}"/>
              </a:ext>
            </a:extLst>
          </p:cNvPr>
          <p:cNvSpPr txBox="1"/>
          <p:nvPr/>
        </p:nvSpPr>
        <p:spPr>
          <a:xfrm rot="5400000">
            <a:off x="1575030" y="4297721"/>
            <a:ext cx="387443" cy="16080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             )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B0620BB-A503-4825-9A17-BE105C006E0A}"/>
              </a:ext>
            </a:extLst>
          </p:cNvPr>
          <p:cNvSpPr/>
          <p:nvPr/>
        </p:nvSpPr>
        <p:spPr>
          <a:xfrm>
            <a:off x="6426465" y="1373825"/>
            <a:ext cx="767965" cy="256568"/>
          </a:xfrm>
          <a:prstGeom prst="rect">
            <a:avLst/>
          </a:prstGeom>
          <a:solidFill>
            <a:srgbClr val="E6F3FC"/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185EA2-F4C6-480A-A18F-761803400B1D}"/>
              </a:ext>
            </a:extLst>
          </p:cNvPr>
          <p:cNvSpPr/>
          <p:nvPr/>
        </p:nvSpPr>
        <p:spPr>
          <a:xfrm>
            <a:off x="5783609" y="3514596"/>
            <a:ext cx="3852000" cy="1099975"/>
          </a:xfrm>
          <a:prstGeom prst="rect">
            <a:avLst/>
          </a:prstGeom>
          <a:solidFill>
            <a:srgbClr val="E6F3FC"/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80C96-71C1-4022-8EDD-F143D1F616BD}"/>
              </a:ext>
            </a:extLst>
          </p:cNvPr>
          <p:cNvSpPr txBox="1"/>
          <p:nvPr/>
        </p:nvSpPr>
        <p:spPr>
          <a:xfrm>
            <a:off x="158842" y="60253"/>
            <a:ext cx="705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4.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 이슈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–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○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E66A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 증대 방안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(E71A SOP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지연 연계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F1F25D71-F0C1-4F52-984E-604C7124D73B}"/>
              </a:ext>
            </a:extLst>
          </p:cNvPr>
          <p:cNvSpPr txBox="1">
            <a:spLocks/>
          </p:cNvSpPr>
          <p:nvPr/>
        </p:nvSpPr>
        <p:spPr>
          <a:xfrm>
            <a:off x="8040332" y="184004"/>
            <a:ext cx="158376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자동차공급관리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(’23.1.12)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내용 개체 틀 20">
            <a:extLst>
              <a:ext uri="{FF2B5EF4-FFF2-40B4-BE49-F238E27FC236}">
                <a16:creationId xmlns:a16="http://schemas.microsoft.com/office/drawing/2014/main" id="{F4684F72-E2CB-4377-9050-68AB56728399}"/>
              </a:ext>
            </a:extLst>
          </p:cNvPr>
          <p:cNvSpPr txBox="1">
            <a:spLocks/>
          </p:cNvSpPr>
          <p:nvPr/>
        </p:nvSpPr>
        <p:spPr>
          <a:xfrm>
            <a:off x="9940504" y="147652"/>
            <a:ext cx="1964247" cy="24198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작성자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김기훈 책임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(kihunkim@)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753F4EA-E684-41A0-81F9-7AA2E754E0C9}"/>
              </a:ext>
            </a:extLst>
          </p:cNvPr>
          <p:cNvGrpSpPr/>
          <p:nvPr/>
        </p:nvGrpSpPr>
        <p:grpSpPr>
          <a:xfrm>
            <a:off x="249238" y="1345740"/>
            <a:ext cx="1308441" cy="321967"/>
            <a:chOff x="232514" y="155420"/>
            <a:chExt cx="1725697" cy="321967"/>
          </a:xfrm>
        </p:grpSpPr>
        <p:sp>
          <p:nvSpPr>
            <p:cNvPr id="22" name="Text Box 41">
              <a:extLst>
                <a:ext uri="{FF2B5EF4-FFF2-40B4-BE49-F238E27FC236}">
                  <a16:creationId xmlns:a16="http://schemas.microsoft.com/office/drawing/2014/main" id="{E67AE867-F7A5-46BD-AFC0-973720E05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18" y="155420"/>
              <a:ext cx="1725693" cy="318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36000" rIns="0" bIns="36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구 분</a:t>
              </a: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0AB1C80-6D33-4E35-846F-8187AFEA1C55}"/>
                </a:ext>
              </a:extLst>
            </p:cNvPr>
            <p:cNvCxnSpPr/>
            <p:nvPr/>
          </p:nvCxnSpPr>
          <p:spPr bwMode="auto">
            <a:xfrm>
              <a:off x="232514" y="477387"/>
              <a:ext cx="1725697" cy="0"/>
            </a:xfrm>
            <a:prstGeom prst="lin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1D414A-9820-45FE-9BCE-541EAB7360A1}"/>
              </a:ext>
            </a:extLst>
          </p:cNvPr>
          <p:cNvSpPr/>
          <p:nvPr/>
        </p:nvSpPr>
        <p:spPr bwMode="auto">
          <a:xfrm>
            <a:off x="244653" y="1816169"/>
            <a:ext cx="648000" cy="278967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28800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    급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극대화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의사결정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86F925-9BB4-4DF2-BF6C-39E948A142B1}"/>
              </a:ext>
            </a:extLst>
          </p:cNvPr>
          <p:cNvSpPr/>
          <p:nvPr/>
        </p:nvSpPr>
        <p:spPr bwMode="auto">
          <a:xfrm>
            <a:off x="963679" y="1816168"/>
            <a:ext cx="594000" cy="164375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</a:t>
            </a: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1" lang="en-US" altLang="ko-KR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1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</a:t>
            </a:r>
            <a:endParaRPr kumimoji="1" lang="en-US" altLang="ko-KR" sz="1300" b="1" i="0" u="none" strike="noStrike" kern="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[A]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19FB98-295D-4A0C-B7E9-5A612B31BFCF}"/>
              </a:ext>
            </a:extLst>
          </p:cNvPr>
          <p:cNvSpPr/>
          <p:nvPr/>
        </p:nvSpPr>
        <p:spPr bwMode="auto">
          <a:xfrm>
            <a:off x="963679" y="3514599"/>
            <a:ext cx="594000" cy="109124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</a:t>
            </a: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</a:t>
            </a: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생산지표</a:t>
            </a:r>
            <a:endParaRPr kumimoji="1" lang="en-US" altLang="ko-KR" sz="1300" b="1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[B]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956389A-C061-49A8-B4E1-6AAE770F2A91}"/>
              </a:ext>
            </a:extLst>
          </p:cNvPr>
          <p:cNvSpPr/>
          <p:nvPr/>
        </p:nvSpPr>
        <p:spPr bwMode="auto">
          <a:xfrm>
            <a:off x="963679" y="4660525"/>
            <a:ext cx="594000" cy="79706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부자재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834E41-C122-4555-B92A-A48EF8DF9D12}"/>
              </a:ext>
            </a:extLst>
          </p:cNvPr>
          <p:cNvSpPr/>
          <p:nvPr/>
        </p:nvSpPr>
        <p:spPr bwMode="auto">
          <a:xfrm>
            <a:off x="244657" y="4660525"/>
            <a:ext cx="647996" cy="164879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    요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정합화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업무협조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68C16-BD8A-4863-B751-BAF8F856439D}"/>
              </a:ext>
            </a:extLst>
          </p:cNvPr>
          <p:cNvSpPr/>
          <p:nvPr/>
        </p:nvSpPr>
        <p:spPr bwMode="auto">
          <a:xfrm>
            <a:off x="963679" y="5512260"/>
            <a:ext cx="594000" cy="79706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반도체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급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762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[D]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5800B1-B1AE-4BF4-9209-A7A8701EAFB1}"/>
              </a:ext>
            </a:extLst>
          </p:cNvPr>
          <p:cNvSpPr/>
          <p:nvPr/>
        </p:nvSpPr>
        <p:spPr>
          <a:xfrm>
            <a:off x="1634344" y="1816169"/>
            <a:ext cx="4068000" cy="1640707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반영 우선순위 결정 필요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]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W02 Rolling Plan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E71A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 반영중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유지하는 경우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W08(2/20) E71A SOP, W29(7/17) E66A ALS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290" rtl="0" eaLnBrk="1" fontAlgn="auto" latinLnBrk="1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290" rtl="0" eaLnBrk="1" fontAlgn="auto" latinLnBrk="1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변경하는 경우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W23(6/05) E66A ALS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리스크 생산 추진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F3B6C52-F3B7-41D3-B029-C7F1E745944F}"/>
              </a:ext>
            </a:extLst>
          </p:cNvPr>
          <p:cNvSpPr/>
          <p:nvPr/>
        </p:nvSpPr>
        <p:spPr>
          <a:xfrm>
            <a:off x="1634343" y="4663569"/>
            <a:ext cx="4068000" cy="7940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스틸렉</a:t>
            </a: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(SLT)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회수 가시성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]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ESWA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E6X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물동 운영의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B/Neck</a:t>
            </a:r>
          </a:p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en-US" altLang="ko-KR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[Sales</a:t>
            </a:r>
            <a:r>
              <a:rPr kumimoji="1" lang="ko-KR" altLang="en-US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 </a:t>
            </a:r>
            <a:r>
              <a:rPr kumimoji="1" lang="en-US" altLang="ko-KR" sz="1100" b="0" i="1" u="none" strike="noStrike" kern="1200" cap="none" spc="-1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Jan</a:t>
            </a:r>
            <a:r>
              <a:rPr kumimoji="1" lang="en-US" altLang="ko-KR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SLT </a:t>
            </a:r>
            <a:r>
              <a:rPr kumimoji="1" lang="ko-KR" altLang="en-US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회수 </a:t>
            </a:r>
            <a:r>
              <a:rPr kumimoji="1" lang="en-US" altLang="ko-KR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1~3</a:t>
            </a:r>
            <a:r>
              <a:rPr kumimoji="1" lang="ko-KR" altLang="en-US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주일치 공유</a:t>
            </a:r>
            <a:r>
              <a:rPr kumimoji="1" lang="en-US" altLang="ko-KR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[Planning</a:t>
            </a:r>
            <a:r>
              <a:rPr kumimoji="1" lang="ko-KR" altLang="en-US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 </a:t>
            </a:r>
            <a:r>
              <a:rPr kumimoji="1" lang="en-US" altLang="ko-KR" sz="1100" b="0" i="1" u="none" strike="noStrike" kern="1200" cap="none" spc="-1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Patrycja</a:t>
            </a:r>
            <a:r>
              <a:rPr kumimoji="1" lang="en-US" altLang="ko-KR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</a:t>
            </a:r>
            <a:r>
              <a:rPr kumimoji="1" lang="ko-KR" altLang="en-US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모듈 </a:t>
            </a:r>
            <a:r>
              <a:rPr kumimoji="1" lang="en-US" altLang="ko-KR" sz="11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Simul.</a:t>
            </a:r>
          </a:p>
          <a:p>
            <a:pPr marL="0" marR="0" lvl="0" indent="0" algn="l" defTabSz="91429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DRX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생산량에 따른 회수 당차주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직면하여 변경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되는 경우 발생 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B35BD91-800D-4700-8948-B0DFCD03FEBE}"/>
              </a:ext>
            </a:extLst>
          </p:cNvPr>
          <p:cNvSpPr/>
          <p:nvPr/>
        </p:nvSpPr>
        <p:spPr>
          <a:xfrm>
            <a:off x="1634343" y="5515303"/>
            <a:ext cx="4068000" cy="7940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고객 반도체 수급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감지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]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매주 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MKT FCST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감량될 가능성 有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올해들어 고객 차량용 반도체 수급에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 있음이 감지되기 시작함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290" rtl="0" eaLnBrk="1" fontAlgn="auto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en-US" altLang="ko-KR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MKT FCST 1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1" lang="en-US" altLang="ko-KR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160</a:t>
            </a:r>
            <a:r>
              <a:rPr kumimoji="1" lang="ko-KR" alt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1" lang="en-US" altLang="ko-KR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145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천 모듈로 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감소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</a:t>
            </a:r>
            <a:r>
              <a:rPr kumimoji="1" lang="en-US" altLang="ko-KR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2~6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역시 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감량 </a:t>
            </a:r>
            <a:r>
              <a:rPr kumimoji="1" lang="en-US" altLang="ko-KR" sz="1100" b="0" i="0" u="none" strike="noStrike" kern="1200" cap="none" spc="-2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</a:t>
            </a:r>
            <a:r>
              <a: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 있음</a:t>
            </a:r>
            <a:endParaRPr kumimoji="1" lang="en-US" altLang="ko-KR" sz="11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B35466-CEAE-4673-AC82-7B719CE8EB32}"/>
              </a:ext>
            </a:extLst>
          </p:cNvPr>
          <p:cNvSpPr txBox="1"/>
          <p:nvPr/>
        </p:nvSpPr>
        <p:spPr>
          <a:xfrm>
            <a:off x="266701" y="563550"/>
            <a:ext cx="9366249" cy="7056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계속되는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ESWA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E71A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SOP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지연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(’23.W01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W06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W08)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으로 계획 유지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 여부에 대한 의사결정이 필요하고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이와는 별개로 상반기 매출이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중요한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E66A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위해 생산지표를 상향하여 운영할지에 대한 의사결정 역시 진행되어야 함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501ED75-1EC0-479D-B335-0FAB5ACFCA4B}"/>
              </a:ext>
            </a:extLst>
          </p:cNvPr>
          <p:cNvGrpSpPr/>
          <p:nvPr/>
        </p:nvGrpSpPr>
        <p:grpSpPr>
          <a:xfrm>
            <a:off x="1636294" y="1342697"/>
            <a:ext cx="4066049" cy="321967"/>
            <a:chOff x="232514" y="155420"/>
            <a:chExt cx="1725697" cy="321967"/>
          </a:xfrm>
        </p:grpSpPr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52338E79-A498-485B-B48D-69EB2CB03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18" y="155420"/>
              <a:ext cx="1725693" cy="318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36000" rIns="0" bIns="36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내 용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당면 이슈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61690D97-84DB-4751-9F63-3EB287B5105D}"/>
                </a:ext>
              </a:extLst>
            </p:cNvPr>
            <p:cNvCxnSpPr/>
            <p:nvPr/>
          </p:nvCxnSpPr>
          <p:spPr bwMode="auto">
            <a:xfrm>
              <a:off x="232514" y="477387"/>
              <a:ext cx="1725697" cy="0"/>
            </a:xfrm>
            <a:prstGeom prst="lin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F84E3FB-F73E-4878-94DF-E9C1B4FF7417}"/>
              </a:ext>
            </a:extLst>
          </p:cNvPr>
          <p:cNvGrpSpPr/>
          <p:nvPr/>
        </p:nvGrpSpPr>
        <p:grpSpPr>
          <a:xfrm>
            <a:off x="5780949" y="1342697"/>
            <a:ext cx="3852000" cy="321967"/>
            <a:chOff x="232514" y="155420"/>
            <a:chExt cx="1725697" cy="321967"/>
          </a:xfrm>
        </p:grpSpPr>
        <p:sp>
          <p:nvSpPr>
            <p:cNvPr id="43" name="Text Box 41">
              <a:extLst>
                <a:ext uri="{FF2B5EF4-FFF2-40B4-BE49-F238E27FC236}">
                  <a16:creationId xmlns:a16="http://schemas.microsoft.com/office/drawing/2014/main" id="{11D49BF1-930F-4825-918A-C5210D4BD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18" y="155420"/>
              <a:ext cx="1725693" cy="318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36000" rIns="0" bIns="3600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의사결정 및 업무협조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기한 포함</a:t>
              </a:r>
              <a:r>
                <a:rPr kumimoji="1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32C6559B-E67D-4627-9866-81911D38D536}"/>
                </a:ext>
              </a:extLst>
            </p:cNvPr>
            <p:cNvCxnSpPr/>
            <p:nvPr/>
          </p:nvCxnSpPr>
          <p:spPr bwMode="auto">
            <a:xfrm>
              <a:off x="232514" y="477387"/>
              <a:ext cx="1725697" cy="0"/>
            </a:xfrm>
            <a:prstGeom prst="lin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4EF34B2-3A7F-4BA3-BF24-33C069F80CE0}"/>
              </a:ext>
            </a:extLst>
          </p:cNvPr>
          <p:cNvSpPr/>
          <p:nvPr/>
        </p:nvSpPr>
        <p:spPr>
          <a:xfrm>
            <a:off x="5783609" y="1816169"/>
            <a:ext cx="3852000" cy="1640707"/>
          </a:xfrm>
          <a:prstGeom prst="rect">
            <a:avLst/>
          </a:prstGeom>
          <a:solidFill>
            <a:srgbClr val="E6F3FC"/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3B645AF-A712-4093-A63C-C99640C35928}"/>
              </a:ext>
            </a:extLst>
          </p:cNvPr>
          <p:cNvSpPr/>
          <p:nvPr/>
        </p:nvSpPr>
        <p:spPr>
          <a:xfrm>
            <a:off x="5783609" y="4663569"/>
            <a:ext cx="3852000" cy="794016"/>
          </a:xfrm>
          <a:prstGeom prst="rect">
            <a:avLst/>
          </a:prstGeom>
          <a:solidFill>
            <a:srgbClr val="E6F3FC"/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0AFFE4-26CD-4363-AC54-06DBC83DD8B9}"/>
              </a:ext>
            </a:extLst>
          </p:cNvPr>
          <p:cNvSpPr/>
          <p:nvPr/>
        </p:nvSpPr>
        <p:spPr>
          <a:xfrm>
            <a:off x="5783609" y="5515303"/>
            <a:ext cx="3852000" cy="794016"/>
          </a:xfrm>
          <a:prstGeom prst="rect">
            <a:avLst/>
          </a:prstGeom>
          <a:solidFill>
            <a:srgbClr val="E6F3FC"/>
          </a:solidFill>
        </p:spPr>
        <p:txBody>
          <a:bodyPr wrap="square" lIns="36000" tIns="36000" rIns="36000" bIns="36000">
            <a:noAutofit/>
          </a:bodyPr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9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57AB0-B397-4AEC-B9C0-3376DF13C55B}"/>
              </a:ext>
            </a:extLst>
          </p:cNvPr>
          <p:cNvSpPr txBox="1"/>
          <p:nvPr/>
        </p:nvSpPr>
        <p:spPr>
          <a:xfrm>
            <a:off x="5765052" y="2142646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1/10(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582B3A-2BE5-445E-92C3-E7964E95D9FC}"/>
              </a:ext>
            </a:extLst>
          </p:cNvPr>
          <p:cNvSpPr txBox="1"/>
          <p:nvPr/>
        </p:nvSpPr>
        <p:spPr>
          <a:xfrm>
            <a:off x="5765052" y="2409530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1/12(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D52F58-B862-46D7-8662-DCE4D05E9AA0}"/>
              </a:ext>
            </a:extLst>
          </p:cNvPr>
          <p:cNvSpPr txBox="1"/>
          <p:nvPr/>
        </p:nvSpPr>
        <p:spPr>
          <a:xfrm>
            <a:off x="5765052" y="2676414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</a:t>
            </a:r>
            <a:r>
              <a:rPr kumimoji="0" lang="en-US" altLang="ko-KR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1/31</a:t>
            </a:r>
            <a:r>
              <a:rPr kumimoji="0" lang="en-US" altLang="ko-KR" sz="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限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77DD5C-C1ED-491B-848C-7136871E3007}"/>
              </a:ext>
            </a:extLst>
          </p:cNvPr>
          <p:cNvSpPr txBox="1"/>
          <p:nvPr/>
        </p:nvSpPr>
        <p:spPr>
          <a:xfrm>
            <a:off x="5765052" y="2943298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월초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4C30C13E-8F05-4F69-8A6F-7AC4574EA881}"/>
              </a:ext>
            </a:extLst>
          </p:cNvPr>
          <p:cNvGrpSpPr>
            <a:grpSpLocks noChangeAspect="1"/>
          </p:cNvGrpSpPr>
          <p:nvPr/>
        </p:nvGrpSpPr>
        <p:grpSpPr>
          <a:xfrm>
            <a:off x="6438438" y="2922014"/>
            <a:ext cx="96259" cy="180000"/>
            <a:chOff x="1565076" y="2471145"/>
            <a:chExt cx="96259" cy="179207"/>
          </a:xfrm>
        </p:grpSpPr>
        <p:sp>
          <p:nvSpPr>
            <p:cNvPr id="65" name="자유형: 도형 160">
              <a:extLst>
                <a:ext uri="{FF2B5EF4-FFF2-40B4-BE49-F238E27FC236}">
                  <a16:creationId xmlns:a16="http://schemas.microsoft.com/office/drawing/2014/main" id="{10A8C361-EDC8-478A-8F0F-EB5087C83C2E}"/>
                </a:ext>
              </a:extLst>
            </p:cNvPr>
            <p:cNvSpPr/>
            <p:nvPr/>
          </p:nvSpPr>
          <p:spPr>
            <a:xfrm>
              <a:off x="1566348" y="2471145"/>
              <a:ext cx="94987" cy="179207"/>
            </a:xfrm>
            <a:custGeom>
              <a:avLst/>
              <a:gdLst>
                <a:gd name="connsiteX0" fmla="*/ 68414 w 79933"/>
                <a:gd name="connsiteY0" fmla="*/ 0 h 150811"/>
                <a:gd name="connsiteX1" fmla="*/ 11519 w 79933"/>
                <a:gd name="connsiteY1" fmla="*/ 0 h 150811"/>
                <a:gd name="connsiteX2" fmla="*/ 0 w 79933"/>
                <a:gd name="connsiteY2" fmla="*/ 11519 h 150811"/>
                <a:gd name="connsiteX3" fmla="*/ 0 w 79933"/>
                <a:gd name="connsiteY3" fmla="*/ 139293 h 150811"/>
                <a:gd name="connsiteX4" fmla="*/ 11519 w 79933"/>
                <a:gd name="connsiteY4" fmla="*/ 150812 h 150811"/>
                <a:gd name="connsiteX5" fmla="*/ 68414 w 79933"/>
                <a:gd name="connsiteY5" fmla="*/ 150812 h 150811"/>
                <a:gd name="connsiteX6" fmla="*/ 79933 w 79933"/>
                <a:gd name="connsiteY6" fmla="*/ 139293 h 150811"/>
                <a:gd name="connsiteX7" fmla="*/ 79933 w 79933"/>
                <a:gd name="connsiteY7" fmla="*/ 11519 h 150811"/>
                <a:gd name="connsiteX8" fmla="*/ 68414 w 79933"/>
                <a:gd name="connsiteY8" fmla="*/ 0 h 15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933" h="150811">
                  <a:moveTo>
                    <a:pt x="68414" y="0"/>
                  </a:moveTo>
                  <a:lnTo>
                    <a:pt x="11519" y="0"/>
                  </a:lnTo>
                  <a:cubicBezTo>
                    <a:pt x="5157" y="0"/>
                    <a:pt x="0" y="5157"/>
                    <a:pt x="0" y="11519"/>
                  </a:cubicBezTo>
                  <a:lnTo>
                    <a:pt x="0" y="139293"/>
                  </a:lnTo>
                  <a:cubicBezTo>
                    <a:pt x="0" y="145654"/>
                    <a:pt x="5157" y="150812"/>
                    <a:pt x="11519" y="150812"/>
                  </a:cubicBezTo>
                  <a:lnTo>
                    <a:pt x="68414" y="150812"/>
                  </a:lnTo>
                  <a:cubicBezTo>
                    <a:pt x="74776" y="150812"/>
                    <a:pt x="79933" y="145654"/>
                    <a:pt x="79933" y="139293"/>
                  </a:cubicBezTo>
                  <a:lnTo>
                    <a:pt x="79933" y="11519"/>
                  </a:lnTo>
                  <a:cubicBezTo>
                    <a:pt x="79933" y="5157"/>
                    <a:pt x="74776" y="0"/>
                    <a:pt x="68414" y="0"/>
                  </a:cubicBezTo>
                  <a:close/>
                </a:path>
              </a:pathLst>
            </a:custGeom>
            <a:solidFill>
              <a:srgbClr val="4EBED1"/>
            </a:solidFill>
            <a:ln w="65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자유형: 도형 162">
              <a:extLst>
                <a:ext uri="{FF2B5EF4-FFF2-40B4-BE49-F238E27FC236}">
                  <a16:creationId xmlns:a16="http://schemas.microsoft.com/office/drawing/2014/main" id="{A01182BA-E599-4304-A1ED-778D567363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0159" y="2486594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rgbClr val="4EBED1"/>
            </a:solidFill>
            <a:ln w="6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162">
              <a:extLst>
                <a:ext uri="{FF2B5EF4-FFF2-40B4-BE49-F238E27FC236}">
                  <a16:creationId xmlns:a16="http://schemas.microsoft.com/office/drawing/2014/main" id="{646088B8-3337-4302-AAD4-2A2D534A1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65076" y="2497003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ysClr val="window" lastClr="FFFFFF"/>
            </a:solidFill>
            <a:ln w="6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3F31E01-C516-4FC4-A260-302E1F04FEFF}"/>
              </a:ext>
            </a:extLst>
          </p:cNvPr>
          <p:cNvGrpSpPr>
            <a:grpSpLocks noChangeAspect="1"/>
          </p:cNvGrpSpPr>
          <p:nvPr/>
        </p:nvGrpSpPr>
        <p:grpSpPr>
          <a:xfrm>
            <a:off x="6312083" y="1291886"/>
            <a:ext cx="115511" cy="216000"/>
            <a:chOff x="1565076" y="2471145"/>
            <a:chExt cx="96259" cy="179207"/>
          </a:xfrm>
        </p:grpSpPr>
        <p:sp>
          <p:nvSpPr>
            <p:cNvPr id="69" name="자유형: 도형 160">
              <a:extLst>
                <a:ext uri="{FF2B5EF4-FFF2-40B4-BE49-F238E27FC236}">
                  <a16:creationId xmlns:a16="http://schemas.microsoft.com/office/drawing/2014/main" id="{72088B22-95FB-42DF-8F55-4A2652599119}"/>
                </a:ext>
              </a:extLst>
            </p:cNvPr>
            <p:cNvSpPr/>
            <p:nvPr/>
          </p:nvSpPr>
          <p:spPr>
            <a:xfrm>
              <a:off x="1566348" y="2471145"/>
              <a:ext cx="94987" cy="179207"/>
            </a:xfrm>
            <a:custGeom>
              <a:avLst/>
              <a:gdLst>
                <a:gd name="connsiteX0" fmla="*/ 68414 w 79933"/>
                <a:gd name="connsiteY0" fmla="*/ 0 h 150811"/>
                <a:gd name="connsiteX1" fmla="*/ 11519 w 79933"/>
                <a:gd name="connsiteY1" fmla="*/ 0 h 150811"/>
                <a:gd name="connsiteX2" fmla="*/ 0 w 79933"/>
                <a:gd name="connsiteY2" fmla="*/ 11519 h 150811"/>
                <a:gd name="connsiteX3" fmla="*/ 0 w 79933"/>
                <a:gd name="connsiteY3" fmla="*/ 139293 h 150811"/>
                <a:gd name="connsiteX4" fmla="*/ 11519 w 79933"/>
                <a:gd name="connsiteY4" fmla="*/ 150812 h 150811"/>
                <a:gd name="connsiteX5" fmla="*/ 68414 w 79933"/>
                <a:gd name="connsiteY5" fmla="*/ 150812 h 150811"/>
                <a:gd name="connsiteX6" fmla="*/ 79933 w 79933"/>
                <a:gd name="connsiteY6" fmla="*/ 139293 h 150811"/>
                <a:gd name="connsiteX7" fmla="*/ 79933 w 79933"/>
                <a:gd name="connsiteY7" fmla="*/ 11519 h 150811"/>
                <a:gd name="connsiteX8" fmla="*/ 68414 w 79933"/>
                <a:gd name="connsiteY8" fmla="*/ 0 h 15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933" h="150811">
                  <a:moveTo>
                    <a:pt x="68414" y="0"/>
                  </a:moveTo>
                  <a:lnTo>
                    <a:pt x="11519" y="0"/>
                  </a:lnTo>
                  <a:cubicBezTo>
                    <a:pt x="5157" y="0"/>
                    <a:pt x="0" y="5157"/>
                    <a:pt x="0" y="11519"/>
                  </a:cubicBezTo>
                  <a:lnTo>
                    <a:pt x="0" y="139293"/>
                  </a:lnTo>
                  <a:cubicBezTo>
                    <a:pt x="0" y="145654"/>
                    <a:pt x="5157" y="150812"/>
                    <a:pt x="11519" y="150812"/>
                  </a:cubicBezTo>
                  <a:lnTo>
                    <a:pt x="68414" y="150812"/>
                  </a:lnTo>
                  <a:cubicBezTo>
                    <a:pt x="74776" y="150812"/>
                    <a:pt x="79933" y="145654"/>
                    <a:pt x="79933" y="139293"/>
                  </a:cubicBezTo>
                  <a:lnTo>
                    <a:pt x="79933" y="11519"/>
                  </a:lnTo>
                  <a:cubicBezTo>
                    <a:pt x="79933" y="5157"/>
                    <a:pt x="74776" y="0"/>
                    <a:pt x="68414" y="0"/>
                  </a:cubicBezTo>
                  <a:close/>
                </a:path>
              </a:pathLst>
            </a:custGeom>
            <a:solidFill>
              <a:srgbClr val="4EBED1"/>
            </a:solidFill>
            <a:ln w="65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162">
              <a:extLst>
                <a:ext uri="{FF2B5EF4-FFF2-40B4-BE49-F238E27FC236}">
                  <a16:creationId xmlns:a16="http://schemas.microsoft.com/office/drawing/2014/main" id="{DB6D351D-C872-4C8B-93BD-DFFA03049E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0159" y="2486594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rgbClr val="4EBED1"/>
            </a:solidFill>
            <a:ln w="6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자유형: 도형 162">
              <a:extLst>
                <a:ext uri="{FF2B5EF4-FFF2-40B4-BE49-F238E27FC236}">
                  <a16:creationId xmlns:a16="http://schemas.microsoft.com/office/drawing/2014/main" id="{E16EE759-38B5-4A25-A4AE-6301731AA8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65076" y="2497003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ysClr val="window" lastClr="FFFFFF"/>
            </a:solidFill>
            <a:ln w="6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E4FECAFC-BA2B-462A-8495-A25AC3C58B98}"/>
              </a:ext>
            </a:extLst>
          </p:cNvPr>
          <p:cNvSpPr txBox="1"/>
          <p:nvPr/>
        </p:nvSpPr>
        <p:spPr>
          <a:xfrm>
            <a:off x="5765052" y="1852566"/>
            <a:ext cx="432000" cy="153888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 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A01B8C3-0060-4D77-AE97-43FE6A6D76DC}"/>
              </a:ext>
            </a:extLst>
          </p:cNvPr>
          <p:cNvGrpSpPr/>
          <p:nvPr/>
        </p:nvGrpSpPr>
        <p:grpSpPr>
          <a:xfrm>
            <a:off x="8769984" y="4223859"/>
            <a:ext cx="720000" cy="330735"/>
            <a:chOff x="10055262" y="4805889"/>
            <a:chExt cx="720000" cy="330735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386B8B5-5089-497C-9023-2B527BC14A51}"/>
                </a:ext>
              </a:extLst>
            </p:cNvPr>
            <p:cNvSpPr txBox="1"/>
            <p:nvPr/>
          </p:nvSpPr>
          <p:spPr>
            <a:xfrm>
              <a:off x="10055262" y="4805889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-7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ESWA</a:t>
              </a:r>
              <a:r>
                <a:rPr kumimoji="0" lang="ko-KR" altLang="en-US" sz="900" b="1" i="0" u="none" strike="noStrike" kern="1200" cap="none" spc="-7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생산기획팀</a:t>
              </a:r>
              <a:endParaRPr kumimoji="0" lang="en-US" altLang="ko-KR" sz="900" b="1" i="0" u="none" strike="noStrike" kern="1200" cap="none" spc="-7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120A164-7B81-48B7-81BD-642B6782D438}"/>
                </a:ext>
              </a:extLst>
            </p:cNvPr>
            <p:cNvSpPr txBox="1"/>
            <p:nvPr/>
          </p:nvSpPr>
          <p:spPr>
            <a:xfrm>
              <a:off x="10055262" y="4998125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장성순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김우영님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8385E50-77ED-48F3-8318-92B89C9AB92B}"/>
              </a:ext>
            </a:extLst>
          </p:cNvPr>
          <p:cNvGrpSpPr/>
          <p:nvPr/>
        </p:nvGrpSpPr>
        <p:grpSpPr>
          <a:xfrm>
            <a:off x="8769984" y="2070198"/>
            <a:ext cx="720000" cy="330734"/>
            <a:chOff x="10888123" y="4805889"/>
            <a:chExt cx="720000" cy="33073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732B32D-2047-47FA-A751-809F8B4B6EB7}"/>
                </a:ext>
              </a:extLst>
            </p:cNvPr>
            <p:cNvSpPr txBox="1"/>
            <p:nvPr/>
          </p:nvSpPr>
          <p:spPr>
            <a:xfrm>
              <a:off x="10888123" y="4805889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미주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2.Ford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팀</a:t>
              </a:r>
              <a:endParaRPr kumimoji="0" lang="en-US" altLang="ko-KR" sz="10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5B5894E-8F87-4B79-8E89-E5DAEAACFCCA}"/>
                </a:ext>
              </a:extLst>
            </p:cNvPr>
            <p:cNvSpPr txBox="1"/>
            <p:nvPr/>
          </p:nvSpPr>
          <p:spPr>
            <a:xfrm>
              <a:off x="10888123" y="4998124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오현화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전호진님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13FB660-2F3A-4AA9-B34A-067334FF2F07}"/>
              </a:ext>
            </a:extLst>
          </p:cNvPr>
          <p:cNvGrpSpPr/>
          <p:nvPr/>
        </p:nvGrpSpPr>
        <p:grpSpPr>
          <a:xfrm>
            <a:off x="8769984" y="2412190"/>
            <a:ext cx="720000" cy="319959"/>
            <a:chOff x="10080191" y="5304922"/>
            <a:chExt cx="720000" cy="31995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E4F1F89-B46C-4888-9CA4-240577D8EDFE}"/>
                </a:ext>
              </a:extLst>
            </p:cNvPr>
            <p:cNvSpPr txBox="1"/>
            <p:nvPr/>
          </p:nvSpPr>
          <p:spPr>
            <a:xfrm>
              <a:off x="10080191" y="5304922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-6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Audi/Porsche</a:t>
              </a:r>
              <a:r>
                <a:rPr kumimoji="0" lang="ko-KR" altLang="en-US" sz="1000" b="1" i="0" u="none" strike="noStrike" kern="1200" cap="none" spc="-6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팀</a:t>
              </a:r>
              <a:endParaRPr kumimoji="0" lang="en-US" altLang="ko-KR" sz="1000" b="1" i="0" u="none" strike="noStrike" kern="1200" cap="none" spc="-6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3496A42-A798-422E-93E4-86669A939F54}"/>
                </a:ext>
              </a:extLst>
            </p:cNvPr>
            <p:cNvSpPr txBox="1"/>
            <p:nvPr/>
          </p:nvSpPr>
          <p:spPr>
            <a:xfrm>
              <a:off x="10080191" y="5486382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박정환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고은솔님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8EBCA00-15A9-479A-9144-AC8C35221769}"/>
              </a:ext>
            </a:extLst>
          </p:cNvPr>
          <p:cNvGrpSpPr/>
          <p:nvPr/>
        </p:nvGrpSpPr>
        <p:grpSpPr>
          <a:xfrm>
            <a:off x="8769984" y="3559485"/>
            <a:ext cx="720000" cy="323145"/>
            <a:chOff x="10080191" y="4247260"/>
            <a:chExt cx="720000" cy="323145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FC90E05-EBA8-4E2A-BF04-4D8639CA2FE8}"/>
                </a:ext>
              </a:extLst>
            </p:cNvPr>
            <p:cNvSpPr txBox="1"/>
            <p:nvPr/>
          </p:nvSpPr>
          <p:spPr>
            <a:xfrm>
              <a:off x="10080191" y="4247260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-11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L&amp;S</a:t>
              </a:r>
              <a:r>
                <a:rPr kumimoji="0" lang="ko-KR" altLang="en-US" sz="1000" b="1" i="0" u="none" strike="noStrike" kern="1200" cap="none" spc="-11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설비기술팀</a:t>
              </a:r>
              <a:endParaRPr kumimoji="0" lang="en-US" altLang="ko-KR" sz="1000" b="1" i="0" u="none" strike="noStrike" kern="1200" cap="none" spc="-11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1606F0D-FFB7-4419-A966-FA480831EB8B}"/>
                </a:ext>
              </a:extLst>
            </p:cNvPr>
            <p:cNvSpPr txBox="1"/>
            <p:nvPr/>
          </p:nvSpPr>
          <p:spPr>
            <a:xfrm>
              <a:off x="10080191" y="4431906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이근수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정재욱님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AEE324F-ABD5-4011-A382-B75F0F87D90E}"/>
              </a:ext>
            </a:extLst>
          </p:cNvPr>
          <p:cNvGrpSpPr/>
          <p:nvPr/>
        </p:nvGrpSpPr>
        <p:grpSpPr>
          <a:xfrm>
            <a:off x="8769984" y="3889505"/>
            <a:ext cx="720000" cy="327479"/>
            <a:chOff x="10929057" y="5633507"/>
            <a:chExt cx="720000" cy="327479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1C46A15-4C5B-42BB-AEEE-6E52FB16D569}"/>
                </a:ext>
              </a:extLst>
            </p:cNvPr>
            <p:cNvSpPr txBox="1"/>
            <p:nvPr/>
          </p:nvSpPr>
          <p:spPr>
            <a:xfrm>
              <a:off x="10929057" y="5633507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-11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L&amp;S</a:t>
              </a:r>
              <a:r>
                <a:rPr kumimoji="0" lang="ko-KR" altLang="en-US" sz="1000" b="1" i="0" u="none" strike="noStrike" kern="1200" cap="none" spc="-11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공정기술팀</a:t>
              </a:r>
              <a:endParaRPr kumimoji="0" lang="en-US" altLang="ko-KR" sz="1000" b="1" i="0" u="none" strike="noStrike" kern="1200" cap="none" spc="-11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B782089-5930-492F-8BEB-EA45C81E5C73}"/>
                </a:ext>
              </a:extLst>
            </p:cNvPr>
            <p:cNvSpPr txBox="1"/>
            <p:nvPr/>
          </p:nvSpPr>
          <p:spPr>
            <a:xfrm>
              <a:off x="10929057" y="5822487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신선용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이승현님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61ACB94-0FF9-4984-A8BD-B100453B8439}"/>
              </a:ext>
            </a:extLst>
          </p:cNvPr>
          <p:cNvGrpSpPr/>
          <p:nvPr/>
        </p:nvGrpSpPr>
        <p:grpSpPr>
          <a:xfrm>
            <a:off x="8769984" y="2752033"/>
            <a:ext cx="720000" cy="328585"/>
            <a:chOff x="10080191" y="5304922"/>
            <a:chExt cx="720000" cy="328585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DED0AED-3452-4ED4-B6BF-26322AAFE478}"/>
                </a:ext>
              </a:extLst>
            </p:cNvPr>
            <p:cNvSpPr txBox="1"/>
            <p:nvPr/>
          </p:nvSpPr>
          <p:spPr>
            <a:xfrm>
              <a:off x="10080191" y="5304922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-14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자동차공급관리</a:t>
              </a:r>
              <a:r>
                <a:rPr kumimoji="0" lang="en-US" altLang="ko-KR" sz="900" b="1" i="0" u="none" strike="noStrike" kern="1200" cap="none" spc="-14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</a:t>
              </a:r>
              <a:r>
                <a:rPr kumimoji="0" lang="ko-KR" altLang="en-US" sz="900" b="1" i="0" u="none" strike="noStrike" kern="1200" cap="none" spc="-14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팀</a:t>
              </a:r>
              <a:endParaRPr kumimoji="0" lang="en-US" altLang="ko-KR" sz="1000" b="1" i="0" u="none" strike="noStrike" kern="1200" cap="none" spc="-14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91C67F3-7685-4E6B-B539-D3C532CCB153}"/>
                </a:ext>
              </a:extLst>
            </p:cNvPr>
            <p:cNvSpPr txBox="1"/>
            <p:nvPr/>
          </p:nvSpPr>
          <p:spPr>
            <a:xfrm>
              <a:off x="10080191" y="5495008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채대현님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김기훈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9047D11B-C2BC-4819-A395-9E910CE7E31F}"/>
              </a:ext>
            </a:extLst>
          </p:cNvPr>
          <p:cNvGrpSpPr/>
          <p:nvPr/>
        </p:nvGrpSpPr>
        <p:grpSpPr>
          <a:xfrm>
            <a:off x="8769984" y="3091875"/>
            <a:ext cx="720000" cy="322109"/>
            <a:chOff x="10055262" y="4805889"/>
            <a:chExt cx="720000" cy="32210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ACE380B-57FE-4F66-8348-9034D7A006CE}"/>
                </a:ext>
              </a:extLst>
            </p:cNvPr>
            <p:cNvSpPr txBox="1"/>
            <p:nvPr/>
          </p:nvSpPr>
          <p:spPr>
            <a:xfrm>
              <a:off x="10055262" y="4805889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-7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ESWA</a:t>
              </a:r>
              <a:r>
                <a:rPr kumimoji="0" lang="ko-KR" altLang="en-US" sz="900" b="1" i="0" u="none" strike="noStrike" kern="1200" cap="none" spc="-7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생산기획팀</a:t>
              </a:r>
              <a:endParaRPr kumimoji="0" lang="en-US" altLang="ko-KR" sz="900" b="1" i="0" u="none" strike="noStrike" kern="1200" cap="none" spc="-7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C34D8030-B07C-43E0-B2C9-0A7AAA0F3C86}"/>
                </a:ext>
              </a:extLst>
            </p:cNvPr>
            <p:cNvSpPr txBox="1"/>
            <p:nvPr/>
          </p:nvSpPr>
          <p:spPr>
            <a:xfrm>
              <a:off x="10055262" y="4989499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장성순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김우영님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80A26CE5-E5D3-41DA-9E3E-1677B0348CBF}"/>
              </a:ext>
            </a:extLst>
          </p:cNvPr>
          <p:cNvSpPr txBox="1"/>
          <p:nvPr/>
        </p:nvSpPr>
        <p:spPr>
          <a:xfrm>
            <a:off x="8769984" y="1852566"/>
            <a:ext cx="72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유관 부서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B4B80F5-A4AE-42E1-9944-48E830E943D8}"/>
              </a:ext>
            </a:extLst>
          </p:cNvPr>
          <p:cNvSpPr txBox="1"/>
          <p:nvPr/>
        </p:nvSpPr>
        <p:spPr>
          <a:xfrm>
            <a:off x="7210229" y="1852566"/>
            <a:ext cx="432000" cy="153888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 용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9B16332-2084-4FCB-8FD8-928CB443421B}"/>
              </a:ext>
            </a:extLst>
          </p:cNvPr>
          <p:cNvSpPr txBox="1"/>
          <p:nvPr/>
        </p:nvSpPr>
        <p:spPr>
          <a:xfrm>
            <a:off x="6452213" y="2140499"/>
            <a:ext cx="21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Ford TMM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989EA43-0589-4AB2-A2C9-E205207EFA93}"/>
              </a:ext>
            </a:extLst>
          </p:cNvPr>
          <p:cNvSpPr txBox="1"/>
          <p:nvPr/>
        </p:nvSpPr>
        <p:spPr>
          <a:xfrm>
            <a:off x="6452213" y="2407383"/>
            <a:ext cx="21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S&amp;OP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06DEED8-E8AC-4B85-9549-098EBC98882C}"/>
              </a:ext>
            </a:extLst>
          </p:cNvPr>
          <p:cNvSpPr txBox="1"/>
          <p:nvPr/>
        </p:nvSpPr>
        <p:spPr>
          <a:xfrm>
            <a:off x="6452213" y="2674267"/>
            <a:ext cx="21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Porsche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협의 完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D0F5925-543E-4D7F-993F-645E465A614E}"/>
              </a:ext>
            </a:extLst>
          </p:cNvPr>
          <p:cNvSpPr txBox="1"/>
          <p:nvPr/>
        </p:nvSpPr>
        <p:spPr>
          <a:xfrm>
            <a:off x="6452213" y="2941151"/>
            <a:ext cx="2160000" cy="153888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 유지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 의사결정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完</a:t>
            </a: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A3915A7D-F432-42D9-BB3E-E493BF1B4586}"/>
              </a:ext>
            </a:extLst>
          </p:cNvPr>
          <p:cNvGrpSpPr/>
          <p:nvPr/>
        </p:nvGrpSpPr>
        <p:grpSpPr>
          <a:xfrm>
            <a:off x="6236955" y="2070199"/>
            <a:ext cx="128849" cy="1343785"/>
            <a:chOff x="6236955" y="2070199"/>
            <a:chExt cx="128849" cy="1343785"/>
          </a:xfrm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67FDBE12-4ED0-4F56-AB5A-6C02D73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6303098" y="2070199"/>
              <a:ext cx="0" cy="1343785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F245841-1E6A-4B4D-B64A-26BBA981E2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0392" y="2148258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305263D-651B-41A1-B76E-7A1F0E6270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0392" y="2414240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7984B0E4-C0C3-441B-B152-6F2EF163D7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0392" y="2680222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DCB6E4D-F2C5-4DFA-BD91-FAA1DD0815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0392" y="2946204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152209FF-7717-4458-9B7E-6A4A389C9A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6955" y="3212186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04E00D97-3C8C-490F-BC58-15125831D88D}"/>
              </a:ext>
            </a:extLst>
          </p:cNvPr>
          <p:cNvSpPr txBox="1"/>
          <p:nvPr/>
        </p:nvSpPr>
        <p:spPr>
          <a:xfrm>
            <a:off x="5765052" y="3210184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2/07(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E6EECD0-F6EA-4B9E-A93B-6145AC06EEAC}"/>
              </a:ext>
            </a:extLst>
          </p:cNvPr>
          <p:cNvSpPr txBox="1"/>
          <p:nvPr/>
        </p:nvSpPr>
        <p:spPr>
          <a:xfrm>
            <a:off x="6448776" y="3208037"/>
            <a:ext cx="21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 W06 Rolling Plan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 결과 반영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F18A248-A4B3-41E4-8E7C-7D9BF27444C3}"/>
              </a:ext>
            </a:extLst>
          </p:cNvPr>
          <p:cNvGrpSpPr/>
          <p:nvPr/>
        </p:nvGrpSpPr>
        <p:grpSpPr>
          <a:xfrm>
            <a:off x="6236955" y="3722232"/>
            <a:ext cx="125412" cy="864000"/>
            <a:chOff x="6236955" y="3722232"/>
            <a:chExt cx="125412" cy="864000"/>
          </a:xfrm>
        </p:grpSpPr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F0BA291B-ADDF-43D2-998A-6286CC39D6A8}"/>
                </a:ext>
              </a:extLst>
            </p:cNvPr>
            <p:cNvCxnSpPr>
              <a:cxnSpLocks/>
            </p:cNvCxnSpPr>
            <p:nvPr/>
          </p:nvCxnSpPr>
          <p:spPr>
            <a:xfrm>
              <a:off x="6303098" y="3722232"/>
              <a:ext cx="0" cy="864000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7E70D09-6FA2-4E02-A0DB-8ECE2A1342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6955" y="3799703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6DAB9D04-AB22-433F-9FDD-6E1DE549FF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6955" y="4073744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E6FAF157-28FC-4BB5-9159-FACD6182F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6955" y="4347785"/>
              <a:ext cx="125412" cy="1254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AEC89C2A-D54F-456D-84ED-B2B083D61147}"/>
              </a:ext>
            </a:extLst>
          </p:cNvPr>
          <p:cNvSpPr txBox="1"/>
          <p:nvPr/>
        </p:nvSpPr>
        <p:spPr>
          <a:xfrm>
            <a:off x="5761615" y="3794091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1/12(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5ADF19B-780A-4C72-80B1-6E5C439A840A}"/>
              </a:ext>
            </a:extLst>
          </p:cNvPr>
          <p:cNvSpPr txBox="1"/>
          <p:nvPr/>
        </p:nvSpPr>
        <p:spPr>
          <a:xfrm>
            <a:off x="5761615" y="4069937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1/13(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9502478-2594-4068-81C5-D7B35744D0F4}"/>
              </a:ext>
            </a:extLst>
          </p:cNvPr>
          <p:cNvSpPr txBox="1"/>
          <p:nvPr/>
        </p:nvSpPr>
        <p:spPr>
          <a:xfrm>
            <a:off x="5761615" y="4345783"/>
            <a:ext cx="432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1/16(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CA1E253-2123-47A6-A37C-BDC2D8C025B3}"/>
              </a:ext>
            </a:extLst>
          </p:cNvPr>
          <p:cNvGrpSpPr>
            <a:grpSpLocks noChangeAspect="1"/>
          </p:cNvGrpSpPr>
          <p:nvPr/>
        </p:nvGrpSpPr>
        <p:grpSpPr>
          <a:xfrm>
            <a:off x="6435001" y="4055499"/>
            <a:ext cx="96259" cy="180000"/>
            <a:chOff x="1565076" y="2471145"/>
            <a:chExt cx="96259" cy="179207"/>
          </a:xfrm>
        </p:grpSpPr>
        <p:sp>
          <p:nvSpPr>
            <p:cNvPr id="130" name="자유형: 도형 160">
              <a:extLst>
                <a:ext uri="{FF2B5EF4-FFF2-40B4-BE49-F238E27FC236}">
                  <a16:creationId xmlns:a16="http://schemas.microsoft.com/office/drawing/2014/main" id="{07748588-52EB-4664-B907-99F48D208B96}"/>
                </a:ext>
              </a:extLst>
            </p:cNvPr>
            <p:cNvSpPr/>
            <p:nvPr/>
          </p:nvSpPr>
          <p:spPr>
            <a:xfrm>
              <a:off x="1566348" y="2471145"/>
              <a:ext cx="94987" cy="179207"/>
            </a:xfrm>
            <a:custGeom>
              <a:avLst/>
              <a:gdLst>
                <a:gd name="connsiteX0" fmla="*/ 68414 w 79933"/>
                <a:gd name="connsiteY0" fmla="*/ 0 h 150811"/>
                <a:gd name="connsiteX1" fmla="*/ 11519 w 79933"/>
                <a:gd name="connsiteY1" fmla="*/ 0 h 150811"/>
                <a:gd name="connsiteX2" fmla="*/ 0 w 79933"/>
                <a:gd name="connsiteY2" fmla="*/ 11519 h 150811"/>
                <a:gd name="connsiteX3" fmla="*/ 0 w 79933"/>
                <a:gd name="connsiteY3" fmla="*/ 139293 h 150811"/>
                <a:gd name="connsiteX4" fmla="*/ 11519 w 79933"/>
                <a:gd name="connsiteY4" fmla="*/ 150812 h 150811"/>
                <a:gd name="connsiteX5" fmla="*/ 68414 w 79933"/>
                <a:gd name="connsiteY5" fmla="*/ 150812 h 150811"/>
                <a:gd name="connsiteX6" fmla="*/ 79933 w 79933"/>
                <a:gd name="connsiteY6" fmla="*/ 139293 h 150811"/>
                <a:gd name="connsiteX7" fmla="*/ 79933 w 79933"/>
                <a:gd name="connsiteY7" fmla="*/ 11519 h 150811"/>
                <a:gd name="connsiteX8" fmla="*/ 68414 w 79933"/>
                <a:gd name="connsiteY8" fmla="*/ 0 h 15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933" h="150811">
                  <a:moveTo>
                    <a:pt x="68414" y="0"/>
                  </a:moveTo>
                  <a:lnTo>
                    <a:pt x="11519" y="0"/>
                  </a:lnTo>
                  <a:cubicBezTo>
                    <a:pt x="5157" y="0"/>
                    <a:pt x="0" y="5157"/>
                    <a:pt x="0" y="11519"/>
                  </a:cubicBezTo>
                  <a:lnTo>
                    <a:pt x="0" y="139293"/>
                  </a:lnTo>
                  <a:cubicBezTo>
                    <a:pt x="0" y="145654"/>
                    <a:pt x="5157" y="150812"/>
                    <a:pt x="11519" y="150812"/>
                  </a:cubicBezTo>
                  <a:lnTo>
                    <a:pt x="68414" y="150812"/>
                  </a:lnTo>
                  <a:cubicBezTo>
                    <a:pt x="74776" y="150812"/>
                    <a:pt x="79933" y="145654"/>
                    <a:pt x="79933" y="139293"/>
                  </a:cubicBezTo>
                  <a:lnTo>
                    <a:pt x="79933" y="11519"/>
                  </a:lnTo>
                  <a:cubicBezTo>
                    <a:pt x="79933" y="5157"/>
                    <a:pt x="74776" y="0"/>
                    <a:pt x="68414" y="0"/>
                  </a:cubicBezTo>
                  <a:close/>
                </a:path>
              </a:pathLst>
            </a:custGeom>
            <a:solidFill>
              <a:srgbClr val="4EBED1"/>
            </a:solidFill>
            <a:ln w="65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1" name="자유형: 도형 162">
              <a:extLst>
                <a:ext uri="{FF2B5EF4-FFF2-40B4-BE49-F238E27FC236}">
                  <a16:creationId xmlns:a16="http://schemas.microsoft.com/office/drawing/2014/main" id="{8DEFEB36-CCFE-4462-9F8D-587753D789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70159" y="2486594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rgbClr val="4EBED1"/>
            </a:solidFill>
            <a:ln w="6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2" name="자유형: 도형 162">
              <a:extLst>
                <a:ext uri="{FF2B5EF4-FFF2-40B4-BE49-F238E27FC236}">
                  <a16:creationId xmlns:a16="http://schemas.microsoft.com/office/drawing/2014/main" id="{AD1073B6-77C8-4FEB-8033-EA40C820AC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65076" y="2497003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ysClr val="window" lastClr="FFFFFF"/>
            </a:solidFill>
            <a:ln w="68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434F7688-8B42-4987-9E19-477C5522958D}"/>
              </a:ext>
            </a:extLst>
          </p:cNvPr>
          <p:cNvSpPr txBox="1"/>
          <p:nvPr/>
        </p:nvSpPr>
        <p:spPr>
          <a:xfrm>
            <a:off x="5761615" y="3555767"/>
            <a:ext cx="432000" cy="153888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 분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D7D307D-F83C-479B-8137-EF4BE69925AD}"/>
              </a:ext>
            </a:extLst>
          </p:cNvPr>
          <p:cNvSpPr txBox="1"/>
          <p:nvPr/>
        </p:nvSpPr>
        <p:spPr>
          <a:xfrm>
            <a:off x="7206792" y="3555767"/>
            <a:ext cx="432000" cy="153888"/>
          </a:xfrm>
          <a:prstGeom prst="rect">
            <a:avLst/>
          </a:prstGeom>
          <a:noFill/>
        </p:spPr>
        <p:txBody>
          <a:bodyPr wrap="square" lIns="0" tIns="0" rIns="7200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 용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AB573A1-4BE9-464D-8FDC-A15F8D4662B8}"/>
              </a:ext>
            </a:extLst>
          </p:cNvPr>
          <p:cNvSpPr txBox="1"/>
          <p:nvPr/>
        </p:nvSpPr>
        <p:spPr>
          <a:xfrm>
            <a:off x="6448776" y="3791944"/>
            <a:ext cx="21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S&amp;OP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6F588C3-44AC-47A0-ACAD-B31F7976A8A4}"/>
              </a:ext>
            </a:extLst>
          </p:cNvPr>
          <p:cNvSpPr txBox="1"/>
          <p:nvPr/>
        </p:nvSpPr>
        <p:spPr>
          <a:xfrm>
            <a:off x="6448776" y="4067790"/>
            <a:ext cx="2160000" cy="153888"/>
          </a:xfrm>
          <a:prstGeom prst="rect">
            <a:avLst/>
          </a:prstGeom>
          <a:noFill/>
        </p:spPr>
        <p:txBody>
          <a:bodyPr wrap="square" lIns="10800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Target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상향 여부 법인 내 결정 完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208FA68-CBF2-4521-AD85-BB9C92B2F3C3}"/>
              </a:ext>
            </a:extLst>
          </p:cNvPr>
          <p:cNvSpPr txBox="1"/>
          <p:nvPr/>
        </p:nvSpPr>
        <p:spPr>
          <a:xfrm>
            <a:off x="6448776" y="4343636"/>
            <a:ext cx="21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FP Plan(Out)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 반영 및 다음 날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SCP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동기화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6A3FD151-C094-4704-AFF3-4DF54204746F}"/>
              </a:ext>
            </a:extLst>
          </p:cNvPr>
          <p:cNvCxnSpPr/>
          <p:nvPr/>
        </p:nvCxnSpPr>
        <p:spPr>
          <a:xfrm>
            <a:off x="8627749" y="2070198"/>
            <a:ext cx="0" cy="13428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BD182BA-6214-4456-95DB-D3FE370C7357}"/>
              </a:ext>
            </a:extLst>
          </p:cNvPr>
          <p:cNvCxnSpPr>
            <a:cxnSpLocks/>
          </p:cNvCxnSpPr>
          <p:nvPr/>
        </p:nvCxnSpPr>
        <p:spPr>
          <a:xfrm>
            <a:off x="8627749" y="3597214"/>
            <a:ext cx="0" cy="936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04D5335-1DB7-41B8-9C94-26922F08DEB0}"/>
              </a:ext>
            </a:extLst>
          </p:cNvPr>
          <p:cNvGraphicFramePr>
            <a:graphicFrameLocks noGrp="1"/>
          </p:cNvGraphicFramePr>
          <p:nvPr/>
        </p:nvGraphicFramePr>
        <p:xfrm>
          <a:off x="1867179" y="2305803"/>
          <a:ext cx="3561636" cy="441534"/>
        </p:xfrm>
        <a:graphic>
          <a:graphicData uri="http://schemas.openxmlformats.org/drawingml/2006/table">
            <a:tbl>
              <a:tblPr/>
              <a:tblGrid>
                <a:gridCol w="273972">
                  <a:extLst>
                    <a:ext uri="{9D8B030D-6E8A-4147-A177-3AD203B41FA5}">
                      <a16:colId xmlns:a16="http://schemas.microsoft.com/office/drawing/2014/main" val="2257105314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1354024239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536034534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234369981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1530917018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2605682056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2646324150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72648548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774160321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612910957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2392385602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746815520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634584157"/>
                    </a:ext>
                  </a:extLst>
                </a:gridCol>
              </a:tblGrid>
              <a:tr h="1471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349886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E71A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692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763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486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670525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E66A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360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658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6558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51A0C0C1-E173-46A3-A2FD-6BDAE3CBF695}"/>
              </a:ext>
            </a:extLst>
          </p:cNvPr>
          <p:cNvGraphicFramePr>
            <a:graphicFrameLocks noGrp="1"/>
          </p:cNvGraphicFramePr>
          <p:nvPr/>
        </p:nvGraphicFramePr>
        <p:xfrm>
          <a:off x="1867179" y="2984740"/>
          <a:ext cx="3561636" cy="441534"/>
        </p:xfrm>
        <a:graphic>
          <a:graphicData uri="http://schemas.openxmlformats.org/drawingml/2006/table">
            <a:tbl>
              <a:tblPr/>
              <a:tblGrid>
                <a:gridCol w="273972">
                  <a:extLst>
                    <a:ext uri="{9D8B030D-6E8A-4147-A177-3AD203B41FA5}">
                      <a16:colId xmlns:a16="http://schemas.microsoft.com/office/drawing/2014/main" val="2257105314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1354024239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536034534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234369981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1530917018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2605682056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2646324150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72648548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774160321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612910957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2392385602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746815520"/>
                    </a:ext>
                  </a:extLst>
                </a:gridCol>
                <a:gridCol w="273972">
                  <a:extLst>
                    <a:ext uri="{9D8B030D-6E8A-4147-A177-3AD203B41FA5}">
                      <a16:colId xmlns:a16="http://schemas.microsoft.com/office/drawing/2014/main" val="3634584157"/>
                    </a:ext>
                  </a:extLst>
                </a:gridCol>
              </a:tblGrid>
              <a:tr h="1471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739412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E71A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692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6724"/>
                  </a:ext>
                </a:extLst>
              </a:tr>
              <a:tr h="14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E66A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tx1">
                          <a:lumMod val="65000"/>
                          <a:lumOff val="35000"/>
                        </a:schemeClr>
                      </a:fgClr>
                      <a:bgClr>
                        <a:schemeClr val="bg1">
                          <a:lumMod val="95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763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846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087411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EFB83A22-4F39-4606-A7ED-67EAD210B239}"/>
              </a:ext>
            </a:extLst>
          </p:cNvPr>
          <p:cNvSpPr/>
          <p:nvPr/>
        </p:nvSpPr>
        <p:spPr>
          <a:xfrm>
            <a:off x="2957512" y="3284588"/>
            <a:ext cx="546435" cy="144000"/>
          </a:xfrm>
          <a:prstGeom prst="rect">
            <a:avLst/>
          </a:prstGeom>
          <a:noFill/>
          <a:ln w="15875" cap="flat" cmpd="sng" algn="ctr">
            <a:solidFill>
              <a:srgbClr val="0033CC"/>
            </a:solidFill>
            <a:prstDash val="sysDash"/>
            <a:miter lim="800000"/>
          </a:ln>
          <a:effectLst/>
        </p:spPr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F9D09EA-C9DF-40F1-B504-02AEF9C5AAFC}"/>
              </a:ext>
            </a:extLst>
          </p:cNvPr>
          <p:cNvSpPr/>
          <p:nvPr/>
        </p:nvSpPr>
        <p:spPr>
          <a:xfrm>
            <a:off x="3506761" y="3284586"/>
            <a:ext cx="552450" cy="144000"/>
          </a:xfrm>
          <a:prstGeom prst="rect">
            <a:avLst/>
          </a:prstGeom>
          <a:noFill/>
          <a:ln w="15875" cap="flat" cmpd="sng" algn="ctr">
            <a:solidFill>
              <a:srgbClr val="0033CC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A7C1F51-B8A8-41FD-9D4D-88DCBEB7F524}"/>
              </a:ext>
            </a:extLst>
          </p:cNvPr>
          <p:cNvSpPr txBox="1"/>
          <p:nvPr/>
        </p:nvSpPr>
        <p:spPr>
          <a:xfrm>
            <a:off x="5423000" y="2441255"/>
            <a:ext cx="280403" cy="16337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천셀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35C0084-B04B-479D-A10C-410443B180AA}"/>
              </a:ext>
            </a:extLst>
          </p:cNvPr>
          <p:cNvSpPr txBox="1"/>
          <p:nvPr/>
        </p:nvSpPr>
        <p:spPr>
          <a:xfrm>
            <a:off x="7357386" y="2413554"/>
            <a:ext cx="252000" cy="144000"/>
          </a:xfrm>
          <a:prstGeom prst="roundRect">
            <a:avLst/>
          </a:prstGeom>
          <a:solidFill>
            <a:srgbClr val="4EBED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오늘</a:t>
            </a:r>
            <a:endParaRPr kumimoji="0" lang="en-US" altLang="ko-KR" sz="9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5E28179-AB7A-404A-82A1-6FE1DBF8F9DE}"/>
              </a:ext>
            </a:extLst>
          </p:cNvPr>
          <p:cNvSpPr txBox="1"/>
          <p:nvPr/>
        </p:nvSpPr>
        <p:spPr>
          <a:xfrm>
            <a:off x="7362405" y="3798294"/>
            <a:ext cx="252000" cy="144000"/>
          </a:xfrm>
          <a:prstGeom prst="roundRect">
            <a:avLst/>
          </a:prstGeom>
          <a:solidFill>
            <a:srgbClr val="4EBED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오늘</a:t>
            </a:r>
            <a:endParaRPr kumimoji="0" lang="en-US" altLang="ko-KR" sz="9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A52F982-83F4-4674-970F-FC9AE2B54893}"/>
              </a:ext>
            </a:extLst>
          </p:cNvPr>
          <p:cNvSpPr txBox="1"/>
          <p:nvPr/>
        </p:nvSpPr>
        <p:spPr>
          <a:xfrm>
            <a:off x="7223354" y="2131941"/>
            <a:ext cx="1385421" cy="17921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▶ 차량 판매 고객 의지 확인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530AFD2-E05E-43D1-A297-CC03D7E380E9}"/>
              </a:ext>
            </a:extLst>
          </p:cNvPr>
          <p:cNvSpPr txBox="1"/>
          <p:nvPr/>
        </p:nvSpPr>
        <p:spPr>
          <a:xfrm>
            <a:off x="7284720" y="2667090"/>
            <a:ext cx="1252056" cy="17921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▶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ALS Risk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품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Buying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여부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41C352F-A038-4A83-A32C-36B4DC075094}"/>
              </a:ext>
            </a:extLst>
          </p:cNvPr>
          <p:cNvSpPr txBox="1"/>
          <p:nvPr/>
        </p:nvSpPr>
        <p:spPr>
          <a:xfrm>
            <a:off x="3767780" y="3422818"/>
            <a:ext cx="1717132" cy="16337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가속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400cycle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검증결과 고객 수용시 단축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EE0D735-EC26-441A-AFCF-1CE4E276B263}"/>
              </a:ext>
            </a:extLst>
          </p:cNvPr>
          <p:cNvSpPr txBox="1"/>
          <p:nvPr/>
        </p:nvSpPr>
        <p:spPr>
          <a:xfrm>
            <a:off x="5423000" y="3119238"/>
            <a:ext cx="280403" cy="163374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천셀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D06A7C13-D30B-450A-921F-1E9D0EC8031D}"/>
              </a:ext>
            </a:extLst>
          </p:cNvPr>
          <p:cNvGraphicFramePr>
            <a:graphicFrameLocks noGrp="1"/>
          </p:cNvGraphicFramePr>
          <p:nvPr/>
        </p:nvGraphicFramePr>
        <p:xfrm>
          <a:off x="1869998" y="3828682"/>
          <a:ext cx="2189214" cy="740650"/>
        </p:xfrm>
        <a:graphic>
          <a:graphicData uri="http://schemas.openxmlformats.org/drawingml/2006/table">
            <a:tbl>
              <a:tblPr/>
              <a:tblGrid>
                <a:gridCol w="275508">
                  <a:extLst>
                    <a:ext uri="{9D8B030D-6E8A-4147-A177-3AD203B41FA5}">
                      <a16:colId xmlns:a16="http://schemas.microsoft.com/office/drawing/2014/main" val="3699579246"/>
                    </a:ext>
                  </a:extLst>
                </a:gridCol>
                <a:gridCol w="318951">
                  <a:extLst>
                    <a:ext uri="{9D8B030D-6E8A-4147-A177-3AD203B41FA5}">
                      <a16:colId xmlns:a16="http://schemas.microsoft.com/office/drawing/2014/main" val="2959187940"/>
                    </a:ext>
                  </a:extLst>
                </a:gridCol>
                <a:gridCol w="318951">
                  <a:extLst>
                    <a:ext uri="{9D8B030D-6E8A-4147-A177-3AD203B41FA5}">
                      <a16:colId xmlns:a16="http://schemas.microsoft.com/office/drawing/2014/main" val="1676692287"/>
                    </a:ext>
                  </a:extLst>
                </a:gridCol>
                <a:gridCol w="318951">
                  <a:extLst>
                    <a:ext uri="{9D8B030D-6E8A-4147-A177-3AD203B41FA5}">
                      <a16:colId xmlns:a16="http://schemas.microsoft.com/office/drawing/2014/main" val="1562866385"/>
                    </a:ext>
                  </a:extLst>
                </a:gridCol>
                <a:gridCol w="318951">
                  <a:extLst>
                    <a:ext uri="{9D8B030D-6E8A-4147-A177-3AD203B41FA5}">
                      <a16:colId xmlns:a16="http://schemas.microsoft.com/office/drawing/2014/main" val="3833152780"/>
                    </a:ext>
                  </a:extLst>
                </a:gridCol>
                <a:gridCol w="318951">
                  <a:extLst>
                    <a:ext uri="{9D8B030D-6E8A-4147-A177-3AD203B41FA5}">
                      <a16:colId xmlns:a16="http://schemas.microsoft.com/office/drawing/2014/main" val="3514687113"/>
                    </a:ext>
                  </a:extLst>
                </a:gridCol>
                <a:gridCol w="318951">
                  <a:extLst>
                    <a:ext uri="{9D8B030D-6E8A-4147-A177-3AD203B41FA5}">
                      <a16:colId xmlns:a16="http://schemas.microsoft.com/office/drawing/2014/main" val="4163038069"/>
                    </a:ext>
                  </a:extLst>
                </a:gridCol>
              </a:tblGrid>
              <a:tr h="14813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현조립계획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생산지표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검토결과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115570"/>
                  </a:ext>
                </a:extLst>
              </a:tr>
              <a:tr h="148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FP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SCP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도전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2~6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865304"/>
                  </a:ext>
                </a:extLst>
              </a:tr>
              <a:tr h="1481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33.0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614124"/>
                  </a:ext>
                </a:extLst>
              </a:tr>
              <a:tr h="1481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33.0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332306"/>
                  </a:ext>
                </a:extLst>
              </a:tr>
              <a:tr h="1481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32.0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34.5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36.7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33.0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33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35.0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058155"/>
                  </a:ext>
                </a:extLst>
              </a:tr>
            </a:tbl>
          </a:graphicData>
        </a:graphic>
      </p:graphicFrame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E4B94539-6EE7-4216-BFFC-D2741F2E49A4}"/>
              </a:ext>
            </a:extLst>
          </p:cNvPr>
          <p:cNvSpPr/>
          <p:nvPr/>
        </p:nvSpPr>
        <p:spPr>
          <a:xfrm>
            <a:off x="3419475" y="3827901"/>
            <a:ext cx="631076" cy="740650"/>
          </a:xfrm>
          <a:prstGeom prst="rect">
            <a:avLst/>
          </a:prstGeom>
          <a:noFill/>
          <a:ln w="15875" cap="flat" cmpd="sng" algn="ctr">
            <a:solidFill>
              <a:srgbClr val="0033CC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31EB79E-9868-452F-AC16-C50DE0FFF5F1}"/>
              </a:ext>
            </a:extLst>
          </p:cNvPr>
          <p:cNvSpPr txBox="1"/>
          <p:nvPr/>
        </p:nvSpPr>
        <p:spPr>
          <a:xfrm>
            <a:off x="4071715" y="3834780"/>
            <a:ext cx="162548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m"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Item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(1</a:t>
            </a: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단기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2~6</a:t>
            </a: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장기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75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38113" marR="0" lvl="0" indent="-61913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단기 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연속불랑 정지기준 완화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원자재 교체 시간 단축</a:t>
            </a:r>
            <a:endParaRPr kumimoji="1" lang="en-US" altLang="ko-KR" sz="75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38113" marR="0" lvl="0" indent="-61913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장기 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STK Finger Gripper </a:t>
            </a: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 </a:t>
            </a:r>
            <a:r>
              <a:rPr kumimoji="1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Tilting</a:t>
            </a:r>
            <a:r>
              <a:rPr kumimoji="1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형 </a:t>
            </a:r>
            <a:r>
              <a:rPr kumimoji="1" lang="ko-KR" altLang="en-US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적용을 통한 </a:t>
            </a:r>
            <a:r>
              <a:rPr kumimoji="1" lang="en-US" altLang="ko-KR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Cell </a:t>
            </a:r>
            <a:r>
              <a:rPr kumimoji="1" lang="ko-KR" altLang="en-US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틀어짐 방지</a:t>
            </a:r>
            <a:r>
              <a:rPr kumimoji="1" lang="en-US" altLang="ko-KR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흡착</a:t>
            </a:r>
            <a:r>
              <a:rPr kumimoji="1" lang="en-US" altLang="ko-KR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Pad type </a:t>
            </a:r>
            <a:r>
              <a:rPr kumimoji="1" lang="ko-KR" altLang="en-US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변경을 통한 </a:t>
            </a:r>
            <a:r>
              <a:rPr kumimoji="1" lang="en-US" altLang="ko-KR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Vaccum </a:t>
            </a:r>
            <a:r>
              <a:rPr kumimoji="1" lang="ko-KR" altLang="en-US" sz="75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알람 개선</a:t>
            </a: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22F2FF5F-14E6-49E8-8B30-37A71C6A96F2}"/>
              </a:ext>
            </a:extLst>
          </p:cNvPr>
          <p:cNvCxnSpPr>
            <a:cxnSpLocks/>
          </p:cNvCxnSpPr>
          <p:nvPr/>
        </p:nvCxnSpPr>
        <p:spPr bwMode="auto">
          <a:xfrm>
            <a:off x="6563581" y="3110640"/>
            <a:ext cx="1508586" cy="0"/>
          </a:xfrm>
          <a:prstGeom prst="line">
            <a:avLst/>
          </a:prstGeom>
          <a:solidFill>
            <a:sysClr val="window" lastClr="FFFFFF"/>
          </a:solidFill>
          <a:ln w="15875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F682FA47-ED90-4A02-ADAF-6101D32E29F7}"/>
              </a:ext>
            </a:extLst>
          </p:cNvPr>
          <p:cNvCxnSpPr>
            <a:cxnSpLocks/>
          </p:cNvCxnSpPr>
          <p:nvPr/>
        </p:nvCxnSpPr>
        <p:spPr bwMode="auto">
          <a:xfrm>
            <a:off x="6564995" y="4244125"/>
            <a:ext cx="1728000" cy="0"/>
          </a:xfrm>
          <a:prstGeom prst="line">
            <a:avLst/>
          </a:prstGeom>
          <a:solidFill>
            <a:sysClr val="window" lastClr="FFFFFF"/>
          </a:solidFill>
          <a:ln w="15875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4888530C-5FD5-4BBB-AE11-DBB8399C77FB}"/>
              </a:ext>
            </a:extLst>
          </p:cNvPr>
          <p:cNvCxnSpPr>
            <a:cxnSpLocks/>
          </p:cNvCxnSpPr>
          <p:nvPr/>
        </p:nvCxnSpPr>
        <p:spPr bwMode="auto">
          <a:xfrm rot="7200000">
            <a:off x="8158371" y="4242214"/>
            <a:ext cx="108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C5678618-2C0F-4239-B7CC-0404A5679ED5}"/>
              </a:ext>
            </a:extLst>
          </p:cNvPr>
          <p:cNvCxnSpPr>
            <a:cxnSpLocks/>
          </p:cNvCxnSpPr>
          <p:nvPr/>
        </p:nvCxnSpPr>
        <p:spPr bwMode="auto">
          <a:xfrm rot="7200000">
            <a:off x="8191702" y="4242214"/>
            <a:ext cx="108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56370198-9CB4-4893-A476-BC867B0A9F1B}"/>
              </a:ext>
            </a:extLst>
          </p:cNvPr>
          <p:cNvCxnSpPr>
            <a:cxnSpLocks/>
          </p:cNvCxnSpPr>
          <p:nvPr/>
        </p:nvCxnSpPr>
        <p:spPr bwMode="auto">
          <a:xfrm rot="7200000">
            <a:off x="7946950" y="3106705"/>
            <a:ext cx="108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EBEA8B2A-343E-4B3A-AEEF-A401DFF880C2}"/>
              </a:ext>
            </a:extLst>
          </p:cNvPr>
          <p:cNvCxnSpPr>
            <a:cxnSpLocks/>
          </p:cNvCxnSpPr>
          <p:nvPr/>
        </p:nvCxnSpPr>
        <p:spPr bwMode="auto">
          <a:xfrm rot="7200000">
            <a:off x="7980281" y="3106705"/>
            <a:ext cx="108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6CDCC967-F268-46A6-A901-42DEAF72DC68}"/>
              </a:ext>
            </a:extLst>
          </p:cNvPr>
          <p:cNvGrpSpPr/>
          <p:nvPr/>
        </p:nvGrpSpPr>
        <p:grpSpPr>
          <a:xfrm>
            <a:off x="8769984" y="5596387"/>
            <a:ext cx="720000" cy="319959"/>
            <a:chOff x="10080191" y="5304922"/>
            <a:chExt cx="720000" cy="319959"/>
          </a:xfrm>
        </p:grpSpPr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06E43F5-963E-4232-ABF8-B3795DE0D376}"/>
                </a:ext>
              </a:extLst>
            </p:cNvPr>
            <p:cNvSpPr txBox="1"/>
            <p:nvPr/>
          </p:nvSpPr>
          <p:spPr>
            <a:xfrm>
              <a:off x="10080191" y="5304922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-6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Audi/Porsche</a:t>
              </a:r>
              <a:r>
                <a:rPr kumimoji="0" lang="ko-KR" altLang="en-US" sz="1000" b="1" i="0" u="none" strike="noStrike" kern="1200" cap="none" spc="-6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팀</a:t>
              </a:r>
              <a:endParaRPr kumimoji="0" lang="en-US" altLang="ko-KR" sz="1000" b="1" i="0" u="none" strike="noStrike" kern="1200" cap="none" spc="-6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3AE2A91F-8F8F-47FE-A74A-4FA3FA85CBF1}"/>
                </a:ext>
              </a:extLst>
            </p:cNvPr>
            <p:cNvSpPr txBox="1"/>
            <p:nvPr/>
          </p:nvSpPr>
          <p:spPr>
            <a:xfrm>
              <a:off x="10080191" y="5486382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윤봉규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고은솔님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B03B544B-C399-46BC-918E-DA5483D73F8A}"/>
              </a:ext>
            </a:extLst>
          </p:cNvPr>
          <p:cNvGrpSpPr/>
          <p:nvPr/>
        </p:nvGrpSpPr>
        <p:grpSpPr>
          <a:xfrm>
            <a:off x="8769984" y="4739096"/>
            <a:ext cx="720000" cy="319959"/>
            <a:chOff x="10080191" y="5304922"/>
            <a:chExt cx="720000" cy="319959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9FB42D6B-FC14-4056-94D8-54F99CA910F8}"/>
                </a:ext>
              </a:extLst>
            </p:cNvPr>
            <p:cNvSpPr txBox="1"/>
            <p:nvPr/>
          </p:nvSpPr>
          <p:spPr>
            <a:xfrm>
              <a:off x="10080191" y="5304922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-5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ESWA Sales</a:t>
              </a:r>
              <a:r>
                <a:rPr kumimoji="0" lang="ko-KR" altLang="en-US" sz="1000" b="1" i="0" u="none" strike="noStrike" kern="1200" cap="none" spc="-5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팀</a:t>
              </a:r>
              <a:endParaRPr kumimoji="0" lang="en-US" altLang="ko-KR" sz="100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BCCCBCF2-69EF-41E3-A232-D458641F4AA4}"/>
                </a:ext>
              </a:extLst>
            </p:cNvPr>
            <p:cNvSpPr txBox="1"/>
            <p:nvPr/>
          </p:nvSpPr>
          <p:spPr>
            <a:xfrm>
              <a:off x="10080191" y="5486382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강무용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박소진님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BFED95E7-1462-45C6-81DE-717253A28706}"/>
              </a:ext>
            </a:extLst>
          </p:cNvPr>
          <p:cNvCxnSpPr>
            <a:cxnSpLocks/>
          </p:cNvCxnSpPr>
          <p:nvPr/>
        </p:nvCxnSpPr>
        <p:spPr>
          <a:xfrm>
            <a:off x="8625642" y="4744653"/>
            <a:ext cx="0" cy="63184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598346E9-03CF-46FA-96E4-3C099D649D13}"/>
              </a:ext>
            </a:extLst>
          </p:cNvPr>
          <p:cNvCxnSpPr>
            <a:cxnSpLocks/>
          </p:cNvCxnSpPr>
          <p:nvPr/>
        </p:nvCxnSpPr>
        <p:spPr>
          <a:xfrm>
            <a:off x="8625642" y="5596387"/>
            <a:ext cx="0" cy="631849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BD96C567-241F-41C8-9CF9-0112BD8F5E19}"/>
              </a:ext>
            </a:extLst>
          </p:cNvPr>
          <p:cNvGrpSpPr/>
          <p:nvPr/>
        </p:nvGrpSpPr>
        <p:grpSpPr>
          <a:xfrm>
            <a:off x="8772208" y="5073637"/>
            <a:ext cx="720000" cy="322109"/>
            <a:chOff x="10055262" y="4805889"/>
            <a:chExt cx="720000" cy="322109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454A895-6CD5-4C6A-B438-3B5D85E59E2D}"/>
                </a:ext>
              </a:extLst>
            </p:cNvPr>
            <p:cNvSpPr txBox="1"/>
            <p:nvPr/>
          </p:nvSpPr>
          <p:spPr>
            <a:xfrm>
              <a:off x="10055262" y="4805889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-7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ESWA</a:t>
              </a:r>
              <a:r>
                <a:rPr kumimoji="0" lang="ko-KR" altLang="en-US" sz="900" b="1" i="0" u="none" strike="noStrike" kern="1200" cap="none" spc="-7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팩생산관리</a:t>
              </a:r>
              <a:endParaRPr kumimoji="0" lang="en-US" altLang="ko-KR" sz="900" b="1" i="0" u="none" strike="noStrike" kern="1200" cap="none" spc="-7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E4AC36AA-7233-4AE3-92BC-492690EB4B9D}"/>
                </a:ext>
              </a:extLst>
            </p:cNvPr>
            <p:cNvSpPr txBox="1"/>
            <p:nvPr/>
          </p:nvSpPr>
          <p:spPr>
            <a:xfrm>
              <a:off x="10055262" y="4989499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장상진</a:t>
              </a:r>
              <a:r>
                <a:rPr kumimoji="0" lang="en-US" altLang="ko-KR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</a:t>
              </a:r>
              <a:r>
                <a:rPr kumimoji="0" lang="ko-KR" altLang="en-US" sz="9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심윤섭님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18332B5-3C7F-44F0-86AE-0A20DD3039C5}"/>
              </a:ext>
            </a:extLst>
          </p:cNvPr>
          <p:cNvGrpSpPr/>
          <p:nvPr/>
        </p:nvGrpSpPr>
        <p:grpSpPr>
          <a:xfrm>
            <a:off x="8769984" y="5935601"/>
            <a:ext cx="720000" cy="319959"/>
            <a:chOff x="10080191" y="5304922"/>
            <a:chExt cx="720000" cy="319959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BB1D5487-5647-4F59-BBF0-947244800308}"/>
                </a:ext>
              </a:extLst>
            </p:cNvPr>
            <p:cNvSpPr txBox="1"/>
            <p:nvPr/>
          </p:nvSpPr>
          <p:spPr>
            <a:xfrm>
              <a:off x="10080191" y="5304922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-10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SCM</a:t>
              </a:r>
              <a:r>
                <a:rPr kumimoji="0" lang="ko-KR" altLang="en-US" sz="1000" b="1" i="0" u="none" strike="noStrike" kern="1200" cap="none" spc="-10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수요관리팀</a:t>
              </a:r>
              <a:endParaRPr kumimoji="0" lang="en-US" altLang="ko-KR" sz="1000" b="1" i="0" u="none" strike="noStrike" kern="1200" cap="none" spc="-10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D228DA1-B208-413E-A12D-92A836289FFF}"/>
                </a:ext>
              </a:extLst>
            </p:cNvPr>
            <p:cNvSpPr txBox="1"/>
            <p:nvPr/>
          </p:nvSpPr>
          <p:spPr>
            <a:xfrm>
              <a:off x="10080191" y="5486382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고봉환</a:t>
              </a:r>
              <a:r>
                <a:rPr kumimoji="0" lang="en-US" altLang="ko-KR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이성길님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198" name="Picture 2">
            <a:extLst>
              <a:ext uri="{FF2B5EF4-FFF2-40B4-BE49-F238E27FC236}">
                <a16:creationId xmlns:a16="http://schemas.microsoft.com/office/drawing/2014/main" id="{39105C40-D854-482E-8C2D-030B73C2B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9759" y1="20000" x2="56627" y2="9231"/>
                        <a14:foregroundMark x1="37350" y1="21538" x2="39759" y2="20000"/>
                        <a14:foregroundMark x1="27711" y1="27692" x2="37350" y2="21538"/>
                        <a14:backgroundMark x1="42169" y1="20000" x2="42169" y2="20000"/>
                        <a14:backgroundMark x1="45783" y1="20000" x2="45783" y2="20000"/>
                        <a14:backgroundMark x1="40964" y1="21538" x2="40964" y2="215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149" y="4950422"/>
            <a:ext cx="468702" cy="36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B894E6FA-1DE5-4EED-B3E3-455DB71D7B5A}"/>
              </a:ext>
            </a:extLst>
          </p:cNvPr>
          <p:cNvSpPr/>
          <p:nvPr/>
        </p:nvSpPr>
        <p:spPr>
          <a:xfrm>
            <a:off x="7264014" y="5251175"/>
            <a:ext cx="494046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&lt;DRX&gt;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B474B904-5235-4E19-9FEE-56F03841B29E}"/>
              </a:ext>
            </a:extLst>
          </p:cNvPr>
          <p:cNvSpPr/>
          <p:nvPr/>
        </p:nvSpPr>
        <p:spPr>
          <a:xfrm>
            <a:off x="6542235" y="5251175"/>
            <a:ext cx="601447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&lt;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운송중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&gt;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DA7EF56C-A372-447D-AF19-8DAFD6C5CCA9}"/>
              </a:ext>
            </a:extLst>
          </p:cNvPr>
          <p:cNvSpPr/>
          <p:nvPr/>
        </p:nvSpPr>
        <p:spPr>
          <a:xfrm>
            <a:off x="5803901" y="5251175"/>
            <a:ext cx="570990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&lt;ESWA&gt;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02" name="Picture 4">
            <a:extLst>
              <a:ext uri="{FF2B5EF4-FFF2-40B4-BE49-F238E27FC236}">
                <a16:creationId xmlns:a16="http://schemas.microsoft.com/office/drawing/2014/main" id="{8BE81EF2-C557-4076-8495-A81970F55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3103" l="4478" r="91045">
                        <a14:foregroundMark x1="58209" y1="12069" x2="58209" y2="12069"/>
                        <a14:foregroundMark x1="50746" y1="20690" x2="50746" y2="20690"/>
                        <a14:foregroundMark x1="53731" y1="17241" x2="59701" y2="13793"/>
                        <a14:foregroundMark x1="53731" y1="15517" x2="52239" y2="18966"/>
                        <a14:foregroundMark x1="47761" y1="5172" x2="31343" y2="3448"/>
                        <a14:foregroundMark x1="71642" y1="17241" x2="89552" y2="43103"/>
                        <a14:foregroundMark x1="91045" y1="55172" x2="32836" y2="10345"/>
                        <a14:foregroundMark x1="20896" y1="13793" x2="20896" y2="13793"/>
                        <a14:foregroundMark x1="5970" y1="51724" x2="5970" y2="51724"/>
                        <a14:foregroundMark x1="44776" y1="87931" x2="44776" y2="87931"/>
                        <a14:foregroundMark x1="44776" y1="93103" x2="44776" y2="93103"/>
                        <a14:backgroundMark x1="31343" y1="1724" x2="31343" y2="1724"/>
                        <a14:backgroundMark x1="32836" y1="0" x2="32836" y2="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671" y="4939528"/>
            <a:ext cx="355375" cy="32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Picture 6">
            <a:extLst>
              <a:ext uri="{FF2B5EF4-FFF2-40B4-BE49-F238E27FC236}">
                <a16:creationId xmlns:a16="http://schemas.microsoft.com/office/drawing/2014/main" id="{DC0CA344-7B64-4C6B-8107-914A0BD72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667" b="98333" l="6122" r="89796">
                        <a14:foregroundMark x1="16327" y1="15000" x2="79592" y2="11667"/>
                        <a14:foregroundMark x1="26531" y1="71667" x2="53061" y2="88333"/>
                        <a14:foregroundMark x1="55102" y1="1667" x2="55102" y2="1667"/>
                        <a14:foregroundMark x1="51020" y1="98333" x2="51020" y2="9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355" y="4938794"/>
            <a:ext cx="285533" cy="33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EFDCE483-40F6-4C5C-BF68-42BBA4494764}"/>
              </a:ext>
            </a:extLst>
          </p:cNvPr>
          <p:cNvSpPr/>
          <p:nvPr/>
        </p:nvSpPr>
        <p:spPr>
          <a:xfrm>
            <a:off x="7774763" y="5251175"/>
            <a:ext cx="643126" cy="2308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&lt;Porsche&gt;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96D18019-FFE5-4B03-852D-A8065327C0AA}"/>
              </a:ext>
            </a:extLst>
          </p:cNvPr>
          <p:cNvCxnSpPr>
            <a:cxnSpLocks/>
          </p:cNvCxnSpPr>
          <p:nvPr/>
        </p:nvCxnSpPr>
        <p:spPr bwMode="auto">
          <a:xfrm>
            <a:off x="6311935" y="5173186"/>
            <a:ext cx="972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702C10F8-EB2E-4394-89B1-316E90CD362B}"/>
              </a:ext>
            </a:extLst>
          </p:cNvPr>
          <p:cNvCxnSpPr>
            <a:cxnSpLocks/>
          </p:cNvCxnSpPr>
          <p:nvPr/>
        </p:nvCxnSpPr>
        <p:spPr bwMode="auto">
          <a:xfrm>
            <a:off x="6311935" y="5053931"/>
            <a:ext cx="972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triangle" w="med" len="med"/>
            <a:tailEnd type="none" w="med" len="med"/>
          </a:ln>
          <a:effectLst/>
        </p:spPr>
      </p:cxnSp>
      <p:pic>
        <p:nvPicPr>
          <p:cNvPr id="207" name="그림 206">
            <a:extLst>
              <a:ext uri="{FF2B5EF4-FFF2-40B4-BE49-F238E27FC236}">
                <a16:creationId xmlns:a16="http://schemas.microsoft.com/office/drawing/2014/main" id="{271E3AF0-7D6C-4717-95D8-3384D1ABBC4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46" b="89720" l="9877" r="91358">
                        <a14:foregroundMark x1="29630" y1="28972" x2="29630" y2="28972"/>
                        <a14:foregroundMark x1="22840" y1="53271" x2="22840" y2="53271"/>
                        <a14:foregroundMark x1="33951" y1="73832" x2="33951" y2="73832"/>
                        <a14:foregroundMark x1="75926" y1="75701" x2="75926" y2="75701"/>
                        <a14:foregroundMark x1="91358" y1="61682" x2="91358" y2="61682"/>
                      </a14:backgroundRemoval>
                    </a14:imgEffect>
                  </a14:imgLayer>
                </a14:imgProps>
              </a:ext>
            </a:extLst>
          </a:blip>
          <a:srcRect l="4650" t="6631" r="4979" b="5145"/>
          <a:stretch/>
        </p:blipFill>
        <p:spPr>
          <a:xfrm>
            <a:off x="6520315" y="5117096"/>
            <a:ext cx="202460" cy="130548"/>
          </a:xfrm>
          <a:prstGeom prst="rect">
            <a:avLst/>
          </a:prstGeom>
        </p:spPr>
      </p:pic>
      <p:pic>
        <p:nvPicPr>
          <p:cNvPr id="208" name="그림 207">
            <a:extLst>
              <a:ext uri="{FF2B5EF4-FFF2-40B4-BE49-F238E27FC236}">
                <a16:creationId xmlns:a16="http://schemas.microsoft.com/office/drawing/2014/main" id="{92D8049D-6A69-42D2-A245-85983B20ED0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46" b="89720" l="9877" r="91358">
                        <a14:foregroundMark x1="29630" y1="28972" x2="29630" y2="28972"/>
                        <a14:foregroundMark x1="22840" y1="53271" x2="22840" y2="53271"/>
                        <a14:foregroundMark x1="33951" y1="73832" x2="33951" y2="73832"/>
                        <a14:foregroundMark x1="75926" y1="75701" x2="75926" y2="75701"/>
                        <a14:foregroundMark x1="91358" y1="61682" x2="91358" y2="61682"/>
                      </a14:backgroundRemoval>
                    </a14:imgEffect>
                  </a14:imgLayer>
                </a14:imgProps>
              </a:ext>
            </a:extLst>
          </a:blip>
          <a:srcRect l="4650" t="6631" r="4979" b="5145"/>
          <a:stretch/>
        </p:blipFill>
        <p:spPr>
          <a:xfrm flipH="1">
            <a:off x="6905685" y="4980589"/>
            <a:ext cx="202460" cy="130548"/>
          </a:xfrm>
          <a:prstGeom prst="rect">
            <a:avLst/>
          </a:prstGeom>
        </p:spPr>
      </p:pic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3003ECD6-9BF1-4C4B-880C-61780ED1BD27}"/>
              </a:ext>
            </a:extLst>
          </p:cNvPr>
          <p:cNvCxnSpPr>
            <a:cxnSpLocks/>
          </p:cNvCxnSpPr>
          <p:nvPr/>
        </p:nvCxnSpPr>
        <p:spPr bwMode="auto">
          <a:xfrm>
            <a:off x="7713614" y="5180525"/>
            <a:ext cx="180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triangle" w="sm" len="sm"/>
          </a:ln>
          <a:effectLst/>
        </p:spPr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C271825E-723D-4BC6-B9B9-DF2BD20C7FB5}"/>
              </a:ext>
            </a:extLst>
          </p:cNvPr>
          <p:cNvCxnSpPr>
            <a:cxnSpLocks/>
          </p:cNvCxnSpPr>
          <p:nvPr/>
        </p:nvCxnSpPr>
        <p:spPr bwMode="auto">
          <a:xfrm>
            <a:off x="7713614" y="5061270"/>
            <a:ext cx="180000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triangle" w="sm" len="sm"/>
            <a:tailEnd type="none" w="med" len="med"/>
          </a:ln>
          <a:effectLst/>
        </p:spPr>
      </p:cxn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16D68F13-13FB-4706-8017-C0180FDE1847}"/>
              </a:ext>
            </a:extLst>
          </p:cNvPr>
          <p:cNvSpPr/>
          <p:nvPr/>
        </p:nvSpPr>
        <p:spPr>
          <a:xfrm>
            <a:off x="5743373" y="4683753"/>
            <a:ext cx="2793397" cy="246221"/>
          </a:xfrm>
          <a:prstGeom prst="rect">
            <a:avLst/>
          </a:prstGeom>
        </p:spPr>
        <p:txBody>
          <a:bodyPr wrap="square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SLT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순환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8B9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가시성 개선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 대한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Idea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발굴이 필요함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2D98F55D-0A0A-41A2-95C6-A79A76377930}"/>
              </a:ext>
            </a:extLst>
          </p:cNvPr>
          <p:cNvSpPr/>
          <p:nvPr/>
        </p:nvSpPr>
        <p:spPr>
          <a:xfrm>
            <a:off x="5743373" y="5534947"/>
            <a:ext cx="2793397" cy="746358"/>
          </a:xfrm>
          <a:prstGeom prst="rect">
            <a:avLst/>
          </a:prstGeom>
        </p:spPr>
        <p:txBody>
          <a:bodyPr wrap="square" r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713" marR="0" lvl="0" indent="-112713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차량 공장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(Porsche)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팩커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(DRX)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생산계획 감소가 감지되는 경우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8B9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Delay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8B9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없이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MKT FCST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반영 필요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12713" marR="0" lvl="0" indent="-112713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상기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[A]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[B]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통해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RTF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개선되면 고객 협의를 거쳐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MKT FCST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8B9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RTF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8B9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수준으로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8B9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Align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필요 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8A291AB-0AB8-4635-A18D-815EA3C915E7}"/>
              </a:ext>
            </a:extLst>
          </p:cNvPr>
          <p:cNvSpPr/>
          <p:nvPr/>
        </p:nvSpPr>
        <p:spPr>
          <a:xfrm>
            <a:off x="1870118" y="5318452"/>
            <a:ext cx="3827082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 ESWA ~ DRX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구간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SLT 11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만 모듈분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신규 발주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천 모듈분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(2Q), 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약 </a:t>
            </a:r>
            <a:r>
              <a:rPr kumimoji="0" lang="en-US" altLang="ko-KR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11.5</a:t>
            </a:r>
            <a:r>
              <a:rPr kumimoji="0" lang="ko-KR" altLang="en-US" sz="9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만 모듈분 운영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947BB98-1E6A-4F5B-AF86-A0DF7D3FA159}"/>
              </a:ext>
            </a:extLst>
          </p:cNvPr>
          <p:cNvSpPr txBox="1"/>
          <p:nvPr/>
        </p:nvSpPr>
        <p:spPr>
          <a:xfrm>
            <a:off x="1644088" y="4222811"/>
            <a:ext cx="220118" cy="29879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천셀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/</a:t>
            </a:r>
            <a:r>
              <a:rPr kumimoji="1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FF6A56C-F74A-415F-AADE-903DA09B94CD}"/>
              </a:ext>
            </a:extLst>
          </p:cNvPr>
          <p:cNvGrpSpPr/>
          <p:nvPr/>
        </p:nvGrpSpPr>
        <p:grpSpPr>
          <a:xfrm>
            <a:off x="3228348" y="3428588"/>
            <a:ext cx="555961" cy="92379"/>
            <a:chOff x="3228348" y="3428588"/>
            <a:chExt cx="555961" cy="92379"/>
          </a:xfrm>
        </p:grpSpPr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29D90137-6BB4-4142-8B02-AAC7A9A11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8348" y="3517255"/>
              <a:ext cx="555961" cy="0"/>
            </a:xfrm>
            <a:prstGeom prst="straightConnector1">
              <a:avLst/>
            </a:prstGeom>
            <a:ln w="9525">
              <a:solidFill>
                <a:srgbClr val="0033CC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화살표 연결선 164">
              <a:extLst>
                <a:ext uri="{FF2B5EF4-FFF2-40B4-BE49-F238E27FC236}">
                  <a16:creationId xmlns:a16="http://schemas.microsoft.com/office/drawing/2014/main" id="{BC54D139-2EBF-4161-8062-FC080DB71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986" y="3430967"/>
              <a:ext cx="0" cy="90000"/>
            </a:xfrm>
            <a:prstGeom prst="straightConnector1">
              <a:avLst/>
            </a:prstGeom>
            <a:ln w="9525">
              <a:solidFill>
                <a:srgbClr val="0033CC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화살표 연결선 166">
              <a:extLst>
                <a:ext uri="{FF2B5EF4-FFF2-40B4-BE49-F238E27FC236}">
                  <a16:creationId xmlns:a16="http://schemas.microsoft.com/office/drawing/2014/main" id="{5A29DF6D-89F3-4305-BC81-4CBFDCE0884D}"/>
                </a:ext>
              </a:extLst>
            </p:cNvPr>
            <p:cNvCxnSpPr>
              <a:cxnSpLocks/>
              <a:endCxn id="152" idx="2"/>
            </p:cNvCxnSpPr>
            <p:nvPr/>
          </p:nvCxnSpPr>
          <p:spPr>
            <a:xfrm flipV="1">
              <a:off x="3230730" y="3428588"/>
              <a:ext cx="0" cy="90000"/>
            </a:xfrm>
            <a:prstGeom prst="straightConnector1">
              <a:avLst/>
            </a:prstGeom>
            <a:ln w="9525">
              <a:solidFill>
                <a:srgbClr val="0033CC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7AC0362A-08AF-4648-BBD3-E6A64BE48DEF}"/>
              </a:ext>
            </a:extLst>
          </p:cNvPr>
          <p:cNvSpPr txBox="1"/>
          <p:nvPr/>
        </p:nvSpPr>
        <p:spPr>
          <a:xfrm>
            <a:off x="1493181" y="410652"/>
            <a:ext cx="5839272" cy="251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└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Numbering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은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W02 S&amp;OP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회의자료가 취합 된 후 자동차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ESS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수요관리팀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김무영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이성길님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수정 입력 필요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74F41DC-528A-4B5C-B911-F4B080987883}"/>
              </a:ext>
            </a:extLst>
          </p:cNvPr>
          <p:cNvSpPr txBox="1"/>
          <p:nvPr/>
        </p:nvSpPr>
        <p:spPr bwMode="auto">
          <a:xfrm>
            <a:off x="9960646" y="1402916"/>
            <a:ext cx="37147" cy="234750"/>
          </a:xfrm>
          <a:prstGeom prst="roundRect">
            <a:avLst>
              <a:gd name="adj" fmla="val 50000"/>
            </a:avLst>
          </a:prstGeom>
          <a:gradFill>
            <a:gsLst>
              <a:gs pos="32000">
                <a:srgbClr val="3EC2CF"/>
              </a:gs>
              <a:gs pos="31000">
                <a:srgbClr val="002C5F"/>
              </a:gs>
            </a:gsLst>
            <a:lin ang="3600000" scaled="0"/>
          </a:gradFill>
          <a:ln>
            <a:noFill/>
          </a:ln>
        </p:spPr>
        <p:txBody>
          <a:bodyPr wrap="none" lIns="87750" tIns="0" rIns="0" bIns="0" anchor="ctr"/>
          <a:lstStyle>
            <a:defPPr>
              <a:defRPr lang="ko-KR"/>
            </a:defPPr>
            <a:lvl1pPr algn="ctr">
              <a:spcBef>
                <a:spcPts val="200"/>
              </a:spcBef>
              <a:buSzPct val="80000"/>
              <a:defRPr kumimoji="1" sz="1200" spc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ts val="2194"/>
              </a:lnSpc>
              <a:spcBef>
                <a:spcPts val="2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1" lang="en-US" altLang="ko-KR" sz="975" b="1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5AEE6D38-1C6A-4D6D-B746-EB65F4CEAC27}"/>
              </a:ext>
            </a:extLst>
          </p:cNvPr>
          <p:cNvGrpSpPr/>
          <p:nvPr/>
        </p:nvGrpSpPr>
        <p:grpSpPr>
          <a:xfrm>
            <a:off x="9981655" y="3935139"/>
            <a:ext cx="1717753" cy="585216"/>
            <a:chOff x="10136046" y="3599070"/>
            <a:chExt cx="1717753" cy="585216"/>
          </a:xfrm>
        </p:grpSpPr>
        <p:sp>
          <p:nvSpPr>
            <p:cNvPr id="177" name="Snip and Round Single Corner Rectangle 39">
              <a:extLst>
                <a:ext uri="{FF2B5EF4-FFF2-40B4-BE49-F238E27FC236}">
                  <a16:creationId xmlns:a16="http://schemas.microsoft.com/office/drawing/2014/main" id="{2CE7F7BE-B4FD-460D-AD09-1ABAB1F2361B}"/>
                </a:ext>
              </a:extLst>
            </p:cNvPr>
            <p:cNvSpPr/>
            <p:nvPr/>
          </p:nvSpPr>
          <p:spPr>
            <a:xfrm>
              <a:off x="10136046" y="3599070"/>
              <a:ext cx="1715616" cy="585216"/>
            </a:xfrm>
            <a:prstGeom prst="snipRoundRect">
              <a:avLst>
                <a:gd name="adj1" fmla="val 0"/>
                <a:gd name="adj2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  <a:prstDash val="sysDash"/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x-none" sz="1200" dirty="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8DCEAB3F-E6E9-4C55-8580-969021D2F9D4}"/>
                </a:ext>
              </a:extLst>
            </p:cNvPr>
            <p:cNvSpPr txBox="1"/>
            <p:nvPr/>
          </p:nvSpPr>
          <p:spPr>
            <a:xfrm>
              <a:off x="10145362" y="3599744"/>
              <a:ext cx="1708437" cy="2933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en-US" altLang="ko-KR" sz="135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I </a:t>
              </a:r>
              <a:r>
                <a:rPr lang="ko-KR" altLang="en-US" sz="135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아이콘 모음집</a:t>
              </a:r>
              <a:endParaRPr lang="en-US" altLang="ko-KR" sz="135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BF8A23D1-A582-438C-A6BD-8ABCFB72A4FD}"/>
              </a:ext>
            </a:extLst>
          </p:cNvPr>
          <p:cNvSpPr/>
          <p:nvPr/>
        </p:nvSpPr>
        <p:spPr>
          <a:xfrm>
            <a:off x="9984472" y="4231537"/>
            <a:ext cx="1719205" cy="261972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BDE0C6A-081D-456E-963E-8949C140794B}"/>
              </a:ext>
            </a:extLst>
          </p:cNvPr>
          <p:cNvGrpSpPr>
            <a:grpSpLocks noChangeAspect="1"/>
          </p:cNvGrpSpPr>
          <p:nvPr/>
        </p:nvGrpSpPr>
        <p:grpSpPr>
          <a:xfrm>
            <a:off x="10044871" y="4321658"/>
            <a:ext cx="96258" cy="180000"/>
            <a:chOff x="0" y="0"/>
            <a:chExt cx="96259" cy="179207"/>
          </a:xfrm>
        </p:grpSpPr>
        <p:sp>
          <p:nvSpPr>
            <p:cNvPr id="181" name="자유형: 도형 180">
              <a:extLst>
                <a:ext uri="{FF2B5EF4-FFF2-40B4-BE49-F238E27FC236}">
                  <a16:creationId xmlns:a16="http://schemas.microsoft.com/office/drawing/2014/main" id="{591FA8DF-821B-49B6-A8D2-4C6FAE59F23A}"/>
                </a:ext>
              </a:extLst>
            </p:cNvPr>
            <p:cNvSpPr/>
            <p:nvPr/>
          </p:nvSpPr>
          <p:spPr>
            <a:xfrm>
              <a:off x="1272" y="0"/>
              <a:ext cx="94987" cy="179207"/>
            </a:xfrm>
            <a:custGeom>
              <a:avLst/>
              <a:gdLst>
                <a:gd name="connsiteX0" fmla="*/ 68414 w 79933"/>
                <a:gd name="connsiteY0" fmla="*/ 0 h 150811"/>
                <a:gd name="connsiteX1" fmla="*/ 11519 w 79933"/>
                <a:gd name="connsiteY1" fmla="*/ 0 h 150811"/>
                <a:gd name="connsiteX2" fmla="*/ 0 w 79933"/>
                <a:gd name="connsiteY2" fmla="*/ 11519 h 150811"/>
                <a:gd name="connsiteX3" fmla="*/ 0 w 79933"/>
                <a:gd name="connsiteY3" fmla="*/ 139293 h 150811"/>
                <a:gd name="connsiteX4" fmla="*/ 11519 w 79933"/>
                <a:gd name="connsiteY4" fmla="*/ 150812 h 150811"/>
                <a:gd name="connsiteX5" fmla="*/ 68414 w 79933"/>
                <a:gd name="connsiteY5" fmla="*/ 150812 h 150811"/>
                <a:gd name="connsiteX6" fmla="*/ 79933 w 79933"/>
                <a:gd name="connsiteY6" fmla="*/ 139293 h 150811"/>
                <a:gd name="connsiteX7" fmla="*/ 79933 w 79933"/>
                <a:gd name="connsiteY7" fmla="*/ 11519 h 150811"/>
                <a:gd name="connsiteX8" fmla="*/ 68414 w 79933"/>
                <a:gd name="connsiteY8" fmla="*/ 0 h 15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933" h="150811">
                  <a:moveTo>
                    <a:pt x="68414" y="0"/>
                  </a:moveTo>
                  <a:lnTo>
                    <a:pt x="11519" y="0"/>
                  </a:lnTo>
                  <a:cubicBezTo>
                    <a:pt x="5157" y="0"/>
                    <a:pt x="0" y="5157"/>
                    <a:pt x="0" y="11519"/>
                  </a:cubicBezTo>
                  <a:lnTo>
                    <a:pt x="0" y="139293"/>
                  </a:lnTo>
                  <a:cubicBezTo>
                    <a:pt x="0" y="145654"/>
                    <a:pt x="5157" y="150812"/>
                    <a:pt x="11519" y="150812"/>
                  </a:cubicBezTo>
                  <a:lnTo>
                    <a:pt x="68414" y="150812"/>
                  </a:lnTo>
                  <a:cubicBezTo>
                    <a:pt x="74776" y="150812"/>
                    <a:pt x="79933" y="145654"/>
                    <a:pt x="79933" y="139293"/>
                  </a:cubicBezTo>
                  <a:lnTo>
                    <a:pt x="79933" y="11519"/>
                  </a:lnTo>
                  <a:cubicBezTo>
                    <a:pt x="79933" y="5157"/>
                    <a:pt x="74776" y="0"/>
                    <a:pt x="68414" y="0"/>
                  </a:cubicBezTo>
                  <a:close/>
                </a:path>
              </a:pathLst>
            </a:custGeom>
            <a:solidFill>
              <a:srgbClr val="4EBED1"/>
            </a:solidFill>
            <a:ln w="6537" cap="flat">
              <a:noFill/>
              <a:prstDash val="solid"/>
              <a:miter/>
            </a:ln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C6581C6C-BCC3-43B8-82FD-0AA4294ABB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83" y="15449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rgbClr val="4EBED1"/>
            </a:solidFill>
            <a:ln w="688" cap="flat">
              <a:noFill/>
              <a:prstDash val="solid"/>
              <a:miter/>
            </a:ln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CFB89E1F-7FC4-4569-A3BE-DE9A0274E1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858"/>
              <a:ext cx="91176" cy="149229"/>
            </a:xfrm>
            <a:custGeom>
              <a:avLst/>
              <a:gdLst>
                <a:gd name="connsiteX0" fmla="*/ 13956 w 34321"/>
                <a:gd name="connsiteY0" fmla="*/ 56175 h 56175"/>
                <a:gd name="connsiteX1" fmla="*/ 18227 w 34321"/>
                <a:gd name="connsiteY1" fmla="*/ 31040 h 56175"/>
                <a:gd name="connsiteX2" fmla="*/ 0 w 34321"/>
                <a:gd name="connsiteY2" fmla="*/ 31040 h 56175"/>
                <a:gd name="connsiteX3" fmla="*/ 325 w 34321"/>
                <a:gd name="connsiteY3" fmla="*/ 30715 h 56175"/>
                <a:gd name="connsiteX4" fmla="*/ 1149 w 34321"/>
                <a:gd name="connsiteY4" fmla="*/ 29566 h 56175"/>
                <a:gd name="connsiteX5" fmla="*/ 2298 w 34321"/>
                <a:gd name="connsiteY5" fmla="*/ 27925 h 56175"/>
                <a:gd name="connsiteX6" fmla="*/ 3773 w 34321"/>
                <a:gd name="connsiteY6" fmla="*/ 25786 h 56175"/>
                <a:gd name="connsiteX7" fmla="*/ 5579 w 34321"/>
                <a:gd name="connsiteY7" fmla="*/ 23155 h 56175"/>
                <a:gd name="connsiteX8" fmla="*/ 7386 w 34321"/>
                <a:gd name="connsiteY8" fmla="*/ 20366 h 56175"/>
                <a:gd name="connsiteX9" fmla="*/ 9525 w 34321"/>
                <a:gd name="connsiteY9" fmla="*/ 17410 h 56175"/>
                <a:gd name="connsiteX10" fmla="*/ 11491 w 34321"/>
                <a:gd name="connsiteY10" fmla="*/ 14288 h 56175"/>
                <a:gd name="connsiteX11" fmla="*/ 13464 w 34321"/>
                <a:gd name="connsiteY11" fmla="*/ 11332 h 56175"/>
                <a:gd name="connsiteX12" fmla="*/ 15437 w 34321"/>
                <a:gd name="connsiteY12" fmla="*/ 8542 h 56175"/>
                <a:gd name="connsiteX13" fmla="*/ 17078 w 34321"/>
                <a:gd name="connsiteY13" fmla="*/ 5746 h 56175"/>
                <a:gd name="connsiteX14" fmla="*/ 18718 w 34321"/>
                <a:gd name="connsiteY14" fmla="*/ 3447 h 56175"/>
                <a:gd name="connsiteX15" fmla="*/ 19867 w 34321"/>
                <a:gd name="connsiteY15" fmla="*/ 1807 h 56175"/>
                <a:gd name="connsiteX16" fmla="*/ 20691 w 34321"/>
                <a:gd name="connsiteY16" fmla="*/ 491 h 56175"/>
                <a:gd name="connsiteX17" fmla="*/ 21023 w 34321"/>
                <a:gd name="connsiteY17" fmla="*/ 0 h 56175"/>
                <a:gd name="connsiteX18" fmla="*/ 21023 w 34321"/>
                <a:gd name="connsiteY18" fmla="*/ 0 h 56175"/>
                <a:gd name="connsiteX19" fmla="*/ 21023 w 34321"/>
                <a:gd name="connsiteY19" fmla="*/ 0 h 56175"/>
                <a:gd name="connsiteX20" fmla="*/ 17244 w 34321"/>
                <a:gd name="connsiteY20" fmla="*/ 21847 h 56175"/>
                <a:gd name="connsiteX21" fmla="*/ 34321 w 34321"/>
                <a:gd name="connsiteY21" fmla="*/ 22339 h 56175"/>
                <a:gd name="connsiteX22" fmla="*/ 13956 w 34321"/>
                <a:gd name="connsiteY22" fmla="*/ 56175 h 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321" h="56175">
                  <a:moveTo>
                    <a:pt x="13956" y="56175"/>
                  </a:moveTo>
                  <a:lnTo>
                    <a:pt x="18227" y="31040"/>
                  </a:lnTo>
                  <a:lnTo>
                    <a:pt x="0" y="31040"/>
                  </a:lnTo>
                  <a:lnTo>
                    <a:pt x="325" y="30715"/>
                  </a:lnTo>
                  <a:lnTo>
                    <a:pt x="1149" y="29566"/>
                  </a:lnTo>
                  <a:lnTo>
                    <a:pt x="2298" y="27925"/>
                  </a:lnTo>
                  <a:lnTo>
                    <a:pt x="3773" y="25786"/>
                  </a:lnTo>
                  <a:lnTo>
                    <a:pt x="5579" y="23155"/>
                  </a:lnTo>
                  <a:lnTo>
                    <a:pt x="7386" y="20366"/>
                  </a:lnTo>
                  <a:lnTo>
                    <a:pt x="9525" y="17410"/>
                  </a:lnTo>
                  <a:lnTo>
                    <a:pt x="11491" y="14288"/>
                  </a:lnTo>
                  <a:lnTo>
                    <a:pt x="13464" y="11332"/>
                  </a:lnTo>
                  <a:lnTo>
                    <a:pt x="15437" y="8542"/>
                  </a:lnTo>
                  <a:lnTo>
                    <a:pt x="17078" y="5746"/>
                  </a:lnTo>
                  <a:lnTo>
                    <a:pt x="18718" y="3447"/>
                  </a:lnTo>
                  <a:lnTo>
                    <a:pt x="19867" y="1807"/>
                  </a:lnTo>
                  <a:lnTo>
                    <a:pt x="20691" y="491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21023" y="0"/>
                  </a:lnTo>
                  <a:lnTo>
                    <a:pt x="17244" y="21847"/>
                  </a:lnTo>
                  <a:lnTo>
                    <a:pt x="34321" y="22339"/>
                  </a:lnTo>
                  <a:lnTo>
                    <a:pt x="13956" y="56175"/>
                  </a:lnTo>
                </a:path>
              </a:pathLst>
            </a:custGeom>
            <a:solidFill>
              <a:sysClr val="window" lastClr="FFFFFF"/>
            </a:solidFill>
            <a:ln w="688" cap="flat">
              <a:noFill/>
              <a:prstDash val="solid"/>
              <a:miter/>
            </a:ln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altLang="ko-KR" sz="1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</p:grpSp>
      <p:sp>
        <p:nvSpPr>
          <p:cNvPr id="211" name="TextBox 87">
            <a:extLst>
              <a:ext uri="{FF2B5EF4-FFF2-40B4-BE49-F238E27FC236}">
                <a16:creationId xmlns:a16="http://schemas.microsoft.com/office/drawing/2014/main" id="{BA40D0C5-1DF5-4D8B-AB15-64108461FA76}"/>
              </a:ext>
            </a:extLst>
          </p:cNvPr>
          <p:cNvSpPr txBox="1"/>
          <p:nvPr/>
        </p:nvSpPr>
        <p:spPr>
          <a:xfrm>
            <a:off x="10212248" y="4288548"/>
            <a:ext cx="21413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ko-KR" sz="1600" b="0" i="0" u="none" strike="noStrike" kern="1200" cap="none" spc="0" normalizeH="0" baseline="0" dirty="0">
                <a:ln>
                  <a:noFill/>
                </a:ln>
                <a:solidFill>
                  <a:srgbClr val="4EBED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1" lang="ko-KR" altLang="en-US" sz="1600" b="0" i="0" u="none" strike="noStrike" kern="1200" cap="none" spc="0" normalizeH="0" baseline="0" dirty="0">
              <a:ln>
                <a:noFill/>
              </a:ln>
              <a:solidFill>
                <a:srgbClr val="4EBED1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7F82ED1F-7447-4A8E-9F71-C7FCCF80FB22}"/>
              </a:ext>
            </a:extLst>
          </p:cNvPr>
          <p:cNvSpPr>
            <a:spLocks/>
          </p:cNvSpPr>
          <p:nvPr/>
        </p:nvSpPr>
        <p:spPr bwMode="auto">
          <a:xfrm>
            <a:off x="10497502" y="4330658"/>
            <a:ext cx="162000" cy="162000"/>
          </a:xfrm>
          <a:prstGeom prst="ellipse">
            <a:avLst/>
          </a:prstGeom>
          <a:solidFill>
            <a:srgbClr val="4EBE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800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9F95F718-EE5A-41D7-8C4C-2DF1B5C2A7D5}"/>
              </a:ext>
            </a:extLst>
          </p:cNvPr>
          <p:cNvSpPr>
            <a:spLocks/>
          </p:cNvSpPr>
          <p:nvPr/>
        </p:nvSpPr>
        <p:spPr bwMode="auto">
          <a:xfrm>
            <a:off x="10730621" y="4330658"/>
            <a:ext cx="162000" cy="162000"/>
          </a:xfrm>
          <a:prstGeom prst="ellipse">
            <a:avLst/>
          </a:prstGeom>
          <a:solidFill>
            <a:srgbClr val="4EBE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800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  <a:endParaRPr kumimoji="1" lang="en-US" altLang="ko-KR" sz="1200" b="1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949750F3-47F3-4359-AFB4-DBDC4470E391}"/>
              </a:ext>
            </a:extLst>
          </p:cNvPr>
          <p:cNvSpPr>
            <a:spLocks/>
          </p:cNvSpPr>
          <p:nvPr/>
        </p:nvSpPr>
        <p:spPr bwMode="auto">
          <a:xfrm>
            <a:off x="10963740" y="4330658"/>
            <a:ext cx="162000" cy="162000"/>
          </a:xfrm>
          <a:prstGeom prst="ellipse">
            <a:avLst/>
          </a:prstGeom>
          <a:solidFill>
            <a:srgbClr val="4EBE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8000" numCol="1" rtlCol="0" anchor="ctr" anchorCtr="1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620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  <a:endParaRPr kumimoji="1" lang="en-US" altLang="ko-KR" sz="1200" b="1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7" name="실행 단추: 앞으로 또는 다음 7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C3D97A1-8C7E-4358-875C-604F6E89A11B}"/>
              </a:ext>
            </a:extLst>
          </p:cNvPr>
          <p:cNvSpPr/>
          <p:nvPr/>
        </p:nvSpPr>
        <p:spPr>
          <a:xfrm>
            <a:off x="11196859" y="4321658"/>
            <a:ext cx="180000" cy="180000"/>
          </a:xfrm>
          <a:prstGeom prst="actionButtonForwardNext">
            <a:avLst/>
          </a:prstGeom>
          <a:solidFill>
            <a:srgbClr val="FFFFFF"/>
          </a:solidFill>
          <a:ln w="3175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18" name="Picture 289" descr="화살표">
            <a:extLst>
              <a:ext uri="{FF2B5EF4-FFF2-40B4-BE49-F238E27FC236}">
                <a16:creationId xmlns:a16="http://schemas.microsoft.com/office/drawing/2014/main" id="{DD1892DB-529A-4977-B4C0-0DD1734B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4194" t="70580" r="14194"/>
          <a:stretch>
            <a:fillRect/>
          </a:stretch>
        </p:blipFill>
        <p:spPr bwMode="auto">
          <a:xfrm rot="10800000">
            <a:off x="9919444" y="4490837"/>
            <a:ext cx="891429" cy="505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0BFE3C2A-A26E-4D67-8614-4BC5A7B237B0}"/>
              </a:ext>
            </a:extLst>
          </p:cNvPr>
          <p:cNvGrpSpPr/>
          <p:nvPr/>
        </p:nvGrpSpPr>
        <p:grpSpPr>
          <a:xfrm>
            <a:off x="10676754" y="4588135"/>
            <a:ext cx="945394" cy="386907"/>
            <a:chOff x="1453643" y="5733256"/>
            <a:chExt cx="1317305" cy="681092"/>
          </a:xfrm>
        </p:grpSpPr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3D8508DD-E86F-4087-A7C9-37494201B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643" y="5733256"/>
              <a:ext cx="182910" cy="681092"/>
            </a:xfrm>
            <a:custGeom>
              <a:avLst/>
              <a:gdLst>
                <a:gd name="T0" fmla="*/ 642 w 642"/>
                <a:gd name="T1" fmla="*/ 4157 h 4157"/>
                <a:gd name="T2" fmla="*/ 0 w 642"/>
                <a:gd name="T3" fmla="*/ 4157 h 4157"/>
                <a:gd name="T4" fmla="*/ 0 w 642"/>
                <a:gd name="T5" fmla="*/ 0 h 4157"/>
                <a:gd name="T6" fmla="*/ 642 w 642"/>
                <a:gd name="T7" fmla="*/ 0 h 4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2" h="4157">
                  <a:moveTo>
                    <a:pt x="642" y="4157"/>
                  </a:moveTo>
                  <a:lnTo>
                    <a:pt x="0" y="4157"/>
                  </a:lnTo>
                  <a:lnTo>
                    <a:pt x="0" y="0"/>
                  </a:lnTo>
                  <a:lnTo>
                    <a:pt x="642" y="0"/>
                  </a:lnTo>
                </a:path>
              </a:pathLst>
            </a:custGeom>
            <a:noFill/>
            <a:ln w="57150" cap="flat">
              <a:solidFill>
                <a:srgbClr val="D8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1" name="Freeform 6">
              <a:extLst>
                <a:ext uri="{FF2B5EF4-FFF2-40B4-BE49-F238E27FC236}">
                  <a16:creationId xmlns:a16="http://schemas.microsoft.com/office/drawing/2014/main" id="{5DE57F5A-2E5D-4F5C-A6D4-3FD06674A85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88037" y="5733256"/>
              <a:ext cx="182911" cy="681092"/>
            </a:xfrm>
            <a:custGeom>
              <a:avLst/>
              <a:gdLst>
                <a:gd name="T0" fmla="*/ 642 w 642"/>
                <a:gd name="T1" fmla="*/ 4157 h 4157"/>
                <a:gd name="T2" fmla="*/ 0 w 642"/>
                <a:gd name="T3" fmla="*/ 4157 h 4157"/>
                <a:gd name="T4" fmla="*/ 0 w 642"/>
                <a:gd name="T5" fmla="*/ 0 h 4157"/>
                <a:gd name="T6" fmla="*/ 642 w 642"/>
                <a:gd name="T7" fmla="*/ 0 h 4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2" h="4157">
                  <a:moveTo>
                    <a:pt x="642" y="4157"/>
                  </a:moveTo>
                  <a:lnTo>
                    <a:pt x="0" y="4157"/>
                  </a:lnTo>
                  <a:lnTo>
                    <a:pt x="0" y="0"/>
                  </a:lnTo>
                  <a:lnTo>
                    <a:pt x="642" y="0"/>
                  </a:lnTo>
                </a:path>
              </a:pathLst>
            </a:custGeom>
            <a:noFill/>
            <a:ln w="57150" cap="flat">
              <a:solidFill>
                <a:srgbClr val="D8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22" name="AutoShape 26">
            <a:extLst>
              <a:ext uri="{FF2B5EF4-FFF2-40B4-BE49-F238E27FC236}">
                <a16:creationId xmlns:a16="http://schemas.microsoft.com/office/drawing/2014/main" id="{94F9500B-5D6B-4D37-A66E-6EBDF60BE1B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9411757" y="5641521"/>
            <a:ext cx="1462949" cy="157305"/>
          </a:xfrm>
          <a:prstGeom prst="triangle">
            <a:avLst>
              <a:gd name="adj" fmla="val 50005"/>
            </a:avLst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BCB27F2-A33E-4539-8181-D33A5B322A6E}"/>
              </a:ext>
            </a:extLst>
          </p:cNvPr>
          <p:cNvSpPr txBox="1"/>
          <p:nvPr/>
        </p:nvSpPr>
        <p:spPr>
          <a:xfrm>
            <a:off x="10263044" y="5431176"/>
            <a:ext cx="1260000" cy="167143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dirty="0">
                <a:solidFill>
                  <a:srgbClr val="008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부연설명을 입력하세요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4" name="모서리가 둥근 직사각형 154">
            <a:extLst>
              <a:ext uri="{FF2B5EF4-FFF2-40B4-BE49-F238E27FC236}">
                <a16:creationId xmlns:a16="http://schemas.microsoft.com/office/drawing/2014/main" id="{073C01D4-0A24-42EC-ABCA-E2791047650C}"/>
              </a:ext>
            </a:extLst>
          </p:cNvPr>
          <p:cNvSpPr/>
          <p:nvPr/>
        </p:nvSpPr>
        <p:spPr>
          <a:xfrm>
            <a:off x="10260775" y="5106363"/>
            <a:ext cx="756000" cy="158400"/>
          </a:xfrm>
          <a:prstGeom prst="roundRect">
            <a:avLst/>
          </a:prstGeom>
          <a:solidFill>
            <a:srgbClr val="4BBDCF"/>
          </a:solidFill>
          <a:ln w="635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000" tIns="0" rIns="1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>
                <a:solidFill>
                  <a:prstClr val="white">
                    <a:lumMod val="9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부서명입력용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5" name="실행 단추: 홈 3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0EE0339-4DE1-4AFF-9150-60920A351714}"/>
              </a:ext>
            </a:extLst>
          </p:cNvPr>
          <p:cNvSpPr>
            <a:spLocks noChangeAspect="1"/>
          </p:cNvSpPr>
          <p:nvPr/>
        </p:nvSpPr>
        <p:spPr>
          <a:xfrm>
            <a:off x="11447975" y="4321658"/>
            <a:ext cx="180000" cy="180000"/>
          </a:xfrm>
          <a:prstGeom prst="actionButtonHome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dist="12700" dir="2700000" algn="tl" rotWithShape="0">
              <a:sysClr val="window" lastClr="FFFFFF">
                <a:lumMod val="6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8503838B-4680-426C-AB5A-3669EAF9AE7A}"/>
              </a:ext>
            </a:extLst>
          </p:cNvPr>
          <p:cNvCxnSpPr>
            <a:cxnSpLocks/>
          </p:cNvCxnSpPr>
          <p:nvPr/>
        </p:nvCxnSpPr>
        <p:spPr bwMode="auto">
          <a:xfrm>
            <a:off x="10260775" y="5341182"/>
            <a:ext cx="1059545" cy="0"/>
          </a:xfrm>
          <a:prstGeom prst="line">
            <a:avLst/>
          </a:prstGeom>
          <a:solidFill>
            <a:sysClr val="window" lastClr="FFFFFF"/>
          </a:solidFill>
          <a:ln w="15875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6131567A-2C5A-41AB-B2F1-AD3D2906A442}"/>
              </a:ext>
            </a:extLst>
          </p:cNvPr>
          <p:cNvCxnSpPr>
            <a:cxnSpLocks/>
          </p:cNvCxnSpPr>
          <p:nvPr/>
        </p:nvCxnSpPr>
        <p:spPr bwMode="auto">
          <a:xfrm rot="7200000">
            <a:off x="11195103" y="5337247"/>
            <a:ext cx="108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8DEEAAA9-9CC1-4AF0-B477-B0270D4FC420}"/>
              </a:ext>
            </a:extLst>
          </p:cNvPr>
          <p:cNvCxnSpPr>
            <a:cxnSpLocks/>
          </p:cNvCxnSpPr>
          <p:nvPr/>
        </p:nvCxnSpPr>
        <p:spPr bwMode="auto">
          <a:xfrm rot="7200000">
            <a:off x="11228434" y="5337247"/>
            <a:ext cx="108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rgbClr val="4BBDC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9" name="그래픽 10">
            <a:extLst>
              <a:ext uri="{FF2B5EF4-FFF2-40B4-BE49-F238E27FC236}">
                <a16:creationId xmlns:a16="http://schemas.microsoft.com/office/drawing/2014/main" id="{152C4CEE-D276-47B9-A44B-812060B8149C}"/>
              </a:ext>
            </a:extLst>
          </p:cNvPr>
          <p:cNvSpPr/>
          <p:nvPr/>
        </p:nvSpPr>
        <p:spPr>
          <a:xfrm>
            <a:off x="10390654" y="5928539"/>
            <a:ext cx="121908" cy="171284"/>
          </a:xfrm>
          <a:custGeom>
            <a:avLst/>
            <a:gdLst>
              <a:gd name="connsiteX0" fmla="*/ 44459 w 201054"/>
              <a:gd name="connsiteY0" fmla="*/ 184382 h 282489"/>
              <a:gd name="connsiteX1" fmla="*/ 57223 w 201054"/>
              <a:gd name="connsiteY1" fmla="*/ 207909 h 282489"/>
              <a:gd name="connsiteX2" fmla="*/ 57223 w 201054"/>
              <a:gd name="connsiteY2" fmla="*/ 216291 h 282489"/>
              <a:gd name="connsiteX3" fmla="*/ 57223 w 201054"/>
              <a:gd name="connsiteY3" fmla="*/ 216291 h 282489"/>
              <a:gd name="connsiteX4" fmla="*/ 57223 w 201054"/>
              <a:gd name="connsiteY4" fmla="*/ 260296 h 282489"/>
              <a:gd name="connsiteX5" fmla="*/ 61604 w 201054"/>
              <a:gd name="connsiteY5" fmla="*/ 269440 h 282489"/>
              <a:gd name="connsiteX6" fmla="*/ 73891 w 201054"/>
              <a:gd name="connsiteY6" fmla="*/ 279727 h 282489"/>
              <a:gd name="connsiteX7" fmla="*/ 81416 w 201054"/>
              <a:gd name="connsiteY7" fmla="*/ 282489 h 282489"/>
              <a:gd name="connsiteX8" fmla="*/ 119421 w 201054"/>
              <a:gd name="connsiteY8" fmla="*/ 282489 h 282489"/>
              <a:gd name="connsiteX9" fmla="*/ 126946 w 201054"/>
              <a:gd name="connsiteY9" fmla="*/ 279727 h 282489"/>
              <a:gd name="connsiteX10" fmla="*/ 139233 w 201054"/>
              <a:gd name="connsiteY10" fmla="*/ 269440 h 282489"/>
              <a:gd name="connsiteX11" fmla="*/ 143519 w 201054"/>
              <a:gd name="connsiteY11" fmla="*/ 260296 h 282489"/>
              <a:gd name="connsiteX12" fmla="*/ 143519 w 201054"/>
              <a:gd name="connsiteY12" fmla="*/ 207337 h 282489"/>
              <a:gd name="connsiteX13" fmla="*/ 155711 w 201054"/>
              <a:gd name="connsiteY13" fmla="*/ 184858 h 282489"/>
              <a:gd name="connsiteX14" fmla="*/ 201050 w 201054"/>
              <a:gd name="connsiteY14" fmla="*/ 100562 h 282489"/>
              <a:gd name="connsiteX15" fmla="*/ 89417 w 201054"/>
              <a:gd name="connsiteY15" fmla="*/ 645 h 282489"/>
              <a:gd name="connsiteX16" fmla="*/ 89417 w 201054"/>
              <a:gd name="connsiteY16" fmla="*/ 645 h 282489"/>
              <a:gd name="connsiteX17" fmla="*/ 739 w 201054"/>
              <a:gd name="connsiteY17" fmla="*/ 88179 h 282489"/>
              <a:gd name="connsiteX18" fmla="*/ 44459 w 201054"/>
              <a:gd name="connsiteY18" fmla="*/ 184382 h 282489"/>
              <a:gd name="connsiteX19" fmla="*/ 118564 w 201054"/>
              <a:gd name="connsiteY19" fmla="*/ 48841 h 282489"/>
              <a:gd name="connsiteX20" fmla="*/ 106753 w 201054"/>
              <a:gd name="connsiteY20" fmla="*/ 93323 h 282489"/>
              <a:gd name="connsiteX21" fmla="*/ 133042 w 201054"/>
              <a:gd name="connsiteY21" fmla="*/ 93323 h 282489"/>
              <a:gd name="connsiteX22" fmla="*/ 82559 w 201054"/>
              <a:gd name="connsiteY22" fmla="*/ 158474 h 282489"/>
              <a:gd name="connsiteX23" fmla="*/ 94370 w 201054"/>
              <a:gd name="connsiteY23" fmla="*/ 117326 h 282489"/>
              <a:gd name="connsiteX24" fmla="*/ 68081 w 201054"/>
              <a:gd name="connsiteY24" fmla="*/ 117326 h 282489"/>
              <a:gd name="connsiteX25" fmla="*/ 118564 w 201054"/>
              <a:gd name="connsiteY25" fmla="*/ 48841 h 282489"/>
              <a:gd name="connsiteX26" fmla="*/ 57699 w 201054"/>
              <a:gd name="connsiteY26" fmla="*/ 216195 h 282489"/>
              <a:gd name="connsiteX27" fmla="*/ 57699 w 201054"/>
              <a:gd name="connsiteY27" fmla="*/ 211433 h 282489"/>
              <a:gd name="connsiteX28" fmla="*/ 143519 w 201054"/>
              <a:gd name="connsiteY28" fmla="*/ 211433 h 282489"/>
              <a:gd name="connsiteX29" fmla="*/ 143519 w 201054"/>
              <a:gd name="connsiteY29" fmla="*/ 216195 h 282489"/>
              <a:gd name="connsiteX30" fmla="*/ 143519 w 201054"/>
              <a:gd name="connsiteY30" fmla="*/ 220958 h 282489"/>
              <a:gd name="connsiteX31" fmla="*/ 57699 w 201054"/>
              <a:gd name="connsiteY31" fmla="*/ 220958 h 282489"/>
              <a:gd name="connsiteX32" fmla="*/ 57699 w 201054"/>
              <a:gd name="connsiteY32" fmla="*/ 216195 h 282489"/>
              <a:gd name="connsiteX33" fmla="*/ 57699 w 201054"/>
              <a:gd name="connsiteY33" fmla="*/ 243723 h 282489"/>
              <a:gd name="connsiteX34" fmla="*/ 57699 w 201054"/>
              <a:gd name="connsiteY34" fmla="*/ 238960 h 282489"/>
              <a:gd name="connsiteX35" fmla="*/ 143519 w 201054"/>
              <a:gd name="connsiteY35" fmla="*/ 238960 h 282489"/>
              <a:gd name="connsiteX36" fmla="*/ 143519 w 201054"/>
              <a:gd name="connsiteY36" fmla="*/ 243723 h 282489"/>
              <a:gd name="connsiteX37" fmla="*/ 143519 w 201054"/>
              <a:gd name="connsiteY37" fmla="*/ 248485 h 282489"/>
              <a:gd name="connsiteX38" fmla="*/ 57699 w 201054"/>
              <a:gd name="connsiteY38" fmla="*/ 248485 h 282489"/>
              <a:gd name="connsiteX39" fmla="*/ 57699 w 201054"/>
              <a:gd name="connsiteY39" fmla="*/ 243723 h 28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01054" h="282489">
                <a:moveTo>
                  <a:pt x="44459" y="184382"/>
                </a:moveTo>
                <a:cubicBezTo>
                  <a:pt x="52365" y="189525"/>
                  <a:pt x="57223" y="198288"/>
                  <a:pt x="57223" y="207909"/>
                </a:cubicBezTo>
                <a:lnTo>
                  <a:pt x="57223" y="216291"/>
                </a:lnTo>
                <a:lnTo>
                  <a:pt x="57223" y="216291"/>
                </a:lnTo>
                <a:lnTo>
                  <a:pt x="57223" y="260296"/>
                </a:lnTo>
                <a:cubicBezTo>
                  <a:pt x="57223" y="263820"/>
                  <a:pt x="58747" y="267059"/>
                  <a:pt x="61604" y="269440"/>
                </a:cubicBezTo>
                <a:lnTo>
                  <a:pt x="73891" y="279727"/>
                </a:lnTo>
                <a:cubicBezTo>
                  <a:pt x="75892" y="281346"/>
                  <a:pt x="78654" y="282489"/>
                  <a:pt x="81416" y="282489"/>
                </a:cubicBezTo>
                <a:lnTo>
                  <a:pt x="119421" y="282489"/>
                </a:lnTo>
                <a:cubicBezTo>
                  <a:pt x="122183" y="282489"/>
                  <a:pt x="124945" y="281727"/>
                  <a:pt x="126946" y="279727"/>
                </a:cubicBezTo>
                <a:lnTo>
                  <a:pt x="139233" y="269440"/>
                </a:lnTo>
                <a:cubicBezTo>
                  <a:pt x="141995" y="267059"/>
                  <a:pt x="143519" y="263916"/>
                  <a:pt x="143519" y="260296"/>
                </a:cubicBezTo>
                <a:lnTo>
                  <a:pt x="143519" y="207337"/>
                </a:lnTo>
                <a:cubicBezTo>
                  <a:pt x="143805" y="198479"/>
                  <a:pt x="148091" y="189811"/>
                  <a:pt x="155711" y="184858"/>
                </a:cubicBezTo>
                <a:cubicBezTo>
                  <a:pt x="183143" y="166951"/>
                  <a:pt x="201050" y="135900"/>
                  <a:pt x="201050" y="100562"/>
                </a:cubicBezTo>
                <a:cubicBezTo>
                  <a:pt x="201622" y="41221"/>
                  <a:pt x="150282" y="-6118"/>
                  <a:pt x="89417" y="645"/>
                </a:cubicBezTo>
                <a:lnTo>
                  <a:pt x="89417" y="645"/>
                </a:lnTo>
                <a:cubicBezTo>
                  <a:pt x="43697" y="5788"/>
                  <a:pt x="6264" y="42364"/>
                  <a:pt x="739" y="88179"/>
                </a:cubicBezTo>
                <a:cubicBezTo>
                  <a:pt x="-4023" y="127899"/>
                  <a:pt x="14646" y="164094"/>
                  <a:pt x="44459" y="184382"/>
                </a:cubicBezTo>
                <a:close/>
                <a:moveTo>
                  <a:pt x="118564" y="48841"/>
                </a:moveTo>
                <a:lnTo>
                  <a:pt x="106753" y="93323"/>
                </a:lnTo>
                <a:lnTo>
                  <a:pt x="133042" y="93323"/>
                </a:lnTo>
                <a:lnTo>
                  <a:pt x="82559" y="158474"/>
                </a:lnTo>
                <a:lnTo>
                  <a:pt x="94370" y="117326"/>
                </a:lnTo>
                <a:lnTo>
                  <a:pt x="68081" y="117326"/>
                </a:lnTo>
                <a:lnTo>
                  <a:pt x="118564" y="48841"/>
                </a:lnTo>
                <a:close/>
                <a:moveTo>
                  <a:pt x="57699" y="216195"/>
                </a:moveTo>
                <a:lnTo>
                  <a:pt x="57699" y="211433"/>
                </a:lnTo>
                <a:lnTo>
                  <a:pt x="143519" y="211433"/>
                </a:lnTo>
                <a:lnTo>
                  <a:pt x="143519" y="216195"/>
                </a:lnTo>
                <a:lnTo>
                  <a:pt x="143519" y="220958"/>
                </a:lnTo>
                <a:lnTo>
                  <a:pt x="57699" y="220958"/>
                </a:lnTo>
                <a:lnTo>
                  <a:pt x="57699" y="216195"/>
                </a:lnTo>
                <a:close/>
                <a:moveTo>
                  <a:pt x="57699" y="243723"/>
                </a:moveTo>
                <a:lnTo>
                  <a:pt x="57699" y="238960"/>
                </a:lnTo>
                <a:lnTo>
                  <a:pt x="143519" y="238960"/>
                </a:lnTo>
                <a:lnTo>
                  <a:pt x="143519" y="243723"/>
                </a:lnTo>
                <a:lnTo>
                  <a:pt x="143519" y="248485"/>
                </a:lnTo>
                <a:lnTo>
                  <a:pt x="57699" y="248485"/>
                </a:lnTo>
                <a:lnTo>
                  <a:pt x="57699" y="243723"/>
                </a:lnTo>
                <a:close/>
              </a:path>
            </a:pathLst>
          </a:custGeom>
          <a:solidFill>
            <a:srgbClr val="00A5C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LG스마트체2.0 Regular" pitchFamily="50" charset="-127"/>
            </a:endParaRPr>
          </a:p>
        </p:txBody>
      </p:sp>
      <p:grpSp>
        <p:nvGrpSpPr>
          <p:cNvPr id="230" name="그래픽 73">
            <a:extLst>
              <a:ext uri="{FF2B5EF4-FFF2-40B4-BE49-F238E27FC236}">
                <a16:creationId xmlns:a16="http://schemas.microsoft.com/office/drawing/2014/main" id="{7115A2AD-6C94-44A6-8501-D9E3BEB1BFAC}"/>
              </a:ext>
            </a:extLst>
          </p:cNvPr>
          <p:cNvGrpSpPr/>
          <p:nvPr/>
        </p:nvGrpSpPr>
        <p:grpSpPr>
          <a:xfrm>
            <a:off x="11076207" y="5973072"/>
            <a:ext cx="166477" cy="117793"/>
            <a:chOff x="3769514" y="4481281"/>
            <a:chExt cx="263175" cy="186213"/>
          </a:xfrm>
          <a:solidFill>
            <a:srgbClr val="00A5CC"/>
          </a:solidFill>
        </p:grpSpPr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4AE247A0-6A50-487C-B091-E46735E5DD31}"/>
                </a:ext>
              </a:extLst>
            </p:cNvPr>
            <p:cNvSpPr/>
            <p:nvPr/>
          </p:nvSpPr>
          <p:spPr>
            <a:xfrm>
              <a:off x="3769514" y="4481281"/>
              <a:ext cx="263175" cy="186213"/>
            </a:xfrm>
            <a:custGeom>
              <a:avLst/>
              <a:gdLst>
                <a:gd name="connsiteX0" fmla="*/ 247460 w 263175"/>
                <a:gd name="connsiteY0" fmla="*/ 0 h 186213"/>
                <a:gd name="connsiteX1" fmla="*/ 69723 w 263175"/>
                <a:gd name="connsiteY1" fmla="*/ 0 h 186213"/>
                <a:gd name="connsiteX2" fmla="*/ 69723 w 263175"/>
                <a:gd name="connsiteY2" fmla="*/ 44387 h 186213"/>
                <a:gd name="connsiteX3" fmla="*/ 44482 w 263175"/>
                <a:gd name="connsiteY3" fmla="*/ 69628 h 186213"/>
                <a:gd name="connsiteX4" fmla="*/ 0 w 263175"/>
                <a:gd name="connsiteY4" fmla="*/ 69628 h 186213"/>
                <a:gd name="connsiteX5" fmla="*/ 0 w 263175"/>
                <a:gd name="connsiteY5" fmla="*/ 170498 h 186213"/>
                <a:gd name="connsiteX6" fmla="*/ 15716 w 263175"/>
                <a:gd name="connsiteY6" fmla="*/ 186214 h 186213"/>
                <a:gd name="connsiteX7" fmla="*/ 247460 w 263175"/>
                <a:gd name="connsiteY7" fmla="*/ 186214 h 186213"/>
                <a:gd name="connsiteX8" fmla="*/ 263176 w 263175"/>
                <a:gd name="connsiteY8" fmla="*/ 170498 h 186213"/>
                <a:gd name="connsiteX9" fmla="*/ 263176 w 263175"/>
                <a:gd name="connsiteY9" fmla="*/ 15716 h 186213"/>
                <a:gd name="connsiteX10" fmla="*/ 247460 w 263175"/>
                <a:gd name="connsiteY10" fmla="*/ 0 h 186213"/>
                <a:gd name="connsiteX11" fmla="*/ 125921 w 263175"/>
                <a:gd name="connsiteY11" fmla="*/ 136017 h 186213"/>
                <a:gd name="connsiteX12" fmla="*/ 89059 w 263175"/>
                <a:gd name="connsiteY12" fmla="*/ 98774 h 186213"/>
                <a:gd name="connsiteX13" fmla="*/ 92488 w 263175"/>
                <a:gd name="connsiteY13" fmla="*/ 95441 h 186213"/>
                <a:gd name="connsiteX14" fmla="*/ 95917 w 263175"/>
                <a:gd name="connsiteY14" fmla="*/ 92107 h 186213"/>
                <a:gd name="connsiteX15" fmla="*/ 97727 w 263175"/>
                <a:gd name="connsiteY15" fmla="*/ 93917 h 186213"/>
                <a:gd name="connsiteX16" fmla="*/ 126206 w 263175"/>
                <a:gd name="connsiteY16" fmla="*/ 122682 h 186213"/>
                <a:gd name="connsiteX17" fmla="*/ 182213 w 263175"/>
                <a:gd name="connsiteY17" fmla="*/ 69056 h 186213"/>
                <a:gd name="connsiteX18" fmla="*/ 188881 w 263175"/>
                <a:gd name="connsiteY18" fmla="*/ 62675 h 186213"/>
                <a:gd name="connsiteX19" fmla="*/ 192215 w 263175"/>
                <a:gd name="connsiteY19" fmla="*/ 66104 h 186213"/>
                <a:gd name="connsiteX20" fmla="*/ 195263 w 263175"/>
                <a:gd name="connsiteY20" fmla="*/ 69533 h 186213"/>
                <a:gd name="connsiteX21" fmla="*/ 125921 w 263175"/>
                <a:gd name="connsiteY21" fmla="*/ 136017 h 18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3175" h="186213">
                  <a:moveTo>
                    <a:pt x="247460" y="0"/>
                  </a:moveTo>
                  <a:lnTo>
                    <a:pt x="69723" y="0"/>
                  </a:lnTo>
                  <a:lnTo>
                    <a:pt x="69723" y="44387"/>
                  </a:lnTo>
                  <a:cubicBezTo>
                    <a:pt x="69723" y="58293"/>
                    <a:pt x="58388" y="69628"/>
                    <a:pt x="44482" y="69628"/>
                  </a:cubicBezTo>
                  <a:lnTo>
                    <a:pt x="0" y="69628"/>
                  </a:lnTo>
                  <a:lnTo>
                    <a:pt x="0" y="170498"/>
                  </a:lnTo>
                  <a:cubicBezTo>
                    <a:pt x="0" y="179165"/>
                    <a:pt x="7049" y="186214"/>
                    <a:pt x="15716" y="186214"/>
                  </a:cubicBezTo>
                  <a:lnTo>
                    <a:pt x="247460" y="186214"/>
                  </a:lnTo>
                  <a:cubicBezTo>
                    <a:pt x="256127" y="186214"/>
                    <a:pt x="263176" y="179165"/>
                    <a:pt x="263176" y="170498"/>
                  </a:cubicBezTo>
                  <a:lnTo>
                    <a:pt x="263176" y="15716"/>
                  </a:lnTo>
                  <a:cubicBezTo>
                    <a:pt x="263176" y="7049"/>
                    <a:pt x="256127" y="0"/>
                    <a:pt x="247460" y="0"/>
                  </a:cubicBezTo>
                  <a:close/>
                  <a:moveTo>
                    <a:pt x="125921" y="136017"/>
                  </a:moveTo>
                  <a:lnTo>
                    <a:pt x="89059" y="98774"/>
                  </a:lnTo>
                  <a:lnTo>
                    <a:pt x="92488" y="95441"/>
                  </a:lnTo>
                  <a:lnTo>
                    <a:pt x="95917" y="92107"/>
                  </a:lnTo>
                  <a:lnTo>
                    <a:pt x="97727" y="93917"/>
                  </a:lnTo>
                  <a:lnTo>
                    <a:pt x="126206" y="122682"/>
                  </a:lnTo>
                  <a:lnTo>
                    <a:pt x="182213" y="69056"/>
                  </a:lnTo>
                  <a:lnTo>
                    <a:pt x="188881" y="62675"/>
                  </a:lnTo>
                  <a:lnTo>
                    <a:pt x="192215" y="66104"/>
                  </a:lnTo>
                  <a:lnTo>
                    <a:pt x="195263" y="69533"/>
                  </a:lnTo>
                  <a:lnTo>
                    <a:pt x="125921" y="1360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6422486E-1884-4F72-AFD6-09CB29885B1F}"/>
                </a:ext>
              </a:extLst>
            </p:cNvPr>
            <p:cNvSpPr/>
            <p:nvPr/>
          </p:nvSpPr>
          <p:spPr>
            <a:xfrm>
              <a:off x="3769514" y="4481281"/>
              <a:ext cx="60102" cy="60198"/>
            </a:xfrm>
            <a:custGeom>
              <a:avLst/>
              <a:gdLst>
                <a:gd name="connsiteX0" fmla="*/ 44387 w 60102"/>
                <a:gd name="connsiteY0" fmla="*/ 60198 h 60198"/>
                <a:gd name="connsiteX1" fmla="*/ 60103 w 60102"/>
                <a:gd name="connsiteY1" fmla="*/ 44482 h 60198"/>
                <a:gd name="connsiteX2" fmla="*/ 60103 w 60102"/>
                <a:gd name="connsiteY2" fmla="*/ 0 h 60198"/>
                <a:gd name="connsiteX3" fmla="*/ 0 w 60102"/>
                <a:gd name="connsiteY3" fmla="*/ 60198 h 60198"/>
                <a:gd name="connsiteX4" fmla="*/ 44387 w 60102"/>
                <a:gd name="connsiteY4" fmla="*/ 60198 h 60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02" h="60198">
                  <a:moveTo>
                    <a:pt x="44387" y="60198"/>
                  </a:moveTo>
                  <a:cubicBezTo>
                    <a:pt x="53054" y="60198"/>
                    <a:pt x="60103" y="53150"/>
                    <a:pt x="60103" y="44482"/>
                  </a:cubicBezTo>
                  <a:lnTo>
                    <a:pt x="60103" y="0"/>
                  </a:lnTo>
                  <a:lnTo>
                    <a:pt x="0" y="60198"/>
                  </a:lnTo>
                  <a:lnTo>
                    <a:pt x="44387" y="601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</p:grpSp>
      <p:sp>
        <p:nvSpPr>
          <p:cNvPr id="233" name="그래픽 75">
            <a:extLst>
              <a:ext uri="{FF2B5EF4-FFF2-40B4-BE49-F238E27FC236}">
                <a16:creationId xmlns:a16="http://schemas.microsoft.com/office/drawing/2014/main" id="{551206F8-1651-480E-A9BE-E449B787FE3E}"/>
              </a:ext>
            </a:extLst>
          </p:cNvPr>
          <p:cNvSpPr/>
          <p:nvPr/>
        </p:nvSpPr>
        <p:spPr>
          <a:xfrm>
            <a:off x="10360241" y="6179185"/>
            <a:ext cx="182734" cy="162217"/>
          </a:xfrm>
          <a:custGeom>
            <a:avLst/>
            <a:gdLst>
              <a:gd name="connsiteX0" fmla="*/ 284122 w 288872"/>
              <a:gd name="connsiteY0" fmla="*/ 221385 h 256437"/>
              <a:gd name="connsiteX1" fmla="*/ 244688 w 288872"/>
              <a:gd name="connsiteY1" fmla="*/ 153091 h 256437"/>
              <a:gd name="connsiteX2" fmla="*/ 204207 w 288872"/>
              <a:gd name="connsiteY2" fmla="*/ 82891 h 256437"/>
              <a:gd name="connsiteX3" fmla="*/ 164773 w 288872"/>
              <a:gd name="connsiteY3" fmla="*/ 14502 h 256437"/>
              <a:gd name="connsiteX4" fmla="*/ 124292 w 288872"/>
              <a:gd name="connsiteY4" fmla="*/ 14502 h 256437"/>
              <a:gd name="connsiteX5" fmla="*/ 84668 w 288872"/>
              <a:gd name="connsiteY5" fmla="*/ 82891 h 256437"/>
              <a:gd name="connsiteX6" fmla="*/ 44187 w 288872"/>
              <a:gd name="connsiteY6" fmla="*/ 153091 h 256437"/>
              <a:gd name="connsiteX7" fmla="*/ 4753 w 288872"/>
              <a:gd name="connsiteY7" fmla="*/ 221385 h 256437"/>
              <a:gd name="connsiteX8" fmla="*/ 24946 w 288872"/>
              <a:gd name="connsiteY8" fmla="*/ 256437 h 256437"/>
              <a:gd name="connsiteX9" fmla="*/ 103909 w 288872"/>
              <a:gd name="connsiteY9" fmla="*/ 256437 h 256437"/>
              <a:gd name="connsiteX10" fmla="*/ 184871 w 288872"/>
              <a:gd name="connsiteY10" fmla="*/ 256437 h 256437"/>
              <a:gd name="connsiteX11" fmla="*/ 263833 w 288872"/>
              <a:gd name="connsiteY11" fmla="*/ 256437 h 256437"/>
              <a:gd name="connsiteX12" fmla="*/ 284122 w 288872"/>
              <a:gd name="connsiteY12" fmla="*/ 221385 h 256437"/>
              <a:gd name="connsiteX13" fmla="*/ 203445 w 288872"/>
              <a:gd name="connsiteY13" fmla="*/ 182713 h 256437"/>
              <a:gd name="connsiteX14" fmla="*/ 199540 w 288872"/>
              <a:gd name="connsiteY14" fmla="*/ 186619 h 256437"/>
              <a:gd name="connsiteX15" fmla="*/ 164964 w 288872"/>
              <a:gd name="connsiteY15" fmla="*/ 186619 h 256437"/>
              <a:gd name="connsiteX16" fmla="*/ 164964 w 288872"/>
              <a:gd name="connsiteY16" fmla="*/ 221575 h 256437"/>
              <a:gd name="connsiteX17" fmla="*/ 161440 w 288872"/>
              <a:gd name="connsiteY17" fmla="*/ 225100 h 256437"/>
              <a:gd name="connsiteX18" fmla="*/ 127435 w 288872"/>
              <a:gd name="connsiteY18" fmla="*/ 225100 h 256437"/>
              <a:gd name="connsiteX19" fmla="*/ 123911 w 288872"/>
              <a:gd name="connsiteY19" fmla="*/ 221575 h 256437"/>
              <a:gd name="connsiteX20" fmla="*/ 123911 w 288872"/>
              <a:gd name="connsiteY20" fmla="*/ 186619 h 256437"/>
              <a:gd name="connsiteX21" fmla="*/ 89240 w 288872"/>
              <a:gd name="connsiteY21" fmla="*/ 186619 h 256437"/>
              <a:gd name="connsiteX22" fmla="*/ 85335 w 288872"/>
              <a:gd name="connsiteY22" fmla="*/ 182713 h 256437"/>
              <a:gd name="connsiteX23" fmla="*/ 85335 w 288872"/>
              <a:gd name="connsiteY23" fmla="*/ 149376 h 256437"/>
              <a:gd name="connsiteX24" fmla="*/ 89240 w 288872"/>
              <a:gd name="connsiteY24" fmla="*/ 145471 h 256437"/>
              <a:gd name="connsiteX25" fmla="*/ 123816 w 288872"/>
              <a:gd name="connsiteY25" fmla="*/ 145471 h 256437"/>
              <a:gd name="connsiteX26" fmla="*/ 123816 w 288872"/>
              <a:gd name="connsiteY26" fmla="*/ 110514 h 256437"/>
              <a:gd name="connsiteX27" fmla="*/ 127340 w 288872"/>
              <a:gd name="connsiteY27" fmla="*/ 106990 h 256437"/>
              <a:gd name="connsiteX28" fmla="*/ 161344 w 288872"/>
              <a:gd name="connsiteY28" fmla="*/ 106990 h 256437"/>
              <a:gd name="connsiteX29" fmla="*/ 164869 w 288872"/>
              <a:gd name="connsiteY29" fmla="*/ 110514 h 256437"/>
              <a:gd name="connsiteX30" fmla="*/ 164869 w 288872"/>
              <a:gd name="connsiteY30" fmla="*/ 145471 h 256437"/>
              <a:gd name="connsiteX31" fmla="*/ 199444 w 288872"/>
              <a:gd name="connsiteY31" fmla="*/ 145471 h 256437"/>
              <a:gd name="connsiteX32" fmla="*/ 203350 w 288872"/>
              <a:gd name="connsiteY32" fmla="*/ 149376 h 256437"/>
              <a:gd name="connsiteX33" fmla="*/ 203350 w 288872"/>
              <a:gd name="connsiteY33" fmla="*/ 182713 h 256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88872" h="256437">
                <a:moveTo>
                  <a:pt x="284122" y="221385"/>
                </a:moveTo>
                <a:lnTo>
                  <a:pt x="244688" y="153091"/>
                </a:lnTo>
                <a:cubicBezTo>
                  <a:pt x="233544" y="133755"/>
                  <a:pt x="215351" y="102227"/>
                  <a:pt x="204207" y="82891"/>
                </a:cubicBezTo>
                <a:lnTo>
                  <a:pt x="164773" y="14502"/>
                </a:lnTo>
                <a:cubicBezTo>
                  <a:pt x="153629" y="-4834"/>
                  <a:pt x="135436" y="-4834"/>
                  <a:pt x="124292" y="14502"/>
                </a:cubicBezTo>
                <a:lnTo>
                  <a:pt x="84668" y="82891"/>
                </a:lnTo>
                <a:cubicBezTo>
                  <a:pt x="73524" y="102227"/>
                  <a:pt x="55331" y="133755"/>
                  <a:pt x="44187" y="153091"/>
                </a:cubicBezTo>
                <a:lnTo>
                  <a:pt x="4753" y="221385"/>
                </a:lnTo>
                <a:cubicBezTo>
                  <a:pt x="-6391" y="240721"/>
                  <a:pt x="2753" y="256437"/>
                  <a:pt x="24946" y="256437"/>
                </a:cubicBezTo>
                <a:lnTo>
                  <a:pt x="103909" y="256437"/>
                </a:lnTo>
                <a:cubicBezTo>
                  <a:pt x="126197" y="256437"/>
                  <a:pt x="162678" y="256437"/>
                  <a:pt x="184871" y="256437"/>
                </a:cubicBezTo>
                <a:lnTo>
                  <a:pt x="263833" y="256437"/>
                </a:lnTo>
                <a:cubicBezTo>
                  <a:pt x="286122" y="256532"/>
                  <a:pt x="295266" y="240721"/>
                  <a:pt x="284122" y="221385"/>
                </a:cubicBezTo>
                <a:close/>
                <a:moveTo>
                  <a:pt x="203445" y="182713"/>
                </a:moveTo>
                <a:cubicBezTo>
                  <a:pt x="203445" y="184809"/>
                  <a:pt x="201730" y="186619"/>
                  <a:pt x="199540" y="186619"/>
                </a:cubicBezTo>
                <a:lnTo>
                  <a:pt x="164964" y="186619"/>
                </a:lnTo>
                <a:lnTo>
                  <a:pt x="164964" y="221575"/>
                </a:lnTo>
                <a:cubicBezTo>
                  <a:pt x="164964" y="223576"/>
                  <a:pt x="163345" y="225100"/>
                  <a:pt x="161440" y="225100"/>
                </a:cubicBezTo>
                <a:lnTo>
                  <a:pt x="127435" y="225100"/>
                </a:lnTo>
                <a:cubicBezTo>
                  <a:pt x="125435" y="225100"/>
                  <a:pt x="123911" y="223480"/>
                  <a:pt x="123911" y="221575"/>
                </a:cubicBezTo>
                <a:lnTo>
                  <a:pt x="123911" y="186619"/>
                </a:lnTo>
                <a:lnTo>
                  <a:pt x="89240" y="186619"/>
                </a:lnTo>
                <a:cubicBezTo>
                  <a:pt x="87145" y="186619"/>
                  <a:pt x="85335" y="184904"/>
                  <a:pt x="85335" y="182713"/>
                </a:cubicBezTo>
                <a:lnTo>
                  <a:pt x="85335" y="149376"/>
                </a:lnTo>
                <a:cubicBezTo>
                  <a:pt x="85335" y="147280"/>
                  <a:pt x="87049" y="145471"/>
                  <a:pt x="89240" y="145471"/>
                </a:cubicBezTo>
                <a:lnTo>
                  <a:pt x="123816" y="145471"/>
                </a:lnTo>
                <a:lnTo>
                  <a:pt x="123816" y="110514"/>
                </a:lnTo>
                <a:cubicBezTo>
                  <a:pt x="123816" y="108514"/>
                  <a:pt x="125435" y="106990"/>
                  <a:pt x="127340" y="106990"/>
                </a:cubicBezTo>
                <a:lnTo>
                  <a:pt x="161344" y="106990"/>
                </a:lnTo>
                <a:cubicBezTo>
                  <a:pt x="163345" y="106990"/>
                  <a:pt x="164869" y="108609"/>
                  <a:pt x="164869" y="110514"/>
                </a:cubicBezTo>
                <a:lnTo>
                  <a:pt x="164869" y="145471"/>
                </a:lnTo>
                <a:lnTo>
                  <a:pt x="199444" y="145471"/>
                </a:lnTo>
                <a:cubicBezTo>
                  <a:pt x="201540" y="145471"/>
                  <a:pt x="203350" y="147185"/>
                  <a:pt x="203350" y="149376"/>
                </a:cubicBezTo>
                <a:lnTo>
                  <a:pt x="203350" y="182713"/>
                </a:lnTo>
                <a:close/>
              </a:path>
            </a:pathLst>
          </a:custGeom>
          <a:solidFill>
            <a:srgbClr val="00A5C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solidFill>
                <a:schemeClr val="bg1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pSp>
        <p:nvGrpSpPr>
          <p:cNvPr id="234" name="그래픽 15">
            <a:extLst>
              <a:ext uri="{FF2B5EF4-FFF2-40B4-BE49-F238E27FC236}">
                <a16:creationId xmlns:a16="http://schemas.microsoft.com/office/drawing/2014/main" id="{CBE5CCBF-B8C4-4232-B298-078572149E0B}"/>
              </a:ext>
            </a:extLst>
          </p:cNvPr>
          <p:cNvGrpSpPr/>
          <p:nvPr/>
        </p:nvGrpSpPr>
        <p:grpSpPr>
          <a:xfrm>
            <a:off x="10696369" y="5928425"/>
            <a:ext cx="195967" cy="174584"/>
            <a:chOff x="4405312" y="2710656"/>
            <a:chExt cx="329088" cy="293179"/>
          </a:xfrm>
          <a:solidFill>
            <a:srgbClr val="00A5CC"/>
          </a:solidFill>
        </p:grpSpPr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D35B8EBB-7EEA-455B-8170-1D7853B8CBB6}"/>
                </a:ext>
              </a:extLst>
            </p:cNvPr>
            <p:cNvSpPr/>
            <p:nvPr/>
          </p:nvSpPr>
          <p:spPr>
            <a:xfrm>
              <a:off x="4449793" y="2804524"/>
              <a:ext cx="284606" cy="199310"/>
            </a:xfrm>
            <a:custGeom>
              <a:avLst/>
              <a:gdLst>
                <a:gd name="connsiteX0" fmla="*/ 277749 w 284606"/>
                <a:gd name="connsiteY0" fmla="*/ 54912 h 199310"/>
                <a:gd name="connsiteX1" fmla="*/ 251460 w 284606"/>
                <a:gd name="connsiteY1" fmla="*/ 51387 h 199310"/>
                <a:gd name="connsiteX2" fmla="*/ 234220 w 284606"/>
                <a:gd name="connsiteY2" fmla="*/ 18812 h 199310"/>
                <a:gd name="connsiteX3" fmla="*/ 211836 w 284606"/>
                <a:gd name="connsiteY3" fmla="*/ 4715 h 199310"/>
                <a:gd name="connsiteX4" fmla="*/ 211836 w 284606"/>
                <a:gd name="connsiteY4" fmla="*/ 4715 h 199310"/>
                <a:gd name="connsiteX5" fmla="*/ 72200 w 284606"/>
                <a:gd name="connsiteY5" fmla="*/ 4715 h 199310"/>
                <a:gd name="connsiteX6" fmla="*/ 50197 w 284606"/>
                <a:gd name="connsiteY6" fmla="*/ 18812 h 199310"/>
                <a:gd name="connsiteX7" fmla="*/ 32576 w 284606"/>
                <a:gd name="connsiteY7" fmla="*/ 51387 h 199310"/>
                <a:gd name="connsiteX8" fmla="*/ 6286 w 284606"/>
                <a:gd name="connsiteY8" fmla="*/ 54912 h 199310"/>
                <a:gd name="connsiteX9" fmla="*/ 0 w 284606"/>
                <a:gd name="connsiteY9" fmla="*/ 61198 h 199310"/>
                <a:gd name="connsiteX10" fmla="*/ 0 w 284606"/>
                <a:gd name="connsiteY10" fmla="*/ 67866 h 199310"/>
                <a:gd name="connsiteX11" fmla="*/ 5524 w 284606"/>
                <a:gd name="connsiteY11" fmla="*/ 73390 h 199310"/>
                <a:gd name="connsiteX12" fmla="*/ 20860 w 284606"/>
                <a:gd name="connsiteY12" fmla="*/ 73390 h 199310"/>
                <a:gd name="connsiteX13" fmla="*/ 7048 w 284606"/>
                <a:gd name="connsiteY13" fmla="*/ 96250 h 199310"/>
                <a:gd name="connsiteX14" fmla="*/ 11144 w 284606"/>
                <a:gd name="connsiteY14" fmla="*/ 99108 h 199310"/>
                <a:gd name="connsiteX15" fmla="*/ 10668 w 284606"/>
                <a:gd name="connsiteY15" fmla="*/ 116253 h 199310"/>
                <a:gd name="connsiteX16" fmla="*/ 4953 w 284606"/>
                <a:gd name="connsiteY16" fmla="*/ 113490 h 199310"/>
                <a:gd name="connsiteX17" fmla="*/ 4858 w 284606"/>
                <a:gd name="connsiteY17" fmla="*/ 114919 h 199310"/>
                <a:gd name="connsiteX18" fmla="*/ 4858 w 284606"/>
                <a:gd name="connsiteY18" fmla="*/ 191024 h 199310"/>
                <a:gd name="connsiteX19" fmla="*/ 13145 w 284606"/>
                <a:gd name="connsiteY19" fmla="*/ 199311 h 199310"/>
                <a:gd name="connsiteX20" fmla="*/ 50768 w 284606"/>
                <a:gd name="connsiteY20" fmla="*/ 199311 h 199310"/>
                <a:gd name="connsiteX21" fmla="*/ 59055 w 284606"/>
                <a:gd name="connsiteY21" fmla="*/ 191024 h 199310"/>
                <a:gd name="connsiteX22" fmla="*/ 59055 w 284606"/>
                <a:gd name="connsiteY22" fmla="*/ 180832 h 199310"/>
                <a:gd name="connsiteX23" fmla="*/ 225362 w 284606"/>
                <a:gd name="connsiteY23" fmla="*/ 180832 h 199310"/>
                <a:gd name="connsiteX24" fmla="*/ 225362 w 284606"/>
                <a:gd name="connsiteY24" fmla="*/ 191024 h 199310"/>
                <a:gd name="connsiteX25" fmla="*/ 234029 w 284606"/>
                <a:gd name="connsiteY25" fmla="*/ 199311 h 199310"/>
                <a:gd name="connsiteX26" fmla="*/ 271653 w 284606"/>
                <a:gd name="connsiteY26" fmla="*/ 199311 h 199310"/>
                <a:gd name="connsiteX27" fmla="*/ 279845 w 284606"/>
                <a:gd name="connsiteY27" fmla="*/ 191024 h 199310"/>
                <a:gd name="connsiteX28" fmla="*/ 279463 w 284606"/>
                <a:gd name="connsiteY28" fmla="*/ 114919 h 199310"/>
                <a:gd name="connsiteX29" fmla="*/ 263747 w 284606"/>
                <a:gd name="connsiteY29" fmla="*/ 73390 h 199310"/>
                <a:gd name="connsiteX30" fmla="*/ 279083 w 284606"/>
                <a:gd name="connsiteY30" fmla="*/ 73390 h 199310"/>
                <a:gd name="connsiteX31" fmla="*/ 284607 w 284606"/>
                <a:gd name="connsiteY31" fmla="*/ 67866 h 199310"/>
                <a:gd name="connsiteX32" fmla="*/ 284607 w 284606"/>
                <a:gd name="connsiteY32" fmla="*/ 61198 h 199310"/>
                <a:gd name="connsiteX33" fmla="*/ 277749 w 284606"/>
                <a:gd name="connsiteY33" fmla="*/ 54912 h 199310"/>
                <a:gd name="connsiteX34" fmla="*/ 25527 w 284606"/>
                <a:gd name="connsiteY34" fmla="*/ 143875 h 199310"/>
                <a:gd name="connsiteX35" fmla="*/ 25527 w 284606"/>
                <a:gd name="connsiteY35" fmla="*/ 115205 h 199310"/>
                <a:gd name="connsiteX36" fmla="*/ 54959 w 284606"/>
                <a:gd name="connsiteY36" fmla="*/ 115205 h 199310"/>
                <a:gd name="connsiteX37" fmla="*/ 66770 w 284606"/>
                <a:gd name="connsiteY37" fmla="*/ 143875 h 199310"/>
                <a:gd name="connsiteX38" fmla="*/ 25527 w 284606"/>
                <a:gd name="connsiteY38" fmla="*/ 143875 h 199310"/>
                <a:gd name="connsiteX39" fmla="*/ 46768 w 284606"/>
                <a:gd name="connsiteY39" fmla="*/ 58436 h 199310"/>
                <a:gd name="connsiteX40" fmla="*/ 62103 w 284606"/>
                <a:gd name="connsiteY40" fmla="*/ 28623 h 199310"/>
                <a:gd name="connsiteX41" fmla="*/ 73914 w 284606"/>
                <a:gd name="connsiteY41" fmla="*/ 20431 h 199310"/>
                <a:gd name="connsiteX42" fmla="*/ 210788 w 284606"/>
                <a:gd name="connsiteY42" fmla="*/ 20431 h 199310"/>
                <a:gd name="connsiteX43" fmla="*/ 222599 w 284606"/>
                <a:gd name="connsiteY43" fmla="*/ 28623 h 199310"/>
                <a:gd name="connsiteX44" fmla="*/ 237458 w 284606"/>
                <a:gd name="connsiteY44" fmla="*/ 58436 h 199310"/>
                <a:gd name="connsiteX45" fmla="*/ 46768 w 284606"/>
                <a:gd name="connsiteY45" fmla="*/ 58436 h 199310"/>
                <a:gd name="connsiteX46" fmla="*/ 258509 w 284606"/>
                <a:gd name="connsiteY46" fmla="*/ 143875 h 199310"/>
                <a:gd name="connsiteX47" fmla="*/ 217361 w 284606"/>
                <a:gd name="connsiteY47" fmla="*/ 143875 h 199310"/>
                <a:gd name="connsiteX48" fmla="*/ 229553 w 284606"/>
                <a:gd name="connsiteY48" fmla="*/ 115205 h 199310"/>
                <a:gd name="connsiteX49" fmla="*/ 258604 w 284606"/>
                <a:gd name="connsiteY49" fmla="*/ 115205 h 199310"/>
                <a:gd name="connsiteX50" fmla="*/ 258604 w 284606"/>
                <a:gd name="connsiteY50" fmla="*/ 143875 h 19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84606" h="199310">
                  <a:moveTo>
                    <a:pt x="277749" y="54912"/>
                  </a:moveTo>
                  <a:lnTo>
                    <a:pt x="251460" y="51387"/>
                  </a:lnTo>
                  <a:lnTo>
                    <a:pt x="234220" y="18812"/>
                  </a:lnTo>
                  <a:cubicBezTo>
                    <a:pt x="232696" y="16812"/>
                    <a:pt x="223266" y="6620"/>
                    <a:pt x="211836" y="4715"/>
                  </a:cubicBezTo>
                  <a:lnTo>
                    <a:pt x="211836" y="4715"/>
                  </a:lnTo>
                  <a:cubicBezTo>
                    <a:pt x="168688" y="-1572"/>
                    <a:pt x="115729" y="-1572"/>
                    <a:pt x="72200" y="4715"/>
                  </a:cubicBezTo>
                  <a:cubicBezTo>
                    <a:pt x="60865" y="6715"/>
                    <a:pt x="51816" y="16907"/>
                    <a:pt x="50197" y="18812"/>
                  </a:cubicBezTo>
                  <a:lnTo>
                    <a:pt x="32576" y="51387"/>
                  </a:lnTo>
                  <a:lnTo>
                    <a:pt x="6286" y="54912"/>
                  </a:lnTo>
                  <a:cubicBezTo>
                    <a:pt x="3524" y="55293"/>
                    <a:pt x="0" y="58055"/>
                    <a:pt x="0" y="61198"/>
                  </a:cubicBezTo>
                  <a:lnTo>
                    <a:pt x="0" y="67866"/>
                  </a:lnTo>
                  <a:cubicBezTo>
                    <a:pt x="0" y="71009"/>
                    <a:pt x="2381" y="73390"/>
                    <a:pt x="5524" y="73390"/>
                  </a:cubicBezTo>
                  <a:lnTo>
                    <a:pt x="20860" y="73390"/>
                  </a:lnTo>
                  <a:cubicBezTo>
                    <a:pt x="18764" y="75486"/>
                    <a:pt x="10954" y="80820"/>
                    <a:pt x="7048" y="96250"/>
                  </a:cubicBezTo>
                  <a:cubicBezTo>
                    <a:pt x="8382" y="97203"/>
                    <a:pt x="9716" y="98250"/>
                    <a:pt x="11144" y="99108"/>
                  </a:cubicBezTo>
                  <a:lnTo>
                    <a:pt x="10668" y="116253"/>
                  </a:lnTo>
                  <a:lnTo>
                    <a:pt x="4953" y="113490"/>
                  </a:lnTo>
                  <a:cubicBezTo>
                    <a:pt x="4953" y="113967"/>
                    <a:pt x="4858" y="114443"/>
                    <a:pt x="4858" y="114919"/>
                  </a:cubicBezTo>
                  <a:lnTo>
                    <a:pt x="4858" y="191024"/>
                  </a:lnTo>
                  <a:cubicBezTo>
                    <a:pt x="4858" y="195310"/>
                    <a:pt x="8382" y="199311"/>
                    <a:pt x="13145" y="199311"/>
                  </a:cubicBezTo>
                  <a:lnTo>
                    <a:pt x="50768" y="199311"/>
                  </a:lnTo>
                  <a:cubicBezTo>
                    <a:pt x="55435" y="199311"/>
                    <a:pt x="59055" y="195405"/>
                    <a:pt x="59055" y="191024"/>
                  </a:cubicBezTo>
                  <a:lnTo>
                    <a:pt x="59055" y="180832"/>
                  </a:lnTo>
                  <a:cubicBezTo>
                    <a:pt x="114776" y="184356"/>
                    <a:pt x="170021" y="184356"/>
                    <a:pt x="225362" y="180832"/>
                  </a:cubicBezTo>
                  <a:lnTo>
                    <a:pt x="225362" y="191024"/>
                  </a:lnTo>
                  <a:cubicBezTo>
                    <a:pt x="225362" y="195310"/>
                    <a:pt x="229267" y="199311"/>
                    <a:pt x="234029" y="199311"/>
                  </a:cubicBezTo>
                  <a:lnTo>
                    <a:pt x="271653" y="199311"/>
                  </a:lnTo>
                  <a:cubicBezTo>
                    <a:pt x="275939" y="199311"/>
                    <a:pt x="279845" y="195405"/>
                    <a:pt x="279845" y="191024"/>
                  </a:cubicBezTo>
                  <a:cubicBezTo>
                    <a:pt x="279845" y="165497"/>
                    <a:pt x="279845" y="140446"/>
                    <a:pt x="279463" y="114919"/>
                  </a:cubicBezTo>
                  <a:cubicBezTo>
                    <a:pt x="279083" y="84725"/>
                    <a:pt x="266510" y="76057"/>
                    <a:pt x="263747" y="73390"/>
                  </a:cubicBezTo>
                  <a:lnTo>
                    <a:pt x="279083" y="73390"/>
                  </a:lnTo>
                  <a:cubicBezTo>
                    <a:pt x="281845" y="73390"/>
                    <a:pt x="284607" y="71009"/>
                    <a:pt x="284607" y="67866"/>
                  </a:cubicBezTo>
                  <a:lnTo>
                    <a:pt x="284607" y="61198"/>
                  </a:lnTo>
                  <a:cubicBezTo>
                    <a:pt x="284417" y="57960"/>
                    <a:pt x="280892" y="55293"/>
                    <a:pt x="277749" y="54912"/>
                  </a:cubicBezTo>
                  <a:close/>
                  <a:moveTo>
                    <a:pt x="25527" y="143875"/>
                  </a:moveTo>
                  <a:lnTo>
                    <a:pt x="25527" y="115205"/>
                  </a:lnTo>
                  <a:lnTo>
                    <a:pt x="54959" y="115205"/>
                  </a:lnTo>
                  <a:lnTo>
                    <a:pt x="66770" y="143875"/>
                  </a:lnTo>
                  <a:lnTo>
                    <a:pt x="25527" y="143875"/>
                  </a:lnTo>
                  <a:close/>
                  <a:moveTo>
                    <a:pt x="46768" y="58436"/>
                  </a:moveTo>
                  <a:cubicBezTo>
                    <a:pt x="51911" y="48244"/>
                    <a:pt x="56959" y="38433"/>
                    <a:pt x="62103" y="28623"/>
                  </a:cubicBezTo>
                  <a:cubicBezTo>
                    <a:pt x="65627" y="23098"/>
                    <a:pt x="69533" y="21574"/>
                    <a:pt x="73914" y="20431"/>
                  </a:cubicBezTo>
                  <a:cubicBezTo>
                    <a:pt x="119443" y="14907"/>
                    <a:pt x="165259" y="14907"/>
                    <a:pt x="210788" y="20431"/>
                  </a:cubicBezTo>
                  <a:cubicBezTo>
                    <a:pt x="214693" y="21574"/>
                    <a:pt x="219075" y="23193"/>
                    <a:pt x="222599" y="28623"/>
                  </a:cubicBezTo>
                  <a:cubicBezTo>
                    <a:pt x="227743" y="38433"/>
                    <a:pt x="232410" y="48244"/>
                    <a:pt x="237458" y="58436"/>
                  </a:cubicBezTo>
                  <a:lnTo>
                    <a:pt x="46768" y="58436"/>
                  </a:lnTo>
                  <a:close/>
                  <a:moveTo>
                    <a:pt x="258509" y="143875"/>
                  </a:moveTo>
                  <a:lnTo>
                    <a:pt x="217361" y="143875"/>
                  </a:lnTo>
                  <a:lnTo>
                    <a:pt x="229553" y="115205"/>
                  </a:lnTo>
                  <a:lnTo>
                    <a:pt x="258604" y="115205"/>
                  </a:lnTo>
                  <a:lnTo>
                    <a:pt x="258604" y="1438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F6F45132-185B-4664-AD1E-9B6CB308FCC1}"/>
                </a:ext>
              </a:extLst>
            </p:cNvPr>
            <p:cNvSpPr/>
            <p:nvPr/>
          </p:nvSpPr>
          <p:spPr>
            <a:xfrm>
              <a:off x="4405312" y="2710656"/>
              <a:ext cx="267557" cy="207359"/>
            </a:xfrm>
            <a:custGeom>
              <a:avLst/>
              <a:gdLst>
                <a:gd name="connsiteX0" fmla="*/ 16288 w 267557"/>
                <a:gd name="connsiteY0" fmla="*/ 123158 h 207359"/>
                <a:gd name="connsiteX1" fmla="*/ 98012 w 267557"/>
                <a:gd name="connsiteY1" fmla="*/ 41434 h 207359"/>
                <a:gd name="connsiteX2" fmla="*/ 193167 w 267557"/>
                <a:gd name="connsiteY2" fmla="*/ 41434 h 207359"/>
                <a:gd name="connsiteX3" fmla="*/ 225266 w 267557"/>
                <a:gd name="connsiteY3" fmla="*/ 66485 h 207359"/>
                <a:gd name="connsiteX4" fmla="*/ 246317 w 267557"/>
                <a:gd name="connsiteY4" fmla="*/ 66485 h 207359"/>
                <a:gd name="connsiteX5" fmla="*/ 246317 w 267557"/>
                <a:gd name="connsiteY5" fmla="*/ 57150 h 207359"/>
                <a:gd name="connsiteX6" fmla="*/ 267557 w 267557"/>
                <a:gd name="connsiteY6" fmla="*/ 57150 h 207359"/>
                <a:gd name="connsiteX7" fmla="*/ 267557 w 267557"/>
                <a:gd name="connsiteY7" fmla="*/ 40862 h 207359"/>
                <a:gd name="connsiteX8" fmla="*/ 246317 w 267557"/>
                <a:gd name="connsiteY8" fmla="*/ 40862 h 207359"/>
                <a:gd name="connsiteX9" fmla="*/ 246317 w 267557"/>
                <a:gd name="connsiteY9" fmla="*/ 25622 h 207359"/>
                <a:gd name="connsiteX10" fmla="*/ 267557 w 267557"/>
                <a:gd name="connsiteY10" fmla="*/ 25622 h 207359"/>
                <a:gd name="connsiteX11" fmla="*/ 267557 w 267557"/>
                <a:gd name="connsiteY11" fmla="*/ 9335 h 207359"/>
                <a:gd name="connsiteX12" fmla="*/ 246317 w 267557"/>
                <a:gd name="connsiteY12" fmla="*/ 9335 h 207359"/>
                <a:gd name="connsiteX13" fmla="*/ 246317 w 267557"/>
                <a:gd name="connsiteY13" fmla="*/ 0 h 207359"/>
                <a:gd name="connsiteX14" fmla="*/ 225266 w 267557"/>
                <a:gd name="connsiteY14" fmla="*/ 0 h 207359"/>
                <a:gd name="connsiteX15" fmla="*/ 193072 w 267557"/>
                <a:gd name="connsiteY15" fmla="*/ 25241 h 207359"/>
                <a:gd name="connsiteX16" fmla="*/ 98012 w 267557"/>
                <a:gd name="connsiteY16" fmla="*/ 25241 h 207359"/>
                <a:gd name="connsiteX17" fmla="*/ 0 w 267557"/>
                <a:gd name="connsiteY17" fmla="*/ 123253 h 207359"/>
                <a:gd name="connsiteX18" fmla="*/ 44101 w 267557"/>
                <a:gd name="connsiteY18" fmla="*/ 204883 h 207359"/>
                <a:gd name="connsiteX19" fmla="*/ 49244 w 267557"/>
                <a:gd name="connsiteY19" fmla="*/ 207359 h 207359"/>
                <a:gd name="connsiteX20" fmla="*/ 51435 w 267557"/>
                <a:gd name="connsiteY20" fmla="*/ 190119 h 207359"/>
                <a:gd name="connsiteX21" fmla="*/ 16288 w 267557"/>
                <a:gd name="connsiteY21" fmla="*/ 123158 h 207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7557" h="207359">
                  <a:moveTo>
                    <a:pt x="16288" y="123158"/>
                  </a:moveTo>
                  <a:cubicBezTo>
                    <a:pt x="16288" y="78105"/>
                    <a:pt x="52959" y="41434"/>
                    <a:pt x="98012" y="41434"/>
                  </a:cubicBezTo>
                  <a:lnTo>
                    <a:pt x="193167" y="41434"/>
                  </a:lnTo>
                  <a:cubicBezTo>
                    <a:pt x="196882" y="55817"/>
                    <a:pt x="209741" y="66485"/>
                    <a:pt x="225266" y="66485"/>
                  </a:cubicBezTo>
                  <a:lnTo>
                    <a:pt x="246317" y="66485"/>
                  </a:lnTo>
                  <a:lnTo>
                    <a:pt x="246317" y="57150"/>
                  </a:lnTo>
                  <a:lnTo>
                    <a:pt x="267557" y="57150"/>
                  </a:lnTo>
                  <a:lnTo>
                    <a:pt x="267557" y="40862"/>
                  </a:lnTo>
                  <a:lnTo>
                    <a:pt x="246317" y="40862"/>
                  </a:lnTo>
                  <a:lnTo>
                    <a:pt x="246317" y="25622"/>
                  </a:lnTo>
                  <a:lnTo>
                    <a:pt x="267557" y="25622"/>
                  </a:lnTo>
                  <a:lnTo>
                    <a:pt x="267557" y="9335"/>
                  </a:lnTo>
                  <a:lnTo>
                    <a:pt x="246317" y="9335"/>
                  </a:lnTo>
                  <a:lnTo>
                    <a:pt x="246317" y="0"/>
                  </a:lnTo>
                  <a:lnTo>
                    <a:pt x="225266" y="0"/>
                  </a:lnTo>
                  <a:cubicBezTo>
                    <a:pt x="209645" y="0"/>
                    <a:pt x="196691" y="10763"/>
                    <a:pt x="193072" y="25241"/>
                  </a:cubicBezTo>
                  <a:lnTo>
                    <a:pt x="98012" y="25241"/>
                  </a:lnTo>
                  <a:cubicBezTo>
                    <a:pt x="44006" y="25241"/>
                    <a:pt x="0" y="69152"/>
                    <a:pt x="0" y="123253"/>
                  </a:cubicBezTo>
                  <a:cubicBezTo>
                    <a:pt x="0" y="156210"/>
                    <a:pt x="16859" y="186785"/>
                    <a:pt x="44101" y="204883"/>
                  </a:cubicBezTo>
                  <a:lnTo>
                    <a:pt x="49244" y="207359"/>
                  </a:lnTo>
                  <a:cubicBezTo>
                    <a:pt x="49435" y="200597"/>
                    <a:pt x="50197" y="194786"/>
                    <a:pt x="51435" y="190119"/>
                  </a:cubicBezTo>
                  <a:cubicBezTo>
                    <a:pt x="29718" y="174879"/>
                    <a:pt x="16288" y="150019"/>
                    <a:pt x="16288" y="1231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E0D5FE74-BC99-462B-BB0A-FAD04B91539B}"/>
                </a:ext>
              </a:extLst>
            </p:cNvPr>
            <p:cNvSpPr/>
            <p:nvPr/>
          </p:nvSpPr>
          <p:spPr>
            <a:xfrm>
              <a:off x="4454556" y="2900679"/>
              <a:ext cx="6286" cy="20002"/>
            </a:xfrm>
            <a:custGeom>
              <a:avLst/>
              <a:gdLst>
                <a:gd name="connsiteX0" fmla="*/ 6286 w 6286"/>
                <a:gd name="connsiteY0" fmla="*/ 2857 h 20002"/>
                <a:gd name="connsiteX1" fmla="*/ 2191 w 6286"/>
                <a:gd name="connsiteY1" fmla="*/ 0 h 20002"/>
                <a:gd name="connsiteX2" fmla="*/ 0 w 6286"/>
                <a:gd name="connsiteY2" fmla="*/ 17240 h 20002"/>
                <a:gd name="connsiteX3" fmla="*/ 5715 w 6286"/>
                <a:gd name="connsiteY3" fmla="*/ 20002 h 20002"/>
                <a:gd name="connsiteX4" fmla="*/ 6286 w 6286"/>
                <a:gd name="connsiteY4" fmla="*/ 2857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" h="20002">
                  <a:moveTo>
                    <a:pt x="6286" y="2857"/>
                  </a:moveTo>
                  <a:cubicBezTo>
                    <a:pt x="4858" y="2000"/>
                    <a:pt x="3524" y="952"/>
                    <a:pt x="2191" y="0"/>
                  </a:cubicBezTo>
                  <a:cubicBezTo>
                    <a:pt x="952" y="4763"/>
                    <a:pt x="190" y="10477"/>
                    <a:pt x="0" y="17240"/>
                  </a:cubicBezTo>
                  <a:lnTo>
                    <a:pt x="5715" y="20002"/>
                  </a:lnTo>
                  <a:lnTo>
                    <a:pt x="6286" y="285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38" name="그래픽 21">
            <a:extLst>
              <a:ext uri="{FF2B5EF4-FFF2-40B4-BE49-F238E27FC236}">
                <a16:creationId xmlns:a16="http://schemas.microsoft.com/office/drawing/2014/main" id="{E33ABB7E-42AB-49EA-A646-79EEF8E5F49B}"/>
              </a:ext>
            </a:extLst>
          </p:cNvPr>
          <p:cNvGrpSpPr/>
          <p:nvPr/>
        </p:nvGrpSpPr>
        <p:grpSpPr>
          <a:xfrm>
            <a:off x="10715199" y="5676285"/>
            <a:ext cx="179822" cy="185610"/>
            <a:chOff x="4419600" y="2701131"/>
            <a:chExt cx="304800" cy="314610"/>
          </a:xfrm>
          <a:solidFill>
            <a:srgbClr val="00A5CC"/>
          </a:solidFill>
        </p:grpSpPr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67571418-FCC8-4800-A6FE-3A1F2D80DCCC}"/>
                </a:ext>
              </a:extLst>
            </p:cNvPr>
            <p:cNvSpPr/>
            <p:nvPr/>
          </p:nvSpPr>
          <p:spPr>
            <a:xfrm>
              <a:off x="4521993" y="2776664"/>
              <a:ext cx="100107" cy="163639"/>
            </a:xfrm>
            <a:custGeom>
              <a:avLst/>
              <a:gdLst>
                <a:gd name="connsiteX0" fmla="*/ 77343 w 100107"/>
                <a:gd name="connsiteY0" fmla="*/ 0 h 163639"/>
                <a:gd name="connsiteX1" fmla="*/ 0 w 100107"/>
                <a:gd name="connsiteY1" fmla="*/ 93821 h 163639"/>
                <a:gd name="connsiteX2" fmla="*/ 54769 w 100107"/>
                <a:gd name="connsiteY2" fmla="*/ 97060 h 163639"/>
                <a:gd name="connsiteX3" fmla="*/ 24575 w 100107"/>
                <a:gd name="connsiteY3" fmla="*/ 163640 h 163639"/>
                <a:gd name="connsiteX4" fmla="*/ 100108 w 100107"/>
                <a:gd name="connsiteY4" fmla="*/ 75248 h 163639"/>
                <a:gd name="connsiteX5" fmla="*/ 48863 w 100107"/>
                <a:gd name="connsiteY5" fmla="*/ 68675 h 16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107" h="163639">
                  <a:moveTo>
                    <a:pt x="77343" y="0"/>
                  </a:moveTo>
                  <a:lnTo>
                    <a:pt x="0" y="93821"/>
                  </a:lnTo>
                  <a:lnTo>
                    <a:pt x="54769" y="97060"/>
                  </a:lnTo>
                  <a:lnTo>
                    <a:pt x="24575" y="163640"/>
                  </a:lnTo>
                  <a:lnTo>
                    <a:pt x="100108" y="75248"/>
                  </a:lnTo>
                  <a:lnTo>
                    <a:pt x="48863" y="686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56B30A5F-1119-45E6-80E2-776EB2971134}"/>
                </a:ext>
              </a:extLst>
            </p:cNvPr>
            <p:cNvSpPr/>
            <p:nvPr/>
          </p:nvSpPr>
          <p:spPr>
            <a:xfrm>
              <a:off x="4419600" y="2701131"/>
              <a:ext cx="304800" cy="314610"/>
            </a:xfrm>
            <a:custGeom>
              <a:avLst/>
              <a:gdLst>
                <a:gd name="connsiteX0" fmla="*/ 279654 w 304800"/>
                <a:gd name="connsiteY0" fmla="*/ 126016 h 314610"/>
                <a:gd name="connsiteX1" fmla="*/ 263843 w 304800"/>
                <a:gd name="connsiteY1" fmla="*/ 86678 h 314610"/>
                <a:gd name="connsiteX2" fmla="*/ 274796 w 304800"/>
                <a:gd name="connsiteY2" fmla="*/ 61151 h 314610"/>
                <a:gd name="connsiteX3" fmla="*/ 245650 w 304800"/>
                <a:gd name="connsiteY3" fmla="*/ 31052 h 314610"/>
                <a:gd name="connsiteX4" fmla="*/ 220885 w 304800"/>
                <a:gd name="connsiteY4" fmla="*/ 42386 h 314610"/>
                <a:gd name="connsiteX5" fmla="*/ 182785 w 304800"/>
                <a:gd name="connsiteY5" fmla="*/ 26099 h 314610"/>
                <a:gd name="connsiteX6" fmla="*/ 173069 w 304800"/>
                <a:gd name="connsiteY6" fmla="*/ 0 h 314610"/>
                <a:gd name="connsiteX7" fmla="*/ 131826 w 304800"/>
                <a:gd name="connsiteY7" fmla="*/ 0 h 314610"/>
                <a:gd name="connsiteX8" fmla="*/ 122111 w 304800"/>
                <a:gd name="connsiteY8" fmla="*/ 26099 h 314610"/>
                <a:gd name="connsiteX9" fmla="*/ 84011 w 304800"/>
                <a:gd name="connsiteY9" fmla="*/ 42386 h 314610"/>
                <a:gd name="connsiteX10" fmla="*/ 59245 w 304800"/>
                <a:gd name="connsiteY10" fmla="*/ 31052 h 314610"/>
                <a:gd name="connsiteX11" fmla="*/ 30099 w 304800"/>
                <a:gd name="connsiteY11" fmla="*/ 61151 h 314610"/>
                <a:gd name="connsiteX12" fmla="*/ 41053 w 304800"/>
                <a:gd name="connsiteY12" fmla="*/ 86678 h 314610"/>
                <a:gd name="connsiteX13" fmla="*/ 25241 w 304800"/>
                <a:gd name="connsiteY13" fmla="*/ 126016 h 314610"/>
                <a:gd name="connsiteX14" fmla="*/ 0 w 304800"/>
                <a:gd name="connsiteY14" fmla="*/ 136017 h 314610"/>
                <a:gd name="connsiteX15" fmla="*/ 0 w 304800"/>
                <a:gd name="connsiteY15" fmla="*/ 178594 h 314610"/>
                <a:gd name="connsiteX16" fmla="*/ 25241 w 304800"/>
                <a:gd name="connsiteY16" fmla="*/ 188595 h 314610"/>
                <a:gd name="connsiteX17" fmla="*/ 41053 w 304800"/>
                <a:gd name="connsiteY17" fmla="*/ 227933 h 314610"/>
                <a:gd name="connsiteX18" fmla="*/ 30099 w 304800"/>
                <a:gd name="connsiteY18" fmla="*/ 253460 h 314610"/>
                <a:gd name="connsiteX19" fmla="*/ 59245 w 304800"/>
                <a:gd name="connsiteY19" fmla="*/ 283559 h 314610"/>
                <a:gd name="connsiteX20" fmla="*/ 84011 w 304800"/>
                <a:gd name="connsiteY20" fmla="*/ 272225 h 314610"/>
                <a:gd name="connsiteX21" fmla="*/ 122111 w 304800"/>
                <a:gd name="connsiteY21" fmla="*/ 288512 h 314610"/>
                <a:gd name="connsiteX22" fmla="*/ 131826 w 304800"/>
                <a:gd name="connsiteY22" fmla="*/ 314611 h 314610"/>
                <a:gd name="connsiteX23" fmla="*/ 173069 w 304800"/>
                <a:gd name="connsiteY23" fmla="*/ 314611 h 314610"/>
                <a:gd name="connsiteX24" fmla="*/ 182785 w 304800"/>
                <a:gd name="connsiteY24" fmla="*/ 288512 h 314610"/>
                <a:gd name="connsiteX25" fmla="*/ 220885 w 304800"/>
                <a:gd name="connsiteY25" fmla="*/ 272225 h 314610"/>
                <a:gd name="connsiteX26" fmla="*/ 245650 w 304800"/>
                <a:gd name="connsiteY26" fmla="*/ 283559 h 314610"/>
                <a:gd name="connsiteX27" fmla="*/ 274796 w 304800"/>
                <a:gd name="connsiteY27" fmla="*/ 253460 h 314610"/>
                <a:gd name="connsiteX28" fmla="*/ 263747 w 304800"/>
                <a:gd name="connsiteY28" fmla="*/ 227933 h 314610"/>
                <a:gd name="connsiteX29" fmla="*/ 279559 w 304800"/>
                <a:gd name="connsiteY29" fmla="*/ 188595 h 314610"/>
                <a:gd name="connsiteX30" fmla="*/ 304800 w 304800"/>
                <a:gd name="connsiteY30" fmla="*/ 178594 h 314610"/>
                <a:gd name="connsiteX31" fmla="*/ 304800 w 304800"/>
                <a:gd name="connsiteY31" fmla="*/ 136017 h 314610"/>
                <a:gd name="connsiteX32" fmla="*/ 279654 w 304800"/>
                <a:gd name="connsiteY32" fmla="*/ 126016 h 314610"/>
                <a:gd name="connsiteX33" fmla="*/ 152400 w 304800"/>
                <a:gd name="connsiteY33" fmla="*/ 255651 h 314610"/>
                <a:gd name="connsiteX34" fmla="*/ 57150 w 304800"/>
                <a:gd name="connsiteY34" fmla="*/ 157353 h 314610"/>
                <a:gd name="connsiteX35" fmla="*/ 152400 w 304800"/>
                <a:gd name="connsiteY35" fmla="*/ 59055 h 314610"/>
                <a:gd name="connsiteX36" fmla="*/ 247650 w 304800"/>
                <a:gd name="connsiteY36" fmla="*/ 157353 h 314610"/>
                <a:gd name="connsiteX37" fmla="*/ 152400 w 304800"/>
                <a:gd name="connsiteY37" fmla="*/ 255651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04800" h="314610">
                  <a:moveTo>
                    <a:pt x="279654" y="126016"/>
                  </a:moveTo>
                  <a:cubicBezTo>
                    <a:pt x="276416" y="112109"/>
                    <a:pt x="271082" y="98870"/>
                    <a:pt x="263843" y="86678"/>
                  </a:cubicBezTo>
                  <a:lnTo>
                    <a:pt x="274796" y="61151"/>
                  </a:lnTo>
                  <a:lnTo>
                    <a:pt x="245650" y="31052"/>
                  </a:lnTo>
                  <a:lnTo>
                    <a:pt x="220885" y="42386"/>
                  </a:lnTo>
                  <a:cubicBezTo>
                    <a:pt x="209074" y="34862"/>
                    <a:pt x="196215" y="29432"/>
                    <a:pt x="182785" y="26099"/>
                  </a:cubicBezTo>
                  <a:lnTo>
                    <a:pt x="173069" y="0"/>
                  </a:lnTo>
                  <a:lnTo>
                    <a:pt x="131826" y="0"/>
                  </a:lnTo>
                  <a:lnTo>
                    <a:pt x="122111" y="26099"/>
                  </a:lnTo>
                  <a:cubicBezTo>
                    <a:pt x="108680" y="29432"/>
                    <a:pt x="95822" y="34862"/>
                    <a:pt x="84011" y="42386"/>
                  </a:cubicBezTo>
                  <a:lnTo>
                    <a:pt x="59245" y="31052"/>
                  </a:lnTo>
                  <a:lnTo>
                    <a:pt x="30099" y="61151"/>
                  </a:lnTo>
                  <a:lnTo>
                    <a:pt x="41053" y="86678"/>
                  </a:lnTo>
                  <a:cubicBezTo>
                    <a:pt x="33814" y="98870"/>
                    <a:pt x="28480" y="112109"/>
                    <a:pt x="25241" y="126016"/>
                  </a:cubicBezTo>
                  <a:lnTo>
                    <a:pt x="0" y="136017"/>
                  </a:lnTo>
                  <a:lnTo>
                    <a:pt x="0" y="178594"/>
                  </a:lnTo>
                  <a:lnTo>
                    <a:pt x="25241" y="188595"/>
                  </a:lnTo>
                  <a:cubicBezTo>
                    <a:pt x="28480" y="202502"/>
                    <a:pt x="33814" y="215741"/>
                    <a:pt x="41053" y="227933"/>
                  </a:cubicBezTo>
                  <a:lnTo>
                    <a:pt x="30099" y="253460"/>
                  </a:lnTo>
                  <a:lnTo>
                    <a:pt x="59245" y="283559"/>
                  </a:lnTo>
                  <a:lnTo>
                    <a:pt x="84011" y="272225"/>
                  </a:lnTo>
                  <a:cubicBezTo>
                    <a:pt x="95822" y="279749"/>
                    <a:pt x="108680" y="285274"/>
                    <a:pt x="122111" y="288512"/>
                  </a:cubicBezTo>
                  <a:lnTo>
                    <a:pt x="131826" y="314611"/>
                  </a:lnTo>
                  <a:lnTo>
                    <a:pt x="173069" y="314611"/>
                  </a:lnTo>
                  <a:lnTo>
                    <a:pt x="182785" y="288512"/>
                  </a:lnTo>
                  <a:cubicBezTo>
                    <a:pt x="196215" y="285179"/>
                    <a:pt x="209074" y="279654"/>
                    <a:pt x="220885" y="272225"/>
                  </a:cubicBezTo>
                  <a:lnTo>
                    <a:pt x="245650" y="283559"/>
                  </a:lnTo>
                  <a:lnTo>
                    <a:pt x="274796" y="253460"/>
                  </a:lnTo>
                  <a:lnTo>
                    <a:pt x="263747" y="227933"/>
                  </a:lnTo>
                  <a:cubicBezTo>
                    <a:pt x="270986" y="215741"/>
                    <a:pt x="276320" y="202502"/>
                    <a:pt x="279559" y="188595"/>
                  </a:cubicBezTo>
                  <a:lnTo>
                    <a:pt x="304800" y="178594"/>
                  </a:lnTo>
                  <a:lnTo>
                    <a:pt x="304800" y="136017"/>
                  </a:lnTo>
                  <a:lnTo>
                    <a:pt x="279654" y="126016"/>
                  </a:lnTo>
                  <a:close/>
                  <a:moveTo>
                    <a:pt x="152400" y="255651"/>
                  </a:moveTo>
                  <a:cubicBezTo>
                    <a:pt x="99822" y="255651"/>
                    <a:pt x="57150" y="211646"/>
                    <a:pt x="57150" y="157353"/>
                  </a:cubicBezTo>
                  <a:cubicBezTo>
                    <a:pt x="57150" y="103061"/>
                    <a:pt x="99822" y="59055"/>
                    <a:pt x="152400" y="59055"/>
                  </a:cubicBezTo>
                  <a:cubicBezTo>
                    <a:pt x="204978" y="59055"/>
                    <a:pt x="247650" y="103061"/>
                    <a:pt x="247650" y="157353"/>
                  </a:cubicBezTo>
                  <a:cubicBezTo>
                    <a:pt x="247650" y="211646"/>
                    <a:pt x="205073" y="255651"/>
                    <a:pt x="152400" y="255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241" name="그래픽 26">
            <a:extLst>
              <a:ext uri="{FF2B5EF4-FFF2-40B4-BE49-F238E27FC236}">
                <a16:creationId xmlns:a16="http://schemas.microsoft.com/office/drawing/2014/main" id="{29095E94-F23F-479E-A794-B17977C4E2D5}"/>
              </a:ext>
            </a:extLst>
          </p:cNvPr>
          <p:cNvGrpSpPr/>
          <p:nvPr/>
        </p:nvGrpSpPr>
        <p:grpSpPr>
          <a:xfrm>
            <a:off x="11065847" y="5670137"/>
            <a:ext cx="181318" cy="178086"/>
            <a:chOff x="4433887" y="2720181"/>
            <a:chExt cx="277939" cy="272986"/>
          </a:xfrm>
          <a:solidFill>
            <a:srgbClr val="00A5CC"/>
          </a:solidFill>
        </p:grpSpPr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1DD3C9F7-C7B2-47CA-9CD8-826809F63C11}"/>
                </a:ext>
              </a:extLst>
            </p:cNvPr>
            <p:cNvSpPr/>
            <p:nvPr/>
          </p:nvSpPr>
          <p:spPr>
            <a:xfrm>
              <a:off x="4577428" y="2792285"/>
              <a:ext cx="71056" cy="59626"/>
            </a:xfrm>
            <a:custGeom>
              <a:avLst/>
              <a:gdLst>
                <a:gd name="connsiteX0" fmla="*/ 61913 w 71056"/>
                <a:gd name="connsiteY0" fmla="*/ 0 h 59626"/>
                <a:gd name="connsiteX1" fmla="*/ 0 w 71056"/>
                <a:gd name="connsiteY1" fmla="*/ 0 h 59626"/>
                <a:gd name="connsiteX2" fmla="*/ 95 w 71056"/>
                <a:gd name="connsiteY2" fmla="*/ 59626 h 59626"/>
                <a:gd name="connsiteX3" fmla="*/ 71057 w 71056"/>
                <a:gd name="connsiteY3" fmla="*/ 59626 h 59626"/>
                <a:gd name="connsiteX4" fmla="*/ 61913 w 71056"/>
                <a:gd name="connsiteY4" fmla="*/ 0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56" h="59626">
                  <a:moveTo>
                    <a:pt x="61913" y="0"/>
                  </a:moveTo>
                  <a:lnTo>
                    <a:pt x="0" y="0"/>
                  </a:lnTo>
                  <a:lnTo>
                    <a:pt x="95" y="59626"/>
                  </a:lnTo>
                  <a:lnTo>
                    <a:pt x="71057" y="59626"/>
                  </a:lnTo>
                  <a:cubicBezTo>
                    <a:pt x="70676" y="38100"/>
                    <a:pt x="67437" y="17812"/>
                    <a:pt x="6191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44694C06-00C1-4BEF-9E6E-E12DF90CC85B}"/>
                </a:ext>
              </a:extLst>
            </p:cNvPr>
            <p:cNvSpPr/>
            <p:nvPr/>
          </p:nvSpPr>
          <p:spPr>
            <a:xfrm>
              <a:off x="4509706" y="2722752"/>
              <a:ext cx="58197" cy="60007"/>
            </a:xfrm>
            <a:custGeom>
              <a:avLst/>
              <a:gdLst>
                <a:gd name="connsiteX0" fmla="*/ 0 w 58197"/>
                <a:gd name="connsiteY0" fmla="*/ 60008 h 60007"/>
                <a:gd name="connsiteX1" fmla="*/ 58198 w 58197"/>
                <a:gd name="connsiteY1" fmla="*/ 60008 h 60007"/>
                <a:gd name="connsiteX2" fmla="*/ 58103 w 58197"/>
                <a:gd name="connsiteY2" fmla="*/ 0 h 60007"/>
                <a:gd name="connsiteX3" fmla="*/ 0 w 58197"/>
                <a:gd name="connsiteY3" fmla="*/ 60008 h 6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197" h="60007">
                  <a:moveTo>
                    <a:pt x="0" y="60008"/>
                  </a:moveTo>
                  <a:lnTo>
                    <a:pt x="58198" y="60008"/>
                  </a:lnTo>
                  <a:lnTo>
                    <a:pt x="58103" y="0"/>
                  </a:lnTo>
                  <a:cubicBezTo>
                    <a:pt x="33814" y="2857"/>
                    <a:pt x="12668" y="26003"/>
                    <a:pt x="0" y="600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9BCA71A5-9713-4B01-9760-B791252B8844}"/>
                </a:ext>
              </a:extLst>
            </p:cNvPr>
            <p:cNvSpPr/>
            <p:nvPr/>
          </p:nvSpPr>
          <p:spPr>
            <a:xfrm>
              <a:off x="4577333" y="2722752"/>
              <a:ext cx="58769" cy="60007"/>
            </a:xfrm>
            <a:custGeom>
              <a:avLst/>
              <a:gdLst>
                <a:gd name="connsiteX0" fmla="*/ 58769 w 58769"/>
                <a:gd name="connsiteY0" fmla="*/ 60008 h 60007"/>
                <a:gd name="connsiteX1" fmla="*/ 0 w 58769"/>
                <a:gd name="connsiteY1" fmla="*/ 0 h 60007"/>
                <a:gd name="connsiteX2" fmla="*/ 95 w 58769"/>
                <a:gd name="connsiteY2" fmla="*/ 60008 h 60007"/>
                <a:gd name="connsiteX3" fmla="*/ 58769 w 58769"/>
                <a:gd name="connsiteY3" fmla="*/ 60008 h 6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69" h="60007">
                  <a:moveTo>
                    <a:pt x="58769" y="60008"/>
                  </a:moveTo>
                  <a:cubicBezTo>
                    <a:pt x="46006" y="25718"/>
                    <a:pt x="24574" y="2476"/>
                    <a:pt x="0" y="0"/>
                  </a:cubicBezTo>
                  <a:lnTo>
                    <a:pt x="95" y="60008"/>
                  </a:lnTo>
                  <a:lnTo>
                    <a:pt x="58769" y="600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784FE08C-118E-46F8-9600-FA2F2AC54A24}"/>
                </a:ext>
              </a:extLst>
            </p:cNvPr>
            <p:cNvSpPr/>
            <p:nvPr/>
          </p:nvSpPr>
          <p:spPr>
            <a:xfrm>
              <a:off x="4497323" y="2792285"/>
              <a:ext cx="70675" cy="59626"/>
            </a:xfrm>
            <a:custGeom>
              <a:avLst/>
              <a:gdLst>
                <a:gd name="connsiteX0" fmla="*/ 0 w 70675"/>
                <a:gd name="connsiteY0" fmla="*/ 59626 h 59626"/>
                <a:gd name="connsiteX1" fmla="*/ 70676 w 70675"/>
                <a:gd name="connsiteY1" fmla="*/ 59626 h 59626"/>
                <a:gd name="connsiteX2" fmla="*/ 70580 w 70675"/>
                <a:gd name="connsiteY2" fmla="*/ 0 h 59626"/>
                <a:gd name="connsiteX3" fmla="*/ 9144 w 70675"/>
                <a:gd name="connsiteY3" fmla="*/ 0 h 59626"/>
                <a:gd name="connsiteX4" fmla="*/ 0 w 70675"/>
                <a:gd name="connsiteY4" fmla="*/ 59626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75" h="59626">
                  <a:moveTo>
                    <a:pt x="0" y="59626"/>
                  </a:moveTo>
                  <a:lnTo>
                    <a:pt x="70676" y="59626"/>
                  </a:lnTo>
                  <a:lnTo>
                    <a:pt x="70580" y="0"/>
                  </a:lnTo>
                  <a:lnTo>
                    <a:pt x="9144" y="0"/>
                  </a:lnTo>
                  <a:cubicBezTo>
                    <a:pt x="3620" y="17812"/>
                    <a:pt x="381" y="38100"/>
                    <a:pt x="0" y="596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71799945-DF5A-4570-ABD0-6DC6616FE2C5}"/>
                </a:ext>
              </a:extLst>
            </p:cNvPr>
            <p:cNvSpPr/>
            <p:nvPr/>
          </p:nvSpPr>
          <p:spPr>
            <a:xfrm>
              <a:off x="4577428" y="2861436"/>
              <a:ext cx="71056" cy="59626"/>
            </a:xfrm>
            <a:custGeom>
              <a:avLst/>
              <a:gdLst>
                <a:gd name="connsiteX0" fmla="*/ 70580 w 71056"/>
                <a:gd name="connsiteY0" fmla="*/ 10097 h 59626"/>
                <a:gd name="connsiteX1" fmla="*/ 71057 w 71056"/>
                <a:gd name="connsiteY1" fmla="*/ 0 h 59626"/>
                <a:gd name="connsiteX2" fmla="*/ 0 w 71056"/>
                <a:gd name="connsiteY2" fmla="*/ 0 h 59626"/>
                <a:gd name="connsiteX3" fmla="*/ 95 w 71056"/>
                <a:gd name="connsiteY3" fmla="*/ 59627 h 59626"/>
                <a:gd name="connsiteX4" fmla="*/ 11716 w 71056"/>
                <a:gd name="connsiteY4" fmla="*/ 59627 h 59626"/>
                <a:gd name="connsiteX5" fmla="*/ 70580 w 71056"/>
                <a:gd name="connsiteY5" fmla="*/ 10097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056" h="59626">
                  <a:moveTo>
                    <a:pt x="70580" y="10097"/>
                  </a:moveTo>
                  <a:cubicBezTo>
                    <a:pt x="70771" y="6763"/>
                    <a:pt x="70961" y="3429"/>
                    <a:pt x="71057" y="0"/>
                  </a:cubicBezTo>
                  <a:lnTo>
                    <a:pt x="0" y="0"/>
                  </a:lnTo>
                  <a:lnTo>
                    <a:pt x="95" y="59627"/>
                  </a:lnTo>
                  <a:lnTo>
                    <a:pt x="11716" y="59627"/>
                  </a:lnTo>
                  <a:cubicBezTo>
                    <a:pt x="18002" y="32290"/>
                    <a:pt x="41815" y="11620"/>
                    <a:pt x="70580" y="100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85027A8E-82D3-4ACF-A468-5841635DEC06}"/>
                </a:ext>
              </a:extLst>
            </p:cNvPr>
            <p:cNvSpPr/>
            <p:nvPr/>
          </p:nvSpPr>
          <p:spPr>
            <a:xfrm>
              <a:off x="4497323" y="2861436"/>
              <a:ext cx="70770" cy="59626"/>
            </a:xfrm>
            <a:custGeom>
              <a:avLst/>
              <a:gdLst>
                <a:gd name="connsiteX0" fmla="*/ 0 w 70770"/>
                <a:gd name="connsiteY0" fmla="*/ 0 h 59626"/>
                <a:gd name="connsiteX1" fmla="*/ 9144 w 70770"/>
                <a:gd name="connsiteY1" fmla="*/ 59627 h 59626"/>
                <a:gd name="connsiteX2" fmla="*/ 70771 w 70770"/>
                <a:gd name="connsiteY2" fmla="*/ 59627 h 59626"/>
                <a:gd name="connsiteX3" fmla="*/ 70676 w 70770"/>
                <a:gd name="connsiteY3" fmla="*/ 0 h 59626"/>
                <a:gd name="connsiteX4" fmla="*/ 0 w 70770"/>
                <a:gd name="connsiteY4" fmla="*/ 0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70" h="59626">
                  <a:moveTo>
                    <a:pt x="0" y="0"/>
                  </a:moveTo>
                  <a:cubicBezTo>
                    <a:pt x="476" y="21527"/>
                    <a:pt x="3620" y="41815"/>
                    <a:pt x="9144" y="59627"/>
                  </a:cubicBezTo>
                  <a:lnTo>
                    <a:pt x="70771" y="59627"/>
                  </a:lnTo>
                  <a:lnTo>
                    <a:pt x="7067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08F141D8-2083-4DFB-BC5D-47AD8064DF90}"/>
                </a:ext>
              </a:extLst>
            </p:cNvPr>
            <p:cNvSpPr/>
            <p:nvPr/>
          </p:nvSpPr>
          <p:spPr>
            <a:xfrm>
              <a:off x="4577523" y="2930588"/>
              <a:ext cx="27146" cy="60197"/>
            </a:xfrm>
            <a:custGeom>
              <a:avLst/>
              <a:gdLst>
                <a:gd name="connsiteX0" fmla="*/ 10096 w 27146"/>
                <a:gd name="connsiteY0" fmla="*/ 4667 h 60197"/>
                <a:gd name="connsiteX1" fmla="*/ 10287 w 27146"/>
                <a:gd name="connsiteY1" fmla="*/ 0 h 60197"/>
                <a:gd name="connsiteX2" fmla="*/ 0 w 27146"/>
                <a:gd name="connsiteY2" fmla="*/ 0 h 60197"/>
                <a:gd name="connsiteX3" fmla="*/ 95 w 27146"/>
                <a:gd name="connsiteY3" fmla="*/ 60198 h 60197"/>
                <a:gd name="connsiteX4" fmla="*/ 27146 w 27146"/>
                <a:gd name="connsiteY4" fmla="*/ 47911 h 60197"/>
                <a:gd name="connsiteX5" fmla="*/ 10096 w 27146"/>
                <a:gd name="connsiteY5" fmla="*/ 4667 h 6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46" h="60197">
                  <a:moveTo>
                    <a:pt x="10096" y="4667"/>
                  </a:moveTo>
                  <a:cubicBezTo>
                    <a:pt x="10096" y="3143"/>
                    <a:pt x="10192" y="1619"/>
                    <a:pt x="10287" y="0"/>
                  </a:cubicBezTo>
                  <a:lnTo>
                    <a:pt x="0" y="0"/>
                  </a:lnTo>
                  <a:lnTo>
                    <a:pt x="95" y="60198"/>
                  </a:lnTo>
                  <a:cubicBezTo>
                    <a:pt x="9716" y="59150"/>
                    <a:pt x="18859" y="54769"/>
                    <a:pt x="27146" y="47911"/>
                  </a:cubicBezTo>
                  <a:cubicBezTo>
                    <a:pt x="16573" y="36576"/>
                    <a:pt x="10096" y="21336"/>
                    <a:pt x="10096" y="46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C8900E29-4000-4FDC-9E1B-EC22E9D003DD}"/>
                </a:ext>
              </a:extLst>
            </p:cNvPr>
            <p:cNvSpPr/>
            <p:nvPr/>
          </p:nvSpPr>
          <p:spPr>
            <a:xfrm>
              <a:off x="4433887" y="2792285"/>
              <a:ext cx="62864" cy="59626"/>
            </a:xfrm>
            <a:custGeom>
              <a:avLst/>
              <a:gdLst>
                <a:gd name="connsiteX0" fmla="*/ 62865 w 62864"/>
                <a:gd name="connsiteY0" fmla="*/ 0 h 59626"/>
                <a:gd name="connsiteX1" fmla="*/ 15716 w 62864"/>
                <a:gd name="connsiteY1" fmla="*/ 0 h 59626"/>
                <a:gd name="connsiteX2" fmla="*/ 0 w 62864"/>
                <a:gd name="connsiteY2" fmla="*/ 59626 h 59626"/>
                <a:gd name="connsiteX3" fmla="*/ 53816 w 62864"/>
                <a:gd name="connsiteY3" fmla="*/ 59626 h 59626"/>
                <a:gd name="connsiteX4" fmla="*/ 62865 w 62864"/>
                <a:gd name="connsiteY4" fmla="*/ 0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4" h="59626">
                  <a:moveTo>
                    <a:pt x="62865" y="0"/>
                  </a:moveTo>
                  <a:lnTo>
                    <a:pt x="15716" y="0"/>
                  </a:lnTo>
                  <a:cubicBezTo>
                    <a:pt x="6287" y="18002"/>
                    <a:pt x="762" y="38195"/>
                    <a:pt x="0" y="59626"/>
                  </a:cubicBezTo>
                  <a:lnTo>
                    <a:pt x="53816" y="59626"/>
                  </a:lnTo>
                  <a:cubicBezTo>
                    <a:pt x="54293" y="38291"/>
                    <a:pt x="57436" y="18098"/>
                    <a:pt x="6286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CB28F40D-9F51-462B-A80E-4A243AB6BA1D}"/>
                </a:ext>
              </a:extLst>
            </p:cNvPr>
            <p:cNvSpPr/>
            <p:nvPr/>
          </p:nvSpPr>
          <p:spPr>
            <a:xfrm>
              <a:off x="4455032" y="2720181"/>
              <a:ext cx="90963" cy="62579"/>
            </a:xfrm>
            <a:custGeom>
              <a:avLst/>
              <a:gdLst>
                <a:gd name="connsiteX0" fmla="*/ 90964 w 90963"/>
                <a:gd name="connsiteY0" fmla="*/ 0 h 62579"/>
                <a:gd name="connsiteX1" fmla="*/ 0 w 90963"/>
                <a:gd name="connsiteY1" fmla="*/ 62579 h 62579"/>
                <a:gd name="connsiteX2" fmla="*/ 44768 w 90963"/>
                <a:gd name="connsiteY2" fmla="*/ 62579 h 62579"/>
                <a:gd name="connsiteX3" fmla="*/ 90964 w 90963"/>
                <a:gd name="connsiteY3" fmla="*/ 0 h 6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63" h="62579">
                  <a:moveTo>
                    <a:pt x="90964" y="0"/>
                  </a:moveTo>
                  <a:cubicBezTo>
                    <a:pt x="52673" y="7525"/>
                    <a:pt x="20098" y="30671"/>
                    <a:pt x="0" y="62579"/>
                  </a:cubicBezTo>
                  <a:lnTo>
                    <a:pt x="44768" y="62579"/>
                  </a:lnTo>
                  <a:cubicBezTo>
                    <a:pt x="55150" y="33433"/>
                    <a:pt x="71533" y="10954"/>
                    <a:pt x="9096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8A325B46-3569-4DE2-B857-D504A5DD6C26}"/>
                </a:ext>
              </a:extLst>
            </p:cNvPr>
            <p:cNvSpPr/>
            <p:nvPr/>
          </p:nvSpPr>
          <p:spPr>
            <a:xfrm>
              <a:off x="4433887" y="2861436"/>
              <a:ext cx="62864" cy="59626"/>
            </a:xfrm>
            <a:custGeom>
              <a:avLst/>
              <a:gdLst>
                <a:gd name="connsiteX0" fmla="*/ 53816 w 62864"/>
                <a:gd name="connsiteY0" fmla="*/ 0 h 59626"/>
                <a:gd name="connsiteX1" fmla="*/ 0 w 62864"/>
                <a:gd name="connsiteY1" fmla="*/ 0 h 59626"/>
                <a:gd name="connsiteX2" fmla="*/ 15716 w 62864"/>
                <a:gd name="connsiteY2" fmla="*/ 59627 h 59626"/>
                <a:gd name="connsiteX3" fmla="*/ 62865 w 62864"/>
                <a:gd name="connsiteY3" fmla="*/ 59627 h 59626"/>
                <a:gd name="connsiteX4" fmla="*/ 53816 w 62864"/>
                <a:gd name="connsiteY4" fmla="*/ 0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4" h="59626">
                  <a:moveTo>
                    <a:pt x="53816" y="0"/>
                  </a:moveTo>
                  <a:lnTo>
                    <a:pt x="0" y="0"/>
                  </a:lnTo>
                  <a:cubicBezTo>
                    <a:pt x="762" y="21431"/>
                    <a:pt x="6287" y="41719"/>
                    <a:pt x="15716" y="59627"/>
                  </a:cubicBezTo>
                  <a:lnTo>
                    <a:pt x="62865" y="59627"/>
                  </a:lnTo>
                  <a:cubicBezTo>
                    <a:pt x="57436" y="41624"/>
                    <a:pt x="54293" y="21431"/>
                    <a:pt x="538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F0C89E1F-1640-4795-94A3-675887356BB5}"/>
                </a:ext>
              </a:extLst>
            </p:cNvPr>
            <p:cNvSpPr/>
            <p:nvPr/>
          </p:nvSpPr>
          <p:spPr>
            <a:xfrm>
              <a:off x="4599812" y="2720181"/>
              <a:ext cx="90963" cy="62579"/>
            </a:xfrm>
            <a:custGeom>
              <a:avLst/>
              <a:gdLst>
                <a:gd name="connsiteX0" fmla="*/ 46196 w 90963"/>
                <a:gd name="connsiteY0" fmla="*/ 62579 h 62579"/>
                <a:gd name="connsiteX1" fmla="*/ 90964 w 90963"/>
                <a:gd name="connsiteY1" fmla="*/ 62579 h 62579"/>
                <a:gd name="connsiteX2" fmla="*/ 0 w 90963"/>
                <a:gd name="connsiteY2" fmla="*/ 0 h 62579"/>
                <a:gd name="connsiteX3" fmla="*/ 46196 w 90963"/>
                <a:gd name="connsiteY3" fmla="*/ 62579 h 6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63" h="62579">
                  <a:moveTo>
                    <a:pt x="46196" y="62579"/>
                  </a:moveTo>
                  <a:lnTo>
                    <a:pt x="90964" y="62579"/>
                  </a:lnTo>
                  <a:cubicBezTo>
                    <a:pt x="70961" y="30671"/>
                    <a:pt x="38291" y="7525"/>
                    <a:pt x="0" y="0"/>
                  </a:cubicBezTo>
                  <a:cubicBezTo>
                    <a:pt x="19431" y="10954"/>
                    <a:pt x="35814" y="33433"/>
                    <a:pt x="46196" y="62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7C51BEFC-E5A0-468C-8F3C-708B3909D394}"/>
                </a:ext>
              </a:extLst>
            </p:cNvPr>
            <p:cNvSpPr/>
            <p:nvPr/>
          </p:nvSpPr>
          <p:spPr>
            <a:xfrm>
              <a:off x="4509706" y="2930588"/>
              <a:ext cx="58388" cy="60007"/>
            </a:xfrm>
            <a:custGeom>
              <a:avLst/>
              <a:gdLst>
                <a:gd name="connsiteX0" fmla="*/ 0 w 58388"/>
                <a:gd name="connsiteY0" fmla="*/ 0 h 60007"/>
                <a:gd name="connsiteX1" fmla="*/ 58388 w 58388"/>
                <a:gd name="connsiteY1" fmla="*/ 60007 h 60007"/>
                <a:gd name="connsiteX2" fmla="*/ 58293 w 58388"/>
                <a:gd name="connsiteY2" fmla="*/ 0 h 60007"/>
                <a:gd name="connsiteX3" fmla="*/ 0 w 58388"/>
                <a:gd name="connsiteY3" fmla="*/ 0 h 6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388" h="60007">
                  <a:moveTo>
                    <a:pt x="0" y="0"/>
                  </a:moveTo>
                  <a:cubicBezTo>
                    <a:pt x="12764" y="34195"/>
                    <a:pt x="34004" y="57341"/>
                    <a:pt x="58388" y="60007"/>
                  </a:cubicBezTo>
                  <a:lnTo>
                    <a:pt x="582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017FAA3C-7F64-4679-A161-605CB90FD53A}"/>
                </a:ext>
              </a:extLst>
            </p:cNvPr>
            <p:cNvSpPr/>
            <p:nvPr/>
          </p:nvSpPr>
          <p:spPr>
            <a:xfrm>
              <a:off x="4599621" y="2984880"/>
              <a:ext cx="16954" cy="8286"/>
            </a:xfrm>
            <a:custGeom>
              <a:avLst/>
              <a:gdLst>
                <a:gd name="connsiteX0" fmla="*/ 0 w 16954"/>
                <a:gd name="connsiteY0" fmla="*/ 8287 h 8286"/>
                <a:gd name="connsiteX1" fmla="*/ 16955 w 16954"/>
                <a:gd name="connsiteY1" fmla="*/ 3715 h 8286"/>
                <a:gd name="connsiteX2" fmla="*/ 11811 w 16954"/>
                <a:gd name="connsiteY2" fmla="*/ 0 h 8286"/>
                <a:gd name="connsiteX3" fmla="*/ 0 w 16954"/>
                <a:gd name="connsiteY3" fmla="*/ 8287 h 8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54" h="8286">
                  <a:moveTo>
                    <a:pt x="0" y="8287"/>
                  </a:moveTo>
                  <a:cubicBezTo>
                    <a:pt x="5810" y="7144"/>
                    <a:pt x="11430" y="5524"/>
                    <a:pt x="16955" y="3715"/>
                  </a:cubicBezTo>
                  <a:cubicBezTo>
                    <a:pt x="15145" y="2572"/>
                    <a:pt x="13430" y="1333"/>
                    <a:pt x="11811" y="0"/>
                  </a:cubicBezTo>
                  <a:cubicBezTo>
                    <a:pt x="8001" y="3238"/>
                    <a:pt x="4096" y="6001"/>
                    <a:pt x="0" y="8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6BB446AC-1DBD-447E-AA64-619F24CCEA54}"/>
                </a:ext>
              </a:extLst>
            </p:cNvPr>
            <p:cNvSpPr/>
            <p:nvPr/>
          </p:nvSpPr>
          <p:spPr>
            <a:xfrm>
              <a:off x="4648961" y="2792285"/>
              <a:ext cx="62865" cy="59626"/>
            </a:xfrm>
            <a:custGeom>
              <a:avLst/>
              <a:gdLst>
                <a:gd name="connsiteX0" fmla="*/ 9049 w 62865"/>
                <a:gd name="connsiteY0" fmla="*/ 59626 h 59626"/>
                <a:gd name="connsiteX1" fmla="*/ 62865 w 62865"/>
                <a:gd name="connsiteY1" fmla="*/ 59626 h 59626"/>
                <a:gd name="connsiteX2" fmla="*/ 47149 w 62865"/>
                <a:gd name="connsiteY2" fmla="*/ 0 h 59626"/>
                <a:gd name="connsiteX3" fmla="*/ 0 w 62865"/>
                <a:gd name="connsiteY3" fmla="*/ 0 h 59626"/>
                <a:gd name="connsiteX4" fmla="*/ 9049 w 62865"/>
                <a:gd name="connsiteY4" fmla="*/ 59626 h 5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865" h="59626">
                  <a:moveTo>
                    <a:pt x="9049" y="59626"/>
                  </a:moveTo>
                  <a:lnTo>
                    <a:pt x="62865" y="59626"/>
                  </a:lnTo>
                  <a:cubicBezTo>
                    <a:pt x="62103" y="38195"/>
                    <a:pt x="56579" y="17907"/>
                    <a:pt x="47149" y="0"/>
                  </a:cubicBezTo>
                  <a:lnTo>
                    <a:pt x="0" y="0"/>
                  </a:lnTo>
                  <a:cubicBezTo>
                    <a:pt x="5524" y="18098"/>
                    <a:pt x="8668" y="38291"/>
                    <a:pt x="9049" y="596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3A13BCA4-8F7E-409B-BA35-2E66AEB1288D}"/>
                </a:ext>
              </a:extLst>
            </p:cNvPr>
            <p:cNvSpPr/>
            <p:nvPr/>
          </p:nvSpPr>
          <p:spPr>
            <a:xfrm>
              <a:off x="4455032" y="2930588"/>
              <a:ext cx="90963" cy="62579"/>
            </a:xfrm>
            <a:custGeom>
              <a:avLst/>
              <a:gdLst>
                <a:gd name="connsiteX0" fmla="*/ 44768 w 90963"/>
                <a:gd name="connsiteY0" fmla="*/ 0 h 62579"/>
                <a:gd name="connsiteX1" fmla="*/ 0 w 90963"/>
                <a:gd name="connsiteY1" fmla="*/ 0 h 62579"/>
                <a:gd name="connsiteX2" fmla="*/ 90964 w 90963"/>
                <a:gd name="connsiteY2" fmla="*/ 62579 h 62579"/>
                <a:gd name="connsiteX3" fmla="*/ 44768 w 90963"/>
                <a:gd name="connsiteY3" fmla="*/ 0 h 6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63" h="62579">
                  <a:moveTo>
                    <a:pt x="44768" y="0"/>
                  </a:moveTo>
                  <a:lnTo>
                    <a:pt x="0" y="0"/>
                  </a:lnTo>
                  <a:cubicBezTo>
                    <a:pt x="20098" y="31909"/>
                    <a:pt x="52673" y="55150"/>
                    <a:pt x="90964" y="62579"/>
                  </a:cubicBezTo>
                  <a:cubicBezTo>
                    <a:pt x="71533" y="51721"/>
                    <a:pt x="55150" y="29242"/>
                    <a:pt x="4476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D55FA35D-FCC9-4675-B148-8BAF06D6DCFC}"/>
                </a:ext>
              </a:extLst>
            </p:cNvPr>
            <p:cNvSpPr/>
            <p:nvPr/>
          </p:nvSpPr>
          <p:spPr>
            <a:xfrm>
              <a:off x="4657629" y="2861436"/>
              <a:ext cx="54197" cy="38957"/>
            </a:xfrm>
            <a:custGeom>
              <a:avLst/>
              <a:gdLst>
                <a:gd name="connsiteX0" fmla="*/ 0 w 54197"/>
                <a:gd name="connsiteY0" fmla="*/ 10287 h 38957"/>
                <a:gd name="connsiteX1" fmla="*/ 47244 w 54197"/>
                <a:gd name="connsiteY1" fmla="*/ 38957 h 38957"/>
                <a:gd name="connsiteX2" fmla="*/ 54197 w 54197"/>
                <a:gd name="connsiteY2" fmla="*/ 0 h 38957"/>
                <a:gd name="connsiteX3" fmla="*/ 381 w 54197"/>
                <a:gd name="connsiteY3" fmla="*/ 0 h 38957"/>
                <a:gd name="connsiteX4" fmla="*/ 0 w 54197"/>
                <a:gd name="connsiteY4" fmla="*/ 10287 h 3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97" h="38957">
                  <a:moveTo>
                    <a:pt x="0" y="10287"/>
                  </a:moveTo>
                  <a:cubicBezTo>
                    <a:pt x="19717" y="12192"/>
                    <a:pt x="36862" y="23146"/>
                    <a:pt x="47244" y="38957"/>
                  </a:cubicBezTo>
                  <a:cubicBezTo>
                    <a:pt x="51340" y="26670"/>
                    <a:pt x="53721" y="13621"/>
                    <a:pt x="54197" y="0"/>
                  </a:cubicBezTo>
                  <a:lnTo>
                    <a:pt x="381" y="0"/>
                  </a:lnTo>
                  <a:cubicBezTo>
                    <a:pt x="286" y="3429"/>
                    <a:pt x="191" y="6858"/>
                    <a:pt x="0" y="10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EDC11B67-280C-4AD7-B299-3CF33C6FC641}"/>
                </a:ext>
              </a:extLst>
            </p:cNvPr>
            <p:cNvSpPr/>
            <p:nvPr/>
          </p:nvSpPr>
          <p:spPr>
            <a:xfrm>
              <a:off x="4627625" y="2898012"/>
              <a:ext cx="37147" cy="76200"/>
            </a:xfrm>
            <a:custGeom>
              <a:avLst/>
              <a:gdLst>
                <a:gd name="connsiteX0" fmla="*/ 0 w 37147"/>
                <a:gd name="connsiteY0" fmla="*/ 13526 h 76200"/>
                <a:gd name="connsiteX1" fmla="*/ 0 w 37147"/>
                <a:gd name="connsiteY1" fmla="*/ 23527 h 76200"/>
                <a:gd name="connsiteX2" fmla="*/ 15811 w 37147"/>
                <a:gd name="connsiteY2" fmla="*/ 18859 h 76200"/>
                <a:gd name="connsiteX3" fmla="*/ 15811 w 37147"/>
                <a:gd name="connsiteY3" fmla="*/ 76200 h 76200"/>
                <a:gd name="connsiteX4" fmla="*/ 37147 w 37147"/>
                <a:gd name="connsiteY4" fmla="*/ 76200 h 76200"/>
                <a:gd name="connsiteX5" fmla="*/ 37147 w 37147"/>
                <a:gd name="connsiteY5" fmla="*/ 0 h 76200"/>
                <a:gd name="connsiteX6" fmla="*/ 23622 w 37147"/>
                <a:gd name="connsiteY6" fmla="*/ 0 h 76200"/>
                <a:gd name="connsiteX7" fmla="*/ 0 w 37147"/>
                <a:gd name="connsiteY7" fmla="*/ 1352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147" h="76200">
                  <a:moveTo>
                    <a:pt x="0" y="13526"/>
                  </a:moveTo>
                  <a:lnTo>
                    <a:pt x="0" y="23527"/>
                  </a:lnTo>
                  <a:cubicBezTo>
                    <a:pt x="4858" y="23146"/>
                    <a:pt x="10192" y="21622"/>
                    <a:pt x="15811" y="18859"/>
                  </a:cubicBezTo>
                  <a:lnTo>
                    <a:pt x="15811" y="76200"/>
                  </a:lnTo>
                  <a:lnTo>
                    <a:pt x="37147" y="76200"/>
                  </a:lnTo>
                  <a:lnTo>
                    <a:pt x="37147" y="0"/>
                  </a:lnTo>
                  <a:lnTo>
                    <a:pt x="23622" y="0"/>
                  </a:lnTo>
                  <a:cubicBezTo>
                    <a:pt x="19050" y="7906"/>
                    <a:pt x="11144" y="12382"/>
                    <a:pt x="0" y="135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59" name="그래픽 258">
            <a:extLst>
              <a:ext uri="{FF2B5EF4-FFF2-40B4-BE49-F238E27FC236}">
                <a16:creationId xmlns:a16="http://schemas.microsoft.com/office/drawing/2014/main" id="{793BD1C1-C147-4406-B3CD-111498EFAC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386793" y="5645686"/>
            <a:ext cx="108114" cy="192204"/>
          </a:xfrm>
          <a:prstGeom prst="rect">
            <a:avLst/>
          </a:prstGeom>
        </p:spPr>
      </p:pic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E1128AFB-5908-4858-8B0F-9676EF02E07F}"/>
              </a:ext>
            </a:extLst>
          </p:cNvPr>
          <p:cNvSpPr/>
          <p:nvPr/>
        </p:nvSpPr>
        <p:spPr>
          <a:xfrm>
            <a:off x="9990972" y="6404231"/>
            <a:ext cx="1701474" cy="438973"/>
          </a:xfrm>
          <a:prstGeom prst="rect">
            <a:avLst/>
          </a:prstGeom>
          <a:solidFill>
            <a:srgbClr val="4EBED1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61" name="그래픽 11">
            <a:extLst>
              <a:ext uri="{FF2B5EF4-FFF2-40B4-BE49-F238E27FC236}">
                <a16:creationId xmlns:a16="http://schemas.microsoft.com/office/drawing/2014/main" id="{B563DACE-7869-4A52-AA34-1DD0B48E5B0E}"/>
              </a:ext>
            </a:extLst>
          </p:cNvPr>
          <p:cNvGrpSpPr/>
          <p:nvPr/>
        </p:nvGrpSpPr>
        <p:grpSpPr>
          <a:xfrm>
            <a:off x="10664906" y="6444099"/>
            <a:ext cx="311753" cy="333470"/>
            <a:chOff x="4414837" y="2691606"/>
            <a:chExt cx="311753" cy="333470"/>
          </a:xfrm>
          <a:solidFill>
            <a:sysClr val="window" lastClr="FFFFFF"/>
          </a:solidFill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grpSpPr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C9134176-7396-4D05-92D3-8E2DF5CBDDA1}"/>
                </a:ext>
              </a:extLst>
            </p:cNvPr>
            <p:cNvSpPr/>
            <p:nvPr/>
          </p:nvSpPr>
          <p:spPr>
            <a:xfrm>
              <a:off x="4563236" y="2691606"/>
              <a:ext cx="14382" cy="33337"/>
            </a:xfrm>
            <a:custGeom>
              <a:avLst/>
              <a:gdLst>
                <a:gd name="connsiteX0" fmla="*/ 0 w 14382"/>
                <a:gd name="connsiteY0" fmla="*/ 0 h 33337"/>
                <a:gd name="connsiteX1" fmla="*/ 14383 w 14382"/>
                <a:gd name="connsiteY1" fmla="*/ 0 h 33337"/>
                <a:gd name="connsiteX2" fmla="*/ 14383 w 14382"/>
                <a:gd name="connsiteY2" fmla="*/ 33338 h 33337"/>
                <a:gd name="connsiteX3" fmla="*/ 0 w 14382"/>
                <a:gd name="connsiteY3" fmla="*/ 33338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2" h="33337">
                  <a:moveTo>
                    <a:pt x="0" y="0"/>
                  </a:moveTo>
                  <a:lnTo>
                    <a:pt x="14383" y="0"/>
                  </a:lnTo>
                  <a:lnTo>
                    <a:pt x="14383" y="33338"/>
                  </a:lnTo>
                  <a:lnTo>
                    <a:pt x="0" y="33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7B1D0ECB-2C8F-46C9-B869-C173C7C2497D}"/>
                </a:ext>
              </a:extLst>
            </p:cNvPr>
            <p:cNvSpPr/>
            <p:nvPr/>
          </p:nvSpPr>
          <p:spPr>
            <a:xfrm rot="-2700486">
              <a:off x="4683628" y="2912516"/>
              <a:ext cx="14382" cy="33337"/>
            </a:xfrm>
            <a:custGeom>
              <a:avLst/>
              <a:gdLst>
                <a:gd name="connsiteX0" fmla="*/ 0 w 14382"/>
                <a:gd name="connsiteY0" fmla="*/ 0 h 33337"/>
                <a:gd name="connsiteX1" fmla="*/ 14383 w 14382"/>
                <a:gd name="connsiteY1" fmla="*/ 0 h 33337"/>
                <a:gd name="connsiteX2" fmla="*/ 14383 w 14382"/>
                <a:gd name="connsiteY2" fmla="*/ 33337 h 33337"/>
                <a:gd name="connsiteX3" fmla="*/ 0 w 14382"/>
                <a:gd name="connsiteY3" fmla="*/ 33337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2" h="33337">
                  <a:moveTo>
                    <a:pt x="0" y="0"/>
                  </a:moveTo>
                  <a:lnTo>
                    <a:pt x="14383" y="0"/>
                  </a:lnTo>
                  <a:lnTo>
                    <a:pt x="14383" y="33337"/>
                  </a:lnTo>
                  <a:lnTo>
                    <a:pt x="0" y="33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101804A9-CB99-48B6-AA29-B5EEBC2E102B}"/>
                </a:ext>
              </a:extLst>
            </p:cNvPr>
            <p:cNvSpPr/>
            <p:nvPr/>
          </p:nvSpPr>
          <p:spPr>
            <a:xfrm rot="-2701459">
              <a:off x="4434005" y="2921966"/>
              <a:ext cx="33337" cy="14382"/>
            </a:xfrm>
            <a:custGeom>
              <a:avLst/>
              <a:gdLst>
                <a:gd name="connsiteX0" fmla="*/ 0 w 33337"/>
                <a:gd name="connsiteY0" fmla="*/ 0 h 14382"/>
                <a:gd name="connsiteX1" fmla="*/ 33337 w 33337"/>
                <a:gd name="connsiteY1" fmla="*/ 0 h 14382"/>
                <a:gd name="connsiteX2" fmla="*/ 33337 w 33337"/>
                <a:gd name="connsiteY2" fmla="*/ 14383 h 14382"/>
                <a:gd name="connsiteX3" fmla="*/ 0 w 33337"/>
                <a:gd name="connsiteY3" fmla="*/ 14383 h 1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" h="14382">
                  <a:moveTo>
                    <a:pt x="0" y="0"/>
                  </a:moveTo>
                  <a:lnTo>
                    <a:pt x="33337" y="0"/>
                  </a:lnTo>
                  <a:lnTo>
                    <a:pt x="33337" y="14383"/>
                  </a:lnTo>
                  <a:lnTo>
                    <a:pt x="0" y="143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A2F2F06E-BBB9-422F-8F41-9973F7286F2A}"/>
                </a:ext>
              </a:extLst>
            </p:cNvPr>
            <p:cNvSpPr/>
            <p:nvPr/>
          </p:nvSpPr>
          <p:spPr>
            <a:xfrm>
              <a:off x="4414837" y="2834766"/>
              <a:ext cx="33337" cy="14382"/>
            </a:xfrm>
            <a:custGeom>
              <a:avLst/>
              <a:gdLst>
                <a:gd name="connsiteX0" fmla="*/ 0 w 33337"/>
                <a:gd name="connsiteY0" fmla="*/ 0 h 14382"/>
                <a:gd name="connsiteX1" fmla="*/ 33338 w 33337"/>
                <a:gd name="connsiteY1" fmla="*/ 0 h 14382"/>
                <a:gd name="connsiteX2" fmla="*/ 33338 w 33337"/>
                <a:gd name="connsiteY2" fmla="*/ 14383 h 14382"/>
                <a:gd name="connsiteX3" fmla="*/ 0 w 33337"/>
                <a:gd name="connsiteY3" fmla="*/ 14383 h 1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" h="14382">
                  <a:moveTo>
                    <a:pt x="0" y="0"/>
                  </a:moveTo>
                  <a:lnTo>
                    <a:pt x="33338" y="0"/>
                  </a:lnTo>
                  <a:lnTo>
                    <a:pt x="33338" y="14383"/>
                  </a:lnTo>
                  <a:lnTo>
                    <a:pt x="0" y="143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8C1CEC10-9ADA-4F6C-90C4-8FF2589E9429}"/>
                </a:ext>
              </a:extLst>
            </p:cNvPr>
            <p:cNvSpPr/>
            <p:nvPr/>
          </p:nvSpPr>
          <p:spPr>
            <a:xfrm>
              <a:off x="4693252" y="2834766"/>
              <a:ext cx="33337" cy="14382"/>
            </a:xfrm>
            <a:custGeom>
              <a:avLst/>
              <a:gdLst>
                <a:gd name="connsiteX0" fmla="*/ 0 w 33337"/>
                <a:gd name="connsiteY0" fmla="*/ 0 h 14382"/>
                <a:gd name="connsiteX1" fmla="*/ 33337 w 33337"/>
                <a:gd name="connsiteY1" fmla="*/ 0 h 14382"/>
                <a:gd name="connsiteX2" fmla="*/ 33337 w 33337"/>
                <a:gd name="connsiteY2" fmla="*/ 14383 h 14382"/>
                <a:gd name="connsiteX3" fmla="*/ 0 w 33337"/>
                <a:gd name="connsiteY3" fmla="*/ 14383 h 1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" h="14382">
                  <a:moveTo>
                    <a:pt x="0" y="0"/>
                  </a:moveTo>
                  <a:lnTo>
                    <a:pt x="33337" y="0"/>
                  </a:lnTo>
                  <a:lnTo>
                    <a:pt x="33337" y="14383"/>
                  </a:lnTo>
                  <a:lnTo>
                    <a:pt x="0" y="143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98209252-D672-4537-BBC4-E4A532DC4D34}"/>
                </a:ext>
              </a:extLst>
            </p:cNvPr>
            <p:cNvSpPr/>
            <p:nvPr/>
          </p:nvSpPr>
          <p:spPr>
            <a:xfrm rot="-2700000">
              <a:off x="4459774" y="2733522"/>
              <a:ext cx="14382" cy="33337"/>
            </a:xfrm>
            <a:custGeom>
              <a:avLst/>
              <a:gdLst>
                <a:gd name="connsiteX0" fmla="*/ 0 w 14382"/>
                <a:gd name="connsiteY0" fmla="*/ 0 h 33337"/>
                <a:gd name="connsiteX1" fmla="*/ 14383 w 14382"/>
                <a:gd name="connsiteY1" fmla="*/ 0 h 33337"/>
                <a:gd name="connsiteX2" fmla="*/ 14383 w 14382"/>
                <a:gd name="connsiteY2" fmla="*/ 33337 h 33337"/>
                <a:gd name="connsiteX3" fmla="*/ 0 w 14382"/>
                <a:gd name="connsiteY3" fmla="*/ 33337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82" h="33337">
                  <a:moveTo>
                    <a:pt x="0" y="0"/>
                  </a:moveTo>
                  <a:lnTo>
                    <a:pt x="14383" y="0"/>
                  </a:lnTo>
                  <a:lnTo>
                    <a:pt x="14383" y="33337"/>
                  </a:lnTo>
                  <a:lnTo>
                    <a:pt x="0" y="33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126255E9-7FEF-41DA-BD4C-FC11CF277702}"/>
                </a:ext>
              </a:extLst>
            </p:cNvPr>
            <p:cNvSpPr/>
            <p:nvPr/>
          </p:nvSpPr>
          <p:spPr>
            <a:xfrm rot="-2701459">
              <a:off x="4657822" y="2743014"/>
              <a:ext cx="33337" cy="14382"/>
            </a:xfrm>
            <a:custGeom>
              <a:avLst/>
              <a:gdLst>
                <a:gd name="connsiteX0" fmla="*/ 0 w 33337"/>
                <a:gd name="connsiteY0" fmla="*/ 0 h 14382"/>
                <a:gd name="connsiteX1" fmla="*/ 33337 w 33337"/>
                <a:gd name="connsiteY1" fmla="*/ 0 h 14382"/>
                <a:gd name="connsiteX2" fmla="*/ 33337 w 33337"/>
                <a:gd name="connsiteY2" fmla="*/ 14383 h 14382"/>
                <a:gd name="connsiteX3" fmla="*/ 0 w 33337"/>
                <a:gd name="connsiteY3" fmla="*/ 14383 h 1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" h="14382">
                  <a:moveTo>
                    <a:pt x="0" y="0"/>
                  </a:moveTo>
                  <a:lnTo>
                    <a:pt x="33337" y="0"/>
                  </a:lnTo>
                  <a:lnTo>
                    <a:pt x="33337" y="14383"/>
                  </a:lnTo>
                  <a:lnTo>
                    <a:pt x="0" y="143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89E5C4D0-1325-443D-919A-C8AA52996087}"/>
                </a:ext>
              </a:extLst>
            </p:cNvPr>
            <p:cNvSpPr/>
            <p:nvPr/>
          </p:nvSpPr>
          <p:spPr>
            <a:xfrm>
              <a:off x="4527708" y="2976689"/>
              <a:ext cx="86010" cy="23431"/>
            </a:xfrm>
            <a:custGeom>
              <a:avLst/>
              <a:gdLst>
                <a:gd name="connsiteX0" fmla="*/ 0 w 86010"/>
                <a:gd name="connsiteY0" fmla="*/ 0 h 23431"/>
                <a:gd name="connsiteX1" fmla="*/ 86011 w 86010"/>
                <a:gd name="connsiteY1" fmla="*/ 0 h 23431"/>
                <a:gd name="connsiteX2" fmla="*/ 86011 w 86010"/>
                <a:gd name="connsiteY2" fmla="*/ 23431 h 23431"/>
                <a:gd name="connsiteX3" fmla="*/ 0 w 86010"/>
                <a:gd name="connsiteY3" fmla="*/ 23431 h 23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010" h="23431">
                  <a:moveTo>
                    <a:pt x="0" y="0"/>
                  </a:moveTo>
                  <a:lnTo>
                    <a:pt x="86011" y="0"/>
                  </a:lnTo>
                  <a:lnTo>
                    <a:pt x="86011" y="23431"/>
                  </a:lnTo>
                  <a:lnTo>
                    <a:pt x="0" y="234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6F860D74-5F63-4BDF-937E-8D8C9B367563}"/>
                </a:ext>
              </a:extLst>
            </p:cNvPr>
            <p:cNvSpPr/>
            <p:nvPr/>
          </p:nvSpPr>
          <p:spPr>
            <a:xfrm>
              <a:off x="4547615" y="3010693"/>
              <a:ext cx="46196" cy="14382"/>
            </a:xfrm>
            <a:custGeom>
              <a:avLst/>
              <a:gdLst>
                <a:gd name="connsiteX0" fmla="*/ 0 w 46196"/>
                <a:gd name="connsiteY0" fmla="*/ 0 h 14382"/>
                <a:gd name="connsiteX1" fmla="*/ 46196 w 46196"/>
                <a:gd name="connsiteY1" fmla="*/ 0 h 14382"/>
                <a:gd name="connsiteX2" fmla="*/ 46196 w 46196"/>
                <a:gd name="connsiteY2" fmla="*/ 14383 h 14382"/>
                <a:gd name="connsiteX3" fmla="*/ 0 w 46196"/>
                <a:gd name="connsiteY3" fmla="*/ 14383 h 1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96" h="14382">
                  <a:moveTo>
                    <a:pt x="0" y="0"/>
                  </a:moveTo>
                  <a:lnTo>
                    <a:pt x="46196" y="0"/>
                  </a:lnTo>
                  <a:lnTo>
                    <a:pt x="46196" y="14383"/>
                  </a:lnTo>
                  <a:lnTo>
                    <a:pt x="0" y="143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65060157-3E6A-42B0-89D9-1DB6DF7791B1}"/>
                </a:ext>
              </a:extLst>
            </p:cNvPr>
            <p:cNvSpPr/>
            <p:nvPr/>
          </p:nvSpPr>
          <p:spPr>
            <a:xfrm>
              <a:off x="4467889" y="2739386"/>
              <a:ext cx="205550" cy="226539"/>
            </a:xfrm>
            <a:custGeom>
              <a:avLst/>
              <a:gdLst>
                <a:gd name="connsiteX0" fmla="*/ 21052 w 205550"/>
                <a:gd name="connsiteY0" fmla="*/ 165198 h 226539"/>
                <a:gd name="connsiteX1" fmla="*/ 42864 w 205550"/>
                <a:gd name="connsiteY1" fmla="*/ 226539 h 226539"/>
                <a:gd name="connsiteX2" fmla="*/ 97442 w 205550"/>
                <a:gd name="connsiteY2" fmla="*/ 226539 h 226539"/>
                <a:gd name="connsiteX3" fmla="*/ 97442 w 205550"/>
                <a:gd name="connsiteY3" fmla="*/ 213014 h 226539"/>
                <a:gd name="connsiteX4" fmla="*/ 50579 w 205550"/>
                <a:gd name="connsiteY4" fmla="*/ 150720 h 226539"/>
                <a:gd name="connsiteX5" fmla="*/ 99823 w 205550"/>
                <a:gd name="connsiteY5" fmla="*/ 74330 h 226539"/>
                <a:gd name="connsiteX6" fmla="*/ 102776 w 205550"/>
                <a:gd name="connsiteY6" fmla="*/ 72329 h 226539"/>
                <a:gd name="connsiteX7" fmla="*/ 105729 w 205550"/>
                <a:gd name="connsiteY7" fmla="*/ 74330 h 226539"/>
                <a:gd name="connsiteX8" fmla="*/ 154973 w 205550"/>
                <a:gd name="connsiteY8" fmla="*/ 150720 h 226539"/>
                <a:gd name="connsiteX9" fmla="*/ 108110 w 205550"/>
                <a:gd name="connsiteY9" fmla="*/ 213014 h 226539"/>
                <a:gd name="connsiteX10" fmla="*/ 108110 w 205550"/>
                <a:gd name="connsiteY10" fmla="*/ 226539 h 226539"/>
                <a:gd name="connsiteX11" fmla="*/ 162688 w 205550"/>
                <a:gd name="connsiteY11" fmla="*/ 226539 h 226539"/>
                <a:gd name="connsiteX12" fmla="*/ 183358 w 205550"/>
                <a:gd name="connsiteY12" fmla="*/ 166627 h 226539"/>
                <a:gd name="connsiteX13" fmla="*/ 205551 w 205550"/>
                <a:gd name="connsiteY13" fmla="*/ 102809 h 226539"/>
                <a:gd name="connsiteX14" fmla="*/ 95918 w 205550"/>
                <a:gd name="connsiteY14" fmla="*/ 225 h 226539"/>
                <a:gd name="connsiteX15" fmla="*/ 382 w 205550"/>
                <a:gd name="connsiteY15" fmla="*/ 93951 h 226539"/>
                <a:gd name="connsiteX16" fmla="*/ 21052 w 205550"/>
                <a:gd name="connsiteY16" fmla="*/ 165198 h 22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550" h="226539">
                  <a:moveTo>
                    <a:pt x="21052" y="165198"/>
                  </a:moveTo>
                  <a:cubicBezTo>
                    <a:pt x="34577" y="182915"/>
                    <a:pt x="42673" y="204251"/>
                    <a:pt x="42864" y="226539"/>
                  </a:cubicBezTo>
                  <a:lnTo>
                    <a:pt x="97442" y="226539"/>
                  </a:lnTo>
                  <a:lnTo>
                    <a:pt x="97442" y="213014"/>
                  </a:lnTo>
                  <a:cubicBezTo>
                    <a:pt x="67153" y="194821"/>
                    <a:pt x="51341" y="173961"/>
                    <a:pt x="50579" y="150720"/>
                  </a:cubicBezTo>
                  <a:cubicBezTo>
                    <a:pt x="49246" y="108620"/>
                    <a:pt x="97823" y="75758"/>
                    <a:pt x="99823" y="74330"/>
                  </a:cubicBezTo>
                  <a:lnTo>
                    <a:pt x="102776" y="72329"/>
                  </a:lnTo>
                  <a:lnTo>
                    <a:pt x="105729" y="74330"/>
                  </a:lnTo>
                  <a:cubicBezTo>
                    <a:pt x="107824" y="75663"/>
                    <a:pt x="156307" y="108620"/>
                    <a:pt x="154973" y="150720"/>
                  </a:cubicBezTo>
                  <a:cubicBezTo>
                    <a:pt x="154211" y="173961"/>
                    <a:pt x="138400" y="194916"/>
                    <a:pt x="108110" y="213014"/>
                  </a:cubicBezTo>
                  <a:lnTo>
                    <a:pt x="108110" y="226539"/>
                  </a:lnTo>
                  <a:lnTo>
                    <a:pt x="162688" y="226539"/>
                  </a:lnTo>
                  <a:cubicBezTo>
                    <a:pt x="163069" y="204822"/>
                    <a:pt x="169927" y="183581"/>
                    <a:pt x="183358" y="166627"/>
                  </a:cubicBezTo>
                  <a:cubicBezTo>
                    <a:pt x="197264" y="149101"/>
                    <a:pt x="205551" y="126908"/>
                    <a:pt x="205551" y="102809"/>
                  </a:cubicBezTo>
                  <a:cubicBezTo>
                    <a:pt x="205551" y="43754"/>
                    <a:pt x="155830" y="-3680"/>
                    <a:pt x="95918" y="225"/>
                  </a:cubicBezTo>
                  <a:cubicBezTo>
                    <a:pt x="45817" y="3368"/>
                    <a:pt x="4573" y="43659"/>
                    <a:pt x="382" y="93951"/>
                  </a:cubicBezTo>
                  <a:cubicBezTo>
                    <a:pt x="-1904" y="120812"/>
                    <a:pt x="6193" y="145767"/>
                    <a:pt x="21052" y="165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70F4FD35-2D22-4162-9A51-51ACE5D13AA8}"/>
                </a:ext>
              </a:extLst>
            </p:cNvPr>
            <p:cNvSpPr/>
            <p:nvPr/>
          </p:nvSpPr>
          <p:spPr>
            <a:xfrm>
              <a:off x="4529207" y="2824765"/>
              <a:ext cx="83008" cy="114871"/>
            </a:xfrm>
            <a:custGeom>
              <a:avLst/>
              <a:gdLst>
                <a:gd name="connsiteX0" fmla="*/ 46888 w 83008"/>
                <a:gd name="connsiteY0" fmla="*/ 114872 h 114871"/>
                <a:gd name="connsiteX1" fmla="*/ 82988 w 83008"/>
                <a:gd name="connsiteY1" fmla="*/ 64865 h 114871"/>
                <a:gd name="connsiteX2" fmla="*/ 41459 w 83008"/>
                <a:gd name="connsiteY2" fmla="*/ 0 h 114871"/>
                <a:gd name="connsiteX3" fmla="*/ 25 w 83008"/>
                <a:gd name="connsiteY3" fmla="*/ 64960 h 114871"/>
                <a:gd name="connsiteX4" fmla="*/ 36125 w 83008"/>
                <a:gd name="connsiteY4" fmla="*/ 114872 h 114871"/>
                <a:gd name="connsiteX5" fmla="*/ 36125 w 83008"/>
                <a:gd name="connsiteY5" fmla="*/ 97155 h 114871"/>
                <a:gd name="connsiteX6" fmla="*/ 18218 w 83008"/>
                <a:gd name="connsiteY6" fmla="*/ 79343 h 114871"/>
                <a:gd name="connsiteX7" fmla="*/ 25838 w 83008"/>
                <a:gd name="connsiteY7" fmla="*/ 71723 h 114871"/>
                <a:gd name="connsiteX8" fmla="*/ 36029 w 83008"/>
                <a:gd name="connsiteY8" fmla="*/ 82010 h 114871"/>
                <a:gd name="connsiteX9" fmla="*/ 36029 w 83008"/>
                <a:gd name="connsiteY9" fmla="*/ 38100 h 114871"/>
                <a:gd name="connsiteX10" fmla="*/ 46793 w 83008"/>
                <a:gd name="connsiteY10" fmla="*/ 38100 h 114871"/>
                <a:gd name="connsiteX11" fmla="*/ 46793 w 83008"/>
                <a:gd name="connsiteY11" fmla="*/ 60293 h 114871"/>
                <a:gd name="connsiteX12" fmla="*/ 57842 w 83008"/>
                <a:gd name="connsiteY12" fmla="*/ 49244 h 114871"/>
                <a:gd name="connsiteX13" fmla="*/ 65462 w 83008"/>
                <a:gd name="connsiteY13" fmla="*/ 56864 h 114871"/>
                <a:gd name="connsiteX14" fmla="*/ 46793 w 83008"/>
                <a:gd name="connsiteY14" fmla="*/ 75533 h 114871"/>
                <a:gd name="connsiteX15" fmla="*/ 46793 w 83008"/>
                <a:gd name="connsiteY15" fmla="*/ 114872 h 11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008" h="114871">
                  <a:moveTo>
                    <a:pt x="46888" y="114872"/>
                  </a:moveTo>
                  <a:cubicBezTo>
                    <a:pt x="70129" y="99632"/>
                    <a:pt x="82416" y="82868"/>
                    <a:pt x="82988" y="64865"/>
                  </a:cubicBezTo>
                  <a:cubicBezTo>
                    <a:pt x="83940" y="34195"/>
                    <a:pt x="51650" y="7525"/>
                    <a:pt x="41459" y="0"/>
                  </a:cubicBezTo>
                  <a:cubicBezTo>
                    <a:pt x="31362" y="7525"/>
                    <a:pt x="-1023" y="34290"/>
                    <a:pt x="25" y="64960"/>
                  </a:cubicBezTo>
                  <a:cubicBezTo>
                    <a:pt x="596" y="82868"/>
                    <a:pt x="12788" y="99632"/>
                    <a:pt x="36125" y="114872"/>
                  </a:cubicBezTo>
                  <a:lnTo>
                    <a:pt x="36125" y="97155"/>
                  </a:lnTo>
                  <a:lnTo>
                    <a:pt x="18218" y="79343"/>
                  </a:lnTo>
                  <a:lnTo>
                    <a:pt x="25838" y="71723"/>
                  </a:lnTo>
                  <a:lnTo>
                    <a:pt x="36029" y="82010"/>
                  </a:lnTo>
                  <a:lnTo>
                    <a:pt x="36029" y="38100"/>
                  </a:lnTo>
                  <a:lnTo>
                    <a:pt x="46793" y="38100"/>
                  </a:lnTo>
                  <a:lnTo>
                    <a:pt x="46793" y="60293"/>
                  </a:lnTo>
                  <a:lnTo>
                    <a:pt x="57842" y="49244"/>
                  </a:lnTo>
                  <a:lnTo>
                    <a:pt x="65462" y="56864"/>
                  </a:lnTo>
                  <a:lnTo>
                    <a:pt x="46793" y="75533"/>
                  </a:lnTo>
                  <a:lnTo>
                    <a:pt x="46793" y="1148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</p:grpSp>
      <p:pic>
        <p:nvPicPr>
          <p:cNvPr id="273" name="그림 35">
            <a:extLst>
              <a:ext uri="{FF2B5EF4-FFF2-40B4-BE49-F238E27FC236}">
                <a16:creationId xmlns:a16="http://schemas.microsoft.com/office/drawing/2014/main" id="{80534489-1BF0-4CEA-91CC-BE0B8B94D753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25000"/>
          </a:blip>
          <a:stretch>
            <a:fillRect/>
          </a:stretch>
        </p:blipFill>
        <p:spPr>
          <a:xfrm>
            <a:off x="11338201" y="6528312"/>
            <a:ext cx="276203" cy="2346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274" name="그래픽 273">
            <a:extLst>
              <a:ext uri="{FF2B5EF4-FFF2-40B4-BE49-F238E27FC236}">
                <a16:creationId xmlns:a16="http://schemas.microsoft.com/office/drawing/2014/main" id="{DEF9C819-ABE3-4C73-A7A7-C885DF2BA0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55209" y="6475704"/>
            <a:ext cx="171450" cy="285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275" name="그래픽 235">
            <a:extLst>
              <a:ext uri="{FF2B5EF4-FFF2-40B4-BE49-F238E27FC236}">
                <a16:creationId xmlns:a16="http://schemas.microsoft.com/office/drawing/2014/main" id="{EB8FD9FF-E8EA-4308-BAF4-A47585035762}"/>
              </a:ext>
            </a:extLst>
          </p:cNvPr>
          <p:cNvSpPr/>
          <p:nvPr/>
        </p:nvSpPr>
        <p:spPr>
          <a:xfrm>
            <a:off x="11365547" y="5677273"/>
            <a:ext cx="195800" cy="167152"/>
          </a:xfrm>
          <a:custGeom>
            <a:avLst/>
            <a:gdLst>
              <a:gd name="connsiteX0" fmla="*/ 91916 w 272129"/>
              <a:gd name="connsiteY0" fmla="*/ 214122 h 232314"/>
              <a:gd name="connsiteX1" fmla="*/ 73152 w 272129"/>
              <a:gd name="connsiteY1" fmla="*/ 214122 h 232314"/>
              <a:gd name="connsiteX2" fmla="*/ 64294 w 272129"/>
              <a:gd name="connsiteY2" fmla="*/ 222980 h 232314"/>
              <a:gd name="connsiteX3" fmla="*/ 64294 w 272129"/>
              <a:gd name="connsiteY3" fmla="*/ 232315 h 232314"/>
              <a:gd name="connsiteX4" fmla="*/ 207836 w 272129"/>
              <a:gd name="connsiteY4" fmla="*/ 232315 h 232314"/>
              <a:gd name="connsiteX5" fmla="*/ 207836 w 272129"/>
              <a:gd name="connsiteY5" fmla="*/ 222980 h 232314"/>
              <a:gd name="connsiteX6" fmla="*/ 198977 w 272129"/>
              <a:gd name="connsiteY6" fmla="*/ 214122 h 232314"/>
              <a:gd name="connsiteX7" fmla="*/ 180213 w 272129"/>
              <a:gd name="connsiteY7" fmla="*/ 214122 h 232314"/>
              <a:gd name="connsiteX8" fmla="*/ 180213 w 272129"/>
              <a:gd name="connsiteY8" fmla="*/ 192596 h 232314"/>
              <a:gd name="connsiteX9" fmla="*/ 255842 w 272129"/>
              <a:gd name="connsiteY9" fmla="*/ 192596 h 232314"/>
              <a:gd name="connsiteX10" fmla="*/ 272129 w 272129"/>
              <a:gd name="connsiteY10" fmla="*/ 176308 h 232314"/>
              <a:gd name="connsiteX11" fmla="*/ 272129 w 272129"/>
              <a:gd name="connsiteY11" fmla="*/ 16288 h 232314"/>
              <a:gd name="connsiteX12" fmla="*/ 255746 w 272129"/>
              <a:gd name="connsiteY12" fmla="*/ 0 h 232314"/>
              <a:gd name="connsiteX13" fmla="*/ 16288 w 272129"/>
              <a:gd name="connsiteY13" fmla="*/ 0 h 232314"/>
              <a:gd name="connsiteX14" fmla="*/ 0 w 272129"/>
              <a:gd name="connsiteY14" fmla="*/ 16288 h 232314"/>
              <a:gd name="connsiteX15" fmla="*/ 0 w 272129"/>
              <a:gd name="connsiteY15" fmla="*/ 176308 h 232314"/>
              <a:gd name="connsiteX16" fmla="*/ 16288 w 272129"/>
              <a:gd name="connsiteY16" fmla="*/ 192596 h 232314"/>
              <a:gd name="connsiteX17" fmla="*/ 91916 w 272129"/>
              <a:gd name="connsiteY17" fmla="*/ 192596 h 232314"/>
              <a:gd name="connsiteX18" fmla="*/ 91916 w 272129"/>
              <a:gd name="connsiteY18" fmla="*/ 214122 h 232314"/>
              <a:gd name="connsiteX19" fmla="*/ 171164 w 272129"/>
              <a:gd name="connsiteY19" fmla="*/ 72485 h 232314"/>
              <a:gd name="connsiteX20" fmla="*/ 171164 w 272129"/>
              <a:gd name="connsiteY20" fmla="*/ 54769 h 232314"/>
              <a:gd name="connsiteX21" fmla="*/ 198882 w 272129"/>
              <a:gd name="connsiteY21" fmla="*/ 54769 h 232314"/>
              <a:gd name="connsiteX22" fmla="*/ 207169 w 272129"/>
              <a:gd name="connsiteY22" fmla="*/ 54769 h 232314"/>
              <a:gd name="connsiteX23" fmla="*/ 207169 w 272129"/>
              <a:gd name="connsiteY23" fmla="*/ 149162 h 232314"/>
              <a:gd name="connsiteX24" fmla="*/ 171260 w 272129"/>
              <a:gd name="connsiteY24" fmla="*/ 149162 h 232314"/>
              <a:gd name="connsiteX25" fmla="*/ 171260 w 272129"/>
              <a:gd name="connsiteY25" fmla="*/ 72485 h 232314"/>
              <a:gd name="connsiteX26" fmla="*/ 117729 w 272129"/>
              <a:gd name="connsiteY26" fmla="*/ 106775 h 232314"/>
              <a:gd name="connsiteX27" fmla="*/ 117729 w 272129"/>
              <a:gd name="connsiteY27" fmla="*/ 77534 h 232314"/>
              <a:gd name="connsiteX28" fmla="*/ 153638 w 272129"/>
              <a:gd name="connsiteY28" fmla="*/ 77534 h 232314"/>
              <a:gd name="connsiteX29" fmla="*/ 153638 w 272129"/>
              <a:gd name="connsiteY29" fmla="*/ 83725 h 232314"/>
              <a:gd name="connsiteX30" fmla="*/ 153638 w 272129"/>
              <a:gd name="connsiteY30" fmla="*/ 149162 h 232314"/>
              <a:gd name="connsiteX31" fmla="*/ 117729 w 272129"/>
              <a:gd name="connsiteY31" fmla="*/ 149162 h 232314"/>
              <a:gd name="connsiteX32" fmla="*/ 117729 w 272129"/>
              <a:gd name="connsiteY32" fmla="*/ 106775 h 232314"/>
              <a:gd name="connsiteX33" fmla="*/ 64294 w 272129"/>
              <a:gd name="connsiteY33" fmla="*/ 140970 h 232314"/>
              <a:gd name="connsiteX34" fmla="*/ 64294 w 272129"/>
              <a:gd name="connsiteY34" fmla="*/ 101346 h 232314"/>
              <a:gd name="connsiteX35" fmla="*/ 100203 w 272129"/>
              <a:gd name="connsiteY35" fmla="*/ 101346 h 232314"/>
              <a:gd name="connsiteX36" fmla="*/ 100203 w 272129"/>
              <a:gd name="connsiteY36" fmla="*/ 118015 h 232314"/>
              <a:gd name="connsiteX37" fmla="*/ 100203 w 272129"/>
              <a:gd name="connsiteY37" fmla="*/ 149162 h 232314"/>
              <a:gd name="connsiteX38" fmla="*/ 64294 w 272129"/>
              <a:gd name="connsiteY38" fmla="*/ 149162 h 232314"/>
              <a:gd name="connsiteX39" fmla="*/ 64294 w 272129"/>
              <a:gd name="connsiteY39" fmla="*/ 140970 h 232314"/>
              <a:gd name="connsiteX40" fmla="*/ 26289 w 272129"/>
              <a:gd name="connsiteY40" fmla="*/ 169736 h 232314"/>
              <a:gd name="connsiteX41" fmla="*/ 26289 w 272129"/>
              <a:gd name="connsiteY41" fmla="*/ 165259 h 232314"/>
              <a:gd name="connsiteX42" fmla="*/ 26289 w 272129"/>
              <a:gd name="connsiteY42" fmla="*/ 160782 h 232314"/>
              <a:gd name="connsiteX43" fmla="*/ 33242 w 272129"/>
              <a:gd name="connsiteY43" fmla="*/ 160782 h 232314"/>
              <a:gd name="connsiteX44" fmla="*/ 241364 w 272129"/>
              <a:gd name="connsiteY44" fmla="*/ 160782 h 232314"/>
              <a:gd name="connsiteX45" fmla="*/ 241364 w 272129"/>
              <a:gd name="connsiteY45" fmla="*/ 27623 h 232314"/>
              <a:gd name="connsiteX46" fmla="*/ 241364 w 272129"/>
              <a:gd name="connsiteY46" fmla="*/ 24765 h 232314"/>
              <a:gd name="connsiteX47" fmla="*/ 245840 w 272129"/>
              <a:gd name="connsiteY47" fmla="*/ 24765 h 232314"/>
              <a:gd name="connsiteX48" fmla="*/ 250317 w 272129"/>
              <a:gd name="connsiteY48" fmla="*/ 24765 h 232314"/>
              <a:gd name="connsiteX49" fmla="*/ 250317 w 272129"/>
              <a:gd name="connsiteY49" fmla="*/ 169736 h 232314"/>
              <a:gd name="connsiteX50" fmla="*/ 26289 w 272129"/>
              <a:gd name="connsiteY50" fmla="*/ 169736 h 232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72129" h="232314">
                <a:moveTo>
                  <a:pt x="91916" y="214122"/>
                </a:moveTo>
                <a:lnTo>
                  <a:pt x="73152" y="214122"/>
                </a:lnTo>
                <a:cubicBezTo>
                  <a:pt x="68199" y="214122"/>
                  <a:pt x="64294" y="218123"/>
                  <a:pt x="64294" y="222980"/>
                </a:cubicBezTo>
                <a:lnTo>
                  <a:pt x="64294" y="232315"/>
                </a:lnTo>
                <a:lnTo>
                  <a:pt x="207836" y="232315"/>
                </a:lnTo>
                <a:lnTo>
                  <a:pt x="207836" y="222980"/>
                </a:lnTo>
                <a:cubicBezTo>
                  <a:pt x="207836" y="218027"/>
                  <a:pt x="203835" y="214122"/>
                  <a:pt x="198977" y="214122"/>
                </a:cubicBezTo>
                <a:lnTo>
                  <a:pt x="180213" y="214122"/>
                </a:lnTo>
                <a:lnTo>
                  <a:pt x="180213" y="192596"/>
                </a:lnTo>
                <a:lnTo>
                  <a:pt x="255842" y="192596"/>
                </a:lnTo>
                <a:cubicBezTo>
                  <a:pt x="264890" y="192596"/>
                  <a:pt x="272129" y="185261"/>
                  <a:pt x="272129" y="176308"/>
                </a:cubicBezTo>
                <a:lnTo>
                  <a:pt x="272129" y="16288"/>
                </a:lnTo>
                <a:cubicBezTo>
                  <a:pt x="272034" y="7239"/>
                  <a:pt x="264795" y="0"/>
                  <a:pt x="255746" y="0"/>
                </a:cubicBezTo>
                <a:lnTo>
                  <a:pt x="16288" y="0"/>
                </a:lnTo>
                <a:cubicBezTo>
                  <a:pt x="7239" y="0"/>
                  <a:pt x="0" y="7239"/>
                  <a:pt x="0" y="16288"/>
                </a:cubicBezTo>
                <a:lnTo>
                  <a:pt x="0" y="176308"/>
                </a:lnTo>
                <a:cubicBezTo>
                  <a:pt x="0" y="185261"/>
                  <a:pt x="7239" y="192596"/>
                  <a:pt x="16288" y="192596"/>
                </a:cubicBezTo>
                <a:lnTo>
                  <a:pt x="91916" y="192596"/>
                </a:lnTo>
                <a:lnTo>
                  <a:pt x="91916" y="214122"/>
                </a:lnTo>
                <a:close/>
                <a:moveTo>
                  <a:pt x="171164" y="72485"/>
                </a:moveTo>
                <a:lnTo>
                  <a:pt x="171164" y="54769"/>
                </a:lnTo>
                <a:lnTo>
                  <a:pt x="198882" y="54769"/>
                </a:lnTo>
                <a:lnTo>
                  <a:pt x="207169" y="54769"/>
                </a:lnTo>
                <a:lnTo>
                  <a:pt x="207169" y="149162"/>
                </a:lnTo>
                <a:lnTo>
                  <a:pt x="171260" y="149162"/>
                </a:lnTo>
                <a:lnTo>
                  <a:pt x="171260" y="72485"/>
                </a:lnTo>
                <a:close/>
                <a:moveTo>
                  <a:pt x="117729" y="106775"/>
                </a:moveTo>
                <a:lnTo>
                  <a:pt x="117729" y="77534"/>
                </a:lnTo>
                <a:lnTo>
                  <a:pt x="153638" y="77534"/>
                </a:lnTo>
                <a:lnTo>
                  <a:pt x="153638" y="83725"/>
                </a:lnTo>
                <a:lnTo>
                  <a:pt x="153638" y="149162"/>
                </a:lnTo>
                <a:lnTo>
                  <a:pt x="117729" y="149162"/>
                </a:lnTo>
                <a:lnTo>
                  <a:pt x="117729" y="106775"/>
                </a:lnTo>
                <a:close/>
                <a:moveTo>
                  <a:pt x="64294" y="140970"/>
                </a:moveTo>
                <a:lnTo>
                  <a:pt x="64294" y="101346"/>
                </a:lnTo>
                <a:lnTo>
                  <a:pt x="100203" y="101346"/>
                </a:lnTo>
                <a:lnTo>
                  <a:pt x="100203" y="118015"/>
                </a:lnTo>
                <a:lnTo>
                  <a:pt x="100203" y="149162"/>
                </a:lnTo>
                <a:lnTo>
                  <a:pt x="64294" y="149162"/>
                </a:lnTo>
                <a:lnTo>
                  <a:pt x="64294" y="140970"/>
                </a:lnTo>
                <a:close/>
                <a:moveTo>
                  <a:pt x="26289" y="169736"/>
                </a:moveTo>
                <a:lnTo>
                  <a:pt x="26289" y="165259"/>
                </a:lnTo>
                <a:lnTo>
                  <a:pt x="26289" y="160782"/>
                </a:lnTo>
                <a:lnTo>
                  <a:pt x="33242" y="160782"/>
                </a:lnTo>
                <a:lnTo>
                  <a:pt x="241364" y="160782"/>
                </a:lnTo>
                <a:lnTo>
                  <a:pt x="241364" y="27623"/>
                </a:lnTo>
                <a:lnTo>
                  <a:pt x="241364" y="24765"/>
                </a:lnTo>
                <a:lnTo>
                  <a:pt x="245840" y="24765"/>
                </a:lnTo>
                <a:lnTo>
                  <a:pt x="250317" y="24765"/>
                </a:lnTo>
                <a:lnTo>
                  <a:pt x="250317" y="169736"/>
                </a:lnTo>
                <a:lnTo>
                  <a:pt x="26289" y="1697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76" name="그래픽 275">
            <a:extLst>
              <a:ext uri="{FF2B5EF4-FFF2-40B4-BE49-F238E27FC236}">
                <a16:creationId xmlns:a16="http://schemas.microsoft.com/office/drawing/2014/main" id="{37FC400A-7650-4492-80E0-F01E5AD4628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365547" y="5925358"/>
            <a:ext cx="205908" cy="182376"/>
          </a:xfrm>
          <a:prstGeom prst="rect">
            <a:avLst/>
          </a:prstGeom>
        </p:spPr>
      </p:pic>
      <p:grpSp>
        <p:nvGrpSpPr>
          <p:cNvPr id="277" name="그래픽 9">
            <a:extLst>
              <a:ext uri="{FF2B5EF4-FFF2-40B4-BE49-F238E27FC236}">
                <a16:creationId xmlns:a16="http://schemas.microsoft.com/office/drawing/2014/main" id="{E3FB893E-5D0B-4C28-A765-7D8388926F05}"/>
              </a:ext>
            </a:extLst>
          </p:cNvPr>
          <p:cNvGrpSpPr/>
          <p:nvPr/>
        </p:nvGrpSpPr>
        <p:grpSpPr>
          <a:xfrm>
            <a:off x="10702897" y="6207250"/>
            <a:ext cx="174508" cy="122268"/>
            <a:chOff x="8569936" y="6803516"/>
            <a:chExt cx="293371" cy="205549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EEC86D40-9244-4F69-9373-B1C1F6E351BE}"/>
                </a:ext>
              </a:extLst>
            </p:cNvPr>
            <p:cNvSpPr/>
            <p:nvPr/>
          </p:nvSpPr>
          <p:spPr>
            <a:xfrm>
              <a:off x="8596224" y="6922579"/>
              <a:ext cx="42576" cy="29527"/>
            </a:xfrm>
            <a:custGeom>
              <a:avLst/>
              <a:gdLst>
                <a:gd name="connsiteX0" fmla="*/ 0 w 42576"/>
                <a:gd name="connsiteY0" fmla="*/ 0 h 29527"/>
                <a:gd name="connsiteX1" fmla="*/ 0 w 42576"/>
                <a:gd name="connsiteY1" fmla="*/ 29528 h 29527"/>
                <a:gd name="connsiteX2" fmla="*/ 42577 w 42576"/>
                <a:gd name="connsiteY2" fmla="*/ 29528 h 29527"/>
                <a:gd name="connsiteX3" fmla="*/ 30385 w 42576"/>
                <a:gd name="connsiteY3" fmla="*/ 0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76" h="29527">
                  <a:moveTo>
                    <a:pt x="0" y="0"/>
                  </a:moveTo>
                  <a:lnTo>
                    <a:pt x="0" y="29528"/>
                  </a:lnTo>
                  <a:lnTo>
                    <a:pt x="42577" y="29528"/>
                  </a:lnTo>
                  <a:lnTo>
                    <a:pt x="3038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0688FABF-D099-4A31-B24F-031063D102D5}"/>
                </a:ext>
              </a:extLst>
            </p:cNvPr>
            <p:cNvSpPr/>
            <p:nvPr/>
          </p:nvSpPr>
          <p:spPr>
            <a:xfrm>
              <a:off x="8794249" y="6922579"/>
              <a:ext cx="42481" cy="29527"/>
            </a:xfrm>
            <a:custGeom>
              <a:avLst/>
              <a:gdLst>
                <a:gd name="connsiteX0" fmla="*/ 0 w 42481"/>
                <a:gd name="connsiteY0" fmla="*/ 29528 h 29527"/>
                <a:gd name="connsiteX1" fmla="*/ 42482 w 42481"/>
                <a:gd name="connsiteY1" fmla="*/ 29528 h 29527"/>
                <a:gd name="connsiteX2" fmla="*/ 42482 w 42481"/>
                <a:gd name="connsiteY2" fmla="*/ 0 h 29527"/>
                <a:gd name="connsiteX3" fmla="*/ 12478 w 42481"/>
                <a:gd name="connsiteY3" fmla="*/ 0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81" h="29527">
                  <a:moveTo>
                    <a:pt x="0" y="29528"/>
                  </a:moveTo>
                  <a:lnTo>
                    <a:pt x="42482" y="29528"/>
                  </a:lnTo>
                  <a:lnTo>
                    <a:pt x="42482" y="0"/>
                  </a:lnTo>
                  <a:lnTo>
                    <a:pt x="124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3A00E2E2-1DF6-45D2-9155-9942B1793060}"/>
                </a:ext>
              </a:extLst>
            </p:cNvPr>
            <p:cNvSpPr/>
            <p:nvPr/>
          </p:nvSpPr>
          <p:spPr>
            <a:xfrm>
              <a:off x="8618132" y="6820352"/>
              <a:ext cx="196786" cy="43457"/>
            </a:xfrm>
            <a:custGeom>
              <a:avLst/>
              <a:gdLst>
                <a:gd name="connsiteX0" fmla="*/ 181356 w 196786"/>
                <a:gd name="connsiteY0" fmla="*/ 12692 h 43457"/>
                <a:gd name="connsiteX1" fmla="*/ 169164 w 196786"/>
                <a:gd name="connsiteY1" fmla="*/ 4215 h 43457"/>
                <a:gd name="connsiteX2" fmla="*/ 27908 w 196786"/>
                <a:gd name="connsiteY2" fmla="*/ 4215 h 43457"/>
                <a:gd name="connsiteX3" fmla="*/ 15811 w 196786"/>
                <a:gd name="connsiteY3" fmla="*/ 12692 h 43457"/>
                <a:gd name="connsiteX4" fmla="*/ 0 w 196786"/>
                <a:gd name="connsiteY4" fmla="*/ 43458 h 43457"/>
                <a:gd name="connsiteX5" fmla="*/ 196787 w 196786"/>
                <a:gd name="connsiteY5" fmla="*/ 43458 h 43457"/>
                <a:gd name="connsiteX6" fmla="*/ 181356 w 196786"/>
                <a:gd name="connsiteY6" fmla="*/ 12692 h 4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786" h="43457">
                  <a:moveTo>
                    <a:pt x="181356" y="12692"/>
                  </a:moveTo>
                  <a:cubicBezTo>
                    <a:pt x="177737" y="7072"/>
                    <a:pt x="173260" y="5453"/>
                    <a:pt x="169164" y="4215"/>
                  </a:cubicBezTo>
                  <a:cubicBezTo>
                    <a:pt x="122206" y="-1405"/>
                    <a:pt x="74867" y="-1405"/>
                    <a:pt x="27908" y="4215"/>
                  </a:cubicBezTo>
                  <a:cubicBezTo>
                    <a:pt x="23432" y="5453"/>
                    <a:pt x="19431" y="7072"/>
                    <a:pt x="15811" y="12692"/>
                  </a:cubicBezTo>
                  <a:cubicBezTo>
                    <a:pt x="10477" y="22884"/>
                    <a:pt x="5239" y="32980"/>
                    <a:pt x="0" y="43458"/>
                  </a:cubicBezTo>
                  <a:lnTo>
                    <a:pt x="196787" y="43458"/>
                  </a:lnTo>
                  <a:cubicBezTo>
                    <a:pt x="191453" y="32980"/>
                    <a:pt x="186595" y="22884"/>
                    <a:pt x="181356" y="1269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598CC904-17AB-4937-A864-4D28BE9219AE}"/>
                </a:ext>
              </a:extLst>
            </p:cNvPr>
            <p:cNvSpPr/>
            <p:nvPr/>
          </p:nvSpPr>
          <p:spPr>
            <a:xfrm>
              <a:off x="8569936" y="6803516"/>
              <a:ext cx="293371" cy="205549"/>
            </a:xfrm>
            <a:custGeom>
              <a:avLst/>
              <a:gdLst>
                <a:gd name="connsiteX0" fmla="*/ 286607 w 293371"/>
                <a:gd name="connsiteY0" fmla="*/ 56674 h 205549"/>
                <a:gd name="connsiteX1" fmla="*/ 259461 w 293371"/>
                <a:gd name="connsiteY1" fmla="*/ 53054 h 205549"/>
                <a:gd name="connsiteX2" fmla="*/ 241649 w 293371"/>
                <a:gd name="connsiteY2" fmla="*/ 19431 h 205549"/>
                <a:gd name="connsiteX3" fmla="*/ 218599 w 293371"/>
                <a:gd name="connsiteY3" fmla="*/ 4858 h 205549"/>
                <a:gd name="connsiteX4" fmla="*/ 218599 w 293371"/>
                <a:gd name="connsiteY4" fmla="*/ 4858 h 205549"/>
                <a:gd name="connsiteX5" fmla="*/ 74486 w 293371"/>
                <a:gd name="connsiteY5" fmla="*/ 4858 h 205549"/>
                <a:gd name="connsiteX6" fmla="*/ 51816 w 293371"/>
                <a:gd name="connsiteY6" fmla="*/ 19431 h 205549"/>
                <a:gd name="connsiteX7" fmla="*/ 33623 w 293371"/>
                <a:gd name="connsiteY7" fmla="*/ 53054 h 205549"/>
                <a:gd name="connsiteX8" fmla="*/ 6477 w 293371"/>
                <a:gd name="connsiteY8" fmla="*/ 56674 h 205549"/>
                <a:gd name="connsiteX9" fmla="*/ 0 w 293371"/>
                <a:gd name="connsiteY9" fmla="*/ 63151 h 205549"/>
                <a:gd name="connsiteX10" fmla="*/ 0 w 293371"/>
                <a:gd name="connsiteY10" fmla="*/ 70009 h 205549"/>
                <a:gd name="connsiteX11" fmla="*/ 5620 w 293371"/>
                <a:gd name="connsiteY11" fmla="*/ 75629 h 205549"/>
                <a:gd name="connsiteX12" fmla="*/ 21431 w 293371"/>
                <a:gd name="connsiteY12" fmla="*/ 75629 h 205549"/>
                <a:gd name="connsiteX13" fmla="*/ 4858 w 293371"/>
                <a:gd name="connsiteY13" fmla="*/ 118491 h 205549"/>
                <a:gd name="connsiteX14" fmla="*/ 4858 w 293371"/>
                <a:gd name="connsiteY14" fmla="*/ 197072 h 205549"/>
                <a:gd name="connsiteX15" fmla="*/ 13335 w 293371"/>
                <a:gd name="connsiteY15" fmla="*/ 205550 h 205549"/>
                <a:gd name="connsiteX16" fmla="*/ 52197 w 293371"/>
                <a:gd name="connsiteY16" fmla="*/ 205550 h 205549"/>
                <a:gd name="connsiteX17" fmla="*/ 60674 w 293371"/>
                <a:gd name="connsiteY17" fmla="*/ 197072 h 205549"/>
                <a:gd name="connsiteX18" fmla="*/ 60674 w 293371"/>
                <a:gd name="connsiteY18" fmla="*/ 186500 h 205549"/>
                <a:gd name="connsiteX19" fmla="*/ 232315 w 293371"/>
                <a:gd name="connsiteY19" fmla="*/ 186500 h 205549"/>
                <a:gd name="connsiteX20" fmla="*/ 232315 w 293371"/>
                <a:gd name="connsiteY20" fmla="*/ 197072 h 205549"/>
                <a:gd name="connsiteX21" fmla="*/ 241173 w 293371"/>
                <a:gd name="connsiteY21" fmla="*/ 205550 h 205549"/>
                <a:gd name="connsiteX22" fmla="*/ 280035 w 293371"/>
                <a:gd name="connsiteY22" fmla="*/ 205550 h 205549"/>
                <a:gd name="connsiteX23" fmla="*/ 288512 w 293371"/>
                <a:gd name="connsiteY23" fmla="*/ 197072 h 205549"/>
                <a:gd name="connsiteX24" fmla="*/ 288131 w 293371"/>
                <a:gd name="connsiteY24" fmla="*/ 118491 h 205549"/>
                <a:gd name="connsiteX25" fmla="*/ 271939 w 293371"/>
                <a:gd name="connsiteY25" fmla="*/ 75629 h 205549"/>
                <a:gd name="connsiteX26" fmla="*/ 287750 w 293371"/>
                <a:gd name="connsiteY26" fmla="*/ 75629 h 205549"/>
                <a:gd name="connsiteX27" fmla="*/ 293370 w 293371"/>
                <a:gd name="connsiteY27" fmla="*/ 70009 h 205549"/>
                <a:gd name="connsiteX28" fmla="*/ 293370 w 293371"/>
                <a:gd name="connsiteY28" fmla="*/ 63151 h 205549"/>
                <a:gd name="connsiteX29" fmla="*/ 286607 w 293371"/>
                <a:gd name="connsiteY29" fmla="*/ 56674 h 205549"/>
                <a:gd name="connsiteX30" fmla="*/ 64008 w 293371"/>
                <a:gd name="connsiteY30" fmla="*/ 29528 h 205549"/>
                <a:gd name="connsiteX31" fmla="*/ 76105 w 293371"/>
                <a:gd name="connsiteY31" fmla="*/ 21050 h 205549"/>
                <a:gd name="connsiteX32" fmla="*/ 217361 w 293371"/>
                <a:gd name="connsiteY32" fmla="*/ 21050 h 205549"/>
                <a:gd name="connsiteX33" fmla="*/ 229553 w 293371"/>
                <a:gd name="connsiteY33" fmla="*/ 29528 h 205549"/>
                <a:gd name="connsiteX34" fmla="*/ 244983 w 293371"/>
                <a:gd name="connsiteY34" fmla="*/ 60293 h 205549"/>
                <a:gd name="connsiteX35" fmla="*/ 48197 w 293371"/>
                <a:gd name="connsiteY35" fmla="*/ 60293 h 205549"/>
                <a:gd name="connsiteX36" fmla="*/ 64008 w 293371"/>
                <a:gd name="connsiteY36" fmla="*/ 29528 h 205549"/>
                <a:gd name="connsiteX37" fmla="*/ 26289 w 293371"/>
                <a:gd name="connsiteY37" fmla="*/ 148590 h 205549"/>
                <a:gd name="connsiteX38" fmla="*/ 26289 w 293371"/>
                <a:gd name="connsiteY38" fmla="*/ 119063 h 205549"/>
                <a:gd name="connsiteX39" fmla="*/ 56674 w 293371"/>
                <a:gd name="connsiteY39" fmla="*/ 119063 h 205549"/>
                <a:gd name="connsiteX40" fmla="*/ 68866 w 293371"/>
                <a:gd name="connsiteY40" fmla="*/ 148590 h 205549"/>
                <a:gd name="connsiteX41" fmla="*/ 26289 w 293371"/>
                <a:gd name="connsiteY41" fmla="*/ 148590 h 205549"/>
                <a:gd name="connsiteX42" fmla="*/ 170307 w 293371"/>
                <a:gd name="connsiteY42" fmla="*/ 118967 h 205549"/>
                <a:gd name="connsiteX43" fmla="*/ 132302 w 293371"/>
                <a:gd name="connsiteY43" fmla="*/ 166402 h 205549"/>
                <a:gd name="connsiteX44" fmla="*/ 129921 w 293371"/>
                <a:gd name="connsiteY44" fmla="*/ 165164 h 205549"/>
                <a:gd name="connsiteX45" fmla="*/ 139922 w 293371"/>
                <a:gd name="connsiteY45" fmla="*/ 133826 h 205549"/>
                <a:gd name="connsiteX46" fmla="*/ 138684 w 293371"/>
                <a:gd name="connsiteY46" fmla="*/ 132112 h 205549"/>
                <a:gd name="connsiteX47" fmla="*/ 124111 w 293371"/>
                <a:gd name="connsiteY47" fmla="*/ 132112 h 205549"/>
                <a:gd name="connsiteX48" fmla="*/ 122873 w 293371"/>
                <a:gd name="connsiteY48" fmla="*/ 130397 h 205549"/>
                <a:gd name="connsiteX49" fmla="*/ 136303 w 293371"/>
                <a:gd name="connsiteY49" fmla="*/ 88392 h 205549"/>
                <a:gd name="connsiteX50" fmla="*/ 138684 w 293371"/>
                <a:gd name="connsiteY50" fmla="*/ 86678 h 205549"/>
                <a:gd name="connsiteX51" fmla="*/ 160496 w 293371"/>
                <a:gd name="connsiteY51" fmla="*/ 86678 h 205549"/>
                <a:gd name="connsiteX52" fmla="*/ 161639 w 293371"/>
                <a:gd name="connsiteY52" fmla="*/ 88392 h 205549"/>
                <a:gd name="connsiteX53" fmla="*/ 150305 w 293371"/>
                <a:gd name="connsiteY53" fmla="*/ 115919 h 205549"/>
                <a:gd name="connsiteX54" fmla="*/ 151448 w 293371"/>
                <a:gd name="connsiteY54" fmla="*/ 117634 h 205549"/>
                <a:gd name="connsiteX55" fmla="*/ 169640 w 293371"/>
                <a:gd name="connsiteY55" fmla="*/ 117634 h 205549"/>
                <a:gd name="connsiteX56" fmla="*/ 170307 w 293371"/>
                <a:gd name="connsiteY56" fmla="*/ 118967 h 205549"/>
                <a:gd name="connsiteX57" fmla="*/ 266795 w 293371"/>
                <a:gd name="connsiteY57" fmla="*/ 148590 h 205549"/>
                <a:gd name="connsiteX58" fmla="*/ 224314 w 293371"/>
                <a:gd name="connsiteY58" fmla="*/ 148590 h 205549"/>
                <a:gd name="connsiteX59" fmla="*/ 236887 w 293371"/>
                <a:gd name="connsiteY59" fmla="*/ 119063 h 205549"/>
                <a:gd name="connsiteX60" fmla="*/ 266795 w 293371"/>
                <a:gd name="connsiteY60" fmla="*/ 119063 h 205549"/>
                <a:gd name="connsiteX61" fmla="*/ 266795 w 293371"/>
                <a:gd name="connsiteY61" fmla="*/ 148590 h 205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93371" h="205549">
                  <a:moveTo>
                    <a:pt x="286607" y="56674"/>
                  </a:moveTo>
                  <a:lnTo>
                    <a:pt x="259461" y="53054"/>
                  </a:lnTo>
                  <a:lnTo>
                    <a:pt x="241649" y="19431"/>
                  </a:lnTo>
                  <a:cubicBezTo>
                    <a:pt x="240030" y="17431"/>
                    <a:pt x="230315" y="6858"/>
                    <a:pt x="218599" y="4858"/>
                  </a:cubicBezTo>
                  <a:lnTo>
                    <a:pt x="218599" y="4858"/>
                  </a:lnTo>
                  <a:cubicBezTo>
                    <a:pt x="174117" y="-1619"/>
                    <a:pt x="119444" y="-1619"/>
                    <a:pt x="74486" y="4858"/>
                  </a:cubicBezTo>
                  <a:cubicBezTo>
                    <a:pt x="62770" y="6858"/>
                    <a:pt x="53435" y="17431"/>
                    <a:pt x="51816" y="19431"/>
                  </a:cubicBezTo>
                  <a:lnTo>
                    <a:pt x="33623" y="53054"/>
                  </a:lnTo>
                  <a:lnTo>
                    <a:pt x="6477" y="56674"/>
                  </a:lnTo>
                  <a:cubicBezTo>
                    <a:pt x="3620" y="57055"/>
                    <a:pt x="0" y="59912"/>
                    <a:pt x="0" y="63151"/>
                  </a:cubicBezTo>
                  <a:lnTo>
                    <a:pt x="0" y="70009"/>
                  </a:lnTo>
                  <a:cubicBezTo>
                    <a:pt x="0" y="73247"/>
                    <a:pt x="2381" y="75629"/>
                    <a:pt x="5620" y="75629"/>
                  </a:cubicBezTo>
                  <a:lnTo>
                    <a:pt x="21431" y="75629"/>
                  </a:lnTo>
                  <a:cubicBezTo>
                    <a:pt x="18574" y="78486"/>
                    <a:pt x="5239" y="87344"/>
                    <a:pt x="4858" y="118491"/>
                  </a:cubicBezTo>
                  <a:lnTo>
                    <a:pt x="4858" y="197072"/>
                  </a:lnTo>
                  <a:cubicBezTo>
                    <a:pt x="4858" y="201549"/>
                    <a:pt x="8477" y="205550"/>
                    <a:pt x="13335" y="205550"/>
                  </a:cubicBezTo>
                  <a:lnTo>
                    <a:pt x="52197" y="205550"/>
                  </a:lnTo>
                  <a:cubicBezTo>
                    <a:pt x="57055" y="205550"/>
                    <a:pt x="60674" y="201549"/>
                    <a:pt x="60674" y="197072"/>
                  </a:cubicBezTo>
                  <a:lnTo>
                    <a:pt x="60674" y="186500"/>
                  </a:lnTo>
                  <a:cubicBezTo>
                    <a:pt x="118205" y="190119"/>
                    <a:pt x="175260" y="190119"/>
                    <a:pt x="232315" y="186500"/>
                  </a:cubicBezTo>
                  <a:lnTo>
                    <a:pt x="232315" y="197072"/>
                  </a:lnTo>
                  <a:cubicBezTo>
                    <a:pt x="232315" y="201549"/>
                    <a:pt x="236315" y="205550"/>
                    <a:pt x="241173" y="205550"/>
                  </a:cubicBezTo>
                  <a:lnTo>
                    <a:pt x="280035" y="205550"/>
                  </a:lnTo>
                  <a:cubicBezTo>
                    <a:pt x="284512" y="205550"/>
                    <a:pt x="288512" y="201549"/>
                    <a:pt x="288512" y="197072"/>
                  </a:cubicBezTo>
                  <a:cubicBezTo>
                    <a:pt x="288512" y="170783"/>
                    <a:pt x="288512" y="144875"/>
                    <a:pt x="288131" y="118491"/>
                  </a:cubicBezTo>
                  <a:cubicBezTo>
                    <a:pt x="287750" y="87344"/>
                    <a:pt x="274796" y="78391"/>
                    <a:pt x="271939" y="75629"/>
                  </a:cubicBezTo>
                  <a:lnTo>
                    <a:pt x="287750" y="75629"/>
                  </a:lnTo>
                  <a:cubicBezTo>
                    <a:pt x="290608" y="75629"/>
                    <a:pt x="293370" y="73247"/>
                    <a:pt x="293370" y="70009"/>
                  </a:cubicBezTo>
                  <a:lnTo>
                    <a:pt x="293370" y="63151"/>
                  </a:lnTo>
                  <a:cubicBezTo>
                    <a:pt x="293465" y="59912"/>
                    <a:pt x="289846" y="57055"/>
                    <a:pt x="286607" y="56674"/>
                  </a:cubicBezTo>
                  <a:close/>
                  <a:moveTo>
                    <a:pt x="64008" y="29528"/>
                  </a:moveTo>
                  <a:cubicBezTo>
                    <a:pt x="67628" y="23908"/>
                    <a:pt x="71628" y="22289"/>
                    <a:pt x="76105" y="21050"/>
                  </a:cubicBezTo>
                  <a:cubicBezTo>
                    <a:pt x="123063" y="15431"/>
                    <a:pt x="170402" y="15431"/>
                    <a:pt x="217361" y="21050"/>
                  </a:cubicBezTo>
                  <a:cubicBezTo>
                    <a:pt x="221456" y="22289"/>
                    <a:pt x="225838" y="23908"/>
                    <a:pt x="229553" y="29528"/>
                  </a:cubicBezTo>
                  <a:cubicBezTo>
                    <a:pt x="234791" y="39624"/>
                    <a:pt x="239649" y="49720"/>
                    <a:pt x="244983" y="60293"/>
                  </a:cubicBezTo>
                  <a:lnTo>
                    <a:pt x="48197" y="60293"/>
                  </a:lnTo>
                  <a:cubicBezTo>
                    <a:pt x="53435" y="49816"/>
                    <a:pt x="58674" y="39719"/>
                    <a:pt x="64008" y="29528"/>
                  </a:cubicBezTo>
                  <a:close/>
                  <a:moveTo>
                    <a:pt x="26289" y="148590"/>
                  </a:moveTo>
                  <a:lnTo>
                    <a:pt x="26289" y="119063"/>
                  </a:lnTo>
                  <a:lnTo>
                    <a:pt x="56674" y="119063"/>
                  </a:lnTo>
                  <a:lnTo>
                    <a:pt x="68866" y="148590"/>
                  </a:lnTo>
                  <a:lnTo>
                    <a:pt x="26289" y="148590"/>
                  </a:lnTo>
                  <a:close/>
                  <a:moveTo>
                    <a:pt x="170307" y="118967"/>
                  </a:moveTo>
                  <a:lnTo>
                    <a:pt x="132302" y="166402"/>
                  </a:lnTo>
                  <a:cubicBezTo>
                    <a:pt x="129826" y="169545"/>
                    <a:pt x="128778" y="168974"/>
                    <a:pt x="129921" y="165164"/>
                  </a:cubicBezTo>
                  <a:lnTo>
                    <a:pt x="139922" y="133826"/>
                  </a:lnTo>
                  <a:cubicBezTo>
                    <a:pt x="140208" y="132874"/>
                    <a:pt x="139637" y="132112"/>
                    <a:pt x="138684" y="132112"/>
                  </a:cubicBezTo>
                  <a:lnTo>
                    <a:pt x="124111" y="132112"/>
                  </a:lnTo>
                  <a:cubicBezTo>
                    <a:pt x="123158" y="132112"/>
                    <a:pt x="122587" y="131350"/>
                    <a:pt x="122873" y="130397"/>
                  </a:cubicBezTo>
                  <a:lnTo>
                    <a:pt x="136303" y="88392"/>
                  </a:lnTo>
                  <a:cubicBezTo>
                    <a:pt x="136589" y="87440"/>
                    <a:pt x="137636" y="86678"/>
                    <a:pt x="138684" y="86678"/>
                  </a:cubicBezTo>
                  <a:lnTo>
                    <a:pt x="160496" y="86678"/>
                  </a:lnTo>
                  <a:cubicBezTo>
                    <a:pt x="161544" y="86678"/>
                    <a:pt x="162020" y="87440"/>
                    <a:pt x="161639" y="88392"/>
                  </a:cubicBezTo>
                  <a:lnTo>
                    <a:pt x="150305" y="115919"/>
                  </a:lnTo>
                  <a:cubicBezTo>
                    <a:pt x="149924" y="116872"/>
                    <a:pt x="150495" y="117634"/>
                    <a:pt x="151448" y="117634"/>
                  </a:cubicBezTo>
                  <a:lnTo>
                    <a:pt x="169640" y="117634"/>
                  </a:lnTo>
                  <a:cubicBezTo>
                    <a:pt x="170688" y="117539"/>
                    <a:pt x="170974" y="118110"/>
                    <a:pt x="170307" y="118967"/>
                  </a:cubicBezTo>
                  <a:close/>
                  <a:moveTo>
                    <a:pt x="266795" y="148590"/>
                  </a:moveTo>
                  <a:lnTo>
                    <a:pt x="224314" y="148590"/>
                  </a:lnTo>
                  <a:lnTo>
                    <a:pt x="236887" y="119063"/>
                  </a:lnTo>
                  <a:lnTo>
                    <a:pt x="266795" y="119063"/>
                  </a:lnTo>
                  <a:lnTo>
                    <a:pt x="266795" y="14859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</p:grpSp>
      <p:grpSp>
        <p:nvGrpSpPr>
          <p:cNvPr id="282" name="그래픽 30">
            <a:extLst>
              <a:ext uri="{FF2B5EF4-FFF2-40B4-BE49-F238E27FC236}">
                <a16:creationId xmlns:a16="http://schemas.microsoft.com/office/drawing/2014/main" id="{4C22A4DE-E360-4881-966A-CD8CEF57DCEC}"/>
              </a:ext>
            </a:extLst>
          </p:cNvPr>
          <p:cNvGrpSpPr/>
          <p:nvPr/>
        </p:nvGrpSpPr>
        <p:grpSpPr>
          <a:xfrm>
            <a:off x="11104752" y="6181743"/>
            <a:ext cx="160052" cy="172166"/>
            <a:chOff x="8620503" y="7223058"/>
            <a:chExt cx="251650" cy="2707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072DA462-0855-4A1A-80D0-766BD311CC30}"/>
                </a:ext>
              </a:extLst>
            </p:cNvPr>
            <p:cNvSpPr/>
            <p:nvPr/>
          </p:nvSpPr>
          <p:spPr>
            <a:xfrm>
              <a:off x="8620503" y="7466136"/>
              <a:ext cx="183546" cy="27622"/>
            </a:xfrm>
            <a:custGeom>
              <a:avLst/>
              <a:gdLst>
                <a:gd name="connsiteX0" fmla="*/ 156019 w 183546"/>
                <a:gd name="connsiteY0" fmla="*/ 0 h 27622"/>
                <a:gd name="connsiteX1" fmla="*/ 27527 w 183546"/>
                <a:gd name="connsiteY1" fmla="*/ 0 h 27622"/>
                <a:gd name="connsiteX2" fmla="*/ 0 w 183546"/>
                <a:gd name="connsiteY2" fmla="*/ 27622 h 27622"/>
                <a:gd name="connsiteX3" fmla="*/ 183547 w 183546"/>
                <a:gd name="connsiteY3" fmla="*/ 27622 h 27622"/>
                <a:gd name="connsiteX4" fmla="*/ 156019 w 183546"/>
                <a:gd name="connsiteY4" fmla="*/ 0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546" h="27622">
                  <a:moveTo>
                    <a:pt x="156019" y="0"/>
                  </a:moveTo>
                  <a:lnTo>
                    <a:pt x="27527" y="0"/>
                  </a:lnTo>
                  <a:cubicBezTo>
                    <a:pt x="12383" y="0"/>
                    <a:pt x="0" y="12382"/>
                    <a:pt x="0" y="27622"/>
                  </a:cubicBezTo>
                  <a:lnTo>
                    <a:pt x="183547" y="27622"/>
                  </a:lnTo>
                  <a:cubicBezTo>
                    <a:pt x="183547" y="12382"/>
                    <a:pt x="171260" y="0"/>
                    <a:pt x="15601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00C3357B-7AC9-4787-A544-D24B6593F8B6}"/>
                </a:ext>
              </a:extLst>
            </p:cNvPr>
            <p:cNvSpPr/>
            <p:nvPr/>
          </p:nvSpPr>
          <p:spPr>
            <a:xfrm>
              <a:off x="8634980" y="7223058"/>
              <a:ext cx="237172" cy="232505"/>
            </a:xfrm>
            <a:custGeom>
              <a:avLst/>
              <a:gdLst>
                <a:gd name="connsiteX0" fmla="*/ 229838 w 237172"/>
                <a:gd name="connsiteY0" fmla="*/ 99727 h 232505"/>
                <a:gd name="connsiteX1" fmla="*/ 229838 w 237172"/>
                <a:gd name="connsiteY1" fmla="*/ 85534 h 232505"/>
                <a:gd name="connsiteX2" fmla="*/ 226124 w 237172"/>
                <a:gd name="connsiteY2" fmla="*/ 81820 h 232505"/>
                <a:gd name="connsiteX3" fmla="*/ 222409 w 237172"/>
                <a:gd name="connsiteY3" fmla="*/ 85534 h 232505"/>
                <a:gd name="connsiteX4" fmla="*/ 222409 w 237172"/>
                <a:gd name="connsiteY4" fmla="*/ 99727 h 232505"/>
                <a:gd name="connsiteX5" fmla="*/ 214122 w 237172"/>
                <a:gd name="connsiteY5" fmla="*/ 99727 h 232505"/>
                <a:gd name="connsiteX6" fmla="*/ 214122 w 237172"/>
                <a:gd name="connsiteY6" fmla="*/ 85534 h 232505"/>
                <a:gd name="connsiteX7" fmla="*/ 210407 w 237172"/>
                <a:gd name="connsiteY7" fmla="*/ 81820 h 232505"/>
                <a:gd name="connsiteX8" fmla="*/ 206502 w 237172"/>
                <a:gd name="connsiteY8" fmla="*/ 85534 h 232505"/>
                <a:gd name="connsiteX9" fmla="*/ 206502 w 237172"/>
                <a:gd name="connsiteY9" fmla="*/ 99727 h 232505"/>
                <a:gd name="connsiteX10" fmla="*/ 199168 w 237172"/>
                <a:gd name="connsiteY10" fmla="*/ 99727 h 232505"/>
                <a:gd name="connsiteX11" fmla="*/ 199168 w 237172"/>
                <a:gd name="connsiteY11" fmla="*/ 117062 h 232505"/>
                <a:gd name="connsiteX12" fmla="*/ 208978 w 237172"/>
                <a:gd name="connsiteY12" fmla="*/ 133541 h 232505"/>
                <a:gd name="connsiteX13" fmla="*/ 208978 w 237172"/>
                <a:gd name="connsiteY13" fmla="*/ 206312 h 232505"/>
                <a:gd name="connsiteX14" fmla="*/ 199168 w 237172"/>
                <a:gd name="connsiteY14" fmla="*/ 216122 h 232505"/>
                <a:gd name="connsiteX15" fmla="*/ 189357 w 237172"/>
                <a:gd name="connsiteY15" fmla="*/ 206312 h 232505"/>
                <a:gd name="connsiteX16" fmla="*/ 189357 w 237172"/>
                <a:gd name="connsiteY16" fmla="*/ 118491 h 232505"/>
                <a:gd name="connsiteX17" fmla="*/ 163163 w 237172"/>
                <a:gd name="connsiteY17" fmla="*/ 92297 h 232505"/>
                <a:gd name="connsiteX18" fmla="*/ 153353 w 237172"/>
                <a:gd name="connsiteY18" fmla="*/ 92297 h 232505"/>
                <a:gd name="connsiteX19" fmla="*/ 153353 w 237172"/>
                <a:gd name="connsiteY19" fmla="*/ 11525 h 232505"/>
                <a:gd name="connsiteX20" fmla="*/ 141923 w 237172"/>
                <a:gd name="connsiteY20" fmla="*/ 0 h 232505"/>
                <a:gd name="connsiteX21" fmla="*/ 11525 w 237172"/>
                <a:gd name="connsiteY21" fmla="*/ 0 h 232505"/>
                <a:gd name="connsiteX22" fmla="*/ 0 w 237172"/>
                <a:gd name="connsiteY22" fmla="*/ 11525 h 232505"/>
                <a:gd name="connsiteX23" fmla="*/ 0 w 237172"/>
                <a:gd name="connsiteY23" fmla="*/ 219361 h 232505"/>
                <a:gd name="connsiteX24" fmla="*/ 11525 w 237172"/>
                <a:gd name="connsiteY24" fmla="*/ 230791 h 232505"/>
                <a:gd name="connsiteX25" fmla="*/ 142018 w 237172"/>
                <a:gd name="connsiteY25" fmla="*/ 230791 h 232505"/>
                <a:gd name="connsiteX26" fmla="*/ 153448 w 237172"/>
                <a:gd name="connsiteY26" fmla="*/ 219361 h 232505"/>
                <a:gd name="connsiteX27" fmla="*/ 153448 w 237172"/>
                <a:gd name="connsiteY27" fmla="*/ 108680 h 232505"/>
                <a:gd name="connsiteX28" fmla="*/ 163259 w 237172"/>
                <a:gd name="connsiteY28" fmla="*/ 108680 h 232505"/>
                <a:gd name="connsiteX29" fmla="*/ 173069 w 237172"/>
                <a:gd name="connsiteY29" fmla="*/ 118491 h 232505"/>
                <a:gd name="connsiteX30" fmla="*/ 173069 w 237172"/>
                <a:gd name="connsiteY30" fmla="*/ 206312 h 232505"/>
                <a:gd name="connsiteX31" fmla="*/ 199263 w 237172"/>
                <a:gd name="connsiteY31" fmla="*/ 232505 h 232505"/>
                <a:gd name="connsiteX32" fmla="*/ 225457 w 237172"/>
                <a:gd name="connsiteY32" fmla="*/ 206312 h 232505"/>
                <a:gd name="connsiteX33" fmla="*/ 225457 w 237172"/>
                <a:gd name="connsiteY33" fmla="*/ 134588 h 232505"/>
                <a:gd name="connsiteX34" fmla="*/ 237173 w 237172"/>
                <a:gd name="connsiteY34" fmla="*/ 117062 h 232505"/>
                <a:gd name="connsiteX35" fmla="*/ 237173 w 237172"/>
                <a:gd name="connsiteY35" fmla="*/ 99727 h 232505"/>
                <a:gd name="connsiteX36" fmla="*/ 229838 w 237172"/>
                <a:gd name="connsiteY36" fmla="*/ 99727 h 232505"/>
                <a:gd name="connsiteX37" fmla="*/ 57817 w 237172"/>
                <a:gd name="connsiteY37" fmla="*/ 205454 h 232505"/>
                <a:gd name="connsiteX38" fmla="*/ 80201 w 237172"/>
                <a:gd name="connsiteY38" fmla="*/ 165926 h 232505"/>
                <a:gd name="connsiteX39" fmla="*/ 39624 w 237172"/>
                <a:gd name="connsiteY39" fmla="*/ 163925 h 232505"/>
                <a:gd name="connsiteX40" fmla="*/ 96965 w 237172"/>
                <a:gd name="connsiteY40" fmla="*/ 108204 h 232505"/>
                <a:gd name="connsiteX41" fmla="*/ 75819 w 237172"/>
                <a:gd name="connsiteY41" fmla="*/ 149066 h 232505"/>
                <a:gd name="connsiteX42" fmla="*/ 113824 w 237172"/>
                <a:gd name="connsiteY42" fmla="*/ 152972 h 232505"/>
                <a:gd name="connsiteX43" fmla="*/ 57817 w 237172"/>
                <a:gd name="connsiteY43" fmla="*/ 205454 h 232505"/>
                <a:gd name="connsiteX44" fmla="*/ 132779 w 237172"/>
                <a:gd name="connsiteY44" fmla="*/ 81820 h 232505"/>
                <a:gd name="connsiteX45" fmla="*/ 127254 w 237172"/>
                <a:gd name="connsiteY45" fmla="*/ 87344 h 232505"/>
                <a:gd name="connsiteX46" fmla="*/ 26289 w 237172"/>
                <a:gd name="connsiteY46" fmla="*/ 87344 h 232505"/>
                <a:gd name="connsiteX47" fmla="*/ 20765 w 237172"/>
                <a:gd name="connsiteY47" fmla="*/ 81820 h 232505"/>
                <a:gd name="connsiteX48" fmla="*/ 20765 w 237172"/>
                <a:gd name="connsiteY48" fmla="*/ 23051 h 232505"/>
                <a:gd name="connsiteX49" fmla="*/ 26289 w 237172"/>
                <a:gd name="connsiteY49" fmla="*/ 17526 h 232505"/>
                <a:gd name="connsiteX50" fmla="*/ 127159 w 237172"/>
                <a:gd name="connsiteY50" fmla="*/ 17526 h 232505"/>
                <a:gd name="connsiteX51" fmla="*/ 132683 w 237172"/>
                <a:gd name="connsiteY51" fmla="*/ 23051 h 232505"/>
                <a:gd name="connsiteX52" fmla="*/ 132683 w 237172"/>
                <a:gd name="connsiteY52" fmla="*/ 81820 h 23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7172" h="232505">
                  <a:moveTo>
                    <a:pt x="229838" y="99727"/>
                  </a:moveTo>
                  <a:lnTo>
                    <a:pt x="229838" y="85534"/>
                  </a:lnTo>
                  <a:cubicBezTo>
                    <a:pt x="229838" y="83439"/>
                    <a:pt x="228124" y="81820"/>
                    <a:pt x="226124" y="81820"/>
                  </a:cubicBezTo>
                  <a:cubicBezTo>
                    <a:pt x="224028" y="81820"/>
                    <a:pt x="222409" y="83534"/>
                    <a:pt x="222409" y="85534"/>
                  </a:cubicBezTo>
                  <a:lnTo>
                    <a:pt x="222409" y="99727"/>
                  </a:lnTo>
                  <a:lnTo>
                    <a:pt x="214122" y="99727"/>
                  </a:lnTo>
                  <a:lnTo>
                    <a:pt x="214122" y="85534"/>
                  </a:lnTo>
                  <a:cubicBezTo>
                    <a:pt x="214122" y="83439"/>
                    <a:pt x="212408" y="81820"/>
                    <a:pt x="210407" y="81820"/>
                  </a:cubicBezTo>
                  <a:cubicBezTo>
                    <a:pt x="208407" y="81820"/>
                    <a:pt x="206502" y="83534"/>
                    <a:pt x="206502" y="85534"/>
                  </a:cubicBezTo>
                  <a:lnTo>
                    <a:pt x="206502" y="99727"/>
                  </a:lnTo>
                  <a:lnTo>
                    <a:pt x="199168" y="99727"/>
                  </a:lnTo>
                  <a:lnTo>
                    <a:pt x="199168" y="117062"/>
                  </a:lnTo>
                  <a:cubicBezTo>
                    <a:pt x="199168" y="124206"/>
                    <a:pt x="203168" y="130302"/>
                    <a:pt x="208978" y="133541"/>
                  </a:cubicBezTo>
                  <a:lnTo>
                    <a:pt x="208978" y="206312"/>
                  </a:lnTo>
                  <a:cubicBezTo>
                    <a:pt x="208978" y="211741"/>
                    <a:pt x="204597" y="216122"/>
                    <a:pt x="199168" y="216122"/>
                  </a:cubicBezTo>
                  <a:cubicBezTo>
                    <a:pt x="193739" y="216122"/>
                    <a:pt x="189357" y="211741"/>
                    <a:pt x="189357" y="206312"/>
                  </a:cubicBezTo>
                  <a:lnTo>
                    <a:pt x="189357" y="118491"/>
                  </a:lnTo>
                  <a:cubicBezTo>
                    <a:pt x="189357" y="104013"/>
                    <a:pt x="177641" y="92297"/>
                    <a:pt x="163163" y="92297"/>
                  </a:cubicBezTo>
                  <a:lnTo>
                    <a:pt x="153353" y="92297"/>
                  </a:lnTo>
                  <a:lnTo>
                    <a:pt x="153353" y="11525"/>
                  </a:lnTo>
                  <a:cubicBezTo>
                    <a:pt x="153353" y="5144"/>
                    <a:pt x="148209" y="0"/>
                    <a:pt x="141923" y="0"/>
                  </a:cubicBezTo>
                  <a:lnTo>
                    <a:pt x="11525" y="0"/>
                  </a:lnTo>
                  <a:cubicBezTo>
                    <a:pt x="5143" y="0"/>
                    <a:pt x="0" y="5144"/>
                    <a:pt x="0" y="11525"/>
                  </a:cubicBezTo>
                  <a:lnTo>
                    <a:pt x="0" y="219361"/>
                  </a:lnTo>
                  <a:cubicBezTo>
                    <a:pt x="0" y="225647"/>
                    <a:pt x="5143" y="230791"/>
                    <a:pt x="11525" y="230791"/>
                  </a:cubicBezTo>
                  <a:lnTo>
                    <a:pt x="142018" y="230791"/>
                  </a:lnTo>
                  <a:cubicBezTo>
                    <a:pt x="148400" y="230791"/>
                    <a:pt x="153448" y="225647"/>
                    <a:pt x="153448" y="219361"/>
                  </a:cubicBezTo>
                  <a:lnTo>
                    <a:pt x="153448" y="108680"/>
                  </a:lnTo>
                  <a:lnTo>
                    <a:pt x="163259" y="108680"/>
                  </a:lnTo>
                  <a:cubicBezTo>
                    <a:pt x="168688" y="108680"/>
                    <a:pt x="173069" y="113062"/>
                    <a:pt x="173069" y="118491"/>
                  </a:cubicBezTo>
                  <a:lnTo>
                    <a:pt x="173069" y="206312"/>
                  </a:lnTo>
                  <a:cubicBezTo>
                    <a:pt x="173069" y="220790"/>
                    <a:pt x="184785" y="232505"/>
                    <a:pt x="199263" y="232505"/>
                  </a:cubicBezTo>
                  <a:cubicBezTo>
                    <a:pt x="213741" y="232505"/>
                    <a:pt x="225457" y="220790"/>
                    <a:pt x="225457" y="206312"/>
                  </a:cubicBezTo>
                  <a:lnTo>
                    <a:pt x="225457" y="134588"/>
                  </a:lnTo>
                  <a:cubicBezTo>
                    <a:pt x="232315" y="131731"/>
                    <a:pt x="237173" y="124968"/>
                    <a:pt x="237173" y="117062"/>
                  </a:cubicBezTo>
                  <a:lnTo>
                    <a:pt x="237173" y="99727"/>
                  </a:lnTo>
                  <a:lnTo>
                    <a:pt x="229838" y="99727"/>
                  </a:lnTo>
                  <a:close/>
                  <a:moveTo>
                    <a:pt x="57817" y="205454"/>
                  </a:moveTo>
                  <a:lnTo>
                    <a:pt x="80201" y="165926"/>
                  </a:lnTo>
                  <a:lnTo>
                    <a:pt x="39624" y="163925"/>
                  </a:lnTo>
                  <a:lnTo>
                    <a:pt x="96965" y="108204"/>
                  </a:lnTo>
                  <a:lnTo>
                    <a:pt x="75819" y="149066"/>
                  </a:lnTo>
                  <a:lnTo>
                    <a:pt x="113824" y="152972"/>
                  </a:lnTo>
                  <a:lnTo>
                    <a:pt x="57817" y="205454"/>
                  </a:lnTo>
                  <a:close/>
                  <a:moveTo>
                    <a:pt x="132779" y="81820"/>
                  </a:moveTo>
                  <a:cubicBezTo>
                    <a:pt x="132779" y="84868"/>
                    <a:pt x="130302" y="87344"/>
                    <a:pt x="127254" y="87344"/>
                  </a:cubicBezTo>
                  <a:lnTo>
                    <a:pt x="26289" y="87344"/>
                  </a:lnTo>
                  <a:cubicBezTo>
                    <a:pt x="23241" y="87344"/>
                    <a:pt x="20765" y="84868"/>
                    <a:pt x="20765" y="81820"/>
                  </a:cubicBezTo>
                  <a:lnTo>
                    <a:pt x="20765" y="23051"/>
                  </a:lnTo>
                  <a:cubicBezTo>
                    <a:pt x="20765" y="20003"/>
                    <a:pt x="23241" y="17526"/>
                    <a:pt x="26289" y="17526"/>
                  </a:cubicBezTo>
                  <a:lnTo>
                    <a:pt x="127159" y="17526"/>
                  </a:lnTo>
                  <a:cubicBezTo>
                    <a:pt x="130207" y="17526"/>
                    <a:pt x="132683" y="20003"/>
                    <a:pt x="132683" y="23051"/>
                  </a:cubicBezTo>
                  <a:lnTo>
                    <a:pt x="132683" y="818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</p:grpSp>
      <p:grpSp>
        <p:nvGrpSpPr>
          <p:cNvPr id="285" name="그래픽 34">
            <a:extLst>
              <a:ext uri="{FF2B5EF4-FFF2-40B4-BE49-F238E27FC236}">
                <a16:creationId xmlns:a16="http://schemas.microsoft.com/office/drawing/2014/main" id="{8E557940-8103-4A79-ADA5-45DE073BEA69}"/>
              </a:ext>
            </a:extLst>
          </p:cNvPr>
          <p:cNvGrpSpPr/>
          <p:nvPr/>
        </p:nvGrpSpPr>
        <p:grpSpPr>
          <a:xfrm>
            <a:off x="11385241" y="6166381"/>
            <a:ext cx="182122" cy="194695"/>
            <a:chOff x="8632796" y="7694259"/>
            <a:chExt cx="242527" cy="25927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6F7BFE72-7B84-40CE-A48B-BA89CF460568}"/>
                </a:ext>
              </a:extLst>
            </p:cNvPr>
            <p:cNvSpPr/>
            <p:nvPr/>
          </p:nvSpPr>
          <p:spPr>
            <a:xfrm>
              <a:off x="8632796" y="7694259"/>
              <a:ext cx="242527" cy="259270"/>
            </a:xfrm>
            <a:custGeom>
              <a:avLst/>
              <a:gdLst>
                <a:gd name="connsiteX0" fmla="*/ 242527 w 242527"/>
                <a:gd name="connsiteY0" fmla="*/ 149066 h 259270"/>
                <a:gd name="connsiteX1" fmla="*/ 223668 w 242527"/>
                <a:gd name="connsiteY1" fmla="*/ 130207 h 259270"/>
                <a:gd name="connsiteX2" fmla="*/ 217286 w 242527"/>
                <a:gd name="connsiteY2" fmla="*/ 131350 h 259270"/>
                <a:gd name="connsiteX3" fmla="*/ 215857 w 242527"/>
                <a:gd name="connsiteY3" fmla="*/ 129826 h 259270"/>
                <a:gd name="connsiteX4" fmla="*/ 224239 w 242527"/>
                <a:gd name="connsiteY4" fmla="*/ 119634 h 259270"/>
                <a:gd name="connsiteX5" fmla="*/ 238146 w 242527"/>
                <a:gd name="connsiteY5" fmla="*/ 82582 h 259270"/>
                <a:gd name="connsiteX6" fmla="*/ 203760 w 242527"/>
                <a:gd name="connsiteY6" fmla="*/ 53340 h 259270"/>
                <a:gd name="connsiteX7" fmla="*/ 183186 w 242527"/>
                <a:gd name="connsiteY7" fmla="*/ 52578 h 259270"/>
                <a:gd name="connsiteX8" fmla="*/ 176043 w 242527"/>
                <a:gd name="connsiteY8" fmla="*/ 60674 h 259270"/>
                <a:gd name="connsiteX9" fmla="*/ 183948 w 242527"/>
                <a:gd name="connsiteY9" fmla="*/ 68199 h 259270"/>
                <a:gd name="connsiteX10" fmla="*/ 184901 w 242527"/>
                <a:gd name="connsiteY10" fmla="*/ 68199 h 259270"/>
                <a:gd name="connsiteX11" fmla="*/ 220048 w 242527"/>
                <a:gd name="connsiteY11" fmla="*/ 77248 h 259270"/>
                <a:gd name="connsiteX12" fmla="*/ 209761 w 242527"/>
                <a:gd name="connsiteY12" fmla="*/ 113062 h 259270"/>
                <a:gd name="connsiteX13" fmla="*/ 204713 w 242527"/>
                <a:gd name="connsiteY13" fmla="*/ 118967 h 259270"/>
                <a:gd name="connsiteX14" fmla="*/ 174042 w 242527"/>
                <a:gd name="connsiteY14" fmla="*/ 95726 h 259270"/>
                <a:gd name="connsiteX15" fmla="*/ 167280 w 242527"/>
                <a:gd name="connsiteY15" fmla="*/ 59722 h 259270"/>
                <a:gd name="connsiteX16" fmla="*/ 161850 w 242527"/>
                <a:gd name="connsiteY16" fmla="*/ 42577 h 259270"/>
                <a:gd name="connsiteX17" fmla="*/ 165756 w 242527"/>
                <a:gd name="connsiteY17" fmla="*/ 31052 h 259270"/>
                <a:gd name="connsiteX18" fmla="*/ 146896 w 242527"/>
                <a:gd name="connsiteY18" fmla="*/ 12192 h 259270"/>
                <a:gd name="connsiteX19" fmla="*/ 144324 w 242527"/>
                <a:gd name="connsiteY19" fmla="*/ 12383 h 259270"/>
                <a:gd name="connsiteX20" fmla="*/ 119178 w 242527"/>
                <a:gd name="connsiteY20" fmla="*/ 0 h 259270"/>
                <a:gd name="connsiteX21" fmla="*/ 72411 w 242527"/>
                <a:gd name="connsiteY21" fmla="*/ 54388 h 259270"/>
                <a:gd name="connsiteX22" fmla="*/ 48122 w 242527"/>
                <a:gd name="connsiteY22" fmla="*/ 52197 h 259270"/>
                <a:gd name="connsiteX23" fmla="*/ 2973 w 242527"/>
                <a:gd name="connsiteY23" fmla="*/ 72200 h 259270"/>
                <a:gd name="connsiteX24" fmla="*/ 22404 w 242527"/>
                <a:gd name="connsiteY24" fmla="*/ 129445 h 259270"/>
                <a:gd name="connsiteX25" fmla="*/ 2402 w 242527"/>
                <a:gd name="connsiteY25" fmla="*/ 160496 h 259270"/>
                <a:gd name="connsiteX26" fmla="*/ 2973 w 242527"/>
                <a:gd name="connsiteY26" fmla="*/ 186976 h 259270"/>
                <a:gd name="connsiteX27" fmla="*/ 18499 w 242527"/>
                <a:gd name="connsiteY27" fmla="*/ 201454 h 259270"/>
                <a:gd name="connsiteX28" fmla="*/ 18880 w 242527"/>
                <a:gd name="connsiteY28" fmla="*/ 203835 h 259270"/>
                <a:gd name="connsiteX29" fmla="*/ 37359 w 242527"/>
                <a:gd name="connsiteY29" fmla="*/ 218980 h 259270"/>
                <a:gd name="connsiteX30" fmla="*/ 54980 w 242527"/>
                <a:gd name="connsiteY30" fmla="*/ 206788 h 259270"/>
                <a:gd name="connsiteX31" fmla="*/ 57837 w 242527"/>
                <a:gd name="connsiteY31" fmla="*/ 206597 h 259270"/>
                <a:gd name="connsiteX32" fmla="*/ 72411 w 242527"/>
                <a:gd name="connsiteY32" fmla="*/ 204788 h 259270"/>
                <a:gd name="connsiteX33" fmla="*/ 119178 w 242527"/>
                <a:gd name="connsiteY33" fmla="*/ 259271 h 259270"/>
                <a:gd name="connsiteX34" fmla="*/ 165946 w 242527"/>
                <a:gd name="connsiteY34" fmla="*/ 204788 h 259270"/>
                <a:gd name="connsiteX35" fmla="*/ 190235 w 242527"/>
                <a:gd name="connsiteY35" fmla="*/ 206978 h 259270"/>
                <a:gd name="connsiteX36" fmla="*/ 235383 w 242527"/>
                <a:gd name="connsiteY36" fmla="*/ 186976 h 259270"/>
                <a:gd name="connsiteX37" fmla="*/ 236622 w 242527"/>
                <a:gd name="connsiteY37" fmla="*/ 162782 h 259270"/>
                <a:gd name="connsiteX38" fmla="*/ 242527 w 242527"/>
                <a:gd name="connsiteY38" fmla="*/ 149066 h 259270"/>
                <a:gd name="connsiteX39" fmla="*/ 216905 w 242527"/>
                <a:gd name="connsiteY39" fmla="*/ 166688 h 259270"/>
                <a:gd name="connsiteX40" fmla="*/ 221763 w 242527"/>
                <a:gd name="connsiteY40" fmla="*/ 167640 h 259270"/>
                <a:gd name="connsiteX41" fmla="*/ 221382 w 242527"/>
                <a:gd name="connsiteY41" fmla="*/ 180118 h 259270"/>
                <a:gd name="connsiteX42" fmla="*/ 221382 w 242527"/>
                <a:gd name="connsiteY42" fmla="*/ 180118 h 259270"/>
                <a:gd name="connsiteX43" fmla="*/ 169756 w 242527"/>
                <a:gd name="connsiteY43" fmla="*/ 189643 h 259270"/>
                <a:gd name="connsiteX44" fmla="*/ 174042 w 242527"/>
                <a:gd name="connsiteY44" fmla="*/ 163735 h 259270"/>
                <a:gd name="connsiteX45" fmla="*/ 204713 w 242527"/>
                <a:gd name="connsiteY45" fmla="*/ 140494 h 259270"/>
                <a:gd name="connsiteX46" fmla="*/ 206142 w 242527"/>
                <a:gd name="connsiteY46" fmla="*/ 142018 h 259270"/>
                <a:gd name="connsiteX47" fmla="*/ 204808 w 242527"/>
                <a:gd name="connsiteY47" fmla="*/ 148971 h 259270"/>
                <a:gd name="connsiteX48" fmla="*/ 216905 w 242527"/>
                <a:gd name="connsiteY48" fmla="*/ 166688 h 259270"/>
                <a:gd name="connsiteX49" fmla="*/ 175662 w 242527"/>
                <a:gd name="connsiteY49" fmla="*/ 115253 h 259270"/>
                <a:gd name="connsiteX50" fmla="*/ 193664 w 242527"/>
                <a:gd name="connsiteY50" fmla="*/ 129540 h 259270"/>
                <a:gd name="connsiteX51" fmla="*/ 175662 w 242527"/>
                <a:gd name="connsiteY51" fmla="*/ 143828 h 259270"/>
                <a:gd name="connsiteX52" fmla="*/ 175947 w 242527"/>
                <a:gd name="connsiteY52" fmla="*/ 129445 h 259270"/>
                <a:gd name="connsiteX53" fmla="*/ 175662 w 242527"/>
                <a:gd name="connsiteY53" fmla="*/ 115253 h 259270"/>
                <a:gd name="connsiteX54" fmla="*/ 156993 w 242527"/>
                <a:gd name="connsiteY54" fmla="*/ 173927 h 259270"/>
                <a:gd name="connsiteX55" fmla="*/ 154611 w 242527"/>
                <a:gd name="connsiteY55" fmla="*/ 186595 h 259270"/>
                <a:gd name="connsiteX56" fmla="*/ 140324 w 242527"/>
                <a:gd name="connsiteY56" fmla="*/ 182594 h 259270"/>
                <a:gd name="connsiteX57" fmla="*/ 144420 w 242527"/>
                <a:gd name="connsiteY57" fmla="*/ 180594 h 259270"/>
                <a:gd name="connsiteX58" fmla="*/ 156993 w 242527"/>
                <a:gd name="connsiteY58" fmla="*/ 173927 h 259270"/>
                <a:gd name="connsiteX59" fmla="*/ 94032 w 242527"/>
                <a:gd name="connsiteY59" fmla="*/ 180594 h 259270"/>
                <a:gd name="connsiteX60" fmla="*/ 98033 w 242527"/>
                <a:gd name="connsiteY60" fmla="*/ 182499 h 259270"/>
                <a:gd name="connsiteX61" fmla="*/ 83745 w 242527"/>
                <a:gd name="connsiteY61" fmla="*/ 186500 h 259270"/>
                <a:gd name="connsiteX62" fmla="*/ 81364 w 242527"/>
                <a:gd name="connsiteY62" fmla="*/ 173831 h 259270"/>
                <a:gd name="connsiteX63" fmla="*/ 94032 w 242527"/>
                <a:gd name="connsiteY63" fmla="*/ 180594 h 259270"/>
                <a:gd name="connsiteX64" fmla="*/ 81364 w 242527"/>
                <a:gd name="connsiteY64" fmla="*/ 85249 h 259270"/>
                <a:gd name="connsiteX65" fmla="*/ 83745 w 242527"/>
                <a:gd name="connsiteY65" fmla="*/ 72676 h 259270"/>
                <a:gd name="connsiteX66" fmla="*/ 98128 w 242527"/>
                <a:gd name="connsiteY66" fmla="*/ 76772 h 259270"/>
                <a:gd name="connsiteX67" fmla="*/ 94128 w 242527"/>
                <a:gd name="connsiteY67" fmla="*/ 78677 h 259270"/>
                <a:gd name="connsiteX68" fmla="*/ 81364 w 242527"/>
                <a:gd name="connsiteY68" fmla="*/ 85249 h 259270"/>
                <a:gd name="connsiteX69" fmla="*/ 147849 w 242527"/>
                <a:gd name="connsiteY69" fmla="*/ 49911 h 259270"/>
                <a:gd name="connsiteX70" fmla="*/ 150516 w 242527"/>
                <a:gd name="connsiteY70" fmla="*/ 57626 h 259270"/>
                <a:gd name="connsiteX71" fmla="*/ 119274 w 242527"/>
                <a:gd name="connsiteY71" fmla="*/ 67723 h 259270"/>
                <a:gd name="connsiteX72" fmla="*/ 87651 w 242527"/>
                <a:gd name="connsiteY72" fmla="*/ 57626 h 259270"/>
                <a:gd name="connsiteX73" fmla="*/ 119083 w 242527"/>
                <a:gd name="connsiteY73" fmla="*/ 15621 h 259270"/>
                <a:gd name="connsiteX74" fmla="*/ 130799 w 242527"/>
                <a:gd name="connsiteY74" fmla="*/ 21146 h 259270"/>
                <a:gd name="connsiteX75" fmla="*/ 127941 w 242527"/>
                <a:gd name="connsiteY75" fmla="*/ 31052 h 259270"/>
                <a:gd name="connsiteX76" fmla="*/ 147849 w 242527"/>
                <a:gd name="connsiteY76" fmla="*/ 49911 h 259270"/>
                <a:gd name="connsiteX77" fmla="*/ 137371 w 242527"/>
                <a:gd name="connsiteY77" fmla="*/ 92678 h 259270"/>
                <a:gd name="connsiteX78" fmla="*/ 159279 w 242527"/>
                <a:gd name="connsiteY78" fmla="*/ 104584 h 259270"/>
                <a:gd name="connsiteX79" fmla="*/ 160326 w 242527"/>
                <a:gd name="connsiteY79" fmla="*/ 129540 h 259270"/>
                <a:gd name="connsiteX80" fmla="*/ 159279 w 242527"/>
                <a:gd name="connsiteY80" fmla="*/ 154496 h 259270"/>
                <a:gd name="connsiteX81" fmla="*/ 137276 w 242527"/>
                <a:gd name="connsiteY81" fmla="*/ 166497 h 259270"/>
                <a:gd name="connsiteX82" fmla="*/ 119083 w 242527"/>
                <a:gd name="connsiteY82" fmla="*/ 174784 h 259270"/>
                <a:gd name="connsiteX83" fmla="*/ 100890 w 242527"/>
                <a:gd name="connsiteY83" fmla="*/ 166497 h 259270"/>
                <a:gd name="connsiteX84" fmla="*/ 78983 w 242527"/>
                <a:gd name="connsiteY84" fmla="*/ 154496 h 259270"/>
                <a:gd name="connsiteX85" fmla="*/ 77935 w 242527"/>
                <a:gd name="connsiteY85" fmla="*/ 129540 h 259270"/>
                <a:gd name="connsiteX86" fmla="*/ 78983 w 242527"/>
                <a:gd name="connsiteY86" fmla="*/ 104489 h 259270"/>
                <a:gd name="connsiteX87" fmla="*/ 100890 w 242527"/>
                <a:gd name="connsiteY87" fmla="*/ 92583 h 259270"/>
                <a:gd name="connsiteX88" fmla="*/ 119369 w 242527"/>
                <a:gd name="connsiteY88" fmla="*/ 84392 h 259270"/>
                <a:gd name="connsiteX89" fmla="*/ 137371 w 242527"/>
                <a:gd name="connsiteY89" fmla="*/ 92678 h 259270"/>
                <a:gd name="connsiteX90" fmla="*/ 144324 w 242527"/>
                <a:gd name="connsiteY90" fmla="*/ 78677 h 259270"/>
                <a:gd name="connsiteX91" fmla="*/ 140419 w 242527"/>
                <a:gd name="connsiteY91" fmla="*/ 76772 h 259270"/>
                <a:gd name="connsiteX92" fmla="*/ 154611 w 242527"/>
                <a:gd name="connsiteY92" fmla="*/ 72676 h 259270"/>
                <a:gd name="connsiteX93" fmla="*/ 156993 w 242527"/>
                <a:gd name="connsiteY93" fmla="*/ 85249 h 259270"/>
                <a:gd name="connsiteX94" fmla="*/ 144324 w 242527"/>
                <a:gd name="connsiteY94" fmla="*/ 78677 h 259270"/>
                <a:gd name="connsiteX95" fmla="*/ 62695 w 242527"/>
                <a:gd name="connsiteY95" fmla="*/ 143923 h 259270"/>
                <a:gd name="connsiteX96" fmla="*/ 44598 w 242527"/>
                <a:gd name="connsiteY96" fmla="*/ 129540 h 259270"/>
                <a:gd name="connsiteX97" fmla="*/ 62695 w 242527"/>
                <a:gd name="connsiteY97" fmla="*/ 115253 h 259270"/>
                <a:gd name="connsiteX98" fmla="*/ 62409 w 242527"/>
                <a:gd name="connsiteY98" fmla="*/ 129635 h 259270"/>
                <a:gd name="connsiteX99" fmla="*/ 62695 w 242527"/>
                <a:gd name="connsiteY99" fmla="*/ 143923 h 259270"/>
                <a:gd name="connsiteX100" fmla="*/ 64219 w 242527"/>
                <a:gd name="connsiteY100" fmla="*/ 95345 h 259270"/>
                <a:gd name="connsiteX101" fmla="*/ 33453 w 242527"/>
                <a:gd name="connsiteY101" fmla="*/ 118586 h 259270"/>
                <a:gd name="connsiteX102" fmla="*/ 16880 w 242527"/>
                <a:gd name="connsiteY102" fmla="*/ 79153 h 259270"/>
                <a:gd name="connsiteX103" fmla="*/ 48122 w 242527"/>
                <a:gd name="connsiteY103" fmla="*/ 67818 h 259270"/>
                <a:gd name="connsiteX104" fmla="*/ 68505 w 242527"/>
                <a:gd name="connsiteY104" fmla="*/ 69533 h 259270"/>
                <a:gd name="connsiteX105" fmla="*/ 64219 w 242527"/>
                <a:gd name="connsiteY105" fmla="*/ 95345 h 259270"/>
                <a:gd name="connsiteX106" fmla="*/ 17070 w 242527"/>
                <a:gd name="connsiteY106" fmla="*/ 165544 h 259270"/>
                <a:gd name="connsiteX107" fmla="*/ 33549 w 242527"/>
                <a:gd name="connsiteY107" fmla="*/ 140494 h 259270"/>
                <a:gd name="connsiteX108" fmla="*/ 64314 w 242527"/>
                <a:gd name="connsiteY108" fmla="*/ 163735 h 259270"/>
                <a:gd name="connsiteX109" fmla="*/ 68505 w 242527"/>
                <a:gd name="connsiteY109" fmla="*/ 189643 h 259270"/>
                <a:gd name="connsiteX110" fmla="*/ 56694 w 242527"/>
                <a:gd name="connsiteY110" fmla="*/ 191072 h 259270"/>
                <a:gd name="connsiteX111" fmla="*/ 56694 w 242527"/>
                <a:gd name="connsiteY111" fmla="*/ 191072 h 259270"/>
                <a:gd name="connsiteX112" fmla="*/ 54027 w 242527"/>
                <a:gd name="connsiteY112" fmla="*/ 191262 h 259270"/>
                <a:gd name="connsiteX113" fmla="*/ 37359 w 242527"/>
                <a:gd name="connsiteY113" fmla="*/ 181261 h 259270"/>
                <a:gd name="connsiteX114" fmla="*/ 23928 w 242527"/>
                <a:gd name="connsiteY114" fmla="*/ 186881 h 259270"/>
                <a:gd name="connsiteX115" fmla="*/ 16880 w 242527"/>
                <a:gd name="connsiteY115" fmla="*/ 180213 h 259270"/>
                <a:gd name="connsiteX116" fmla="*/ 17070 w 242527"/>
                <a:gd name="connsiteY116" fmla="*/ 165544 h 259270"/>
                <a:gd name="connsiteX117" fmla="*/ 119083 w 242527"/>
                <a:gd name="connsiteY117" fmla="*/ 191548 h 259270"/>
                <a:gd name="connsiteX118" fmla="*/ 150516 w 242527"/>
                <a:gd name="connsiteY118" fmla="*/ 201549 h 259270"/>
                <a:gd name="connsiteX119" fmla="*/ 119083 w 242527"/>
                <a:gd name="connsiteY119" fmla="*/ 243650 h 259270"/>
                <a:gd name="connsiteX120" fmla="*/ 87651 w 242527"/>
                <a:gd name="connsiteY120" fmla="*/ 201549 h 259270"/>
                <a:gd name="connsiteX121" fmla="*/ 119083 w 242527"/>
                <a:gd name="connsiteY121" fmla="*/ 191548 h 259270"/>
                <a:gd name="connsiteX122" fmla="*/ 143562 w 242527"/>
                <a:gd name="connsiteY122" fmla="*/ 31052 h 259270"/>
                <a:gd name="connsiteX123" fmla="*/ 146896 w 242527"/>
                <a:gd name="connsiteY123" fmla="*/ 27813 h 259270"/>
                <a:gd name="connsiteX124" fmla="*/ 150135 w 242527"/>
                <a:gd name="connsiteY124" fmla="*/ 31052 h 259270"/>
                <a:gd name="connsiteX125" fmla="*/ 146896 w 242527"/>
                <a:gd name="connsiteY125" fmla="*/ 34385 h 259270"/>
                <a:gd name="connsiteX126" fmla="*/ 143562 w 242527"/>
                <a:gd name="connsiteY126" fmla="*/ 31052 h 259270"/>
                <a:gd name="connsiteX127" fmla="*/ 40216 w 242527"/>
                <a:gd name="connsiteY127" fmla="*/ 201644 h 259270"/>
                <a:gd name="connsiteX128" fmla="*/ 34025 w 242527"/>
                <a:gd name="connsiteY128" fmla="*/ 200025 h 259270"/>
                <a:gd name="connsiteX129" fmla="*/ 37359 w 242527"/>
                <a:gd name="connsiteY129" fmla="*/ 196691 h 259270"/>
                <a:gd name="connsiteX130" fmla="*/ 40026 w 242527"/>
                <a:gd name="connsiteY130" fmla="*/ 198311 h 259270"/>
                <a:gd name="connsiteX131" fmla="*/ 40216 w 242527"/>
                <a:gd name="connsiteY131" fmla="*/ 201644 h 259270"/>
                <a:gd name="connsiteX132" fmla="*/ 220429 w 242527"/>
                <a:gd name="connsiteY132" fmla="*/ 149066 h 259270"/>
                <a:gd name="connsiteX133" fmla="*/ 223668 w 242527"/>
                <a:gd name="connsiteY133" fmla="*/ 145733 h 259270"/>
                <a:gd name="connsiteX134" fmla="*/ 227001 w 242527"/>
                <a:gd name="connsiteY134" fmla="*/ 149066 h 259270"/>
                <a:gd name="connsiteX135" fmla="*/ 223668 w 242527"/>
                <a:gd name="connsiteY135" fmla="*/ 152305 h 259270"/>
                <a:gd name="connsiteX136" fmla="*/ 220429 w 242527"/>
                <a:gd name="connsiteY136" fmla="*/ 149066 h 259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242527" h="259270">
                  <a:moveTo>
                    <a:pt x="242527" y="149066"/>
                  </a:moveTo>
                  <a:cubicBezTo>
                    <a:pt x="242527" y="138684"/>
                    <a:pt x="234050" y="130207"/>
                    <a:pt x="223668" y="130207"/>
                  </a:cubicBezTo>
                  <a:cubicBezTo>
                    <a:pt x="221477" y="130207"/>
                    <a:pt x="219286" y="130588"/>
                    <a:pt x="217286" y="131350"/>
                  </a:cubicBezTo>
                  <a:cubicBezTo>
                    <a:pt x="216810" y="130874"/>
                    <a:pt x="216333" y="130302"/>
                    <a:pt x="215857" y="129826"/>
                  </a:cubicBezTo>
                  <a:cubicBezTo>
                    <a:pt x="218715" y="126873"/>
                    <a:pt x="222048" y="122682"/>
                    <a:pt x="224239" y="119634"/>
                  </a:cubicBezTo>
                  <a:cubicBezTo>
                    <a:pt x="234526" y="105823"/>
                    <a:pt x="239098" y="93726"/>
                    <a:pt x="238146" y="82582"/>
                  </a:cubicBezTo>
                  <a:cubicBezTo>
                    <a:pt x="236812" y="67342"/>
                    <a:pt x="223953" y="56388"/>
                    <a:pt x="203760" y="53340"/>
                  </a:cubicBezTo>
                  <a:cubicBezTo>
                    <a:pt x="197474" y="52388"/>
                    <a:pt x="190806" y="52197"/>
                    <a:pt x="183186" y="52578"/>
                  </a:cubicBezTo>
                  <a:cubicBezTo>
                    <a:pt x="178900" y="52769"/>
                    <a:pt x="175852" y="56293"/>
                    <a:pt x="176043" y="60674"/>
                  </a:cubicBezTo>
                  <a:cubicBezTo>
                    <a:pt x="176233" y="65056"/>
                    <a:pt x="179281" y="68485"/>
                    <a:pt x="183948" y="68199"/>
                  </a:cubicBezTo>
                  <a:lnTo>
                    <a:pt x="184901" y="68199"/>
                  </a:lnTo>
                  <a:cubicBezTo>
                    <a:pt x="196712" y="67913"/>
                    <a:pt x="212809" y="67342"/>
                    <a:pt x="220048" y="77248"/>
                  </a:cubicBezTo>
                  <a:cubicBezTo>
                    <a:pt x="227287" y="87154"/>
                    <a:pt x="218429" y="102108"/>
                    <a:pt x="209761" y="113062"/>
                  </a:cubicBezTo>
                  <a:cubicBezTo>
                    <a:pt x="208142" y="115062"/>
                    <a:pt x="206427" y="117062"/>
                    <a:pt x="204713" y="118967"/>
                  </a:cubicBezTo>
                  <a:cubicBezTo>
                    <a:pt x="195759" y="110871"/>
                    <a:pt x="185472" y="103061"/>
                    <a:pt x="174042" y="95726"/>
                  </a:cubicBezTo>
                  <a:cubicBezTo>
                    <a:pt x="172614" y="82868"/>
                    <a:pt x="170328" y="70771"/>
                    <a:pt x="167280" y="59722"/>
                  </a:cubicBezTo>
                  <a:cubicBezTo>
                    <a:pt x="165660" y="53340"/>
                    <a:pt x="163851" y="47720"/>
                    <a:pt x="161850" y="42577"/>
                  </a:cubicBezTo>
                  <a:cubicBezTo>
                    <a:pt x="164422" y="39243"/>
                    <a:pt x="165756" y="35243"/>
                    <a:pt x="165756" y="31052"/>
                  </a:cubicBezTo>
                  <a:cubicBezTo>
                    <a:pt x="165756" y="20669"/>
                    <a:pt x="157278" y="12192"/>
                    <a:pt x="146896" y="12192"/>
                  </a:cubicBezTo>
                  <a:cubicBezTo>
                    <a:pt x="146039" y="12192"/>
                    <a:pt x="145182" y="12287"/>
                    <a:pt x="144324" y="12383"/>
                  </a:cubicBezTo>
                  <a:cubicBezTo>
                    <a:pt x="136704" y="4191"/>
                    <a:pt x="128227" y="0"/>
                    <a:pt x="119178" y="0"/>
                  </a:cubicBezTo>
                  <a:cubicBezTo>
                    <a:pt x="99843" y="0"/>
                    <a:pt x="82888" y="19812"/>
                    <a:pt x="72411" y="54388"/>
                  </a:cubicBezTo>
                  <a:cubicBezTo>
                    <a:pt x="63838" y="52959"/>
                    <a:pt x="55647" y="52197"/>
                    <a:pt x="48122" y="52197"/>
                  </a:cubicBezTo>
                  <a:cubicBezTo>
                    <a:pt x="24976" y="52197"/>
                    <a:pt x="9355" y="59150"/>
                    <a:pt x="2973" y="72200"/>
                  </a:cubicBezTo>
                  <a:cubicBezTo>
                    <a:pt x="-4551" y="87440"/>
                    <a:pt x="2307" y="107728"/>
                    <a:pt x="22404" y="129445"/>
                  </a:cubicBezTo>
                  <a:cubicBezTo>
                    <a:pt x="12498" y="140113"/>
                    <a:pt x="5736" y="150590"/>
                    <a:pt x="2402" y="160496"/>
                  </a:cubicBezTo>
                  <a:cubicBezTo>
                    <a:pt x="-932" y="170402"/>
                    <a:pt x="-741" y="179356"/>
                    <a:pt x="2973" y="186976"/>
                  </a:cubicBezTo>
                  <a:cubicBezTo>
                    <a:pt x="6021" y="193262"/>
                    <a:pt x="11260" y="198120"/>
                    <a:pt x="18499" y="201454"/>
                  </a:cubicBezTo>
                  <a:cubicBezTo>
                    <a:pt x="18594" y="202216"/>
                    <a:pt x="18690" y="202978"/>
                    <a:pt x="18880" y="203835"/>
                  </a:cubicBezTo>
                  <a:cubicBezTo>
                    <a:pt x="20690" y="212598"/>
                    <a:pt x="28500" y="218980"/>
                    <a:pt x="37359" y="218980"/>
                  </a:cubicBezTo>
                  <a:cubicBezTo>
                    <a:pt x="45264" y="218980"/>
                    <a:pt x="52218" y="214027"/>
                    <a:pt x="54980" y="206788"/>
                  </a:cubicBezTo>
                  <a:cubicBezTo>
                    <a:pt x="55932" y="206693"/>
                    <a:pt x="56885" y="206693"/>
                    <a:pt x="57837" y="206597"/>
                  </a:cubicBezTo>
                  <a:cubicBezTo>
                    <a:pt x="62600" y="206216"/>
                    <a:pt x="67458" y="205645"/>
                    <a:pt x="72411" y="204788"/>
                  </a:cubicBezTo>
                  <a:cubicBezTo>
                    <a:pt x="82888" y="239459"/>
                    <a:pt x="99843" y="259271"/>
                    <a:pt x="119178" y="259271"/>
                  </a:cubicBezTo>
                  <a:cubicBezTo>
                    <a:pt x="138514" y="259271"/>
                    <a:pt x="155469" y="239459"/>
                    <a:pt x="165946" y="204788"/>
                  </a:cubicBezTo>
                  <a:cubicBezTo>
                    <a:pt x="174614" y="206216"/>
                    <a:pt x="182710" y="206978"/>
                    <a:pt x="190235" y="206978"/>
                  </a:cubicBezTo>
                  <a:cubicBezTo>
                    <a:pt x="213381" y="206978"/>
                    <a:pt x="229002" y="200120"/>
                    <a:pt x="235383" y="186976"/>
                  </a:cubicBezTo>
                  <a:cubicBezTo>
                    <a:pt x="238908" y="179927"/>
                    <a:pt x="239289" y="171831"/>
                    <a:pt x="236622" y="162782"/>
                  </a:cubicBezTo>
                  <a:cubicBezTo>
                    <a:pt x="240336" y="159258"/>
                    <a:pt x="242527" y="154305"/>
                    <a:pt x="242527" y="149066"/>
                  </a:cubicBezTo>
                  <a:close/>
                  <a:moveTo>
                    <a:pt x="216905" y="166688"/>
                  </a:moveTo>
                  <a:cubicBezTo>
                    <a:pt x="217953" y="167069"/>
                    <a:pt x="219953" y="167450"/>
                    <a:pt x="221763" y="167640"/>
                  </a:cubicBezTo>
                  <a:cubicBezTo>
                    <a:pt x="223096" y="172593"/>
                    <a:pt x="223001" y="176879"/>
                    <a:pt x="221382" y="180118"/>
                  </a:cubicBezTo>
                  <a:lnTo>
                    <a:pt x="221382" y="180118"/>
                  </a:lnTo>
                  <a:cubicBezTo>
                    <a:pt x="216524" y="190024"/>
                    <a:pt x="196140" y="193834"/>
                    <a:pt x="169756" y="189643"/>
                  </a:cubicBezTo>
                  <a:cubicBezTo>
                    <a:pt x="171566" y="181261"/>
                    <a:pt x="172995" y="172593"/>
                    <a:pt x="174042" y="163735"/>
                  </a:cubicBezTo>
                  <a:cubicBezTo>
                    <a:pt x="185472" y="156401"/>
                    <a:pt x="195855" y="148590"/>
                    <a:pt x="204713" y="140494"/>
                  </a:cubicBezTo>
                  <a:cubicBezTo>
                    <a:pt x="205189" y="140970"/>
                    <a:pt x="205665" y="141542"/>
                    <a:pt x="206142" y="142018"/>
                  </a:cubicBezTo>
                  <a:cubicBezTo>
                    <a:pt x="205284" y="144209"/>
                    <a:pt x="204808" y="146590"/>
                    <a:pt x="204808" y="148971"/>
                  </a:cubicBezTo>
                  <a:cubicBezTo>
                    <a:pt x="204808" y="156781"/>
                    <a:pt x="209666" y="163925"/>
                    <a:pt x="216905" y="166688"/>
                  </a:cubicBezTo>
                  <a:close/>
                  <a:moveTo>
                    <a:pt x="175662" y="115253"/>
                  </a:moveTo>
                  <a:cubicBezTo>
                    <a:pt x="182234" y="119920"/>
                    <a:pt x="188235" y="124682"/>
                    <a:pt x="193664" y="129540"/>
                  </a:cubicBezTo>
                  <a:cubicBezTo>
                    <a:pt x="188235" y="134398"/>
                    <a:pt x="182139" y="139256"/>
                    <a:pt x="175662" y="143828"/>
                  </a:cubicBezTo>
                  <a:cubicBezTo>
                    <a:pt x="175852" y="139160"/>
                    <a:pt x="175947" y="134398"/>
                    <a:pt x="175947" y="129445"/>
                  </a:cubicBezTo>
                  <a:cubicBezTo>
                    <a:pt x="175947" y="124778"/>
                    <a:pt x="175852" y="120015"/>
                    <a:pt x="175662" y="115253"/>
                  </a:cubicBezTo>
                  <a:close/>
                  <a:moveTo>
                    <a:pt x="156993" y="173927"/>
                  </a:moveTo>
                  <a:cubicBezTo>
                    <a:pt x="156326" y="178308"/>
                    <a:pt x="155469" y="182499"/>
                    <a:pt x="154611" y="186595"/>
                  </a:cubicBezTo>
                  <a:cubicBezTo>
                    <a:pt x="149944" y="185452"/>
                    <a:pt x="145182" y="184118"/>
                    <a:pt x="140324" y="182594"/>
                  </a:cubicBezTo>
                  <a:cubicBezTo>
                    <a:pt x="141657" y="181928"/>
                    <a:pt x="142991" y="181261"/>
                    <a:pt x="144420" y="180594"/>
                  </a:cubicBezTo>
                  <a:cubicBezTo>
                    <a:pt x="148611" y="178403"/>
                    <a:pt x="152802" y="176213"/>
                    <a:pt x="156993" y="173927"/>
                  </a:cubicBezTo>
                  <a:close/>
                  <a:moveTo>
                    <a:pt x="94032" y="180594"/>
                  </a:moveTo>
                  <a:cubicBezTo>
                    <a:pt x="95366" y="181261"/>
                    <a:pt x="96699" y="181928"/>
                    <a:pt x="98033" y="182499"/>
                  </a:cubicBezTo>
                  <a:cubicBezTo>
                    <a:pt x="93175" y="184023"/>
                    <a:pt x="88413" y="185356"/>
                    <a:pt x="83745" y="186500"/>
                  </a:cubicBezTo>
                  <a:cubicBezTo>
                    <a:pt x="82793" y="182499"/>
                    <a:pt x="82031" y="178213"/>
                    <a:pt x="81364" y="173831"/>
                  </a:cubicBezTo>
                  <a:cubicBezTo>
                    <a:pt x="85460" y="176213"/>
                    <a:pt x="89746" y="178403"/>
                    <a:pt x="94032" y="180594"/>
                  </a:cubicBezTo>
                  <a:close/>
                  <a:moveTo>
                    <a:pt x="81364" y="85249"/>
                  </a:moveTo>
                  <a:cubicBezTo>
                    <a:pt x="82031" y="80867"/>
                    <a:pt x="82793" y="76676"/>
                    <a:pt x="83745" y="72676"/>
                  </a:cubicBezTo>
                  <a:cubicBezTo>
                    <a:pt x="88413" y="73819"/>
                    <a:pt x="93175" y="75152"/>
                    <a:pt x="98128" y="76772"/>
                  </a:cubicBezTo>
                  <a:cubicBezTo>
                    <a:pt x="96795" y="77438"/>
                    <a:pt x="95461" y="78010"/>
                    <a:pt x="94128" y="78677"/>
                  </a:cubicBezTo>
                  <a:cubicBezTo>
                    <a:pt x="89651" y="80772"/>
                    <a:pt x="85365" y="82963"/>
                    <a:pt x="81364" y="85249"/>
                  </a:cubicBezTo>
                  <a:close/>
                  <a:moveTo>
                    <a:pt x="147849" y="49911"/>
                  </a:moveTo>
                  <a:cubicBezTo>
                    <a:pt x="148801" y="52483"/>
                    <a:pt x="149658" y="55055"/>
                    <a:pt x="150516" y="57626"/>
                  </a:cubicBezTo>
                  <a:cubicBezTo>
                    <a:pt x="140705" y="60103"/>
                    <a:pt x="130037" y="63532"/>
                    <a:pt x="119274" y="67723"/>
                  </a:cubicBezTo>
                  <a:cubicBezTo>
                    <a:pt x="108510" y="63532"/>
                    <a:pt x="97938" y="60198"/>
                    <a:pt x="87651" y="57626"/>
                  </a:cubicBezTo>
                  <a:cubicBezTo>
                    <a:pt x="95652" y="31909"/>
                    <a:pt x="107844" y="15621"/>
                    <a:pt x="119083" y="15621"/>
                  </a:cubicBezTo>
                  <a:cubicBezTo>
                    <a:pt x="122893" y="15621"/>
                    <a:pt x="126894" y="17526"/>
                    <a:pt x="130799" y="21146"/>
                  </a:cubicBezTo>
                  <a:cubicBezTo>
                    <a:pt x="128894" y="24098"/>
                    <a:pt x="127941" y="27527"/>
                    <a:pt x="127941" y="31052"/>
                  </a:cubicBezTo>
                  <a:cubicBezTo>
                    <a:pt x="128037" y="41815"/>
                    <a:pt x="137181" y="50387"/>
                    <a:pt x="147849" y="49911"/>
                  </a:cubicBezTo>
                  <a:close/>
                  <a:moveTo>
                    <a:pt x="137371" y="92678"/>
                  </a:moveTo>
                  <a:cubicBezTo>
                    <a:pt x="145182" y="96488"/>
                    <a:pt x="152516" y="100584"/>
                    <a:pt x="159279" y="104584"/>
                  </a:cubicBezTo>
                  <a:cubicBezTo>
                    <a:pt x="159945" y="112586"/>
                    <a:pt x="160326" y="120968"/>
                    <a:pt x="160326" y="129540"/>
                  </a:cubicBezTo>
                  <a:cubicBezTo>
                    <a:pt x="160326" y="138208"/>
                    <a:pt x="159945" y="146685"/>
                    <a:pt x="159279" y="154496"/>
                  </a:cubicBezTo>
                  <a:cubicBezTo>
                    <a:pt x="152230" y="158782"/>
                    <a:pt x="144896" y="162782"/>
                    <a:pt x="137276" y="166497"/>
                  </a:cubicBezTo>
                  <a:cubicBezTo>
                    <a:pt x="131466" y="169355"/>
                    <a:pt x="125370" y="172117"/>
                    <a:pt x="119083" y="174784"/>
                  </a:cubicBezTo>
                  <a:cubicBezTo>
                    <a:pt x="113178" y="172307"/>
                    <a:pt x="106986" y="169545"/>
                    <a:pt x="100890" y="166497"/>
                  </a:cubicBezTo>
                  <a:cubicBezTo>
                    <a:pt x="93366" y="162782"/>
                    <a:pt x="86031" y="158782"/>
                    <a:pt x="78983" y="154496"/>
                  </a:cubicBezTo>
                  <a:cubicBezTo>
                    <a:pt x="78316" y="146590"/>
                    <a:pt x="77935" y="138208"/>
                    <a:pt x="77935" y="129540"/>
                  </a:cubicBezTo>
                  <a:cubicBezTo>
                    <a:pt x="77935" y="121158"/>
                    <a:pt x="78316" y="112776"/>
                    <a:pt x="78983" y="104489"/>
                  </a:cubicBezTo>
                  <a:cubicBezTo>
                    <a:pt x="85841" y="100298"/>
                    <a:pt x="93270" y="96298"/>
                    <a:pt x="100890" y="92583"/>
                  </a:cubicBezTo>
                  <a:cubicBezTo>
                    <a:pt x="107082" y="89535"/>
                    <a:pt x="113273" y="86773"/>
                    <a:pt x="119369" y="84392"/>
                  </a:cubicBezTo>
                  <a:cubicBezTo>
                    <a:pt x="125084" y="86868"/>
                    <a:pt x="130989" y="89535"/>
                    <a:pt x="137371" y="92678"/>
                  </a:cubicBezTo>
                  <a:close/>
                  <a:moveTo>
                    <a:pt x="144324" y="78677"/>
                  </a:moveTo>
                  <a:cubicBezTo>
                    <a:pt x="142991" y="78010"/>
                    <a:pt x="141657" y="77343"/>
                    <a:pt x="140419" y="76772"/>
                  </a:cubicBezTo>
                  <a:cubicBezTo>
                    <a:pt x="145277" y="75248"/>
                    <a:pt x="150039" y="73819"/>
                    <a:pt x="154611" y="72676"/>
                  </a:cubicBezTo>
                  <a:cubicBezTo>
                    <a:pt x="155469" y="76676"/>
                    <a:pt x="156326" y="80963"/>
                    <a:pt x="156993" y="85249"/>
                  </a:cubicBezTo>
                  <a:cubicBezTo>
                    <a:pt x="152802" y="83058"/>
                    <a:pt x="148611" y="80867"/>
                    <a:pt x="144324" y="78677"/>
                  </a:cubicBezTo>
                  <a:close/>
                  <a:moveTo>
                    <a:pt x="62695" y="143923"/>
                  </a:moveTo>
                  <a:cubicBezTo>
                    <a:pt x="56123" y="139256"/>
                    <a:pt x="50122" y="134493"/>
                    <a:pt x="44598" y="129540"/>
                  </a:cubicBezTo>
                  <a:cubicBezTo>
                    <a:pt x="50122" y="124682"/>
                    <a:pt x="56123" y="119825"/>
                    <a:pt x="62695" y="115253"/>
                  </a:cubicBezTo>
                  <a:cubicBezTo>
                    <a:pt x="62505" y="119920"/>
                    <a:pt x="62409" y="124682"/>
                    <a:pt x="62409" y="129635"/>
                  </a:cubicBezTo>
                  <a:cubicBezTo>
                    <a:pt x="62409" y="134588"/>
                    <a:pt x="62409" y="139351"/>
                    <a:pt x="62695" y="143923"/>
                  </a:cubicBezTo>
                  <a:close/>
                  <a:moveTo>
                    <a:pt x="64219" y="95345"/>
                  </a:moveTo>
                  <a:cubicBezTo>
                    <a:pt x="52694" y="102775"/>
                    <a:pt x="42312" y="110585"/>
                    <a:pt x="33453" y="118586"/>
                  </a:cubicBezTo>
                  <a:cubicBezTo>
                    <a:pt x="18975" y="102680"/>
                    <a:pt x="12594" y="87725"/>
                    <a:pt x="16880" y="79153"/>
                  </a:cubicBezTo>
                  <a:cubicBezTo>
                    <a:pt x="20404" y="72009"/>
                    <a:pt x="31834" y="67818"/>
                    <a:pt x="48122" y="67818"/>
                  </a:cubicBezTo>
                  <a:cubicBezTo>
                    <a:pt x="54408" y="67818"/>
                    <a:pt x="61171" y="68390"/>
                    <a:pt x="68505" y="69533"/>
                  </a:cubicBezTo>
                  <a:cubicBezTo>
                    <a:pt x="66696" y="77629"/>
                    <a:pt x="65267" y="86297"/>
                    <a:pt x="64219" y="95345"/>
                  </a:cubicBezTo>
                  <a:close/>
                  <a:moveTo>
                    <a:pt x="17070" y="165544"/>
                  </a:moveTo>
                  <a:cubicBezTo>
                    <a:pt x="19642" y="158020"/>
                    <a:pt x="25357" y="149352"/>
                    <a:pt x="33549" y="140494"/>
                  </a:cubicBezTo>
                  <a:cubicBezTo>
                    <a:pt x="42407" y="148495"/>
                    <a:pt x="52694" y="156305"/>
                    <a:pt x="64314" y="163735"/>
                  </a:cubicBezTo>
                  <a:cubicBezTo>
                    <a:pt x="65267" y="172784"/>
                    <a:pt x="66696" y="181451"/>
                    <a:pt x="68505" y="189643"/>
                  </a:cubicBezTo>
                  <a:cubicBezTo>
                    <a:pt x="64314" y="190310"/>
                    <a:pt x="60409" y="190786"/>
                    <a:pt x="56694" y="191072"/>
                  </a:cubicBezTo>
                  <a:lnTo>
                    <a:pt x="56694" y="191072"/>
                  </a:lnTo>
                  <a:cubicBezTo>
                    <a:pt x="55837" y="191167"/>
                    <a:pt x="54885" y="191167"/>
                    <a:pt x="54027" y="191262"/>
                  </a:cubicBezTo>
                  <a:cubicBezTo>
                    <a:pt x="50789" y="185166"/>
                    <a:pt x="44407" y="181261"/>
                    <a:pt x="37359" y="181261"/>
                  </a:cubicBezTo>
                  <a:cubicBezTo>
                    <a:pt x="32310" y="181261"/>
                    <a:pt x="27453" y="183261"/>
                    <a:pt x="23928" y="186881"/>
                  </a:cubicBezTo>
                  <a:cubicBezTo>
                    <a:pt x="20595" y="185071"/>
                    <a:pt x="18213" y="182880"/>
                    <a:pt x="16880" y="180213"/>
                  </a:cubicBezTo>
                  <a:cubicBezTo>
                    <a:pt x="14975" y="176308"/>
                    <a:pt x="15070" y="171355"/>
                    <a:pt x="17070" y="165544"/>
                  </a:cubicBezTo>
                  <a:close/>
                  <a:moveTo>
                    <a:pt x="119083" y="191548"/>
                  </a:moveTo>
                  <a:cubicBezTo>
                    <a:pt x="129751" y="195644"/>
                    <a:pt x="140229" y="198977"/>
                    <a:pt x="150516" y="201549"/>
                  </a:cubicBezTo>
                  <a:cubicBezTo>
                    <a:pt x="142515" y="227267"/>
                    <a:pt x="130323" y="243650"/>
                    <a:pt x="119083" y="243650"/>
                  </a:cubicBezTo>
                  <a:cubicBezTo>
                    <a:pt x="107844" y="243650"/>
                    <a:pt x="95652" y="227267"/>
                    <a:pt x="87651" y="201549"/>
                  </a:cubicBezTo>
                  <a:cubicBezTo>
                    <a:pt x="97938" y="199073"/>
                    <a:pt x="108510" y="195739"/>
                    <a:pt x="119083" y="191548"/>
                  </a:cubicBezTo>
                  <a:close/>
                  <a:moveTo>
                    <a:pt x="143562" y="31052"/>
                  </a:moveTo>
                  <a:cubicBezTo>
                    <a:pt x="143562" y="29242"/>
                    <a:pt x="145086" y="27813"/>
                    <a:pt x="146896" y="27813"/>
                  </a:cubicBezTo>
                  <a:cubicBezTo>
                    <a:pt x="148706" y="27813"/>
                    <a:pt x="150135" y="29242"/>
                    <a:pt x="150135" y="31052"/>
                  </a:cubicBezTo>
                  <a:cubicBezTo>
                    <a:pt x="150135" y="32861"/>
                    <a:pt x="148706" y="34385"/>
                    <a:pt x="146896" y="34385"/>
                  </a:cubicBezTo>
                  <a:cubicBezTo>
                    <a:pt x="145086" y="34385"/>
                    <a:pt x="143562" y="32861"/>
                    <a:pt x="143562" y="31052"/>
                  </a:cubicBezTo>
                  <a:close/>
                  <a:moveTo>
                    <a:pt x="40216" y="201644"/>
                  </a:moveTo>
                  <a:cubicBezTo>
                    <a:pt x="38787" y="204311"/>
                    <a:pt x="34025" y="202978"/>
                    <a:pt x="34025" y="200025"/>
                  </a:cubicBezTo>
                  <a:cubicBezTo>
                    <a:pt x="34025" y="198215"/>
                    <a:pt x="35549" y="196691"/>
                    <a:pt x="37359" y="196691"/>
                  </a:cubicBezTo>
                  <a:cubicBezTo>
                    <a:pt x="38883" y="196691"/>
                    <a:pt x="39740" y="197834"/>
                    <a:pt x="40026" y="198311"/>
                  </a:cubicBezTo>
                  <a:cubicBezTo>
                    <a:pt x="40692" y="199358"/>
                    <a:pt x="40692" y="200597"/>
                    <a:pt x="40216" y="201644"/>
                  </a:cubicBezTo>
                  <a:close/>
                  <a:moveTo>
                    <a:pt x="220429" y="149066"/>
                  </a:moveTo>
                  <a:cubicBezTo>
                    <a:pt x="220429" y="147257"/>
                    <a:pt x="221858" y="145733"/>
                    <a:pt x="223668" y="145733"/>
                  </a:cubicBezTo>
                  <a:cubicBezTo>
                    <a:pt x="225477" y="145733"/>
                    <a:pt x="227001" y="147257"/>
                    <a:pt x="227001" y="149066"/>
                  </a:cubicBezTo>
                  <a:cubicBezTo>
                    <a:pt x="227001" y="150876"/>
                    <a:pt x="225477" y="152305"/>
                    <a:pt x="223668" y="152305"/>
                  </a:cubicBezTo>
                  <a:cubicBezTo>
                    <a:pt x="221858" y="152305"/>
                    <a:pt x="220429" y="150876"/>
                    <a:pt x="220429" y="1490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84007658-136E-4783-A503-DEF38F76667F}"/>
                </a:ext>
              </a:extLst>
            </p:cNvPr>
            <p:cNvSpPr/>
            <p:nvPr/>
          </p:nvSpPr>
          <p:spPr>
            <a:xfrm>
              <a:off x="8725400" y="7797319"/>
              <a:ext cx="53149" cy="53149"/>
            </a:xfrm>
            <a:custGeom>
              <a:avLst/>
              <a:gdLst>
                <a:gd name="connsiteX0" fmla="*/ 0 w 53149"/>
                <a:gd name="connsiteY0" fmla="*/ 26575 h 53149"/>
                <a:gd name="connsiteX1" fmla="*/ 26575 w 53149"/>
                <a:gd name="connsiteY1" fmla="*/ 53150 h 53149"/>
                <a:gd name="connsiteX2" fmla="*/ 53150 w 53149"/>
                <a:gd name="connsiteY2" fmla="*/ 26575 h 53149"/>
                <a:gd name="connsiteX3" fmla="*/ 26575 w 53149"/>
                <a:gd name="connsiteY3" fmla="*/ 0 h 53149"/>
                <a:gd name="connsiteX4" fmla="*/ 0 w 53149"/>
                <a:gd name="connsiteY4" fmla="*/ 26575 h 53149"/>
                <a:gd name="connsiteX5" fmla="*/ 15621 w 53149"/>
                <a:gd name="connsiteY5" fmla="*/ 26575 h 53149"/>
                <a:gd name="connsiteX6" fmla="*/ 26575 w 53149"/>
                <a:gd name="connsiteY6" fmla="*/ 15621 h 53149"/>
                <a:gd name="connsiteX7" fmla="*/ 37529 w 53149"/>
                <a:gd name="connsiteY7" fmla="*/ 26575 h 53149"/>
                <a:gd name="connsiteX8" fmla="*/ 26575 w 53149"/>
                <a:gd name="connsiteY8" fmla="*/ 37529 h 53149"/>
                <a:gd name="connsiteX9" fmla="*/ 15621 w 53149"/>
                <a:gd name="connsiteY9" fmla="*/ 26575 h 53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49" h="53149">
                  <a:moveTo>
                    <a:pt x="0" y="26575"/>
                  </a:moveTo>
                  <a:cubicBezTo>
                    <a:pt x="0" y="41243"/>
                    <a:pt x="11906" y="53150"/>
                    <a:pt x="26575" y="53150"/>
                  </a:cubicBezTo>
                  <a:cubicBezTo>
                    <a:pt x="41243" y="53150"/>
                    <a:pt x="53150" y="41243"/>
                    <a:pt x="53150" y="26575"/>
                  </a:cubicBezTo>
                  <a:cubicBezTo>
                    <a:pt x="53150" y="11906"/>
                    <a:pt x="41243" y="0"/>
                    <a:pt x="26575" y="0"/>
                  </a:cubicBezTo>
                  <a:cubicBezTo>
                    <a:pt x="11906" y="0"/>
                    <a:pt x="0" y="11906"/>
                    <a:pt x="0" y="26575"/>
                  </a:cubicBezTo>
                  <a:close/>
                  <a:moveTo>
                    <a:pt x="15621" y="26575"/>
                  </a:moveTo>
                  <a:cubicBezTo>
                    <a:pt x="15621" y="20574"/>
                    <a:pt x="20574" y="15621"/>
                    <a:pt x="26575" y="15621"/>
                  </a:cubicBezTo>
                  <a:cubicBezTo>
                    <a:pt x="32576" y="15621"/>
                    <a:pt x="37529" y="20574"/>
                    <a:pt x="37529" y="26575"/>
                  </a:cubicBezTo>
                  <a:cubicBezTo>
                    <a:pt x="37529" y="32576"/>
                    <a:pt x="32576" y="37529"/>
                    <a:pt x="26575" y="37529"/>
                  </a:cubicBezTo>
                  <a:cubicBezTo>
                    <a:pt x="20479" y="37529"/>
                    <a:pt x="15621" y="32576"/>
                    <a:pt x="15621" y="26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latin typeface="+mj-ea"/>
                <a:ea typeface="+mj-ea"/>
              </a:endParaRPr>
            </a:p>
          </p:txBody>
        </p:sp>
      </p:grpSp>
      <p:pic>
        <p:nvPicPr>
          <p:cNvPr id="288" name="Picture 6">
            <a:extLst>
              <a:ext uri="{FF2B5EF4-FFF2-40B4-BE49-F238E27FC236}">
                <a16:creationId xmlns:a16="http://schemas.microsoft.com/office/drawing/2014/main" id="{03AA3131-434C-401C-9D1D-567908C699E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32235" y="6439032"/>
            <a:ext cx="222438" cy="177950"/>
          </a:xfrm>
          <a:prstGeom prst="rect">
            <a:avLst/>
          </a:prstGeom>
        </p:spPr>
      </p:pic>
      <p:pic>
        <p:nvPicPr>
          <p:cNvPr id="289" name="Picture 7">
            <a:extLst>
              <a:ext uri="{FF2B5EF4-FFF2-40B4-BE49-F238E27FC236}">
                <a16:creationId xmlns:a16="http://schemas.microsoft.com/office/drawing/2014/main" id="{C04DCC0A-9972-4513-AA87-6172322A203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34122" y="6630243"/>
            <a:ext cx="215023" cy="192779"/>
          </a:xfrm>
          <a:prstGeom prst="rect">
            <a:avLst/>
          </a:prstGeom>
        </p:spPr>
      </p:pic>
      <p:pic>
        <p:nvPicPr>
          <p:cNvPr id="290" name="Picture 5">
            <a:extLst>
              <a:ext uri="{FF2B5EF4-FFF2-40B4-BE49-F238E27FC236}">
                <a16:creationId xmlns:a16="http://schemas.microsoft.com/office/drawing/2014/main" id="{D79E1C2C-7EDA-4F20-8D70-55235FFE73CC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63303" y="6447577"/>
            <a:ext cx="233886" cy="167143"/>
          </a:xfrm>
          <a:prstGeom prst="rect">
            <a:avLst/>
          </a:prstGeom>
        </p:spPr>
      </p:pic>
      <p:pic>
        <p:nvPicPr>
          <p:cNvPr id="291" name="Picture 7">
            <a:extLst>
              <a:ext uri="{FF2B5EF4-FFF2-40B4-BE49-F238E27FC236}">
                <a16:creationId xmlns:a16="http://schemas.microsoft.com/office/drawing/2014/main" id="{72C60DB7-580B-4E33-8426-E56CB87EF82D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72652" y="6616245"/>
            <a:ext cx="208829" cy="216316"/>
          </a:xfrm>
          <a:prstGeom prst="rect">
            <a:avLst/>
          </a:prstGeom>
        </p:spPr>
      </p:pic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D76084A5-9CE4-4816-AD87-CDA20BD0F805}"/>
              </a:ext>
            </a:extLst>
          </p:cNvPr>
          <p:cNvGrpSpPr/>
          <p:nvPr/>
        </p:nvGrpSpPr>
        <p:grpSpPr>
          <a:xfrm>
            <a:off x="10787465" y="4649077"/>
            <a:ext cx="720000" cy="330734"/>
            <a:chOff x="10888123" y="4805889"/>
            <a:chExt cx="720000" cy="330734"/>
          </a:xfrm>
        </p:grpSpPr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1DA9F6E-1CDE-458D-AF61-EA092A5F4163}"/>
                </a:ext>
              </a:extLst>
            </p:cNvPr>
            <p:cNvSpPr txBox="1"/>
            <p:nvPr/>
          </p:nvSpPr>
          <p:spPr>
            <a:xfrm>
              <a:off x="10888123" y="4805889"/>
              <a:ext cx="720000" cy="180000"/>
            </a:xfrm>
            <a:prstGeom prst="roundRect">
              <a:avLst/>
            </a:prstGeom>
            <a:solidFill>
              <a:srgbClr val="4EBED1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미주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2.Ford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팀</a:t>
              </a:r>
              <a:endParaRPr kumimoji="0" lang="en-US" altLang="ko-KR" sz="10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5DA3B61F-BFE0-4C02-A5C6-075360D1AAD4}"/>
                </a:ext>
              </a:extLst>
            </p:cNvPr>
            <p:cNvSpPr txBox="1"/>
            <p:nvPr/>
          </p:nvSpPr>
          <p:spPr>
            <a:xfrm>
              <a:off x="10888123" y="4998124"/>
              <a:ext cx="720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OOO,</a:t>
              </a:r>
              <a:r>
                <a:rPr lang="ko-KR" altLang="en-US" sz="900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OOO</a:t>
              </a:r>
              <a:r>
                <a:rPr kumimoji="0" lang="ko-KR" altLang="en-US" sz="9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님</a:t>
              </a:r>
              <a:endParaRPr kumimoji="0" lang="ko-KR" altLang="en-US" sz="10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95" name="그룹 65">
            <a:extLst>
              <a:ext uri="{FF2B5EF4-FFF2-40B4-BE49-F238E27FC236}">
                <a16:creationId xmlns:a16="http://schemas.microsoft.com/office/drawing/2014/main" id="{98E5F55F-C65E-4353-8451-B3F1F7941BFD}"/>
              </a:ext>
            </a:extLst>
          </p:cNvPr>
          <p:cNvGrpSpPr/>
          <p:nvPr/>
        </p:nvGrpSpPr>
        <p:grpSpPr>
          <a:xfrm rot="5400000" flipH="1">
            <a:off x="10216600" y="2116206"/>
            <a:ext cx="3296038" cy="154800"/>
            <a:chOff x="-4461704" y="2296462"/>
            <a:chExt cx="7984519" cy="397626"/>
          </a:xfrm>
        </p:grpSpPr>
        <p:sp>
          <p:nvSpPr>
            <p:cNvPr id="296" name="직사각형 66">
              <a:extLst>
                <a:ext uri="{FF2B5EF4-FFF2-40B4-BE49-F238E27FC236}">
                  <a16:creationId xmlns:a16="http://schemas.microsoft.com/office/drawing/2014/main" id="{28A57375-E147-468E-ADCE-1972EBCD78B4}"/>
                </a:ext>
              </a:extLst>
            </p:cNvPr>
            <p:cNvSpPr/>
            <p:nvPr/>
          </p:nvSpPr>
          <p:spPr>
            <a:xfrm>
              <a:off x="-4461704" y="2441319"/>
              <a:ext cx="7609523" cy="251889"/>
            </a:xfrm>
            <a:prstGeom prst="rect">
              <a:avLst/>
            </a:prstGeom>
            <a:gradFill>
              <a:gsLst>
                <a:gs pos="100000">
                  <a:srgbClr val="FF6B00"/>
                </a:gs>
                <a:gs pos="0">
                  <a:srgbClr val="FF6B00">
                    <a:alpha val="20498"/>
                  </a:srgbClr>
                </a:gs>
              </a:gsLst>
              <a:lin ang="0" scaled="0"/>
            </a:gradFill>
            <a:ln w="9525" cap="flat" cmpd="sng" algn="ctr">
              <a:noFill/>
              <a:prstDash val="sysDash"/>
              <a:miter lim="800000"/>
              <a:headEnd type="oval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297" name="직각 삼각형 67">
              <a:extLst>
                <a:ext uri="{FF2B5EF4-FFF2-40B4-BE49-F238E27FC236}">
                  <a16:creationId xmlns:a16="http://schemas.microsoft.com/office/drawing/2014/main" id="{058EB12C-E084-430B-83D3-EDB59EF1CD05}"/>
                </a:ext>
              </a:extLst>
            </p:cNvPr>
            <p:cNvSpPr/>
            <p:nvPr/>
          </p:nvSpPr>
          <p:spPr>
            <a:xfrm>
              <a:off x="3147818" y="2296462"/>
              <a:ext cx="374997" cy="397626"/>
            </a:xfrm>
            <a:prstGeom prst="rtTriangle">
              <a:avLst/>
            </a:prstGeom>
            <a:solidFill>
              <a:srgbClr val="FF6B00"/>
            </a:solidFill>
            <a:ln w="9525" cap="flat" cmpd="sng" algn="ctr">
              <a:noFill/>
              <a:prstDash val="sysDash"/>
              <a:miter lim="800000"/>
              <a:headEnd type="oval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1F5030F1-64C6-4EBB-BB70-DA0495AA233C}"/>
              </a:ext>
            </a:extLst>
          </p:cNvPr>
          <p:cNvGrpSpPr/>
          <p:nvPr/>
        </p:nvGrpSpPr>
        <p:grpSpPr>
          <a:xfrm>
            <a:off x="11635514" y="2388801"/>
            <a:ext cx="406454" cy="406454"/>
            <a:chOff x="11489372" y="2133364"/>
            <a:chExt cx="406454" cy="406454"/>
          </a:xfrm>
        </p:grpSpPr>
        <p:sp>
          <p:nvSpPr>
            <p:cNvPr id="299" name="Oval 7">
              <a:extLst>
                <a:ext uri="{FF2B5EF4-FFF2-40B4-BE49-F238E27FC236}">
                  <a16:creationId xmlns:a16="http://schemas.microsoft.com/office/drawing/2014/main" id="{F66A97F1-DAA3-46E9-835B-2DE84152ABD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489372" y="2133364"/>
              <a:ext cx="406454" cy="406454"/>
            </a:xfrm>
            <a:prstGeom prst="ellipse">
              <a:avLst/>
            </a:prstGeom>
            <a:solidFill>
              <a:srgbClr val="E6F3FC"/>
            </a:solidFill>
            <a:ln w="1587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CE87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+mn-ea"/>
                <a:cs typeface="+mn-cs"/>
              </a:endParaRPr>
            </a:p>
          </p:txBody>
        </p:sp>
        <p:pic>
          <p:nvPicPr>
            <p:cNvPr id="300" name="그림 299">
              <a:extLst>
                <a:ext uri="{FF2B5EF4-FFF2-40B4-BE49-F238E27FC236}">
                  <a16:creationId xmlns:a16="http://schemas.microsoft.com/office/drawing/2014/main" id="{EB714898-4108-492F-B56B-83D7CA1268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ackgroundRemoval t="1072" b="94334" l="3763" r="96671">
                          <a14:foregroundMark x1="3184" y1="13476" x2="43994" y2="7810"/>
                          <a14:foregroundMark x1="43994" y1="7810" x2="49783" y2="14395"/>
                          <a14:foregroundMark x1="49783" y1="14395" x2="50507" y2="90658"/>
                          <a14:foregroundMark x1="50507" y1="90658" x2="42836" y2="90658"/>
                          <a14:foregroundMark x1="42836" y1="90658" x2="11433" y2="78714"/>
                          <a14:foregroundMark x1="11433" y1="78714" x2="6657" y2="71822"/>
                          <a14:foregroundMark x1="6657" y1="71822" x2="3907" y2="13629"/>
                          <a14:foregroundMark x1="47757" y1="5207" x2="47757" y2="5207"/>
                          <a14:foregroundMark x1="54993" y1="1378" x2="54993" y2="1378"/>
                          <a14:foregroundMark x1="91317" y1="13323" x2="94067" y2="13170"/>
                          <a14:foregroundMark x1="96816" y1="18530" x2="96671" y2="24655"/>
                          <a14:foregroundMark x1="47467" y1="94334" x2="54848" y2="94334"/>
                          <a14:foregroundMark x1="27352" y1="43032" x2="27352" y2="43032"/>
                          <a14:foregroundMark x1="75687" y1="30934" x2="75687" y2="30934"/>
                          <a14:foregroundMark x1="23300" y1="40735" x2="23300" y2="40735"/>
                          <a14:foregroundMark x1="21852" y1="35528" x2="21708" y2="44870"/>
                          <a14:foregroundMark x1="26049" y1="35988" x2="34443" y2="36907"/>
                          <a14:foregroundMark x1="34443" y1="36907" x2="35890" y2="37825"/>
                          <a14:foregroundMark x1="35456" y1="43645" x2="28799" y2="50689"/>
                          <a14:foregroundMark x1="28799" y1="50689" x2="25760" y2="50842"/>
                          <a14:foregroundMark x1="22287" y1="47626" x2="21852" y2="59265"/>
                          <a14:foregroundMark x1="21852" y1="60949" x2="21852" y2="63093"/>
                          <a14:foregroundMark x1="58755" y1="23583" x2="69320" y2="19296"/>
                          <a14:foregroundMark x1="69320" y1="19296" x2="77279" y2="19296"/>
                          <a14:foregroundMark x1="77279" y1="19296" x2="83792" y2="25115"/>
                          <a14:foregroundMark x1="83792" y1="25115" x2="87844" y2="46401"/>
                          <a14:foregroundMark x1="59479" y1="19449" x2="78003" y2="17305"/>
                          <a14:foregroundMark x1="78003" y1="17305" x2="86686" y2="20061"/>
                          <a14:foregroundMark x1="86686" y1="20061" x2="91027" y2="38285"/>
                          <a14:foregroundMark x1="85528" y1="17152" x2="91172" y2="24962"/>
                          <a14:foregroundMark x1="91172" y1="24962" x2="92330" y2="36141"/>
                          <a14:foregroundMark x1="67873" y1="27259" x2="68452" y2="31240"/>
                          <a14:foregroundMark x1="68452" y1="34916" x2="68307" y2="36753"/>
                          <a14:foregroundMark x1="68596" y1="37825" x2="71925" y2="37672"/>
                          <a14:foregroundMark x1="75253" y1="37979" x2="82634" y2="37979"/>
                          <a14:foregroundMark x1="83936" y1="40735" x2="82489" y2="48392"/>
                          <a14:foregroundMark x1="82489" y1="48392" x2="75109" y2="53752"/>
                          <a14:foregroundMark x1="75109" y1="53752" x2="68017" y2="56355"/>
                          <a14:foregroundMark x1="68017" y1="56355" x2="60203" y2="54977"/>
                          <a14:foregroundMark x1="60203" y1="54977" x2="58466" y2="52221"/>
                          <a14:foregroundMark x1="91027" y1="40429" x2="89291" y2="48851"/>
                          <a14:foregroundMark x1="89291" y1="48851" x2="77279" y2="56049"/>
                          <a14:foregroundMark x1="91172" y1="50995" x2="82923" y2="56049"/>
                          <a14:foregroundMark x1="90449" y1="57121" x2="89580" y2="64931"/>
                          <a14:foregroundMark x1="89580" y1="64931" x2="58466" y2="66769"/>
                          <a14:foregroundMark x1="58900" y1="78407" x2="76122" y2="78560"/>
                          <a14:foregroundMark x1="76122" y1="78560" x2="87120" y2="77795"/>
                          <a14:foregroundMark x1="87120" y1="77795" x2="91606" y2="70444"/>
                          <a14:foregroundMark x1="91606" y1="70444" x2="91751" y2="64472"/>
                        </a14:backgroundRemoval>
                      </a14:imgEffect>
                    </a14:imgLayer>
                  </a14:imgProps>
                </a:ext>
              </a:extLst>
            </a:blip>
            <a:srcRect l="1318" t="833" r="1640" b="1976"/>
            <a:stretch/>
          </p:blipFill>
          <p:spPr>
            <a:xfrm>
              <a:off x="11567443" y="2209557"/>
              <a:ext cx="257561" cy="243771"/>
            </a:xfrm>
            <a:prstGeom prst="rect">
              <a:avLst/>
            </a:prstGeom>
          </p:spPr>
        </p:pic>
      </p:grpSp>
      <p:grpSp>
        <p:nvGrpSpPr>
          <p:cNvPr id="301" name="그룹 300">
            <a:extLst>
              <a:ext uri="{FF2B5EF4-FFF2-40B4-BE49-F238E27FC236}">
                <a16:creationId xmlns:a16="http://schemas.microsoft.com/office/drawing/2014/main" id="{5592CED2-6897-4B69-ADA9-76430A289567}"/>
              </a:ext>
            </a:extLst>
          </p:cNvPr>
          <p:cNvGrpSpPr/>
          <p:nvPr/>
        </p:nvGrpSpPr>
        <p:grpSpPr>
          <a:xfrm>
            <a:off x="11635514" y="3207270"/>
            <a:ext cx="406454" cy="406454"/>
            <a:chOff x="11489218" y="2959855"/>
            <a:chExt cx="406454" cy="406454"/>
          </a:xfrm>
        </p:grpSpPr>
        <p:sp>
          <p:nvSpPr>
            <p:cNvPr id="302" name="Oval 7">
              <a:extLst>
                <a:ext uri="{FF2B5EF4-FFF2-40B4-BE49-F238E27FC236}">
                  <a16:creationId xmlns:a16="http://schemas.microsoft.com/office/drawing/2014/main" id="{86A69028-703F-4EA1-816D-209734D016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489218" y="2959855"/>
              <a:ext cx="406454" cy="406454"/>
            </a:xfrm>
            <a:prstGeom prst="ellipse">
              <a:avLst/>
            </a:prstGeom>
            <a:solidFill>
              <a:srgbClr val="E6F3FC"/>
            </a:solidFill>
            <a:ln w="1587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CE87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+mn-ea"/>
                <a:cs typeface="+mn-cs"/>
              </a:endParaRPr>
            </a:p>
          </p:txBody>
        </p:sp>
        <p:pic>
          <p:nvPicPr>
            <p:cNvPr id="303" name="그림 302">
              <a:extLst>
                <a:ext uri="{FF2B5EF4-FFF2-40B4-BE49-F238E27FC236}">
                  <a16:creationId xmlns:a16="http://schemas.microsoft.com/office/drawing/2014/main" id="{BC75E047-5B79-4347-95C4-2EE98DC9D7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2665" b="96574" l="2998" r="96163">
                          <a14:foregroundMark x1="2998" y1="15609" x2="48321" y2="7107"/>
                          <a14:foregroundMark x1="47602" y1="2665" x2="47602" y2="2665"/>
                          <a14:foregroundMark x1="32254" y1="92513" x2="49281" y2="90990"/>
                          <a14:foregroundMark x1="49281" y1="90990" x2="50959" y2="90990"/>
                          <a14:foregroundMark x1="47602" y1="95812" x2="52878" y2="96574"/>
                          <a14:foregroundMark x1="76619" y1="25761" x2="84173" y2="25888"/>
                          <a14:foregroundMark x1="77218" y1="38071" x2="84053" y2="37563"/>
                          <a14:foregroundMark x1="84053" y1="37563" x2="84173" y2="37563"/>
                          <a14:foregroundMark x1="77938" y1="49746" x2="84293" y2="50000"/>
                          <a14:foregroundMark x1="76739" y1="61421" x2="83453" y2="62056"/>
                          <a14:foregroundMark x1="78297" y1="73477" x2="85132" y2="73604"/>
                          <a14:foregroundMark x1="92086" y1="12944" x2="96163" y2="17513"/>
                          <a14:foregroundMark x1="32254" y1="36929" x2="26259" y2="51904"/>
                          <a14:foregroundMark x1="26259" y1="51904" x2="22302" y2="57995"/>
                          <a14:foregroundMark x1="21703" y1="42005" x2="35612" y2="59137"/>
                          <a14:foregroundMark x1="34173" y1="35025" x2="34173" y2="35025"/>
                          <a14:foregroundMark x1="21223" y1="37183" x2="21223" y2="37183"/>
                          <a14:foregroundMark x1="19305" y1="61294" x2="19305" y2="61294"/>
                          <a14:foregroundMark x1="33094" y1="60787" x2="33094" y2="60787"/>
                          <a14:foregroundMark x1="20264" y1="34898" x2="20264" y2="34898"/>
                          <a14:foregroundMark x1="19664" y1="63071" x2="19664" y2="63071"/>
                          <a14:foregroundMark x1="80456" y1="18274" x2="80456" y2="18274"/>
                          <a14:foregroundMark x1="64628" y1="17513" x2="83813" y2="17513"/>
                          <a14:foregroundMark x1="60432" y1="17259" x2="60432" y2="17259"/>
                          <a14:foregroundMark x1="91487" y1="18274" x2="91487" y2="18274"/>
                          <a14:foregroundMark x1="59353" y1="15990" x2="63549" y2="18782"/>
                          <a14:foregroundMark x1="87170" y1="16497" x2="91607" y2="22335"/>
                          <a14:foregroundMark x1="91607" y1="22335" x2="91607" y2="22335"/>
                          <a14:foregroundMark x1="60911" y1="31853" x2="76259" y2="31345"/>
                          <a14:foregroundMark x1="76259" y1="31345" x2="91247" y2="31345"/>
                          <a14:foregroundMark x1="91487" y1="25381" x2="91367" y2="80457"/>
                          <a14:foregroundMark x1="61391" y1="82107" x2="84892" y2="81218"/>
                          <a14:foregroundMark x1="84892" y1="81218" x2="91847" y2="81218"/>
                          <a14:foregroundMark x1="91847" y1="81218" x2="92206" y2="81472"/>
                          <a14:foregroundMark x1="62710" y1="68020" x2="78537" y2="68528"/>
                          <a14:foregroundMark x1="66307" y1="55584" x2="78777" y2="55711"/>
                          <a14:foregroundMark x1="65228" y1="43147" x2="79736" y2="43528"/>
                          <a14:foregroundMark x1="61391" y1="43909" x2="61391" y2="43909"/>
                          <a14:foregroundMark x1="61151" y1="55711" x2="61151" y2="55711"/>
                        </a14:backgroundRemoval>
                      </a14:imgEffect>
                    </a14:imgLayer>
                  </a14:imgProps>
                </a:ext>
              </a:extLst>
            </a:blip>
            <a:srcRect l="1133" t="628" r="1055" b="1133"/>
            <a:stretch/>
          </p:blipFill>
          <p:spPr>
            <a:xfrm>
              <a:off x="11568764" y="3041842"/>
              <a:ext cx="258377" cy="245191"/>
            </a:xfrm>
            <a:prstGeom prst="rect">
              <a:avLst/>
            </a:prstGeom>
          </p:spPr>
        </p:pic>
      </p:grpSp>
      <p:grpSp>
        <p:nvGrpSpPr>
          <p:cNvPr id="304" name="그룹 303">
            <a:extLst>
              <a:ext uri="{FF2B5EF4-FFF2-40B4-BE49-F238E27FC236}">
                <a16:creationId xmlns:a16="http://schemas.microsoft.com/office/drawing/2014/main" id="{E2920361-7743-49A1-ACF3-1462D6F120B5}"/>
              </a:ext>
            </a:extLst>
          </p:cNvPr>
          <p:cNvGrpSpPr/>
          <p:nvPr/>
        </p:nvGrpSpPr>
        <p:grpSpPr>
          <a:xfrm>
            <a:off x="11635514" y="1570333"/>
            <a:ext cx="406454" cy="406454"/>
            <a:chOff x="11489218" y="1327144"/>
            <a:chExt cx="406454" cy="406454"/>
          </a:xfrm>
        </p:grpSpPr>
        <p:sp>
          <p:nvSpPr>
            <p:cNvPr id="305" name="Oval 7">
              <a:extLst>
                <a:ext uri="{FF2B5EF4-FFF2-40B4-BE49-F238E27FC236}">
                  <a16:creationId xmlns:a16="http://schemas.microsoft.com/office/drawing/2014/main" id="{DECE9985-D4A8-4E03-A4D9-11669565D40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489218" y="1327144"/>
              <a:ext cx="406454" cy="406454"/>
            </a:xfrm>
            <a:prstGeom prst="ellipse">
              <a:avLst/>
            </a:prstGeom>
            <a:solidFill>
              <a:srgbClr val="E6F3FC"/>
            </a:solidFill>
            <a:ln w="1587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CE87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+mn-ea"/>
                <a:cs typeface="+mn-cs"/>
              </a:endParaRPr>
            </a:p>
          </p:txBody>
        </p:sp>
        <p:pic>
          <p:nvPicPr>
            <p:cNvPr id="306" name="그림 305">
              <a:extLst>
                <a:ext uri="{FF2B5EF4-FFF2-40B4-BE49-F238E27FC236}">
                  <a16:creationId xmlns:a16="http://schemas.microsoft.com/office/drawing/2014/main" id="{77A252AB-97BE-44E9-BDC8-CAB1F4DF70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BEBA8EAE-BF5A-486C-A8C5-ECC9F3942E4B}">
                  <a14:imgProps xmlns:a14="http://schemas.microsoft.com/office/drawing/2010/main">
                    <a14:imgLayer r:embed="rId28">
                      <a14:imgEffect>
                        <a14:backgroundRemoval t="2804" b="96662" l="3177" r="97205">
                          <a14:foregroundMark x1="39390" y1="8011" x2="51080" y2="6142"/>
                          <a14:foregroundMark x1="4574" y1="18558" x2="6607" y2="43258"/>
                          <a14:foregroundMark x1="56544" y1="2804" x2="56544" y2="2804"/>
                          <a14:foregroundMark x1="91233" y1="24967" x2="97078" y2="29239"/>
                          <a14:foregroundMark x1="97078" y1="29239" x2="97205" y2="29640"/>
                          <a14:foregroundMark x1="3304" y1="29372" x2="3177" y2="34179"/>
                          <a14:foregroundMark x1="35578" y1="92123" x2="53875" y2="96662"/>
                          <a14:foregroundMark x1="27446" y1="44593" x2="27573" y2="54473"/>
                          <a14:foregroundMark x1="20330" y1="46195" x2="20203" y2="54206"/>
                          <a14:foregroundMark x1="20203" y1="54206" x2="20457" y2="54473"/>
                          <a14:foregroundMark x1="28971" y1="36449" x2="36086" y2="44192"/>
                          <a14:foregroundMark x1="36086" y1="44192" x2="37484" y2="54206"/>
                          <a14:foregroundMark x1="21982" y1="39119" x2="19060" y2="44593"/>
                          <a14:foregroundMark x1="20457" y1="59813" x2="26684" y2="61415"/>
                          <a14:foregroundMark x1="35832" y1="58478" x2="33672" y2="62884"/>
                          <a14:foregroundMark x1="68615" y1="29773" x2="71156" y2="37650"/>
                          <a14:foregroundMark x1="71156" y1="37650" x2="71156" y2="37784"/>
                          <a14:foregroundMark x1="81449" y1="29640" x2="72681" y2="42190"/>
                          <a14:foregroundMark x1="62643" y1="32176" x2="65438" y2="39920"/>
                          <a14:foregroundMark x1="76366" y1="30307" x2="72427" y2="36983"/>
                          <a14:foregroundMark x1="90724" y1="29105" x2="74714" y2="40854"/>
                          <a14:foregroundMark x1="74714" y1="40854" x2="67217" y2="44326"/>
                          <a14:foregroundMark x1="67217" y1="44326" x2="62262" y2="38451"/>
                          <a14:foregroundMark x1="62262" y1="38451" x2="59466" y2="31509"/>
                          <a14:foregroundMark x1="60483" y1="53138" x2="60356" y2="60481"/>
                          <a14:foregroundMark x1="60356" y1="60481" x2="67090" y2="58077"/>
                          <a14:foregroundMark x1="67090" y1="58077" x2="70394" y2="64753"/>
                          <a14:foregroundMark x1="70394" y1="64753" x2="76239" y2="59546"/>
                          <a14:foregroundMark x1="76239" y1="59546" x2="81957" y2="65688"/>
                          <a14:foregroundMark x1="81957" y1="65688" x2="89327" y2="46862"/>
                          <a14:foregroundMark x1="90851" y1="42323" x2="91741" y2="61816"/>
                          <a14:foregroundMark x1="91741" y1="61816" x2="86912" y2="68491"/>
                          <a14:foregroundMark x1="86912" y1="68491" x2="67090" y2="69826"/>
                          <a14:foregroundMark x1="67090" y1="69826" x2="63787" y2="66355"/>
                        </a14:backgroundRemoval>
                      </a14:imgEffect>
                    </a14:imgLayer>
                  </a14:imgProps>
                </a:ext>
              </a:extLst>
            </a:blip>
            <a:srcRect l="2334" t="2352" r="1567" b="1132"/>
            <a:stretch/>
          </p:blipFill>
          <p:spPr>
            <a:xfrm>
              <a:off x="11569637" y="1409408"/>
              <a:ext cx="257504" cy="246139"/>
            </a:xfrm>
            <a:prstGeom prst="rect">
              <a:avLst/>
            </a:prstGeom>
          </p:spPr>
        </p:pic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7540912-311D-4588-A895-C1A73B35EA5D}"/>
              </a:ext>
            </a:extLst>
          </p:cNvPr>
          <p:cNvGrpSpPr/>
          <p:nvPr/>
        </p:nvGrpSpPr>
        <p:grpSpPr>
          <a:xfrm>
            <a:off x="11635514" y="752761"/>
            <a:ext cx="406454" cy="406454"/>
            <a:chOff x="11489218" y="471687"/>
            <a:chExt cx="406454" cy="406454"/>
          </a:xfrm>
        </p:grpSpPr>
        <p:sp>
          <p:nvSpPr>
            <p:cNvPr id="308" name="Oval 7">
              <a:extLst>
                <a:ext uri="{FF2B5EF4-FFF2-40B4-BE49-F238E27FC236}">
                  <a16:creationId xmlns:a16="http://schemas.microsoft.com/office/drawing/2014/main" id="{AA65CA8A-5088-48B8-AE24-010CC2605DA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489218" y="471687"/>
              <a:ext cx="406454" cy="406454"/>
            </a:xfrm>
            <a:prstGeom prst="ellipse">
              <a:avLst/>
            </a:prstGeom>
            <a:solidFill>
              <a:srgbClr val="E6F3FC"/>
            </a:solidFill>
            <a:ln w="1587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7CE87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+mn-ea"/>
                <a:cs typeface="+mn-cs"/>
              </a:endParaRPr>
            </a:p>
          </p:txBody>
        </p:sp>
        <p:pic>
          <p:nvPicPr>
            <p:cNvPr id="309" name="그림 308">
              <a:extLst>
                <a:ext uri="{FF2B5EF4-FFF2-40B4-BE49-F238E27FC236}">
                  <a16:creationId xmlns:a16="http://schemas.microsoft.com/office/drawing/2014/main" id="{FE7A4469-2EF2-4B1D-AB10-07D21FFAA5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extLst>
                <a:ext uri="{BEBA8EAE-BF5A-486C-A8C5-ECC9F3942E4B}">
                  <a14:imgProps xmlns:a14="http://schemas.microsoft.com/office/drawing/2010/main">
                    <a14:imgLayer r:embed="rId30">
                      <a14:imgEffect>
                        <a14:backgroundRemoval t="9683" b="89965" l="3932" r="89915">
                          <a14:foregroundMark x1="17265" y1="55634" x2="8205" y2="62324"/>
                          <a14:foregroundMark x1="3932" y1="63028" x2="4103" y2="70599"/>
                        </a14:backgroundRemoval>
                      </a14:imgEffect>
                    </a14:imgLayer>
                  </a14:imgProps>
                </a:ext>
              </a:extLst>
            </a:blip>
            <a:srcRect l="969" t="26907" r="38185" b="9879"/>
            <a:stretch/>
          </p:blipFill>
          <p:spPr>
            <a:xfrm>
              <a:off x="11570392" y="541756"/>
              <a:ext cx="251069" cy="2532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804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">
            <a:extLst>
              <a:ext uri="{FF2B5EF4-FFF2-40B4-BE49-F238E27FC236}">
                <a16:creationId xmlns:a16="http://schemas.microsoft.com/office/drawing/2014/main" id="{66B55545-7949-47E0-A02D-F1B742874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648" y="555702"/>
            <a:ext cx="3511096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F9A2EDB-5476-4C1E-B32C-6CEF0F5FF7D4}"/>
              </a:ext>
            </a:extLst>
          </p:cNvPr>
          <p:cNvSpPr txBox="1">
            <a:spLocks/>
          </p:cNvSpPr>
          <p:nvPr/>
        </p:nvSpPr>
        <p:spPr>
          <a:xfrm>
            <a:off x="208651" y="194924"/>
            <a:ext cx="3854391" cy="360000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800" b="1" i="0" kern="120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자동차 재고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,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운영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DIO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보고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/ ’24.1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월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7124D75D-8DFA-4119-B3DD-9661EDD8E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1973" y="0"/>
            <a:ext cx="1124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2024. 1. 9</a:t>
            </a: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생산운영담당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7DEDB-A350-459D-82FF-EBC271611749}"/>
              </a:ext>
            </a:extLst>
          </p:cNvPr>
          <p:cNvSpPr txBox="1"/>
          <p:nvPr/>
        </p:nvSpPr>
        <p:spPr>
          <a:xfrm>
            <a:off x="4238445" y="6561138"/>
            <a:ext cx="1429110" cy="287486"/>
          </a:xfrm>
          <a:prstGeom prst="rect">
            <a:avLst/>
          </a:prstGeom>
          <a:noFill/>
          <a:ln>
            <a:noFill/>
          </a:ln>
        </p:spPr>
        <p:txBody>
          <a:bodyPr wrap="square" lIns="77925" tIns="38963" rIns="77925" bIns="38963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A1D0EF5-6416-4305-9E38-DC784A823391}"/>
              </a:ext>
            </a:extLst>
          </p:cNvPr>
          <p:cNvGrpSpPr/>
          <p:nvPr/>
        </p:nvGrpSpPr>
        <p:grpSpPr>
          <a:xfrm>
            <a:off x="208646" y="2981757"/>
            <a:ext cx="4744353" cy="252000"/>
            <a:chOff x="208646" y="1863451"/>
            <a:chExt cx="4744353" cy="25200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FC1616A-C634-4708-AC14-C4BD3FB6396A}"/>
                </a:ext>
              </a:extLst>
            </p:cNvPr>
            <p:cNvGrpSpPr/>
            <p:nvPr/>
          </p:nvGrpSpPr>
          <p:grpSpPr>
            <a:xfrm>
              <a:off x="208646" y="1863451"/>
              <a:ext cx="4744353" cy="252000"/>
              <a:chOff x="4953000" y="3098800"/>
              <a:chExt cx="4744353" cy="252000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81FBE14-D7C2-446F-978B-A86D3DB70C25}"/>
                  </a:ext>
                </a:extLst>
              </p:cNvPr>
              <p:cNvSpPr/>
              <p:nvPr/>
            </p:nvSpPr>
            <p:spPr>
              <a:xfrm>
                <a:off x="4953000" y="3098800"/>
                <a:ext cx="36000" cy="252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Text Box 118">
                <a:extLst>
                  <a:ext uri="{FF2B5EF4-FFF2-40B4-BE49-F238E27FC236}">
                    <a16:creationId xmlns:a16="http://schemas.microsoft.com/office/drawing/2014/main" id="{98B91D2B-854B-44B1-8FDA-E3895319A6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1614" y="3098800"/>
                <a:ext cx="4675739" cy="25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36000" tIns="0" rIns="0" bIns="0" anchor="ctr">
                <a:noAutofit/>
              </a:bodyPr>
              <a:lstStyle>
                <a:defPPr>
                  <a:defRPr lang="ko-KR"/>
                </a:defPPr>
                <a:lvl1pPr marL="180000" indent="-180000">
                  <a:lnSpc>
                    <a:spcPct val="140000"/>
                  </a:lnSpc>
                  <a:spcBef>
                    <a:spcPts val="700"/>
                  </a:spcBef>
                  <a:spcAft>
                    <a:spcPts val="700"/>
                  </a:spcAft>
                  <a:buFont typeface="Wingdings" pitchFamily="2" charset="2"/>
                  <a:buChar char="q"/>
                  <a:defRPr kumimoji="1" sz="13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defRPr>
                </a:lvl1pPr>
                <a:lvl2pPr marL="742950" indent="-285750" eaLnBrk="0" hangingPunct="0">
                  <a:defRPr kumimoji="1"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90000"/>
                  <a:buFont typeface="Wingdings" pitchFamily="2" charset="2"/>
                  <a:buNone/>
                  <a:tabLst/>
                  <a:defRPr/>
                </a:pPr>
                <a:r>
                  <a:rPr kumimoji="1" lang="ko-KR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월별 </a:t>
                </a:r>
                <a:r>
                  <a:rPr kumimoji="1" lang="en-US" altLang="ko-KR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PSI </a:t>
                </a:r>
                <a:r>
                  <a:rPr kumimoji="1" lang="ko-KR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및 재고 현황</a:t>
                </a:r>
                <a:r>
                  <a:rPr kumimoji="1" lang="ko-KR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 </a:t>
                </a:r>
                <a:r>
                  <a:rPr kumimoji="1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/ JV </a:t>
                </a:r>
                <a:r>
                  <a:rPr kumimoji="1" lang="ko-KR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포함</a:t>
                </a:r>
                <a:endPara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E2FE8D-C5D1-443D-A119-49522D9DCC08}"/>
                </a:ext>
              </a:extLst>
            </p:cNvPr>
            <p:cNvSpPr txBox="1"/>
            <p:nvPr/>
          </p:nvSpPr>
          <p:spPr>
            <a:xfrm>
              <a:off x="3894466" y="1904248"/>
              <a:ext cx="1058533" cy="21120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단위 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: 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K cell)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D50A2B-9BE5-4EBE-904F-8D749C79864F}"/>
              </a:ext>
            </a:extLst>
          </p:cNvPr>
          <p:cNvGraphicFramePr>
            <a:graphicFrameLocks noGrp="1"/>
          </p:cNvGraphicFramePr>
          <p:nvPr/>
        </p:nvGraphicFramePr>
        <p:xfrm>
          <a:off x="208646" y="3323330"/>
          <a:ext cx="4744355" cy="3508559"/>
        </p:xfrm>
        <a:graphic>
          <a:graphicData uri="http://schemas.openxmlformats.org/drawingml/2006/table">
            <a:tbl>
              <a:tblPr/>
              <a:tblGrid>
                <a:gridCol w="142128">
                  <a:extLst>
                    <a:ext uri="{9D8B030D-6E8A-4147-A177-3AD203B41FA5}">
                      <a16:colId xmlns:a16="http://schemas.microsoft.com/office/drawing/2014/main" val="67513564"/>
                    </a:ext>
                  </a:extLst>
                </a:gridCol>
                <a:gridCol w="142128">
                  <a:extLst>
                    <a:ext uri="{9D8B030D-6E8A-4147-A177-3AD203B41FA5}">
                      <a16:colId xmlns:a16="http://schemas.microsoft.com/office/drawing/2014/main" val="2471385426"/>
                    </a:ext>
                  </a:extLst>
                </a:gridCol>
                <a:gridCol w="142128">
                  <a:extLst>
                    <a:ext uri="{9D8B030D-6E8A-4147-A177-3AD203B41FA5}">
                      <a16:colId xmlns:a16="http://schemas.microsoft.com/office/drawing/2014/main" val="4040320209"/>
                    </a:ext>
                  </a:extLst>
                </a:gridCol>
                <a:gridCol w="683565">
                  <a:extLst>
                    <a:ext uri="{9D8B030D-6E8A-4147-A177-3AD203B41FA5}">
                      <a16:colId xmlns:a16="http://schemas.microsoft.com/office/drawing/2014/main" val="2628057959"/>
                    </a:ext>
                  </a:extLst>
                </a:gridCol>
                <a:gridCol w="250416">
                  <a:extLst>
                    <a:ext uri="{9D8B030D-6E8A-4147-A177-3AD203B41FA5}">
                      <a16:colId xmlns:a16="http://schemas.microsoft.com/office/drawing/2014/main" val="1572684234"/>
                    </a:ext>
                  </a:extLst>
                </a:gridCol>
                <a:gridCol w="466990">
                  <a:extLst>
                    <a:ext uri="{9D8B030D-6E8A-4147-A177-3AD203B41FA5}">
                      <a16:colId xmlns:a16="http://schemas.microsoft.com/office/drawing/2014/main" val="200152700"/>
                    </a:ext>
                  </a:extLst>
                </a:gridCol>
                <a:gridCol w="250416">
                  <a:extLst>
                    <a:ext uri="{9D8B030D-6E8A-4147-A177-3AD203B41FA5}">
                      <a16:colId xmlns:a16="http://schemas.microsoft.com/office/drawing/2014/main" val="3557576258"/>
                    </a:ext>
                  </a:extLst>
                </a:gridCol>
                <a:gridCol w="466990">
                  <a:extLst>
                    <a:ext uri="{9D8B030D-6E8A-4147-A177-3AD203B41FA5}">
                      <a16:colId xmlns:a16="http://schemas.microsoft.com/office/drawing/2014/main" val="3733374561"/>
                    </a:ext>
                  </a:extLst>
                </a:gridCol>
                <a:gridCol w="250416">
                  <a:extLst>
                    <a:ext uri="{9D8B030D-6E8A-4147-A177-3AD203B41FA5}">
                      <a16:colId xmlns:a16="http://schemas.microsoft.com/office/drawing/2014/main" val="3443525756"/>
                    </a:ext>
                  </a:extLst>
                </a:gridCol>
                <a:gridCol w="466990">
                  <a:extLst>
                    <a:ext uri="{9D8B030D-6E8A-4147-A177-3AD203B41FA5}">
                      <a16:colId xmlns:a16="http://schemas.microsoft.com/office/drawing/2014/main" val="2032358586"/>
                    </a:ext>
                  </a:extLst>
                </a:gridCol>
                <a:gridCol w="250416">
                  <a:extLst>
                    <a:ext uri="{9D8B030D-6E8A-4147-A177-3AD203B41FA5}">
                      <a16:colId xmlns:a16="http://schemas.microsoft.com/office/drawing/2014/main" val="2341984477"/>
                    </a:ext>
                  </a:extLst>
                </a:gridCol>
                <a:gridCol w="466990">
                  <a:extLst>
                    <a:ext uri="{9D8B030D-6E8A-4147-A177-3AD203B41FA5}">
                      <a16:colId xmlns:a16="http://schemas.microsoft.com/office/drawing/2014/main" val="1242248548"/>
                    </a:ext>
                  </a:extLst>
                </a:gridCol>
                <a:gridCol w="47376">
                  <a:extLst>
                    <a:ext uri="{9D8B030D-6E8A-4147-A177-3AD203B41FA5}">
                      <a16:colId xmlns:a16="http://schemas.microsoft.com/office/drawing/2014/main" val="607004998"/>
                    </a:ext>
                  </a:extLst>
                </a:gridCol>
                <a:gridCol w="250416">
                  <a:extLst>
                    <a:ext uri="{9D8B030D-6E8A-4147-A177-3AD203B41FA5}">
                      <a16:colId xmlns:a16="http://schemas.microsoft.com/office/drawing/2014/main" val="3024783745"/>
                    </a:ext>
                  </a:extLst>
                </a:gridCol>
                <a:gridCol w="466990">
                  <a:extLst>
                    <a:ext uri="{9D8B030D-6E8A-4147-A177-3AD203B41FA5}">
                      <a16:colId xmlns:a16="http://schemas.microsoft.com/office/drawing/2014/main" val="1332598871"/>
                    </a:ext>
                  </a:extLst>
                </a:gridCol>
              </a:tblGrid>
              <a:tr h="154181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’23.12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’24.1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比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0463"/>
                  </a:ext>
                </a:extLst>
              </a:tr>
              <a:tr h="1541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5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5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5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5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5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299558"/>
                  </a:ext>
                </a:extLst>
              </a:tr>
              <a:tr h="154181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생산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20,912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22,499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22,647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29,520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+1,587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016556"/>
                  </a:ext>
                </a:extLst>
              </a:tr>
              <a:tr h="154181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매출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23,843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18,101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17,871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19,841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Δ5,743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655039"/>
                  </a:ext>
                </a:extLst>
              </a:tr>
              <a:tr h="154181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재고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 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37,281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37,760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59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39,042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42,931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+478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170849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운영 재고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31,143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49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30,561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48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31,676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51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34,919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Δ3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Δ582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710625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기준 재고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22,400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22,846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24,577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39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26,908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+446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65373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운영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8,743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7,715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7,099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8,011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Δ1,028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636983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수요 요인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5,561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4,555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4,044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3,630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Δ1,006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112418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5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특이 보류 재고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2,104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2,169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2,162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2,149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+64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407048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의사 결정 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1,077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893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2,233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Δ86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88127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운영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외 항목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6,138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1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7,198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7,366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8,011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</a:t>
                      </a:r>
                      <a:endParaRPr lang="ko-KR" altLang="en-US" sz="900" b="1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+1,060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41367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AS </a:t>
                      </a:r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1,520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2,092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2,353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2,371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+571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265200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주기재고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447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1,607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Δ236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+1,160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98411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샘플</a:t>
                      </a:r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Test/</a:t>
                      </a:r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1,003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1,108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1,612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1,807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+105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288998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의사 결정 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1,619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829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1,375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2,690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Δ790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278456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품질 보류 </a:t>
                      </a:r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(NCR)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824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691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592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391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Δ133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470068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공급 </a:t>
                      </a:r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L/T </a:t>
                      </a:r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1,003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323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Δ482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036540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라인 효율화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83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+289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208002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DIO </a:t>
                      </a:r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Δ426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Δ180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Δ98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+245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835918"/>
                  </a:ext>
                </a:extLst>
              </a:tr>
              <a:tr h="1541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기타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64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158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401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589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</a:t>
                      </a:r>
                      <a:endParaRPr lang="ko-KR" altLang="en-US" sz="9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+94 </a:t>
                      </a:r>
                    </a:p>
                  </a:txBody>
                  <a:tcPr marL="0" marR="72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8614392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483E11DB-9210-43B0-B93F-F0AECED2210E}"/>
              </a:ext>
            </a:extLst>
          </p:cNvPr>
          <p:cNvGrpSpPr/>
          <p:nvPr/>
        </p:nvGrpSpPr>
        <p:grpSpPr>
          <a:xfrm>
            <a:off x="208647" y="851652"/>
            <a:ext cx="4744353" cy="252000"/>
            <a:chOff x="4953000" y="3098800"/>
            <a:chExt cx="4744353" cy="2520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EC5A8CA-E5AA-486E-A280-ED8AEBC39E34}"/>
                </a:ext>
              </a:extLst>
            </p:cNvPr>
            <p:cNvSpPr/>
            <p:nvPr/>
          </p:nvSpPr>
          <p:spPr>
            <a:xfrm>
              <a:off x="4953000" y="3098800"/>
              <a:ext cx="36000" cy="25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 Box 118">
              <a:extLst>
                <a:ext uri="{FF2B5EF4-FFF2-40B4-BE49-F238E27FC236}">
                  <a16:creationId xmlns:a16="http://schemas.microsoft.com/office/drawing/2014/main" id="{4F7359C5-9171-42D3-8198-D0A1CF982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614" y="3098800"/>
              <a:ext cx="4675739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36000" tIns="0" rIns="0" bIns="0" anchor="ctr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9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운영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DIO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정의 및 운영 계획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/ </a:t>
              </a:r>
              <a:r>
                <a:rPr kumimoji="1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공급관리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1" name="Text Box 118">
            <a:extLst>
              <a:ext uri="{FF2B5EF4-FFF2-40B4-BE49-F238E27FC236}">
                <a16:creationId xmlns:a16="http://schemas.microsoft.com/office/drawing/2014/main" id="{3B87183D-F2F3-4606-89DB-A2A7760BB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46" y="1113380"/>
            <a:ext cx="4744353" cy="954813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0" bIns="72000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itchFamily="2" charset="2"/>
              <a:buChar char="q"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운영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 </a:t>
            </a: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정의</a:t>
            </a:r>
            <a:endParaRPr kumimoji="1" lang="en-US" altLang="ko-KR" sz="1300" b="0" i="0" u="none" strike="noStrike" kern="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85725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3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공정 및 운송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Lead time,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전진검사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안전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·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주기 재고 등으로 구성된 「</a:t>
            </a:r>
            <a:r>
              <a:rPr kumimoji="1" lang="ko-KR" altLang="en-US" sz="12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기준 </a:t>
            </a:r>
            <a:r>
              <a:rPr kumimoji="1" lang="en-US" altLang="ko-KR" sz="12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」에 </a:t>
            </a:r>
            <a:r>
              <a:rPr kumimoji="1" lang="ko-KR" altLang="en-US" sz="115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소진처나 시기가 불명확한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‘</a:t>
            </a:r>
            <a:r>
              <a:rPr kumimoji="1" lang="ko-KR" altLang="en-US" sz="1200" b="1" i="0" u="sng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특이 보류 재고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’, </a:t>
            </a:r>
            <a:r>
              <a:rPr kumimoji="1" lang="ko-KR" altLang="en-US" sz="115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생산 완료 후 발생한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‘</a:t>
            </a:r>
            <a:r>
              <a:rPr kumimoji="1" lang="ko-KR" altLang="en-US" sz="1200" b="1" i="0" u="sng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수요 요인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’, </a:t>
            </a:r>
            <a:r>
              <a:rPr kumimoji="1" lang="ko-KR" altLang="en-US" sz="115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품의 결재 완료된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‘</a:t>
            </a:r>
            <a:r>
              <a:rPr kumimoji="1" lang="ko-KR" altLang="en-US" sz="1200" b="1" i="0" u="sng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CC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재고 비축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’</a:t>
            </a:r>
            <a:r>
              <a:rPr kumimoji="1" lang="en-US" altLang="ko-KR" sz="4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을 더하여 매월</a:t>
            </a:r>
            <a:r>
              <a:rPr kumimoji="1" lang="ko-KR" altLang="en-US" sz="4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초에 생산운영담당 공급관리에서 수립함</a:t>
            </a:r>
            <a:endParaRPr kumimoji="1" lang="en-US" altLang="ko-KR" sz="1200" b="0" i="0" u="none" strike="noStrike" kern="0" cap="none" spc="-8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4" name="Text Box 118">
            <a:extLst>
              <a:ext uri="{FF2B5EF4-FFF2-40B4-BE49-F238E27FC236}">
                <a16:creationId xmlns:a16="http://schemas.microsoft.com/office/drawing/2014/main" id="{C641980D-460C-44B3-8BE7-130B3092D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46" y="1998019"/>
            <a:ext cx="4744353" cy="1035494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0" bIns="72000">
            <a:noAutofit/>
          </a:bodyPr>
          <a:lstStyle>
            <a:defPPr>
              <a:defRPr lang="ko-KR"/>
            </a:defPPr>
            <a:lvl1pPr marL="180000" indent="-180000">
              <a:lnSpc>
                <a:spcPct val="140000"/>
              </a:lnSpc>
              <a:spcBef>
                <a:spcPts val="700"/>
              </a:spcBef>
              <a:spcAft>
                <a:spcPts val="700"/>
              </a:spcAft>
              <a:buFont typeface="Wingdings" pitchFamily="2" charset="2"/>
              <a:buChar char="q"/>
              <a:defRPr kumimoji="1" sz="1300" b="1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itchFamily="2" charset="2"/>
              <a:buChar char="q"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운영 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 </a:t>
            </a: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운영 계획</a:t>
            </a:r>
            <a:endParaRPr kumimoji="1" lang="en-US" altLang="ko-KR" sz="1300" b="0" i="0" u="none" strike="noStrike" kern="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85725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N-1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마지막 주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N, N+1, N+2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당월 포함 총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개월에 대한 운영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수립</a:t>
            </a:r>
            <a:endParaRPr kumimoji="1" lang="en-US" altLang="ko-KR" sz="1200" b="0" i="0" u="none" strike="noStrike" kern="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85725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N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첫째 주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N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운영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 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수립 결과 생산센터 주간회의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화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보고 및 확정</a:t>
            </a:r>
            <a:endParaRPr kumimoji="1" lang="en-US" altLang="ko-KR" sz="1200" b="0" i="0" u="none" strike="noStrike" kern="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85725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N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둘째 주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N-1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운영 </a:t>
            </a:r>
            <a:r>
              <a:rPr kumimoji="1" lang="en-US" altLang="ko-KR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</a:t>
            </a:r>
            <a:r>
              <a:rPr kumimoji="1" lang="ko-KR" altLang="en-US" sz="12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와의 실적차이 분석 및 센터 주간회의 보고</a:t>
            </a:r>
            <a:endParaRPr kumimoji="1" lang="en-US" altLang="ko-KR" sz="1200" b="0" i="0" u="none" strike="noStrike" kern="0" cap="none" spc="-8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61B6E6-0F9E-4EFE-8761-8D9B60F9F478}"/>
              </a:ext>
            </a:extLst>
          </p:cNvPr>
          <p:cNvSpPr txBox="1"/>
          <p:nvPr/>
        </p:nvSpPr>
        <p:spPr>
          <a:xfrm>
            <a:off x="417890" y="4263037"/>
            <a:ext cx="1660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9AD2CCC-FCD8-4406-88D9-400691976CEE}"/>
              </a:ext>
            </a:extLst>
          </p:cNvPr>
          <p:cNvGrpSpPr/>
          <p:nvPr/>
        </p:nvGrpSpPr>
        <p:grpSpPr>
          <a:xfrm>
            <a:off x="5034006" y="851652"/>
            <a:ext cx="4706895" cy="252000"/>
            <a:chOff x="4953000" y="3098800"/>
            <a:chExt cx="4706895" cy="252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1406C2F-0AC5-42CD-BCF3-AA281E03479C}"/>
                </a:ext>
              </a:extLst>
            </p:cNvPr>
            <p:cNvSpPr/>
            <p:nvPr/>
          </p:nvSpPr>
          <p:spPr>
            <a:xfrm>
              <a:off x="4953000" y="3098800"/>
              <a:ext cx="36000" cy="252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 Box 118">
              <a:extLst>
                <a:ext uri="{FF2B5EF4-FFF2-40B4-BE49-F238E27FC236}">
                  <a16:creationId xmlns:a16="http://schemas.microsoft.com/office/drawing/2014/main" id="{9B45C09E-782C-4C50-9D08-6FBEAD808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615" y="3098800"/>
              <a:ext cx="463828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lIns="36000" tIns="0" rIns="0" bIns="0" anchor="ctr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9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운영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DIO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항목 및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3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개월 재고 </a:t>
              </a: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Trend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분석</a:t>
              </a:r>
              <a:endPara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6960756-D491-4F00-B85D-1BCFB4FC1FD9}"/>
              </a:ext>
            </a:extLst>
          </p:cNvPr>
          <p:cNvSpPr/>
          <p:nvPr/>
        </p:nvSpPr>
        <p:spPr>
          <a:xfrm>
            <a:off x="5034006" y="1198485"/>
            <a:ext cx="540000" cy="272924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 영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</a:t>
            </a: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I</a:t>
            </a:r>
            <a:r>
              <a: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</a:t>
            </a:r>
          </a:p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항 목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 항목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5A28895-4451-485F-9499-58FFC5E76D63}"/>
              </a:ext>
            </a:extLst>
          </p:cNvPr>
          <p:cNvSpPr/>
          <p:nvPr/>
        </p:nvSpPr>
        <p:spPr>
          <a:xfrm>
            <a:off x="5034006" y="3992434"/>
            <a:ext cx="540000" cy="2568704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0" rIns="0" anchor="ctr"/>
          <a:lstStyle>
            <a:defPPr>
              <a:defRPr lang="ko-KR"/>
            </a:defPPr>
            <a:lvl1pPr marL="0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45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90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33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78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22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867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11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155" algn="l" defTabSz="914290" rtl="0" eaLnBrk="1" latinLnBrk="1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개월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  고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Trend</a:t>
            </a:r>
          </a:p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(’24.1~3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A7B2F93-7945-4237-ACE7-0A4F79473BDD}"/>
              </a:ext>
            </a:extLst>
          </p:cNvPr>
          <p:cNvGraphicFramePr>
            <a:graphicFrameLocks noGrp="1"/>
          </p:cNvGraphicFramePr>
          <p:nvPr/>
        </p:nvGraphicFramePr>
        <p:xfrm>
          <a:off x="5650303" y="1198483"/>
          <a:ext cx="4090598" cy="3123392"/>
        </p:xfrm>
        <a:graphic>
          <a:graphicData uri="http://schemas.openxmlformats.org/drawingml/2006/table">
            <a:tbl>
              <a:tblPr/>
              <a:tblGrid>
                <a:gridCol w="667024">
                  <a:extLst>
                    <a:ext uri="{9D8B030D-6E8A-4147-A177-3AD203B41FA5}">
                      <a16:colId xmlns:a16="http://schemas.microsoft.com/office/drawing/2014/main" val="2957935995"/>
                    </a:ext>
                  </a:extLst>
                </a:gridCol>
                <a:gridCol w="543054">
                  <a:extLst>
                    <a:ext uri="{9D8B030D-6E8A-4147-A177-3AD203B41FA5}">
                      <a16:colId xmlns:a16="http://schemas.microsoft.com/office/drawing/2014/main" val="2160095069"/>
                    </a:ext>
                  </a:extLst>
                </a:gridCol>
                <a:gridCol w="324644">
                  <a:extLst>
                    <a:ext uri="{9D8B030D-6E8A-4147-A177-3AD203B41FA5}">
                      <a16:colId xmlns:a16="http://schemas.microsoft.com/office/drawing/2014/main" val="3118775973"/>
                    </a:ext>
                  </a:extLst>
                </a:gridCol>
                <a:gridCol w="2555876">
                  <a:extLst>
                    <a:ext uri="{9D8B030D-6E8A-4147-A177-3AD203B41FA5}">
                      <a16:colId xmlns:a16="http://schemas.microsoft.com/office/drawing/2014/main" val="483348526"/>
                    </a:ext>
                  </a:extLst>
                </a:gridCol>
              </a:tblGrid>
              <a:tr h="16054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’24.1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 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02228"/>
                  </a:ext>
                </a:extLst>
              </a:tr>
              <a:tr h="1605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특이 보류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E78-OTS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1,553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Crack, Wider SRS, Non LSSS,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신시장 용 매출 협의 중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95396"/>
                  </a:ext>
                </a:extLst>
              </a:tr>
              <a:tr h="1605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E60A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351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Non LSSS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모듈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(A1,B1), ’24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고객매출 협의 중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1328"/>
                  </a:ext>
                </a:extLst>
              </a:tr>
              <a:tr h="16054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수 요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 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E78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1,463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旣 계획되었던 매출 중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’23.12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약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76K module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차이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56937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MKT FCST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 예정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 월 미정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8391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E66A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’23.12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(W50)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 수요 감소로 인한 초과 재고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604862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누적 </a:t>
                      </a:r>
                      <a:r>
                        <a:rPr lang="el-GR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965K, 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누적 </a:t>
                      </a:r>
                      <a:r>
                        <a:rPr lang="el-GR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1,144K, 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누적 </a:t>
                      </a:r>
                      <a:r>
                        <a:rPr lang="el-GR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1,057K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cell)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37214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E71A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380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~’24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수요감소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196204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(W43 3.05M → W44 2.07M, </a:t>
                      </a:r>
                      <a:r>
                        <a:rPr lang="el-GR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0.98M cell)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097430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E57D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313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’23.11~’24.3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수요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4,389K→ 3,408K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l-GR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981K cell)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676161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旣 생산 전극의 조립 계획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437K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유지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해당 재고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1~2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매출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804179"/>
                  </a:ext>
                </a:extLst>
              </a:tr>
              <a:tr h="160544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사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 정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E61V_Eup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584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라인운영효율화를 위한 재고 비축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447689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사업계획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재고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948K, 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858K, 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1287K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cell)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255464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183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VDA355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 신규 건설을 위해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’24~25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수요 분에 대해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511624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ESMI 5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 선행 생산 후 폐기 필요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(~’24.9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중순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698509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E56A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175 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 EOP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따른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’24.1Q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수요 선행재고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564K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  <a:endParaRPr lang="en-US" alt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999684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1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(’23.10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EOP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회의 진행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941132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E1C20A5-B585-40FC-9816-177EF2D7FC43}"/>
              </a:ext>
            </a:extLst>
          </p:cNvPr>
          <p:cNvSpPr txBox="1"/>
          <p:nvPr/>
        </p:nvSpPr>
        <p:spPr>
          <a:xfrm>
            <a:off x="5056027" y="2017320"/>
            <a:ext cx="1660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109217B7-4A0E-4346-AAC6-6B558E0E54CE}"/>
              </a:ext>
            </a:extLst>
          </p:cNvPr>
          <p:cNvGraphicFramePr>
            <a:graphicFrameLocks noGrp="1"/>
          </p:cNvGraphicFramePr>
          <p:nvPr/>
        </p:nvGraphicFramePr>
        <p:xfrm>
          <a:off x="5650304" y="3992434"/>
          <a:ext cx="4093876" cy="3258456"/>
        </p:xfrm>
        <a:graphic>
          <a:graphicData uri="http://schemas.openxmlformats.org/drawingml/2006/table">
            <a:tbl>
              <a:tblPr/>
              <a:tblGrid>
                <a:gridCol w="357863">
                  <a:extLst>
                    <a:ext uri="{9D8B030D-6E8A-4147-A177-3AD203B41FA5}">
                      <a16:colId xmlns:a16="http://schemas.microsoft.com/office/drawing/2014/main" val="3898780221"/>
                    </a:ext>
                  </a:extLst>
                </a:gridCol>
                <a:gridCol w="513300">
                  <a:extLst>
                    <a:ext uri="{9D8B030D-6E8A-4147-A177-3AD203B41FA5}">
                      <a16:colId xmlns:a16="http://schemas.microsoft.com/office/drawing/2014/main" val="3340538358"/>
                    </a:ext>
                  </a:extLst>
                </a:gridCol>
                <a:gridCol w="334982">
                  <a:extLst>
                    <a:ext uri="{9D8B030D-6E8A-4147-A177-3AD203B41FA5}">
                      <a16:colId xmlns:a16="http://schemas.microsoft.com/office/drawing/2014/main" val="1444536720"/>
                    </a:ext>
                  </a:extLst>
                </a:gridCol>
                <a:gridCol w="334982">
                  <a:extLst>
                    <a:ext uri="{9D8B030D-6E8A-4147-A177-3AD203B41FA5}">
                      <a16:colId xmlns:a16="http://schemas.microsoft.com/office/drawing/2014/main" val="1476232216"/>
                    </a:ext>
                  </a:extLst>
                </a:gridCol>
                <a:gridCol w="334982">
                  <a:extLst>
                    <a:ext uri="{9D8B030D-6E8A-4147-A177-3AD203B41FA5}">
                      <a16:colId xmlns:a16="http://schemas.microsoft.com/office/drawing/2014/main" val="369394232"/>
                    </a:ext>
                  </a:extLst>
                </a:gridCol>
                <a:gridCol w="2217767">
                  <a:extLst>
                    <a:ext uri="{9D8B030D-6E8A-4147-A177-3AD203B41FA5}">
                      <a16:colId xmlns:a16="http://schemas.microsoft.com/office/drawing/2014/main" val="1867857346"/>
                    </a:ext>
                  </a:extLst>
                </a:gridCol>
              </a:tblGrid>
              <a:tr h="16054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’24.1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 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07266"/>
                  </a:ext>
                </a:extLst>
              </a:tr>
              <a:tr h="160544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사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 정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A7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품의 상 재고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403K, 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880K, 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1,253K cell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408606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E61V_Eup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584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818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라인운영 효율화를 위한 재고 비축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704908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사업계획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재고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948K, 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858K, 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1287K cell)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139535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E58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EOP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인한 비축생산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사업계획 의사결정사항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732901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E63F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ESNB 1-2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 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형개발 및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SOP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예정으로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595266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생산 진행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품의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(’24.12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시점 대비 수요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228K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감소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452463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품의 당시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’24.1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580K, 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488K, 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385K cell)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59287"/>
                  </a:ext>
                </a:extLst>
              </a:tr>
              <a:tr h="16054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샘 플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E79A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584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VW E79A MC25 B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샘플 생산으로 인한 재고 증가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094655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E131B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STLA E131B C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샘플 생산으로 인한 재고 증가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958879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E161A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Porsche E161A B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샘플 생산으로 인한 재고 증가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814422"/>
                  </a:ext>
                </a:extLst>
              </a:tr>
              <a:tr h="16054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사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결 정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E60A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1,079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하반기 수요 대응을 위해 재고비축 필요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271763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ESWA 21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단독대응 확정될 경우 재고비축 대상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865715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E101A_UC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701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수요 증가로 기준재고 수량 증가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991586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E72B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329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월말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ESWA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SOP,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재고 비축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40101"/>
                  </a:ext>
                </a:extLst>
              </a:tr>
              <a:tr h="16054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P33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EOP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생산으로 인한 재고 비축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501045"/>
                  </a:ext>
                </a:extLst>
              </a:tr>
            </a:tbl>
          </a:graphicData>
        </a:graphic>
      </p:graphicFrame>
      <p:sp>
        <p:nvSpPr>
          <p:cNvPr id="42" name="타원 41">
            <a:extLst>
              <a:ext uri="{FF2B5EF4-FFF2-40B4-BE49-F238E27FC236}">
                <a16:creationId xmlns:a16="http://schemas.microsoft.com/office/drawing/2014/main" id="{D298771A-2F61-4DC5-AC44-A043BE7B6706}"/>
              </a:ext>
            </a:extLst>
          </p:cNvPr>
          <p:cNvSpPr>
            <a:spLocks/>
          </p:cNvSpPr>
          <p:nvPr/>
        </p:nvSpPr>
        <p:spPr bwMode="auto">
          <a:xfrm>
            <a:off x="5613181" y="4402372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95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A3F17FD9-A2E5-4A9E-B676-52F0446622C1}"/>
              </a:ext>
            </a:extLst>
          </p:cNvPr>
          <p:cNvSpPr>
            <a:spLocks/>
          </p:cNvSpPr>
          <p:nvPr/>
        </p:nvSpPr>
        <p:spPr bwMode="auto">
          <a:xfrm>
            <a:off x="5613181" y="5352439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95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05089E5-F6F2-4909-B172-85BB24B3ECBB}"/>
              </a:ext>
            </a:extLst>
          </p:cNvPr>
          <p:cNvSpPr>
            <a:spLocks/>
          </p:cNvSpPr>
          <p:nvPr/>
        </p:nvSpPr>
        <p:spPr bwMode="auto">
          <a:xfrm>
            <a:off x="5613181" y="5848788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95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75D05C-0591-43BB-A293-9650EC9B41D0}"/>
              </a:ext>
            </a:extLst>
          </p:cNvPr>
          <p:cNvSpPr txBox="1"/>
          <p:nvPr/>
        </p:nvSpPr>
        <p:spPr>
          <a:xfrm>
            <a:off x="8682367" y="882184"/>
            <a:ext cx="105853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K cell)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F66FE66-9A30-4631-B6D3-545B2103A87A}"/>
              </a:ext>
            </a:extLst>
          </p:cNvPr>
          <p:cNvSpPr>
            <a:spLocks/>
          </p:cNvSpPr>
          <p:nvPr/>
        </p:nvSpPr>
        <p:spPr bwMode="auto">
          <a:xfrm>
            <a:off x="506286" y="4889091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95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AA6D2D54-1427-44F5-8BC1-C63A6CD87D2B}"/>
              </a:ext>
            </a:extLst>
          </p:cNvPr>
          <p:cNvSpPr>
            <a:spLocks/>
          </p:cNvSpPr>
          <p:nvPr/>
        </p:nvSpPr>
        <p:spPr bwMode="auto">
          <a:xfrm>
            <a:off x="374698" y="5640744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95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436A1D1D-CCC9-4537-A05A-94D728335A05}"/>
              </a:ext>
            </a:extLst>
          </p:cNvPr>
          <p:cNvSpPr>
            <a:spLocks/>
          </p:cNvSpPr>
          <p:nvPr/>
        </p:nvSpPr>
        <p:spPr bwMode="auto">
          <a:xfrm>
            <a:off x="374698" y="5487958"/>
            <a:ext cx="108000" cy="108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95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23E585A-C7E1-4B86-90E0-E0AF40807E45}"/>
              </a:ext>
            </a:extLst>
          </p:cNvPr>
          <p:cNvSpPr/>
          <p:nvPr/>
        </p:nvSpPr>
        <p:spPr>
          <a:xfrm>
            <a:off x="483080" y="4399473"/>
            <a:ext cx="4485736" cy="621101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3761AC00-12C1-4B87-9534-33933A6D6E8E}"/>
              </a:ext>
            </a:extLst>
          </p:cNvPr>
          <p:cNvCxnSpPr/>
          <p:nvPr/>
        </p:nvCxnSpPr>
        <p:spPr>
          <a:xfrm>
            <a:off x="2035833" y="4554749"/>
            <a:ext cx="252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15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D0E6E7F-28AF-4B16-9F41-AE4658DDDAFF}"/>
              </a:ext>
            </a:extLst>
          </p:cNvPr>
          <p:cNvSpPr/>
          <p:nvPr/>
        </p:nvSpPr>
        <p:spPr>
          <a:xfrm>
            <a:off x="3721583" y="1929201"/>
            <a:ext cx="288000" cy="87430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42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(1.6</a:t>
            </a:r>
            <a:r>
              <a:rPr kumimoji="0" lang="ko-KR" altLang="en-US" sz="75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-3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7F7C16F-4886-43A1-B163-51DD7058CC8E}"/>
              </a:ext>
            </a:extLst>
          </p:cNvPr>
          <p:cNvSpPr/>
          <p:nvPr/>
        </p:nvSpPr>
        <p:spPr>
          <a:xfrm>
            <a:off x="5532138" y="1217044"/>
            <a:ext cx="4173837" cy="5344093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171A4BAE-BD81-4F0D-B3AB-EA61641B4790}"/>
              </a:ext>
            </a:extLst>
          </p:cNvPr>
          <p:cNvSpPr txBox="1">
            <a:spLocks/>
          </p:cNvSpPr>
          <p:nvPr/>
        </p:nvSpPr>
        <p:spPr>
          <a:xfrm>
            <a:off x="223805" y="170001"/>
            <a:ext cx="637193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 재고 현황 점검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: ’24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년 재고 목표 달성을 위한 개선 과제 진척 현황 점검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BCE161-6661-45EF-AE40-744F7C262B68}"/>
              </a:ext>
            </a:extLst>
          </p:cNvPr>
          <p:cNvCxnSpPr>
            <a:cxnSpLocks/>
          </p:cNvCxnSpPr>
          <p:nvPr/>
        </p:nvCxnSpPr>
        <p:spPr>
          <a:xfrm>
            <a:off x="225716" y="474576"/>
            <a:ext cx="64966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6886B34-1572-4778-8F43-035BBBB8F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1229" y="114992"/>
            <a:ext cx="1017833" cy="417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38" tIns="46020" rIns="92038" bIns="46020" anchor="t">
            <a:spAutoFit/>
          </a:bodyPr>
          <a:lstStyle>
            <a:lvl1pPr defTabSz="762000" eaLnBrk="0" hangingPunct="0"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762000" eaLnBrk="0" hangingPunct="0"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762000" eaLnBrk="0" hangingPunct="0"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762000" eaLnBrk="0" hangingPunct="0"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762000" eaLnBrk="0" hangingPunct="0"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rgbClr val="000000"/>
                </a:solidFill>
                <a:latin typeface="Arial" charset="0"/>
                <a:ea typeface="돋움" pitchFamily="50" charset="-127"/>
              </a:defRPr>
            </a:lvl9pPr>
          </a:lstStyle>
          <a:p>
            <a:pPr marL="0" marR="0" lvl="0" indent="0" algn="r" defTabSz="7620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자동차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.SCM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담당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(’24.11.27)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4AACEC7-22B8-4CA7-A6BA-20E43922EC22}"/>
              </a:ext>
            </a:extLst>
          </p:cNvPr>
          <p:cNvCxnSpPr>
            <a:cxnSpLocks/>
          </p:cNvCxnSpPr>
          <p:nvPr/>
        </p:nvCxnSpPr>
        <p:spPr>
          <a:xfrm>
            <a:off x="225716" y="474576"/>
            <a:ext cx="64966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C3747A6-65F1-42B6-94EC-9FB07F904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184125"/>
              </p:ext>
            </p:extLst>
          </p:nvPr>
        </p:nvGraphicFramePr>
        <p:xfrm>
          <a:off x="202091" y="3868217"/>
          <a:ext cx="5256008" cy="295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621">
                  <a:extLst>
                    <a:ext uri="{9D8B030D-6E8A-4147-A177-3AD203B41FA5}">
                      <a16:colId xmlns:a16="http://schemas.microsoft.com/office/drawing/2014/main" val="2973713387"/>
                    </a:ext>
                  </a:extLst>
                </a:gridCol>
                <a:gridCol w="833107">
                  <a:extLst>
                    <a:ext uri="{9D8B030D-6E8A-4147-A177-3AD203B41FA5}">
                      <a16:colId xmlns:a16="http://schemas.microsoft.com/office/drawing/2014/main" val="705089088"/>
                    </a:ext>
                  </a:extLst>
                </a:gridCol>
                <a:gridCol w="412901">
                  <a:extLst>
                    <a:ext uri="{9D8B030D-6E8A-4147-A177-3AD203B41FA5}">
                      <a16:colId xmlns:a16="http://schemas.microsoft.com/office/drawing/2014/main" val="3217025609"/>
                    </a:ext>
                  </a:extLst>
                </a:gridCol>
                <a:gridCol w="527844">
                  <a:extLst>
                    <a:ext uri="{9D8B030D-6E8A-4147-A177-3AD203B41FA5}">
                      <a16:colId xmlns:a16="http://schemas.microsoft.com/office/drawing/2014/main" val="795672793"/>
                    </a:ext>
                  </a:extLst>
                </a:gridCol>
                <a:gridCol w="527844">
                  <a:extLst>
                    <a:ext uri="{9D8B030D-6E8A-4147-A177-3AD203B41FA5}">
                      <a16:colId xmlns:a16="http://schemas.microsoft.com/office/drawing/2014/main" val="1429812765"/>
                    </a:ext>
                  </a:extLst>
                </a:gridCol>
                <a:gridCol w="527844">
                  <a:extLst>
                    <a:ext uri="{9D8B030D-6E8A-4147-A177-3AD203B41FA5}">
                      <a16:colId xmlns:a16="http://schemas.microsoft.com/office/drawing/2014/main" val="849403695"/>
                    </a:ext>
                  </a:extLst>
                </a:gridCol>
                <a:gridCol w="527844">
                  <a:extLst>
                    <a:ext uri="{9D8B030D-6E8A-4147-A177-3AD203B41FA5}">
                      <a16:colId xmlns:a16="http://schemas.microsoft.com/office/drawing/2014/main" val="3120525715"/>
                    </a:ext>
                  </a:extLst>
                </a:gridCol>
                <a:gridCol w="527844">
                  <a:extLst>
                    <a:ext uri="{9D8B030D-6E8A-4147-A177-3AD203B41FA5}">
                      <a16:colId xmlns:a16="http://schemas.microsoft.com/office/drawing/2014/main" val="1797080994"/>
                    </a:ext>
                  </a:extLst>
                </a:gridCol>
                <a:gridCol w="527844">
                  <a:extLst>
                    <a:ext uri="{9D8B030D-6E8A-4147-A177-3AD203B41FA5}">
                      <a16:colId xmlns:a16="http://schemas.microsoft.com/office/drawing/2014/main" val="2919337179"/>
                    </a:ext>
                  </a:extLst>
                </a:gridCol>
                <a:gridCol w="108666">
                  <a:extLst>
                    <a:ext uri="{9D8B030D-6E8A-4147-A177-3AD203B41FA5}">
                      <a16:colId xmlns:a16="http://schemas.microsoft.com/office/drawing/2014/main" val="3443232736"/>
                    </a:ext>
                  </a:extLst>
                </a:gridCol>
                <a:gridCol w="587649">
                  <a:extLst>
                    <a:ext uri="{9D8B030D-6E8A-4147-A177-3AD203B41FA5}">
                      <a16:colId xmlns:a16="http://schemas.microsoft.com/office/drawing/2014/main" val="4065883579"/>
                    </a:ext>
                  </a:extLst>
                </a:gridCol>
              </a:tblGrid>
              <a:tr h="164972">
                <a:tc rowSpan="2"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재고 금액</a:t>
                      </a:r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재고 회전일</a:t>
                      </a:r>
                      <a:r>
                        <a:rPr lang="en-US" alt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526280"/>
                  </a:ext>
                </a:extLst>
              </a:tr>
              <a:tr h="16497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(E)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(E)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목표</a:t>
                      </a:r>
                    </a:p>
                  </a:txBody>
                  <a:tcPr marL="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 比</a:t>
                      </a:r>
                    </a:p>
                  </a:txBody>
                  <a:tcPr marL="0" marR="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8428"/>
                  </a:ext>
                </a:extLst>
              </a:tr>
              <a:tr h="210525"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자동차사업부 재고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4.2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(90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4.1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(87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3.9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(89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(88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(79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2.7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(75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+0.4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(+4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1" dirty="0">
                        <a:solidFill>
                          <a:srgbClr val="00B05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7854678"/>
                  </a:ext>
                </a:extLst>
              </a:tr>
              <a:tr h="210525"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 대상 재고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5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2.2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(47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(43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(48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(39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(37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(24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+0.5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(+14</a:t>
                      </a:r>
                      <a:r>
                        <a:rPr lang="ko-KR" altLang="en-US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1" dirty="0">
                        <a:solidFill>
                          <a:srgbClr val="00B05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33330"/>
                  </a:ext>
                </a:extLst>
              </a:tr>
              <a:tr h="256589">
                <a:tc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50" b="1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 GM JV </a:t>
                      </a:r>
                      <a:r>
                        <a:rPr lang="ko-KR" altLang="en-US" sz="850" b="1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원재료 재고 감축</a:t>
                      </a:r>
                      <a:br>
                        <a:rPr lang="en-US" altLang="ko-KR" sz="850" u="sng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u="none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연내 </a:t>
                      </a:r>
                      <a:r>
                        <a:rPr lang="en-US" altLang="ko-KR" sz="700" u="none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VMI </a:t>
                      </a:r>
                      <a:r>
                        <a:rPr lang="ko-KR" altLang="en-US" sz="700" u="none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전환율 알박 </a:t>
                      </a:r>
                      <a:r>
                        <a:rPr lang="en-US" altLang="ko-KR" sz="700" u="none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100% </a:t>
                      </a:r>
                      <a:r>
                        <a:rPr lang="ko-KR" altLang="en-US" sz="700" u="none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</a:t>
                      </a:r>
                      <a:endParaRPr lang="ko-KR" altLang="en-US" sz="850" u="none" spc="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6,807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(15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5,673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5,769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5,024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5,881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(15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5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+4,946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(+13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63039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양극재 계약 재고 감축</a:t>
                      </a: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6,974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(15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7,086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(15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6,719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(15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5,373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2,860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3,825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5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l-GR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965 </a:t>
                      </a:r>
                      <a:r>
                        <a:rPr lang="en-US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l-GR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2.5</a:t>
                      </a:r>
                      <a:r>
                        <a:rPr lang="ko-KR" altLang="en-US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220185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en-US" altLang="ko-KR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리튬 재고 감축</a:t>
                      </a: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상품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1,818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1,924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1,629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1,473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1,662 </a:t>
                      </a:r>
                      <a:r>
                        <a:rPr lang="en-US" altLang="ko-KR" sz="7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7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7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7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868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(2.4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+1,035</a:t>
                      </a: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spc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+2.2</a:t>
                      </a:r>
                      <a:r>
                        <a:rPr lang="ko-KR" altLang="en-US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spc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spc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949355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en-US" altLang="ko-KR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원재료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160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144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241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(0.6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dirty="0">
                        <a:solidFill>
                          <a:srgbClr val="008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80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682284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en-US" altLang="ko-KR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보류재고 감축</a:t>
                      </a: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1,338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1,079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1,315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1,144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1,065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1,065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(±0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49794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en-US" altLang="ko-KR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원재료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287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222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l-GR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425172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 AS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재고 감축 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1,806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1,974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2,974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2,874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2,628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900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5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+1,728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(+4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961391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50" b="1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6. </a:t>
                      </a:r>
                      <a:r>
                        <a:rPr lang="ko-KR" altLang="en-US" sz="850" b="1" u="non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예비재고 최소화</a:t>
                      </a: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2,612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2,325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2,685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(6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810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518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1,013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l-GR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495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l-GR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700" spc="-3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781191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latinLnBrk="1"/>
                      <a:endParaRPr lang="ko-KR" altLang="en-US" sz="8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단종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특이재고 감축</a:t>
                      </a:r>
                    </a:p>
                  </a:txBody>
                  <a:tcPr marL="468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150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(0.3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(0.2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49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(0.1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dirty="0">
                          <a:solidFill>
                            <a:srgbClr val="008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(±0</a:t>
                      </a:r>
                      <a:r>
                        <a:rPr lang="ko-KR" alt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en-US" altLang="ko-KR" sz="7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14093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E1AE80D-105D-438E-B7BD-5CC7D28AC3D4}"/>
              </a:ext>
            </a:extLst>
          </p:cNvPr>
          <p:cNvSpPr txBox="1"/>
          <p:nvPr/>
        </p:nvSpPr>
        <p:spPr>
          <a:xfrm>
            <a:off x="202093" y="3665242"/>
            <a:ext cx="2221034" cy="188415"/>
          </a:xfrm>
          <a:prstGeom prst="rect">
            <a:avLst/>
          </a:prstGeom>
          <a:noFill/>
        </p:spPr>
        <p:txBody>
          <a:bodyPr wrap="square" lIns="0" tIns="0" rIns="0" bIns="18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관리 대상 재고 추정 및 목표 달성 현황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</a:p>
        </p:txBody>
      </p:sp>
      <p:sp>
        <p:nvSpPr>
          <p:cNvPr id="11" name="제목 3">
            <a:extLst>
              <a:ext uri="{FF2B5EF4-FFF2-40B4-BE49-F238E27FC236}">
                <a16:creationId xmlns:a16="http://schemas.microsoft.com/office/drawing/2014/main" id="{737B6623-F13A-4387-913D-975368B901CB}"/>
              </a:ext>
            </a:extLst>
          </p:cNvPr>
          <p:cNvSpPr txBox="1">
            <a:spLocks/>
          </p:cNvSpPr>
          <p:nvPr/>
        </p:nvSpPr>
        <p:spPr>
          <a:xfrm>
            <a:off x="200026" y="575442"/>
            <a:ext cx="9505950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11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월말 재고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3.7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(88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, 12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월말 재고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3.1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(79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로 예상되며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, </a:t>
            </a:r>
            <a:r>
              <a:rPr lang="ko-KR" altLang="en-US" sz="1600" u="none" dirty="0">
                <a:solidFill>
                  <a:prstClr val="black"/>
                </a:solidFill>
                <a:latin typeface="Arial Narrow" pitchFamily="34" charset="0"/>
                <a:ea typeface="LG스마트체 Regular" pitchFamily="50" charset="-127"/>
              </a:rPr>
              <a:t>아래 차질 만회 방안 추진을 통해 </a:t>
            </a:r>
            <a:r>
              <a:rPr lang="en-US" altLang="ko-KR" sz="1600" u="none" dirty="0">
                <a:solidFill>
                  <a:prstClr val="black"/>
                </a:solidFill>
                <a:latin typeface="Arial Narrow" pitchFamily="34" charset="0"/>
                <a:ea typeface="LG스마트체 Regular" pitchFamily="50" charset="-127"/>
              </a:rPr>
              <a:t>DIO </a:t>
            </a:r>
            <a:r>
              <a:rPr lang="ko-KR" altLang="en-US" sz="1600" u="none" dirty="0">
                <a:solidFill>
                  <a:prstClr val="black"/>
                </a:solidFill>
                <a:latin typeface="Arial Narrow" pitchFamily="34" charset="0"/>
                <a:ea typeface="LG스마트체 Regular" pitchFamily="50" charset="-127"/>
              </a:rPr>
              <a:t>추가 감축하겠습니다</a:t>
            </a:r>
            <a:r>
              <a:rPr lang="en-US" altLang="ko-KR" sz="1600" u="none" dirty="0">
                <a:solidFill>
                  <a:prstClr val="black"/>
                </a:solidFill>
                <a:latin typeface="Arial Narrow" pitchFamily="34" charset="0"/>
                <a:ea typeface="LG스마트체 Regular" pitchFamily="50" charset="-127"/>
              </a:rPr>
              <a:t>.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5A1F823C-BB21-4C8E-9F0C-E31E855753CB}"/>
              </a:ext>
            </a:extLst>
          </p:cNvPr>
          <p:cNvSpPr txBox="1">
            <a:spLocks/>
          </p:cNvSpPr>
          <p:nvPr/>
        </p:nvSpPr>
        <p:spPr>
          <a:xfrm>
            <a:off x="4721294" y="3676147"/>
            <a:ext cx="736805" cy="177510"/>
          </a:xfrm>
          <a:prstGeom prst="rect">
            <a:avLst/>
          </a:prstGeom>
        </p:spPr>
        <p:txBody>
          <a:bodyPr wrap="square" lIns="0" tIns="36000" rIns="18000" bIns="1800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r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(</a:t>
            </a:r>
            <a:r>
              <a:rPr kumimoji="0" lang="ko-KR" altLang="en-US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단위 </a:t>
            </a:r>
            <a:r>
              <a:rPr kumimoji="0" lang="en-US" altLang="ko-KR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: </a:t>
            </a:r>
            <a:r>
              <a:rPr kumimoji="0" lang="ko-KR" altLang="en-US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억원</a:t>
            </a:r>
            <a:r>
              <a:rPr kumimoji="0" lang="en-US" altLang="ko-KR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, </a:t>
            </a:r>
            <a:r>
              <a:rPr kumimoji="0" lang="ko-KR" altLang="en-US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일수</a:t>
            </a:r>
            <a:r>
              <a:rPr kumimoji="0" lang="en-US" altLang="ko-KR" sz="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1194E-C78F-490A-9381-35C108A90C15}"/>
              </a:ext>
            </a:extLst>
          </p:cNvPr>
          <p:cNvSpPr txBox="1"/>
          <p:nvPr/>
        </p:nvSpPr>
        <p:spPr>
          <a:xfrm>
            <a:off x="4592959" y="6562724"/>
            <a:ext cx="720082" cy="295275"/>
          </a:xfrm>
          <a:prstGeom prst="rect">
            <a:avLst/>
          </a:prstGeom>
          <a:noFill/>
          <a:ln w="3175">
            <a:noFill/>
          </a:ln>
        </p:spPr>
        <p:txBody>
          <a:bodyPr wrap="square" lIns="77925" tIns="38963" rIns="77925" bIns="38963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0E1140-0381-47B0-AA38-323D98F24420}"/>
              </a:ext>
            </a:extLst>
          </p:cNvPr>
          <p:cNvGrpSpPr/>
          <p:nvPr/>
        </p:nvGrpSpPr>
        <p:grpSpPr>
          <a:xfrm>
            <a:off x="200026" y="898790"/>
            <a:ext cx="5258065" cy="252000"/>
            <a:chOff x="4953000" y="3098800"/>
            <a:chExt cx="5258065" cy="25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7653F7E-37F3-435D-8015-605319EE44B4}"/>
                </a:ext>
              </a:extLst>
            </p:cNvPr>
            <p:cNvSpPr/>
            <p:nvPr/>
          </p:nvSpPr>
          <p:spPr>
            <a:xfrm>
              <a:off x="4953000" y="3098800"/>
              <a:ext cx="36000" cy="25200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Text Box 118">
              <a:extLst>
                <a:ext uri="{FF2B5EF4-FFF2-40B4-BE49-F238E27FC236}">
                  <a16:creationId xmlns:a16="http://schemas.microsoft.com/office/drawing/2014/main" id="{239034F9-F111-4D76-B5D0-34AF910E8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613" y="3098800"/>
              <a:ext cx="5189452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36000" tIns="0" rIns="0" bIns="0" anchor="ctr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9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’24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년 현 추정 및 목표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/ 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’24.11</a:t>
              </a: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 이동계획</a:t>
              </a:r>
              <a:r>
                <a:rPr kumimoji="1" lang="ko-KR" alt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(10</a:t>
              </a:r>
              <a:r>
                <a:rPr kumimoji="1" lang="ko-KR" alt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 마감 반영</a:t>
              </a:r>
              <a:r>
                <a:rPr kumimoji="1" lang="en-US" altLang="ko-KR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  <a:endParaRPr kumimoji="1" lang="en-US" altLang="ko-KR" sz="115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21DB4BB-75DC-4F4A-8B5C-5D6195E51F78}"/>
              </a:ext>
            </a:extLst>
          </p:cNvPr>
          <p:cNvGrpSpPr/>
          <p:nvPr/>
        </p:nvGrpSpPr>
        <p:grpSpPr>
          <a:xfrm>
            <a:off x="5532138" y="899670"/>
            <a:ext cx="4171771" cy="252000"/>
            <a:chOff x="4953000" y="3098800"/>
            <a:chExt cx="4171771" cy="2520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47BC83F-3014-4128-970E-DEDD055F9A7E}"/>
                </a:ext>
              </a:extLst>
            </p:cNvPr>
            <p:cNvSpPr/>
            <p:nvPr/>
          </p:nvSpPr>
          <p:spPr>
            <a:xfrm>
              <a:off x="4953000" y="3098800"/>
              <a:ext cx="36000" cy="25200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 Box 118">
              <a:extLst>
                <a:ext uri="{FF2B5EF4-FFF2-40B4-BE49-F238E27FC236}">
                  <a16:creationId xmlns:a16="http://schemas.microsoft.com/office/drawing/2014/main" id="{25D7117D-AF68-47B1-930D-B8C10BA65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613" y="3098800"/>
              <a:ext cx="4103158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square" lIns="36000" tIns="0" rIns="0" bIns="0" anchor="ctr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lvl="0" indent="0" defTabSz="914400" fontAlgn="base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90000"/>
                <a:buNone/>
                <a:defRPr/>
              </a:pPr>
              <a:r>
                <a:rPr kumimoji="1" lang="en-US" altLang="ko-KR" sz="1400" b="1" i="0" u="none" strike="noStrike" kern="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’24</a:t>
              </a:r>
              <a:r>
                <a:rPr kumimoji="1" lang="ko-KR" altLang="en-US" sz="1400" b="1" i="0" u="none" strike="noStrike" kern="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년 목표 대비 </a:t>
              </a:r>
              <a:r>
                <a:rPr kumimoji="1" lang="en-US" altLang="ko-KR" sz="1400" b="1" i="0" u="none" strike="noStrike" kern="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Risk </a:t>
              </a:r>
              <a:r>
                <a:rPr kumimoji="1" lang="ko-KR" altLang="en-US" sz="1400" b="1" i="0" u="none" strike="noStrike" kern="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및 기회</a:t>
              </a:r>
              <a:endParaRPr kumimoji="1" lang="en-US" altLang="ko-KR" sz="1200" b="0" i="0" u="none" strike="noStrike" kern="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247D003-0909-4686-8D7C-CF5CC0B55C1F}"/>
              </a:ext>
            </a:extLst>
          </p:cNvPr>
          <p:cNvSpPr txBox="1"/>
          <p:nvPr/>
        </p:nvSpPr>
        <p:spPr>
          <a:xfrm>
            <a:off x="202091" y="6569358"/>
            <a:ext cx="5256000" cy="162831"/>
          </a:xfrm>
          <a:prstGeom prst="rect">
            <a:avLst/>
          </a:prstGeom>
          <a:noFill/>
        </p:spPr>
        <p:txBody>
          <a:bodyPr wrap="square" lIns="0" tIns="0" rIns="0" bIns="18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en-US" altLang="ko-KR" sz="850" b="1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AS </a:t>
            </a:r>
            <a:r>
              <a:rPr kumimoji="0" lang="ko-KR" altLang="en-US" sz="850" b="1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재고</a:t>
            </a:r>
            <a:r>
              <a:rPr kumimoji="0" lang="ko-KR" altLang="en-US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AS</a:t>
            </a:r>
            <a:r>
              <a:rPr kumimoji="0" lang="ko-KR" altLang="en-US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용으로 생산된 모든 제품으로 관리 범위 확대</a:t>
            </a:r>
            <a:r>
              <a:rPr kumimoji="0" lang="en-US" altLang="ko-KR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</a:t>
            </a:r>
            <a:r>
              <a:rPr kumimoji="0" lang="ko-KR" altLang="en-US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기존 범위 </a:t>
            </a:r>
            <a:r>
              <a:rPr kumimoji="0" lang="en-US" altLang="ko-KR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AS </a:t>
            </a:r>
            <a:r>
              <a:rPr kumimoji="0" lang="ko-KR" altLang="en-US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창고 내 완제품 限</a:t>
            </a:r>
            <a:r>
              <a:rPr kumimoji="0" lang="en-US" altLang="ko-KR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리콜 제외</a:t>
            </a:r>
            <a:r>
              <a:rPr kumimoji="0" lang="en-US" altLang="ko-KR" sz="850" b="0" i="0" u="none" strike="noStrike" kern="1200" cap="none" spc="-1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A96491-AE08-426A-B943-550E16F8F158}"/>
              </a:ext>
            </a:extLst>
          </p:cNvPr>
          <p:cNvSpPr txBox="1"/>
          <p:nvPr/>
        </p:nvSpPr>
        <p:spPr>
          <a:xfrm>
            <a:off x="7385050" y="933337"/>
            <a:ext cx="2320925" cy="184666"/>
          </a:xfrm>
          <a:prstGeom prst="rect">
            <a:avLst/>
          </a:prstGeom>
          <a:noFill/>
        </p:spPr>
        <p:txBody>
          <a:bodyPr wrap="square" lIns="0" tIns="0" rIns="72000" bIns="0" rtlCol="0">
            <a:noAutofit/>
          </a:bodyPr>
          <a:lstStyle/>
          <a:p>
            <a:pPr lvl="0" algn="r"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························ </a:t>
            </a:r>
            <a:r>
              <a:rPr lang="el-GR" altLang="ko-KR" sz="12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Δ</a:t>
            </a:r>
            <a:r>
              <a:rPr lang="en-US" altLang="ko-KR" sz="12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61</a:t>
            </a:r>
            <a:r>
              <a:rPr lang="ko-KR" altLang="en-US" sz="12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억</a:t>
            </a:r>
            <a:r>
              <a:rPr lang="en-US" altLang="ko-KR" sz="12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/ </a:t>
            </a:r>
            <a:r>
              <a:rPr lang="el-GR" altLang="ko-KR" sz="12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Δ</a:t>
            </a:r>
            <a:r>
              <a:rPr lang="en-US" altLang="ko-KR" sz="1200" b="1" u="sng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</a:p>
        </p:txBody>
      </p:sp>
      <p:sp>
        <p:nvSpPr>
          <p:cNvPr id="22" name="실행 단추: 앞으로 또는 다음 8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36B3D54-427C-46EB-A240-80B565ABA3F2}"/>
              </a:ext>
            </a:extLst>
          </p:cNvPr>
          <p:cNvSpPr>
            <a:spLocks noChangeAspect="1"/>
          </p:cNvSpPr>
          <p:nvPr/>
        </p:nvSpPr>
        <p:spPr>
          <a:xfrm>
            <a:off x="1380943" y="6408808"/>
            <a:ext cx="108000" cy="108000"/>
          </a:xfrm>
          <a:prstGeom prst="actionButtonForwardNex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8987B78-97D2-48D2-9AA1-338E29B05459}"/>
              </a:ext>
            </a:extLst>
          </p:cNvPr>
          <p:cNvSpPr/>
          <p:nvPr/>
        </p:nvSpPr>
        <p:spPr>
          <a:xfrm>
            <a:off x="200025" y="1217045"/>
            <a:ext cx="1982066" cy="2448000"/>
          </a:xfrm>
          <a:prstGeom prst="roundRect">
            <a:avLst>
              <a:gd name="adj" fmla="val 0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6EFE303-C23C-443D-B1D4-FCD8C38B66D8}"/>
              </a:ext>
            </a:extLst>
          </p:cNvPr>
          <p:cNvSpPr/>
          <p:nvPr/>
        </p:nvSpPr>
        <p:spPr>
          <a:xfrm>
            <a:off x="4238620" y="1217045"/>
            <a:ext cx="1219471" cy="24480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제목 3">
            <a:extLst>
              <a:ext uri="{FF2B5EF4-FFF2-40B4-BE49-F238E27FC236}">
                <a16:creationId xmlns:a16="http://schemas.microsoft.com/office/drawing/2014/main" id="{78344887-BD4D-43E0-B80A-C3337C51201D}"/>
              </a:ext>
            </a:extLst>
          </p:cNvPr>
          <p:cNvSpPr txBox="1">
            <a:spLocks/>
          </p:cNvSpPr>
          <p:nvPr/>
        </p:nvSpPr>
        <p:spPr>
          <a:xfrm>
            <a:off x="2456590" y="3471393"/>
            <a:ext cx="43441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11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월 추정</a:t>
            </a:r>
          </a:p>
        </p:txBody>
      </p:sp>
      <p:sp>
        <p:nvSpPr>
          <p:cNvPr id="26" name="제목 3">
            <a:extLst>
              <a:ext uri="{FF2B5EF4-FFF2-40B4-BE49-F238E27FC236}">
                <a16:creationId xmlns:a16="http://schemas.microsoft.com/office/drawing/2014/main" id="{FF588593-91D0-4F7E-A3B1-5E48B57FEB40}"/>
              </a:ext>
            </a:extLst>
          </p:cNvPr>
          <p:cNvSpPr txBox="1">
            <a:spLocks/>
          </p:cNvSpPr>
          <p:nvPr/>
        </p:nvSpPr>
        <p:spPr>
          <a:xfrm>
            <a:off x="4426792" y="3471393"/>
            <a:ext cx="43922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12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월 목표</a:t>
            </a:r>
          </a:p>
        </p:txBody>
      </p:sp>
      <p:sp>
        <p:nvSpPr>
          <p:cNvPr id="27" name="제목 3">
            <a:extLst>
              <a:ext uri="{FF2B5EF4-FFF2-40B4-BE49-F238E27FC236}">
                <a16:creationId xmlns:a16="http://schemas.microsoft.com/office/drawing/2014/main" id="{F6900B84-6E8E-4BDB-9E14-99AD87BA3E06}"/>
              </a:ext>
            </a:extLst>
          </p:cNvPr>
          <p:cNvSpPr txBox="1">
            <a:spLocks/>
          </p:cNvSpPr>
          <p:nvPr/>
        </p:nvSpPr>
        <p:spPr>
          <a:xfrm>
            <a:off x="3484941" y="3471393"/>
            <a:ext cx="43922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12</a:t>
            </a: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월 추정</a:t>
            </a:r>
          </a:p>
        </p:txBody>
      </p:sp>
      <p:sp>
        <p:nvSpPr>
          <p:cNvPr id="28" name="제목 3">
            <a:extLst>
              <a:ext uri="{FF2B5EF4-FFF2-40B4-BE49-F238E27FC236}">
                <a16:creationId xmlns:a16="http://schemas.microsoft.com/office/drawing/2014/main" id="{92146798-2CE4-49FE-AEA7-447225C207C0}"/>
              </a:ext>
            </a:extLst>
          </p:cNvPr>
          <p:cNvSpPr txBox="1">
            <a:spLocks/>
          </p:cNvSpPr>
          <p:nvPr/>
        </p:nvSpPr>
        <p:spPr>
          <a:xfrm>
            <a:off x="255020" y="3121458"/>
            <a:ext cx="269304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제상품</a:t>
            </a:r>
          </a:p>
        </p:txBody>
      </p:sp>
      <p:sp>
        <p:nvSpPr>
          <p:cNvPr id="29" name="제목 3">
            <a:extLst>
              <a:ext uri="{FF2B5EF4-FFF2-40B4-BE49-F238E27FC236}">
                <a16:creationId xmlns:a16="http://schemas.microsoft.com/office/drawing/2014/main" id="{9B6DBAAD-8BB2-4606-BACF-55207D486AEF}"/>
              </a:ext>
            </a:extLst>
          </p:cNvPr>
          <p:cNvSpPr txBox="1">
            <a:spLocks/>
          </p:cNvSpPr>
          <p:nvPr/>
        </p:nvSpPr>
        <p:spPr>
          <a:xfrm>
            <a:off x="255020" y="2673713"/>
            <a:ext cx="269304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반제품</a:t>
            </a:r>
          </a:p>
        </p:txBody>
      </p:sp>
      <p:sp>
        <p:nvSpPr>
          <p:cNvPr id="30" name="제목 3">
            <a:extLst>
              <a:ext uri="{FF2B5EF4-FFF2-40B4-BE49-F238E27FC236}">
                <a16:creationId xmlns:a16="http://schemas.microsoft.com/office/drawing/2014/main" id="{01E74FC5-BE11-46A2-A4C5-D904145912AE}"/>
              </a:ext>
            </a:extLst>
          </p:cNvPr>
          <p:cNvSpPr txBox="1">
            <a:spLocks/>
          </p:cNvSpPr>
          <p:nvPr/>
        </p:nvSpPr>
        <p:spPr>
          <a:xfrm>
            <a:off x="255020" y="2012012"/>
            <a:ext cx="269304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원재료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30FF905-D6DB-4E7F-891F-5484E9CFC14A}"/>
              </a:ext>
            </a:extLst>
          </p:cNvPr>
          <p:cNvGrpSpPr/>
          <p:nvPr/>
        </p:nvGrpSpPr>
        <p:grpSpPr>
          <a:xfrm>
            <a:off x="2677713" y="1854994"/>
            <a:ext cx="288000" cy="1575679"/>
            <a:chOff x="2677713" y="1854994"/>
            <a:chExt cx="288000" cy="1575679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8478237-1DE2-4817-A707-B478E3052DDB}"/>
                </a:ext>
              </a:extLst>
            </p:cNvPr>
            <p:cNvSpPr/>
            <p:nvPr/>
          </p:nvSpPr>
          <p:spPr>
            <a:xfrm>
              <a:off x="2677713" y="2681873"/>
              <a:ext cx="288000" cy="748800"/>
            </a:xfrm>
            <a:prstGeom prst="rect">
              <a:avLst/>
            </a:prstGeom>
            <a:pattFill prst="ltDnDiag">
              <a:fgClr>
                <a:srgbClr val="0000CC"/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0722D5B-3F92-4CEF-9851-57E8A56881D3}"/>
                </a:ext>
              </a:extLst>
            </p:cNvPr>
            <p:cNvSpPr/>
            <p:nvPr/>
          </p:nvSpPr>
          <p:spPr>
            <a:xfrm>
              <a:off x="2677713" y="1854994"/>
              <a:ext cx="288000" cy="83140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white">
                      <a:lumMod val="50000"/>
                    </a:prst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49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lang="en-US" altLang="ko-KR" sz="750" spc="-30" dirty="0">
                  <a:solidFill>
                    <a:prstClr val="white">
                      <a:lumMod val="50000"/>
                    </a:prst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2.0</a:t>
              </a:r>
              <a:r>
                <a:rPr kumimoji="0" lang="ko-KR" altLang="en-US" sz="75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-3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-3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4" name="제목 3">
              <a:extLst>
                <a:ext uri="{FF2B5EF4-FFF2-40B4-BE49-F238E27FC236}">
                  <a16:creationId xmlns:a16="http://schemas.microsoft.com/office/drawing/2014/main" id="{811024DF-CF9B-441C-B040-9C1621CCB3F2}"/>
                </a:ext>
              </a:extLst>
            </p:cNvPr>
            <p:cNvSpPr txBox="1">
              <a:spLocks/>
            </p:cNvSpPr>
            <p:nvPr/>
          </p:nvSpPr>
          <p:spPr>
            <a:xfrm>
              <a:off x="2704637" y="2899368"/>
              <a:ext cx="234152" cy="253916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  <p:txBody>
            <a:bodyPr wrap="squar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u="none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39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j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j-cs"/>
                </a:rPr>
                <a:t>(</a:t>
              </a:r>
              <a:r>
                <a:rPr lang="en-US" altLang="ko-KR" sz="750" b="0" u="none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1.7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j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j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endParaRPr>
            </a:p>
          </p:txBody>
        </p:sp>
      </p:grpSp>
      <p:sp>
        <p:nvSpPr>
          <p:cNvPr id="35" name="제목 3">
            <a:extLst>
              <a:ext uri="{FF2B5EF4-FFF2-40B4-BE49-F238E27FC236}">
                <a16:creationId xmlns:a16="http://schemas.microsoft.com/office/drawing/2014/main" id="{221C7797-DA14-4FC5-9F8B-D6359D1BFF55}"/>
              </a:ext>
            </a:extLst>
          </p:cNvPr>
          <p:cNvSpPr txBox="1">
            <a:spLocks/>
          </p:cNvSpPr>
          <p:nvPr/>
        </p:nvSpPr>
        <p:spPr>
          <a:xfrm>
            <a:off x="2973126" y="2863614"/>
            <a:ext cx="288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관리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대상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재고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36" name="제목 3">
            <a:extLst>
              <a:ext uri="{FF2B5EF4-FFF2-40B4-BE49-F238E27FC236}">
                <a16:creationId xmlns:a16="http://schemas.microsoft.com/office/drawing/2014/main" id="{653F4390-DAE9-432F-B3A1-6DF4B306D856}"/>
              </a:ext>
            </a:extLst>
          </p:cNvPr>
          <p:cNvSpPr txBox="1">
            <a:spLocks/>
          </p:cNvSpPr>
          <p:nvPr/>
        </p:nvSpPr>
        <p:spPr>
          <a:xfrm>
            <a:off x="2971663" y="2135714"/>
            <a:ext cx="288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운영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재고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69B7E81-808F-4C2F-8DF3-A3DD5BB07F50}"/>
              </a:ext>
            </a:extLst>
          </p:cNvPr>
          <p:cNvSpPr/>
          <p:nvPr/>
        </p:nvSpPr>
        <p:spPr>
          <a:xfrm>
            <a:off x="4329330" y="2119190"/>
            <a:ext cx="288000" cy="44061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(1.0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F885CA8-FAAA-45EE-B475-F7BF2640D1EF}"/>
              </a:ext>
            </a:extLst>
          </p:cNvPr>
          <p:cNvSpPr/>
          <p:nvPr/>
        </p:nvSpPr>
        <p:spPr>
          <a:xfrm>
            <a:off x="3721583" y="2767109"/>
            <a:ext cx="288000" cy="663564"/>
          </a:xfrm>
          <a:prstGeom prst="rect">
            <a:avLst/>
          </a:prstGeom>
          <a:pattFill prst="ltDnDiag">
            <a:fgClr>
              <a:srgbClr val="0000CC"/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0E2A9D-FA62-415A-A6A7-0E63F93C6345}"/>
              </a:ext>
            </a:extLst>
          </p:cNvPr>
          <p:cNvSpPr/>
          <p:nvPr/>
        </p:nvSpPr>
        <p:spPr>
          <a:xfrm>
            <a:off x="4674469" y="2967060"/>
            <a:ext cx="288000" cy="463614"/>
          </a:xfrm>
          <a:prstGeom prst="rect">
            <a:avLst/>
          </a:prstGeom>
          <a:pattFill prst="ltDnDiag">
            <a:fgClr>
              <a:srgbClr val="0000CC"/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0" name="제목 3">
            <a:extLst>
              <a:ext uri="{FF2B5EF4-FFF2-40B4-BE49-F238E27FC236}">
                <a16:creationId xmlns:a16="http://schemas.microsoft.com/office/drawing/2014/main" id="{6BEC3207-1A5E-4B7D-88A3-26F703094535}"/>
              </a:ext>
            </a:extLst>
          </p:cNvPr>
          <p:cNvSpPr txBox="1">
            <a:spLocks/>
          </p:cNvSpPr>
          <p:nvPr/>
        </p:nvSpPr>
        <p:spPr>
          <a:xfrm>
            <a:off x="3754916" y="2972446"/>
            <a:ext cx="234152" cy="25391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u="none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37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-4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(1.5</a:t>
            </a:r>
            <a:r>
              <a:rPr kumimoji="0" lang="ko-KR" altLang="en-US" sz="750" b="0" i="0" u="none" strike="noStrike" kern="1200" cap="none" spc="-4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조</a:t>
            </a:r>
            <a:r>
              <a:rPr kumimoji="0" lang="en-US" altLang="ko-KR" sz="750" b="0" i="0" u="none" strike="noStrike" kern="1200" cap="none" spc="-4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)</a:t>
            </a:r>
            <a:endParaRPr kumimoji="0" lang="ko-KR" altLang="en-US" sz="750" b="0" i="0" u="none" strike="noStrike" kern="1200" cap="none" spc="-40" normalizeH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41" name="제목 3">
            <a:extLst>
              <a:ext uri="{FF2B5EF4-FFF2-40B4-BE49-F238E27FC236}">
                <a16:creationId xmlns:a16="http://schemas.microsoft.com/office/drawing/2014/main" id="{E07690DB-FC3A-4F5A-8F87-7C5C0C8B1FFF}"/>
              </a:ext>
            </a:extLst>
          </p:cNvPr>
          <p:cNvSpPr txBox="1">
            <a:spLocks/>
          </p:cNvSpPr>
          <p:nvPr/>
        </p:nvSpPr>
        <p:spPr>
          <a:xfrm>
            <a:off x="4703600" y="3068062"/>
            <a:ext cx="234152" cy="26161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24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</a:t>
            </a:r>
            <a:r>
              <a:rPr lang="en-US" altLang="ko-KR" sz="750" b="0" u="none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조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  <p:sp>
        <p:nvSpPr>
          <p:cNvPr id="42" name="제목 3">
            <a:extLst>
              <a:ext uri="{FF2B5EF4-FFF2-40B4-BE49-F238E27FC236}">
                <a16:creationId xmlns:a16="http://schemas.microsoft.com/office/drawing/2014/main" id="{4FC02A6C-A3BB-4CBB-87CD-034B83D4A262}"/>
              </a:ext>
            </a:extLst>
          </p:cNvPr>
          <p:cNvSpPr txBox="1">
            <a:spLocks/>
          </p:cNvSpPr>
          <p:nvPr/>
        </p:nvSpPr>
        <p:spPr>
          <a:xfrm>
            <a:off x="4329489" y="1822665"/>
            <a:ext cx="30777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75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b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</a:b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(2.69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조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43" name="제목 3">
            <a:extLst>
              <a:ext uri="{FF2B5EF4-FFF2-40B4-BE49-F238E27FC236}">
                <a16:creationId xmlns:a16="http://schemas.microsoft.com/office/drawing/2014/main" id="{EE83813E-1F5E-4372-8B0B-06A8F58A868B}"/>
              </a:ext>
            </a:extLst>
          </p:cNvPr>
          <p:cNvSpPr txBox="1">
            <a:spLocks/>
          </p:cNvSpPr>
          <p:nvPr/>
        </p:nvSpPr>
        <p:spPr>
          <a:xfrm>
            <a:off x="5031663" y="1818102"/>
            <a:ext cx="341439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목표 比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</a:b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34E15DE-451C-42BE-9C76-AEF2083E174C}"/>
              </a:ext>
            </a:extLst>
          </p:cNvPr>
          <p:cNvCxnSpPr>
            <a:cxnSpLocks/>
          </p:cNvCxnSpPr>
          <p:nvPr/>
        </p:nvCxnSpPr>
        <p:spPr>
          <a:xfrm>
            <a:off x="3826509" y="2767109"/>
            <a:ext cx="12144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E5EAB0D-E4ED-4FD6-AC95-ABC06DC05B20}"/>
              </a:ext>
            </a:extLst>
          </p:cNvPr>
          <p:cNvCxnSpPr>
            <a:cxnSpLocks/>
          </p:cNvCxnSpPr>
          <p:nvPr/>
        </p:nvCxnSpPr>
        <p:spPr>
          <a:xfrm>
            <a:off x="4808798" y="2776865"/>
            <a:ext cx="0" cy="190195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제목 3">
            <a:extLst>
              <a:ext uri="{FF2B5EF4-FFF2-40B4-BE49-F238E27FC236}">
                <a16:creationId xmlns:a16="http://schemas.microsoft.com/office/drawing/2014/main" id="{13EB3E6A-7990-454E-9F10-FE508C3782F6}"/>
              </a:ext>
            </a:extLst>
          </p:cNvPr>
          <p:cNvSpPr txBox="1">
            <a:spLocks/>
          </p:cNvSpPr>
          <p:nvPr/>
        </p:nvSpPr>
        <p:spPr>
          <a:xfrm>
            <a:off x="5065330" y="2203621"/>
            <a:ext cx="27411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원재료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(+</a:t>
            </a:r>
            <a:r>
              <a:rPr lang="en-US" altLang="ko-KR" sz="800" b="0" u="none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</a:rPr>
              <a:t>5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47" name="제목 3">
            <a:extLst>
              <a:ext uri="{FF2B5EF4-FFF2-40B4-BE49-F238E27FC236}">
                <a16:creationId xmlns:a16="http://schemas.microsoft.com/office/drawing/2014/main" id="{9A2DF671-AB8A-43C3-BB00-B489E5BAE43A}"/>
              </a:ext>
            </a:extLst>
          </p:cNvPr>
          <p:cNvSpPr txBox="1">
            <a:spLocks/>
          </p:cNvSpPr>
          <p:nvPr/>
        </p:nvSpPr>
        <p:spPr>
          <a:xfrm>
            <a:off x="5065329" y="2677730"/>
            <a:ext cx="27411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반제품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</a:t>
            </a:r>
            <a:r>
              <a:rPr kumimoji="0" lang="el-GR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Δ</a:t>
            </a:r>
            <a:r>
              <a:rPr lang="en-US" altLang="ko-KR" sz="800" b="0" u="none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</a:rPr>
              <a:t>2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48" name="제목 3">
            <a:extLst>
              <a:ext uri="{FF2B5EF4-FFF2-40B4-BE49-F238E27FC236}">
                <a16:creationId xmlns:a16="http://schemas.microsoft.com/office/drawing/2014/main" id="{CEE3A34B-E608-4BDC-90BE-5DF5B0FED498}"/>
              </a:ext>
            </a:extLst>
          </p:cNvPr>
          <p:cNvSpPr txBox="1">
            <a:spLocks/>
          </p:cNvSpPr>
          <p:nvPr/>
        </p:nvSpPr>
        <p:spPr>
          <a:xfrm>
            <a:off x="5065330" y="3130938"/>
            <a:ext cx="27411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제상품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</a:b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</a:t>
            </a:r>
            <a:r>
              <a:rPr lang="en-US" altLang="ko-KR" sz="800" b="0" u="none" dirty="0">
                <a:solidFill>
                  <a:srgbClr val="008000"/>
                </a:solidFill>
                <a:latin typeface="Arial Narrow" pitchFamily="34" charset="0"/>
                <a:ea typeface="LG스마트체 Regular" pitchFamily="50" charset="-127"/>
              </a:rPr>
              <a:t>+1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49" name="제목 3">
            <a:extLst>
              <a:ext uri="{FF2B5EF4-FFF2-40B4-BE49-F238E27FC236}">
                <a16:creationId xmlns:a16="http://schemas.microsoft.com/office/drawing/2014/main" id="{F5D645F6-C28A-4F53-8CCF-CEB20D532F88}"/>
              </a:ext>
            </a:extLst>
          </p:cNvPr>
          <p:cNvSpPr txBox="1">
            <a:spLocks/>
          </p:cNvSpPr>
          <p:nvPr/>
        </p:nvSpPr>
        <p:spPr>
          <a:xfrm>
            <a:off x="3409773" y="1417936"/>
            <a:ext cx="199033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재고 목표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75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 대비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+4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 추정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F605050-D1E0-4B8E-9672-24E6528BBD31}"/>
              </a:ext>
            </a:extLst>
          </p:cNvPr>
          <p:cNvGrpSpPr/>
          <p:nvPr/>
        </p:nvGrpSpPr>
        <p:grpSpPr>
          <a:xfrm>
            <a:off x="2314014" y="1560230"/>
            <a:ext cx="307777" cy="1870442"/>
            <a:chOff x="2314014" y="1560230"/>
            <a:chExt cx="307777" cy="1870442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62C3560-E66D-413C-B553-35CC6A8659FE}"/>
                </a:ext>
              </a:extLst>
            </p:cNvPr>
            <p:cNvSpPr/>
            <p:nvPr/>
          </p:nvSpPr>
          <p:spPr>
            <a:xfrm>
              <a:off x="2323902" y="1854200"/>
              <a:ext cx="288000" cy="7564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36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(1.5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2" name="제목 3">
              <a:extLst>
                <a:ext uri="{FF2B5EF4-FFF2-40B4-BE49-F238E27FC236}">
                  <a16:creationId xmlns:a16="http://schemas.microsoft.com/office/drawing/2014/main" id="{0DE4CA0E-39F3-4EDE-840A-6F2255BD40FD}"/>
                </a:ext>
              </a:extLst>
            </p:cNvPr>
            <p:cNvSpPr txBox="1">
              <a:spLocks/>
            </p:cNvSpPr>
            <p:nvPr/>
          </p:nvSpPr>
          <p:spPr>
            <a:xfrm>
              <a:off x="2314014" y="1560230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u="none" dirty="0">
                  <a:solidFill>
                    <a:prstClr val="black"/>
                  </a:solidFill>
                  <a:latin typeface="Arial Narrow" pitchFamily="34" charset="0"/>
                  <a:ea typeface="LG스마트체 Regular" pitchFamily="50" charset="-127"/>
                </a:rPr>
                <a:t>88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b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</a:b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(3.68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조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1400F28-1A3F-4949-8282-B7C542940DD9}"/>
                </a:ext>
              </a:extLst>
            </p:cNvPr>
            <p:cNvSpPr/>
            <p:nvPr/>
          </p:nvSpPr>
          <p:spPr>
            <a:xfrm>
              <a:off x="2323902" y="2548111"/>
              <a:ext cx="288000" cy="491162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27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(1.1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B98C1EB-2AE6-40BF-8DB6-D8D3054A4B4C}"/>
                </a:ext>
              </a:extLst>
            </p:cNvPr>
            <p:cNvSpPr/>
            <p:nvPr/>
          </p:nvSpPr>
          <p:spPr>
            <a:xfrm>
              <a:off x="2323902" y="3003549"/>
              <a:ext cx="288000" cy="4271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26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(1.1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DA4337C-B126-46F8-84F3-B830AB1FD8D1}"/>
              </a:ext>
            </a:extLst>
          </p:cNvPr>
          <p:cNvSpPr/>
          <p:nvPr/>
        </p:nvSpPr>
        <p:spPr>
          <a:xfrm>
            <a:off x="4329330" y="2525998"/>
            <a:ext cx="288000" cy="549684"/>
          </a:xfrm>
          <a:prstGeom prst="rect">
            <a:avLst/>
          </a:prstGeom>
          <a:pattFill prst="pct20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(0.9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7CE94BA-A057-4D5C-9691-AB2C73FB730F}"/>
              </a:ext>
            </a:extLst>
          </p:cNvPr>
          <p:cNvSpPr/>
          <p:nvPr/>
        </p:nvSpPr>
        <p:spPr>
          <a:xfrm>
            <a:off x="4329330" y="3041873"/>
            <a:ext cx="288000" cy="3888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(0.7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5E204EF-A439-41E6-B871-32EE2791420C}"/>
              </a:ext>
            </a:extLst>
          </p:cNvPr>
          <p:cNvGrpSpPr/>
          <p:nvPr/>
        </p:nvGrpSpPr>
        <p:grpSpPr>
          <a:xfrm>
            <a:off x="1714460" y="1534125"/>
            <a:ext cx="288000" cy="2075767"/>
            <a:chOff x="1714460" y="1534125"/>
            <a:chExt cx="288000" cy="2075767"/>
          </a:xfrm>
        </p:grpSpPr>
        <p:sp>
          <p:nvSpPr>
            <p:cNvPr id="58" name="제목 3">
              <a:extLst>
                <a:ext uri="{FF2B5EF4-FFF2-40B4-BE49-F238E27FC236}">
                  <a16:creationId xmlns:a16="http://schemas.microsoft.com/office/drawing/2014/main" id="{8768FF2F-EC92-4C37-997B-4ED3BB979030}"/>
                </a:ext>
              </a:extLst>
            </p:cNvPr>
            <p:cNvSpPr txBox="1">
              <a:spLocks/>
            </p:cNvSpPr>
            <p:nvPr/>
          </p:nvSpPr>
          <p:spPr>
            <a:xfrm>
              <a:off x="1755066" y="3471393"/>
              <a:ext cx="206788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u="none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 Narrow" pitchFamily="34" charset="0"/>
                  <a:ea typeface="LG스마트체 Regular" pitchFamily="50" charset="-127"/>
                </a:rPr>
                <a:t>10</a:t>
              </a:r>
              <a:r>
                <a:rPr kumimoji="0" lang="ko-KR" altLang="en-US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월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25F7723C-3CC7-4BB0-ADD4-CD010F5F651D}"/>
                </a:ext>
              </a:extLst>
            </p:cNvPr>
            <p:cNvSpPr/>
            <p:nvPr/>
          </p:nvSpPr>
          <p:spPr>
            <a:xfrm>
              <a:off x="1714460" y="2387805"/>
              <a:ext cx="288000" cy="603546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25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(1.1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3306760-36CA-4BD6-8912-D21C16EF7D4C}"/>
                </a:ext>
              </a:extLst>
            </p:cNvPr>
            <p:cNvSpPr/>
            <p:nvPr/>
          </p:nvSpPr>
          <p:spPr>
            <a:xfrm>
              <a:off x="1714460" y="1797490"/>
              <a:ext cx="288000" cy="6869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white">
                      <a:lumMod val="50000"/>
                    </a:prst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37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(1.6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1" name="제목 3">
              <a:extLst>
                <a:ext uri="{FF2B5EF4-FFF2-40B4-BE49-F238E27FC236}">
                  <a16:creationId xmlns:a16="http://schemas.microsoft.com/office/drawing/2014/main" id="{AF5223B8-B8FA-4F61-B498-F3C698CA28B8}"/>
                </a:ext>
              </a:extLst>
            </p:cNvPr>
            <p:cNvSpPr txBox="1">
              <a:spLocks/>
            </p:cNvSpPr>
            <p:nvPr/>
          </p:nvSpPr>
          <p:spPr>
            <a:xfrm>
              <a:off x="1721401" y="1534125"/>
              <a:ext cx="274114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u="none" dirty="0">
                  <a:solidFill>
                    <a:prstClr val="white">
                      <a:lumMod val="50000"/>
                    </a:prstClr>
                  </a:solidFill>
                  <a:latin typeface="Arial Narrow" pitchFamily="34" charset="0"/>
                  <a:ea typeface="LG스마트체 Regular" pitchFamily="50" charset="-127"/>
                </a:rPr>
                <a:t>89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b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</a:b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(3.94</a:t>
              </a: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조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D6A0887-2178-46CA-B73D-E5936FBA7D2A}"/>
                </a:ext>
              </a:extLst>
            </p:cNvPr>
            <p:cNvSpPr/>
            <p:nvPr/>
          </p:nvSpPr>
          <p:spPr>
            <a:xfrm>
              <a:off x="1714460" y="2923951"/>
              <a:ext cx="288000" cy="5067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27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(1.2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63" name="연결선: 구부러짐 62">
            <a:extLst>
              <a:ext uri="{FF2B5EF4-FFF2-40B4-BE49-F238E27FC236}">
                <a16:creationId xmlns:a16="http://schemas.microsoft.com/office/drawing/2014/main" id="{A096B108-77EF-496D-855F-6576C13598AC}"/>
              </a:ext>
            </a:extLst>
          </p:cNvPr>
          <p:cNvCxnSpPr>
            <a:cxnSpLocks/>
          </p:cNvCxnSpPr>
          <p:nvPr/>
        </p:nvCxnSpPr>
        <p:spPr>
          <a:xfrm>
            <a:off x="2663300" y="1650995"/>
            <a:ext cx="1595931" cy="266348"/>
          </a:xfrm>
          <a:prstGeom prst="curvedConnector2">
            <a:avLst/>
          </a:prstGeom>
          <a:ln>
            <a:solidFill>
              <a:srgbClr val="0066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D5664BE-4648-425F-992A-C91EDF5DB315}"/>
              </a:ext>
            </a:extLst>
          </p:cNvPr>
          <p:cNvSpPr/>
          <p:nvPr/>
        </p:nvSpPr>
        <p:spPr>
          <a:xfrm>
            <a:off x="3381970" y="3039273"/>
            <a:ext cx="288000" cy="3913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21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(0.8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1608A13-821F-4ED5-9277-2F929A44CDAC}"/>
              </a:ext>
            </a:extLst>
          </p:cNvPr>
          <p:cNvSpPr/>
          <p:nvPr/>
        </p:nvSpPr>
        <p:spPr>
          <a:xfrm>
            <a:off x="3381970" y="2548111"/>
            <a:ext cx="288000" cy="501038"/>
          </a:xfrm>
          <a:prstGeom prst="rect">
            <a:avLst/>
          </a:prstGeom>
          <a:pattFill prst="pct20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(0.9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6" name="제목 3">
            <a:extLst>
              <a:ext uri="{FF2B5EF4-FFF2-40B4-BE49-F238E27FC236}">
                <a16:creationId xmlns:a16="http://schemas.microsoft.com/office/drawing/2014/main" id="{332D37B1-67E1-4A51-8FE0-DBE11977EBEA}"/>
              </a:ext>
            </a:extLst>
          </p:cNvPr>
          <p:cNvSpPr txBox="1">
            <a:spLocks/>
          </p:cNvSpPr>
          <p:nvPr/>
        </p:nvSpPr>
        <p:spPr>
          <a:xfrm>
            <a:off x="3377833" y="1631235"/>
            <a:ext cx="30777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79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  <a:b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</a:b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(3.07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조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)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B8936EE-436B-40F5-8726-6BBC4F7C292C}"/>
              </a:ext>
            </a:extLst>
          </p:cNvPr>
          <p:cNvSpPr/>
          <p:nvPr/>
        </p:nvSpPr>
        <p:spPr>
          <a:xfrm>
            <a:off x="3381970" y="1929202"/>
            <a:ext cx="288000" cy="6754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34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(1.3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E3CCB9E-20CE-4D1F-897C-9754DAAC2EB1}"/>
              </a:ext>
            </a:extLst>
          </p:cNvPr>
          <p:cNvGrpSpPr/>
          <p:nvPr/>
        </p:nvGrpSpPr>
        <p:grpSpPr>
          <a:xfrm>
            <a:off x="5579865" y="4711516"/>
            <a:ext cx="4124045" cy="1175222"/>
            <a:chOff x="5581931" y="2435779"/>
            <a:chExt cx="4124045" cy="1175222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6BCA6B2B-BDF3-4DB6-B068-A3E212270264}"/>
                </a:ext>
              </a:extLst>
            </p:cNvPr>
            <p:cNvGrpSpPr/>
            <p:nvPr/>
          </p:nvGrpSpPr>
          <p:grpSpPr>
            <a:xfrm>
              <a:off x="5581931" y="2435779"/>
              <a:ext cx="4124044" cy="1175222"/>
              <a:chOff x="261817" y="4627421"/>
              <a:chExt cx="4572620" cy="1175222"/>
            </a:xfrm>
          </p:grpSpPr>
          <p:sp>
            <p:nvSpPr>
              <p:cNvPr id="71" name="Text Box 118">
                <a:extLst>
                  <a:ext uri="{FF2B5EF4-FFF2-40B4-BE49-F238E27FC236}">
                    <a16:creationId xmlns:a16="http://schemas.microsoft.com/office/drawing/2014/main" id="{FDE19F11-A360-4F34-91C3-A187BC32F5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576" y="4627421"/>
                <a:ext cx="4514861" cy="11752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noAutofit/>
              </a:bodyPr>
              <a:lstStyle>
                <a:defPPr>
                  <a:defRPr lang="ko-KR"/>
                </a:defPPr>
                <a:lvl1pPr marL="180000" indent="-180000">
                  <a:lnSpc>
                    <a:spcPct val="140000"/>
                  </a:lnSpc>
                  <a:spcBef>
                    <a:spcPts val="700"/>
                  </a:spcBef>
                  <a:spcAft>
                    <a:spcPts val="700"/>
                  </a:spcAft>
                  <a:buFont typeface="Wingdings" pitchFamily="2" charset="2"/>
                  <a:buChar char="q"/>
                  <a:defRPr kumimoji="1" sz="13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defRPr>
                </a:lvl1pPr>
                <a:lvl2pPr marL="742950" indent="-285750" eaLnBrk="0" hangingPunct="0">
                  <a:defRPr kumimoji="1"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Pct val="80000"/>
                  <a:buFont typeface="Wingdings" pitchFamily="2" charset="2"/>
                  <a:buChar char="q"/>
                  <a:tabLst/>
                  <a:defRPr/>
                </a:pPr>
                <a:r>
                  <a:rPr kumimoji="1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 </a:t>
                </a:r>
                <a:r>
                  <a:rPr lang="ko-KR" altLang="en-US" kern="0" spc="-30" dirty="0">
                    <a:solidFill>
                      <a:srgbClr val="000000"/>
                    </a:solidFill>
                    <a:highlight>
                      <a:srgbClr val="FFFFCC"/>
                    </a:highlight>
                  </a:rPr>
                  <a:t>부실 재고 연내 소진</a:t>
                </a:r>
                <a:endParaRPr kumimoji="1" lang="en-US" altLang="ko-KR" b="1" i="0" strike="noStrike" kern="0" cap="none" spc="-3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CC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endParaRPr>
              </a:p>
              <a:p>
                <a:pPr marL="146050" marR="0" lvl="0" indent="-36513" algn="l" defTabSz="4572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ClrTx/>
                  <a:buSzPct val="80000"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1" lang="ko-KR" alt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타용도 판매 및 처리</a:t>
                </a:r>
                <a:r>
                  <a:rPr lang="ko-KR" altLang="en-US" sz="1100" b="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00" b="0" kern="0" dirty="0">
                    <a:solidFill>
                      <a:srgbClr val="000000"/>
                    </a:solidFill>
                  </a:rPr>
                  <a:t>(</a:t>
                </a:r>
                <a:r>
                  <a:rPr lang="ko-KR" altLang="en-US" sz="1100" b="0" kern="0" dirty="0">
                    <a:solidFill>
                      <a:srgbClr val="000000"/>
                    </a:solidFill>
                  </a:rPr>
                  <a:t>폐기</a:t>
                </a:r>
                <a:r>
                  <a:rPr lang="en-US" altLang="ko-KR" sz="1100" b="0" kern="0" dirty="0">
                    <a:solidFill>
                      <a:srgbClr val="000000"/>
                    </a:solidFill>
                  </a:rPr>
                  <a:t>)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를 통한 소진</a:t>
                </a:r>
                <a:r>
                  <a:rPr lang="ko-KR" altLang="en-US" sz="1150" b="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-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105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억</a:t>
                </a:r>
                <a:endParaRPr lang="en-US" altLang="ko-KR" sz="1150" kern="0" dirty="0">
                  <a:solidFill>
                    <a:srgbClr val="000000"/>
                  </a:solidFill>
                </a:endParaRPr>
              </a:p>
              <a:p>
                <a:pPr marL="146050" marR="0" lvl="0" indent="-36513" algn="l" defTabSz="4572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ClrTx/>
                  <a:buSzPct val="80000"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lang="en-US" altLang="ko-KR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일반 폐기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: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LV20A 54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억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, E61D 16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억 외</a:t>
                </a:r>
                <a:r>
                  <a:rPr lang="ko-KR" altLang="en-US" sz="1150" b="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-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118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억</a:t>
                </a:r>
                <a:endParaRPr lang="en-US" altLang="ko-KR" sz="1150" kern="0" dirty="0">
                  <a:solidFill>
                    <a:srgbClr val="000000"/>
                  </a:solidFill>
                </a:endParaRPr>
              </a:p>
              <a:p>
                <a:pPr marL="146050" lvl="0" indent="-36513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Font typeface="Wingdings" panose="05000000000000000000" pitchFamily="2" charset="2"/>
                  <a:buChar char="§"/>
                  <a:defRPr/>
                </a:pPr>
                <a:r>
                  <a:rPr kumimoji="1" lang="en-US" altLang="ko-KR" sz="1150" b="0" i="0" u="none" strike="noStrike" kern="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고객 보상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: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E95A, E146A, E153A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외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 -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110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억</a:t>
                </a:r>
                <a:endParaRPr lang="en-US" altLang="ko-KR" sz="1150" kern="0" dirty="0">
                  <a:solidFill>
                    <a:srgbClr val="000000"/>
                  </a:solidFill>
                </a:endParaRPr>
              </a:p>
              <a:p>
                <a:pPr marL="146050" lvl="0" indent="-36513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ko-KR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일반 매출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: N2.1, E81C, E79C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외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-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47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억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 </a:t>
                </a:r>
                <a:endParaRPr kumimoji="1" lang="en-US" altLang="ko-KR" sz="1150" i="0" u="none" strike="noStrike" kern="0" cap="none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endParaRPr>
              </a:p>
            </p:txBody>
          </p: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E34A31A9-7DFC-47D3-96A0-90CB246CE8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1817" y="4635828"/>
                <a:ext cx="187604" cy="1692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3600" bIns="216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762000" rtl="0" eaLnBrk="1" fontAlgn="base" latinLnBrk="0" hangingPunct="1">
                  <a:lnSpc>
                    <a:spcPct val="120000"/>
                  </a:lnSpc>
                  <a:spcBef>
                    <a:spcPts val="12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dirty="0">
                    <a:solidFill>
                      <a:srgbClr val="FFFFFF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3</a:t>
                </a:r>
                <a:endPara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11A1D4D-7DF9-43B5-87AF-C8F54DA29CD5}"/>
                </a:ext>
              </a:extLst>
            </p:cNvPr>
            <p:cNvSpPr txBox="1"/>
            <p:nvPr/>
          </p:nvSpPr>
          <p:spPr>
            <a:xfrm>
              <a:off x="7022084" y="2438909"/>
              <a:ext cx="2683892" cy="184666"/>
            </a:xfrm>
            <a:prstGeom prst="rect">
              <a:avLst/>
            </a:prstGeom>
            <a:noFill/>
          </p:spPr>
          <p:txBody>
            <a:bodyPr wrap="square" lIns="0" tIns="0" rIns="54000" bIns="0" rtlCol="0">
              <a:noAutofit/>
            </a:bodyPr>
            <a:lstStyle/>
            <a:p>
              <a:pPr algn="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·····································  </a:t>
              </a:r>
              <a:r>
                <a:rPr lang="el-GR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Δ</a:t>
              </a:r>
              <a:r>
                <a:rPr lang="en-US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421</a:t>
              </a:r>
              <a:r>
                <a:rPr lang="ko-KR" altLang="en-US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억</a:t>
              </a:r>
              <a:r>
                <a:rPr lang="en-US" altLang="ko-KR" sz="1200" b="1" u="sng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/ </a:t>
              </a:r>
              <a:r>
                <a:rPr lang="el-GR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Δ</a:t>
              </a:r>
              <a:r>
                <a:rPr lang="en-US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1.2</a:t>
              </a:r>
              <a:r>
                <a:rPr lang="ko-KR" altLang="en-US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일</a:t>
              </a:r>
            </a:p>
          </p:txBody>
        </p:sp>
      </p:grp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7A036EE2-67A7-4737-9BBC-6BA43ACD6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8224"/>
              </p:ext>
            </p:extLst>
          </p:nvPr>
        </p:nvGraphicFramePr>
        <p:xfrm>
          <a:off x="5598349" y="1280818"/>
          <a:ext cx="4071952" cy="595946"/>
        </p:xfrm>
        <a:graphic>
          <a:graphicData uri="http://schemas.openxmlformats.org/drawingml/2006/table">
            <a:tbl>
              <a:tblPr/>
              <a:tblGrid>
                <a:gridCol w="1017988">
                  <a:extLst>
                    <a:ext uri="{9D8B030D-6E8A-4147-A177-3AD203B41FA5}">
                      <a16:colId xmlns:a16="http://schemas.microsoft.com/office/drawing/2014/main" val="4205915927"/>
                    </a:ext>
                  </a:extLst>
                </a:gridCol>
                <a:gridCol w="1017988">
                  <a:extLst>
                    <a:ext uri="{9D8B030D-6E8A-4147-A177-3AD203B41FA5}">
                      <a16:colId xmlns:a16="http://schemas.microsoft.com/office/drawing/2014/main" val="1863833038"/>
                    </a:ext>
                  </a:extLst>
                </a:gridCol>
                <a:gridCol w="1017988">
                  <a:extLst>
                    <a:ext uri="{9D8B030D-6E8A-4147-A177-3AD203B41FA5}">
                      <a16:colId xmlns:a16="http://schemas.microsoft.com/office/drawing/2014/main" val="1175175894"/>
                    </a:ext>
                  </a:extLst>
                </a:gridCol>
                <a:gridCol w="1017988">
                  <a:extLst>
                    <a:ext uri="{9D8B030D-6E8A-4147-A177-3AD203B41FA5}">
                      <a16:colId xmlns:a16="http://schemas.microsoft.com/office/drawing/2014/main" val="16258902"/>
                    </a:ext>
                  </a:extLst>
                </a:gridCol>
              </a:tblGrid>
              <a:tr h="35661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100"/>
                        </a:spcAft>
                      </a:pPr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추정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(11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이동계획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100"/>
                        </a:spcAft>
                      </a:pPr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기회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하기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100"/>
                        </a:spcAft>
                      </a:pPr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추정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(Risk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기회 적용시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100"/>
                        </a:spcAft>
                      </a:pPr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</a:t>
                      </a:r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재고 목표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(KPI)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7912"/>
                  </a:ext>
                </a:extLst>
              </a:tr>
              <a:tr h="2393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+2.0</a:t>
                      </a:r>
                      <a:r>
                        <a:rPr lang="ko-KR" altLang="en-US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 </a:t>
                      </a:r>
                      <a:r>
                        <a:rPr lang="el-GR" altLang="ko-KR" sz="1200" b="1" i="0" u="none" strike="noStrike" dirty="0">
                          <a:solidFill>
                            <a:srgbClr val="0000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altLang="ko-KR" sz="1200" b="1" i="0" u="none" strike="noStrike" dirty="0">
                          <a:solidFill>
                            <a:srgbClr val="0000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2.2</a:t>
                      </a:r>
                      <a:r>
                        <a:rPr lang="ko-KR" altLang="en-US" sz="1200" b="1" i="0" u="none" strike="noStrike" dirty="0">
                          <a:solidFill>
                            <a:srgbClr val="0000CC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1200" b="1" i="0" u="none" strike="noStrike" dirty="0">
                        <a:solidFill>
                          <a:srgbClr val="0000CC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209577"/>
                  </a:ext>
                </a:extLst>
              </a:tr>
            </a:tbl>
          </a:graphicData>
        </a:graphic>
      </p:graphicFrame>
      <p:grpSp>
        <p:nvGrpSpPr>
          <p:cNvPr id="74" name="그룹 73">
            <a:extLst>
              <a:ext uri="{FF2B5EF4-FFF2-40B4-BE49-F238E27FC236}">
                <a16:creationId xmlns:a16="http://schemas.microsoft.com/office/drawing/2014/main" id="{34DA4C26-DA69-4E12-A37C-58CFF8D4B2C6}"/>
              </a:ext>
            </a:extLst>
          </p:cNvPr>
          <p:cNvGrpSpPr/>
          <p:nvPr/>
        </p:nvGrpSpPr>
        <p:grpSpPr>
          <a:xfrm>
            <a:off x="5579865" y="2389141"/>
            <a:ext cx="4124044" cy="967693"/>
            <a:chOff x="5581931" y="1224994"/>
            <a:chExt cx="4124044" cy="967693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F17E6B54-7C61-49BC-A909-9C2433F18E2F}"/>
                </a:ext>
              </a:extLst>
            </p:cNvPr>
            <p:cNvGrpSpPr/>
            <p:nvPr/>
          </p:nvGrpSpPr>
          <p:grpSpPr>
            <a:xfrm>
              <a:off x="5581931" y="1224994"/>
              <a:ext cx="4124044" cy="967693"/>
              <a:chOff x="261817" y="4478512"/>
              <a:chExt cx="4572620" cy="967693"/>
            </a:xfrm>
          </p:grpSpPr>
          <p:sp>
            <p:nvSpPr>
              <p:cNvPr id="77" name="Text Box 118">
                <a:extLst>
                  <a:ext uri="{FF2B5EF4-FFF2-40B4-BE49-F238E27FC236}">
                    <a16:creationId xmlns:a16="http://schemas.microsoft.com/office/drawing/2014/main" id="{AAEE3AD3-DAFD-4CCF-85E8-5FE96D1F28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576" y="4478512"/>
                <a:ext cx="4514861" cy="967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noAutofit/>
              </a:bodyPr>
              <a:lstStyle>
                <a:defPPr>
                  <a:defRPr lang="ko-KR"/>
                </a:defPPr>
                <a:lvl1pPr marL="180000" indent="-180000">
                  <a:lnSpc>
                    <a:spcPct val="140000"/>
                  </a:lnSpc>
                  <a:spcBef>
                    <a:spcPts val="700"/>
                  </a:spcBef>
                  <a:spcAft>
                    <a:spcPts val="700"/>
                  </a:spcAft>
                  <a:buFont typeface="Wingdings" pitchFamily="2" charset="2"/>
                  <a:buChar char="q"/>
                  <a:defRPr kumimoji="1" sz="13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defRPr>
                </a:lvl1pPr>
                <a:lvl2pPr marL="742950" indent="-285750" eaLnBrk="0" hangingPunct="0">
                  <a:defRPr kumimoji="1"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9pPr>
              </a:lstStyle>
              <a:p>
                <a:pPr marL="0" lvl="0" indent="0" defTabSz="914400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SzPct val="80000"/>
                  <a:defRPr/>
                </a:pPr>
                <a:r>
                  <a:rPr kumimoji="1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 </a:t>
                </a:r>
                <a:r>
                  <a:rPr lang="ko-KR" altLang="en-US" kern="0" dirty="0">
                    <a:solidFill>
                      <a:srgbClr val="000000"/>
                    </a:solidFill>
                    <a:highlight>
                      <a:srgbClr val="FFFFCC"/>
                    </a:highlight>
                  </a:rPr>
                  <a:t>유미코아 구매 계약 잔여 재고 매입 시점</a:t>
                </a:r>
                <a:endParaRPr kumimoji="1" lang="en-US" altLang="ko-KR" b="1" i="0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CC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endParaRPr>
              </a:p>
              <a:p>
                <a:pPr marL="109537" lvl="0" indent="0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None/>
                  <a:defRPr/>
                </a:pPr>
                <a:r>
                  <a:rPr lang="en-US" altLang="ko-KR" sz="1150" kern="0" dirty="0">
                    <a:solidFill>
                      <a:srgbClr val="000000"/>
                    </a:solidFill>
                  </a:rPr>
                  <a:t>1)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LXI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운영 비용과 당사 매입 보관 비용 경제성 비교 진행 중</a:t>
                </a:r>
                <a:endParaRPr lang="en-US" altLang="ko-KR" sz="1150" kern="0" dirty="0">
                  <a:solidFill>
                    <a:srgbClr val="000000"/>
                  </a:solidFill>
                </a:endParaRPr>
              </a:p>
              <a:p>
                <a:pPr marL="109537" lvl="0" indent="0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None/>
                  <a:defRPr/>
                </a:pPr>
                <a:r>
                  <a:rPr lang="en-US" altLang="ko-KR" sz="1150" kern="0" dirty="0">
                    <a:solidFill>
                      <a:srgbClr val="000000"/>
                    </a:solidFill>
                  </a:rPr>
                  <a:t>2)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’25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년 이후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OTS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소진 가능 물량 확인 중</a:t>
                </a:r>
                <a:endParaRPr lang="en-US" altLang="ko-KR" sz="1150" kern="0" dirty="0">
                  <a:solidFill>
                    <a:srgbClr val="000000"/>
                  </a:solidFill>
                </a:endParaRPr>
              </a:p>
              <a:p>
                <a:pPr marL="109537" lvl="0" indent="0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None/>
                  <a:defRPr/>
                </a:pPr>
                <a:r>
                  <a:rPr lang="ko-KR" altLang="en-US" sz="1150" kern="0" dirty="0">
                    <a:solidFill>
                      <a:srgbClr val="000000"/>
                    </a:solidFill>
                  </a:rPr>
                  <a:t>→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1, 2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번 조건 모두 만족 시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’25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년으로 매입 시점 이연 가능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(1,819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톤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)</a:t>
                </a:r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AE13B3C4-5CF4-4F42-AE1B-796A432011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1817" y="4496443"/>
                <a:ext cx="187604" cy="1692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3600" bIns="216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762000" rtl="0" eaLnBrk="1" fontAlgn="base" latinLnBrk="0" hangingPunct="1">
                  <a:lnSpc>
                    <a:spcPct val="120000"/>
                  </a:lnSpc>
                  <a:spcBef>
                    <a:spcPts val="12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BCDC550-12CC-4B60-B41F-D42A4F94EC3E}"/>
                </a:ext>
              </a:extLst>
            </p:cNvPr>
            <p:cNvSpPr txBox="1"/>
            <p:nvPr/>
          </p:nvSpPr>
          <p:spPr>
            <a:xfrm>
              <a:off x="6968016" y="1226532"/>
              <a:ext cx="2737959" cy="184666"/>
            </a:xfrm>
            <a:prstGeom prst="rect">
              <a:avLst/>
            </a:prstGeom>
            <a:noFill/>
          </p:spPr>
          <p:txBody>
            <a:bodyPr wrap="square" lIns="0" tIns="0" rIns="54000" bIns="0" rtlCol="0">
              <a:noAutofit/>
            </a:bodyPr>
            <a:lstStyle/>
            <a:p>
              <a:pPr algn="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·······  </a:t>
              </a:r>
              <a:r>
                <a:rPr lang="en-US" altLang="ko-KR" sz="12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+702</a:t>
              </a:r>
              <a:r>
                <a:rPr lang="ko-KR" altLang="en-US" sz="12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억</a:t>
              </a:r>
              <a:r>
                <a:rPr lang="en-US" altLang="ko-KR" sz="1200" b="1" u="sng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/ </a:t>
              </a:r>
              <a:r>
                <a:rPr lang="en-US" altLang="ko-KR" sz="12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+2.0</a:t>
              </a:r>
              <a:r>
                <a:rPr lang="ko-KR" altLang="en-US" sz="12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일</a:t>
              </a:r>
            </a:p>
          </p:txBody>
        </p:sp>
      </p:grpSp>
      <p:sp>
        <p:nvSpPr>
          <p:cNvPr id="79" name="실행 단추: 앞으로 또는 다음 8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DD0B4ED-9E28-4664-89DC-8E47D73E7BCC}"/>
              </a:ext>
            </a:extLst>
          </p:cNvPr>
          <p:cNvSpPr>
            <a:spLocks noChangeAspect="1"/>
          </p:cNvSpPr>
          <p:nvPr/>
        </p:nvSpPr>
        <p:spPr>
          <a:xfrm>
            <a:off x="1380943" y="6196123"/>
            <a:ext cx="108000" cy="108000"/>
          </a:xfrm>
          <a:prstGeom prst="actionButtonForwardNex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7D8CF1C-4393-40B7-9F7D-9CB93B0503B7}"/>
              </a:ext>
            </a:extLst>
          </p:cNvPr>
          <p:cNvCxnSpPr>
            <a:cxnSpLocks/>
          </p:cNvCxnSpPr>
          <p:nvPr/>
        </p:nvCxnSpPr>
        <p:spPr>
          <a:xfrm>
            <a:off x="200025" y="3430179"/>
            <a:ext cx="52596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8FAE959-05E2-4F95-9DA2-D49C3C6AA691}"/>
              </a:ext>
            </a:extLst>
          </p:cNvPr>
          <p:cNvGrpSpPr/>
          <p:nvPr/>
        </p:nvGrpSpPr>
        <p:grpSpPr>
          <a:xfrm>
            <a:off x="5532138" y="6569358"/>
            <a:ext cx="4121978" cy="162895"/>
            <a:chOff x="5581931" y="6569358"/>
            <a:chExt cx="4121978" cy="162895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46575D0-441D-477B-8DC6-F08A1552A441}"/>
                </a:ext>
              </a:extLst>
            </p:cNvPr>
            <p:cNvSpPr txBox="1"/>
            <p:nvPr/>
          </p:nvSpPr>
          <p:spPr>
            <a:xfrm>
              <a:off x="5581931" y="6569358"/>
              <a:ext cx="4121978" cy="162895"/>
            </a:xfrm>
            <a:prstGeom prst="rect">
              <a:avLst/>
            </a:prstGeom>
            <a:noFill/>
          </p:spPr>
          <p:txBody>
            <a:bodyPr wrap="square" lIns="0" tIns="0" rIns="0" bIns="1800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   </a:t>
              </a:r>
              <a:r>
                <a:rPr kumimoji="0" lang="ko-KR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첨부 </a:t>
              </a: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:</a:t>
              </a:r>
              <a:r>
                <a:rPr kumimoji="0" lang="ko-KR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부실 </a:t>
              </a: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 </a:t>
              </a:r>
              <a:r>
                <a:rPr kumimoji="0" lang="ko-KR" altLang="en-US" sz="8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부실징후재고 현황 보고</a:t>
              </a:r>
              <a:endParaRPr kumimoji="0" lang="en-US" altLang="ko-KR" sz="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83" name="실행 단추: 앞으로 또는 다음 82">
              <a:hlinkClick r:id="rId3" action="ppaction://hlinksldjump" highlightClick="1"/>
              <a:extLst>
                <a:ext uri="{FF2B5EF4-FFF2-40B4-BE49-F238E27FC236}">
                  <a16:creationId xmlns:a16="http://schemas.microsoft.com/office/drawing/2014/main" id="{F8F06730-A4F5-4F7A-8D5D-F05E411BB3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1931" y="6595615"/>
              <a:ext cx="108000" cy="108000"/>
            </a:xfrm>
            <a:prstGeom prst="actionButtonForwardNex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29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84" name="실행 단추: 앞으로 또는 다음 8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B2459E-1347-46AC-9860-925D8CF96D47}"/>
              </a:ext>
            </a:extLst>
          </p:cNvPr>
          <p:cNvSpPr>
            <a:spLocks noChangeAspect="1"/>
          </p:cNvSpPr>
          <p:nvPr/>
        </p:nvSpPr>
        <p:spPr>
          <a:xfrm>
            <a:off x="1380943" y="5983438"/>
            <a:ext cx="108000" cy="108000"/>
          </a:xfrm>
          <a:prstGeom prst="actionButtonForwardNex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24C44D2-86FE-42E6-A501-9AF1B5A7BE27}"/>
              </a:ext>
            </a:extLst>
          </p:cNvPr>
          <p:cNvGrpSpPr/>
          <p:nvPr/>
        </p:nvGrpSpPr>
        <p:grpSpPr>
          <a:xfrm>
            <a:off x="571293" y="1515546"/>
            <a:ext cx="288000" cy="2094346"/>
            <a:chOff x="1293051" y="1515546"/>
            <a:chExt cx="288000" cy="2094346"/>
          </a:xfrm>
        </p:grpSpPr>
        <p:sp>
          <p:nvSpPr>
            <p:cNvPr id="86" name="제목 3">
              <a:extLst>
                <a:ext uri="{FF2B5EF4-FFF2-40B4-BE49-F238E27FC236}">
                  <a16:creationId xmlns:a16="http://schemas.microsoft.com/office/drawing/2014/main" id="{21794119-C73F-4D69-B224-ECC5553E32DE}"/>
                </a:ext>
              </a:extLst>
            </p:cNvPr>
            <p:cNvSpPr txBox="1">
              <a:spLocks/>
            </p:cNvSpPr>
            <p:nvPr/>
          </p:nvSpPr>
          <p:spPr>
            <a:xfrm>
              <a:off x="1359305" y="3471393"/>
              <a:ext cx="155492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7</a:t>
              </a:r>
              <a:r>
                <a:rPr kumimoji="0" lang="ko-KR" altLang="en-US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월</a:t>
              </a:r>
              <a:endParaRPr kumimoji="0" lang="en-US" altLang="ko-KR" sz="9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4CF829F-8787-40BF-AE89-535C5C55F09A}"/>
                </a:ext>
              </a:extLst>
            </p:cNvPr>
            <p:cNvSpPr/>
            <p:nvPr/>
          </p:nvSpPr>
          <p:spPr>
            <a:xfrm>
              <a:off x="1293051" y="2506443"/>
              <a:ext cx="288000" cy="540844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24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(1.1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9F0F23A5-A076-4329-8F92-C2089C50125B}"/>
                </a:ext>
              </a:extLst>
            </p:cNvPr>
            <p:cNvSpPr/>
            <p:nvPr/>
          </p:nvSpPr>
          <p:spPr>
            <a:xfrm>
              <a:off x="1293051" y="1779523"/>
              <a:ext cx="288000" cy="7863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44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(2.0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89" name="제목 3">
              <a:extLst>
                <a:ext uri="{FF2B5EF4-FFF2-40B4-BE49-F238E27FC236}">
                  <a16:creationId xmlns:a16="http://schemas.microsoft.com/office/drawing/2014/main" id="{6B5C7F0A-35E5-4E6E-8AA7-8F4952415641}"/>
                </a:ext>
              </a:extLst>
            </p:cNvPr>
            <p:cNvSpPr txBox="1">
              <a:spLocks/>
            </p:cNvSpPr>
            <p:nvPr/>
          </p:nvSpPr>
          <p:spPr>
            <a:xfrm>
              <a:off x="1299995" y="1515546"/>
              <a:ext cx="274113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93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b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</a:b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(4.21</a:t>
              </a: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조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622B4D80-5B4A-41E5-9F7B-20181E417033}"/>
                </a:ext>
              </a:extLst>
            </p:cNvPr>
            <p:cNvSpPr/>
            <p:nvPr/>
          </p:nvSpPr>
          <p:spPr>
            <a:xfrm>
              <a:off x="1293051" y="2987873"/>
              <a:ext cx="288000" cy="4414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26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(1.2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CB750D7-FB61-4733-9C4E-4DBFCC29F546}"/>
              </a:ext>
            </a:extLst>
          </p:cNvPr>
          <p:cNvGrpSpPr/>
          <p:nvPr/>
        </p:nvGrpSpPr>
        <p:grpSpPr>
          <a:xfrm>
            <a:off x="952400" y="1560003"/>
            <a:ext cx="288000" cy="2049889"/>
            <a:chOff x="1714460" y="1560003"/>
            <a:chExt cx="288000" cy="2049889"/>
          </a:xfrm>
        </p:grpSpPr>
        <p:sp>
          <p:nvSpPr>
            <p:cNvPr id="92" name="제목 3">
              <a:extLst>
                <a:ext uri="{FF2B5EF4-FFF2-40B4-BE49-F238E27FC236}">
                  <a16:creationId xmlns:a16="http://schemas.microsoft.com/office/drawing/2014/main" id="{6AABFECF-0932-403F-AC79-FB132FDF9DBD}"/>
                </a:ext>
              </a:extLst>
            </p:cNvPr>
            <p:cNvSpPr txBox="1">
              <a:spLocks/>
            </p:cNvSpPr>
            <p:nvPr/>
          </p:nvSpPr>
          <p:spPr>
            <a:xfrm>
              <a:off x="1780714" y="3471393"/>
              <a:ext cx="155492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8</a:t>
              </a:r>
              <a:r>
                <a:rPr kumimoji="0" lang="ko-KR" altLang="en-US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월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77631EE-F420-48D8-8266-44FE9E922301}"/>
                </a:ext>
              </a:extLst>
            </p:cNvPr>
            <p:cNvSpPr/>
            <p:nvPr/>
          </p:nvSpPr>
          <p:spPr>
            <a:xfrm>
              <a:off x="1714460" y="2438702"/>
              <a:ext cx="288000" cy="603546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24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(1.1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B4854EA-5337-4A0F-83AA-B66698B44C23}"/>
                </a:ext>
              </a:extLst>
            </p:cNvPr>
            <p:cNvSpPr/>
            <p:nvPr/>
          </p:nvSpPr>
          <p:spPr>
            <a:xfrm>
              <a:off x="1714460" y="1823368"/>
              <a:ext cx="288000" cy="6869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38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(1.8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95" name="제목 3">
              <a:extLst>
                <a:ext uri="{FF2B5EF4-FFF2-40B4-BE49-F238E27FC236}">
                  <a16:creationId xmlns:a16="http://schemas.microsoft.com/office/drawing/2014/main" id="{F189748F-4058-4CF9-8527-7E6846271384}"/>
                </a:ext>
              </a:extLst>
            </p:cNvPr>
            <p:cNvSpPr txBox="1">
              <a:spLocks/>
            </p:cNvSpPr>
            <p:nvPr/>
          </p:nvSpPr>
          <p:spPr>
            <a:xfrm>
              <a:off x="1721403" y="1560003"/>
              <a:ext cx="274114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90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b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</a:b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(4.22</a:t>
              </a: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조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9DC93F34-DB6F-4CA1-A007-DD48B03CC60C}"/>
                </a:ext>
              </a:extLst>
            </p:cNvPr>
            <p:cNvSpPr/>
            <p:nvPr/>
          </p:nvSpPr>
          <p:spPr>
            <a:xfrm>
              <a:off x="1714460" y="2976113"/>
              <a:ext cx="288000" cy="4545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27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(1.3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2AB7D420-6997-46FE-9430-D512B6358604}"/>
              </a:ext>
            </a:extLst>
          </p:cNvPr>
          <p:cNvGrpSpPr/>
          <p:nvPr/>
        </p:nvGrpSpPr>
        <p:grpSpPr>
          <a:xfrm>
            <a:off x="1333430" y="1603134"/>
            <a:ext cx="288000" cy="2006758"/>
            <a:chOff x="1714460" y="1603134"/>
            <a:chExt cx="288000" cy="2006758"/>
          </a:xfrm>
        </p:grpSpPr>
        <p:sp>
          <p:nvSpPr>
            <p:cNvPr id="98" name="제목 3">
              <a:extLst>
                <a:ext uri="{FF2B5EF4-FFF2-40B4-BE49-F238E27FC236}">
                  <a16:creationId xmlns:a16="http://schemas.microsoft.com/office/drawing/2014/main" id="{4C3EF1F8-A3BF-4D9E-B5BF-65BFB654D96C}"/>
                </a:ext>
              </a:extLst>
            </p:cNvPr>
            <p:cNvSpPr txBox="1">
              <a:spLocks/>
            </p:cNvSpPr>
            <p:nvPr/>
          </p:nvSpPr>
          <p:spPr>
            <a:xfrm>
              <a:off x="1780714" y="3471393"/>
              <a:ext cx="155492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9</a:t>
              </a:r>
              <a:r>
                <a:rPr kumimoji="0" lang="ko-KR" altLang="en-US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월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A8EEE3A-47DA-456B-BA11-B6DC40D6B01F}"/>
                </a:ext>
              </a:extLst>
            </p:cNvPr>
            <p:cNvSpPr/>
            <p:nvPr/>
          </p:nvSpPr>
          <p:spPr>
            <a:xfrm>
              <a:off x="1714460" y="2455954"/>
              <a:ext cx="288000" cy="603546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24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(1.1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FD8BA48B-0FCF-4396-A44E-67111E565E26}"/>
                </a:ext>
              </a:extLst>
            </p:cNvPr>
            <p:cNvSpPr/>
            <p:nvPr/>
          </p:nvSpPr>
          <p:spPr>
            <a:xfrm>
              <a:off x="1714460" y="1866498"/>
              <a:ext cx="288000" cy="6869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38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(1.8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01" name="제목 3">
              <a:extLst>
                <a:ext uri="{FF2B5EF4-FFF2-40B4-BE49-F238E27FC236}">
                  <a16:creationId xmlns:a16="http://schemas.microsoft.com/office/drawing/2014/main" id="{D3C1C7D3-18AB-46B5-90A9-36258300F813}"/>
                </a:ext>
              </a:extLst>
            </p:cNvPr>
            <p:cNvSpPr txBox="1">
              <a:spLocks/>
            </p:cNvSpPr>
            <p:nvPr/>
          </p:nvSpPr>
          <p:spPr>
            <a:xfrm>
              <a:off x="1721402" y="1603134"/>
              <a:ext cx="274114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u="none" dirty="0">
                  <a:solidFill>
                    <a:prstClr val="white">
                      <a:lumMod val="50000"/>
                    </a:prstClr>
                  </a:solidFill>
                  <a:latin typeface="Arial Narrow" pitchFamily="34" charset="0"/>
                  <a:ea typeface="LG스마트체 Regular" pitchFamily="50" charset="-127"/>
                </a:rPr>
                <a:t>87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b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</a:b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(4.14</a:t>
              </a: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조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9528B401-E4B6-4F69-8805-A59AE1ED8EF5}"/>
                </a:ext>
              </a:extLst>
            </p:cNvPr>
            <p:cNvSpPr/>
            <p:nvPr/>
          </p:nvSpPr>
          <p:spPr>
            <a:xfrm>
              <a:off x="1714460" y="2976113"/>
              <a:ext cx="288000" cy="4545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25</a:t>
              </a: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(1.2</a:t>
              </a:r>
              <a:r>
                <a:rPr kumimoji="0" lang="ko-KR" altLang="en-US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조</a:t>
              </a: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095698F3-BCB2-48BC-86E8-FB317D0EACC9}"/>
              </a:ext>
            </a:extLst>
          </p:cNvPr>
          <p:cNvGrpSpPr/>
          <p:nvPr/>
        </p:nvGrpSpPr>
        <p:grpSpPr>
          <a:xfrm>
            <a:off x="5579865" y="5989418"/>
            <a:ext cx="4124044" cy="506780"/>
            <a:chOff x="5581931" y="1224995"/>
            <a:chExt cx="4124044" cy="506780"/>
          </a:xfrm>
        </p:grpSpPr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40E59A3B-2CB5-4BD5-B43C-E5BD4B8D688E}"/>
                </a:ext>
              </a:extLst>
            </p:cNvPr>
            <p:cNvGrpSpPr/>
            <p:nvPr/>
          </p:nvGrpSpPr>
          <p:grpSpPr>
            <a:xfrm>
              <a:off x="5581931" y="1224995"/>
              <a:ext cx="4124044" cy="506780"/>
              <a:chOff x="261817" y="4478513"/>
              <a:chExt cx="4572620" cy="506780"/>
            </a:xfrm>
          </p:grpSpPr>
          <p:sp>
            <p:nvSpPr>
              <p:cNvPr id="113" name="Text Box 118">
                <a:extLst>
                  <a:ext uri="{FF2B5EF4-FFF2-40B4-BE49-F238E27FC236}">
                    <a16:creationId xmlns:a16="http://schemas.microsoft.com/office/drawing/2014/main" id="{F5389969-E126-47FF-B0E8-A6DDB55E03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576" y="4478513"/>
                <a:ext cx="4514861" cy="506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noAutofit/>
              </a:bodyPr>
              <a:lstStyle>
                <a:defPPr>
                  <a:defRPr lang="ko-KR"/>
                </a:defPPr>
                <a:lvl1pPr marL="180000" indent="-180000">
                  <a:lnSpc>
                    <a:spcPct val="140000"/>
                  </a:lnSpc>
                  <a:spcBef>
                    <a:spcPts val="700"/>
                  </a:spcBef>
                  <a:spcAft>
                    <a:spcPts val="700"/>
                  </a:spcAft>
                  <a:buFont typeface="Wingdings" pitchFamily="2" charset="2"/>
                  <a:buChar char="q"/>
                  <a:defRPr kumimoji="1" sz="13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defRPr>
                </a:lvl1pPr>
                <a:lvl2pPr marL="742950" indent="-285750" eaLnBrk="0" hangingPunct="0">
                  <a:defRPr kumimoji="1"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9pPr>
              </a:lstStyle>
              <a:p>
                <a:pPr marL="0" lvl="0" indent="0" defTabSz="914400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SzPct val="80000"/>
                  <a:defRPr/>
                </a:pPr>
                <a:r>
                  <a:rPr kumimoji="1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 </a:t>
                </a:r>
                <a:r>
                  <a:rPr lang="en-US" altLang="ko-KR" kern="0" dirty="0">
                    <a:solidFill>
                      <a:srgbClr val="000000"/>
                    </a:solidFill>
                    <a:highlight>
                      <a:srgbClr val="FFFFCC"/>
                    </a:highlight>
                  </a:rPr>
                  <a:t>AS </a:t>
                </a:r>
                <a:r>
                  <a:rPr lang="ko-KR" altLang="en-US" kern="0" dirty="0">
                    <a:solidFill>
                      <a:srgbClr val="000000"/>
                    </a:solidFill>
                    <a:highlight>
                      <a:srgbClr val="FFFFCC"/>
                    </a:highlight>
                  </a:rPr>
                  <a:t>재고 연내 소진</a:t>
                </a:r>
                <a:endParaRPr kumimoji="1" lang="en-US" altLang="ko-KR" b="1" i="0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CC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endParaRPr>
              </a:p>
              <a:p>
                <a:pPr marL="146050" lvl="0" indent="-36513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Font typeface="Wingdings" panose="05000000000000000000" pitchFamily="2" charset="2"/>
                  <a:buChar char="§"/>
                  <a:defRPr/>
                </a:pPr>
                <a:r>
                  <a:rPr lang="ko-KR" altLang="en-US" sz="1150" b="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[</a:t>
                </a:r>
                <a:r>
                  <a:rPr lang="ko-KR" altLang="en-US" sz="1150" b="0" kern="0" dirty="0">
                    <a:solidFill>
                      <a:srgbClr val="000000"/>
                    </a:solidFill>
                  </a:rPr>
                  <a:t>미주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2</a:t>
                </a:r>
                <a:r>
                  <a:rPr lang="ko-KR" altLang="en-US" sz="1150" b="0" kern="0" dirty="0">
                    <a:solidFill>
                      <a:srgbClr val="000000"/>
                    </a:solidFill>
                  </a:rPr>
                  <a:t>담당</a:t>
                </a:r>
                <a:r>
                  <a:rPr lang="en-US" altLang="ko-KR" sz="1150" b="0" kern="0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STLA WAVE1</a:t>
                </a:r>
                <a:r>
                  <a:rPr lang="en-US" altLang="ko-KR" sz="1150" b="0" kern="0" spc="-20" dirty="0">
                    <a:solidFill>
                      <a:srgbClr val="000000"/>
                    </a:solidFill>
                  </a:rPr>
                  <a:t> (P37B) : 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리콜 출하 추진을 통한 소진</a:t>
                </a:r>
                <a:r>
                  <a:rPr lang="ko-KR" altLang="en-US" sz="1150" b="0" kern="0" spc="-2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spc="-20" dirty="0">
                    <a:solidFill>
                      <a:srgbClr val="000000"/>
                    </a:solidFill>
                  </a:rPr>
                  <a:t>-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198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억</a:t>
                </a:r>
                <a:endParaRPr lang="en-US" altLang="ko-KR" sz="1150" b="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31783B2-E48A-495E-ADEB-7DDCC9635E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1817" y="4496443"/>
                <a:ext cx="187604" cy="1692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3600" bIns="216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762000" rtl="0" eaLnBrk="1" fontAlgn="base" latinLnBrk="0" hangingPunct="1">
                  <a:lnSpc>
                    <a:spcPct val="120000"/>
                  </a:lnSpc>
                  <a:spcBef>
                    <a:spcPts val="12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1DC9458-6773-41DC-B914-6302EEA76A34}"/>
                </a:ext>
              </a:extLst>
            </p:cNvPr>
            <p:cNvSpPr txBox="1"/>
            <p:nvPr/>
          </p:nvSpPr>
          <p:spPr>
            <a:xfrm>
              <a:off x="6968016" y="1226532"/>
              <a:ext cx="2737959" cy="184666"/>
            </a:xfrm>
            <a:prstGeom prst="rect">
              <a:avLst/>
            </a:prstGeom>
            <a:noFill/>
          </p:spPr>
          <p:txBody>
            <a:bodyPr wrap="square" lIns="0" tIns="0" rIns="54000" bIns="0" rtlCol="0">
              <a:noAutofit/>
            </a:bodyPr>
            <a:lstStyle/>
            <a:p>
              <a:pPr algn="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······································  </a:t>
              </a:r>
              <a:r>
                <a:rPr lang="el-GR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Δ</a:t>
              </a:r>
              <a:r>
                <a:rPr lang="en-US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198</a:t>
              </a:r>
              <a:r>
                <a:rPr lang="ko-KR" altLang="en-US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억</a:t>
              </a:r>
              <a:r>
                <a:rPr lang="en-US" altLang="ko-KR" sz="1200" b="1" u="sng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/ </a:t>
              </a:r>
              <a:r>
                <a:rPr lang="el-GR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Δ</a:t>
              </a:r>
              <a:r>
                <a:rPr lang="en-US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0.6</a:t>
              </a:r>
              <a:r>
                <a:rPr lang="ko-KR" altLang="en-US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일</a:t>
              </a: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BD3AF0D-7C7D-4EE7-BED7-F4310939B1FA}"/>
              </a:ext>
            </a:extLst>
          </p:cNvPr>
          <p:cNvGrpSpPr/>
          <p:nvPr/>
        </p:nvGrpSpPr>
        <p:grpSpPr>
          <a:xfrm>
            <a:off x="5579865" y="3852762"/>
            <a:ext cx="4124044" cy="756074"/>
            <a:chOff x="5581931" y="1224995"/>
            <a:chExt cx="4124044" cy="756074"/>
          </a:xfrm>
        </p:grpSpPr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4029A888-1F68-42E9-B05D-A4CEFEB754B9}"/>
                </a:ext>
              </a:extLst>
            </p:cNvPr>
            <p:cNvGrpSpPr/>
            <p:nvPr/>
          </p:nvGrpSpPr>
          <p:grpSpPr>
            <a:xfrm>
              <a:off x="5581931" y="1224995"/>
              <a:ext cx="4124044" cy="756074"/>
              <a:chOff x="261817" y="4478513"/>
              <a:chExt cx="4572620" cy="756074"/>
            </a:xfrm>
          </p:grpSpPr>
          <p:sp>
            <p:nvSpPr>
              <p:cNvPr id="118" name="Text Box 118">
                <a:extLst>
                  <a:ext uri="{FF2B5EF4-FFF2-40B4-BE49-F238E27FC236}">
                    <a16:creationId xmlns:a16="http://schemas.microsoft.com/office/drawing/2014/main" id="{60D391D9-59F8-467D-A882-FE0F2A49D3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576" y="4478513"/>
                <a:ext cx="4514861" cy="756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>
                <a:noAutofit/>
              </a:bodyPr>
              <a:lstStyle>
                <a:defPPr>
                  <a:defRPr lang="ko-KR"/>
                </a:defPPr>
                <a:lvl1pPr marL="180000" indent="-180000">
                  <a:lnSpc>
                    <a:spcPct val="140000"/>
                  </a:lnSpc>
                  <a:spcBef>
                    <a:spcPts val="700"/>
                  </a:spcBef>
                  <a:spcAft>
                    <a:spcPts val="700"/>
                  </a:spcAft>
                  <a:buFont typeface="Wingdings" pitchFamily="2" charset="2"/>
                  <a:buChar char="q"/>
                  <a:defRPr kumimoji="1" sz="1300" b="1"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defRPr>
                </a:lvl1pPr>
                <a:lvl2pPr marL="742950" indent="-285750" eaLnBrk="0" hangingPunct="0">
                  <a:defRPr kumimoji="1"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굴림" charset="-127"/>
                    <a:ea typeface="굴림" charset="-127"/>
                  </a:defRPr>
                </a:lvl9pPr>
              </a:lstStyle>
              <a:p>
                <a:pPr marL="0" lvl="0" indent="0" defTabSz="914400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SzPct val="80000"/>
                  <a:defRPr/>
                </a:pPr>
                <a:r>
                  <a:rPr kumimoji="1" lang="ko-KR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charset="0"/>
                  </a:rPr>
                  <a:t>  </a:t>
                </a:r>
                <a:r>
                  <a:rPr lang="en-US" altLang="ko-KR" kern="0" dirty="0">
                    <a:solidFill>
                      <a:srgbClr val="000000"/>
                    </a:solidFill>
                    <a:highlight>
                      <a:srgbClr val="FFFFCC"/>
                    </a:highlight>
                  </a:rPr>
                  <a:t>SQM</a:t>
                </a:r>
                <a:r>
                  <a:rPr lang="ko-KR" altLang="en-US" kern="0" dirty="0">
                    <a:solidFill>
                      <a:srgbClr val="000000"/>
                    </a:solidFill>
                    <a:highlight>
                      <a:srgbClr val="FFFFCC"/>
                    </a:highlight>
                  </a:rPr>
                  <a:t> 탄산 리튬 잔여 재고 매입 수량 조정</a:t>
                </a:r>
                <a:endParaRPr kumimoji="1" lang="en-US" altLang="ko-KR" b="1" i="0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CC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endParaRPr>
              </a:p>
              <a:p>
                <a:pPr marL="146050" lvl="0" indent="-36513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Font typeface="Wingdings" panose="05000000000000000000" pitchFamily="2" charset="2"/>
                  <a:buChar char="§"/>
                  <a:defRPr/>
                </a:pPr>
                <a:r>
                  <a:rPr lang="ko-KR" altLang="en-US" sz="1150" b="0" kern="0" dirty="0">
                    <a:solidFill>
                      <a:srgbClr val="000000"/>
                    </a:solidFill>
                  </a:rPr>
                  <a:t> 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계약 잔량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4,000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톤 중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3,000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톤만 연내 구매로 </a:t>
                </a:r>
                <a:r>
                  <a:rPr lang="en-US" altLang="ko-KR" sz="1150" kern="0" dirty="0">
                    <a:solidFill>
                      <a:srgbClr val="000000"/>
                    </a:solidFill>
                  </a:rPr>
                  <a:t>SQM</a:t>
                </a:r>
                <a:r>
                  <a:rPr lang="ko-KR" altLang="en-US" sz="1150" kern="0" dirty="0">
                    <a:solidFill>
                      <a:srgbClr val="000000"/>
                    </a:solidFill>
                  </a:rPr>
                  <a:t>과 합의 完</a:t>
                </a:r>
                <a:endParaRPr lang="en-US" altLang="ko-KR" sz="1150" b="0" kern="0" dirty="0">
                  <a:solidFill>
                    <a:srgbClr val="000000"/>
                  </a:solidFill>
                </a:endParaRPr>
              </a:p>
              <a:p>
                <a:pPr marL="146050" lvl="0" indent="-36513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400"/>
                  </a:spcAft>
                  <a:buSzPct val="8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ko-KR" sz="1150" b="0" kern="0" spc="-20" dirty="0">
                    <a:solidFill>
                      <a:srgbClr val="000000"/>
                    </a:solidFill>
                  </a:rPr>
                  <a:t> 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기존 매입 수량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4,000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톤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/ 908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억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 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→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3,000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톤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/ 764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억 </a:t>
                </a:r>
                <a:r>
                  <a:rPr lang="ko-KR" altLang="en-US" sz="1150" b="0" kern="0" spc="-2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1150" b="0" kern="0" spc="-20" dirty="0">
                    <a:solidFill>
                      <a:srgbClr val="000000"/>
                    </a:solidFill>
                  </a:rPr>
                  <a:t>- </a:t>
                </a:r>
                <a:r>
                  <a:rPr lang="en-US" altLang="ko-KR" sz="1150" kern="0" spc="-20" dirty="0">
                    <a:solidFill>
                      <a:srgbClr val="000000"/>
                    </a:solidFill>
                  </a:rPr>
                  <a:t>144</a:t>
                </a:r>
                <a:r>
                  <a:rPr lang="ko-KR" altLang="en-US" sz="1150" kern="0" spc="-20" dirty="0">
                    <a:solidFill>
                      <a:srgbClr val="000000"/>
                    </a:solidFill>
                  </a:rPr>
                  <a:t>억</a:t>
                </a:r>
                <a:endParaRPr lang="en-US" altLang="ko-KR" sz="1150" b="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810A8C02-51A8-459D-A742-1F2BFC90BD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1817" y="4496443"/>
                <a:ext cx="187604" cy="1692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3600" bIns="216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762000" rtl="0" eaLnBrk="1" fontAlgn="base" latinLnBrk="0" hangingPunct="1">
                  <a:lnSpc>
                    <a:spcPct val="120000"/>
                  </a:lnSpc>
                  <a:spcBef>
                    <a:spcPts val="12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522FBB7-C57A-4253-B926-CDE611146027}"/>
                </a:ext>
              </a:extLst>
            </p:cNvPr>
            <p:cNvSpPr txBox="1"/>
            <p:nvPr/>
          </p:nvSpPr>
          <p:spPr>
            <a:xfrm>
              <a:off x="6968016" y="1226532"/>
              <a:ext cx="2737959" cy="184666"/>
            </a:xfrm>
            <a:prstGeom prst="rect">
              <a:avLst/>
            </a:prstGeom>
            <a:noFill/>
          </p:spPr>
          <p:txBody>
            <a:bodyPr wrap="square" lIns="0" tIns="0" rIns="54000" bIns="0" rtlCol="0">
              <a:noAutofit/>
            </a:bodyPr>
            <a:lstStyle/>
            <a:p>
              <a:pPr algn="r"/>
              <a:r>
                <a:rPr lang="en-US" altLang="ko-KR" sz="12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·····  </a:t>
              </a:r>
              <a:r>
                <a:rPr lang="el-GR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Δ</a:t>
              </a:r>
              <a:r>
                <a:rPr lang="en-US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144</a:t>
              </a:r>
              <a:r>
                <a:rPr lang="ko-KR" altLang="en-US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억</a:t>
              </a:r>
              <a:r>
                <a:rPr lang="en-US" altLang="ko-KR" sz="1200" b="1" u="sng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/ </a:t>
              </a:r>
              <a:r>
                <a:rPr lang="el-GR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Δ</a:t>
              </a:r>
              <a:r>
                <a:rPr lang="en-US" altLang="ko-KR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0.4</a:t>
              </a:r>
              <a:r>
                <a:rPr lang="ko-KR" altLang="en-US" sz="1200" b="1" u="sng" dirty="0">
                  <a:solidFill>
                    <a:srgbClr val="0000CC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일</a:t>
              </a: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D177FF2A-A363-4526-97D7-54A354249F8B}"/>
              </a:ext>
            </a:extLst>
          </p:cNvPr>
          <p:cNvGrpSpPr/>
          <p:nvPr/>
        </p:nvGrpSpPr>
        <p:grpSpPr>
          <a:xfrm>
            <a:off x="5599970" y="2038920"/>
            <a:ext cx="4071600" cy="208406"/>
            <a:chOff x="5599970" y="2038920"/>
            <a:chExt cx="4071600" cy="208406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2B998650-3DFB-425C-AACB-37085DCEB57F}"/>
                </a:ext>
              </a:extLst>
            </p:cNvPr>
            <p:cNvCxnSpPr>
              <a:cxnSpLocks/>
            </p:cNvCxnSpPr>
            <p:nvPr/>
          </p:nvCxnSpPr>
          <p:spPr>
            <a:xfrm>
              <a:off x="5599970" y="2240863"/>
              <a:ext cx="4071600" cy="0"/>
            </a:xfrm>
            <a:prstGeom prst="line">
              <a:avLst/>
            </a:prstGeom>
            <a:ln w="158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EAD6C431-1FDC-4525-B5EA-93D3E5E1B185}"/>
                </a:ext>
              </a:extLst>
            </p:cNvPr>
            <p:cNvGrpSpPr/>
            <p:nvPr/>
          </p:nvGrpSpPr>
          <p:grpSpPr>
            <a:xfrm>
              <a:off x="5599971" y="2038920"/>
              <a:ext cx="490278" cy="208406"/>
              <a:chOff x="917261" y="3097975"/>
              <a:chExt cx="1748301" cy="208406"/>
            </a:xfrm>
          </p:grpSpPr>
          <p:sp>
            <p:nvSpPr>
              <p:cNvPr id="123" name="모서리가 둥근 직사각형 32">
                <a:extLst>
                  <a:ext uri="{FF2B5EF4-FFF2-40B4-BE49-F238E27FC236}">
                    <a16:creationId xmlns:a16="http://schemas.microsoft.com/office/drawing/2014/main" id="{C2396780-0564-4E15-BAB1-A4496E11B055}"/>
                  </a:ext>
                </a:extLst>
              </p:cNvPr>
              <p:cNvSpPr/>
              <p:nvPr/>
            </p:nvSpPr>
            <p:spPr>
              <a:xfrm>
                <a:off x="917261" y="3233738"/>
                <a:ext cx="1748301" cy="72643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8000" rtlCol="0" anchor="ctr"/>
              <a:lstStyle/>
              <a:p>
                <a:pPr algn="ctr"/>
                <a:endParaRPr lang="ko-KR" altLang="en-US" sz="105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24" name="모서리가 둥근 직사각형 32">
                <a:extLst>
                  <a:ext uri="{FF2B5EF4-FFF2-40B4-BE49-F238E27FC236}">
                    <a16:creationId xmlns:a16="http://schemas.microsoft.com/office/drawing/2014/main" id="{FA86E6F5-D319-40EB-B087-E7204C1FFC98}"/>
                  </a:ext>
                </a:extLst>
              </p:cNvPr>
              <p:cNvSpPr/>
              <p:nvPr/>
            </p:nvSpPr>
            <p:spPr>
              <a:xfrm>
                <a:off x="917261" y="3097975"/>
                <a:ext cx="1748301" cy="208406"/>
              </a:xfrm>
              <a:prstGeom prst="roundRect">
                <a:avLst>
                  <a:gd name="adj" fmla="val 2580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8000"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bg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Risk</a:t>
                </a:r>
                <a:endParaRPr lang="ko-KR" altLang="en-US" sz="105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E5D7B8C-A557-421F-9372-6CE293E1F51C}"/>
              </a:ext>
            </a:extLst>
          </p:cNvPr>
          <p:cNvGrpSpPr/>
          <p:nvPr/>
        </p:nvGrpSpPr>
        <p:grpSpPr>
          <a:xfrm>
            <a:off x="5599970" y="3511665"/>
            <a:ext cx="4071600" cy="208406"/>
            <a:chOff x="5599970" y="3511665"/>
            <a:chExt cx="4071600" cy="208406"/>
          </a:xfrm>
        </p:grpSpPr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1DA1A23C-1470-42A1-BC90-66FEFE0AF76E}"/>
                </a:ext>
              </a:extLst>
            </p:cNvPr>
            <p:cNvCxnSpPr>
              <a:cxnSpLocks/>
            </p:cNvCxnSpPr>
            <p:nvPr/>
          </p:nvCxnSpPr>
          <p:spPr>
            <a:xfrm>
              <a:off x="5599970" y="3713608"/>
              <a:ext cx="4071600" cy="0"/>
            </a:xfrm>
            <a:prstGeom prst="line">
              <a:avLst/>
            </a:prstGeom>
            <a:ln w="158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ED7B8D5-B06C-43D7-836D-70D254EB1EC8}"/>
                </a:ext>
              </a:extLst>
            </p:cNvPr>
            <p:cNvGrpSpPr/>
            <p:nvPr/>
          </p:nvGrpSpPr>
          <p:grpSpPr>
            <a:xfrm>
              <a:off x="5599971" y="3511665"/>
              <a:ext cx="490278" cy="208406"/>
              <a:chOff x="917261" y="3097975"/>
              <a:chExt cx="1748301" cy="208406"/>
            </a:xfrm>
          </p:grpSpPr>
          <p:sp>
            <p:nvSpPr>
              <p:cNvPr id="128" name="모서리가 둥근 직사각형 32">
                <a:extLst>
                  <a:ext uri="{FF2B5EF4-FFF2-40B4-BE49-F238E27FC236}">
                    <a16:creationId xmlns:a16="http://schemas.microsoft.com/office/drawing/2014/main" id="{EB74BD59-B8FC-47D0-8B8F-AAF5F2EFAC73}"/>
                  </a:ext>
                </a:extLst>
              </p:cNvPr>
              <p:cNvSpPr/>
              <p:nvPr/>
            </p:nvSpPr>
            <p:spPr>
              <a:xfrm>
                <a:off x="917261" y="3233738"/>
                <a:ext cx="1748301" cy="72643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18000" rtlCol="0" anchor="ctr"/>
              <a:lstStyle/>
              <a:p>
                <a:pPr algn="ctr"/>
                <a:endParaRPr lang="ko-KR" altLang="en-US" sz="105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29" name="모서리가 둥근 직사각형 32">
                <a:extLst>
                  <a:ext uri="{FF2B5EF4-FFF2-40B4-BE49-F238E27FC236}">
                    <a16:creationId xmlns:a16="http://schemas.microsoft.com/office/drawing/2014/main" id="{FF15F5E7-1CDA-416C-BC20-D68A5045109F}"/>
                  </a:ext>
                </a:extLst>
              </p:cNvPr>
              <p:cNvSpPr/>
              <p:nvPr/>
            </p:nvSpPr>
            <p:spPr>
              <a:xfrm>
                <a:off x="917261" y="3097975"/>
                <a:ext cx="1748301" cy="208406"/>
              </a:xfrm>
              <a:prstGeom prst="roundRect">
                <a:avLst>
                  <a:gd name="adj" fmla="val 2580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50" b="1" dirty="0">
                    <a:solidFill>
                      <a:schemeClr val="bg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기 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962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F68CB5C-2136-4F96-AF64-99F0A2BD82C8}"/>
              </a:ext>
            </a:extLst>
          </p:cNvPr>
          <p:cNvGrpSpPr/>
          <p:nvPr/>
        </p:nvGrpSpPr>
        <p:grpSpPr>
          <a:xfrm>
            <a:off x="209158" y="197266"/>
            <a:ext cx="3250734" cy="357762"/>
            <a:chOff x="283917" y="205892"/>
            <a:chExt cx="3250734" cy="3577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E3DD4B-D993-4E79-968D-D86432C22AC1}"/>
                </a:ext>
              </a:extLst>
            </p:cNvPr>
            <p:cNvSpPr txBox="1"/>
            <p:nvPr/>
          </p:nvSpPr>
          <p:spPr>
            <a:xfrm>
              <a:off x="283917" y="205892"/>
              <a:ext cx="3148298" cy="353746"/>
            </a:xfrm>
            <a:prstGeom prst="rect">
              <a:avLst/>
            </a:prstGeom>
            <a:noFill/>
          </p:spPr>
          <p:txBody>
            <a:bodyPr wrap="none" lIns="0" tIns="18000" rIns="0" bIns="1800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자동차사업부 재고 수준 및 목표</a:t>
              </a:r>
              <a:endPara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4B13CB0-1254-4F95-B5FF-91D249401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7" y="563654"/>
              <a:ext cx="325073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Box 41">
            <a:extLst>
              <a:ext uri="{FF2B5EF4-FFF2-40B4-BE49-F238E27FC236}">
                <a16:creationId xmlns:a16="http://schemas.microsoft.com/office/drawing/2014/main" id="{A36D6E21-72B1-4B20-835D-E51C24667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095" y="217666"/>
            <a:ext cx="2178583" cy="33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381A5E-0D7E-43F0-A7A0-AB5144578D46}"/>
              </a:ext>
            </a:extLst>
          </p:cNvPr>
          <p:cNvSpPr txBox="1"/>
          <p:nvPr/>
        </p:nvSpPr>
        <p:spPr>
          <a:xfrm>
            <a:off x="4592959" y="6597650"/>
            <a:ext cx="720082" cy="260350"/>
          </a:xfrm>
          <a:prstGeom prst="rect">
            <a:avLst/>
          </a:prstGeom>
          <a:noFill/>
        </p:spPr>
        <p:txBody>
          <a:bodyPr wrap="square" lIns="77925" tIns="38963" rIns="77925" bIns="38963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ECE6F6A-64C6-42D1-8AC8-832F2E44E411}"/>
              </a:ext>
            </a:extLst>
          </p:cNvPr>
          <p:cNvSpPr/>
          <p:nvPr/>
        </p:nvSpPr>
        <p:spPr bwMode="auto">
          <a:xfrm>
            <a:off x="195889" y="687589"/>
            <a:ext cx="539779" cy="17527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 고</a:t>
            </a:r>
            <a:br>
              <a:rPr kumimoji="1" lang="en-US" altLang="ko-KR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 경</a:t>
            </a:r>
            <a:endParaRPr kumimoji="1" lang="en-US" altLang="ko-KR" sz="1300" b="1" i="0" u="none" strike="noStrike" kern="1200" cap="none" spc="-8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</a:t>
            </a:r>
            <a:br>
              <a:rPr kumimoji="1" lang="en-US" altLang="ko-KR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결 론</a:t>
            </a:r>
            <a:endParaRPr kumimoji="1" lang="en-US" altLang="ko-KR" sz="1300" b="1" i="0" u="none" strike="noStrike" kern="1200" cap="none" spc="-8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3" name="Text Box 118">
            <a:extLst>
              <a:ext uri="{FF2B5EF4-FFF2-40B4-BE49-F238E27FC236}">
                <a16:creationId xmlns:a16="http://schemas.microsoft.com/office/drawing/2014/main" id="{2E28F615-96C4-4973-B599-C3242897F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3" y="687591"/>
            <a:ext cx="8877302" cy="1752788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L="92075" lvl="0" indent="-92075" defTabSz="914400" latinLnBrk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3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92075" marR="0" lvl="0" indent="-92075" algn="l" defTabSz="914400" rtl="0" eaLnBrk="1" fontAlgn="auto" latinLnBrk="1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4/22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자동차 중장기 경쟁력 강화 방안 보고 시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자동차 사업부는 왜 재고가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80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이상 존재 하는 지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’,</a:t>
            </a:r>
            <a:b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‘C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社 대비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관점 구조적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(L/T)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경쟁력이 열위에 있는지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검토 지시가 있었습니다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92075" marR="0" lvl="0" indent="-92075" algn="l" defTabSz="914400" rtl="0" eaLnBrk="1" fontAlgn="auto" latinLnBrk="1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검토 결과를 요약하면 공급망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L/T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95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이상 긴 것이 영향을 주는 것은 맞으나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이론 상 운영 가능한</a:t>
            </a:r>
            <a:b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재고 수준은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67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이며 북미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VMI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전환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L/T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단축 등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공급망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L/T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단축 시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61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가능합니다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92075" marR="0" lvl="0" indent="-92075" algn="l" defTabSz="914400" rtl="0" eaLnBrk="1" fontAlgn="auto" latinLnBrk="1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다만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공급망 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L/T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단축 활동 외 현재 보유 중이며 향후 지속 입고 예정인 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원재료 중장기 공급계약 재고에 대한 소진 강화 및 계약 물량 조정이 선행</a:t>
            </a:r>
            <a:r>
              <a:rPr kumimoji="0" lang="ko-KR" altLang="en-US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되어야 하며 재고 통제 활동을 더욱 강화하여 불 필요한 선행 비축 재고 발생을 최소화 해야 합니다</a:t>
            </a:r>
            <a:r>
              <a:rPr kumimoji="0" lang="en-US" altLang="ko-KR" sz="13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  <a:endParaRPr kumimoji="0" lang="ko-KR" altLang="en-US" sz="1300" b="1" i="0" u="none" strike="noStrike" kern="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62BE59C5-18A8-4095-899F-F4B8F0C6A836}"/>
              </a:ext>
            </a:extLst>
          </p:cNvPr>
          <p:cNvGraphicFramePr>
            <a:graphicFrameLocks noGrp="1"/>
          </p:cNvGraphicFramePr>
          <p:nvPr/>
        </p:nvGraphicFramePr>
        <p:xfrm>
          <a:off x="847724" y="5224923"/>
          <a:ext cx="4656646" cy="1508760"/>
        </p:xfrm>
        <a:graphic>
          <a:graphicData uri="http://schemas.openxmlformats.org/drawingml/2006/table">
            <a:tbl>
              <a:tblPr/>
              <a:tblGrid>
                <a:gridCol w="161387">
                  <a:extLst>
                    <a:ext uri="{9D8B030D-6E8A-4147-A177-3AD203B41FA5}">
                      <a16:colId xmlns:a16="http://schemas.microsoft.com/office/drawing/2014/main" val="3100476015"/>
                    </a:ext>
                  </a:extLst>
                </a:gridCol>
                <a:gridCol w="435371">
                  <a:extLst>
                    <a:ext uri="{9D8B030D-6E8A-4147-A177-3AD203B41FA5}">
                      <a16:colId xmlns:a16="http://schemas.microsoft.com/office/drawing/2014/main" val="2764912503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3262460580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2789844361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4111635307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2306203346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1023462956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211736399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3314885909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3660835737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2920688976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2781521598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1382668876"/>
                    </a:ext>
                  </a:extLst>
                </a:gridCol>
                <a:gridCol w="338324">
                  <a:extLst>
                    <a:ext uri="{9D8B030D-6E8A-4147-A177-3AD203B41FA5}">
                      <a16:colId xmlns:a16="http://schemas.microsoft.com/office/drawing/2014/main" val="4062485194"/>
                    </a:ext>
                  </a:extLst>
                </a:gridCol>
              </a:tblGrid>
              <a:tr h="118907">
                <a:tc rowSpan="3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자동차사업부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141624"/>
                  </a:ext>
                </a:extLst>
              </a:tr>
              <a:tr h="11890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원재료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반제품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165538"/>
                  </a:ext>
                </a:extLst>
              </a:tr>
              <a:tr h="2378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 계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 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 송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 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원재료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창    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 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 극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 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반제품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    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 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 듈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창 고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 객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 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VMI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23554"/>
                  </a:ext>
                </a:extLst>
              </a:tr>
              <a:tr h="118907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이 론 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739094"/>
                  </a:ext>
                </a:extLst>
              </a:tr>
              <a:tr h="118907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현 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98699"/>
                  </a:ext>
                </a:extLst>
              </a:tr>
              <a:tr h="118907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이 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(2H)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337940"/>
                  </a:ext>
                </a:extLst>
              </a:tr>
              <a:tr h="11890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북    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506579"/>
                  </a:ext>
                </a:extLst>
              </a:tr>
              <a:tr h="11890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    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313023"/>
                  </a:ext>
                </a:extLst>
              </a:tr>
              <a:tr h="11890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아시아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690746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5ED9929E-3624-4F02-895C-1E58EA9287AC}"/>
              </a:ext>
            </a:extLst>
          </p:cNvPr>
          <p:cNvSpPr txBox="1"/>
          <p:nvPr/>
        </p:nvSpPr>
        <p:spPr>
          <a:xfrm>
            <a:off x="7159770" y="687372"/>
            <a:ext cx="1753685" cy="1908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0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자동차 재고 금액 </a:t>
            </a:r>
            <a:r>
              <a:rPr kumimoji="0" lang="en-US" altLang="ko-KR" sz="10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DIO </a:t>
            </a:r>
            <a:r>
              <a:rPr kumimoji="0" lang="ko-KR" altLang="en-US" sz="10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계획 </a:t>
            </a:r>
            <a:r>
              <a:rPr kumimoji="0" lang="en-US" altLang="ko-KR" sz="10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</p:txBody>
      </p:sp>
      <p:graphicFrame>
        <p:nvGraphicFramePr>
          <p:cNvPr id="108" name="표 107">
            <a:extLst>
              <a:ext uri="{FF2B5EF4-FFF2-40B4-BE49-F238E27FC236}">
                <a16:creationId xmlns:a16="http://schemas.microsoft.com/office/drawing/2014/main" id="{22E9C2F2-0067-420A-ACA3-B36FB6F35BAF}"/>
              </a:ext>
            </a:extLst>
          </p:cNvPr>
          <p:cNvGraphicFramePr>
            <a:graphicFrameLocks noGrp="1"/>
          </p:cNvGraphicFramePr>
          <p:nvPr/>
        </p:nvGraphicFramePr>
        <p:xfrm>
          <a:off x="7160248" y="890717"/>
          <a:ext cx="2545725" cy="946323"/>
        </p:xfrm>
        <a:graphic>
          <a:graphicData uri="http://schemas.openxmlformats.org/drawingml/2006/table">
            <a:tbl>
              <a:tblPr/>
              <a:tblGrid>
                <a:gridCol w="92077">
                  <a:extLst>
                    <a:ext uri="{9D8B030D-6E8A-4147-A177-3AD203B41FA5}">
                      <a16:colId xmlns:a16="http://schemas.microsoft.com/office/drawing/2014/main" val="1723897547"/>
                    </a:ext>
                  </a:extLst>
                </a:gridCol>
                <a:gridCol w="44534">
                  <a:extLst>
                    <a:ext uri="{9D8B030D-6E8A-4147-A177-3AD203B41FA5}">
                      <a16:colId xmlns:a16="http://schemas.microsoft.com/office/drawing/2014/main" val="3874152173"/>
                    </a:ext>
                  </a:extLst>
                </a:gridCol>
                <a:gridCol w="498901">
                  <a:extLst>
                    <a:ext uri="{9D8B030D-6E8A-4147-A177-3AD203B41FA5}">
                      <a16:colId xmlns:a16="http://schemas.microsoft.com/office/drawing/2014/main" val="3764564669"/>
                    </a:ext>
                  </a:extLst>
                </a:gridCol>
                <a:gridCol w="323213">
                  <a:extLst>
                    <a:ext uri="{9D8B030D-6E8A-4147-A177-3AD203B41FA5}">
                      <a16:colId xmlns:a16="http://schemas.microsoft.com/office/drawing/2014/main" val="3562436800"/>
                    </a:ext>
                  </a:extLst>
                </a:gridCol>
                <a:gridCol w="396750">
                  <a:extLst>
                    <a:ext uri="{9D8B030D-6E8A-4147-A177-3AD203B41FA5}">
                      <a16:colId xmlns:a16="http://schemas.microsoft.com/office/drawing/2014/main" val="3086892069"/>
                    </a:ext>
                  </a:extLst>
                </a:gridCol>
                <a:gridCol w="396750">
                  <a:extLst>
                    <a:ext uri="{9D8B030D-6E8A-4147-A177-3AD203B41FA5}">
                      <a16:colId xmlns:a16="http://schemas.microsoft.com/office/drawing/2014/main" val="2600603050"/>
                    </a:ext>
                  </a:extLst>
                </a:gridCol>
                <a:gridCol w="396750">
                  <a:extLst>
                    <a:ext uri="{9D8B030D-6E8A-4147-A177-3AD203B41FA5}">
                      <a16:colId xmlns:a16="http://schemas.microsoft.com/office/drawing/2014/main" val="2338898552"/>
                    </a:ext>
                  </a:extLst>
                </a:gridCol>
                <a:gridCol w="396750">
                  <a:extLst>
                    <a:ext uri="{9D8B030D-6E8A-4147-A177-3AD203B41FA5}">
                      <a16:colId xmlns:a16="http://schemas.microsoft.com/office/drawing/2014/main" val="2362154101"/>
                    </a:ext>
                  </a:extLst>
                </a:gridCol>
              </a:tblGrid>
              <a:tr h="13518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’27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948772"/>
                  </a:ext>
                </a:extLst>
              </a:tr>
              <a:tr h="13518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재고금액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연평균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2.9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3.8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405388"/>
                  </a:ext>
                </a:extLst>
              </a:tr>
              <a:tr h="13518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 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 평균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81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endParaRPr lang="en-US" altLang="ko-KR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68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0930711"/>
                  </a:ext>
                </a:extLst>
              </a:tr>
              <a:tr h="1351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운영재고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2.3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285631"/>
                  </a:ext>
                </a:extLst>
              </a:tr>
              <a:tr h="1351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66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659408"/>
                  </a:ext>
                </a:extLst>
              </a:tr>
              <a:tr h="1351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계약재고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900116"/>
                  </a:ext>
                </a:extLst>
              </a:tr>
              <a:tr h="1351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51427"/>
                  </a:ext>
                </a:extLst>
              </a:tr>
            </a:tbl>
          </a:graphicData>
        </a:graphic>
      </p:graphicFrame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9E27261-AA7A-440E-A75A-5399304D545D}"/>
              </a:ext>
            </a:extLst>
          </p:cNvPr>
          <p:cNvSpPr/>
          <p:nvPr/>
        </p:nvSpPr>
        <p:spPr bwMode="auto">
          <a:xfrm>
            <a:off x="195889" y="2543753"/>
            <a:ext cx="539779" cy="40475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 세</a:t>
            </a:r>
            <a:br>
              <a:rPr kumimoji="1" lang="en-US" altLang="ko-KR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 토</a:t>
            </a:r>
            <a:br>
              <a:rPr kumimoji="1" lang="en-US" altLang="ko-KR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3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결 과</a:t>
            </a:r>
            <a:endParaRPr kumimoji="1" lang="en-US" altLang="ko-KR" sz="1300" b="1" i="0" u="none" strike="noStrike" kern="1200" cap="none" spc="-8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75BBA4A5-6407-416E-82EB-B91DA32259C2}"/>
              </a:ext>
            </a:extLst>
          </p:cNvPr>
          <p:cNvGrpSpPr/>
          <p:nvPr/>
        </p:nvGrpSpPr>
        <p:grpSpPr>
          <a:xfrm>
            <a:off x="4715068" y="3465770"/>
            <a:ext cx="596317" cy="1704118"/>
            <a:chOff x="4067368" y="2499282"/>
            <a:chExt cx="596317" cy="1704118"/>
          </a:xfrm>
        </p:grpSpPr>
        <p:sp>
          <p:nvSpPr>
            <p:cNvPr id="112" name="제목 3">
              <a:extLst>
                <a:ext uri="{FF2B5EF4-FFF2-40B4-BE49-F238E27FC236}">
                  <a16:creationId xmlns:a16="http://schemas.microsoft.com/office/drawing/2014/main" id="{93132F16-ECAF-4369-8ECD-3385C0982435}"/>
                </a:ext>
              </a:extLst>
            </p:cNvPr>
            <p:cNvSpPr txBox="1">
              <a:spLocks/>
            </p:cNvSpPr>
            <p:nvPr/>
          </p:nvSpPr>
          <p:spPr>
            <a:xfrm>
              <a:off x="4067368" y="3926401"/>
              <a:ext cx="59631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목 표</a:t>
              </a:r>
              <a:endPara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(’27</a:t>
              </a:r>
              <a:r>
                <a:rPr kumimoji="0" lang="ko-KR" alt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년 연평균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DE81184B-9F9F-46B8-843B-98B6534904D9}"/>
                </a:ext>
              </a:extLst>
            </p:cNvPr>
            <p:cNvSpPr/>
            <p:nvPr/>
          </p:nvSpPr>
          <p:spPr>
            <a:xfrm>
              <a:off x="4221526" y="2717207"/>
              <a:ext cx="288000" cy="1165978"/>
            </a:xfrm>
            <a:prstGeom prst="rect">
              <a:avLst/>
            </a:prstGeom>
            <a:pattFill prst="pct5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14" name="제목 3">
              <a:extLst>
                <a:ext uri="{FF2B5EF4-FFF2-40B4-BE49-F238E27FC236}">
                  <a16:creationId xmlns:a16="http://schemas.microsoft.com/office/drawing/2014/main" id="{64E690EB-BF27-4BFE-8213-1D2CFAB655D7}"/>
                </a:ext>
              </a:extLst>
            </p:cNvPr>
            <p:cNvSpPr txBox="1">
              <a:spLocks/>
            </p:cNvSpPr>
            <p:nvPr/>
          </p:nvSpPr>
          <p:spPr>
            <a:xfrm>
              <a:off x="4239687" y="2499282"/>
              <a:ext cx="25167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65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33425C0-BFAF-4928-AF81-783E1B1274F5}"/>
              </a:ext>
            </a:extLst>
          </p:cNvPr>
          <p:cNvGrpSpPr/>
          <p:nvPr/>
        </p:nvGrpSpPr>
        <p:grpSpPr>
          <a:xfrm>
            <a:off x="3926090" y="2709732"/>
            <a:ext cx="597921" cy="2468238"/>
            <a:chOff x="1559500" y="1432290"/>
            <a:chExt cx="597921" cy="2304964"/>
          </a:xfrm>
        </p:grpSpPr>
        <p:sp>
          <p:nvSpPr>
            <p:cNvPr id="116" name="제목 3">
              <a:extLst>
                <a:ext uri="{FF2B5EF4-FFF2-40B4-BE49-F238E27FC236}">
                  <a16:creationId xmlns:a16="http://schemas.microsoft.com/office/drawing/2014/main" id="{F5364534-D5F5-4A8E-A231-5094F028AC9D}"/>
                </a:ext>
              </a:extLst>
            </p:cNvPr>
            <p:cNvSpPr txBox="1">
              <a:spLocks/>
            </p:cNvSpPr>
            <p:nvPr/>
          </p:nvSpPr>
          <p:spPr>
            <a:xfrm>
              <a:off x="1559500" y="3471393"/>
              <a:ext cx="597921" cy="26586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현 재</a:t>
              </a:r>
              <a:endPara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’25</a:t>
              </a:r>
              <a:r>
                <a:rPr kumimoji="0" lang="ko-KR" alt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년 연평균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D932F868-CDA5-4EB3-9270-73C68E8752B0}"/>
                </a:ext>
              </a:extLst>
            </p:cNvPr>
            <p:cNvSpPr/>
            <p:nvPr/>
          </p:nvSpPr>
          <p:spPr>
            <a:xfrm>
              <a:off x="1714460" y="2464171"/>
              <a:ext cx="288000" cy="603546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24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3866872F-D2AD-412C-8200-AB4F3F0F6D35}"/>
                </a:ext>
              </a:extLst>
            </p:cNvPr>
            <p:cNvSpPr/>
            <p:nvPr/>
          </p:nvSpPr>
          <p:spPr>
            <a:xfrm>
              <a:off x="1714460" y="1643098"/>
              <a:ext cx="288000" cy="90835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37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3" name="제목 3">
              <a:extLst>
                <a:ext uri="{FF2B5EF4-FFF2-40B4-BE49-F238E27FC236}">
                  <a16:creationId xmlns:a16="http://schemas.microsoft.com/office/drawing/2014/main" id="{F9289E29-FBB4-498F-B64A-BE3547286CDC}"/>
                </a:ext>
              </a:extLst>
            </p:cNvPr>
            <p:cNvSpPr txBox="1">
              <a:spLocks/>
            </p:cNvSpPr>
            <p:nvPr/>
          </p:nvSpPr>
          <p:spPr>
            <a:xfrm>
              <a:off x="1732621" y="1432290"/>
              <a:ext cx="251672" cy="16927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81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14F6EABB-1366-4509-92DE-3ABBE0CB2B54}"/>
                </a:ext>
              </a:extLst>
            </p:cNvPr>
            <p:cNvSpPr/>
            <p:nvPr/>
          </p:nvSpPr>
          <p:spPr>
            <a:xfrm>
              <a:off x="1714460" y="3048696"/>
              <a:ext cx="288000" cy="3819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20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35" name="제목 3">
            <a:extLst>
              <a:ext uri="{FF2B5EF4-FFF2-40B4-BE49-F238E27FC236}">
                <a16:creationId xmlns:a16="http://schemas.microsoft.com/office/drawing/2014/main" id="{0E7AF874-7751-4A9F-AE86-1F4043571215}"/>
              </a:ext>
            </a:extLst>
          </p:cNvPr>
          <p:cNvSpPr txBox="1">
            <a:spLocks/>
          </p:cNvSpPr>
          <p:nvPr/>
        </p:nvSpPr>
        <p:spPr>
          <a:xfrm>
            <a:off x="974290" y="4652099"/>
            <a:ext cx="30457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제    품</a:t>
            </a:r>
          </a:p>
        </p:txBody>
      </p:sp>
      <p:sp>
        <p:nvSpPr>
          <p:cNvPr id="140" name="제목 3">
            <a:extLst>
              <a:ext uri="{FF2B5EF4-FFF2-40B4-BE49-F238E27FC236}">
                <a16:creationId xmlns:a16="http://schemas.microsoft.com/office/drawing/2014/main" id="{804FAADC-BFD5-4049-AC8A-E0B2C186D14C}"/>
              </a:ext>
            </a:extLst>
          </p:cNvPr>
          <p:cNvSpPr txBox="1">
            <a:spLocks/>
          </p:cNvSpPr>
          <p:nvPr/>
        </p:nvSpPr>
        <p:spPr>
          <a:xfrm>
            <a:off x="974290" y="4289241"/>
            <a:ext cx="30296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반제품</a:t>
            </a:r>
          </a:p>
        </p:txBody>
      </p:sp>
      <p:sp>
        <p:nvSpPr>
          <p:cNvPr id="141" name="제목 3">
            <a:extLst>
              <a:ext uri="{FF2B5EF4-FFF2-40B4-BE49-F238E27FC236}">
                <a16:creationId xmlns:a16="http://schemas.microsoft.com/office/drawing/2014/main" id="{5FD3451A-4B50-4ED8-AA77-85CD5E3278D1}"/>
              </a:ext>
            </a:extLst>
          </p:cNvPr>
          <p:cNvSpPr txBox="1">
            <a:spLocks/>
          </p:cNvSpPr>
          <p:nvPr/>
        </p:nvSpPr>
        <p:spPr>
          <a:xfrm>
            <a:off x="974290" y="3826127"/>
            <a:ext cx="302968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원재료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8C764243-97D3-4EEA-9F6D-9FA5B4DD78E9}"/>
              </a:ext>
            </a:extLst>
          </p:cNvPr>
          <p:cNvGrpSpPr/>
          <p:nvPr/>
        </p:nvGrpSpPr>
        <p:grpSpPr>
          <a:xfrm>
            <a:off x="2021439" y="3629404"/>
            <a:ext cx="662040" cy="1544757"/>
            <a:chOff x="1107511" y="2327990"/>
            <a:chExt cx="662040" cy="1746814"/>
          </a:xfrm>
        </p:grpSpPr>
        <p:sp>
          <p:nvSpPr>
            <p:cNvPr id="143" name="제목 3">
              <a:extLst>
                <a:ext uri="{FF2B5EF4-FFF2-40B4-BE49-F238E27FC236}">
                  <a16:creationId xmlns:a16="http://schemas.microsoft.com/office/drawing/2014/main" id="{EE8A1449-85AB-4856-8107-2EC6A4DA6D5C}"/>
                </a:ext>
              </a:extLst>
            </p:cNvPr>
            <p:cNvSpPr txBox="1">
              <a:spLocks/>
            </p:cNvSpPr>
            <p:nvPr/>
          </p:nvSpPr>
          <p:spPr>
            <a:xfrm>
              <a:off x="1107511" y="3761573"/>
              <a:ext cx="662040" cy="31323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이 론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 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(2H)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</a:t>
              </a:r>
              <a:r>
                <a:rPr kumimoji="0" lang="ko-KR" alt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북미 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VMI </a:t>
              </a:r>
              <a:r>
                <a:rPr kumimoji="0" lang="ko-KR" alt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운영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endPara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D70A49D9-C33B-4209-9A1E-9BFEC4CE987F}"/>
                </a:ext>
              </a:extLst>
            </p:cNvPr>
            <p:cNvSpPr/>
            <p:nvPr/>
          </p:nvSpPr>
          <p:spPr>
            <a:xfrm>
              <a:off x="1294530" y="2876581"/>
              <a:ext cx="288000" cy="590479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24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E3CB8828-CF12-4722-A1E7-5ACFA722BC42}"/>
                </a:ext>
              </a:extLst>
            </p:cNvPr>
            <p:cNvSpPr/>
            <p:nvPr/>
          </p:nvSpPr>
          <p:spPr>
            <a:xfrm>
              <a:off x="1294530" y="2562034"/>
              <a:ext cx="288000" cy="4090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22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6" name="제목 3">
              <a:extLst>
                <a:ext uri="{FF2B5EF4-FFF2-40B4-BE49-F238E27FC236}">
                  <a16:creationId xmlns:a16="http://schemas.microsoft.com/office/drawing/2014/main" id="{2F7F8564-456C-4BC2-AA66-5E7DCB8D313F}"/>
                </a:ext>
              </a:extLst>
            </p:cNvPr>
            <p:cNvSpPr txBox="1">
              <a:spLocks/>
            </p:cNvSpPr>
            <p:nvPr/>
          </p:nvSpPr>
          <p:spPr>
            <a:xfrm>
              <a:off x="1312691" y="2327990"/>
              <a:ext cx="251672" cy="1914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61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709A3C0D-C9EE-48B8-9488-8BD3E1972474}"/>
                </a:ext>
              </a:extLst>
            </p:cNvPr>
            <p:cNvSpPr/>
            <p:nvPr/>
          </p:nvSpPr>
          <p:spPr>
            <a:xfrm>
              <a:off x="1294530" y="3430407"/>
              <a:ext cx="288000" cy="28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15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150" name="직선 연결선 65">
            <a:extLst>
              <a:ext uri="{FF2B5EF4-FFF2-40B4-BE49-F238E27FC236}">
                <a16:creationId xmlns:a16="http://schemas.microsoft.com/office/drawing/2014/main" id="{D4A2B7F4-2A58-4416-9A30-92352EF47B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9957" y="3580030"/>
            <a:ext cx="623529" cy="0"/>
          </a:xfrm>
          <a:prstGeom prst="line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" name="화살표: 위쪽 152">
            <a:extLst>
              <a:ext uri="{FF2B5EF4-FFF2-40B4-BE49-F238E27FC236}">
                <a16:creationId xmlns:a16="http://schemas.microsoft.com/office/drawing/2014/main" id="{870ACB91-611C-4EB5-B64A-8885FAF7AB14}"/>
              </a:ext>
            </a:extLst>
          </p:cNvPr>
          <p:cNvSpPr/>
          <p:nvPr/>
        </p:nvSpPr>
        <p:spPr>
          <a:xfrm>
            <a:off x="2816239" y="3281604"/>
            <a:ext cx="324000" cy="553229"/>
          </a:xfrm>
          <a:prstGeom prst="upArrow">
            <a:avLst>
              <a:gd name="adj1" fmla="val 100000"/>
              <a:gd name="adj2" fmla="val 29119"/>
            </a:avLst>
          </a:prstGeom>
          <a:solidFill>
            <a:schemeClr val="bg1"/>
          </a:solidFill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4" name="제목 3">
            <a:extLst>
              <a:ext uri="{FF2B5EF4-FFF2-40B4-BE49-F238E27FC236}">
                <a16:creationId xmlns:a16="http://schemas.microsoft.com/office/drawing/2014/main" id="{105346B4-0E62-43DF-B48B-7E88A527C164}"/>
              </a:ext>
            </a:extLst>
          </p:cNvPr>
          <p:cNvSpPr txBox="1">
            <a:spLocks/>
          </p:cNvSpPr>
          <p:nvPr/>
        </p:nvSpPr>
        <p:spPr>
          <a:xfrm>
            <a:off x="2662875" y="3869438"/>
            <a:ext cx="63318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rPr>
              <a:t>➊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계약재고</a:t>
            </a:r>
          </a:p>
        </p:txBody>
      </p:sp>
      <p:sp>
        <p:nvSpPr>
          <p:cNvPr id="155" name="제목 3">
            <a:extLst>
              <a:ext uri="{FF2B5EF4-FFF2-40B4-BE49-F238E27FC236}">
                <a16:creationId xmlns:a16="http://schemas.microsoft.com/office/drawing/2014/main" id="{1E905656-1FE8-4971-A4A5-098DBC5F5B86}"/>
              </a:ext>
            </a:extLst>
          </p:cNvPr>
          <p:cNvSpPr txBox="1">
            <a:spLocks/>
          </p:cNvSpPr>
          <p:nvPr/>
        </p:nvSpPr>
        <p:spPr>
          <a:xfrm>
            <a:off x="3290991" y="3318260"/>
            <a:ext cx="63318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rPr>
              <a:t>➋ 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선행비축</a:t>
            </a:r>
          </a:p>
        </p:txBody>
      </p:sp>
      <p:sp>
        <p:nvSpPr>
          <p:cNvPr id="156" name="화살표: 위쪽 155">
            <a:extLst>
              <a:ext uri="{FF2B5EF4-FFF2-40B4-BE49-F238E27FC236}">
                <a16:creationId xmlns:a16="http://schemas.microsoft.com/office/drawing/2014/main" id="{1141A296-F5E9-4915-AC74-8A7F04BF8110}"/>
              </a:ext>
            </a:extLst>
          </p:cNvPr>
          <p:cNvSpPr/>
          <p:nvPr/>
        </p:nvSpPr>
        <p:spPr>
          <a:xfrm>
            <a:off x="3440580" y="2931276"/>
            <a:ext cx="324000" cy="350859"/>
          </a:xfrm>
          <a:prstGeom prst="upArrow">
            <a:avLst>
              <a:gd name="adj1" fmla="val 100000"/>
              <a:gd name="adj2" fmla="val 29119"/>
            </a:avLst>
          </a:prstGeom>
          <a:solidFill>
            <a:schemeClr val="bg1"/>
          </a:solidFill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3DCA7156-9A46-440D-8C6F-44D652159E92}"/>
              </a:ext>
            </a:extLst>
          </p:cNvPr>
          <p:cNvGrpSpPr/>
          <p:nvPr/>
        </p:nvGrpSpPr>
        <p:grpSpPr>
          <a:xfrm>
            <a:off x="1174211" y="3365271"/>
            <a:ext cx="785471" cy="1809349"/>
            <a:chOff x="526511" y="2037926"/>
            <a:chExt cx="785471" cy="2046015"/>
          </a:xfrm>
        </p:grpSpPr>
        <p:sp>
          <p:nvSpPr>
            <p:cNvPr id="158" name="제목 3">
              <a:extLst>
                <a:ext uri="{FF2B5EF4-FFF2-40B4-BE49-F238E27FC236}">
                  <a16:creationId xmlns:a16="http://schemas.microsoft.com/office/drawing/2014/main" id="{802E5F90-DB36-4750-93B0-D887475F9CC3}"/>
                </a:ext>
              </a:extLst>
            </p:cNvPr>
            <p:cNvSpPr txBox="1">
              <a:spLocks/>
            </p:cNvSpPr>
            <p:nvPr/>
          </p:nvSpPr>
          <p:spPr>
            <a:xfrm>
              <a:off x="526511" y="3762010"/>
              <a:ext cx="785471" cy="32193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이 론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 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(1H)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(</a:t>
              </a:r>
              <a:r>
                <a:rPr kumimoji="0" lang="ko-KR" alt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북미 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VMI </a:t>
              </a:r>
              <a:r>
                <a:rPr kumimoji="0" lang="ko-KR" altLang="en-US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미운영</a:t>
              </a:r>
              <a:r>
                <a:rPr kumimoji="0" lang="en-US" altLang="ko-KR" sz="8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)</a:t>
              </a: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 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8F258E0B-D6D3-461F-B6B5-4F169ACA706C}"/>
                </a:ext>
              </a:extLst>
            </p:cNvPr>
            <p:cNvSpPr/>
            <p:nvPr/>
          </p:nvSpPr>
          <p:spPr>
            <a:xfrm>
              <a:off x="775248" y="2872989"/>
              <a:ext cx="288000" cy="590479"/>
            </a:xfrm>
            <a:prstGeom prst="rect">
              <a:avLst/>
            </a:prstGeom>
            <a:pattFill prst="pct20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24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3B9E4717-72AD-4B95-BD73-4FE0C3241EAB}"/>
                </a:ext>
              </a:extLst>
            </p:cNvPr>
            <p:cNvSpPr/>
            <p:nvPr/>
          </p:nvSpPr>
          <p:spPr>
            <a:xfrm>
              <a:off x="775248" y="2280776"/>
              <a:ext cx="288000" cy="68672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27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1" name="제목 3">
              <a:extLst>
                <a:ext uri="{FF2B5EF4-FFF2-40B4-BE49-F238E27FC236}">
                  <a16:creationId xmlns:a16="http://schemas.microsoft.com/office/drawing/2014/main" id="{101FBB91-85E5-4DA1-8DD5-9FE322FC45F2}"/>
                </a:ext>
              </a:extLst>
            </p:cNvPr>
            <p:cNvSpPr txBox="1">
              <a:spLocks/>
            </p:cNvSpPr>
            <p:nvPr/>
          </p:nvSpPr>
          <p:spPr>
            <a:xfrm>
              <a:off x="793409" y="2037926"/>
              <a:ext cx="251672" cy="1914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lvl1pPr algn="l" defTabSz="914400" rtl="0" eaLnBrk="1" latinLnBrk="1" hangingPunct="1">
                <a:spcBef>
                  <a:spcPct val="0"/>
                </a:spcBef>
                <a:buNone/>
                <a:defRPr sz="2000" b="1" u="sng" kern="1200" baseline="0">
                  <a:solidFill>
                    <a:schemeClr val="tx1"/>
                  </a:solidFill>
                  <a:latin typeface="+mn-lt"/>
                  <a:ea typeface="+mn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67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itchFamily="34" charset="0"/>
                  <a:ea typeface="LG스마트체 Regular" pitchFamily="50" charset="-127"/>
                  <a:cs typeface="+mj-cs"/>
                </a:rPr>
                <a:t>일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03F1BC4-BAB4-45D5-A6CB-C1D536BF88BE}"/>
                </a:ext>
              </a:extLst>
            </p:cNvPr>
            <p:cNvSpPr/>
            <p:nvPr/>
          </p:nvSpPr>
          <p:spPr>
            <a:xfrm>
              <a:off x="775248" y="3433995"/>
              <a:ext cx="288000" cy="2825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15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일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cxnSp>
        <p:nvCxnSpPr>
          <p:cNvPr id="163" name="직선 연결선 65">
            <a:extLst>
              <a:ext uri="{FF2B5EF4-FFF2-40B4-BE49-F238E27FC236}">
                <a16:creationId xmlns:a16="http://schemas.microsoft.com/office/drawing/2014/main" id="{C9689E28-2508-4C77-A130-B56F3576D5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74249" y="3834833"/>
            <a:ext cx="942975" cy="0"/>
          </a:xfrm>
          <a:prstGeom prst="line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" name="화살표: 위쪽 163">
            <a:extLst>
              <a:ext uri="{FF2B5EF4-FFF2-40B4-BE49-F238E27FC236}">
                <a16:creationId xmlns:a16="http://schemas.microsoft.com/office/drawing/2014/main" id="{C4FD15AD-2D85-4E55-ABAB-464F5AF1DCDE}"/>
              </a:ext>
            </a:extLst>
          </p:cNvPr>
          <p:cNvSpPr/>
          <p:nvPr/>
        </p:nvSpPr>
        <p:spPr>
          <a:xfrm rot="10800000">
            <a:off x="1867846" y="3580030"/>
            <a:ext cx="216000" cy="252523"/>
          </a:xfrm>
          <a:prstGeom prst="upArrow">
            <a:avLst>
              <a:gd name="adj1" fmla="val 100000"/>
              <a:gd name="adj2" fmla="val 29119"/>
            </a:avLst>
          </a:prstGeom>
          <a:solidFill>
            <a:schemeClr val="bg1"/>
          </a:solidFill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5" name="제목 3">
            <a:extLst>
              <a:ext uri="{FF2B5EF4-FFF2-40B4-BE49-F238E27FC236}">
                <a16:creationId xmlns:a16="http://schemas.microsoft.com/office/drawing/2014/main" id="{A4B0D92F-3FF3-4272-8027-26CE6239A6E0}"/>
              </a:ext>
            </a:extLst>
          </p:cNvPr>
          <p:cNvSpPr txBox="1">
            <a:spLocks/>
          </p:cNvSpPr>
          <p:nvPr/>
        </p:nvSpPr>
        <p:spPr>
          <a:xfrm>
            <a:off x="1824583" y="3424055"/>
            <a:ext cx="354264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북미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VMI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166" name="제목 3">
            <a:extLst>
              <a:ext uri="{FF2B5EF4-FFF2-40B4-BE49-F238E27FC236}">
                <a16:creationId xmlns:a16="http://schemas.microsoft.com/office/drawing/2014/main" id="{3215DBC0-DBA3-4CCB-AF79-1AB650544517}"/>
              </a:ext>
            </a:extLst>
          </p:cNvPr>
          <p:cNvSpPr txBox="1">
            <a:spLocks/>
          </p:cNvSpPr>
          <p:nvPr/>
        </p:nvSpPr>
        <p:spPr>
          <a:xfrm>
            <a:off x="1884436" y="3642799"/>
            <a:ext cx="197170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Δ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6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</a:p>
        </p:txBody>
      </p:sp>
      <p:sp>
        <p:nvSpPr>
          <p:cNvPr id="167" name="제목 3">
            <a:extLst>
              <a:ext uri="{FF2B5EF4-FFF2-40B4-BE49-F238E27FC236}">
                <a16:creationId xmlns:a16="http://schemas.microsoft.com/office/drawing/2014/main" id="{907C342D-92FD-4E7A-88E9-07CDF70E6301}"/>
              </a:ext>
            </a:extLst>
          </p:cNvPr>
          <p:cNvSpPr txBox="1">
            <a:spLocks/>
          </p:cNvSpPr>
          <p:nvPr/>
        </p:nvSpPr>
        <p:spPr>
          <a:xfrm>
            <a:off x="2838884" y="3508666"/>
            <a:ext cx="2885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+15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</a:p>
        </p:txBody>
      </p:sp>
      <p:sp>
        <p:nvSpPr>
          <p:cNvPr id="168" name="제목 3">
            <a:extLst>
              <a:ext uri="{FF2B5EF4-FFF2-40B4-BE49-F238E27FC236}">
                <a16:creationId xmlns:a16="http://schemas.microsoft.com/office/drawing/2014/main" id="{4AE38D1F-3BD0-4043-A0CE-84FD66838320}"/>
              </a:ext>
            </a:extLst>
          </p:cNvPr>
          <p:cNvSpPr txBox="1">
            <a:spLocks/>
          </p:cNvSpPr>
          <p:nvPr/>
        </p:nvSpPr>
        <p:spPr>
          <a:xfrm>
            <a:off x="3493706" y="3058450"/>
            <a:ext cx="23083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+5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</a:p>
        </p:txBody>
      </p:sp>
      <p:cxnSp>
        <p:nvCxnSpPr>
          <p:cNvPr id="169" name="직선 연결선 65">
            <a:extLst>
              <a:ext uri="{FF2B5EF4-FFF2-40B4-BE49-F238E27FC236}">
                <a16:creationId xmlns:a16="http://schemas.microsoft.com/office/drawing/2014/main" id="{69C9FBEC-58F0-40B3-9405-E5D21BE2BF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6832" y="3282135"/>
            <a:ext cx="601089" cy="0"/>
          </a:xfrm>
          <a:prstGeom prst="line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0" name="직선 연결선 65">
            <a:extLst>
              <a:ext uri="{FF2B5EF4-FFF2-40B4-BE49-F238E27FC236}">
                <a16:creationId xmlns:a16="http://schemas.microsoft.com/office/drawing/2014/main" id="{539D57BD-413B-4AB1-A849-5AA8E87515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06560" y="2933969"/>
            <a:ext cx="1036091" cy="0"/>
          </a:xfrm>
          <a:prstGeom prst="line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" name="화살표: 위쪽 170">
            <a:extLst>
              <a:ext uri="{FF2B5EF4-FFF2-40B4-BE49-F238E27FC236}">
                <a16:creationId xmlns:a16="http://schemas.microsoft.com/office/drawing/2014/main" id="{A87003E2-7A0B-46FC-B692-DE9C29BB6465}"/>
              </a:ext>
            </a:extLst>
          </p:cNvPr>
          <p:cNvSpPr/>
          <p:nvPr/>
        </p:nvSpPr>
        <p:spPr>
          <a:xfrm rot="10800000">
            <a:off x="4512188" y="2935471"/>
            <a:ext cx="252000" cy="748223"/>
          </a:xfrm>
          <a:prstGeom prst="upArrow">
            <a:avLst>
              <a:gd name="adj1" fmla="val 100000"/>
              <a:gd name="adj2" fmla="val 29119"/>
            </a:avLst>
          </a:prstGeom>
          <a:solidFill>
            <a:schemeClr val="bg1"/>
          </a:solidFill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72" name="직선 연결선 65">
            <a:extLst>
              <a:ext uri="{FF2B5EF4-FFF2-40B4-BE49-F238E27FC236}">
                <a16:creationId xmlns:a16="http://schemas.microsoft.com/office/drawing/2014/main" id="{478AD019-D563-40C5-8413-C134A9E892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34150" y="3683695"/>
            <a:ext cx="482902" cy="0"/>
          </a:xfrm>
          <a:prstGeom prst="line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3" name="제목 3">
            <a:extLst>
              <a:ext uri="{FF2B5EF4-FFF2-40B4-BE49-F238E27FC236}">
                <a16:creationId xmlns:a16="http://schemas.microsoft.com/office/drawing/2014/main" id="{17CB1969-B0CB-4D46-90C7-6145DDFB7A75}"/>
              </a:ext>
            </a:extLst>
          </p:cNvPr>
          <p:cNvSpPr txBox="1">
            <a:spLocks/>
          </p:cNvSpPr>
          <p:nvPr/>
        </p:nvSpPr>
        <p:spPr>
          <a:xfrm>
            <a:off x="4514212" y="2750535"/>
            <a:ext cx="617157" cy="1585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3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rPr>
              <a:t>➌ 목표달성</a:t>
            </a:r>
            <a:endParaRPr kumimoji="0" lang="ko-KR" altLang="en-US" sz="103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j-cs"/>
            </a:endParaRPr>
          </a:p>
        </p:txBody>
      </p:sp>
      <p:sp>
        <p:nvSpPr>
          <p:cNvPr id="174" name="제목 3">
            <a:extLst>
              <a:ext uri="{FF2B5EF4-FFF2-40B4-BE49-F238E27FC236}">
                <a16:creationId xmlns:a16="http://schemas.microsoft.com/office/drawing/2014/main" id="{690E3C0A-07F0-4509-81BC-AE45474C0017}"/>
              </a:ext>
            </a:extLst>
          </p:cNvPr>
          <p:cNvSpPr txBox="1">
            <a:spLocks/>
          </p:cNvSpPr>
          <p:nvPr/>
        </p:nvSpPr>
        <p:spPr>
          <a:xfrm>
            <a:off x="4523530" y="3201857"/>
            <a:ext cx="243656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Δ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16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j-cs"/>
              </a:rPr>
              <a:t>일</a:t>
            </a:r>
          </a:p>
        </p:txBody>
      </p: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C3DB9FE0-0A82-448D-9AB3-894F2EF3CC11}"/>
              </a:ext>
            </a:extLst>
          </p:cNvPr>
          <p:cNvCxnSpPr>
            <a:cxnSpLocks/>
          </p:cNvCxnSpPr>
          <p:nvPr/>
        </p:nvCxnSpPr>
        <p:spPr>
          <a:xfrm>
            <a:off x="847725" y="4852004"/>
            <a:ext cx="465664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A07F0C3-D18B-478F-9AB4-D21103FBD231}"/>
              </a:ext>
            </a:extLst>
          </p:cNvPr>
          <p:cNvSpPr txBox="1"/>
          <p:nvPr/>
        </p:nvSpPr>
        <p:spPr>
          <a:xfrm>
            <a:off x="4421443" y="437196"/>
            <a:ext cx="4944807" cy="2825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C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社 재고일수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 ’24.1Q 68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’25.1Q 94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社 재고일수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 ’24.1Q 72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’24.4Q 91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출처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공시자료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ABEC309D-81E1-43F1-BDFE-D8E8723F96E5}"/>
              </a:ext>
            </a:extLst>
          </p:cNvPr>
          <p:cNvSpPr/>
          <p:nvPr/>
        </p:nvSpPr>
        <p:spPr>
          <a:xfrm>
            <a:off x="8624274" y="1140426"/>
            <a:ext cx="303608" cy="162526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62FCA3E-7755-4082-B1E9-40D1990511BC}"/>
              </a:ext>
            </a:extLst>
          </p:cNvPr>
          <p:cNvSpPr txBox="1"/>
          <p:nvPr/>
        </p:nvSpPr>
        <p:spPr>
          <a:xfrm>
            <a:off x="847724" y="2549304"/>
            <a:ext cx="4166708" cy="222399"/>
          </a:xfrm>
          <a:prstGeom prst="rect">
            <a:avLst/>
          </a:prstGeom>
          <a:noFill/>
        </p:spPr>
        <p:txBody>
          <a:bodyPr wrap="square" lIns="0" tIns="0" rIns="0" bIns="18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자동차 이론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DIO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’25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년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’2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연 평균 목표 비교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066BF4FB-73DB-4DB3-848E-73FE2F424D5C}"/>
              </a:ext>
            </a:extLst>
          </p:cNvPr>
          <p:cNvGrpSpPr/>
          <p:nvPr/>
        </p:nvGrpSpPr>
        <p:grpSpPr>
          <a:xfrm>
            <a:off x="5555106" y="2809633"/>
            <a:ext cx="4150869" cy="1410643"/>
            <a:chOff x="431312" y="1812990"/>
            <a:chExt cx="4150869" cy="1410643"/>
          </a:xfrm>
        </p:grpSpPr>
        <p:sp>
          <p:nvSpPr>
            <p:cNvPr id="185" name="Text Box 118">
              <a:extLst>
                <a:ext uri="{FF2B5EF4-FFF2-40B4-BE49-F238E27FC236}">
                  <a16:creationId xmlns:a16="http://schemas.microsoft.com/office/drawing/2014/main" id="{2CA91138-27A8-4260-8CCD-42DAEF2F3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84" y="1812990"/>
              <a:ext cx="4108097" cy="1410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80000"/>
                <a:buFont typeface="Wingdings" pitchFamily="2" charset="2"/>
                <a:buChar char="q"/>
                <a:tabLst/>
                <a:defRPr/>
              </a:pP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[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계약재고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]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중장기 원재료 계약 재고 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46050" marR="0" lvl="0" indent="-7938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8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연간 구매 계약 수량 조정 및 잔여 재고 소진 강화</a:t>
              </a:r>
              <a:endParaRPr kumimoji="1" lang="en-US" altLang="ko-KR" sz="105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38112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- Toyota, Honda 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물동 감소에 따른 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Nichia 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양극재 중장기 계약 수량 재 협상 중</a:t>
              </a:r>
              <a:endParaRPr kumimoji="1" lang="en-US" altLang="ko-KR" sz="10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38112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- Ford 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물동 감소에 따른 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’25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년 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SQM 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탄산 리튬 계약분 조정 중 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(4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천톤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662</a:t>
              </a:r>
              <a:r>
                <a:rPr kumimoji="1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억</a:t>
              </a: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</a:p>
            <a:p>
              <a:pPr marL="138112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- Nichia 622 : HEV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신규개발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(HKMC, Ford, STLA)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모델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4M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후 소진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(’27.1Q~)</a:t>
              </a:r>
            </a:p>
            <a:p>
              <a:pPr marL="138112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- Nichia NCMA :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포르쉐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PPE41C,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현대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SV/CT 4M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검토 중</a:t>
              </a:r>
              <a:endPara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38112" marR="0" lvl="0" indent="0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-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유미코아 </a:t>
              </a: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: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OTS MEB Gen1 4M 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후 소진 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(’25.5</a:t>
              </a:r>
              <a:r>
                <a:rPr kumimoji="1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</a:t>
              </a:r>
              <a:r>
                <a:rPr kumimoji="1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  <a:endPara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5AC109B8-4700-4828-9257-A6A112F7916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312" y="1828691"/>
              <a:ext cx="162000" cy="1620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762000" rtl="0" eaLnBrk="1" fontAlgn="base" latinLnBrk="0" hangingPunct="1">
                <a:lnSpc>
                  <a:spcPct val="12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FAB7E504-7003-4040-BA23-A9C0BF2D22C9}"/>
              </a:ext>
            </a:extLst>
          </p:cNvPr>
          <p:cNvGrpSpPr/>
          <p:nvPr/>
        </p:nvGrpSpPr>
        <p:grpSpPr>
          <a:xfrm>
            <a:off x="5555106" y="4275325"/>
            <a:ext cx="4155005" cy="610424"/>
            <a:chOff x="261817" y="4478513"/>
            <a:chExt cx="4606948" cy="610424"/>
          </a:xfrm>
        </p:grpSpPr>
        <p:sp>
          <p:nvSpPr>
            <p:cNvPr id="188" name="Text Box 118">
              <a:extLst>
                <a:ext uri="{FF2B5EF4-FFF2-40B4-BE49-F238E27FC236}">
                  <a16:creationId xmlns:a16="http://schemas.microsoft.com/office/drawing/2014/main" id="{07599901-8A01-4886-BDB5-0B082772F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76" y="4478513"/>
              <a:ext cx="4549189" cy="6104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80000"/>
                <a:buFont typeface="Wingdings" pitchFamily="2" charset="2"/>
                <a:buChar char="q"/>
                <a:tabLst/>
                <a:defRPr/>
              </a:pP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[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선행비축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]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라인 제각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묶음 생산 등으로 인한 선행 생산 재고 비축</a:t>
              </a:r>
              <a:endParaRPr kumimoji="1" lang="en-US" altLang="ko-KR" sz="1200" b="0" i="0" u="none" strike="noStrike" kern="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46050" marR="0" lvl="0" indent="-7938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라인 제각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: FCA RU PHEV (A7), GM BEV Gen2 (N2.2), 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재고일수 영향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3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</a:t>
              </a:r>
              <a:endParaRPr kumimoji="1" lang="en-US" altLang="ko-KR" sz="105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46050" marR="0" lvl="0" indent="-7938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8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묶음 생산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: Audi 48V (F10), STLA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48V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(LV9.8A), 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재고일수 영향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2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</a:t>
              </a:r>
              <a:endPara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8BA5DDF2-5835-4F67-B3EF-2AF7A8A7D2B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817" y="4505969"/>
              <a:ext cx="179621" cy="1620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762000" rtl="0" eaLnBrk="1" fontAlgn="base" latinLnBrk="0" hangingPunct="1">
                <a:lnSpc>
                  <a:spcPct val="12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73525A30-BEF6-4E56-879F-CC78B51865D3}"/>
              </a:ext>
            </a:extLst>
          </p:cNvPr>
          <p:cNvGrpSpPr/>
          <p:nvPr/>
        </p:nvGrpSpPr>
        <p:grpSpPr>
          <a:xfrm>
            <a:off x="5555106" y="4986263"/>
            <a:ext cx="4149067" cy="810478"/>
            <a:chOff x="261817" y="4478513"/>
            <a:chExt cx="4600365" cy="810478"/>
          </a:xfrm>
        </p:grpSpPr>
        <p:sp>
          <p:nvSpPr>
            <p:cNvPr id="191" name="Text Box 118">
              <a:extLst>
                <a:ext uri="{FF2B5EF4-FFF2-40B4-BE49-F238E27FC236}">
                  <a16:creationId xmlns:a16="http://schemas.microsoft.com/office/drawing/2014/main" id="{EDE75BF8-C03E-4078-8A2E-4B3B1EEB6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577" y="4478513"/>
              <a:ext cx="4542605" cy="8104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Pct val="80000"/>
                <a:buFont typeface="Wingdings" pitchFamily="2" charset="2"/>
                <a:buChar char="q"/>
                <a:tabLst/>
                <a:defRPr/>
              </a:pP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[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목표달성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]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’27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년 재고일수 목표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65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 </a:t>
              </a:r>
              <a:r>
                <a:rPr kumimoji="1" lang="ko-KR" altLang="en-US" sz="1200" b="1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달성 방안</a:t>
              </a:r>
              <a:r>
                <a:rPr kumimoji="1" lang="ko-KR" altLang="en-US" sz="1200" b="0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200" b="0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</a:t>
              </a:r>
              <a:r>
                <a:rPr kumimoji="1" lang="ko-KR" altLang="en-US" sz="1200" b="0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 대비 </a:t>
              </a:r>
              <a:r>
                <a:rPr kumimoji="1" lang="el-GR" altLang="ko-KR" sz="12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Δ</a:t>
              </a:r>
              <a:r>
                <a:rPr kumimoji="1" lang="en-US" altLang="ko-KR" sz="12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16</a:t>
              </a:r>
              <a:r>
                <a:rPr kumimoji="1" lang="ko-KR" altLang="en-US" sz="12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</a:t>
              </a:r>
              <a:r>
                <a:rPr kumimoji="1" lang="en-US" altLang="ko-KR" sz="12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2F2F2"/>
                  </a:highlight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  <a:endParaRPr kumimoji="1" lang="en-US" altLang="ko-KR" sz="120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  <a:p>
              <a:pPr marL="146050" marR="0" lvl="0" indent="-7938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중장기 원재료 계약재고 최소화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</a:t>
              </a:r>
              <a:r>
                <a:rPr kumimoji="1" lang="el-GR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Δ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11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</a:p>
            <a:p>
              <a:pPr marL="146050" marR="0" lvl="0" indent="-7938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북미 </a:t>
              </a:r>
              <a:r>
                <a:rPr kumimoji="1" lang="en-US" altLang="ko-KR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VMI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전환 운영을 통한 원재료 재고 최소화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(</a:t>
              </a:r>
              <a:r>
                <a:rPr kumimoji="1" lang="el-GR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Δ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6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</a:p>
            <a:p>
              <a:pPr marL="146050" marR="0" lvl="0" indent="-7938" algn="l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8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생산 </a:t>
              </a:r>
              <a:r>
                <a:rPr kumimoji="1" lang="en-US" altLang="ko-KR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~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출하 </a:t>
              </a:r>
              <a:r>
                <a:rPr kumimoji="1" lang="en-US" altLang="ko-KR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L/T </a:t>
              </a:r>
              <a:r>
                <a:rPr kumimoji="1" lang="ko-KR" altLang="en-US" sz="1050" b="1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단축을 통한 재고 최소화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</a:t>
              </a:r>
              <a:r>
                <a:rPr kumimoji="1" lang="el-GR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Δ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3.6</a:t>
              </a:r>
              <a:r>
                <a:rPr kumimoji="1" lang="ko-KR" altLang="en-US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일</a:t>
              </a:r>
              <a:r>
                <a:rPr kumimoji="1" lang="en-US" altLang="ko-KR" sz="105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5719C6B3-5126-4A9C-9B83-D8B48ED457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817" y="4505969"/>
              <a:ext cx="179621" cy="1620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lvl="0" indent="0" algn="ctr" defTabSz="762000" rtl="0" eaLnBrk="1" fontAlgn="base" latinLnBrk="0" hangingPunct="1">
                <a:lnSpc>
                  <a:spcPct val="12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3</a:t>
              </a:r>
            </a:p>
          </p:txBody>
        </p:sp>
      </p:grp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5B109840-98CF-4D0F-BC09-E82AB0DACF70}"/>
              </a:ext>
            </a:extLst>
          </p:cNvPr>
          <p:cNvGraphicFramePr>
            <a:graphicFrameLocks noGrp="1"/>
          </p:cNvGraphicFramePr>
          <p:nvPr/>
        </p:nvGraphicFramePr>
        <p:xfrm>
          <a:off x="5826885" y="5840084"/>
          <a:ext cx="3665988" cy="751211"/>
        </p:xfrm>
        <a:graphic>
          <a:graphicData uri="http://schemas.openxmlformats.org/drawingml/2006/table">
            <a:tbl>
              <a:tblPr/>
              <a:tblGrid>
                <a:gridCol w="651318">
                  <a:extLst>
                    <a:ext uri="{9D8B030D-6E8A-4147-A177-3AD203B41FA5}">
                      <a16:colId xmlns:a16="http://schemas.microsoft.com/office/drawing/2014/main" val="2105197521"/>
                    </a:ext>
                  </a:extLst>
                </a:gridCol>
                <a:gridCol w="502445">
                  <a:extLst>
                    <a:ext uri="{9D8B030D-6E8A-4147-A177-3AD203B41FA5}">
                      <a16:colId xmlns:a16="http://schemas.microsoft.com/office/drawing/2014/main" val="2405796408"/>
                    </a:ext>
                  </a:extLst>
                </a:gridCol>
                <a:gridCol w="502445">
                  <a:extLst>
                    <a:ext uri="{9D8B030D-6E8A-4147-A177-3AD203B41FA5}">
                      <a16:colId xmlns:a16="http://schemas.microsoft.com/office/drawing/2014/main" val="4136807866"/>
                    </a:ext>
                  </a:extLst>
                </a:gridCol>
                <a:gridCol w="502445">
                  <a:extLst>
                    <a:ext uri="{9D8B030D-6E8A-4147-A177-3AD203B41FA5}">
                      <a16:colId xmlns:a16="http://schemas.microsoft.com/office/drawing/2014/main" val="160666115"/>
                    </a:ext>
                  </a:extLst>
                </a:gridCol>
                <a:gridCol w="502445">
                  <a:extLst>
                    <a:ext uri="{9D8B030D-6E8A-4147-A177-3AD203B41FA5}">
                      <a16:colId xmlns:a16="http://schemas.microsoft.com/office/drawing/2014/main" val="3293208113"/>
                    </a:ext>
                  </a:extLst>
                </a:gridCol>
                <a:gridCol w="502445">
                  <a:extLst>
                    <a:ext uri="{9D8B030D-6E8A-4147-A177-3AD203B41FA5}">
                      <a16:colId xmlns:a16="http://schemas.microsoft.com/office/drawing/2014/main" val="1013703510"/>
                    </a:ext>
                  </a:extLst>
                </a:gridCol>
                <a:gridCol w="502445">
                  <a:extLst>
                    <a:ext uri="{9D8B030D-6E8A-4147-A177-3AD203B41FA5}">
                      <a16:colId xmlns:a16="http://schemas.microsoft.com/office/drawing/2014/main" val="355209225"/>
                    </a:ext>
                  </a:extLst>
                </a:gridCol>
              </a:tblGrid>
              <a:tr h="4695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3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017441"/>
                  </a:ext>
                </a:extLst>
              </a:tr>
              <a:tr h="14085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 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 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 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 </a:t>
                      </a:r>
                      <a:r>
                        <a:rPr lang="en-US" altLang="ko-KR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제품 창고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11898"/>
                  </a:ext>
                </a:extLst>
              </a:tr>
              <a:tr h="14085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년말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A]</a:t>
                      </a:r>
                    </a:p>
                  </a:txBody>
                  <a:tcPr marL="108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29.9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8.5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14.2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2.3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4.8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842413"/>
                  </a:ext>
                </a:extLst>
              </a:tr>
              <a:tr h="14085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’25.3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B]</a:t>
                      </a:r>
                    </a:p>
                  </a:txBody>
                  <a:tcPr marL="108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27.9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8.6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13.9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4.0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19283"/>
                  </a:ext>
                </a:extLst>
              </a:tr>
              <a:tr h="14085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년말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C]</a:t>
                      </a:r>
                    </a:p>
                  </a:txBody>
                  <a:tcPr marL="108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26.3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7.8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12.5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2.3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440199"/>
                  </a:ext>
                </a:extLst>
              </a:tr>
              <a:tr h="1408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C]-[A]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0800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Δ3.6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  <a:endParaRPr lang="el-G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72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Δ0.7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Δ0.04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Δ1.7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Δ1.2</a:t>
                      </a:r>
                    </a:p>
                  </a:txBody>
                  <a:tcPr marL="0" marR="108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23715"/>
                  </a:ext>
                </a:extLst>
              </a:tr>
            </a:tbl>
          </a:graphicData>
        </a:graphic>
      </p:graphicFrame>
      <p:sp>
        <p:nvSpPr>
          <p:cNvPr id="194" name="TextBox 193">
            <a:extLst>
              <a:ext uri="{FF2B5EF4-FFF2-40B4-BE49-F238E27FC236}">
                <a16:creationId xmlns:a16="http://schemas.microsoft.com/office/drawing/2014/main" id="{B95D4E3D-035A-4BBC-AEBA-F6676B1CD097}"/>
              </a:ext>
            </a:extLst>
          </p:cNvPr>
          <p:cNvSpPr txBox="1"/>
          <p:nvPr/>
        </p:nvSpPr>
        <p:spPr>
          <a:xfrm>
            <a:off x="5555106" y="2549304"/>
            <a:ext cx="4166708" cy="222399"/>
          </a:xfrm>
          <a:prstGeom prst="rect">
            <a:avLst/>
          </a:prstGeom>
          <a:noFill/>
        </p:spPr>
        <p:txBody>
          <a:bodyPr wrap="square" lIns="0" tIns="0" rIns="0" bIns="18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주요 차이 현황 및 대책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605BEC7-2C5A-402D-B63B-0CF1CC7B697F}"/>
              </a:ext>
            </a:extLst>
          </p:cNvPr>
          <p:cNvSpPr txBox="1"/>
          <p:nvPr/>
        </p:nvSpPr>
        <p:spPr>
          <a:xfrm>
            <a:off x="8311638" y="2817841"/>
            <a:ext cx="1400040" cy="3836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’25.4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월말 기준 약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</a:t>
            </a:r>
            <a:b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연말까지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일로 개선중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연평균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달성</a:t>
            </a:r>
          </a:p>
        </p:txBody>
      </p:sp>
    </p:spTree>
    <p:extLst>
      <p:ext uri="{BB962C8B-B14F-4D97-AF65-F5344CB8AC3E}">
        <p14:creationId xmlns:p14="http://schemas.microsoft.com/office/powerpoint/2010/main" val="646805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타원 306">
            <a:extLst>
              <a:ext uri="{FF2B5EF4-FFF2-40B4-BE49-F238E27FC236}">
                <a16:creationId xmlns:a16="http://schemas.microsoft.com/office/drawing/2014/main" id="{95669DB0-6717-4C90-AE1A-164A9F858990}"/>
              </a:ext>
            </a:extLst>
          </p:cNvPr>
          <p:cNvSpPr/>
          <p:nvPr/>
        </p:nvSpPr>
        <p:spPr>
          <a:xfrm rot="1033628">
            <a:off x="2336686" y="1132436"/>
            <a:ext cx="1592010" cy="408459"/>
          </a:xfrm>
          <a:prstGeom prst="ellips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D3F08F22-D967-4AF7-84BF-CD63E9F7A6D9}"/>
              </a:ext>
            </a:extLst>
          </p:cNvPr>
          <p:cNvSpPr/>
          <p:nvPr/>
        </p:nvSpPr>
        <p:spPr>
          <a:xfrm rot="780000">
            <a:off x="3447263" y="1476035"/>
            <a:ext cx="2592155" cy="450602"/>
          </a:xfrm>
          <a:prstGeom prst="ellips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4B13CB0-1254-4F95-B5FF-91D249401681}"/>
              </a:ext>
            </a:extLst>
          </p:cNvPr>
          <p:cNvCxnSpPr>
            <a:cxnSpLocks/>
          </p:cNvCxnSpPr>
          <p:nvPr/>
        </p:nvCxnSpPr>
        <p:spPr>
          <a:xfrm flipH="1">
            <a:off x="209163" y="555028"/>
            <a:ext cx="24197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41">
            <a:extLst>
              <a:ext uri="{FF2B5EF4-FFF2-40B4-BE49-F238E27FC236}">
                <a16:creationId xmlns:a16="http://schemas.microsoft.com/office/drawing/2014/main" id="{A36D6E21-72B1-4B20-835D-E51C24667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095" y="217666"/>
            <a:ext cx="2178583" cy="33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381A5E-0D7E-43F0-A7A0-AB5144578D46}"/>
              </a:ext>
            </a:extLst>
          </p:cNvPr>
          <p:cNvSpPr txBox="1"/>
          <p:nvPr/>
        </p:nvSpPr>
        <p:spPr>
          <a:xfrm>
            <a:off x="4592959" y="6597650"/>
            <a:ext cx="720082" cy="260350"/>
          </a:xfrm>
          <a:prstGeom prst="rect">
            <a:avLst/>
          </a:prstGeom>
          <a:noFill/>
        </p:spPr>
        <p:txBody>
          <a:bodyPr wrap="square" lIns="77925" tIns="38963" rIns="77925" bIns="38963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5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BF1F32BB-40BF-4BBF-969F-1A945AF0DA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9159" y="201282"/>
            <a:ext cx="4543995" cy="353746"/>
          </a:xfrm>
        </p:spPr>
        <p:txBody>
          <a:bodyPr lIns="0" tIns="18000" rIns="0" bIns="18000">
            <a:noAutofit/>
          </a:bodyPr>
          <a:lstStyle/>
          <a:p>
            <a:r>
              <a:rPr lang="ko-KR" altLang="en-US" sz="20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전사 </a:t>
            </a:r>
            <a:r>
              <a:rPr lang="en-US" altLang="ko-KR" sz="20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DIO </a:t>
            </a:r>
            <a:r>
              <a:rPr lang="ko-KR" altLang="en-US" sz="20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진행 경과</a:t>
            </a:r>
          </a:p>
        </p:txBody>
      </p:sp>
      <p:graphicFrame>
        <p:nvGraphicFramePr>
          <p:cNvPr id="179" name="차트 178">
            <a:extLst>
              <a:ext uri="{FF2B5EF4-FFF2-40B4-BE49-F238E27FC236}">
                <a16:creationId xmlns:a16="http://schemas.microsoft.com/office/drawing/2014/main" id="{5EB42CA6-4E3C-412F-918C-F6AF00A867FF}"/>
              </a:ext>
            </a:extLst>
          </p:cNvPr>
          <p:cNvGraphicFramePr>
            <a:graphicFrameLocks/>
          </p:cNvGraphicFramePr>
          <p:nvPr/>
        </p:nvGraphicFramePr>
        <p:xfrm>
          <a:off x="474453" y="696816"/>
          <a:ext cx="6391542" cy="2199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9" name="표 208">
            <a:extLst>
              <a:ext uri="{FF2B5EF4-FFF2-40B4-BE49-F238E27FC236}">
                <a16:creationId xmlns:a16="http://schemas.microsoft.com/office/drawing/2014/main" id="{535A19AB-C9EF-4395-9FC7-022D9EDB8F38}"/>
              </a:ext>
            </a:extLst>
          </p:cNvPr>
          <p:cNvGraphicFramePr>
            <a:graphicFrameLocks noGrp="1"/>
          </p:cNvGraphicFramePr>
          <p:nvPr/>
        </p:nvGraphicFramePr>
        <p:xfrm>
          <a:off x="6870960" y="1015573"/>
          <a:ext cx="2737458" cy="987448"/>
        </p:xfrm>
        <a:graphic>
          <a:graphicData uri="http://schemas.openxmlformats.org/drawingml/2006/table">
            <a:tbl>
              <a:tblPr/>
              <a:tblGrid>
                <a:gridCol w="125153">
                  <a:extLst>
                    <a:ext uri="{9D8B030D-6E8A-4147-A177-3AD203B41FA5}">
                      <a16:colId xmlns:a16="http://schemas.microsoft.com/office/drawing/2014/main" val="3623060485"/>
                    </a:ext>
                  </a:extLst>
                </a:gridCol>
                <a:gridCol w="506817">
                  <a:extLst>
                    <a:ext uri="{9D8B030D-6E8A-4147-A177-3AD203B41FA5}">
                      <a16:colId xmlns:a16="http://schemas.microsoft.com/office/drawing/2014/main" val="2512548271"/>
                    </a:ext>
                  </a:extLst>
                </a:gridCol>
                <a:gridCol w="526372">
                  <a:extLst>
                    <a:ext uri="{9D8B030D-6E8A-4147-A177-3AD203B41FA5}">
                      <a16:colId xmlns:a16="http://schemas.microsoft.com/office/drawing/2014/main" val="913986688"/>
                    </a:ext>
                  </a:extLst>
                </a:gridCol>
                <a:gridCol w="526372">
                  <a:extLst>
                    <a:ext uri="{9D8B030D-6E8A-4147-A177-3AD203B41FA5}">
                      <a16:colId xmlns:a16="http://schemas.microsoft.com/office/drawing/2014/main" val="3249070969"/>
                    </a:ext>
                  </a:extLst>
                </a:gridCol>
                <a:gridCol w="526372">
                  <a:extLst>
                    <a:ext uri="{9D8B030D-6E8A-4147-A177-3AD203B41FA5}">
                      <a16:colId xmlns:a16="http://schemas.microsoft.com/office/drawing/2014/main" val="2594802533"/>
                    </a:ext>
                  </a:extLst>
                </a:gridCol>
                <a:gridCol w="526372">
                  <a:extLst>
                    <a:ext uri="{9D8B030D-6E8A-4147-A177-3AD203B41FA5}">
                      <a16:colId xmlns:a16="http://schemas.microsoft.com/office/drawing/2014/main" val="2079595907"/>
                    </a:ext>
                  </a:extLst>
                </a:gridCol>
              </a:tblGrid>
              <a:tr h="145224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 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36164"/>
                  </a:ext>
                </a:extLst>
              </a:tr>
              <a:tr h="14522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 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 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 상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Gap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761393"/>
                  </a:ext>
                </a:extLst>
              </a:tr>
              <a:tr h="17425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008" marR="6008" marT="6008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89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910917"/>
                  </a:ext>
                </a:extLst>
              </a:tr>
              <a:tr h="1742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81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+4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765286"/>
                  </a:ext>
                </a:extLst>
              </a:tr>
              <a:tr h="1742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</a:t>
                      </a:r>
                      <a:r>
                        <a:rPr lang="ko-KR" alt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45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42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41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18881"/>
                  </a:ext>
                </a:extLst>
              </a:tr>
              <a:tr h="1742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155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130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109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el-G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</a:t>
                      </a:r>
                    </a:p>
                  </a:txBody>
                  <a:tcPr marL="0" marR="12600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480460"/>
                  </a:ext>
                </a:extLst>
              </a:tr>
            </a:tbl>
          </a:graphicData>
        </a:graphic>
      </p:graphicFrame>
      <p:sp>
        <p:nvSpPr>
          <p:cNvPr id="210" name="TextBox 209">
            <a:extLst>
              <a:ext uri="{FF2B5EF4-FFF2-40B4-BE49-F238E27FC236}">
                <a16:creationId xmlns:a16="http://schemas.microsoft.com/office/drawing/2014/main" id="{7A8F5952-57E5-4AF2-A42F-3800F48CEE26}"/>
              </a:ext>
            </a:extLst>
          </p:cNvPr>
          <p:cNvSpPr txBox="1"/>
          <p:nvPr/>
        </p:nvSpPr>
        <p:spPr>
          <a:xfrm>
            <a:off x="6865994" y="838378"/>
            <a:ext cx="1457508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연평균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DIO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 대비 예상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36E9E8B-AD1A-4094-8E48-F30C4FCEFCB6}"/>
              </a:ext>
            </a:extLst>
          </p:cNvPr>
          <p:cNvSpPr txBox="1"/>
          <p:nvPr/>
        </p:nvSpPr>
        <p:spPr>
          <a:xfrm>
            <a:off x="9176097" y="1259759"/>
            <a:ext cx="274681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171450" marR="0" lvl="0" indent="-17145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62FA298-C919-4047-BA94-C1023A1E8B7D}"/>
              </a:ext>
            </a:extLst>
          </p:cNvPr>
          <p:cNvSpPr txBox="1"/>
          <p:nvPr/>
        </p:nvSpPr>
        <p:spPr>
          <a:xfrm>
            <a:off x="8249146" y="844361"/>
            <a:ext cx="112058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전사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KI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달성 예상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E181A0A-5251-45B1-B361-56FA4D9747DE}"/>
              </a:ext>
            </a:extLst>
          </p:cNvPr>
          <p:cNvSpPr txBox="1"/>
          <p:nvPr/>
        </p:nvSpPr>
        <p:spPr>
          <a:xfrm>
            <a:off x="6881665" y="3664111"/>
            <a:ext cx="1457508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공급망 리드타임 단축 계획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3C6A052-F89E-4674-A28F-E4F2CEE05E28}"/>
              </a:ext>
            </a:extLst>
          </p:cNvPr>
          <p:cNvSpPr txBox="1"/>
          <p:nvPr/>
        </p:nvSpPr>
        <p:spPr>
          <a:xfrm>
            <a:off x="9135677" y="3664111"/>
            <a:ext cx="476250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단위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32FA65BA-9EA0-45EF-AAE1-B53B9BBCD39E}"/>
              </a:ext>
            </a:extLst>
          </p:cNvPr>
          <p:cNvSpPr/>
          <p:nvPr/>
        </p:nvSpPr>
        <p:spPr bwMode="auto">
          <a:xfrm>
            <a:off x="201476" y="687591"/>
            <a:ext cx="539779" cy="200823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 고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 황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A199D03-1EF5-4FB7-8D42-DF74C8BFB0AF}"/>
              </a:ext>
            </a:extLst>
          </p:cNvPr>
          <p:cNvSpPr txBox="1"/>
          <p:nvPr/>
        </p:nvSpPr>
        <p:spPr>
          <a:xfrm>
            <a:off x="2421791" y="2497829"/>
            <a:ext cx="366570" cy="198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’24.1H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B6CA860-1179-4442-A181-F0C0E30AFE72}"/>
              </a:ext>
            </a:extLst>
          </p:cNvPr>
          <p:cNvSpPr txBox="1"/>
          <p:nvPr/>
        </p:nvSpPr>
        <p:spPr>
          <a:xfrm>
            <a:off x="3486075" y="2497829"/>
            <a:ext cx="366570" cy="198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2H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E32873E-E10B-46A5-8734-0877C2A78B1C}"/>
              </a:ext>
            </a:extLst>
          </p:cNvPr>
          <p:cNvSpPr txBox="1"/>
          <p:nvPr/>
        </p:nvSpPr>
        <p:spPr>
          <a:xfrm>
            <a:off x="4550359" y="2497829"/>
            <a:ext cx="366570" cy="198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’25.1H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1392CDA-D407-45FD-8A4C-F956D5354DD7}"/>
              </a:ext>
            </a:extLst>
          </p:cNvPr>
          <p:cNvSpPr txBox="1"/>
          <p:nvPr/>
        </p:nvSpPr>
        <p:spPr>
          <a:xfrm>
            <a:off x="5614644" y="2497829"/>
            <a:ext cx="366570" cy="198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9AB7808-40D6-4870-B3B7-3EC7155794E3}"/>
              </a:ext>
            </a:extLst>
          </p:cNvPr>
          <p:cNvSpPr txBox="1"/>
          <p:nvPr/>
        </p:nvSpPr>
        <p:spPr>
          <a:xfrm>
            <a:off x="1357507" y="2497829"/>
            <a:ext cx="366570" cy="198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’23.2H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44A5A1E-9580-4177-B5B1-478AD1B6E721}"/>
              </a:ext>
            </a:extLst>
          </p:cNvPr>
          <p:cNvSpPr txBox="1"/>
          <p:nvPr/>
        </p:nvSpPr>
        <p:spPr>
          <a:xfrm>
            <a:off x="992662" y="1176830"/>
            <a:ext cx="386363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5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A51EE2A-2726-490F-A45E-9AE53AEB70EF}"/>
              </a:ext>
            </a:extLst>
          </p:cNvPr>
          <p:cNvSpPr txBox="1"/>
          <p:nvPr/>
        </p:nvSpPr>
        <p:spPr>
          <a:xfrm>
            <a:off x="958158" y="2191454"/>
            <a:ext cx="386363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社</a:t>
            </a:r>
          </a:p>
        </p:txBody>
      </p: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FC6B824-1D0D-4198-9EB9-F638AFD20C37}"/>
              </a:ext>
            </a:extLst>
          </p:cNvPr>
          <p:cNvCxnSpPr>
            <a:cxnSpLocks/>
          </p:cNvCxnSpPr>
          <p:nvPr/>
        </p:nvCxnSpPr>
        <p:spPr>
          <a:xfrm>
            <a:off x="843215" y="2496889"/>
            <a:ext cx="525566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599E800F-BC61-4AF4-88D1-669D3835C073}"/>
              </a:ext>
            </a:extLst>
          </p:cNvPr>
          <p:cNvSpPr txBox="1"/>
          <p:nvPr/>
        </p:nvSpPr>
        <p:spPr>
          <a:xfrm>
            <a:off x="843215" y="687590"/>
            <a:ext cx="1368589" cy="276999"/>
          </a:xfrm>
          <a:prstGeom prst="rect">
            <a:avLst/>
          </a:prstGeom>
          <a:noFill/>
        </p:spPr>
        <p:txBody>
          <a:bodyPr wrap="square" lIns="0" tIns="1800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DIO Trend 】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0EA4A03-C056-4C56-A809-803A5E3BB53B}"/>
              </a:ext>
            </a:extLst>
          </p:cNvPr>
          <p:cNvSpPr txBox="1"/>
          <p:nvPr/>
        </p:nvSpPr>
        <p:spPr>
          <a:xfrm>
            <a:off x="958158" y="1062772"/>
            <a:ext cx="386363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자사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E51B5B-584C-4484-9AA4-441F70340ABF}"/>
              </a:ext>
            </a:extLst>
          </p:cNvPr>
          <p:cNvSpPr txBox="1"/>
          <p:nvPr/>
        </p:nvSpPr>
        <p:spPr>
          <a:xfrm>
            <a:off x="6881665" y="2377289"/>
            <a:ext cx="1457508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90488" marR="0" lvl="0" indent="-904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물동 계획 선제적 점검 효과</a:t>
            </a: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D6955C19-8020-43DD-B51C-219C23CB3BD7}"/>
              </a:ext>
            </a:extLst>
          </p:cNvPr>
          <p:cNvGrpSpPr/>
          <p:nvPr/>
        </p:nvGrpSpPr>
        <p:grpSpPr>
          <a:xfrm>
            <a:off x="6865994" y="2574697"/>
            <a:ext cx="618078" cy="561899"/>
            <a:chOff x="5321428" y="3225979"/>
            <a:chExt cx="1875291" cy="862307"/>
          </a:xfrm>
        </p:grpSpPr>
        <p:sp>
          <p:nvSpPr>
            <p:cNvPr id="267" name="직사각형 6">
              <a:extLst>
                <a:ext uri="{FF2B5EF4-FFF2-40B4-BE49-F238E27FC236}">
                  <a16:creationId xmlns:a16="http://schemas.microsoft.com/office/drawing/2014/main" id="{52284549-2A7F-4CC4-8C0B-D8C558130B69}"/>
                </a:ext>
              </a:extLst>
            </p:cNvPr>
            <p:cNvSpPr/>
            <p:nvPr/>
          </p:nvSpPr>
          <p:spPr>
            <a:xfrm>
              <a:off x="5321428" y="3468074"/>
              <a:ext cx="1875291" cy="620212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3600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기준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DIO</a:t>
              </a:r>
            </a:p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생산지표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4E451265-364C-4443-A775-30C45BA2FD6C}"/>
                </a:ext>
              </a:extLst>
            </p:cNvPr>
            <p:cNvSpPr/>
            <p:nvPr/>
          </p:nvSpPr>
          <p:spPr>
            <a:xfrm>
              <a:off x="5321428" y="3225979"/>
              <a:ext cx="1875291" cy="265806"/>
            </a:xfrm>
            <a:prstGeom prst="rect">
              <a:avLst/>
            </a:prstGeom>
            <a:solidFill>
              <a:srgbClr val="EAEAEA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기준 정립</a:t>
              </a:r>
            </a:p>
          </p:txBody>
        </p: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72C1760B-27DF-42B9-9515-3D9F57273BCF}"/>
              </a:ext>
            </a:extLst>
          </p:cNvPr>
          <p:cNvGrpSpPr/>
          <p:nvPr/>
        </p:nvGrpSpPr>
        <p:grpSpPr>
          <a:xfrm>
            <a:off x="7571702" y="2574757"/>
            <a:ext cx="618078" cy="561899"/>
            <a:chOff x="5321428" y="3225979"/>
            <a:chExt cx="1875291" cy="862307"/>
          </a:xfrm>
        </p:grpSpPr>
        <p:sp>
          <p:nvSpPr>
            <p:cNvPr id="270" name="직사각형 6">
              <a:extLst>
                <a:ext uri="{FF2B5EF4-FFF2-40B4-BE49-F238E27FC236}">
                  <a16:creationId xmlns:a16="http://schemas.microsoft.com/office/drawing/2014/main" id="{BA5596B6-9739-4405-B0F2-EEA7A59CC3B4}"/>
                </a:ext>
              </a:extLst>
            </p:cNvPr>
            <p:cNvSpPr/>
            <p:nvPr/>
          </p:nvSpPr>
          <p:spPr>
            <a:xfrm>
              <a:off x="5321428" y="3468074"/>
              <a:ext cx="1875291" cy="620212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3600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기준대로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계획수립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48ECEAA6-798E-4950-85A9-0A73986C4E9F}"/>
                </a:ext>
              </a:extLst>
            </p:cNvPr>
            <p:cNvSpPr/>
            <p:nvPr/>
          </p:nvSpPr>
          <p:spPr>
            <a:xfrm>
              <a:off x="5321428" y="3225979"/>
              <a:ext cx="1875291" cy="265806"/>
            </a:xfrm>
            <a:prstGeom prst="rect">
              <a:avLst/>
            </a:prstGeom>
            <a:solidFill>
              <a:srgbClr val="EAEAEA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계획 수립</a:t>
              </a: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D05313F1-A2EF-4B1A-9A38-0C108B2F56E2}"/>
              </a:ext>
            </a:extLst>
          </p:cNvPr>
          <p:cNvGrpSpPr/>
          <p:nvPr/>
        </p:nvGrpSpPr>
        <p:grpSpPr>
          <a:xfrm>
            <a:off x="8277410" y="2574757"/>
            <a:ext cx="618078" cy="561899"/>
            <a:chOff x="5321428" y="3225979"/>
            <a:chExt cx="1875291" cy="862307"/>
          </a:xfrm>
        </p:grpSpPr>
        <p:sp>
          <p:nvSpPr>
            <p:cNvPr id="273" name="직사각형 6">
              <a:extLst>
                <a:ext uri="{FF2B5EF4-FFF2-40B4-BE49-F238E27FC236}">
                  <a16:creationId xmlns:a16="http://schemas.microsoft.com/office/drawing/2014/main" id="{EEC99813-6B07-4C0C-AADD-1DEF87C17A2E}"/>
                </a:ext>
              </a:extLst>
            </p:cNvPr>
            <p:cNvSpPr/>
            <p:nvPr/>
          </p:nvSpPr>
          <p:spPr>
            <a:xfrm>
              <a:off x="5321428" y="3468074"/>
              <a:ext cx="1875291" cy="620212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3600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기준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DIO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초과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가동률 外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0F456CAA-DA72-424B-ADB6-58C4E3E6FD79}"/>
                </a:ext>
              </a:extLst>
            </p:cNvPr>
            <p:cNvSpPr/>
            <p:nvPr/>
          </p:nvSpPr>
          <p:spPr>
            <a:xfrm>
              <a:off x="5321428" y="3225979"/>
              <a:ext cx="1875291" cy="265806"/>
            </a:xfrm>
            <a:prstGeom prst="rect">
              <a:avLst/>
            </a:prstGeom>
            <a:solidFill>
              <a:srgbClr val="EAEAEA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계획 점검</a:t>
              </a:r>
            </a:p>
          </p:txBody>
        </p:sp>
      </p:grp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697A9483-1596-4166-A907-D9F9F94CB8F7}"/>
              </a:ext>
            </a:extLst>
          </p:cNvPr>
          <p:cNvGrpSpPr/>
          <p:nvPr/>
        </p:nvGrpSpPr>
        <p:grpSpPr>
          <a:xfrm>
            <a:off x="8983121" y="2574757"/>
            <a:ext cx="618078" cy="561899"/>
            <a:chOff x="5321428" y="3225979"/>
            <a:chExt cx="1875291" cy="862307"/>
          </a:xfrm>
        </p:grpSpPr>
        <p:sp>
          <p:nvSpPr>
            <p:cNvPr id="276" name="직사각형 6">
              <a:extLst>
                <a:ext uri="{FF2B5EF4-FFF2-40B4-BE49-F238E27FC236}">
                  <a16:creationId xmlns:a16="http://schemas.microsoft.com/office/drawing/2014/main" id="{B827028C-5863-4A57-A14B-BA75D67E459C}"/>
                </a:ext>
              </a:extLst>
            </p:cNvPr>
            <p:cNvSpPr/>
            <p:nvPr/>
          </p:nvSpPr>
          <p:spPr>
            <a:xfrm>
              <a:off x="5321428" y="3468074"/>
              <a:ext cx="1875291" cy="620212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3600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선행 최소화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</a:t>
              </a:r>
            </a:p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>
                  <a:tab pos="461963" algn="l"/>
                </a:tabLst>
                <a:defRPr/>
              </a:pP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제약 관리 外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7B31F4CC-54EF-4819-876A-6F7895615AC6}"/>
                </a:ext>
              </a:extLst>
            </p:cNvPr>
            <p:cNvSpPr/>
            <p:nvPr/>
          </p:nvSpPr>
          <p:spPr>
            <a:xfrm>
              <a:off x="5321428" y="3225979"/>
              <a:ext cx="1875291" cy="265806"/>
            </a:xfrm>
            <a:prstGeom prst="rect">
              <a:avLst/>
            </a:prstGeom>
            <a:solidFill>
              <a:srgbClr val="EAEAEA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5764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낭비 제거</a:t>
              </a:r>
            </a:p>
          </p:txBody>
        </p:sp>
      </p:grpSp>
      <p:cxnSp>
        <p:nvCxnSpPr>
          <p:cNvPr id="279" name="꺾인 연결선 26">
            <a:extLst>
              <a:ext uri="{FF2B5EF4-FFF2-40B4-BE49-F238E27FC236}">
                <a16:creationId xmlns:a16="http://schemas.microsoft.com/office/drawing/2014/main" id="{63933F1D-391C-400B-A2CB-751CF74AC50B}"/>
              </a:ext>
            </a:extLst>
          </p:cNvPr>
          <p:cNvCxnSpPr>
            <a:cxnSpLocks/>
          </p:cNvCxnSpPr>
          <p:nvPr/>
        </p:nvCxnSpPr>
        <p:spPr bwMode="auto">
          <a:xfrm flipH="1">
            <a:off x="7484241" y="2855706"/>
            <a:ext cx="87292" cy="0"/>
          </a:xfrm>
          <a:prstGeom prst="straightConnector1">
            <a:avLst/>
          </a:prstGeom>
          <a:noFill/>
          <a:ln w="3175" cap="rnd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80" name="꺾인 연결선 26">
            <a:extLst>
              <a:ext uri="{FF2B5EF4-FFF2-40B4-BE49-F238E27FC236}">
                <a16:creationId xmlns:a16="http://schemas.microsoft.com/office/drawing/2014/main" id="{66A16EC1-AAC2-46B0-9756-A7C9BAEB2B5D}"/>
              </a:ext>
            </a:extLst>
          </p:cNvPr>
          <p:cNvCxnSpPr>
            <a:cxnSpLocks/>
          </p:cNvCxnSpPr>
          <p:nvPr/>
        </p:nvCxnSpPr>
        <p:spPr bwMode="auto">
          <a:xfrm flipH="1">
            <a:off x="8189949" y="2855706"/>
            <a:ext cx="87292" cy="0"/>
          </a:xfrm>
          <a:prstGeom prst="straightConnector1">
            <a:avLst/>
          </a:prstGeom>
          <a:noFill/>
          <a:ln w="3175" cap="rnd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81" name="꺾인 연결선 26">
            <a:extLst>
              <a:ext uri="{FF2B5EF4-FFF2-40B4-BE49-F238E27FC236}">
                <a16:creationId xmlns:a16="http://schemas.microsoft.com/office/drawing/2014/main" id="{19FCE049-AE2C-4B37-9E77-8664F35A947F}"/>
              </a:ext>
            </a:extLst>
          </p:cNvPr>
          <p:cNvCxnSpPr>
            <a:cxnSpLocks/>
          </p:cNvCxnSpPr>
          <p:nvPr/>
        </p:nvCxnSpPr>
        <p:spPr bwMode="auto">
          <a:xfrm flipH="1">
            <a:off x="8895657" y="2855706"/>
            <a:ext cx="87292" cy="0"/>
          </a:xfrm>
          <a:prstGeom prst="straightConnector1">
            <a:avLst/>
          </a:prstGeom>
          <a:noFill/>
          <a:ln w="3175" cap="rnd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282" name="꺾인 연결선 342">
            <a:extLst>
              <a:ext uri="{FF2B5EF4-FFF2-40B4-BE49-F238E27FC236}">
                <a16:creationId xmlns:a16="http://schemas.microsoft.com/office/drawing/2014/main" id="{D3EE55AD-BC44-4FEA-B9BF-5D5E24909B20}"/>
              </a:ext>
            </a:extLst>
          </p:cNvPr>
          <p:cNvCxnSpPr>
            <a:cxnSpLocks/>
            <a:stCxn id="276" idx="2"/>
            <a:endCxn id="267" idx="2"/>
          </p:cNvCxnSpPr>
          <p:nvPr/>
        </p:nvCxnSpPr>
        <p:spPr>
          <a:xfrm rot="5400000" flipH="1">
            <a:off x="8233567" y="2078063"/>
            <a:ext cx="60" cy="2117127"/>
          </a:xfrm>
          <a:prstGeom prst="bentConnector3">
            <a:avLst>
              <a:gd name="adj1" fmla="val -484193333"/>
            </a:avLst>
          </a:prstGeom>
          <a:ln w="3175">
            <a:solidFill>
              <a:schemeClr val="tx1">
                <a:lumMod val="75000"/>
                <a:lumOff val="25000"/>
              </a:schemeClr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EE3A4218-57ED-41E7-8576-9253E710DE26}"/>
              </a:ext>
            </a:extLst>
          </p:cNvPr>
          <p:cNvCxnSpPr>
            <a:cxnSpLocks/>
          </p:cNvCxnSpPr>
          <p:nvPr/>
        </p:nvCxnSpPr>
        <p:spPr>
          <a:xfrm flipV="1">
            <a:off x="8942321" y="3029177"/>
            <a:ext cx="0" cy="144000"/>
          </a:xfrm>
          <a:prstGeom prst="straightConnector1">
            <a:avLst/>
          </a:prstGeom>
          <a:ln w="6350">
            <a:solidFill>
              <a:srgbClr val="0066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4F350503-1A39-4389-94A4-2A2CAFD35434}"/>
              </a:ext>
            </a:extLst>
          </p:cNvPr>
          <p:cNvSpPr txBox="1"/>
          <p:nvPr/>
        </p:nvSpPr>
        <p:spPr>
          <a:xfrm>
            <a:off x="7846051" y="3366508"/>
            <a:ext cx="774074" cy="12580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 Weekly cycle 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점검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A4E4DB6E-DD1C-41B9-A6DC-460C508DCA3D}"/>
              </a:ext>
            </a:extLst>
          </p:cNvPr>
          <p:cNvGraphicFramePr>
            <a:graphicFrameLocks noGrp="1"/>
          </p:cNvGraphicFramePr>
          <p:nvPr/>
        </p:nvGraphicFramePr>
        <p:xfrm>
          <a:off x="6865995" y="3839523"/>
          <a:ext cx="2735204" cy="1034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365">
                  <a:extLst>
                    <a:ext uri="{9D8B030D-6E8A-4147-A177-3AD203B41FA5}">
                      <a16:colId xmlns:a16="http://schemas.microsoft.com/office/drawing/2014/main" val="3119904244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2689515846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957932978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4077473059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367635801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1790473042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217050677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294775716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3190656177"/>
                    </a:ext>
                  </a:extLst>
                </a:gridCol>
                <a:gridCol w="265871">
                  <a:extLst>
                    <a:ext uri="{9D8B030D-6E8A-4147-A177-3AD203B41FA5}">
                      <a16:colId xmlns:a16="http://schemas.microsoft.com/office/drawing/2014/main" val="377361593"/>
                    </a:ext>
                  </a:extLst>
                </a:gridCol>
              </a:tblGrid>
              <a:tr h="66150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 분</a:t>
                      </a:r>
                    </a:p>
                  </a:txBody>
                  <a:tcPr marL="0" marR="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체</a:t>
                      </a: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975890"/>
                  </a:ext>
                </a:extLst>
              </a:tr>
              <a:tr h="66150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 재</a:t>
                      </a: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 산</a:t>
                      </a: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운 송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513564"/>
                  </a:ext>
                </a:extLst>
              </a:tr>
              <a:tr h="262703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</a:t>
                      </a: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 하</a:t>
                      </a: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법인간</a:t>
                      </a:r>
                      <a:endParaRPr lang="en-US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 객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3600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345842"/>
                  </a:ext>
                </a:extLst>
              </a:tr>
              <a:tr h="158032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’24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년말</a:t>
                      </a:r>
                    </a:p>
                  </a:txBody>
                  <a:tcPr marL="1800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86.2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10.3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11.1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6.4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513237"/>
                  </a:ext>
                </a:extLst>
              </a:tr>
              <a:tr h="158032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’25.4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1800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84.1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52.5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10.1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10.7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6.4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406282"/>
                  </a:ext>
                </a:extLst>
              </a:tr>
              <a:tr h="158032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</a:t>
                      </a:r>
                      <a:r>
                        <a:rPr lang="ko-KR" alt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년말</a:t>
                      </a:r>
                    </a:p>
                  </a:txBody>
                  <a:tcPr marL="1800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76.6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47.8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9.9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9.8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05145"/>
                  </a:ext>
                </a:extLst>
              </a:tr>
              <a:tr h="14777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Gap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Δ9.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endParaRPr lang="el-G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Δ4.7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el-G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el-G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</a:t>
                      </a:r>
                      <a:endParaRPr lang="el-G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el-G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l-G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46695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E61DEF74-29F9-43F7-944D-485BAE42FCBB}"/>
              </a:ext>
            </a:extLst>
          </p:cNvPr>
          <p:cNvSpPr txBox="1"/>
          <p:nvPr/>
        </p:nvSpPr>
        <p:spPr>
          <a:xfrm>
            <a:off x="4884481" y="959471"/>
            <a:ext cx="647956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실적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63DFB5CB-6FE7-4DA7-A8CF-09C7E2A0994B}"/>
              </a:ext>
            </a:extLst>
          </p:cNvPr>
          <p:cNvSpPr>
            <a:spLocks noChangeAspect="1"/>
          </p:cNvSpPr>
          <p:nvPr/>
        </p:nvSpPr>
        <p:spPr>
          <a:xfrm>
            <a:off x="7684266" y="3870810"/>
            <a:ext cx="108000" cy="108000"/>
          </a:xfrm>
          <a:prstGeom prst="ellipse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C06C195F-253D-481E-B2D4-561706C06730}"/>
              </a:ext>
            </a:extLst>
          </p:cNvPr>
          <p:cNvSpPr>
            <a:spLocks noChangeAspect="1"/>
          </p:cNvSpPr>
          <p:nvPr/>
        </p:nvSpPr>
        <p:spPr>
          <a:xfrm>
            <a:off x="8751516" y="3870810"/>
            <a:ext cx="108000" cy="108000"/>
          </a:xfrm>
          <a:prstGeom prst="ellipse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536187BA-E788-4CDF-B813-ABF80C31789C}"/>
              </a:ext>
            </a:extLst>
          </p:cNvPr>
          <p:cNvSpPr/>
          <p:nvPr/>
        </p:nvSpPr>
        <p:spPr bwMode="auto">
          <a:xfrm>
            <a:off x="201476" y="2787262"/>
            <a:ext cx="539779" cy="780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108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’24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결 과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42B5BE17-03BC-43D7-BDE0-23586E071094}"/>
              </a:ext>
            </a:extLst>
          </p:cNvPr>
          <p:cNvSpPr/>
          <p:nvPr/>
        </p:nvSpPr>
        <p:spPr bwMode="auto">
          <a:xfrm>
            <a:off x="201476" y="3689867"/>
            <a:ext cx="539779" cy="29014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0" rIns="91440" bIns="21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경 과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 획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4" name="Text Box 118">
            <a:extLst>
              <a:ext uri="{FF2B5EF4-FFF2-40B4-BE49-F238E27FC236}">
                <a16:creationId xmlns:a16="http://schemas.microsoft.com/office/drawing/2014/main" id="{F9738CF0-7A56-4DAE-B845-FE1612B05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16" y="2787261"/>
            <a:ext cx="5543298" cy="788728"/>
          </a:xfrm>
          <a:prstGeom prst="rect">
            <a:avLst/>
          </a:prstGeom>
          <a:noFill/>
        </p:spPr>
        <p:txBody>
          <a:bodyPr wrap="square" lIns="0" tIns="18000" rIns="36000" bIns="0" rtlCol="0">
            <a:noAutofit/>
          </a:bodyPr>
          <a:lstStyle>
            <a:defPPr>
              <a:defRPr lang="en-US"/>
            </a:defPPr>
            <a:lvl1pPr marL="92075" lvl="0" indent="-92075" defTabSz="914400" latinLnBrk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3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[SCM 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기본기 강화를 통해 전년 동기 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(’24.1H)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대비 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축소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  <a:p>
            <a:pPr marL="206375" marR="0" lvl="0" indent="-153988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제품 및 반제품 물동 계획의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선제적 점검을 통한 재고 건전성 확보</a:t>
            </a:r>
            <a:endParaRPr kumimoji="0" lang="en-US" altLang="ko-KR" sz="1100" b="1" i="0" u="none" strike="noStrike" kern="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206375" marR="0" lvl="0" indent="-153988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’24</a:t>
            </a: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말 전사 </a:t>
            </a: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 </a:t>
            </a: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컨트롤 타워 조직 신설 후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기준 재고 수준 축소 및 선행 비축 재고 통제 강화</a:t>
            </a:r>
            <a:endParaRPr kumimoji="0" lang="en-US" altLang="ko-KR" sz="1100" b="1" i="0" u="none" strike="noStrike" kern="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5" name="Text Box 118">
            <a:extLst>
              <a:ext uri="{FF2B5EF4-FFF2-40B4-BE49-F238E27FC236}">
                <a16:creationId xmlns:a16="http://schemas.microsoft.com/office/drawing/2014/main" id="{EAD8B0C7-6E76-4B66-8D45-AF692625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16" y="3689868"/>
            <a:ext cx="5543298" cy="2216977"/>
          </a:xfrm>
          <a:prstGeom prst="rect">
            <a:avLst/>
          </a:prstGeom>
          <a:noFill/>
        </p:spPr>
        <p:txBody>
          <a:bodyPr wrap="square" lIns="0" tIns="18000" rIns="36000" bIns="0" rtlCol="0">
            <a:noAutofit/>
          </a:bodyPr>
          <a:lstStyle>
            <a:defPPr>
              <a:defRPr lang="en-US"/>
            </a:defPPr>
            <a:lvl1pPr marL="92075" lvl="0" indent="-92075" defTabSz="914400" latinLnBrk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3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공급망 리드타임 개선 및 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 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 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역량 강화 추진 중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  <a:p>
            <a:pPr marL="206375" marR="0" lvl="0" indent="-153988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재고수준</a:t>
            </a:r>
            <a:r>
              <a:rPr kumimoji="0" lang="ko-KR" altLang="en-US" sz="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↓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공급 유연성</a:t>
            </a:r>
            <a:r>
              <a:rPr kumimoji="0" lang="ko-KR" altLang="en-US" sz="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↑ 위해 공급망 리드타임 전년 대비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9.6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개선 목표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(2.1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감소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➊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UC/GM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원재료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VMI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협의 지연 중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구매센터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자사 제안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VMI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물류비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운송비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창고비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경쟁력 부족 이유로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UC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구매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Director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 부정적 입장 표명하여</a:t>
            </a:r>
            <a:b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UC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법인장 주도 하 자재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전략구매 담당이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UC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구매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Director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 협의 중</a:t>
            </a: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➋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공정간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작업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출하 리드타임 일정대로 개선 중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생산센터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기술그룹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/SCM)</a:t>
            </a:r>
            <a:b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공정간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출하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관리 기준 수립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적용 및 모니터링 진행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~),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작업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활성화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Aging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단축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(~11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➌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 현지화 일정대로 개선 중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(SCM)</a:t>
            </a:r>
            <a:b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소형 전극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오창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),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자동차 셀 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르노</a:t>
            </a:r>
            <a:r>
              <a:rPr kumimoji="0" lang="en-US" altLang="ko-KR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), ESS ESMI </a:t>
            </a:r>
            <a:r>
              <a:rPr kumimoji="0" lang="ko-KR" altLang="en-US" sz="10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현지 양산 시작 完</a:t>
            </a:r>
            <a:endParaRPr kumimoji="0" lang="en-US" altLang="ko-KR" sz="1100" b="0" i="0" u="none" strike="noStrike" kern="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206375" marR="0" lvl="0" indent="-153988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최적화 알고리즘을 활용한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 수립 및 </a:t>
            </a:r>
            <a:r>
              <a:rPr kumimoji="0" lang="en-US" altLang="ko-KR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 AI Agent </a:t>
            </a:r>
            <a:r>
              <a:rPr kumimoji="0" lang="ko-KR" altLang="en-US" sz="11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구축 중</a:t>
            </a: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b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1100" b="0" i="0" u="none" strike="noStrike" kern="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6" name="Text Box 118">
            <a:extLst>
              <a:ext uri="{FF2B5EF4-FFF2-40B4-BE49-F238E27FC236}">
                <a16:creationId xmlns:a16="http://schemas.microsoft.com/office/drawing/2014/main" id="{7269EAD6-8564-4BB7-B0F7-59467A3DD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16" y="5898529"/>
            <a:ext cx="5543298" cy="692772"/>
          </a:xfrm>
          <a:prstGeom prst="rect">
            <a:avLst/>
          </a:prstGeom>
          <a:noFill/>
        </p:spPr>
        <p:txBody>
          <a:bodyPr wrap="square" lIns="0" tIns="18000" rIns="36000" bIns="0" rtlCol="0">
            <a:noAutofit/>
          </a:bodyPr>
          <a:lstStyle>
            <a:defPPr>
              <a:defRPr lang="en-US"/>
            </a:defPPr>
            <a:lvl1pPr marL="92075" lvl="0" indent="-92075" defTabSz="914400" latinLnBrk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3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중장기 원재료 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양극재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메탈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계약재고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중</a:t>
            </a:r>
            <a:r>
              <a:rPr kumimoji="0" lang="en-US" altLang="ko-KR" sz="1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2F2F2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</a:p>
          <a:p>
            <a:pPr marL="206375" marR="0" lvl="0" indent="-153988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니치아</a:t>
            </a: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유미코아</a:t>
            </a: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/SQM</a:t>
            </a: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의무 매입 수량 및 시점 조정을 통해 </a:t>
            </a:r>
            <a:r>
              <a:rPr kumimoji="0" lang="en-US" altLang="ko-KR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3.2</a:t>
            </a:r>
            <a:r>
              <a:rPr kumimoji="0" lang="ko-KR" altLang="en-US" sz="11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감축 중</a:t>
            </a:r>
            <a:endParaRPr kumimoji="0" lang="en-US" altLang="ko-KR" sz="1100" b="0" i="0" u="none" strike="noStrike" kern="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448BEA1A-D738-4488-9A75-54C53BB5ACA9}"/>
              </a:ext>
            </a:extLst>
          </p:cNvPr>
          <p:cNvSpPr/>
          <p:nvPr/>
        </p:nvSpPr>
        <p:spPr bwMode="auto">
          <a:xfrm>
            <a:off x="201476" y="2787261"/>
            <a:ext cx="181263" cy="18000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+mn-cs"/>
              </a:rPr>
              <a:t>1</a:t>
            </a: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C04ED53B-C064-4903-BC94-11D509388241}"/>
              </a:ext>
            </a:extLst>
          </p:cNvPr>
          <p:cNvSpPr/>
          <p:nvPr/>
        </p:nvSpPr>
        <p:spPr bwMode="auto">
          <a:xfrm>
            <a:off x="201476" y="3689867"/>
            <a:ext cx="181263" cy="18000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+mn-cs"/>
              </a:rPr>
              <a:t>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E4E437A-11B3-4AE5-A429-C217B6EF9E5F}"/>
              </a:ext>
            </a:extLst>
          </p:cNvPr>
          <p:cNvSpPr/>
          <p:nvPr/>
        </p:nvSpPr>
        <p:spPr>
          <a:xfrm>
            <a:off x="4191000" y="3734586"/>
            <a:ext cx="585788" cy="176835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9.6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</a:t>
            </a:r>
            <a:r>
              <a:rPr kumimoji="0" lang="el-GR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α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↓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CB4C0F7B-2523-4B45-A367-48066F8169C9}"/>
              </a:ext>
            </a:extLst>
          </p:cNvPr>
          <p:cNvSpPr/>
          <p:nvPr/>
        </p:nvSpPr>
        <p:spPr>
          <a:xfrm>
            <a:off x="3614865" y="5945745"/>
            <a:ext cx="418624" cy="176835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3.2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일↓ </a:t>
            </a:r>
          </a:p>
        </p:txBody>
      </p:sp>
      <p:sp>
        <p:nvSpPr>
          <p:cNvPr id="306" name="직사각형 305">
            <a:extLst>
              <a:ext uri="{FF2B5EF4-FFF2-40B4-BE49-F238E27FC236}">
                <a16:creationId xmlns:a16="http://schemas.microsoft.com/office/drawing/2014/main" id="{DA48AC6F-65D2-455F-B8DB-562147DC68B7}"/>
              </a:ext>
            </a:extLst>
          </p:cNvPr>
          <p:cNvSpPr/>
          <p:nvPr/>
        </p:nvSpPr>
        <p:spPr bwMode="auto">
          <a:xfrm>
            <a:off x="5264475" y="1503793"/>
            <a:ext cx="177842" cy="181514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+mn-cs"/>
              </a:rPr>
              <a:t>2</a:t>
            </a: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1D2BBB3B-49DB-40BA-B9E0-EE5F9CA5E16E}"/>
              </a:ext>
            </a:extLst>
          </p:cNvPr>
          <p:cNvSpPr/>
          <p:nvPr/>
        </p:nvSpPr>
        <p:spPr bwMode="auto">
          <a:xfrm>
            <a:off x="3099788" y="1057062"/>
            <a:ext cx="181263" cy="180000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LG스마트체 Regular" panose="020B0600000101010101" pitchFamily="50" charset="-127"/>
                <a:cs typeface="+mn-cs"/>
              </a:rPr>
              <a:t>1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F9B5FE2-C7BA-4DDB-BFED-394921C05F75}"/>
              </a:ext>
            </a:extLst>
          </p:cNvPr>
          <p:cNvSpPr txBox="1"/>
          <p:nvPr/>
        </p:nvSpPr>
        <p:spPr>
          <a:xfrm>
            <a:off x="8500096" y="3187848"/>
            <a:ext cx="887024" cy="12580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1,500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만셀 감량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일↓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B4C1580-2E2E-42F7-B4A6-AB8D72EA5177}"/>
              </a:ext>
            </a:extLst>
          </p:cNvPr>
          <p:cNvSpPr txBox="1"/>
          <p:nvPr/>
        </p:nvSpPr>
        <p:spPr>
          <a:xfrm>
            <a:off x="4529629" y="562491"/>
            <a:ext cx="20754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C</a:t>
            </a:r>
            <a:r>
              <a:rPr kumimoji="0" lang="ko-KR" altLang="en-US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社 </a:t>
            </a:r>
            <a:r>
              <a:rPr kumimoji="0" lang="en-US" altLang="ko-KR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</a:t>
            </a:r>
            <a:r>
              <a:rPr kumimoji="0" lang="ko-KR" altLang="en-US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ESS </a:t>
            </a:r>
            <a:r>
              <a:rPr kumimoji="0" lang="ko-KR" altLang="en-US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선행 재고 비축 및 매출 인식 지연</a:t>
            </a:r>
            <a:r>
              <a:rPr kumimoji="0" lang="en-US" altLang="ko-KR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0" lang="en-US" altLang="ko-KR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     </a:t>
            </a:r>
            <a:r>
              <a:rPr kumimoji="0" lang="ko-KR" altLang="en-US" sz="800" b="0" i="0" u="none" strike="noStrike" kern="0" cap="none" spc="-2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저가 원재료 비축 등 재고 수준 지속 증가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28A9844-61DC-49BC-92C9-4AEBA45DBBBB}"/>
              </a:ext>
            </a:extLst>
          </p:cNvPr>
          <p:cNvSpPr txBox="1"/>
          <p:nvPr/>
        </p:nvSpPr>
        <p:spPr>
          <a:xfrm>
            <a:off x="4348010" y="3515970"/>
            <a:ext cx="126663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└ 기준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DIO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작년 대비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4.8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일↓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2F2D774-2A6E-4B7C-8F4C-98712C19D9D3}"/>
              </a:ext>
            </a:extLst>
          </p:cNvPr>
          <p:cNvSpPr txBox="1"/>
          <p:nvPr/>
        </p:nvSpPr>
        <p:spPr>
          <a:xfrm>
            <a:off x="6882424" y="5096679"/>
            <a:ext cx="2010124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중장기 원재료 계약재고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기말 예상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8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D66F53B-006E-4403-B083-767D7B912891}"/>
              </a:ext>
            </a:extLst>
          </p:cNvPr>
          <p:cNvSpPr txBox="1"/>
          <p:nvPr/>
        </p:nvSpPr>
        <p:spPr>
          <a:xfrm>
            <a:off x="8668285" y="5107332"/>
            <a:ext cx="943642" cy="152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단위 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억원</a:t>
            </a:r>
            <a:r>
              <a:rPr kumimoji="0" lang="en-US" altLang="ko-KR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3" name="실행 단추: 앞으로 또는 다음 8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AE68BEB-668B-47F3-B909-E5A2E444E5A9}"/>
              </a:ext>
            </a:extLst>
          </p:cNvPr>
          <p:cNvSpPr>
            <a:spLocks noChangeAspect="1"/>
          </p:cNvSpPr>
          <p:nvPr/>
        </p:nvSpPr>
        <p:spPr>
          <a:xfrm>
            <a:off x="8564978" y="5126197"/>
            <a:ext cx="108000" cy="108000"/>
          </a:xfrm>
          <a:prstGeom prst="actionButtonForwardNex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FF81189-5864-4BD2-998B-EA97AB2D8013}"/>
              </a:ext>
            </a:extLst>
          </p:cNvPr>
          <p:cNvGrpSpPr/>
          <p:nvPr/>
        </p:nvGrpSpPr>
        <p:grpSpPr>
          <a:xfrm>
            <a:off x="6924537" y="5320468"/>
            <a:ext cx="530048" cy="291206"/>
            <a:chOff x="6924537" y="5467423"/>
            <a:chExt cx="530048" cy="29120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22B7744-2102-4B13-96B6-EB2B2E06F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548" b="89950" l="2890" r="95954">
                          <a14:foregroundMark x1="92486" y1="20603" x2="92486" y2="20603"/>
                          <a14:foregroundMark x1="7514" y1="84422" x2="7514" y2="84422"/>
                          <a14:foregroundMark x1="95954" y1="16583" x2="95954" y2="16583"/>
                          <a14:foregroundMark x1="2890" y1="89447" x2="2890" y2="89447"/>
                          <a14:backgroundMark x1="1156" y1="88945" x2="1156" y2="8894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27646" y="5612612"/>
              <a:ext cx="126939" cy="146017"/>
            </a:xfrm>
            <a:prstGeom prst="rect">
              <a:avLst/>
            </a:prstGeom>
          </p:spPr>
        </p:pic>
        <p:sp>
          <p:nvSpPr>
            <p:cNvPr id="116" name="자유형 147">
              <a:extLst>
                <a:ext uri="{FF2B5EF4-FFF2-40B4-BE49-F238E27FC236}">
                  <a16:creationId xmlns:a16="http://schemas.microsoft.com/office/drawing/2014/main" id="{E32AACD9-7FE6-4521-A52D-73AC4F4ACC56}"/>
                </a:ext>
              </a:extLst>
            </p:cNvPr>
            <p:cNvSpPr>
              <a:spLocks/>
            </p:cNvSpPr>
            <p:nvPr/>
          </p:nvSpPr>
          <p:spPr>
            <a:xfrm>
              <a:off x="6924537" y="5467423"/>
              <a:ext cx="105444" cy="104291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20" name="자유형 147">
              <a:extLst>
                <a:ext uri="{FF2B5EF4-FFF2-40B4-BE49-F238E27FC236}">
                  <a16:creationId xmlns:a16="http://schemas.microsoft.com/office/drawing/2014/main" id="{A6A5683E-E537-4718-B7B5-CA5212CFF7EA}"/>
                </a:ext>
              </a:extLst>
            </p:cNvPr>
            <p:cNvSpPr>
              <a:spLocks/>
            </p:cNvSpPr>
            <p:nvPr/>
          </p:nvSpPr>
          <p:spPr>
            <a:xfrm>
              <a:off x="6924537" y="5636335"/>
              <a:ext cx="105444" cy="104291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solidFill>
              <a:srgbClr val="004F9F"/>
            </a:soli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06581F1-605E-4FC5-931C-2412C1CFF280}"/>
                </a:ext>
              </a:extLst>
            </p:cNvPr>
            <p:cNvSpPr txBox="1"/>
            <p:nvPr/>
          </p:nvSpPr>
          <p:spPr>
            <a:xfrm>
              <a:off x="7059827" y="5478462"/>
              <a:ext cx="289342" cy="886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전</a:t>
              </a:r>
              <a:r>
                <a:rPr kumimoji="0" lang="ko-KR" alt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 </a:t>
              </a:r>
              <a:r>
                <a:rPr kumimoji="0" lang="ko-KR" alt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체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BA09419-CFE4-4192-99BB-61ECF3429034}"/>
                </a:ext>
              </a:extLst>
            </p:cNvPr>
            <p:cNvSpPr txBox="1"/>
            <p:nvPr/>
          </p:nvSpPr>
          <p:spPr>
            <a:xfrm>
              <a:off x="7059827" y="5647374"/>
              <a:ext cx="289342" cy="886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04F9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니치아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5029E22-0AF0-41B8-B563-C3F3797845E4}"/>
              </a:ext>
            </a:extLst>
          </p:cNvPr>
          <p:cNvGrpSpPr/>
          <p:nvPr/>
        </p:nvGrpSpPr>
        <p:grpSpPr>
          <a:xfrm>
            <a:off x="6875251" y="5484244"/>
            <a:ext cx="2734572" cy="1148466"/>
            <a:chOff x="6875251" y="5625494"/>
            <a:chExt cx="2734572" cy="1007216"/>
          </a:xfrm>
        </p:grpSpPr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74EB3C72-DBE5-4F82-BAC6-0146EC789330}"/>
                </a:ext>
              </a:extLst>
            </p:cNvPr>
            <p:cNvSpPr>
              <a:spLocks/>
            </p:cNvSpPr>
            <p:nvPr/>
          </p:nvSpPr>
          <p:spPr>
            <a:xfrm>
              <a:off x="7455195" y="5963483"/>
              <a:ext cx="216000" cy="504000"/>
            </a:xfrm>
            <a:custGeom>
              <a:avLst/>
              <a:gdLst>
                <a:gd name="connsiteX0" fmla="*/ 0 w 435600"/>
                <a:gd name="connsiteY0" fmla="*/ 0 h 3114948"/>
                <a:gd name="connsiteX1" fmla="*/ 312498 w 435600"/>
                <a:gd name="connsiteY1" fmla="*/ 0 h 3114948"/>
                <a:gd name="connsiteX2" fmla="*/ 360869 w 435600"/>
                <a:gd name="connsiteY2" fmla="*/ 34478 h 3114948"/>
                <a:gd name="connsiteX3" fmla="*/ 416850 w 435600"/>
                <a:gd name="connsiteY3" fmla="*/ 117631 h 3114948"/>
                <a:gd name="connsiteX4" fmla="*/ 417665 w 435600"/>
                <a:gd name="connsiteY4" fmla="*/ 118442 h 3114948"/>
                <a:gd name="connsiteX5" fmla="*/ 418208 w 435600"/>
                <a:gd name="connsiteY5" fmla="*/ 119659 h 3114948"/>
                <a:gd name="connsiteX6" fmla="*/ 435600 w 435600"/>
                <a:gd name="connsiteY6" fmla="*/ 183748 h 3114948"/>
                <a:gd name="connsiteX7" fmla="*/ 435600 w 435600"/>
                <a:gd name="connsiteY7" fmla="*/ 555835 h 3114948"/>
                <a:gd name="connsiteX8" fmla="*/ 435600 w 435600"/>
                <a:gd name="connsiteY8" fmla="*/ 1272038 h 3114948"/>
                <a:gd name="connsiteX9" fmla="*/ 435600 w 435600"/>
                <a:gd name="connsiteY9" fmla="*/ 3114948 h 3114948"/>
                <a:gd name="connsiteX10" fmla="*/ 0 w 435600"/>
                <a:gd name="connsiteY10" fmla="*/ 3114948 h 31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5600" h="3114948">
                  <a:moveTo>
                    <a:pt x="0" y="0"/>
                  </a:moveTo>
                  <a:lnTo>
                    <a:pt x="312498" y="0"/>
                  </a:lnTo>
                  <a:cubicBezTo>
                    <a:pt x="332063" y="0"/>
                    <a:pt x="349456" y="13791"/>
                    <a:pt x="360869" y="34478"/>
                  </a:cubicBezTo>
                  <a:cubicBezTo>
                    <a:pt x="360869" y="34478"/>
                    <a:pt x="416850" y="117631"/>
                    <a:pt x="416850" y="117631"/>
                  </a:cubicBezTo>
                  <a:cubicBezTo>
                    <a:pt x="417121" y="118036"/>
                    <a:pt x="417392" y="118442"/>
                    <a:pt x="417665" y="118442"/>
                  </a:cubicBezTo>
                  <a:lnTo>
                    <a:pt x="418208" y="119659"/>
                  </a:lnTo>
                  <a:cubicBezTo>
                    <a:pt x="428806" y="136290"/>
                    <a:pt x="435600" y="159005"/>
                    <a:pt x="435600" y="183748"/>
                  </a:cubicBezTo>
                  <a:lnTo>
                    <a:pt x="435600" y="555835"/>
                  </a:lnTo>
                  <a:lnTo>
                    <a:pt x="435600" y="1272038"/>
                  </a:lnTo>
                  <a:lnTo>
                    <a:pt x="435600" y="3114948"/>
                  </a:lnTo>
                  <a:lnTo>
                    <a:pt x="0" y="3114948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bg1">
                    <a:lumMod val="65000"/>
                  </a:schemeClr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6200000" scaled="1"/>
              <a:tileRect/>
            </a:gradFill>
            <a:ln w="44450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29" name="자유형: 도형 128">
              <a:extLst>
                <a:ext uri="{FF2B5EF4-FFF2-40B4-BE49-F238E27FC236}">
                  <a16:creationId xmlns:a16="http://schemas.microsoft.com/office/drawing/2014/main" id="{CEABA98C-5530-47D4-8240-7173CABB9349}"/>
                </a:ext>
              </a:extLst>
            </p:cNvPr>
            <p:cNvSpPr>
              <a:spLocks/>
            </p:cNvSpPr>
            <p:nvPr/>
          </p:nvSpPr>
          <p:spPr>
            <a:xfrm>
              <a:off x="9239302" y="6337703"/>
              <a:ext cx="216000" cy="129780"/>
            </a:xfrm>
            <a:custGeom>
              <a:avLst/>
              <a:gdLst>
                <a:gd name="connsiteX0" fmla="*/ 0 w 435600"/>
                <a:gd name="connsiteY0" fmla="*/ 0 h 3114948"/>
                <a:gd name="connsiteX1" fmla="*/ 312498 w 435600"/>
                <a:gd name="connsiteY1" fmla="*/ 0 h 3114948"/>
                <a:gd name="connsiteX2" fmla="*/ 360869 w 435600"/>
                <a:gd name="connsiteY2" fmla="*/ 34478 h 3114948"/>
                <a:gd name="connsiteX3" fmla="*/ 416850 w 435600"/>
                <a:gd name="connsiteY3" fmla="*/ 117631 h 3114948"/>
                <a:gd name="connsiteX4" fmla="*/ 417665 w 435600"/>
                <a:gd name="connsiteY4" fmla="*/ 118442 h 3114948"/>
                <a:gd name="connsiteX5" fmla="*/ 418208 w 435600"/>
                <a:gd name="connsiteY5" fmla="*/ 119659 h 3114948"/>
                <a:gd name="connsiteX6" fmla="*/ 435600 w 435600"/>
                <a:gd name="connsiteY6" fmla="*/ 183748 h 3114948"/>
                <a:gd name="connsiteX7" fmla="*/ 435600 w 435600"/>
                <a:gd name="connsiteY7" fmla="*/ 555835 h 3114948"/>
                <a:gd name="connsiteX8" fmla="*/ 435600 w 435600"/>
                <a:gd name="connsiteY8" fmla="*/ 1272038 h 3114948"/>
                <a:gd name="connsiteX9" fmla="*/ 435600 w 435600"/>
                <a:gd name="connsiteY9" fmla="*/ 3114948 h 3114948"/>
                <a:gd name="connsiteX10" fmla="*/ 0 w 435600"/>
                <a:gd name="connsiteY10" fmla="*/ 3114948 h 31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5600" h="3114948">
                  <a:moveTo>
                    <a:pt x="0" y="0"/>
                  </a:moveTo>
                  <a:lnTo>
                    <a:pt x="312498" y="0"/>
                  </a:lnTo>
                  <a:cubicBezTo>
                    <a:pt x="332063" y="0"/>
                    <a:pt x="349456" y="13791"/>
                    <a:pt x="360869" y="34478"/>
                  </a:cubicBezTo>
                  <a:cubicBezTo>
                    <a:pt x="360869" y="34478"/>
                    <a:pt x="416850" y="117631"/>
                    <a:pt x="416850" y="117631"/>
                  </a:cubicBezTo>
                  <a:cubicBezTo>
                    <a:pt x="417121" y="118036"/>
                    <a:pt x="417392" y="118442"/>
                    <a:pt x="417665" y="118442"/>
                  </a:cubicBezTo>
                  <a:lnTo>
                    <a:pt x="418208" y="119659"/>
                  </a:lnTo>
                  <a:cubicBezTo>
                    <a:pt x="428806" y="136290"/>
                    <a:pt x="435600" y="159005"/>
                    <a:pt x="435600" y="183748"/>
                  </a:cubicBezTo>
                  <a:lnTo>
                    <a:pt x="435600" y="555835"/>
                  </a:lnTo>
                  <a:lnTo>
                    <a:pt x="435600" y="1272038"/>
                  </a:lnTo>
                  <a:lnTo>
                    <a:pt x="435600" y="3114948"/>
                  </a:lnTo>
                  <a:lnTo>
                    <a:pt x="0" y="3114948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bg1">
                    <a:lumMod val="65000"/>
                  </a:schemeClr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6200000" scaled="1"/>
              <a:tileRect/>
            </a:gradFill>
            <a:ln w="44450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BD643F92-6F6B-44E2-B3B4-847ED78AA14B}"/>
                </a:ext>
              </a:extLst>
            </p:cNvPr>
            <p:cNvSpPr>
              <a:spLocks/>
            </p:cNvSpPr>
            <p:nvPr/>
          </p:nvSpPr>
          <p:spPr>
            <a:xfrm>
              <a:off x="8892545" y="6249369"/>
              <a:ext cx="216000" cy="218113"/>
            </a:xfrm>
            <a:custGeom>
              <a:avLst/>
              <a:gdLst>
                <a:gd name="connsiteX0" fmla="*/ 0 w 435600"/>
                <a:gd name="connsiteY0" fmla="*/ 0 h 3114948"/>
                <a:gd name="connsiteX1" fmla="*/ 312498 w 435600"/>
                <a:gd name="connsiteY1" fmla="*/ 0 h 3114948"/>
                <a:gd name="connsiteX2" fmla="*/ 360869 w 435600"/>
                <a:gd name="connsiteY2" fmla="*/ 34478 h 3114948"/>
                <a:gd name="connsiteX3" fmla="*/ 416850 w 435600"/>
                <a:gd name="connsiteY3" fmla="*/ 117631 h 3114948"/>
                <a:gd name="connsiteX4" fmla="*/ 417665 w 435600"/>
                <a:gd name="connsiteY4" fmla="*/ 118442 h 3114948"/>
                <a:gd name="connsiteX5" fmla="*/ 418208 w 435600"/>
                <a:gd name="connsiteY5" fmla="*/ 119659 h 3114948"/>
                <a:gd name="connsiteX6" fmla="*/ 435600 w 435600"/>
                <a:gd name="connsiteY6" fmla="*/ 183748 h 3114948"/>
                <a:gd name="connsiteX7" fmla="*/ 435600 w 435600"/>
                <a:gd name="connsiteY7" fmla="*/ 555835 h 3114948"/>
                <a:gd name="connsiteX8" fmla="*/ 435600 w 435600"/>
                <a:gd name="connsiteY8" fmla="*/ 1272038 h 3114948"/>
                <a:gd name="connsiteX9" fmla="*/ 435600 w 435600"/>
                <a:gd name="connsiteY9" fmla="*/ 3114948 h 3114948"/>
                <a:gd name="connsiteX10" fmla="*/ 0 w 435600"/>
                <a:gd name="connsiteY10" fmla="*/ 3114948 h 31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5600" h="3114948">
                  <a:moveTo>
                    <a:pt x="0" y="0"/>
                  </a:moveTo>
                  <a:lnTo>
                    <a:pt x="312498" y="0"/>
                  </a:lnTo>
                  <a:cubicBezTo>
                    <a:pt x="332063" y="0"/>
                    <a:pt x="349456" y="13791"/>
                    <a:pt x="360869" y="34478"/>
                  </a:cubicBezTo>
                  <a:cubicBezTo>
                    <a:pt x="360869" y="34478"/>
                    <a:pt x="416850" y="117631"/>
                    <a:pt x="416850" y="117631"/>
                  </a:cubicBezTo>
                  <a:cubicBezTo>
                    <a:pt x="417121" y="118036"/>
                    <a:pt x="417392" y="118442"/>
                    <a:pt x="417665" y="118442"/>
                  </a:cubicBezTo>
                  <a:lnTo>
                    <a:pt x="418208" y="119659"/>
                  </a:lnTo>
                  <a:cubicBezTo>
                    <a:pt x="428806" y="136290"/>
                    <a:pt x="435600" y="159005"/>
                    <a:pt x="435600" y="183748"/>
                  </a:cubicBezTo>
                  <a:lnTo>
                    <a:pt x="435600" y="555835"/>
                  </a:lnTo>
                  <a:lnTo>
                    <a:pt x="435600" y="1272038"/>
                  </a:lnTo>
                  <a:lnTo>
                    <a:pt x="435600" y="3114948"/>
                  </a:lnTo>
                  <a:lnTo>
                    <a:pt x="0" y="3114948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bg1">
                    <a:lumMod val="65000"/>
                  </a:schemeClr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6200000" scaled="1"/>
              <a:tileRect/>
            </a:gradFill>
            <a:ln w="44450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946A8B7F-04F6-41F0-930F-EF353AF9947A}"/>
                </a:ext>
              </a:extLst>
            </p:cNvPr>
            <p:cNvSpPr>
              <a:spLocks/>
            </p:cNvSpPr>
            <p:nvPr/>
          </p:nvSpPr>
          <p:spPr>
            <a:xfrm>
              <a:off x="8545789" y="5958773"/>
              <a:ext cx="216000" cy="508711"/>
            </a:xfrm>
            <a:custGeom>
              <a:avLst/>
              <a:gdLst>
                <a:gd name="connsiteX0" fmla="*/ 0 w 435600"/>
                <a:gd name="connsiteY0" fmla="*/ 0 h 3114948"/>
                <a:gd name="connsiteX1" fmla="*/ 312498 w 435600"/>
                <a:gd name="connsiteY1" fmla="*/ 0 h 3114948"/>
                <a:gd name="connsiteX2" fmla="*/ 360869 w 435600"/>
                <a:gd name="connsiteY2" fmla="*/ 34478 h 3114948"/>
                <a:gd name="connsiteX3" fmla="*/ 416850 w 435600"/>
                <a:gd name="connsiteY3" fmla="*/ 117631 h 3114948"/>
                <a:gd name="connsiteX4" fmla="*/ 417665 w 435600"/>
                <a:gd name="connsiteY4" fmla="*/ 118442 h 3114948"/>
                <a:gd name="connsiteX5" fmla="*/ 418208 w 435600"/>
                <a:gd name="connsiteY5" fmla="*/ 119659 h 3114948"/>
                <a:gd name="connsiteX6" fmla="*/ 435600 w 435600"/>
                <a:gd name="connsiteY6" fmla="*/ 183748 h 3114948"/>
                <a:gd name="connsiteX7" fmla="*/ 435600 w 435600"/>
                <a:gd name="connsiteY7" fmla="*/ 555835 h 3114948"/>
                <a:gd name="connsiteX8" fmla="*/ 435600 w 435600"/>
                <a:gd name="connsiteY8" fmla="*/ 1272038 h 3114948"/>
                <a:gd name="connsiteX9" fmla="*/ 435600 w 435600"/>
                <a:gd name="connsiteY9" fmla="*/ 3114948 h 3114948"/>
                <a:gd name="connsiteX10" fmla="*/ 0 w 435600"/>
                <a:gd name="connsiteY10" fmla="*/ 3114948 h 31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5600" h="3114948">
                  <a:moveTo>
                    <a:pt x="0" y="0"/>
                  </a:moveTo>
                  <a:lnTo>
                    <a:pt x="312498" y="0"/>
                  </a:lnTo>
                  <a:cubicBezTo>
                    <a:pt x="332063" y="0"/>
                    <a:pt x="349456" y="13791"/>
                    <a:pt x="360869" y="34478"/>
                  </a:cubicBezTo>
                  <a:cubicBezTo>
                    <a:pt x="360869" y="34478"/>
                    <a:pt x="416850" y="117631"/>
                    <a:pt x="416850" y="117631"/>
                  </a:cubicBezTo>
                  <a:cubicBezTo>
                    <a:pt x="417121" y="118036"/>
                    <a:pt x="417392" y="118442"/>
                    <a:pt x="417665" y="118442"/>
                  </a:cubicBezTo>
                  <a:lnTo>
                    <a:pt x="418208" y="119659"/>
                  </a:lnTo>
                  <a:cubicBezTo>
                    <a:pt x="428806" y="136290"/>
                    <a:pt x="435600" y="159005"/>
                    <a:pt x="435600" y="183748"/>
                  </a:cubicBezTo>
                  <a:lnTo>
                    <a:pt x="435600" y="555835"/>
                  </a:lnTo>
                  <a:lnTo>
                    <a:pt x="435600" y="1272038"/>
                  </a:lnTo>
                  <a:lnTo>
                    <a:pt x="435600" y="3114948"/>
                  </a:lnTo>
                  <a:lnTo>
                    <a:pt x="0" y="3114948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bg1">
                    <a:lumMod val="65000"/>
                  </a:schemeClr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6200000" scaled="1"/>
              <a:tileRect/>
            </a:gradFill>
            <a:ln w="44450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2" name="자유형: 도형 131">
              <a:extLst>
                <a:ext uri="{FF2B5EF4-FFF2-40B4-BE49-F238E27FC236}">
                  <a16:creationId xmlns:a16="http://schemas.microsoft.com/office/drawing/2014/main" id="{E85B2595-2EBA-4D16-B436-8D5120BBE2E4}"/>
                </a:ext>
              </a:extLst>
            </p:cNvPr>
            <p:cNvSpPr>
              <a:spLocks/>
            </p:cNvSpPr>
            <p:nvPr/>
          </p:nvSpPr>
          <p:spPr>
            <a:xfrm>
              <a:off x="8186096" y="5958773"/>
              <a:ext cx="216000" cy="508711"/>
            </a:xfrm>
            <a:custGeom>
              <a:avLst/>
              <a:gdLst>
                <a:gd name="connsiteX0" fmla="*/ 0 w 435600"/>
                <a:gd name="connsiteY0" fmla="*/ 0 h 3114948"/>
                <a:gd name="connsiteX1" fmla="*/ 312498 w 435600"/>
                <a:gd name="connsiteY1" fmla="*/ 0 h 3114948"/>
                <a:gd name="connsiteX2" fmla="*/ 360869 w 435600"/>
                <a:gd name="connsiteY2" fmla="*/ 34478 h 3114948"/>
                <a:gd name="connsiteX3" fmla="*/ 416850 w 435600"/>
                <a:gd name="connsiteY3" fmla="*/ 117631 h 3114948"/>
                <a:gd name="connsiteX4" fmla="*/ 417665 w 435600"/>
                <a:gd name="connsiteY4" fmla="*/ 118442 h 3114948"/>
                <a:gd name="connsiteX5" fmla="*/ 418208 w 435600"/>
                <a:gd name="connsiteY5" fmla="*/ 119659 h 3114948"/>
                <a:gd name="connsiteX6" fmla="*/ 435600 w 435600"/>
                <a:gd name="connsiteY6" fmla="*/ 183748 h 3114948"/>
                <a:gd name="connsiteX7" fmla="*/ 435600 w 435600"/>
                <a:gd name="connsiteY7" fmla="*/ 555835 h 3114948"/>
                <a:gd name="connsiteX8" fmla="*/ 435600 w 435600"/>
                <a:gd name="connsiteY8" fmla="*/ 1272038 h 3114948"/>
                <a:gd name="connsiteX9" fmla="*/ 435600 w 435600"/>
                <a:gd name="connsiteY9" fmla="*/ 3114948 h 3114948"/>
                <a:gd name="connsiteX10" fmla="*/ 0 w 435600"/>
                <a:gd name="connsiteY10" fmla="*/ 3114948 h 31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5600" h="3114948">
                  <a:moveTo>
                    <a:pt x="0" y="0"/>
                  </a:moveTo>
                  <a:lnTo>
                    <a:pt x="312498" y="0"/>
                  </a:lnTo>
                  <a:cubicBezTo>
                    <a:pt x="332063" y="0"/>
                    <a:pt x="349456" y="13791"/>
                    <a:pt x="360869" y="34478"/>
                  </a:cubicBezTo>
                  <a:cubicBezTo>
                    <a:pt x="360869" y="34478"/>
                    <a:pt x="416850" y="117631"/>
                    <a:pt x="416850" y="117631"/>
                  </a:cubicBezTo>
                  <a:cubicBezTo>
                    <a:pt x="417121" y="118036"/>
                    <a:pt x="417392" y="118442"/>
                    <a:pt x="417665" y="118442"/>
                  </a:cubicBezTo>
                  <a:lnTo>
                    <a:pt x="418208" y="119659"/>
                  </a:lnTo>
                  <a:cubicBezTo>
                    <a:pt x="428806" y="136290"/>
                    <a:pt x="435600" y="159005"/>
                    <a:pt x="435600" y="183748"/>
                  </a:cubicBezTo>
                  <a:lnTo>
                    <a:pt x="435600" y="555835"/>
                  </a:lnTo>
                  <a:lnTo>
                    <a:pt x="435600" y="1272038"/>
                  </a:lnTo>
                  <a:lnTo>
                    <a:pt x="435600" y="3114948"/>
                  </a:lnTo>
                  <a:lnTo>
                    <a:pt x="0" y="3114948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bg1">
                    <a:lumMod val="65000"/>
                  </a:schemeClr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6200000" scaled="1"/>
              <a:tileRect/>
            </a:gradFill>
            <a:ln w="44450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79B1DF0E-232A-429A-8A06-FCF7D02E26C7}"/>
                </a:ext>
              </a:extLst>
            </p:cNvPr>
            <p:cNvSpPr>
              <a:spLocks/>
            </p:cNvSpPr>
            <p:nvPr/>
          </p:nvSpPr>
          <p:spPr>
            <a:xfrm>
              <a:off x="7839341" y="5819483"/>
              <a:ext cx="216000" cy="648000"/>
            </a:xfrm>
            <a:custGeom>
              <a:avLst/>
              <a:gdLst>
                <a:gd name="connsiteX0" fmla="*/ 0 w 435600"/>
                <a:gd name="connsiteY0" fmla="*/ 0 h 3114948"/>
                <a:gd name="connsiteX1" fmla="*/ 312498 w 435600"/>
                <a:gd name="connsiteY1" fmla="*/ 0 h 3114948"/>
                <a:gd name="connsiteX2" fmla="*/ 360869 w 435600"/>
                <a:gd name="connsiteY2" fmla="*/ 34478 h 3114948"/>
                <a:gd name="connsiteX3" fmla="*/ 416850 w 435600"/>
                <a:gd name="connsiteY3" fmla="*/ 117631 h 3114948"/>
                <a:gd name="connsiteX4" fmla="*/ 417665 w 435600"/>
                <a:gd name="connsiteY4" fmla="*/ 118442 h 3114948"/>
                <a:gd name="connsiteX5" fmla="*/ 418208 w 435600"/>
                <a:gd name="connsiteY5" fmla="*/ 119659 h 3114948"/>
                <a:gd name="connsiteX6" fmla="*/ 435600 w 435600"/>
                <a:gd name="connsiteY6" fmla="*/ 183748 h 3114948"/>
                <a:gd name="connsiteX7" fmla="*/ 435600 w 435600"/>
                <a:gd name="connsiteY7" fmla="*/ 555835 h 3114948"/>
                <a:gd name="connsiteX8" fmla="*/ 435600 w 435600"/>
                <a:gd name="connsiteY8" fmla="*/ 1272038 h 3114948"/>
                <a:gd name="connsiteX9" fmla="*/ 435600 w 435600"/>
                <a:gd name="connsiteY9" fmla="*/ 3114948 h 3114948"/>
                <a:gd name="connsiteX10" fmla="*/ 0 w 435600"/>
                <a:gd name="connsiteY10" fmla="*/ 3114948 h 3114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5600" h="3114948">
                  <a:moveTo>
                    <a:pt x="0" y="0"/>
                  </a:moveTo>
                  <a:lnTo>
                    <a:pt x="312498" y="0"/>
                  </a:lnTo>
                  <a:cubicBezTo>
                    <a:pt x="332063" y="0"/>
                    <a:pt x="349456" y="13791"/>
                    <a:pt x="360869" y="34478"/>
                  </a:cubicBezTo>
                  <a:cubicBezTo>
                    <a:pt x="360869" y="34478"/>
                    <a:pt x="416850" y="117631"/>
                    <a:pt x="416850" y="117631"/>
                  </a:cubicBezTo>
                  <a:cubicBezTo>
                    <a:pt x="417121" y="118036"/>
                    <a:pt x="417392" y="118442"/>
                    <a:pt x="417665" y="118442"/>
                  </a:cubicBezTo>
                  <a:lnTo>
                    <a:pt x="418208" y="119659"/>
                  </a:lnTo>
                  <a:cubicBezTo>
                    <a:pt x="428806" y="136290"/>
                    <a:pt x="435600" y="159005"/>
                    <a:pt x="435600" y="183748"/>
                  </a:cubicBezTo>
                  <a:lnTo>
                    <a:pt x="435600" y="555835"/>
                  </a:lnTo>
                  <a:lnTo>
                    <a:pt x="435600" y="1272038"/>
                  </a:lnTo>
                  <a:lnTo>
                    <a:pt x="435600" y="3114948"/>
                  </a:lnTo>
                  <a:lnTo>
                    <a:pt x="0" y="3114948"/>
                  </a:lnTo>
                  <a:close/>
                </a:path>
              </a:pathLst>
            </a:custGeom>
            <a:gradFill flip="none" rotWithShape="1">
              <a:gsLst>
                <a:gs pos="16000">
                  <a:schemeClr val="bg1">
                    <a:lumMod val="65000"/>
                  </a:schemeClr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6200000" scaled="1"/>
              <a:tileRect/>
            </a:gradFill>
            <a:ln w="444500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4" name="자유형 147">
              <a:extLst>
                <a:ext uri="{FF2B5EF4-FFF2-40B4-BE49-F238E27FC236}">
                  <a16:creationId xmlns:a16="http://schemas.microsoft.com/office/drawing/2014/main" id="{94E93BD4-DBC8-4E10-91D0-07262E64D361}"/>
                </a:ext>
              </a:extLst>
            </p:cNvPr>
            <p:cNvSpPr>
              <a:spLocks/>
            </p:cNvSpPr>
            <p:nvPr/>
          </p:nvSpPr>
          <p:spPr>
            <a:xfrm>
              <a:off x="7784685" y="6035483"/>
              <a:ext cx="216000" cy="432000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gradFill flip="none" rotWithShape="1">
              <a:gsLst>
                <a:gs pos="81000">
                  <a:srgbClr val="004F9F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5" name="자유형 147">
              <a:extLst>
                <a:ext uri="{FF2B5EF4-FFF2-40B4-BE49-F238E27FC236}">
                  <a16:creationId xmlns:a16="http://schemas.microsoft.com/office/drawing/2014/main" id="{ED33F587-A850-4705-A898-052805DB70A7}"/>
                </a:ext>
              </a:extLst>
            </p:cNvPr>
            <p:cNvSpPr>
              <a:spLocks/>
            </p:cNvSpPr>
            <p:nvPr/>
          </p:nvSpPr>
          <p:spPr>
            <a:xfrm>
              <a:off x="8141096" y="6249634"/>
              <a:ext cx="216000" cy="217849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gradFill flip="none" rotWithShape="1">
              <a:gsLst>
                <a:gs pos="81000">
                  <a:srgbClr val="004F9F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6" name="자유형 147">
              <a:extLst>
                <a:ext uri="{FF2B5EF4-FFF2-40B4-BE49-F238E27FC236}">
                  <a16:creationId xmlns:a16="http://schemas.microsoft.com/office/drawing/2014/main" id="{2833B61C-45C7-4A94-9448-A4C3023B64B4}"/>
                </a:ext>
              </a:extLst>
            </p:cNvPr>
            <p:cNvSpPr>
              <a:spLocks/>
            </p:cNvSpPr>
            <p:nvPr/>
          </p:nvSpPr>
          <p:spPr>
            <a:xfrm>
              <a:off x="8494429" y="6179483"/>
              <a:ext cx="216000" cy="288000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gradFill flip="none" rotWithShape="1">
              <a:gsLst>
                <a:gs pos="81000">
                  <a:srgbClr val="004F9F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7" name="자유형 147">
              <a:extLst>
                <a:ext uri="{FF2B5EF4-FFF2-40B4-BE49-F238E27FC236}">
                  <a16:creationId xmlns:a16="http://schemas.microsoft.com/office/drawing/2014/main" id="{A3D638C6-8BCA-4171-A01F-3F65830FD9AC}"/>
                </a:ext>
              </a:extLst>
            </p:cNvPr>
            <p:cNvSpPr>
              <a:spLocks/>
            </p:cNvSpPr>
            <p:nvPr/>
          </p:nvSpPr>
          <p:spPr>
            <a:xfrm>
              <a:off x="8841185" y="6250238"/>
              <a:ext cx="216000" cy="217244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gradFill flip="none" rotWithShape="1">
              <a:gsLst>
                <a:gs pos="81000">
                  <a:srgbClr val="004F9F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8" name="자유형 147">
              <a:extLst>
                <a:ext uri="{FF2B5EF4-FFF2-40B4-BE49-F238E27FC236}">
                  <a16:creationId xmlns:a16="http://schemas.microsoft.com/office/drawing/2014/main" id="{630D5FB1-2F97-47DC-9E1D-E0E39DCCDD85}"/>
                </a:ext>
              </a:extLst>
            </p:cNvPr>
            <p:cNvSpPr>
              <a:spLocks/>
            </p:cNvSpPr>
            <p:nvPr/>
          </p:nvSpPr>
          <p:spPr>
            <a:xfrm>
              <a:off x="9187941" y="6337703"/>
              <a:ext cx="216000" cy="129779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gradFill flip="none" rotWithShape="1">
              <a:gsLst>
                <a:gs pos="81000">
                  <a:srgbClr val="004F9F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39" name="자유형 147">
              <a:extLst>
                <a:ext uri="{FF2B5EF4-FFF2-40B4-BE49-F238E27FC236}">
                  <a16:creationId xmlns:a16="http://schemas.microsoft.com/office/drawing/2014/main" id="{9CF72C62-A685-4BCF-8878-D3BB0219EC78}"/>
                </a:ext>
              </a:extLst>
            </p:cNvPr>
            <p:cNvSpPr>
              <a:spLocks/>
            </p:cNvSpPr>
            <p:nvPr/>
          </p:nvSpPr>
          <p:spPr>
            <a:xfrm>
              <a:off x="7397847" y="6179483"/>
              <a:ext cx="216000" cy="288000"/>
            </a:xfrm>
            <a:custGeom>
              <a:avLst/>
              <a:gdLst>
                <a:gd name="connsiteX0" fmla="*/ 0 w 576000"/>
                <a:gd name="connsiteY0" fmla="*/ 0 h 1095538"/>
                <a:gd name="connsiteX1" fmla="*/ 413221 w 576000"/>
                <a:gd name="connsiteY1" fmla="*/ 0 h 1095538"/>
                <a:gd name="connsiteX2" fmla="*/ 477182 w 576000"/>
                <a:gd name="connsiteY2" fmla="*/ 32123 h 1095538"/>
                <a:gd name="connsiteX3" fmla="*/ 551207 w 576000"/>
                <a:gd name="connsiteY3" fmla="*/ 109594 h 1095538"/>
                <a:gd name="connsiteX4" fmla="*/ 552283 w 576000"/>
                <a:gd name="connsiteY4" fmla="*/ 110350 h 1095538"/>
                <a:gd name="connsiteX5" fmla="*/ 553003 w 576000"/>
                <a:gd name="connsiteY5" fmla="*/ 111484 h 1095538"/>
                <a:gd name="connsiteX6" fmla="*/ 576000 w 576000"/>
                <a:gd name="connsiteY6" fmla="*/ 171194 h 1095538"/>
                <a:gd name="connsiteX7" fmla="*/ 576000 w 576000"/>
                <a:gd name="connsiteY7" fmla="*/ 517859 h 1095538"/>
                <a:gd name="connsiteX8" fmla="*/ 576000 w 576000"/>
                <a:gd name="connsiteY8" fmla="*/ 1095538 h 1095538"/>
                <a:gd name="connsiteX9" fmla="*/ 0 w 576000"/>
                <a:gd name="connsiteY9" fmla="*/ 1095538 h 109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0" h="1095538">
                  <a:moveTo>
                    <a:pt x="0" y="0"/>
                  </a:moveTo>
                  <a:lnTo>
                    <a:pt x="413221" y="0"/>
                  </a:lnTo>
                  <a:cubicBezTo>
                    <a:pt x="439092" y="0"/>
                    <a:pt x="462091" y="12849"/>
                    <a:pt x="477182" y="32123"/>
                  </a:cubicBezTo>
                  <a:cubicBezTo>
                    <a:pt x="477182" y="32123"/>
                    <a:pt x="551207" y="109594"/>
                    <a:pt x="551207" y="109594"/>
                  </a:cubicBezTo>
                  <a:cubicBezTo>
                    <a:pt x="551565" y="109972"/>
                    <a:pt x="551924" y="110350"/>
                    <a:pt x="552283" y="110350"/>
                  </a:cubicBezTo>
                  <a:lnTo>
                    <a:pt x="553003" y="111484"/>
                  </a:lnTo>
                  <a:cubicBezTo>
                    <a:pt x="567016" y="126978"/>
                    <a:pt x="576000" y="148141"/>
                    <a:pt x="576000" y="171194"/>
                  </a:cubicBezTo>
                  <a:lnTo>
                    <a:pt x="576000" y="517859"/>
                  </a:lnTo>
                  <a:lnTo>
                    <a:pt x="576000" y="1095538"/>
                  </a:lnTo>
                  <a:lnTo>
                    <a:pt x="0" y="1095538"/>
                  </a:lnTo>
                  <a:close/>
                </a:path>
              </a:pathLst>
            </a:custGeom>
            <a:gradFill flip="none" rotWithShape="1">
              <a:gsLst>
                <a:gs pos="81000">
                  <a:srgbClr val="004F9F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444500" cap="flat">
              <a:noFill/>
              <a:prstDash val="solid"/>
              <a:miter/>
            </a:ln>
            <a:effectLst>
              <a:outerShdw blurRad="392497" dist="38100" dir="18900000" sx="95000" sy="95000" algn="bl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Helvetica Neue Medium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AA1D51E-2DD4-415C-BA77-6CB3C1BFE146}"/>
                </a:ext>
              </a:extLst>
            </p:cNvPr>
            <p:cNvSpPr txBox="1"/>
            <p:nvPr/>
          </p:nvSpPr>
          <p:spPr>
            <a:xfrm>
              <a:off x="7377364" y="6487512"/>
              <a:ext cx="359964" cy="1451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’24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40CFC42-FF23-4BA1-9181-6ED62133594F}"/>
                </a:ext>
              </a:extLst>
            </p:cNvPr>
            <p:cNvSpPr txBox="1"/>
            <p:nvPr/>
          </p:nvSpPr>
          <p:spPr>
            <a:xfrm>
              <a:off x="8093401" y="6487512"/>
              <a:ext cx="359964" cy="1451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’25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A429F84-E27A-4D52-A54E-63A49B299B57}"/>
                </a:ext>
              </a:extLst>
            </p:cNvPr>
            <p:cNvSpPr txBox="1"/>
            <p:nvPr/>
          </p:nvSpPr>
          <p:spPr>
            <a:xfrm>
              <a:off x="8451420" y="6487512"/>
              <a:ext cx="359964" cy="1451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’26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4C5D614-9997-4447-A928-7F2196B72113}"/>
                </a:ext>
              </a:extLst>
            </p:cNvPr>
            <p:cNvSpPr txBox="1"/>
            <p:nvPr/>
          </p:nvSpPr>
          <p:spPr>
            <a:xfrm>
              <a:off x="8809439" y="6487512"/>
              <a:ext cx="359964" cy="1451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’27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8A65FB6-664D-4715-81D6-8F4D2318349F}"/>
                </a:ext>
              </a:extLst>
            </p:cNvPr>
            <p:cNvSpPr txBox="1"/>
            <p:nvPr/>
          </p:nvSpPr>
          <p:spPr>
            <a:xfrm>
              <a:off x="9167458" y="6487512"/>
              <a:ext cx="359964" cy="1451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’28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95D7B9A-7FA1-4F07-83A3-82E0EAB3A335}"/>
                </a:ext>
              </a:extLst>
            </p:cNvPr>
            <p:cNvSpPr txBox="1"/>
            <p:nvPr/>
          </p:nvSpPr>
          <p:spPr>
            <a:xfrm>
              <a:off x="7735383" y="6487514"/>
              <a:ext cx="359964" cy="14519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’25.4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월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10137B96-582E-4602-99AF-5AFF04305AD5}"/>
                </a:ext>
              </a:extLst>
            </p:cNvPr>
            <p:cNvCxnSpPr>
              <a:cxnSpLocks/>
            </p:cNvCxnSpPr>
            <p:nvPr/>
          </p:nvCxnSpPr>
          <p:spPr>
            <a:xfrm>
              <a:off x="6875251" y="6467483"/>
              <a:ext cx="273457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C397167-A593-4A4B-9D42-D284F47C27D2}"/>
                </a:ext>
              </a:extLst>
            </p:cNvPr>
            <p:cNvSpPr txBox="1"/>
            <p:nvPr/>
          </p:nvSpPr>
          <p:spPr>
            <a:xfrm>
              <a:off x="8066343" y="6221483"/>
              <a:ext cx="359964" cy="22311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8F581E3-B9B9-453D-987E-CF4D2FC0EAFB}"/>
                </a:ext>
              </a:extLst>
            </p:cNvPr>
            <p:cNvSpPr txBox="1"/>
            <p:nvPr/>
          </p:nvSpPr>
          <p:spPr>
            <a:xfrm>
              <a:off x="8421369" y="6158495"/>
              <a:ext cx="359964" cy="22311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5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20F4561-1CBB-4277-A508-76F031E457C1}"/>
                </a:ext>
              </a:extLst>
            </p:cNvPr>
            <p:cNvSpPr txBox="1"/>
            <p:nvPr/>
          </p:nvSpPr>
          <p:spPr>
            <a:xfrm>
              <a:off x="8766772" y="6221483"/>
              <a:ext cx="359964" cy="22311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EB672979-6A2E-44ED-8CFB-0974DC859CE5}"/>
                </a:ext>
              </a:extLst>
            </p:cNvPr>
            <p:cNvSpPr txBox="1"/>
            <p:nvPr/>
          </p:nvSpPr>
          <p:spPr>
            <a:xfrm>
              <a:off x="9115171" y="6381612"/>
              <a:ext cx="359964" cy="6741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C3F855E-2BBC-433E-9A37-BB6B86665134}"/>
                </a:ext>
              </a:extLst>
            </p:cNvPr>
            <p:cNvSpPr txBox="1"/>
            <p:nvPr/>
          </p:nvSpPr>
          <p:spPr>
            <a:xfrm>
              <a:off x="7367981" y="5767046"/>
              <a:ext cx="384842" cy="19172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7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281A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AA3A4C6-CB40-4F12-8BCC-EC4FC0246F6C}"/>
                </a:ext>
              </a:extLst>
            </p:cNvPr>
            <p:cNvSpPr txBox="1"/>
            <p:nvPr/>
          </p:nvSpPr>
          <p:spPr>
            <a:xfrm>
              <a:off x="7749888" y="5625494"/>
              <a:ext cx="384842" cy="19172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9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281A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956E643-7B70-4433-B78B-47AC64C599F4}"/>
                </a:ext>
              </a:extLst>
            </p:cNvPr>
            <p:cNvSpPr txBox="1"/>
            <p:nvPr/>
          </p:nvSpPr>
          <p:spPr>
            <a:xfrm>
              <a:off x="8107580" y="5767046"/>
              <a:ext cx="384842" cy="19172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7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281A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C7B7ABFC-705B-4D5E-9239-29B3F17D9CF6}"/>
                </a:ext>
              </a:extLst>
            </p:cNvPr>
            <p:cNvSpPr txBox="1"/>
            <p:nvPr/>
          </p:nvSpPr>
          <p:spPr>
            <a:xfrm>
              <a:off x="8467311" y="5767046"/>
              <a:ext cx="384842" cy="19172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7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281A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0930EFCE-D771-45FC-95F7-9810865741FC}"/>
                </a:ext>
              </a:extLst>
            </p:cNvPr>
            <p:cNvSpPr txBox="1"/>
            <p:nvPr/>
          </p:nvSpPr>
          <p:spPr>
            <a:xfrm>
              <a:off x="8807600" y="6053493"/>
              <a:ext cx="384842" cy="19172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3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281A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63ED02E-8AC0-4357-A018-86342449104C}"/>
                </a:ext>
              </a:extLst>
            </p:cNvPr>
            <p:cNvSpPr txBox="1"/>
            <p:nvPr/>
          </p:nvSpPr>
          <p:spPr>
            <a:xfrm>
              <a:off x="9153839" y="6150339"/>
              <a:ext cx="384842" cy="18143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1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281A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E4F4A9-4BB2-41B5-877F-9D6D5BAF8F3A}"/>
                </a:ext>
              </a:extLst>
            </p:cNvPr>
            <p:cNvSpPr txBox="1"/>
            <p:nvPr/>
          </p:nvSpPr>
          <p:spPr>
            <a:xfrm>
              <a:off x="7712573" y="6026254"/>
              <a:ext cx="359964" cy="22311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6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DB1243-2925-461D-B2C3-D3CD7DF5E2FB}"/>
                </a:ext>
              </a:extLst>
            </p:cNvPr>
            <p:cNvSpPr txBox="1"/>
            <p:nvPr/>
          </p:nvSpPr>
          <p:spPr>
            <a:xfrm>
              <a:off x="7325170" y="6158495"/>
              <a:ext cx="359964" cy="22311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4</a:t>
              </a:r>
              <a:r>
                <a:rPr kumimoji="0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천억</a:t>
              </a:r>
              <a:endParaRPr kumimoji="0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69" name="그룹 65">
            <a:extLst>
              <a:ext uri="{FF2B5EF4-FFF2-40B4-BE49-F238E27FC236}">
                <a16:creationId xmlns:a16="http://schemas.microsoft.com/office/drawing/2014/main" id="{23AAAD49-C7C6-41DC-AF4F-FFB317846B3E}"/>
              </a:ext>
            </a:extLst>
          </p:cNvPr>
          <p:cNvGrpSpPr>
            <a:grpSpLocks noChangeAspect="1"/>
          </p:cNvGrpSpPr>
          <p:nvPr/>
        </p:nvGrpSpPr>
        <p:grpSpPr>
          <a:xfrm rot="1800000">
            <a:off x="8813303" y="5642860"/>
            <a:ext cx="251999" cy="95115"/>
            <a:chOff x="2160474" y="2296462"/>
            <a:chExt cx="1595939" cy="397626"/>
          </a:xfrm>
        </p:grpSpPr>
        <p:sp>
          <p:nvSpPr>
            <p:cNvPr id="170" name="직사각형 66">
              <a:extLst>
                <a:ext uri="{FF2B5EF4-FFF2-40B4-BE49-F238E27FC236}">
                  <a16:creationId xmlns:a16="http://schemas.microsoft.com/office/drawing/2014/main" id="{D7046A9D-BC21-4A72-A845-0119C12BD317}"/>
                </a:ext>
              </a:extLst>
            </p:cNvPr>
            <p:cNvSpPr/>
            <p:nvPr/>
          </p:nvSpPr>
          <p:spPr>
            <a:xfrm>
              <a:off x="2160474" y="2489801"/>
              <a:ext cx="1015699" cy="204287"/>
            </a:xfrm>
            <a:prstGeom prst="rect">
              <a:avLst/>
            </a:prstGeom>
            <a:gradFill>
              <a:gsLst>
                <a:gs pos="100000">
                  <a:srgbClr val="004F9F"/>
                </a:gs>
                <a:gs pos="0">
                  <a:srgbClr val="004F9F">
                    <a:alpha val="20000"/>
                  </a:srgbClr>
                </a:gs>
              </a:gsLst>
              <a:lin ang="0" scaled="0"/>
            </a:gradFill>
            <a:ln w="9525" cap="flat" cmpd="sng" algn="ctr">
              <a:noFill/>
              <a:prstDash val="sysDash"/>
              <a:miter lim="800000"/>
              <a:headEnd type="oval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endParaRPr>
            </a:p>
          </p:txBody>
        </p:sp>
        <p:sp>
          <p:nvSpPr>
            <p:cNvPr id="171" name="직각 삼각형 67">
              <a:extLst>
                <a:ext uri="{FF2B5EF4-FFF2-40B4-BE49-F238E27FC236}">
                  <a16:creationId xmlns:a16="http://schemas.microsoft.com/office/drawing/2014/main" id="{8CBF1579-DAB7-4812-A057-0633C5DB33C3}"/>
                </a:ext>
              </a:extLst>
            </p:cNvPr>
            <p:cNvSpPr/>
            <p:nvPr/>
          </p:nvSpPr>
          <p:spPr>
            <a:xfrm>
              <a:off x="3147807" y="2296462"/>
              <a:ext cx="608606" cy="397626"/>
            </a:xfrm>
            <a:prstGeom prst="rtTriangle">
              <a:avLst/>
            </a:prstGeom>
            <a:solidFill>
              <a:srgbClr val="004F9F"/>
            </a:solidFill>
            <a:ln w="9525" cap="flat" cmpd="sng" algn="ctr">
              <a:noFill/>
              <a:prstDash val="sysDash"/>
              <a:miter lim="800000"/>
              <a:headEnd type="oval"/>
              <a:tailEnd type="oval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cs"/>
              </a:endParaRPr>
            </a:p>
          </p:txBody>
        </p:sp>
      </p:grpSp>
      <p:sp>
        <p:nvSpPr>
          <p:cNvPr id="117" name="타원 116">
            <a:extLst>
              <a:ext uri="{FF2B5EF4-FFF2-40B4-BE49-F238E27FC236}">
                <a16:creationId xmlns:a16="http://schemas.microsoft.com/office/drawing/2014/main" id="{60B5E3AC-6AA9-4C07-8F4A-784573C3F48F}"/>
              </a:ext>
            </a:extLst>
          </p:cNvPr>
          <p:cNvSpPr>
            <a:spLocks noChangeAspect="1"/>
          </p:cNvSpPr>
          <p:nvPr/>
        </p:nvSpPr>
        <p:spPr>
          <a:xfrm>
            <a:off x="7423259" y="3870810"/>
            <a:ext cx="108000" cy="108000"/>
          </a:xfrm>
          <a:prstGeom prst="ellipse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AC872DAE-4B70-4A92-AF11-55B2BB5FB21C}"/>
              </a:ext>
            </a:extLst>
          </p:cNvPr>
          <p:cNvGrpSpPr/>
          <p:nvPr/>
        </p:nvGrpSpPr>
        <p:grpSpPr>
          <a:xfrm>
            <a:off x="6888856" y="2063827"/>
            <a:ext cx="2587219" cy="121117"/>
            <a:chOff x="208648" y="6649354"/>
            <a:chExt cx="2587219" cy="121117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793E9EE-E006-4FA2-9212-BFBCF7E73359}"/>
                </a:ext>
              </a:extLst>
            </p:cNvPr>
            <p:cNvSpPr txBox="1"/>
            <p:nvPr/>
          </p:nvSpPr>
          <p:spPr>
            <a:xfrm>
              <a:off x="208648" y="6651737"/>
              <a:ext cx="2587219" cy="1187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  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보조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.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분기별 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DIO Trend 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상세</a:t>
              </a:r>
            </a:p>
          </p:txBody>
        </p:sp>
        <p:sp>
          <p:nvSpPr>
            <p:cNvPr id="115" name="실행 단추: 앞으로 또는 다음 8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D6EE773-8E9D-4C91-833B-6812310DFE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8648" y="6649354"/>
              <a:ext cx="108000" cy="108000"/>
            </a:xfrm>
            <a:prstGeom prst="actionButtonForwardNex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29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1434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3">
            <a:extLst>
              <a:ext uri="{FF2B5EF4-FFF2-40B4-BE49-F238E27FC236}">
                <a16:creationId xmlns:a16="http://schemas.microsoft.com/office/drawing/2014/main" id="{E5BC15D4-4467-413D-A8AE-8F54ADDB8A13}"/>
              </a:ext>
            </a:extLst>
          </p:cNvPr>
          <p:cNvSpPr txBox="1">
            <a:spLocks/>
          </p:cNvSpPr>
          <p:nvPr/>
        </p:nvSpPr>
        <p:spPr>
          <a:xfrm>
            <a:off x="206036" y="557025"/>
            <a:ext cx="94999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000" b="1" u="sng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「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SCM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혁신회의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5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(6/26)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」</a:t>
            </a:r>
            <a:r>
              <a:rPr kumimoji="0" lang="ko-KR" alt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에서의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CFO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님 지시에 따라 현행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SCM Planning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구조에 대한 개선안 검토를 진행하고자 합니다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전사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SCM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담당에서 제안 드리는 구조는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ERRC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관점에서의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FP-SCP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역할의 통합 및 강화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매출 극대화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재고 최소화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입니다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8560AA93-343C-4176-B136-2C653BFE32CD}"/>
              </a:ext>
            </a:extLst>
          </p:cNvPr>
          <p:cNvGraphicFramePr>
            <a:graphicFrameLocks noGrp="1"/>
          </p:cNvGraphicFramePr>
          <p:nvPr/>
        </p:nvGraphicFramePr>
        <p:xfrm>
          <a:off x="4922474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W+51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E117A434-8057-4846-86D2-B2CB72C108AA}"/>
              </a:ext>
            </a:extLst>
          </p:cNvPr>
          <p:cNvGraphicFramePr>
            <a:graphicFrameLocks noGrp="1"/>
          </p:cNvGraphicFramePr>
          <p:nvPr/>
        </p:nvGraphicFramePr>
        <p:xfrm>
          <a:off x="2906497" y="6088058"/>
          <a:ext cx="2521925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925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52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 →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(MRP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시스템 계획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 Proposal)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10" name="표 109">
            <a:extLst>
              <a:ext uri="{FF2B5EF4-FFF2-40B4-BE49-F238E27FC236}">
                <a16:creationId xmlns:a16="http://schemas.microsoft.com/office/drawing/2014/main" id="{8FBD6F90-6B21-4009-8265-32E9E0B8049B}"/>
              </a:ext>
            </a:extLst>
          </p:cNvPr>
          <p:cNvGraphicFramePr>
            <a:graphicFrameLocks noGrp="1"/>
          </p:cNvGraphicFramePr>
          <p:nvPr/>
        </p:nvGraphicFramePr>
        <p:xfrm>
          <a:off x="2405948" y="6088058"/>
          <a:ext cx="50055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07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1507">
                  <a:extLst>
                    <a:ext uri="{9D8B030D-6E8A-4147-A177-3AD203B41FA5}">
                      <a16:colId xmlns:a16="http://schemas.microsoft.com/office/drawing/2014/main" val="2043124134"/>
                    </a:ext>
                  </a:extLst>
                </a:gridCol>
                <a:gridCol w="71507">
                  <a:extLst>
                    <a:ext uri="{9D8B030D-6E8A-4147-A177-3AD203B41FA5}">
                      <a16:colId xmlns:a16="http://schemas.microsoft.com/office/drawing/2014/main" val="2147840419"/>
                    </a:ext>
                  </a:extLst>
                </a:gridCol>
                <a:gridCol w="71508">
                  <a:extLst>
                    <a:ext uri="{9D8B030D-6E8A-4147-A177-3AD203B41FA5}">
                      <a16:colId xmlns:a16="http://schemas.microsoft.com/office/drawing/2014/main" val="1797151382"/>
                    </a:ext>
                  </a:extLst>
                </a:gridCol>
                <a:gridCol w="71507">
                  <a:extLst>
                    <a:ext uri="{9D8B030D-6E8A-4147-A177-3AD203B41FA5}">
                      <a16:colId xmlns:a16="http://schemas.microsoft.com/office/drawing/2014/main" val="2644940916"/>
                    </a:ext>
                  </a:extLst>
                </a:gridCol>
                <a:gridCol w="71507">
                  <a:extLst>
                    <a:ext uri="{9D8B030D-6E8A-4147-A177-3AD203B41FA5}">
                      <a16:colId xmlns:a16="http://schemas.microsoft.com/office/drawing/2014/main" val="1798283115"/>
                    </a:ext>
                  </a:extLst>
                </a:gridCol>
                <a:gridCol w="71507">
                  <a:extLst>
                    <a:ext uri="{9D8B030D-6E8A-4147-A177-3AD203B41FA5}">
                      <a16:colId xmlns:a16="http://schemas.microsoft.com/office/drawing/2014/main" val="6756859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D1B99DB3-1205-4269-99AB-252281BF6FC7}"/>
              </a:ext>
            </a:extLst>
          </p:cNvPr>
          <p:cNvGraphicFramePr>
            <a:graphicFrameLocks noGrp="1"/>
          </p:cNvGraphicFramePr>
          <p:nvPr/>
        </p:nvGraphicFramePr>
        <p:xfrm>
          <a:off x="2906497" y="3834966"/>
          <a:ext cx="2521925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925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52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 →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(MRP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시스템 계획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 Proposal)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153EF12-2245-4090-823B-76894EE89A1F}"/>
              </a:ext>
            </a:extLst>
          </p:cNvPr>
          <p:cNvSpPr/>
          <p:nvPr/>
        </p:nvSpPr>
        <p:spPr>
          <a:xfrm>
            <a:off x="5487720" y="1566966"/>
            <a:ext cx="729114" cy="5024334"/>
          </a:xfrm>
          <a:prstGeom prst="rect">
            <a:avLst/>
          </a:prstGeom>
          <a:solidFill>
            <a:srgbClr val="F8F8F8"/>
          </a:solidFill>
          <a:ln w="6350"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3CEA9C4C-066B-4CBF-A388-99DDC4D22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095" y="217666"/>
            <a:ext cx="2178583" cy="33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BD8504-75EE-46FA-9345-97FBE8C76776}"/>
              </a:ext>
            </a:extLst>
          </p:cNvPr>
          <p:cNvSpPr txBox="1"/>
          <p:nvPr/>
        </p:nvSpPr>
        <p:spPr>
          <a:xfrm>
            <a:off x="4592959" y="6597650"/>
            <a:ext cx="720082" cy="260350"/>
          </a:xfrm>
          <a:prstGeom prst="rect">
            <a:avLst/>
          </a:prstGeom>
          <a:noFill/>
        </p:spPr>
        <p:txBody>
          <a:bodyPr wrap="square" lIns="77925" tIns="38963" rIns="77925" bIns="38963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1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Rectangle 2">
            <a:extLst>
              <a:ext uri="{FF2B5EF4-FFF2-40B4-BE49-F238E27FC236}">
                <a16:creationId xmlns:a16="http://schemas.microsoft.com/office/drawing/2014/main" id="{1DE0A71F-382A-43B6-BA61-09D15762B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259" y="0"/>
            <a:ext cx="917419" cy="24622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2025. 7. 15(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68CE277-314F-4680-AB23-4CC672A4071A}"/>
              </a:ext>
            </a:extLst>
          </p:cNvPr>
          <p:cNvGrpSpPr/>
          <p:nvPr/>
        </p:nvGrpSpPr>
        <p:grpSpPr>
          <a:xfrm>
            <a:off x="200655" y="197266"/>
            <a:ext cx="5475526" cy="353746"/>
            <a:chOff x="280800" y="205892"/>
            <a:chExt cx="5475526" cy="35374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094B5-7864-4FF9-9608-D79B204FED49}"/>
                </a:ext>
              </a:extLst>
            </p:cNvPr>
            <p:cNvSpPr txBox="1"/>
            <p:nvPr/>
          </p:nvSpPr>
          <p:spPr>
            <a:xfrm>
              <a:off x="283917" y="205892"/>
              <a:ext cx="5472409" cy="353746"/>
            </a:xfrm>
            <a:prstGeom prst="rect">
              <a:avLst/>
            </a:prstGeom>
            <a:noFill/>
          </p:spPr>
          <p:txBody>
            <a:bodyPr wrap="square" lIns="0" tIns="18000" rIns="0" bIns="1800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SCM Planning </a:t>
              </a:r>
              <a:r>
                <a:rPr kumimoji="0" lang="ko-KR" altLang="en-US" sz="20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구조 개선</a:t>
              </a:r>
              <a:r>
                <a:rPr kumimoji="0" lang="en-US" altLang="ko-KR" sz="20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20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案</a:t>
              </a:r>
              <a:r>
                <a:rPr kumimoji="0" lang="en-US" altLang="ko-KR" sz="20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ECCDFF4C-1C46-4781-ADFC-4D4A5DE6B9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800" y="557902"/>
              <a:ext cx="284447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F89EDF3-7CA9-45E9-B659-E13C72E03793}"/>
              </a:ext>
            </a:extLst>
          </p:cNvPr>
          <p:cNvSpPr/>
          <p:nvPr/>
        </p:nvSpPr>
        <p:spPr bwMode="auto">
          <a:xfrm>
            <a:off x="200651" y="1566966"/>
            <a:ext cx="539779" cy="2772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As-Is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6B8063-ED66-4662-8ACE-FE72D7716067}"/>
              </a:ext>
            </a:extLst>
          </p:cNvPr>
          <p:cNvSpPr/>
          <p:nvPr/>
        </p:nvSpPr>
        <p:spPr bwMode="auto">
          <a:xfrm>
            <a:off x="200651" y="4388616"/>
            <a:ext cx="539779" cy="220344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To-Be</a:t>
            </a: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案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105EEA5-C72F-4F21-83C6-F5C4C0227479}"/>
              </a:ext>
            </a:extLst>
          </p:cNvPr>
          <p:cNvSpPr/>
          <p:nvPr/>
        </p:nvSpPr>
        <p:spPr bwMode="auto">
          <a:xfrm>
            <a:off x="799241" y="156696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 획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 리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EB97EDB-6967-4B49-8BAE-029273A058C1}"/>
              </a:ext>
            </a:extLst>
          </p:cNvPr>
          <p:cNvSpPr/>
          <p:nvPr/>
        </p:nvSpPr>
        <p:spPr bwMode="auto">
          <a:xfrm>
            <a:off x="799241" y="213396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영 업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(DP)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D7A4136-316C-46F7-80DD-0574948512C6}"/>
              </a:ext>
            </a:extLst>
          </p:cNvPr>
          <p:cNvSpPr/>
          <p:nvPr/>
        </p:nvSpPr>
        <p:spPr bwMode="auto">
          <a:xfrm>
            <a:off x="799241" y="270096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(SCP)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F4943D4-4260-4F00-A856-6C5CA94B6828}"/>
              </a:ext>
            </a:extLst>
          </p:cNvPr>
          <p:cNvSpPr/>
          <p:nvPr/>
        </p:nvSpPr>
        <p:spPr bwMode="auto">
          <a:xfrm>
            <a:off x="799241" y="383496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</a:t>
            </a: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(MRP)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801AE92-2BFA-463A-BA7D-D785FBEC71EA}"/>
              </a:ext>
            </a:extLst>
          </p:cNvPr>
          <p:cNvSpPr/>
          <p:nvPr/>
        </p:nvSpPr>
        <p:spPr bwMode="auto">
          <a:xfrm>
            <a:off x="799241" y="326796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 관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(FP)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BCF677-5E8A-493F-98D8-CEDD12AE6937}"/>
              </a:ext>
            </a:extLst>
          </p:cNvPr>
          <p:cNvGraphicFramePr>
            <a:graphicFrameLocks noGrp="1"/>
          </p:cNvGraphicFramePr>
          <p:nvPr/>
        </p:nvGraphicFramePr>
        <p:xfrm>
          <a:off x="1397831" y="3267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B67C3CB4-2C96-44D3-9409-CC18CE2A9FC7}"/>
              </a:ext>
            </a:extLst>
          </p:cNvPr>
          <p:cNvGraphicFramePr>
            <a:graphicFrameLocks noGrp="1"/>
          </p:cNvGraphicFramePr>
          <p:nvPr/>
        </p:nvGraphicFramePr>
        <p:xfrm>
          <a:off x="1397831" y="3834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DB8B3F01-D91E-46C1-968D-45940252FF65}"/>
              </a:ext>
            </a:extLst>
          </p:cNvPr>
          <p:cNvGraphicFramePr>
            <a:graphicFrameLocks noGrp="1"/>
          </p:cNvGraphicFramePr>
          <p:nvPr/>
        </p:nvGraphicFramePr>
        <p:xfrm>
          <a:off x="1397831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DF9C80B9-43F8-48A4-93A4-96F75C8C4EDE}"/>
              </a:ext>
            </a:extLst>
          </p:cNvPr>
          <p:cNvGraphicFramePr>
            <a:graphicFrameLocks noGrp="1"/>
          </p:cNvGraphicFramePr>
          <p:nvPr/>
        </p:nvGraphicFramePr>
        <p:xfrm>
          <a:off x="2405948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66059787-A29C-47B3-9158-1841972F32CA}"/>
              </a:ext>
            </a:extLst>
          </p:cNvPr>
          <p:cNvGraphicFramePr>
            <a:graphicFrameLocks noGrp="1"/>
          </p:cNvGraphicFramePr>
          <p:nvPr/>
        </p:nvGraphicFramePr>
        <p:xfrm>
          <a:off x="1902770" y="3267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CDEF08FD-4EAD-4FC2-9A29-08593AC5059D}"/>
              </a:ext>
            </a:extLst>
          </p:cNvPr>
          <p:cNvGraphicFramePr>
            <a:graphicFrameLocks noGrp="1"/>
          </p:cNvGraphicFramePr>
          <p:nvPr/>
        </p:nvGraphicFramePr>
        <p:xfrm>
          <a:off x="1902770" y="3834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C37EC9C-B634-4831-8F1B-BC94632BF18E}"/>
              </a:ext>
            </a:extLst>
          </p:cNvPr>
          <p:cNvSpPr txBox="1"/>
          <p:nvPr/>
        </p:nvSpPr>
        <p:spPr>
          <a:xfrm>
            <a:off x="1470602" y="3370566"/>
            <a:ext cx="864000" cy="2988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(FP Planner)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A3C25109-03ED-4249-ACC6-5810F6BA9881}"/>
              </a:ext>
            </a:extLst>
          </p:cNvPr>
          <p:cNvGraphicFramePr>
            <a:graphicFrameLocks noGrp="1"/>
          </p:cNvGraphicFramePr>
          <p:nvPr/>
        </p:nvGraphicFramePr>
        <p:xfrm>
          <a:off x="1902770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734D02D6-73FF-42EF-98AF-5CAC093473B4}"/>
              </a:ext>
            </a:extLst>
          </p:cNvPr>
          <p:cNvGraphicFramePr>
            <a:graphicFrameLocks noGrp="1"/>
          </p:cNvGraphicFramePr>
          <p:nvPr/>
        </p:nvGraphicFramePr>
        <p:xfrm>
          <a:off x="2909126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65318AE1-FB5E-4B6A-AC5F-651E4EF225A0}"/>
              </a:ext>
            </a:extLst>
          </p:cNvPr>
          <p:cNvGraphicFramePr>
            <a:graphicFrameLocks noGrp="1"/>
          </p:cNvGraphicFramePr>
          <p:nvPr/>
        </p:nvGraphicFramePr>
        <p:xfrm>
          <a:off x="1397830" y="1566966"/>
          <a:ext cx="2015296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296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260BDF9-EBD2-4FCA-A0C4-783969D01FE3}"/>
              </a:ext>
            </a:extLst>
          </p:cNvPr>
          <p:cNvGraphicFramePr>
            <a:graphicFrameLocks noGrp="1"/>
          </p:cNvGraphicFramePr>
          <p:nvPr/>
        </p:nvGraphicFramePr>
        <p:xfrm>
          <a:off x="1398770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DB938429-CB08-4B72-BB88-07EDF1A84678}"/>
              </a:ext>
            </a:extLst>
          </p:cNvPr>
          <p:cNvGraphicFramePr>
            <a:graphicFrameLocks noGrp="1"/>
          </p:cNvGraphicFramePr>
          <p:nvPr/>
        </p:nvGraphicFramePr>
        <p:xfrm>
          <a:off x="1902435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W+1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D9247094-1546-412A-BFE3-1AEFEB5469C9}"/>
              </a:ext>
            </a:extLst>
          </p:cNvPr>
          <p:cNvGraphicFramePr>
            <a:graphicFrameLocks noGrp="1"/>
          </p:cNvGraphicFramePr>
          <p:nvPr/>
        </p:nvGraphicFramePr>
        <p:xfrm>
          <a:off x="2406100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BB4BAA91-6544-46BF-A6D4-CD71275CD631}"/>
              </a:ext>
            </a:extLst>
          </p:cNvPr>
          <p:cNvGraphicFramePr>
            <a:graphicFrameLocks noGrp="1"/>
          </p:cNvGraphicFramePr>
          <p:nvPr/>
        </p:nvGraphicFramePr>
        <p:xfrm>
          <a:off x="2909765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9164934B-D310-4EF0-974B-4C0C1D79E2F5}"/>
              </a:ext>
            </a:extLst>
          </p:cNvPr>
          <p:cNvGraphicFramePr>
            <a:graphicFrameLocks noGrp="1"/>
          </p:cNvGraphicFramePr>
          <p:nvPr/>
        </p:nvGraphicFramePr>
        <p:xfrm>
          <a:off x="3413126" y="1566966"/>
          <a:ext cx="2015296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296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당해년도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최대 다음 해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C84818B9-B935-4F2B-B013-ACAE5E0AE971}"/>
              </a:ext>
            </a:extLst>
          </p:cNvPr>
          <p:cNvGraphicFramePr>
            <a:graphicFrameLocks noGrp="1"/>
          </p:cNvGraphicFramePr>
          <p:nvPr/>
        </p:nvGraphicFramePr>
        <p:xfrm>
          <a:off x="3413430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59E725F-054D-485E-9538-18BC693F7796}"/>
              </a:ext>
            </a:extLst>
          </p:cNvPr>
          <p:cNvGraphicFramePr>
            <a:graphicFrameLocks noGrp="1"/>
          </p:cNvGraphicFramePr>
          <p:nvPr/>
        </p:nvGraphicFramePr>
        <p:xfrm>
          <a:off x="3917095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F5FB6F68-8913-4006-86BF-0A820FAFDE94}"/>
              </a:ext>
            </a:extLst>
          </p:cNvPr>
          <p:cNvGraphicFramePr>
            <a:graphicFrameLocks noGrp="1"/>
          </p:cNvGraphicFramePr>
          <p:nvPr/>
        </p:nvGraphicFramePr>
        <p:xfrm>
          <a:off x="4420760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···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0743744E-D426-4E87-8274-0F6E6FAB8620}"/>
              </a:ext>
            </a:extLst>
          </p:cNvPr>
          <p:cNvGraphicFramePr>
            <a:graphicFrameLocks noGrp="1"/>
          </p:cNvGraphicFramePr>
          <p:nvPr/>
        </p:nvGraphicFramePr>
        <p:xfrm>
          <a:off x="4924422" y="2133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W+51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B3FCEC12-C84F-496E-AD52-1E9DA9905908}"/>
              </a:ext>
            </a:extLst>
          </p:cNvPr>
          <p:cNvGraphicFramePr>
            <a:graphicFrameLocks noGrp="1"/>
          </p:cNvGraphicFramePr>
          <p:nvPr/>
        </p:nvGraphicFramePr>
        <p:xfrm>
          <a:off x="3411482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4A20E031-642B-4967-BF7F-6D8709157133}"/>
              </a:ext>
            </a:extLst>
          </p:cNvPr>
          <p:cNvGraphicFramePr>
            <a:graphicFrameLocks noGrp="1"/>
          </p:cNvGraphicFramePr>
          <p:nvPr/>
        </p:nvGraphicFramePr>
        <p:xfrm>
          <a:off x="3915147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B270E2A6-09B5-4697-BBB4-D92983FAE156}"/>
              </a:ext>
            </a:extLst>
          </p:cNvPr>
          <p:cNvGraphicFramePr>
            <a:graphicFrameLocks noGrp="1"/>
          </p:cNvGraphicFramePr>
          <p:nvPr/>
        </p:nvGraphicFramePr>
        <p:xfrm>
          <a:off x="4418812" y="2700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0BF13047-39EC-461A-97C5-C3A81D5284B6}"/>
              </a:ext>
            </a:extLst>
          </p:cNvPr>
          <p:cNvSpPr txBox="1"/>
          <p:nvPr/>
        </p:nvSpPr>
        <p:spPr>
          <a:xfrm>
            <a:off x="1470602" y="2806970"/>
            <a:ext cx="864000" cy="29899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(FP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동기화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0D0DE7-BDD8-48E5-932D-62549C2F45AC}"/>
              </a:ext>
            </a:extLst>
          </p:cNvPr>
          <p:cNvSpPr txBox="1"/>
          <p:nvPr/>
        </p:nvSpPr>
        <p:spPr>
          <a:xfrm>
            <a:off x="3237671" y="2799966"/>
            <a:ext cx="1355288" cy="306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52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(SCP Planner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 수립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1D4454-27EB-4CA8-B6D1-5BA3C52A6409}"/>
              </a:ext>
            </a:extLst>
          </p:cNvPr>
          <p:cNvSpPr txBox="1"/>
          <p:nvPr/>
        </p:nvSpPr>
        <p:spPr>
          <a:xfrm>
            <a:off x="5504634" y="270096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52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단위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7AD1A8-0ADB-4079-913D-640ED8F7ECE8}"/>
              </a:ext>
            </a:extLst>
          </p:cNvPr>
          <p:cNvSpPr txBox="1"/>
          <p:nvPr/>
        </p:nvSpPr>
        <p:spPr>
          <a:xfrm>
            <a:off x="5504634" y="326796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단위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03EBCA-F38E-4492-80DE-24E3C7719BBC}"/>
              </a:ext>
            </a:extLst>
          </p:cNvPr>
          <p:cNvSpPr txBox="1"/>
          <p:nvPr/>
        </p:nvSpPr>
        <p:spPr>
          <a:xfrm>
            <a:off x="5504634" y="383496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(9~12)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33E5AD-4B79-4BFF-ADB4-BDE0D2C2EAAC}"/>
              </a:ext>
            </a:extLst>
          </p:cNvPr>
          <p:cNvSpPr txBox="1"/>
          <p:nvPr/>
        </p:nvSpPr>
        <p:spPr>
          <a:xfrm>
            <a:off x="5504634" y="213396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52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단위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DDB38F-AA71-4B1D-8C89-119C0592313D}"/>
              </a:ext>
            </a:extLst>
          </p:cNvPr>
          <p:cNvSpPr txBox="1"/>
          <p:nvPr/>
        </p:nvSpPr>
        <p:spPr>
          <a:xfrm>
            <a:off x="5504634" y="156696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당해년도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단위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2F05E6F-56DC-4148-9042-6CD691EC5CA8}"/>
              </a:ext>
            </a:extLst>
          </p:cNvPr>
          <p:cNvGraphicFramePr>
            <a:graphicFrameLocks noGrp="1"/>
          </p:cNvGraphicFramePr>
          <p:nvPr/>
        </p:nvGraphicFramePr>
        <p:xfrm>
          <a:off x="2405948" y="383496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1E989CC-59E6-4C9F-BADF-075FDCB6BB93}"/>
              </a:ext>
            </a:extLst>
          </p:cNvPr>
          <p:cNvSpPr/>
          <p:nvPr/>
        </p:nvSpPr>
        <p:spPr>
          <a:xfrm>
            <a:off x="1366838" y="2665535"/>
            <a:ext cx="1074437" cy="1138687"/>
          </a:xfrm>
          <a:prstGeom prst="rect">
            <a:avLst/>
          </a:prstGeom>
          <a:solidFill>
            <a:srgbClr val="C00000">
              <a:alpha val="5000"/>
            </a:srgbClr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F253F5-446F-4D59-9660-C5C137034A63}"/>
              </a:ext>
            </a:extLst>
          </p:cNvPr>
          <p:cNvSpPr txBox="1"/>
          <p:nvPr/>
        </p:nvSpPr>
        <p:spPr>
          <a:xfrm>
            <a:off x="2732449" y="2295966"/>
            <a:ext cx="1355288" cy="18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52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BF47D4-A4C5-4451-925C-DEF7F8626755}"/>
              </a:ext>
            </a:extLst>
          </p:cNvPr>
          <p:cNvSpPr txBox="1"/>
          <p:nvPr/>
        </p:nvSpPr>
        <p:spPr>
          <a:xfrm>
            <a:off x="2846913" y="1723456"/>
            <a:ext cx="1126360" cy="18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52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11477B9-2DE2-4293-95AE-49A4CD3AAD6D}"/>
              </a:ext>
            </a:extLst>
          </p:cNvPr>
          <p:cNvSpPr/>
          <p:nvPr/>
        </p:nvSpPr>
        <p:spPr>
          <a:xfrm>
            <a:off x="2372264" y="2665535"/>
            <a:ext cx="3088257" cy="569343"/>
          </a:xfrm>
          <a:prstGeom prst="rect">
            <a:avLst/>
          </a:prstGeom>
          <a:solidFill>
            <a:srgbClr val="000099">
              <a:alpha val="5000"/>
            </a:srgbClr>
          </a:solidFill>
          <a:ln w="15875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F8C0079-D455-4BBC-97AC-617CDF9A5240}"/>
              </a:ext>
            </a:extLst>
          </p:cNvPr>
          <p:cNvSpPr txBox="1"/>
          <p:nvPr/>
        </p:nvSpPr>
        <p:spPr>
          <a:xfrm>
            <a:off x="1572105" y="3937566"/>
            <a:ext cx="1093458" cy="2988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자재 수급 담당자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5FD3982-E2A4-4897-BD98-682DE93E432F}"/>
              </a:ext>
            </a:extLst>
          </p:cNvPr>
          <p:cNvSpPr/>
          <p:nvPr/>
        </p:nvSpPr>
        <p:spPr bwMode="auto">
          <a:xfrm>
            <a:off x="799241" y="438861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 획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 리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8121094-51AC-4DF6-B3F0-4BDA55A4A48E}"/>
              </a:ext>
            </a:extLst>
          </p:cNvPr>
          <p:cNvSpPr/>
          <p:nvPr/>
        </p:nvSpPr>
        <p:spPr bwMode="auto">
          <a:xfrm>
            <a:off x="799241" y="495561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영 업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(DP)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0DE6C0B-3430-415B-8BF7-F9386E7DF05E}"/>
              </a:ext>
            </a:extLst>
          </p:cNvPr>
          <p:cNvSpPr/>
          <p:nvPr/>
        </p:nvSpPr>
        <p:spPr bwMode="auto">
          <a:xfrm>
            <a:off x="799241" y="5522616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통 합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SCM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EC6E08B-1D33-40DC-9ABC-452FF8562997}"/>
              </a:ext>
            </a:extLst>
          </p:cNvPr>
          <p:cNvSpPr/>
          <p:nvPr/>
        </p:nvSpPr>
        <p:spPr bwMode="auto">
          <a:xfrm>
            <a:off x="799241" y="6088058"/>
            <a:ext cx="539779" cy="50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</a:t>
            </a: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재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(MRP)</a:t>
            </a: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AF62ACE2-2949-464B-84EB-78119C87D919}"/>
              </a:ext>
            </a:extLst>
          </p:cNvPr>
          <p:cNvGraphicFramePr>
            <a:graphicFrameLocks noGrp="1"/>
          </p:cNvGraphicFramePr>
          <p:nvPr/>
        </p:nvGraphicFramePr>
        <p:xfrm>
          <a:off x="1397831" y="6088058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7521D775-9325-42CC-80CE-D2F692D18C70}"/>
              </a:ext>
            </a:extLst>
          </p:cNvPr>
          <p:cNvGraphicFramePr>
            <a:graphicFrameLocks noGrp="1"/>
          </p:cNvGraphicFramePr>
          <p:nvPr/>
        </p:nvGraphicFramePr>
        <p:xfrm>
          <a:off x="1397831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EB808B96-A0B9-4E81-8052-4244430F8106}"/>
              </a:ext>
            </a:extLst>
          </p:cNvPr>
          <p:cNvGraphicFramePr>
            <a:graphicFrameLocks noGrp="1"/>
          </p:cNvGraphicFramePr>
          <p:nvPr/>
        </p:nvGraphicFramePr>
        <p:xfrm>
          <a:off x="2405948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0141427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864101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4547057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13114726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45026034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8203294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96F38194-5A2B-457B-A394-A36D660E5C7A}"/>
              </a:ext>
            </a:extLst>
          </p:cNvPr>
          <p:cNvGraphicFramePr>
            <a:graphicFrameLocks noGrp="1"/>
          </p:cNvGraphicFramePr>
          <p:nvPr/>
        </p:nvGraphicFramePr>
        <p:xfrm>
          <a:off x="1902770" y="6088058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29CD4046-915C-4D33-8807-21855904B282}"/>
              </a:ext>
            </a:extLst>
          </p:cNvPr>
          <p:cNvGraphicFramePr>
            <a:graphicFrameLocks noGrp="1"/>
          </p:cNvGraphicFramePr>
          <p:nvPr/>
        </p:nvGraphicFramePr>
        <p:xfrm>
          <a:off x="1902770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7399841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82058968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7421642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2626074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4757864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15316296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1696E01D-0162-4F25-9724-D2E4DD1EEDB7}"/>
              </a:ext>
            </a:extLst>
          </p:cNvPr>
          <p:cNvGraphicFramePr>
            <a:graphicFrameLocks noGrp="1"/>
          </p:cNvGraphicFramePr>
          <p:nvPr/>
        </p:nvGraphicFramePr>
        <p:xfrm>
          <a:off x="2909126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61753619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64280026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140887147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300651759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3727714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188201788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473B032C-6626-4097-BB3C-E77A7ABAB0F6}"/>
              </a:ext>
            </a:extLst>
          </p:cNvPr>
          <p:cNvGraphicFramePr>
            <a:graphicFrameLocks noGrp="1"/>
          </p:cNvGraphicFramePr>
          <p:nvPr/>
        </p:nvGraphicFramePr>
        <p:xfrm>
          <a:off x="1397830" y="4388616"/>
          <a:ext cx="2015296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296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66479724-0182-423F-9F62-E4C0F8C722A5}"/>
              </a:ext>
            </a:extLst>
          </p:cNvPr>
          <p:cNvGraphicFramePr>
            <a:graphicFrameLocks noGrp="1"/>
          </p:cNvGraphicFramePr>
          <p:nvPr/>
        </p:nvGraphicFramePr>
        <p:xfrm>
          <a:off x="1398770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3453E07F-607C-45E4-B9DF-FC8A046A9FBA}"/>
              </a:ext>
            </a:extLst>
          </p:cNvPr>
          <p:cNvGraphicFramePr>
            <a:graphicFrameLocks noGrp="1"/>
          </p:cNvGraphicFramePr>
          <p:nvPr/>
        </p:nvGraphicFramePr>
        <p:xfrm>
          <a:off x="1902435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W+1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8BB89C5B-A009-4479-97D3-DE43977E25D8}"/>
              </a:ext>
            </a:extLst>
          </p:cNvPr>
          <p:cNvGraphicFramePr>
            <a:graphicFrameLocks noGrp="1"/>
          </p:cNvGraphicFramePr>
          <p:nvPr/>
        </p:nvGraphicFramePr>
        <p:xfrm>
          <a:off x="2406100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A8991817-3552-4BA9-BC59-2AD981EB6383}"/>
              </a:ext>
            </a:extLst>
          </p:cNvPr>
          <p:cNvGraphicFramePr>
            <a:graphicFrameLocks noGrp="1"/>
          </p:cNvGraphicFramePr>
          <p:nvPr/>
        </p:nvGraphicFramePr>
        <p:xfrm>
          <a:off x="2909765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716C8B60-84C7-4816-8B65-BC9CB1B7A82E}"/>
              </a:ext>
            </a:extLst>
          </p:cNvPr>
          <p:cNvGraphicFramePr>
            <a:graphicFrameLocks noGrp="1"/>
          </p:cNvGraphicFramePr>
          <p:nvPr/>
        </p:nvGraphicFramePr>
        <p:xfrm>
          <a:off x="3413126" y="4388616"/>
          <a:ext cx="2015296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296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당해년도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최대 다음 해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분기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B32B1A6B-A71D-4528-B885-541994A820CF}"/>
              </a:ext>
            </a:extLst>
          </p:cNvPr>
          <p:cNvGraphicFramePr>
            <a:graphicFrameLocks noGrp="1"/>
          </p:cNvGraphicFramePr>
          <p:nvPr/>
        </p:nvGraphicFramePr>
        <p:xfrm>
          <a:off x="3413430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32951DAF-6EAE-4E45-8B90-F1812CB3E09F}"/>
              </a:ext>
            </a:extLst>
          </p:cNvPr>
          <p:cNvGraphicFramePr>
            <a:graphicFrameLocks noGrp="1"/>
          </p:cNvGraphicFramePr>
          <p:nvPr/>
        </p:nvGraphicFramePr>
        <p:xfrm>
          <a:off x="3917095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F49ACB6C-C5DE-4E63-8E01-DE9A974FFB5F}"/>
              </a:ext>
            </a:extLst>
          </p:cNvPr>
          <p:cNvGraphicFramePr>
            <a:graphicFrameLocks noGrp="1"/>
          </p:cNvGraphicFramePr>
          <p:nvPr/>
        </p:nvGraphicFramePr>
        <p:xfrm>
          <a:off x="4420760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961C2D03-E758-4E66-ABAA-1F68EAC3A385}"/>
              </a:ext>
            </a:extLst>
          </p:cNvPr>
          <p:cNvGraphicFramePr>
            <a:graphicFrameLocks noGrp="1"/>
          </p:cNvGraphicFramePr>
          <p:nvPr/>
        </p:nvGraphicFramePr>
        <p:xfrm>
          <a:off x="4924422" y="4955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W+51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B9356FD8-D1DC-40BF-8C53-1B691C63FEC8}"/>
              </a:ext>
            </a:extLst>
          </p:cNvPr>
          <p:cNvGraphicFramePr>
            <a:graphicFrameLocks noGrp="1"/>
          </p:cNvGraphicFramePr>
          <p:nvPr/>
        </p:nvGraphicFramePr>
        <p:xfrm>
          <a:off x="3411482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B81C1C81-8A9C-4CD9-AA55-89632FFCF10F}"/>
              </a:ext>
            </a:extLst>
          </p:cNvPr>
          <p:cNvGraphicFramePr>
            <a:graphicFrameLocks noGrp="1"/>
          </p:cNvGraphicFramePr>
          <p:nvPr/>
        </p:nvGraphicFramePr>
        <p:xfrm>
          <a:off x="3915147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8203E93A-BA59-4E6B-8EA8-713105A7764D}"/>
              </a:ext>
            </a:extLst>
          </p:cNvPr>
          <p:cNvGraphicFramePr>
            <a:graphicFrameLocks noGrp="1"/>
          </p:cNvGraphicFramePr>
          <p:nvPr/>
        </p:nvGraphicFramePr>
        <p:xfrm>
          <a:off x="4418812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5F74BC07-53A1-42FD-98D9-A7D1E49927FB}"/>
              </a:ext>
            </a:extLst>
          </p:cNvPr>
          <p:cNvGraphicFramePr>
            <a:graphicFrameLocks noGrp="1"/>
          </p:cNvGraphicFramePr>
          <p:nvPr/>
        </p:nvGraphicFramePr>
        <p:xfrm>
          <a:off x="4922474" y="5522616"/>
          <a:ext cx="504000" cy="5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65638981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065529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8AC01D75-281E-4E20-8D6D-E53ACA48490C}"/>
              </a:ext>
            </a:extLst>
          </p:cNvPr>
          <p:cNvSpPr txBox="1"/>
          <p:nvPr/>
        </p:nvSpPr>
        <p:spPr>
          <a:xfrm>
            <a:off x="1840876" y="5628620"/>
            <a:ext cx="1117152" cy="29899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16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(FP Plan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+8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확장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03F4D01-7272-423B-9623-86C7ED95BA95}"/>
              </a:ext>
            </a:extLst>
          </p:cNvPr>
          <p:cNvSpPr txBox="1"/>
          <p:nvPr/>
        </p:nvSpPr>
        <p:spPr>
          <a:xfrm>
            <a:off x="3522075" y="5621616"/>
            <a:ext cx="1790966" cy="306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52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(SCP Planner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 연간 계획 수립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FD5C876-DC86-4DEC-A141-0C077E1D1419}"/>
              </a:ext>
            </a:extLst>
          </p:cNvPr>
          <p:cNvSpPr txBox="1"/>
          <p:nvPr/>
        </p:nvSpPr>
        <p:spPr>
          <a:xfrm>
            <a:off x="2732449" y="5117616"/>
            <a:ext cx="1355288" cy="18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52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D6E162D-8D69-491D-8B3E-2022A2D80760}"/>
              </a:ext>
            </a:extLst>
          </p:cNvPr>
          <p:cNvSpPr txBox="1"/>
          <p:nvPr/>
        </p:nvSpPr>
        <p:spPr>
          <a:xfrm>
            <a:off x="2826830" y="4545106"/>
            <a:ext cx="1166526" cy="18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~ 52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B7C36D7-E223-4F13-88C3-52AF06E4368F}"/>
              </a:ext>
            </a:extLst>
          </p:cNvPr>
          <p:cNvSpPr txBox="1"/>
          <p:nvPr/>
        </p:nvSpPr>
        <p:spPr>
          <a:xfrm>
            <a:off x="1572105" y="6190658"/>
            <a:ext cx="1093458" cy="2988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←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 →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자재 수급 담당자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A1CE055-F96A-4086-A684-E82590249357}"/>
              </a:ext>
            </a:extLst>
          </p:cNvPr>
          <p:cNvSpPr txBox="1"/>
          <p:nvPr/>
        </p:nvSpPr>
        <p:spPr>
          <a:xfrm>
            <a:off x="5504634" y="552261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2F0D9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월간</a:t>
            </a:r>
            <a:endParaRPr kumimoji="0" lang="en-US" altLang="ko-KR" sz="9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E2F0D9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2F0D9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16</a:t>
            </a:r>
            <a:r>
              <a:rPr kumimoji="0" lang="ko-KR" altLang="en-US" sz="9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2F0D9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52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B6C6D18-3671-4868-9A22-A313D0D470E2}"/>
              </a:ext>
            </a:extLst>
          </p:cNvPr>
          <p:cNvSpPr txBox="1"/>
          <p:nvPr/>
        </p:nvSpPr>
        <p:spPr>
          <a:xfrm>
            <a:off x="5504634" y="608961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12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단위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FE57D2F-7131-44B1-A741-28822C7EE6EE}"/>
              </a:ext>
            </a:extLst>
          </p:cNvPr>
          <p:cNvSpPr txBox="1"/>
          <p:nvPr/>
        </p:nvSpPr>
        <p:spPr>
          <a:xfrm>
            <a:off x="5504634" y="495561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52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구간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단위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DB79E92-62B1-45A3-870C-82195C130AB7}"/>
              </a:ext>
            </a:extLst>
          </p:cNvPr>
          <p:cNvSpPr txBox="1"/>
          <p:nvPr/>
        </p:nvSpPr>
        <p:spPr>
          <a:xfrm>
            <a:off x="5504634" y="4388616"/>
            <a:ext cx="695286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[C]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[H]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당해년도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0" lang="en-US" altLang="ko-KR" sz="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B]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단위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9C0F613-CDB3-4CDA-9A7A-8316D5628D49}"/>
              </a:ext>
            </a:extLst>
          </p:cNvPr>
          <p:cNvGrpSpPr/>
          <p:nvPr/>
        </p:nvGrpSpPr>
        <p:grpSpPr>
          <a:xfrm>
            <a:off x="200023" y="1205996"/>
            <a:ext cx="6016811" cy="252000"/>
            <a:chOff x="4953000" y="3098800"/>
            <a:chExt cx="6016811" cy="252000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E1A4F457-7FB1-4D55-B257-7001F9AB3236}"/>
                </a:ext>
              </a:extLst>
            </p:cNvPr>
            <p:cNvSpPr/>
            <p:nvPr/>
          </p:nvSpPr>
          <p:spPr>
            <a:xfrm>
              <a:off x="4953000" y="3098800"/>
              <a:ext cx="36000" cy="25200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1" name="Text Box 118">
              <a:extLst>
                <a:ext uri="{FF2B5EF4-FFF2-40B4-BE49-F238E27FC236}">
                  <a16:creationId xmlns:a16="http://schemas.microsoft.com/office/drawing/2014/main" id="{243ABE9C-3836-4C7D-961D-90D2DE98F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613" y="3098800"/>
              <a:ext cx="5948198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  <a:effectLst/>
          </p:spPr>
          <p:txBody>
            <a:bodyPr wrap="square" lIns="36000" tIns="0" rIns="0" bIns="0" anchor="ctr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9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SCM Planning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구조 제안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/ [C] </a:t>
              </a: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주기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[H] </a:t>
              </a: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구간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[B] </a:t>
              </a: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단위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8CDC7D5C-2C7E-4A21-B371-1FB5D301DFF1}"/>
              </a:ext>
            </a:extLst>
          </p:cNvPr>
          <p:cNvSpPr/>
          <p:nvPr/>
        </p:nvSpPr>
        <p:spPr>
          <a:xfrm>
            <a:off x="2481821" y="3306434"/>
            <a:ext cx="540000" cy="20451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>
            <a:miter lim="400000"/>
          </a:ln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Helvetica Neue"/>
              </a:rPr>
              <a:t>➊ </a:t>
            </a: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중 복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3303742D-6D6B-4C3E-BBDB-E82801527BB3}"/>
              </a:ext>
            </a:extLst>
          </p:cNvPr>
          <p:cNvSpPr/>
          <p:nvPr/>
        </p:nvSpPr>
        <p:spPr>
          <a:xfrm>
            <a:off x="3021821" y="3306434"/>
            <a:ext cx="2404653" cy="204517"/>
          </a:xfrm>
          <a:prstGeom prst="roundRect">
            <a:avLst>
              <a:gd name="adj" fmla="val 0"/>
            </a:avLst>
          </a:prstGeom>
          <a:solidFill>
            <a:srgbClr val="EAEAEA"/>
          </a:solidFill>
          <a:ln w="12700">
            <a:miter lim="400000"/>
          </a:ln>
        </p:spPr>
        <p:txBody>
          <a:bodyPr wrap="none" lIns="7200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SCP Target</a:t>
            </a: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으로서의 역할 축소</a:t>
            </a:r>
            <a:r>
              <a:rPr kumimoji="0" lang="en-US" altLang="ko-KR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, </a:t>
            </a: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부재</a:t>
            </a: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A851F13B-5E5F-45F4-B0AD-3453D62C961F}"/>
              </a:ext>
            </a:extLst>
          </p:cNvPr>
          <p:cNvSpPr>
            <a:spLocks noChangeAspect="1"/>
          </p:cNvSpPr>
          <p:nvPr/>
        </p:nvSpPr>
        <p:spPr bwMode="auto">
          <a:xfrm>
            <a:off x="1284947" y="2594746"/>
            <a:ext cx="144000" cy="144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8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203877D2-18A7-4143-B750-095F19B3FB45}"/>
              </a:ext>
            </a:extLst>
          </p:cNvPr>
          <p:cNvSpPr>
            <a:spLocks noChangeAspect="1"/>
          </p:cNvSpPr>
          <p:nvPr/>
        </p:nvSpPr>
        <p:spPr bwMode="auto">
          <a:xfrm>
            <a:off x="2297994" y="2592011"/>
            <a:ext cx="144000" cy="144000"/>
          </a:xfrm>
          <a:prstGeom prst="ellipse">
            <a:avLst/>
          </a:prstGeom>
          <a:solidFill>
            <a:srgbClr val="0000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8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30983955-F5B0-4338-A187-AEE380CFB49B}"/>
              </a:ext>
            </a:extLst>
          </p:cNvPr>
          <p:cNvSpPr/>
          <p:nvPr/>
        </p:nvSpPr>
        <p:spPr>
          <a:xfrm>
            <a:off x="2481821" y="3555657"/>
            <a:ext cx="540000" cy="204517"/>
          </a:xfrm>
          <a:prstGeom prst="roundRect">
            <a:avLst>
              <a:gd name="adj" fmla="val 0"/>
            </a:avLst>
          </a:prstGeom>
          <a:solidFill>
            <a:srgbClr val="000099"/>
          </a:solidFill>
          <a:ln w="12700">
            <a:miter lim="400000"/>
          </a:ln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Helvetica Neue"/>
              </a:rPr>
              <a:t>➋ </a:t>
            </a: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과 잉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A2812349-97FD-4551-9469-32DF31C84743}"/>
              </a:ext>
            </a:extLst>
          </p:cNvPr>
          <p:cNvSpPr/>
          <p:nvPr/>
        </p:nvSpPr>
        <p:spPr>
          <a:xfrm>
            <a:off x="3021821" y="3555657"/>
            <a:ext cx="2404653" cy="204517"/>
          </a:xfrm>
          <a:prstGeom prst="roundRect">
            <a:avLst>
              <a:gd name="adj" fmla="val 0"/>
            </a:avLst>
          </a:prstGeom>
          <a:solidFill>
            <a:srgbClr val="EAEAEA"/>
          </a:solidFill>
          <a:ln w="12700">
            <a:miter lim="400000"/>
          </a:ln>
        </p:spPr>
        <p:txBody>
          <a:bodyPr wrap="none" lIns="7200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매주 </a:t>
            </a:r>
            <a:r>
              <a:rPr kumimoji="0" lang="en-US" altLang="ko-KR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52</a:t>
            </a:r>
            <a:r>
              <a:rPr kumimoji="0" lang="ko-KR" altLang="en-US" sz="115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주 구간 계획 수립의 비효율 ↑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D507E56-FD03-42E1-A2DF-3064F6661F7D}"/>
              </a:ext>
            </a:extLst>
          </p:cNvPr>
          <p:cNvSpPr/>
          <p:nvPr/>
        </p:nvSpPr>
        <p:spPr>
          <a:xfrm>
            <a:off x="1366838" y="5487994"/>
            <a:ext cx="4093683" cy="569343"/>
          </a:xfrm>
          <a:prstGeom prst="rect">
            <a:avLst/>
          </a:prstGeom>
          <a:solidFill>
            <a:srgbClr val="006600">
              <a:alpha val="5000"/>
            </a:srgbClr>
          </a:solidFill>
          <a:ln w="158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114FDC-EEF3-4D54-A302-B0C4777F1EC7}"/>
              </a:ext>
            </a:extLst>
          </p:cNvPr>
          <p:cNvSpPr txBox="1"/>
          <p:nvPr/>
        </p:nvSpPr>
        <p:spPr>
          <a:xfrm>
            <a:off x="3663482" y="1104227"/>
            <a:ext cx="172528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└ </a:t>
            </a:r>
            <a:r>
              <a:rPr kumimoji="0" lang="en-US" altLang="ko-KR" sz="1000" b="1" i="0" u="sng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liminate, </a:t>
            </a:r>
            <a:r>
              <a:rPr kumimoji="0" lang="en-US" altLang="ko-KR" sz="1000" b="1" i="0" u="sng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educe, </a:t>
            </a:r>
            <a:r>
              <a:rPr kumimoji="0" lang="en-US" altLang="ko-KR" sz="1000" b="1" i="0" u="sng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aise, </a:t>
            </a:r>
            <a:r>
              <a:rPr kumimoji="0" lang="en-US" altLang="ko-KR" sz="1000" b="1" i="0" u="sng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reate</a:t>
            </a:r>
            <a:endParaRPr kumimoji="0" lang="ko-KR" altLang="en-US" sz="1000" b="0" i="0" u="none" strike="noStrike" kern="1200" cap="none" spc="-3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1E8E6001-43D6-4BA0-B9C8-32481B7AECA2}"/>
              </a:ext>
            </a:extLst>
          </p:cNvPr>
          <p:cNvGrpSpPr/>
          <p:nvPr/>
        </p:nvGrpSpPr>
        <p:grpSpPr>
          <a:xfrm>
            <a:off x="6287398" y="1205996"/>
            <a:ext cx="3418578" cy="252000"/>
            <a:chOff x="4953000" y="3098800"/>
            <a:chExt cx="3418578" cy="252000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11BECB44-AAD4-4A5B-ABAF-74BD295B9C08}"/>
                </a:ext>
              </a:extLst>
            </p:cNvPr>
            <p:cNvSpPr/>
            <p:nvPr/>
          </p:nvSpPr>
          <p:spPr>
            <a:xfrm>
              <a:off x="4953000" y="3098800"/>
              <a:ext cx="36000" cy="25200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6" name="Text Box 118">
              <a:extLst>
                <a:ext uri="{FF2B5EF4-FFF2-40B4-BE49-F238E27FC236}">
                  <a16:creationId xmlns:a16="http://schemas.microsoft.com/office/drawing/2014/main" id="{C5F39898-7AED-447F-B252-853748131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613" y="3098800"/>
              <a:ext cx="3349965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  <a:effectLst/>
          </p:spPr>
          <p:txBody>
            <a:bodyPr wrap="square" lIns="36000" tIns="0" rIns="0" bIns="0" anchor="ctr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Pct val="90000"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To-Be 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안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/ FP-SCP </a:t>
              </a: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통합 및 강화</a:t>
              </a: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endParaRPr kumimoji="1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16" name="타원 115">
            <a:extLst>
              <a:ext uri="{FF2B5EF4-FFF2-40B4-BE49-F238E27FC236}">
                <a16:creationId xmlns:a16="http://schemas.microsoft.com/office/drawing/2014/main" id="{D0AAE22A-5C91-4F1C-BFCE-B84524609E5F}"/>
              </a:ext>
            </a:extLst>
          </p:cNvPr>
          <p:cNvSpPr>
            <a:spLocks noChangeAspect="1"/>
          </p:cNvSpPr>
          <p:nvPr/>
        </p:nvSpPr>
        <p:spPr bwMode="auto">
          <a:xfrm>
            <a:off x="1282645" y="5412621"/>
            <a:ext cx="144000" cy="144000"/>
          </a:xfrm>
          <a:prstGeom prst="ellipse">
            <a:avLst/>
          </a:prstGeom>
          <a:solidFill>
            <a:srgbClr val="00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18000" numCol="1" rtlCol="0" anchor="ctr" anchorCtr="1" compatLnSpc="1">
            <a:prstTxWarp prst="textNoShape">
              <a:avLst/>
            </a:prstTxWarp>
          </a:bodyPr>
          <a:lstStyle/>
          <a:p>
            <a:pPr marL="0" marR="0" lvl="0" indent="0" algn="ctr" defTabSz="825475" rtl="0" eaLnBrk="1" fontAlgn="base" latinLnBrk="0" hangingPunct="1">
              <a:lnSpc>
                <a:spcPct val="120000"/>
              </a:lnSpc>
              <a:spcBef>
                <a:spcPts val="1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C20AE76-F53C-4D96-B7F2-1FE1B965630B}"/>
              </a:ext>
            </a:extLst>
          </p:cNvPr>
          <p:cNvSpPr/>
          <p:nvPr/>
        </p:nvSpPr>
        <p:spPr>
          <a:xfrm>
            <a:off x="6287397" y="1567724"/>
            <a:ext cx="3418577" cy="5024334"/>
          </a:xfrm>
          <a:prstGeom prst="rect">
            <a:avLst/>
          </a:prstGeom>
          <a:solidFill>
            <a:srgbClr val="F8F8F8"/>
          </a:solidFill>
          <a:ln>
            <a:noFill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B5F1301-0CA8-4830-88B9-FB9FDE277484}"/>
              </a:ext>
            </a:extLst>
          </p:cNvPr>
          <p:cNvCxnSpPr/>
          <p:nvPr/>
        </p:nvCxnSpPr>
        <p:spPr>
          <a:xfrm>
            <a:off x="5507440" y="4363791"/>
            <a:ext cx="67417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CF5ECF8-950B-42A3-A031-863B7D9727AB}"/>
              </a:ext>
            </a:extLst>
          </p:cNvPr>
          <p:cNvSpPr/>
          <p:nvPr/>
        </p:nvSpPr>
        <p:spPr>
          <a:xfrm>
            <a:off x="6353131" y="1621197"/>
            <a:ext cx="540000" cy="204517"/>
          </a:xfrm>
          <a:prstGeom prst="roundRect">
            <a:avLst>
              <a:gd name="adj" fmla="val 0"/>
            </a:avLst>
          </a:prstGeom>
          <a:solidFill>
            <a:srgbClr val="006600"/>
          </a:solidFill>
          <a:ln w="12700">
            <a:miter lim="400000"/>
          </a:ln>
        </p:spPr>
        <p:txBody>
          <a:bodyPr wrap="non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Helvetica Neue"/>
              </a:rPr>
              <a:t>➌ 통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Helvetica Neue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Helvetica Neue"/>
              </a:rPr>
              <a:t>합</a:t>
            </a:r>
            <a:endParaRPr kumimoji="0" lang="ko-KR" altLang="en-US" sz="12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Helvetica Neue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65D6ECCC-BD45-4C76-884C-B7DC072AAF6C}"/>
              </a:ext>
            </a:extLst>
          </p:cNvPr>
          <p:cNvSpPr/>
          <p:nvPr/>
        </p:nvSpPr>
        <p:spPr>
          <a:xfrm>
            <a:off x="6893131" y="1621197"/>
            <a:ext cx="2746169" cy="204517"/>
          </a:xfrm>
          <a:prstGeom prst="roundRect">
            <a:avLst>
              <a:gd name="adj" fmla="val 0"/>
            </a:avLst>
          </a:prstGeom>
          <a:solidFill>
            <a:srgbClr val="EAEAEA"/>
          </a:solidFill>
          <a:ln w="12700">
            <a:miter lim="400000"/>
          </a:ln>
        </p:spPr>
        <p:txBody>
          <a:bodyPr wrap="none" lIns="7200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FP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확장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, SCP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Helvetica Neue"/>
              </a:rPr>
              <a:t>의 역할 전환 및 관리 강화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654360-0CE9-4775-942E-72F114CA80D4}"/>
              </a:ext>
            </a:extLst>
          </p:cNvPr>
          <p:cNvGrpSpPr/>
          <p:nvPr/>
        </p:nvGrpSpPr>
        <p:grpSpPr>
          <a:xfrm>
            <a:off x="6353132" y="1967779"/>
            <a:ext cx="3286168" cy="1852778"/>
            <a:chOff x="6353132" y="1967778"/>
            <a:chExt cx="3286168" cy="1852778"/>
          </a:xfrm>
        </p:grpSpPr>
        <p:sp>
          <p:nvSpPr>
            <p:cNvPr id="128" name="Text Box 118">
              <a:extLst>
                <a:ext uri="{FF2B5EF4-FFF2-40B4-BE49-F238E27FC236}">
                  <a16:creationId xmlns:a16="http://schemas.microsoft.com/office/drawing/2014/main" id="{33D9323A-D983-4EFD-9FA2-34DA3553C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3132" y="2191197"/>
              <a:ext cx="3286168" cy="16293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36000" bIns="36000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180000" marR="0" lvl="0" indent="-18000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900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SCM PI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담당에서 추진 중인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‘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최적화 알고리즘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’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적용을 통해 시스템 계획 수립이 가능해질 경우 일부 고객 수요를 보지 않고 계획 수립하는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FP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담당자 계획을 보완할 수 있습니다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</a:t>
              </a:r>
            </a:p>
            <a:p>
              <a:pPr marL="180000" marR="0" lvl="0" indent="-18000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900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각 생산법인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FP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담당자가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SCP Target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을 과거 지켜야하는 숫자에서 단순 가이드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혹은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없어도 운영 가능한 것으로 인식하고 있어 최초 취지와는 다르게 업무의 중복입니다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</a:t>
              </a:r>
            </a:p>
            <a:p>
              <a:pPr marL="180000" marR="0" lvl="0" indent="-18000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JV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의 확대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자사 법인 생산관리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기획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의 정보력을 비롯한 업무 능력 확대로 일부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Site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는 이동계획 연계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52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주 계획도 자체적으로 수립이 가능한 상황입니다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4371AB1-4A49-4C2D-A2A7-BB3827EB3830}"/>
                </a:ext>
              </a:extLst>
            </p:cNvPr>
            <p:cNvSpPr txBox="1"/>
            <p:nvPr/>
          </p:nvSpPr>
          <p:spPr>
            <a:xfrm>
              <a:off x="6353132" y="1967778"/>
              <a:ext cx="3286168" cy="18729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【 FP </a:t>
              </a:r>
              <a:r>
                <a:rPr kumimoji="0" lang="ko-KR" altLang="en-US" sz="11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구간 확장 </a:t>
              </a:r>
              <a:r>
                <a:rPr kumimoji="0" lang="en-US" altLang="ko-KR" sz="11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】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-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각 법인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SCM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으로서의 역할 부여</a:t>
              </a:r>
              <a:endPara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8E974C0-BAC2-405B-9FF0-967E07C1FF6E}"/>
              </a:ext>
            </a:extLst>
          </p:cNvPr>
          <p:cNvGrpSpPr/>
          <p:nvPr/>
        </p:nvGrpSpPr>
        <p:grpSpPr>
          <a:xfrm>
            <a:off x="6353132" y="3859991"/>
            <a:ext cx="3286168" cy="2660745"/>
            <a:chOff x="6353132" y="1967778"/>
            <a:chExt cx="3286168" cy="2660745"/>
          </a:xfrm>
        </p:grpSpPr>
        <p:sp>
          <p:nvSpPr>
            <p:cNvPr id="141" name="Text Box 118">
              <a:extLst>
                <a:ext uri="{FF2B5EF4-FFF2-40B4-BE49-F238E27FC236}">
                  <a16:creationId xmlns:a16="http://schemas.microsoft.com/office/drawing/2014/main" id="{8B41CE8A-42F8-4D23-AA50-5822F7B5E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3132" y="2191197"/>
              <a:ext cx="3286168" cy="2437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36000" bIns="36000">
              <a:noAutofit/>
            </a:bodyPr>
            <a:lstStyle>
              <a:defPPr>
                <a:defRPr lang="ko-KR"/>
              </a:defPPr>
              <a:lvl1pPr marL="180000" indent="-180000">
                <a:lnSpc>
                  <a:spcPct val="140000"/>
                </a:lnSpc>
                <a:spcBef>
                  <a:spcPts val="700"/>
                </a:spcBef>
                <a:spcAft>
                  <a:spcPts val="700"/>
                </a:spcAft>
                <a:buFont typeface="Wingdings" pitchFamily="2" charset="2"/>
                <a:buChar char="q"/>
                <a:defRPr kumimoji="1" sz="1300" b="1"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defRPr>
              </a:lvl1pPr>
              <a:lvl2pPr marL="742950" indent="-285750" eaLnBrk="0" hangingPunct="0">
                <a:defRPr kumimoji="1"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굴림" charset="-127"/>
                  <a:ea typeface="굴림" charset="-127"/>
                </a:defRPr>
              </a:lvl9pPr>
            </a:lstStyle>
            <a:p>
              <a:pPr marL="180000" marR="0" lvl="0" indent="-18000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900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월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1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회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52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주 계획을 수립함으로써 기획관리의 이동계획과 동일한 주기로 업무 하는 것으로 제안 드립니다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현재의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SCP Planner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는 납기 대응을 위한 시나리오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케이스 분석에 업무 우선순위가 배정되어 있으나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시황과 사업이 어려운 현재에는 선제적 계획 수립을 통한 재고 건전성 확보가 중요합니다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</a:t>
              </a:r>
            </a:p>
            <a:p>
              <a:pPr marL="180000" marR="0" lvl="0" indent="-18000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900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FP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계획 결과에 대해 분석하고 견제하거나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중장기 계획에 대한 인원 투입 강화를 통해 중장기 계획 건전성을 확보하여 단기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(16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주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)·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중기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(52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주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계획을 고도화 시키고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재고 건전성을 확보함과 동시에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AI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계획 수립의 미래 방향에 대한 준비에 업무 무게 중심 이전이 필요합니다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</a:t>
              </a:r>
            </a:p>
            <a:p>
              <a:pPr marL="180000" marR="0" lvl="0" indent="-18000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Pct val="90000"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SCP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담당자들의 계획 수립 단순 반복 활동을 줄이고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,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의사결정 중심의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S&amp;OP(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 정보공유 위주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회의를 운영하는데 집중해야 합니다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. *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단순 작업은 </a:t>
              </a:r>
              <a:r>
                <a:rPr kumimoji="1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AI </a:t>
              </a:r>
              <a:r>
                <a:rPr kumimoji="1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대체</a:t>
              </a:r>
              <a:endPara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3BA7FCC2-081D-4628-9BAF-1B94B165510D}"/>
                </a:ext>
              </a:extLst>
            </p:cNvPr>
            <p:cNvSpPr txBox="1"/>
            <p:nvPr/>
          </p:nvSpPr>
          <p:spPr>
            <a:xfrm>
              <a:off x="6353132" y="1967778"/>
              <a:ext cx="3286168" cy="187295"/>
            </a:xfrm>
            <a:prstGeom prst="rect">
              <a:avLst/>
            </a:prstGeom>
            <a:noFill/>
          </p:spPr>
          <p:txBody>
            <a:bodyPr wrap="square" lIns="3600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【 SCP </a:t>
              </a:r>
              <a:r>
                <a:rPr kumimoji="0" lang="ko-KR" altLang="en-US" sz="11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역할 재부여 </a:t>
              </a:r>
              <a:r>
                <a:rPr kumimoji="0" lang="en-US" altLang="ko-KR" sz="1100" b="1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】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-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이동계획 수립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재고 감축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중장기 </a:t>
              </a:r>
              <a:r>
                <a:rPr kumimoji="0" lang="en-US" altLang="ko-KR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· AI</a:t>
              </a:r>
              <a:r>
                <a:rPr kumimoji="0" lang="ko-KR" altLang="en-US" sz="100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연계</a:t>
              </a:r>
              <a:endPara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930D2864-F6BA-4F52-8D54-FE3DA5EB7CE2}"/>
              </a:ext>
            </a:extLst>
          </p:cNvPr>
          <p:cNvSpPr txBox="1"/>
          <p:nvPr/>
        </p:nvSpPr>
        <p:spPr>
          <a:xfrm>
            <a:off x="7324361" y="4963343"/>
            <a:ext cx="22176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┌ 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Allo.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조정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우선순위 선정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이슈 해결 중심 ┓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807A942D-6E2A-48D9-8AEA-1032AA0E395A}"/>
              </a:ext>
            </a:extLst>
          </p:cNvPr>
          <p:cNvCxnSpPr/>
          <p:nvPr/>
        </p:nvCxnSpPr>
        <p:spPr>
          <a:xfrm>
            <a:off x="5487720" y="1566966"/>
            <a:ext cx="7308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C90F4BCE-5740-416C-808C-4F993CDD6176}"/>
              </a:ext>
            </a:extLst>
          </p:cNvPr>
          <p:cNvCxnSpPr/>
          <p:nvPr/>
        </p:nvCxnSpPr>
        <p:spPr>
          <a:xfrm>
            <a:off x="5487720" y="6591300"/>
            <a:ext cx="7308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839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wuwD2aDqUiPB9W5Gar.qg"/>
</p:tagLst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">
  <a:themeElements>
    <a:clrScheme name="1_Blank 12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1_Blank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84138" marR="0" indent="-84138" algn="l" defTabSz="914400" rtl="0" eaLnBrk="1" fontAlgn="base" latinLnBrk="1" hangingPunct="1">
          <a:lnSpc>
            <a:spcPct val="105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>
            <a:tab pos="979488" algn="l"/>
          </a:tabLst>
          <a:defRPr kumimoji="1" sz="13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84138" marR="0" indent="-84138" algn="l" defTabSz="914400" rtl="0" eaLnBrk="1" fontAlgn="base" latinLnBrk="1" hangingPunct="1">
          <a:lnSpc>
            <a:spcPct val="105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>
            <a:tab pos="979488" algn="l"/>
          </a:tabLst>
          <a:defRPr kumimoji="1" lang="en-US" sz="13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eaLnBrk="1" hangingPunct="1">
          <a:lnSpc>
            <a:spcPct val="100000"/>
          </a:lnSpc>
          <a:buSzPct val="85000"/>
          <a:buFont typeface="Arial" panose="020B0604020202020204" pitchFamily="34" charset="0"/>
          <a:buChar char="•"/>
          <a:defRPr sz="1200" b="0" kern="0" dirty="0" smtClean="0">
            <a:solidFill>
              <a:schemeClr val="tx1"/>
            </a:solidFill>
            <a:latin typeface="Arial Narrow" panose="020B0606020202030204" pitchFamily="34" charset="0"/>
            <a:ea typeface="LG스마트체 Regular" panose="020B0600000101010101" pitchFamily="50" charset="-127"/>
            <a:cs typeface="Arial" pitchFamily="34" charset="0"/>
          </a:defRPr>
        </a:defPPr>
      </a:lstStyle>
    </a:txDef>
  </a:objectDefaults>
  <a:extraClrSchemeLst>
    <a:extraClrScheme>
      <a:clrScheme name="1_Blank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839FE7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3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F8DFF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557FE7"/>
        </a:accent6>
        <a:hlink>
          <a:srgbClr val="96C5F8"/>
        </a:hlink>
        <a:folHlink>
          <a:srgbClr val="D8E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4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2960"/>
        </a:accent1>
        <a:accent2>
          <a:srgbClr val="0066CC"/>
        </a:accent2>
        <a:accent3>
          <a:srgbClr val="AAAAAA"/>
        </a:accent3>
        <a:accent4>
          <a:srgbClr val="DADADA"/>
        </a:accent4>
        <a:accent5>
          <a:srgbClr val="AAACB6"/>
        </a:accent5>
        <a:accent6>
          <a:srgbClr val="005CB9"/>
        </a:accent6>
        <a:hlink>
          <a:srgbClr val="91B0FF"/>
        </a:hlink>
        <a:folHlink>
          <a:srgbClr val="C7E0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5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E7B95C"/>
        </a:accent6>
        <a:hlink>
          <a:srgbClr val="4F8636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6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7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0066CC"/>
        </a:accent1>
        <a:accent2>
          <a:srgbClr val="4F8636"/>
        </a:accent2>
        <a:accent3>
          <a:srgbClr val="AAAAAA"/>
        </a:accent3>
        <a:accent4>
          <a:srgbClr val="DADADA"/>
        </a:accent4>
        <a:accent5>
          <a:srgbClr val="AAB8E2"/>
        </a:accent5>
        <a:accent6>
          <a:srgbClr val="477930"/>
        </a:accent6>
        <a:hlink>
          <a:srgbClr val="FF9900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8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B4B085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9">
        <a:dk1>
          <a:srgbClr val="002960"/>
        </a:dk1>
        <a:lt1>
          <a:srgbClr val="FFFFFF"/>
        </a:lt1>
        <a:dk2>
          <a:srgbClr val="002960"/>
        </a:dk2>
        <a:lt2>
          <a:srgbClr val="FFBE3D"/>
        </a:lt2>
        <a:accent1>
          <a:srgbClr val="0066CC"/>
        </a:accent1>
        <a:accent2>
          <a:srgbClr val="50A2A0"/>
        </a:accent2>
        <a:accent3>
          <a:srgbClr val="AAACB6"/>
        </a:accent3>
        <a:accent4>
          <a:srgbClr val="DADADA"/>
        </a:accent4>
        <a:accent5>
          <a:srgbClr val="AAB8E2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10">
        <a:dk1>
          <a:srgbClr val="000000"/>
        </a:dk1>
        <a:lt1>
          <a:srgbClr val="FFFFFF"/>
        </a:lt1>
        <a:dk2>
          <a:srgbClr val="000000"/>
        </a:dk2>
        <a:lt2>
          <a:srgbClr val="FFBE3D"/>
        </a:lt2>
        <a:accent1>
          <a:srgbClr val="174A7C"/>
        </a:accent1>
        <a:accent2>
          <a:srgbClr val="50A2A0"/>
        </a:accent2>
        <a:accent3>
          <a:srgbClr val="AAAAAA"/>
        </a:accent3>
        <a:accent4>
          <a:srgbClr val="DADADA"/>
        </a:accent4>
        <a:accent5>
          <a:srgbClr val="ABB1BF"/>
        </a:accent5>
        <a:accent6>
          <a:srgbClr val="489291"/>
        </a:accent6>
        <a:hlink>
          <a:srgbClr val="C7C293"/>
        </a:hlink>
        <a:folHlink>
          <a:srgbClr val="FFBE3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1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1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BCBCBC"/>
        </a:accent6>
        <a:hlink>
          <a:srgbClr val="90909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 wrap="square" lIns="0" tIns="0" rIns="0" bIns="0">
        <a:spAutoFit/>
      </a:bodyPr>
      <a:lstStyle>
        <a:defPPr marL="87313" indent="-87313">
          <a:lnSpc>
            <a:spcPct val="120000"/>
          </a:lnSpc>
          <a:spcBef>
            <a:spcPts val="300"/>
          </a:spcBef>
          <a:spcAft>
            <a:spcPts val="0"/>
          </a:spcAft>
          <a:buSzPct val="80000"/>
          <a:buFont typeface="Wingdings" pitchFamily="2" charset="2"/>
          <a:buChar char="§"/>
          <a:defRPr sz="1100" dirty="0" smtClean="0">
            <a:solidFill>
              <a:prstClr val="black"/>
            </a:solidFill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0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4565</TotalTime>
  <Words>7197</Words>
  <Application>Microsoft Office PowerPoint</Application>
  <PresentationFormat>A4 용지(210x297mm)</PresentationFormat>
  <Paragraphs>2398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10</vt:i4>
      </vt:variant>
    </vt:vector>
  </HeadingPairs>
  <TitlesOfParts>
    <vt:vector size="35" baseType="lpstr">
      <vt:lpstr>Helvetica Neue</vt:lpstr>
      <vt:lpstr>Helvetica Neue Medium</vt:lpstr>
      <vt:lpstr>LG스마트체 Light</vt:lpstr>
      <vt:lpstr>LG스마트체 Regular</vt:lpstr>
      <vt:lpstr>LG스마트체2.0 Bold</vt:lpstr>
      <vt:lpstr>LG스마트체2.0 Regular</vt:lpstr>
      <vt:lpstr>LG스마트체2.0 SemiBold</vt:lpstr>
      <vt:lpstr>굴림</vt:lpstr>
      <vt:lpstr>돋움</vt:lpstr>
      <vt:lpstr>맑은 고딕</vt:lpstr>
      <vt:lpstr>Arial</vt:lpstr>
      <vt:lpstr>Arial Narrow</vt:lpstr>
      <vt:lpstr>Calibri</vt:lpstr>
      <vt:lpstr>Calibri Light</vt:lpstr>
      <vt:lpstr>Helvetica</vt:lpstr>
      <vt:lpstr>Wingdings</vt:lpstr>
      <vt:lpstr>Wingdings 2</vt:lpstr>
      <vt:lpstr>1_기본 디자인</vt:lpstr>
      <vt:lpstr>3_Office 테마</vt:lpstr>
      <vt:lpstr>1</vt:lpstr>
      <vt:lpstr>디자인 사용자 지정</vt:lpstr>
      <vt:lpstr>7_Office 테마</vt:lpstr>
      <vt:lpstr>HDOfficeLightV0</vt:lpstr>
      <vt:lpstr>10_Office 테마</vt:lpstr>
      <vt:lpstr>15_Office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전사 DIO 개선 진행 경과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김기훈(Kihun Kim)[kihunkim]/책임/SCM.SCM운영.자동차SCM1팀</dc:creator>
  <cp:lastModifiedBy>jaehu</cp:lastModifiedBy>
  <cp:revision>47</cp:revision>
  <dcterms:created xsi:type="dcterms:W3CDTF">2022-04-13T04:02:27Z</dcterms:created>
  <dcterms:modified xsi:type="dcterms:W3CDTF">2026-10-04T02:36:55Z</dcterms:modified>
</cp:coreProperties>
</file>