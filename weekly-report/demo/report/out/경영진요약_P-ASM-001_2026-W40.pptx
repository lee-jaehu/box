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 name="exec_summary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8600" y="137160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2000" b="1">
                <a:solidFill>
                  <a:srgbClr val="000000"/>
                </a:solidFill>
                <a:latin typeface="Arial Narrow"/>
                <a:ea typeface="LG스마트체 Regular"/>
              </a:rPr>
              <a:t>ESWA 재료교체 불량 개선 진행 결과 및 향후 계획</a:t>
            </a:r>
            <a:endParaRPr sz="2000" b="1">
              <a:latin typeface="Arial Narrow"/>
              <a:ea typeface="LG스마트체 Regular"/>
            </a:endParaRPr>
          </a:p>
        </p:txBody>
      </p:sp>
      <p:sp>
        <p:nvSpPr>
          <p:cNvPr id="3" name="org_date"/>
          <p:cNvSpPr/>
          <p:nvPr/>
        </p:nvSpPr>
        <p:spPr>
          <a:xfrm>
            <a:off x="7269480" y="109728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조립자동보정팀</a:t>
            </a:r>
            <a:endParaRPr sz="1000" b="0">
              <a:latin typeface="Arial Narrow"/>
              <a:ea typeface="LG스마트체 Regular"/>
            </a:endParaRPr>
          </a:p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2026. 10. 4</a:t>
            </a:r>
            <a:endParaRPr sz="1000" b="0">
              <a:latin typeface="Arial Narrow"/>
              <a:ea typeface="LG스마트체 Regular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944575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5" name="head_message"/>
          <p:cNvSpPr/>
          <p:nvPr/>
        </p:nvSpPr>
        <p:spPr>
          <a:xfrm>
            <a:off x="228600" y="676656"/>
            <a:ext cx="9445752" cy="60350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ea typeface="LG스마트체 Regular"/>
              </a:rPr>
              <a:t>재료교체 불량률 개선 효과가 2주 평균 0.139%로 유지되고 있으며, 북미 수평전개(10/13)로 과제를 마무리하겠습니다</a:t>
            </a:r>
            <a:endParaRPr sz="1600" b="1">
              <a:latin typeface="Arial Narrow"/>
              <a:ea typeface="LG스마트체 Regular"/>
            </a:endParaRPr>
          </a:p>
        </p:txBody>
      </p:sp>
      <p:sp>
        <p:nvSpPr>
          <p:cNvPr id="6" name="band1_label"/>
          <p:cNvSpPr/>
          <p:nvPr/>
        </p:nvSpPr>
        <p:spPr>
          <a:xfrm>
            <a:off x="228600" y="1371600"/>
            <a:ext cx="566928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보고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배경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및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결론</a:t>
            </a:r>
            <a:endParaRPr sz="1300" b="1">
              <a:latin typeface="Arial Narrow"/>
              <a:ea typeface="LG스마트체 Regular"/>
            </a:endParaRPr>
          </a:p>
        </p:txBody>
      </p:sp>
      <p:sp>
        <p:nvSpPr>
          <p:cNvPr id="7" name="background_conclusion"/>
          <p:cNvSpPr/>
          <p:nvPr/>
        </p:nvSpPr>
        <p:spPr>
          <a:xfrm>
            <a:off x="868680" y="1371600"/>
            <a:ext cx="8805672" cy="169164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• </a:t>
            </a: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호기·모델별 품질 편차로 수율 손실이 지속되어, 재료교체 구간 Y축 불량을 EPC 보정·예측 보정 로직으로 개선하고 있습니다.</a:t>
            </a:r>
            <a:endParaRPr sz="1300" b="1">
              <a:latin typeface="Arial Narrow"/>
              <a:ea typeface="LG스마트체 Regular"/>
            </a:endParaRP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• </a:t>
            </a: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1차 로직 적용으로 E77 불량률이 </a:t>
            </a:r>
            <a:r>
              <a:rPr sz="1300" b="1">
                <a:solidFill>
                  <a:srgbClr val="00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0.189% → 0.164%</a:t>
            </a: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로 감소했고, 2차 로직 후 ESWA </a:t>
            </a:r>
            <a:r>
              <a:rPr sz="1300" b="1">
                <a:solidFill>
                  <a:srgbClr val="00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2주 평균 0.139%</a:t>
            </a: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로 효과가 유지되고 있습니다.</a:t>
            </a:r>
            <a:endParaRPr sz="1300" b="1">
              <a:latin typeface="Arial Narrow"/>
              <a:ea typeface="LG스마트체 Regular"/>
            </a:endParaRP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• </a:t>
            </a: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Normal Line까지 수평전개를 완료해 누적 26대에 적용했으며, 북미는 PLC 펌웨어 검증 후 </a:t>
            </a:r>
            <a:r>
              <a:rPr sz="1300" b="1">
                <a:solidFill>
                  <a:srgbClr val="00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10/13 적용</a:t>
            </a: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하겠습니다.</a:t>
            </a:r>
            <a:endParaRPr sz="1300" b="1">
              <a:latin typeface="Arial Narrow"/>
              <a:ea typeface="LG스마트체 Regular"/>
            </a:endParaRPr>
          </a:p>
        </p:txBody>
      </p:sp>
      <p:sp>
        <p:nvSpPr>
          <p:cNvPr id="8" name="band2_label"/>
          <p:cNvSpPr/>
          <p:nvPr/>
        </p:nvSpPr>
        <p:spPr>
          <a:xfrm>
            <a:off x="228600" y="3154680"/>
            <a:ext cx="566928" cy="32918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상세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검토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결과</a:t>
            </a:r>
            <a:endParaRPr sz="1300" b="1">
              <a:latin typeface="Arial Narrow"/>
              <a:ea typeface="LG스마트체 Regular"/>
            </a:endParaRPr>
          </a:p>
        </p:txBody>
      </p:sp>
      <p:sp>
        <p:nvSpPr>
          <p:cNvPr id="9" name="left_title"/>
          <p:cNvSpPr/>
          <p:nvPr/>
        </p:nvSpPr>
        <p:spPr>
          <a:xfrm>
            <a:off x="868680" y="31546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[ 추진 경과 및 성과 ]</a:t>
            </a:r>
            <a:endParaRPr sz="1200" b="1">
              <a:latin typeface="Arial Narrow"/>
              <a:ea typeface="LG스마트체 Regular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68680" y="3447288"/>
            <a:ext cx="429768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1" name="left_items"/>
          <p:cNvSpPr/>
          <p:nvPr/>
        </p:nvSpPr>
        <p:spPr>
          <a:xfrm>
            <a:off x="868680" y="3520440"/>
            <a:ext cx="4297680" cy="29260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[1차 로직]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EPC 보정량·이음매 예측 보정 개선 (8/13 적용)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- E77 불량률 0.189% → 0.164%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[2차 로직]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Limit ±0.35mm 적용 (9/4~), 대표 4대 0.270% → 0.185%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- ESWA 0.171% → 0.144%(4일) → 0.139%(2주)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[수평전개]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MEB·ESMI1 #2-2·3(9/16), Normal Line(9/30) 完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- 누적 적용 26대, ESMI1 0.367% → 0.221%(2주 평균)</a:t>
            </a:r>
            <a:endParaRPr sz="1100" b="0">
              <a:latin typeface="Arial Narrow"/>
              <a:ea typeface="LG스마트체 Regular"/>
            </a:endParaRPr>
          </a:p>
        </p:txBody>
      </p:sp>
      <p:graphicFrame>
        <p:nvGraphicFramePr>
          <p:cNvPr id="12" name="kpi_table"/>
          <p:cNvGraphicFramePr>
            <a:graphicFrameLocks noGrp="1"/>
          </p:cNvGraphicFramePr>
          <p:nvPr/>
        </p:nvGraphicFramePr>
        <p:xfrm>
          <a:off x="5349240" y="3154680"/>
          <a:ext cx="4325112" cy="615696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594360"/>
                <a:gridCol w="1005840"/>
                <a:gridCol w="502920"/>
                <a:gridCol w="758952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지표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기준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최신 (기간)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목표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변화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E77 재료교체 위치 불량률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0.189%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0.144% (W39)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-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CC"/>
                          </a:solidFill>
                          <a:latin typeface="Arial Narrow"/>
                          <a:ea typeface="LG스마트체 Regular"/>
                        </a:rPr>
                        <a:t>Δ0.045%p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chedule_note"/>
          <p:cNvSpPr/>
          <p:nvPr/>
        </p:nvSpPr>
        <p:spPr>
          <a:xfrm>
            <a:off x="5349240" y="3730752"/>
            <a:ext cx="4325112" cy="3657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/>
            <a:r>
              <a:rPr sz="900" b="0">
                <a:solidFill>
                  <a:srgbClr val="006600"/>
                </a:solidFill>
                <a:latin typeface="Arial Narrow"/>
                <a:ea typeface="LG스마트체 Regular"/>
              </a:rPr>
              <a:t>└ 일정: 수평전개(북미·조립) 10/13 (+18일) (코드 계산)</a:t>
            </a:r>
            <a:endParaRPr sz="900" b="0">
              <a:latin typeface="Arial Narrow"/>
              <a:ea typeface="LG스마트체 Regular"/>
            </a:endParaRPr>
          </a:p>
        </p:txBody>
      </p:sp>
      <p:sp>
        <p:nvSpPr>
          <p:cNvPr id="14" name="right_title"/>
          <p:cNvSpPr/>
          <p:nvPr/>
        </p:nvSpPr>
        <p:spPr>
          <a:xfrm>
            <a:off x="5349240" y="4114800"/>
            <a:ext cx="4325112" cy="27432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[ 향후 계획 및 요청 사항 ]</a:t>
            </a:r>
            <a:endParaRPr sz="1200" b="1">
              <a:latin typeface="Arial Narrow"/>
              <a:ea typeface="LG스마트체 Regular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4407408"/>
            <a:ext cx="432511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6" name="right_items"/>
          <p:cNvSpPr/>
          <p:nvPr/>
        </p:nvSpPr>
        <p:spPr>
          <a:xfrm>
            <a:off x="5349240" y="4480560"/>
            <a:ext cx="4325112" cy="19659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[북미 수평전개]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10/13 적용 예정, PLC 보정 파라미터 이식 전 검증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[최종 효과 산출]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~10/16 완료, 완료 회고 초안 작성 중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[모니터링]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효과 유지 여부 한두 주 추가 확인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▶ 요청: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북미 PLC 검증용 원격 접속 지원 여부 IT팀 확인</a:t>
            </a:r>
            <a:endParaRPr sz="1100" b="0">
              <a:latin typeface="Arial Narrow"/>
              <a:ea typeface="LG스마트체 Regular"/>
            </a:endParaRPr>
          </a:p>
        </p:txBody>
      </p:sp>
      <p:sp>
        <p:nvSpPr>
          <p:cNvPr id="17" name="confidential"/>
          <p:cNvSpPr/>
          <p:nvPr/>
        </p:nvSpPr>
        <p:spPr>
          <a:xfrm>
            <a:off x="228600" y="6519672"/>
            <a:ext cx="1234440" cy="21945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Arial Narrow"/>
                <a:ea typeface="LG스마트체 Regular"/>
              </a:rPr>
              <a:t>대외비 (Confidential)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18" name="draft_mark"/>
          <p:cNvSpPr/>
          <p:nvPr/>
        </p:nvSpPr>
        <p:spPr>
          <a:xfrm>
            <a:off x="1554480" y="651967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800" b="0">
                <a:solidFill>
                  <a:srgbClr val="7F7F7F"/>
                </a:solidFill>
                <a:latin typeface="Arial Narrow"/>
                <a:ea typeface="LG스마트체 Regular"/>
              </a:rPr>
              <a:t>초안 – 공식 양식 아님 (weekly-report 생성)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19" name="page_no"/>
          <p:cNvSpPr/>
          <p:nvPr/>
        </p:nvSpPr>
        <p:spPr>
          <a:xfrm>
            <a:off x="4572000" y="65196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1 / 1</a:t>
            </a:r>
            <a:endParaRPr sz="1000" b="1">
              <a:latin typeface="Arial Narrow"/>
              <a:ea typeface="LG스마트체 Regular"/>
            </a:endParaRPr>
          </a:p>
        </p:txBody>
      </p:sp>
      <p:sp>
        <p:nvSpPr>
          <p:cNvPr id="20" name="no_forward"/>
          <p:cNvSpPr/>
          <p:nvPr/>
        </p:nvSpPr>
        <p:spPr>
          <a:xfrm>
            <a:off x="6309360" y="6519672"/>
            <a:ext cx="336499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r"/>
            <a:r>
              <a:rPr sz="800" b="1">
                <a:solidFill>
                  <a:srgbClr val="000000"/>
                </a:solidFill>
                <a:latin typeface="Arial Narrow"/>
                <a:ea typeface="LG스마트체 Regular"/>
              </a:rPr>
              <a:t>* 외부전달 및 임의변경 삼가를 부탁드립니다.</a:t>
            </a:r>
            <a:endParaRPr sz="800" b="1">
              <a:latin typeface="Arial Narrow"/>
              <a:ea typeface="LG스마트체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