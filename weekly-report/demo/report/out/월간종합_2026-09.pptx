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57" r:id="rId14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 name="monthly_overview"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228600" y="137160"/>
            <a:ext cx="7040880" cy="411480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45720" rIns="45720" tIns="27432" bIns="27432"/>
          <a:lstStyle/>
          <a:p>
            <a:pPr algn="l"/>
            <a:r>
              <a:rPr sz="2000" b="1">
                <a:solidFill>
                  <a:srgbClr val="000000"/>
                </a:solidFill>
                <a:latin typeface="Arial Narrow"/>
                <a:ea typeface="LG스마트체 Regular"/>
              </a:rPr>
              <a:t>제조DX그룹 과제 종합 현황 / ’26.9월</a:t>
            </a:r>
            <a:endParaRPr sz="2000" b="1">
              <a:latin typeface="Arial Narrow"/>
              <a:ea typeface="LG스마트체 Regular"/>
            </a:endParaRPr>
          </a:p>
        </p:txBody>
      </p:sp>
      <p:sp>
        <p:nvSpPr>
          <p:cNvPr id="3" name="org_date"/>
          <p:cNvSpPr/>
          <p:nvPr/>
        </p:nvSpPr>
        <p:spPr>
          <a:xfrm>
            <a:off x="7269480" y="109728"/>
            <a:ext cx="2404872" cy="457200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45720" rIns="45720" tIns="27432" bIns="27432"/>
          <a:lstStyle/>
          <a:p>
            <a:pPr algn="r"/>
            <a:r>
              <a:rPr sz="1000" b="0">
                <a:solidFill>
                  <a:srgbClr val="000000"/>
                </a:solidFill>
                <a:latin typeface="Arial Narrow"/>
                <a:ea typeface="LG스마트체 Regular"/>
              </a:rPr>
              <a:t>제조DX그룹</a:t>
            </a:r>
            <a:endParaRPr sz="1000" b="0">
              <a:latin typeface="Arial Narrow"/>
              <a:ea typeface="LG스마트체 Regular"/>
            </a:endParaRPr>
          </a:p>
          <a:p>
            <a:pPr algn="r"/>
            <a:r>
              <a:rPr sz="1000" b="0">
                <a:solidFill>
                  <a:srgbClr val="000000"/>
                </a:solidFill>
                <a:latin typeface="Arial Narrow"/>
                <a:ea typeface="LG스마트체 Regular"/>
              </a:rPr>
              <a:t>2026. 10. 4</a:t>
            </a:r>
            <a:endParaRPr sz="1000" b="0">
              <a:latin typeface="Arial Narrow"/>
              <a:ea typeface="LG스마트체 Regular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228600" y="603504"/>
            <a:ext cx="9445752" cy="0"/>
          </a:xfrm>
          <a:prstGeom prst="line">
            <a:avLst/>
          </a:prstGeom>
          <a:ln w="12700">
            <a:solidFill>
              <a:srgbClr val="7F7F7F"/>
            </a:solidFill>
          </a:ln>
        </p:spPr>
      </p:cxnSp>
      <p:sp>
        <p:nvSpPr>
          <p:cNvPr id="5" name="head_message"/>
          <p:cNvSpPr/>
          <p:nvPr/>
        </p:nvSpPr>
        <p:spPr>
          <a:xfrm>
            <a:off x="228600" y="676656"/>
            <a:ext cx="9445752" cy="60350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45720" rIns="45720" tIns="27432" bIns="27432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ea typeface="LG스마트체 Regular"/>
              </a:rPr>
              <a:t>9월 6개 과제는 투자 심의·대시보드 개발을 완료했고 ESWA 불량률 0.171% → 0.144%로 개선했으나, 수평전개 2건은 9/30로 지연되어 완료를 관리하겠습니다</a:t>
            </a:r>
            <a:endParaRPr sz="1600" b="1">
              <a:latin typeface="Arial Narrow"/>
              <a:ea typeface="LG스마트체 Regular"/>
            </a:endParaRPr>
          </a:p>
        </p:txBody>
      </p:sp>
      <p:sp>
        <p:nvSpPr>
          <p:cNvPr id="6" name="unit_note"/>
          <p:cNvSpPr/>
          <p:nvPr/>
        </p:nvSpPr>
        <p:spPr>
          <a:xfrm>
            <a:off x="6931152" y="129844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45720" rIns="45720" tIns="27432" bIns="27432"/>
          <a:lstStyle/>
          <a:p>
            <a:pPr algn="r"/>
            <a:r>
              <a:rPr sz="800" b="0">
                <a:solidFill>
                  <a:srgbClr val="7F7F7F"/>
                </a:solidFill>
                <a:latin typeface="Arial Narrow"/>
                <a:ea typeface="LG스마트체 Regular"/>
              </a:rPr>
              <a:t>(KPI 기준 → 최신, 지연 단계는 코드 계산값)</a:t>
            </a:r>
            <a:endParaRPr sz="800" b="0">
              <a:latin typeface="Arial Narrow"/>
              <a:ea typeface="LG스마트체 Regular"/>
            </a:endParaRPr>
          </a:p>
        </p:txBody>
      </p:sp>
      <p:graphicFrame>
        <p:nvGraphicFramePr>
          <p:cNvPr id="7" name="project_table"/>
          <p:cNvGraphicFramePr>
            <a:graphicFrameLocks noGrp="1"/>
          </p:cNvGraphicFramePr>
          <p:nvPr/>
        </p:nvGraphicFramePr>
        <p:xfrm>
          <a:off x="228600" y="1481328"/>
          <a:ext cx="9445752" cy="2834640"/>
        </p:xfrm>
        <a:graphic>
          <a:graphicData uri="http://schemas.openxmlformats.org/drawingml/2006/table">
            <a:tbl>
              <a:tblPr firstRow="0" bandRow="0"/>
              <a:tblGrid>
                <a:gridCol w="1965960"/>
                <a:gridCol w="777240"/>
                <a:gridCol w="731520"/>
                <a:gridCol w="1600200"/>
                <a:gridCol w="1737360"/>
                <a:gridCol w="2633472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과제</a:t>
                      </a:r>
                      <a:endParaRPr sz="1000" b="1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담당</a:t>
                      </a:r>
                      <a:endParaRPr sz="1000" b="1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상태</a:t>
                      </a:r>
                      <a:endParaRPr sz="1000" b="1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목표 일정 (지연 단계)</a:t>
                      </a:r>
                      <a:endParaRPr sz="1000" b="1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KPI 기준 → 최신</a:t>
                      </a:r>
                      <a:endParaRPr sz="1000" b="1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이번 달 주요 내용</a:t>
                      </a:r>
                      <a:endParaRPr sz="1000" b="1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ESWA 재료교체 불량 개선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이제희, 김형원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진행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(주의)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C00000"/>
                          </a:solidFill>
                          <a:latin typeface="Arial Narrow"/>
                          <a:ea typeface="LG스마트체 Regular"/>
                        </a:rPr>
                        <a:t>'26.09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  <a:p>
                      <a:pPr algn="l"/>
                      <a:r>
                        <a:rPr sz="1000" b="0">
                          <a:solidFill>
                            <a:srgbClr val="C00000"/>
                          </a:solidFill>
                          <a:latin typeface="Arial Narrow"/>
                          <a:ea typeface="LG스마트체 Regular"/>
                        </a:rPr>
                        <a:t>└ 수평전개(Normal·조립) 09/30 (+5일)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CC"/>
                          </a:solidFill>
                          <a:latin typeface="Arial Narrow"/>
                          <a:ea typeface="LG스마트체 Regular"/>
                        </a:rPr>
                        <a:t>E77 재료교체 위치 불량률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  <a:p>
                      <a:pPr algn="l"/>
                      <a:r>
                        <a:rPr sz="1000" b="0">
                          <a:solidFill>
                            <a:srgbClr val="0000CC"/>
                          </a:solidFill>
                          <a:latin typeface="Arial Narrow"/>
                          <a:ea typeface="LG스마트체 Regular"/>
                        </a:rPr>
                        <a:t>0.189% → 0.144% (Δ0.045%p)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ESWA 0.171% → 0.144%(4일), Normal Line 전개 중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[합성 예시] 자동보정 로직 개선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tester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진행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(주의)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'26.09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-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불량률 0.180% → 0.150% 확인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[합성 예시] 검증 로직 수평전개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tester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진행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(주의)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C00000"/>
                          </a:solidFill>
                          <a:latin typeface="Arial Narrow"/>
                          <a:ea typeface="LG스마트체 Regular"/>
                        </a:rPr>
                        <a:t>'26.09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  <a:p>
                      <a:pPr algn="l"/>
                      <a:r>
                        <a:rPr sz="1000" b="0">
                          <a:solidFill>
                            <a:srgbClr val="C00000"/>
                          </a:solidFill>
                          <a:latin typeface="Arial Narrow"/>
                          <a:ea typeface="LG스마트체 Regular"/>
                        </a:rPr>
                        <a:t>└ 사이트 적용(NB·조립) 09/30 (+5일)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-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WA 적용 일정 9/25 → 9/30 변경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[합성 예시] 설비 투자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tester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진행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(주의)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'26.09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-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투자 심의 完(9/22)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[합성 예시] 대시보드 시스템 구축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tester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진행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(주의)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'26.09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-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대시보드 개발 完(9/22)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[합성 예시] 수율 개선 분석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tester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진행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(주의)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'26.09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-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수율 95.0% → 96.0% 확인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highlights_title"/>
          <p:cNvSpPr/>
          <p:nvPr/>
        </p:nvSpPr>
        <p:spPr>
          <a:xfrm>
            <a:off x="228600" y="4480560"/>
            <a:ext cx="4617720" cy="274320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45720" rIns="45720" tIns="27432" bIns="27432"/>
          <a:lstStyle/>
          <a:p>
            <a:pPr algn="l"/>
            <a:r>
              <a:rPr sz="1200" b="1">
                <a:solidFill>
                  <a:srgbClr val="000000"/>
                </a:solidFill>
                <a:latin typeface="Arial Narrow"/>
                <a:ea typeface="LG스마트체 Regular"/>
              </a:rPr>
              <a:t>[ 주요 성과 ]</a:t>
            </a:r>
            <a:endParaRPr sz="1200" b="1">
              <a:latin typeface="Arial Narrow"/>
              <a:ea typeface="LG스마트체 Regular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228600" y="4773168"/>
            <a:ext cx="4617720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10" name="highlights"/>
          <p:cNvSpPr/>
          <p:nvPr/>
        </p:nvSpPr>
        <p:spPr>
          <a:xfrm>
            <a:off x="228600" y="4846320"/>
            <a:ext cx="4617720" cy="1600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45720" rIns="45720" tIns="27432" bIns="27432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[재료교체]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ESWA 0.171% → 0.144%, 2차 대표 4대 0.270% → 0.185%</a:t>
            </a:r>
            <a:endParaRPr sz="1100" b="0">
              <a:latin typeface="Arial Narrow"/>
              <a:ea typeface="LG스마트체 Regular"/>
            </a:endParaRP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[재료교체]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MEB 전 라인·ESMI1 #2-2·3 수평전개 完(9/16)</a:t>
            </a:r>
            <a:endParaRPr sz="1100" b="0">
              <a:latin typeface="Arial Narrow"/>
              <a:ea typeface="LG스마트체 Regular"/>
            </a:endParaRP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[자동보정]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불량률 0.180% → 0.150%, [수율] 95.0% → 96.0%</a:t>
            </a:r>
            <a:endParaRPr sz="1100" b="0">
              <a:latin typeface="Arial Narrow"/>
              <a:ea typeface="LG스마트체 Regular"/>
            </a:endParaRP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[설비 투자]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투자 심의 完, [대시보드] 개발 完 (9/22)</a:t>
            </a:r>
            <a:endParaRPr sz="1100" b="0">
              <a:latin typeface="Arial Narrow"/>
              <a:ea typeface="LG스마트체 Regular"/>
            </a:endParaRPr>
          </a:p>
        </p:txBody>
      </p:sp>
      <p:sp>
        <p:nvSpPr>
          <p:cNvPr id="11" name="risks_title"/>
          <p:cNvSpPr/>
          <p:nvPr/>
        </p:nvSpPr>
        <p:spPr>
          <a:xfrm>
            <a:off x="5056632" y="4480560"/>
            <a:ext cx="4617720" cy="274320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45720" rIns="45720" tIns="27432" bIns="27432"/>
          <a:lstStyle/>
          <a:p>
            <a:pPr algn="l"/>
            <a:r>
              <a:rPr sz="1200" b="1">
                <a:solidFill>
                  <a:srgbClr val="000000"/>
                </a:solidFill>
                <a:latin typeface="Arial Narrow"/>
                <a:ea typeface="LG스마트체 Regular"/>
              </a:rPr>
              <a:t>[ 리스크 및 대응 ]</a:t>
            </a:r>
            <a:endParaRPr sz="1200" b="1">
              <a:latin typeface="Arial Narrow"/>
              <a:ea typeface="LG스마트체 Regular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5056632" y="4773168"/>
            <a:ext cx="4617720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13" name="risks"/>
          <p:cNvSpPr/>
          <p:nvPr/>
        </p:nvSpPr>
        <p:spPr>
          <a:xfrm>
            <a:off x="5056632" y="4846320"/>
            <a:ext cx="4617720" cy="1600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45720" rIns="45720" tIns="27432" bIns="27432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[재료교체]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효과가 4일 단기 수치 → 장기 모니터링으로 재확인 필요</a:t>
            </a:r>
            <a:endParaRPr sz="1100" b="0">
              <a:latin typeface="Arial Narrow"/>
              <a:ea typeface="LG스마트체 Regular"/>
            </a:endParaRP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[검증 로직]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WA 적용 9/25 → 9/30 지연 → 9/30 완료 여부 확인 필요</a:t>
            </a:r>
            <a:endParaRPr sz="1100" b="0">
              <a:latin typeface="Arial Narrow"/>
              <a:ea typeface="LG스마트체 Regular"/>
            </a:endParaRPr>
          </a:p>
        </p:txBody>
      </p:sp>
      <p:sp>
        <p:nvSpPr>
          <p:cNvPr id="14" name="confidential"/>
          <p:cNvSpPr/>
          <p:nvPr/>
        </p:nvSpPr>
        <p:spPr>
          <a:xfrm>
            <a:off x="228600" y="6519672"/>
            <a:ext cx="1234440" cy="219456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  <p:txBody>
          <a:bodyPr rtlCol="0" anchor="ctr" wrap="square" lIns="45720" rIns="45720" tIns="27432" bIns="27432"/>
          <a:lstStyle/>
          <a:p>
            <a:pPr algn="ctr"/>
            <a:r>
              <a:rPr sz="800" b="0">
                <a:solidFill>
                  <a:srgbClr val="000000"/>
                </a:solidFill>
                <a:latin typeface="Arial Narrow"/>
                <a:ea typeface="LG스마트체 Regular"/>
              </a:rPr>
              <a:t>대외비 (Confidential)</a:t>
            </a:r>
            <a:endParaRPr sz="800" b="0">
              <a:latin typeface="Arial Narrow"/>
              <a:ea typeface="LG스마트체 Regular"/>
            </a:endParaRPr>
          </a:p>
        </p:txBody>
      </p:sp>
      <p:sp>
        <p:nvSpPr>
          <p:cNvPr id="15" name="draft_mark"/>
          <p:cNvSpPr/>
          <p:nvPr/>
        </p:nvSpPr>
        <p:spPr>
          <a:xfrm>
            <a:off x="1554480" y="6519672"/>
            <a:ext cx="2377440" cy="219456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7F7F7F"/>
                </a:solidFill>
                <a:latin typeface="Arial Narrow"/>
                <a:ea typeface="LG스마트체 Regular"/>
              </a:rPr>
              <a:t>초안 – 공식 양식 아님 (weekly-report 생성)</a:t>
            </a:r>
            <a:endParaRPr sz="800" b="0">
              <a:latin typeface="Arial Narrow"/>
              <a:ea typeface="LG스마트체 Regular"/>
            </a:endParaRPr>
          </a:p>
        </p:txBody>
      </p:sp>
      <p:sp>
        <p:nvSpPr>
          <p:cNvPr id="16" name="page_no"/>
          <p:cNvSpPr/>
          <p:nvPr/>
        </p:nvSpPr>
        <p:spPr>
          <a:xfrm>
            <a:off x="4572000" y="6519672"/>
            <a:ext cx="758952" cy="219456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000000"/>
                </a:solidFill>
                <a:latin typeface="Arial Narrow"/>
                <a:ea typeface="LG스마트체 Regular"/>
              </a:rPr>
              <a:t>1 / 1</a:t>
            </a:r>
            <a:endParaRPr sz="1000" b="1">
              <a:latin typeface="Arial Narrow"/>
              <a:ea typeface="LG스마트체 Regular"/>
            </a:endParaRPr>
          </a:p>
        </p:txBody>
      </p:sp>
      <p:sp>
        <p:nvSpPr>
          <p:cNvPr id="17" name="no_forward"/>
          <p:cNvSpPr/>
          <p:nvPr/>
        </p:nvSpPr>
        <p:spPr>
          <a:xfrm>
            <a:off x="6309360" y="6519672"/>
            <a:ext cx="3364992" cy="219456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45720" rIns="45720" tIns="27432" bIns="27432"/>
          <a:lstStyle/>
          <a:p>
            <a:pPr algn="r"/>
            <a:r>
              <a:rPr sz="800" b="1">
                <a:solidFill>
                  <a:srgbClr val="000000"/>
                </a:solidFill>
                <a:latin typeface="Arial Narrow"/>
                <a:ea typeface="LG스마트체 Regular"/>
              </a:rPr>
              <a:t>* 외부전달 및 임의변경 삼가를 부탁드립니다.</a:t>
            </a:r>
            <a:endParaRPr sz="800" b="1">
              <a:latin typeface="Arial Narrow"/>
              <a:ea typeface="LG스마트체 Regula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