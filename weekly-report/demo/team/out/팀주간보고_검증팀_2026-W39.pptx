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31" r:id="rId4"/>
  </p:sldMasterIdLst>
  <p:notesMasterIdLst>
    <p:notesMasterId r:id="rId9"/>
  </p:notesMasterIdLst>
  <p:handoutMasterIdLst>
    <p:handoutMasterId r:id="rId10"/>
  </p:handoutMasterIdLst>
  <p:sldIdLst>
    <p:sldId id="2147482081" r:id="rId5"/>
    <p:sldId id="2147482082" r:id="rId8"/>
    <p:sldId id="2147482083" r:id="rId6"/>
    <p:sldId id="2147482084" r:id="rId17"/>
    <p:sldId id="2147482085" r:id="rId18"/>
    <p:sldId id="2147482086" r:id="rId19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194" userDrawn="1">
          <p15:clr>
            <a:srgbClr val="A4A3A4"/>
          </p15:clr>
        </p15:guide>
        <p15:guide id="3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77" userDrawn="1">
          <p15:clr>
            <a:srgbClr val="A4A3A4"/>
          </p15:clr>
        </p15:guide>
        <p15:guide id="2" pos="210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  <p:cmAuthor id="2" name="김설희 " initials="김" lastIdx="0" clrIdx="1">
    <p:extLst>
      <p:ext uri="{19B8F6BF-5375-455C-9EA6-DF929625EA0E}">
        <p15:presenceInfo xmlns:p15="http://schemas.microsoft.com/office/powerpoint/2012/main" userId="김설희 " providerId="None"/>
      </p:ext>
    </p:extLst>
  </p:cmAuthor>
  <p:cmAuthor id="3" name="최성민 " initials="최" lastIdx="1" clrIdx="2">
    <p:extLst>
      <p:ext uri="{19B8F6BF-5375-455C-9EA6-DF929625EA0E}">
        <p15:presenceInfo xmlns:p15="http://schemas.microsoft.com/office/powerpoint/2012/main" userId="최성민 " providerId="None"/>
      </p:ext>
    </p:extLst>
  </p:cmAuthor>
  <p:cmAuthor id="4" name="박동욱 " initials="박" lastIdx="3" clrIdx="3">
    <p:extLst>
      <p:ext uri="{19B8F6BF-5375-455C-9EA6-DF929625EA0E}">
        <p15:presenceInfo xmlns:p15="http://schemas.microsoft.com/office/powerpoint/2012/main" userId="박동욱 " providerId="None"/>
      </p:ext>
    </p:extLst>
  </p:cmAuthor>
  <p:cmAuthor id="5" name="임성묵(SungMook Lim)[muksung0084]/사원/제조지능화.제조PI.지능화기반.기반구축1팀" initials="임L" lastIdx="1" clrIdx="4">
    <p:extLst>
      <p:ext uri="{19B8F6BF-5375-455C-9EA6-DF929625EA0E}">
        <p15:presenceInfo xmlns:p15="http://schemas.microsoft.com/office/powerpoint/2012/main" userId="S-1-5-21-886851358-1450416589-2733106619-104108" providerId="AD"/>
      </p:ext>
    </p:extLst>
  </p:cmAuthor>
  <p:cmAuthor id="6" name="최성민(Seongmin Choi)[choi.sm]/책임/제조지능화.데이터솔루션.조립셀추적기술팀" initials="최C" lastIdx="1" clrIdx="5">
    <p:extLst>
      <p:ext uri="{19B8F6BF-5375-455C-9EA6-DF929625EA0E}">
        <p15:presenceInfo xmlns:p15="http://schemas.microsoft.com/office/powerpoint/2012/main" userId="S-1-5-21-886851358-1450416589-2733106619-800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7E7E7"/>
    <a:srgbClr val="FFFF00"/>
    <a:srgbClr val="92D050"/>
    <a:srgbClr val="339933"/>
    <a:srgbClr val="1414FE"/>
    <a:srgbClr val="006600"/>
    <a:srgbClr val="7F7F7F"/>
    <a:srgbClr val="D9D9D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5" autoAdjust="0"/>
    <p:restoredTop sz="94660"/>
  </p:normalViewPr>
  <p:slideViewPr>
    <p:cSldViewPr snapToGrid="0">
      <p:cViewPr varScale="1">
        <p:scale>
          <a:sx n="93" d="100"/>
          <a:sy n="93" d="100"/>
        </p:scale>
        <p:origin x="3738" y="90"/>
      </p:cViewPr>
      <p:guideLst>
        <p:guide orient="horz" pos="618"/>
        <p:guide pos="194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377"/>
        <p:guide pos="210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정원(JUNGWON LEE)[jwlee0401]/팀장/제조DX.품질DX.DAVINCI팀" userId="1c2f8ad7-3b6e-475e-9593-07812a6d44f9" providerId="ADAL" clId="{42E42565-1DC3-4C00-ADDE-1ED930111395}"/>
    <pc:docChg chg="addSld delSld modSld delMainMaster modSection">
      <pc:chgData name="이정원(JUNGWON LEE)[jwlee0401]/팀장/제조DX.품질DX.DAVINCI팀" userId="1c2f8ad7-3b6e-475e-9593-07812a6d44f9" providerId="ADAL" clId="{42E42565-1DC3-4C00-ADDE-1ED930111395}" dt="2026-06-11T00:16:18.819" v="3"/>
      <pc:docMkLst>
        <pc:docMk/>
      </pc:docMkLst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0075415" sldId="2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6753724" sldId="25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68764267" sldId="25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34701498" sldId="25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77425088" sldId="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71513182" sldId="26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265645" sldId="26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36551117" sldId="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1443811" sldId="26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19118043" sldId="2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6316921" sldId="2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9171974" sldId="2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7336525" sldId="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95252914" sldId="2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9842813" sldId="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92309048" sldId="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9554211" sldId="2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076006084" sldId="2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87307555" sldId="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68302759" sldId="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48701469" sldId="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09453602" sldId="2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587803" sldId="2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1841044" sldId="2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02992306" sldId="28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0102857" sldId="2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9430486" sldId="28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1864316" sldId="2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1295054" sldId="287"/>
        </pc:sldMkLst>
      </pc:sldChg>
      <pc:sldChg chg="modSp mod">
        <pc:chgData name="이정원(JUNGWON LEE)[jwlee0401]/팀장/제조DX.품질DX.DAVINCI팀" userId="1c2f8ad7-3b6e-475e-9593-07812a6d44f9" providerId="ADAL" clId="{42E42565-1DC3-4C00-ADDE-1ED930111395}" dt="2026-06-10T07:49:55.312" v="1" actId="20577"/>
        <pc:sldMkLst>
          <pc:docMk/>
          <pc:sldMk cId="2751367990" sldId="746"/>
        </pc:sldMkLst>
        <pc:spChg chg="mod">
          <ac:chgData name="이정원(JUNGWON LEE)[jwlee0401]/팀장/제조DX.품질DX.DAVINCI팀" userId="1c2f8ad7-3b6e-475e-9593-07812a6d44f9" providerId="ADAL" clId="{42E42565-1DC3-4C00-ADDE-1ED930111395}" dt="2026-06-10T07:49:55.312" v="1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2459115" sldId="131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99842264" sldId="1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5432747" sldId="1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5886732" sldId="13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0816502" sldId="1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171172" sldId="21474817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05210716" sldId="21474818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82641193" sldId="214748188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71412418" sldId="21474818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627161179" sldId="214748190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647982237" sldId="214748191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64062836" sldId="21474819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1232159" sldId="21474819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19540429" sldId="214748194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073314691" sldId="214748195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273295863" sldId="214748196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59969249" sldId="214748196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1265645" sldId="21474819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14355536" sldId="214748198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32173439" sldId="2147481982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88152125" sldId="2147481984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132371169" sldId="214748198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30102857" sldId="21474819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5222790" sldId="2147481987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29430486" sldId="21474819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0094452" sldId="214748198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406624593" sldId="214748199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237976707" sldId="214748199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37434731" sldId="21474819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3619185" sldId="21474819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080073" sldId="2147481995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336551117" sldId="214748199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97884987" sldId="214748199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855628006" sldId="21474819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75589917" sldId="21474819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527363302" sldId="214748199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51144703" sldId="214748200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63586155" sldId="2147482001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909150637" sldId="21474820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1653520" sldId="21474820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0837860" sldId="21474820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55497490" sldId="21474820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58226180" sldId="214748210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3224709" sldId="214748210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241283" sldId="21474821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3316372" sldId="21474821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54205851" sldId="21474821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35153446" sldId="21474821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24263111" sldId="214748213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27162785" sldId="21474821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32564399" sldId="21474821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24122391" sldId="21474821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69670490" sldId="21474821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36734569" sldId="21474821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49728740" sldId="21474821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8260711" sldId="21474821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35835" sldId="21474821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09369088" sldId="21474821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01988193" sldId="21474821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32484304" sldId="214748219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41581979" sldId="21474821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99644780" sldId="214748219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38070560" sldId="21474821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3862557" sldId="21474822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8753089" sldId="214748220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6745681" sldId="214748220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6699700" sldId="21474822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28180181" sldId="21474822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8919499" sldId="21474822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3900675" sldId="21474822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9332864" sldId="214748221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49915204" sldId="21474822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42395244" sldId="21474822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2845261" sldId="214748221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2919259" sldId="21474822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10368236" sldId="214748222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32916899" sldId="21474822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9884739" sldId="214748223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59064717" sldId="214748223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63187120" sldId="21474822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19732740" sldId="21474822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36025678" sldId="21474822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02884975" sldId="21474822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9389771" sldId="21474822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7206059" sldId="21474822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03540469" sldId="2147482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2883975" sldId="2147482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18351504" sldId="2147482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57580758" sldId="2147482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52142024" sldId="2147482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27946765" sldId="2147482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04766922" sldId="2147482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36044589" sldId="2147482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883890" sldId="21474822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11276172" sldId="21474822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93320977" sldId="214748229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42216647" sldId="21474822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90388497" sldId="214748229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6691194" sldId="21474823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03841124" sldId="2147482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14115481" sldId="2147482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2208808" sldId="21474823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59639368" sldId="21474823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58152258" sldId="21474823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3435470" sldId="214748234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9987150" sldId="2147482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8010382" sldId="21474823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43499269" sldId="21474823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40590436" sldId="21474823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69419318" sldId="21474823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4680555" sldId="21474823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75963261" sldId="21474823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7662529" sldId="21474823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22393476" sldId="21474823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50095275" sldId="21474823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91846311" sldId="21474823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93781609" sldId="21474823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87662067" sldId="21474823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2335601" sldId="21474823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73404529" sldId="21474823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43108386" sldId="21474823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533390757" sldId="21474823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59338307" sldId="21474823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09929132" sldId="21474823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82435953" sldId="21474824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67338337" sldId="21474824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43048222" sldId="214748242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7971809" sldId="214748242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2528128" sldId="214748242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7353793" sldId="214748243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17871026" sldId="21474824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7300827" sldId="214748243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103057" sldId="21474824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40676373" sldId="214748243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031098" sldId="21474824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45173503" sldId="21474824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55765133" sldId="21474824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26368911" sldId="21474824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73059942" sldId="214748244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9558725" sldId="21474824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49894319" sldId="21474824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15695188" sldId="21474824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5252784" sldId="21474824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8576387" sldId="214748245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020055" sldId="214748245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74959186" sldId="214748245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23945192" sldId="21474835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1351590" sldId="21474835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6810035" sldId="21474835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6355013" sldId="21474835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86436296" sldId="21474835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4057943" sldId="21474836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36101403" sldId="21474836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32828" sldId="21474836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12751909" sldId="2147483647"/>
        </pc:sldMkLst>
      </pc:sld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4184194262" sldId="2147483928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2848295152" sldId="2147483929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3389275494" sldId="2147483930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965675165" sldId="2147483931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1715446726" sldId="2147483932"/>
          </pc:sldLayoutMkLst>
        </pc:sldLayoutChg>
      </pc:sldMaster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3087726775" sldId="2147483933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1626185120" sldId="2147483934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3212269721" sldId="2147483935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837955830" sldId="2147483936"/>
          </pc:sldLayoutMkLst>
        </pc:sldLayoutChg>
      </pc:sldMasterChg>
    </pc:docChg>
  </pc:docChgLst>
  <pc:docChgLst>
    <pc:chgData name="문대윤(DAEYOON MOON)[dymoon17]/책임/제조DX.품질DX.설비DX팀" userId="fe4b4c97-a916-4217-8fde-65670670746c" providerId="ADAL" clId="{17FB9174-3770-49DD-858A-D0C4D9CB166C}"/>
    <pc:docChg chg="addSld modSld">
      <pc:chgData name="문대윤(DAEYOON MOON)[dymoon17]/책임/제조DX.품질DX.설비DX팀" userId="fe4b4c97-a916-4217-8fde-65670670746c" providerId="ADAL" clId="{17FB9174-3770-49DD-858A-D0C4D9CB166C}" dt="2026-06-11T00:33:59.592" v="0"/>
      <pc:docMkLst>
        <pc:docMk/>
      </pc:docMkLst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197884987" sldId="27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3020055" sldId="28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674959186" sldId="28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1232159" sldId="214748193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619540429" sldId="214748194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23619185" sldId="214748199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86080073" sldId="214748199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8753089" sldId="214748220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896745681" sldId="214748220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58919499" sldId="214748221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93900675" sldId="214748221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69332864" sldId="214748221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649915204" sldId="214748221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942395244" sldId="214748221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4192845261" sldId="214748221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92919259" sldId="214748222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10368236" sldId="214748222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32916899" sldId="214748222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79884739" sldId="214748223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59064717" sldId="214748223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463187120" sldId="214748224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19732740" sldId="214748224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02884975" sldId="214748225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49389771" sldId="214748225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47206059" sldId="214748225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222883975" sldId="214748226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18351504" sldId="214748226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736044589" sldId="214748227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883671718" sldId="214748227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17537109" sldId="214748227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37459330" sldId="214748227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11202586" sldId="2147482280"/>
        </pc:sldMkLst>
      </pc:sldChg>
    </pc:docChg>
  </pc:docChgLst>
  <pc:docChgLst>
    <pc:chgData name="이강국(KANG KUK LEE)[kklee81]/팀장/제조DX.품질DX.공정DX팀" userId="d2ce5178-2266-4480-858d-6442786b6081" providerId="ADAL" clId="{20B7C431-AE2C-469D-BF87-64285AC2C209}"/>
    <pc:docChg chg="addSld delSld modSld delMainMaster modSection">
      <pc:chgData name="이강국(KANG KUK LEE)[kklee81]/팀장/제조DX.품질DX.공정DX팀" userId="d2ce5178-2266-4480-858d-6442786b6081" providerId="ADAL" clId="{20B7C431-AE2C-469D-BF87-64285AC2C209}" dt="2026-06-11T00:29:05.569" v="1"/>
      <pc:docMkLst>
        <pc:docMk/>
      </pc:docMkLst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5222790" sldId="25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70075415" sldId="25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8764267" sldId="25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6753724" sldId="25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12751909" sldId="26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714355536" sldId="26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071513182" sldId="262"/>
        </pc:sldMkLst>
      </pc:sldChg>
      <pc:sldChg chg="del">
        <pc:chgData name="이강국(KANG KUK LEE)[kklee81]/팀장/제조DX.품질DX.공정DX팀" userId="d2ce5178-2266-4480-858d-6442786b6081" providerId="ADAL" clId="{20B7C431-AE2C-469D-BF87-64285AC2C209}" dt="2026-06-11T00:27:42.302" v="0" actId="47"/>
        <pc:sldMkLst>
          <pc:docMk/>
          <pc:sldMk cId="4199059677" sldId="26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34701498" sldId="26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51443811" sldId="26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199059677" sldId="26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16316921" sldId="26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9171974" sldId="26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897336525" sldId="26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495252914" sldId="26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59842813" sldId="27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992309048" sldId="27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076006084" sldId="27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487307555" sldId="27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268302759" sldId="27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248701469" sldId="27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09453602" sldId="27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86587803" sldId="27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91841044" sldId="27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802992306" sldId="28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361864316" sldId="28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61295054" sldId="28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892459115" sldId="131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799842264" sldId="131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5432747" sldId="131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95886732" sldId="132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0816502" sldId="134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4725635" sldId="152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4171172" sldId="214748179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23945192" sldId="2147483585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41205244" sldId="2147483591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829641397" sldId="214748359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1832269" sldId="2147483593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55868540" sldId="214748359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14057943" sldId="214748364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36101403" sldId="214748364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390094452" sldId="214748364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94132828" sldId="2147483647"/>
        </pc:sldMkLst>
      </pc:sldChg>
      <pc:sldMasterChg chg="del delSldLayout">
        <pc:chgData name="이강국(KANG KUK LEE)[kklee81]/팀장/제조DX.품질DX.공정DX팀" userId="d2ce5178-2266-4480-858d-6442786b6081" providerId="ADAL" clId="{20B7C431-AE2C-469D-BF87-64285AC2C209}" dt="2026-06-11T00:27:42.302" v="0" actId="47"/>
        <pc:sldMasterMkLst>
          <pc:docMk/>
          <pc:sldMasterMk cId="3734256132" sldId="2147483936"/>
        </pc:sldMasterMkLst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307018037" sldId="2147483937"/>
          </pc:sldLayoutMkLst>
        </pc:sldLayoutChg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473624248" sldId="2147483938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804863"/>
            <a:ext cx="5807075" cy="4021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8587" y="5094127"/>
            <a:ext cx="5348695" cy="48260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32628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91708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7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7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447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0">
            <a:extLst>
              <a:ext uri="{FF2B5EF4-FFF2-40B4-BE49-F238E27FC236}">
                <a16:creationId xmlns:a16="http://schemas.microsoft.com/office/drawing/2014/main" id="{B0E343B9-F6C3-5E42-4368-851E1FDBBF11}"/>
              </a:ext>
            </a:extLst>
          </p:cNvPr>
          <p:cNvSpPr txBox="1">
            <a:spLocks/>
          </p:cNvSpPr>
          <p:nvPr userDrawn="1"/>
        </p:nvSpPr>
        <p:spPr>
          <a:xfrm>
            <a:off x="8128372" y="327727"/>
            <a:ext cx="1572824" cy="3385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작성자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</a:p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업데이트 시간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  <a:endParaRPr lang="ko-KR" altLang="en-US" sz="1100">
              <a:solidFill>
                <a:srgbClr val="000000"/>
              </a:solidFill>
              <a:latin typeface="Arial Narrow"/>
              <a:ea typeface="LG스마트체 Regular"/>
            </a:endParaRPr>
          </a:p>
        </p:txBody>
      </p:sp>
      <p:sp>
        <p:nvSpPr>
          <p:cNvPr id="3" name="텍스트 개체 틀 40">
            <a:extLst>
              <a:ext uri="{FF2B5EF4-FFF2-40B4-BE49-F238E27FC236}">
                <a16:creationId xmlns:a16="http://schemas.microsoft.com/office/drawing/2014/main" id="{A3223B7F-EA9A-E6E3-208B-F0A75FD6DB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67548" y="336192"/>
            <a:ext cx="1259847" cy="110397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4" name="텍스트 개체 틀 40">
            <a:extLst>
              <a:ext uri="{FF2B5EF4-FFF2-40B4-BE49-F238E27FC236}">
                <a16:creationId xmlns:a16="http://schemas.microsoft.com/office/drawing/2014/main" id="{268511CE-FCEF-B049-351E-43FCBE5B51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68014" y="511301"/>
            <a:ext cx="917665" cy="16996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yy.mm.dd</a:t>
            </a:r>
            <a:r>
              <a:rPr lang="ko-KR" altLang="en-US"/>
              <a:t> </a:t>
            </a:r>
            <a:r>
              <a:rPr lang="en-US" altLang="ko-KR" err="1"/>
              <a:t>hh</a:t>
            </a:r>
            <a:r>
              <a:rPr lang="ko-KR" altLang="en-US"/>
              <a:t>시</a:t>
            </a:r>
          </a:p>
        </p:txBody>
      </p:sp>
    </p:spTree>
    <p:extLst>
      <p:ext uri="{BB962C8B-B14F-4D97-AF65-F5344CB8AC3E}">
        <p14:creationId xmlns:p14="http://schemas.microsoft.com/office/powerpoint/2010/main" val="244045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2671" y="6650863"/>
            <a:ext cx="460631" cy="153888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fld id="{A54A9921-F004-4FEA-AF7B-4D114F7E353D}" type="slidenum">
              <a:rPr lang="ko-KR" altLang="en-US" sz="1000" b="1" smtClean="0">
                <a:solidFill>
                  <a:srgbClr val="000000"/>
                </a:solidFill>
                <a:cs typeface="Arial" pitchFamily="34" charset="0"/>
              </a:rPr>
              <a:pPr algn="ctr"/>
              <a:t>‹#›</a:t>
            </a:fld>
            <a:r>
              <a:rPr lang="ko-KR" altLang="en-US" sz="100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altLang="ko-KR" sz="1000">
                <a:solidFill>
                  <a:srgbClr val="000000"/>
                </a:solidFill>
                <a:cs typeface="Arial" pitchFamily="34" charset="0"/>
              </a:rPr>
              <a:t>/ 140</a:t>
            </a:r>
          </a:p>
        </p:txBody>
      </p:sp>
    </p:spTree>
    <p:extLst>
      <p:ext uri="{BB962C8B-B14F-4D97-AF65-F5344CB8AC3E}">
        <p14:creationId xmlns:p14="http://schemas.microsoft.com/office/powerpoint/2010/main" val="279967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jt_header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16808" y="862399"/>
            <a:ext cx="9660567" cy="424967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indent="0" algn="l">
              <a:spcBef>
                <a:spcPts val="0"/>
              </a:spcBef>
              <a:buNone/>
            </a:pPr>
            <a:r>
              <a:rPr lang="ko-KR" altLang="en-US" sz="1100" b="1">
                <a:solidFill>
                  <a:srgbClr val="000000"/>
                </a:solidFill>
                <a:latin typeface="Arial Narrow"/>
                <a:ea typeface="LG스마트체 Regular"/>
              </a:rPr>
              <a:t>1. [합성 예시] 자동보정 로직 개선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000000"/>
                </a:solidFill>
                <a:latin typeface="Arial Narrow"/>
                <a:ea typeface="LG스마트체 Regular"/>
              </a:rPr>
              <a:t>- 보고 자동화 검증을 위해 실제 업무 데이터 없이 파이프라인을 확인하는 합성 과제입니다.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- 자동보정 로직 검증을 완료했으며, 불량률이 0.180% → 0.150%로 감소한 것을 확인했습니다.(9/22)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- 불량률 0.180% → 0.150% 개선을 확인한 자동보정 로직을 양산 라인에 적용할 예정입니다.(~9/30)</a:t>
            </a:r>
            <a:endParaRPr lang="ko-KR" sz="1100"/>
          </a:p>
          <a:p>
            <a:pPr marL="0" indent="0" algn="l">
              <a:spcBef>
                <a:spcPts val="1100"/>
              </a:spcBef>
              <a:buNone/>
            </a:pPr>
            <a:r>
              <a:rPr lang="ko-KR" altLang="en-US" sz="1100" b="1">
                <a:solidFill>
                  <a:srgbClr val="000000"/>
                </a:solidFill>
                <a:latin typeface="Arial Narrow"/>
                <a:ea typeface="LG스마트체 Regular"/>
              </a:rPr>
              <a:t>2. [합성 예시] 수율 개선 분석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000000"/>
                </a:solidFill>
                <a:latin typeface="Arial Narrow"/>
                <a:ea typeface="LG스마트체 Regular"/>
              </a:rPr>
              <a:t>- 보고 자동화 검증을 위해 실제 업무 데이터 없이 파이프라인을 확인하는 합성 과제입니다.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- 수율 데이터 분석을 완료해 수율이 95.0% → 96.0%로 개선된 것을 확인했습니다.(9/22)</a:t>
            </a:r>
            <a:endParaRPr lang="ko-KR" sz="1100"/>
          </a:p>
          <a:p>
            <a:pPr marL="274320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. 분석 결과는 9/30에 공유해 개선 효과를 알릴 예정입니다.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- 수율 95.0% → 96.0% 개선 분석 결과를 정리해 관련 담당자에게 공유할 예정입니다.(~9/30)</a:t>
            </a:r>
            <a:endParaRPr lang="ko-KR" sz="1100"/>
          </a:p>
          <a:p>
            <a:pPr marL="0" indent="0" algn="l">
              <a:spcBef>
                <a:spcPts val="1100"/>
              </a:spcBef>
              <a:buNone/>
            </a:pPr>
            <a:r>
              <a:rPr lang="ko-KR" altLang="en-US" sz="1100" b="1">
                <a:solidFill>
                  <a:srgbClr val="000000"/>
                </a:solidFill>
                <a:latin typeface="Arial Narrow"/>
                <a:ea typeface="LG스마트체 Regular"/>
              </a:rPr>
              <a:t>3. [합성 예시] 설비 투자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000000"/>
                </a:solidFill>
                <a:latin typeface="Arial Narrow"/>
                <a:ea typeface="LG스마트체 Regular"/>
              </a:rPr>
              <a:t>- 보고 자동화 검증을 위해 실제 업무 데이터 없이 파이프라인을 확인하는 합성 과제입니다.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- 설비 투자 건의 심의를 완료해 다음 단계인 승인·품의 진행을 준비하고 있습니다.(9/22)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- 심의를 완료한 설비 투자 건에 대해 다음 단계인 승인 품의를 진행할 예정입니다.(~9/25)</a:t>
            </a:r>
            <a:endParaRPr lang="ko-KR" sz="1100"/>
          </a:p>
          <a:p>
            <a:pPr marL="0" indent="0" algn="l">
              <a:spcBef>
                <a:spcPts val="1100"/>
              </a:spcBef>
              <a:buNone/>
            </a:pPr>
            <a:r>
              <a:rPr lang="ko-KR" altLang="en-US" sz="1100" b="1">
                <a:solidFill>
                  <a:srgbClr val="000000"/>
                </a:solidFill>
                <a:latin typeface="Arial Narrow"/>
                <a:ea typeface="LG스마트체 Regular"/>
              </a:rPr>
              <a:t>4. [합성 예시] 검증 로직 수평전개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000000"/>
                </a:solidFill>
                <a:latin typeface="Arial Narrow"/>
                <a:ea typeface="LG스마트체 Regular"/>
              </a:rPr>
              <a:t>- 보고 자동화 검증을 위해 실제 업무 데이터 없이 파이프라인을 확인하는 합성 과제입니다.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- 사이트 검증을 완료해 WA·MI_HL·HD·OT 사이트의 조립 공정 적용을 마쳤습니다.(9/22)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- WA 사이트 적용 일정이 당초 9/25에서 9/30으로 변경되어 일정 관리가 필요합니다.(9/22)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- 진행 중인 NB·PW·HG 등 나머지 사이트의 조립 공정 적용을 이어서 진행할 예정입니다.</a:t>
            </a:r>
            <a:endParaRPr lang="ko-KR" sz="1100"/>
          </a:p>
          <a:p>
            <a:pPr marL="0" indent="0" algn="l">
              <a:spcBef>
                <a:spcPts val="1100"/>
              </a:spcBef>
              <a:buNone/>
            </a:pPr>
            <a:r>
              <a:rPr lang="ko-KR" altLang="en-US" sz="1100" b="1">
                <a:solidFill>
                  <a:srgbClr val="000000"/>
                </a:solidFill>
                <a:latin typeface="Arial Narrow"/>
                <a:ea typeface="LG스마트체 Regular"/>
              </a:rPr>
              <a:t>5. [합성 예시] 대시보드 시스템 구축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000000"/>
                </a:solidFill>
                <a:latin typeface="Arial Narrow"/>
                <a:ea typeface="LG스마트체 Regular"/>
              </a:rPr>
              <a:t>- 보고 자동화 검증을 위해 실제 업무 데이터 없이 파이프라인을 확인하는 합성 과제입니다.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- 대시보드 시스템 개발을 완료하고, 다음 단계인 기능 테스트를 준비하고 있습니다.(9/22)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- 개발을 완료한 대시보드 시스템에 대해 다음 단계인 기능 테스트를 진행할 예정입니다.(~9/25)</a:t>
            </a:r>
            <a:endParaRPr lang="ko-KR" sz="1100"/>
          </a:p>
        </p:txBody>
      </p:sp>
      <p:sp>
        <p:nvSpPr>
          <p:cNvPr id="15" name="slide_title">
            <a:extLst>
              <a:ext uri="{FF2B5EF4-FFF2-40B4-BE49-F238E27FC236}">
                <a16:creationId xmlns:a16="http://schemas.microsoft.com/office/drawing/2014/main" id="{369933B1-2707-440A-8807-70DB0265AAE4}"/>
              </a:ext>
            </a:extLst>
          </p:cNvPr>
          <p:cNvSpPr txBox="1">
            <a:spLocks/>
          </p:cNvSpPr>
          <p:nvPr/>
        </p:nvSpPr>
        <p:spPr>
          <a:xfrm>
            <a:off x="133114" y="109129"/>
            <a:ext cx="1982076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marL="0" lvl="0" algn="l" defTabSz="914400" rtl="0" eaLnBrk="1" fontAlgn="base" latinLnBrk="0" hangingPunct="1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  <a:defRPr>
                <a:latin typeface="Arial Narrow"/>
                <a:ea typeface="LG Smart Regular"/>
                <a:cs typeface="Arial Narrow"/>
              </a:defRPr>
            </a:pPr>
            <a:r>
              <a:rPr lang="en-US" altLang="ko-KR" sz="18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1. 검증팀 (1/1)</a:t>
            </a:r>
            <a:endParaRPr lang="ko-KR" sz="1800" dirty="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16" name="updated_at">
            <a:extLst>
              <a:ext uri="{FF2B5EF4-FFF2-40B4-BE49-F238E27FC236}">
                <a16:creationId xmlns:a16="http://schemas.microsoft.com/office/drawing/2014/main" id="{2849E3CD-BC1D-4B95-8A4F-2BD9E660BDE3}"/>
              </a:ext>
            </a:extLst>
          </p:cNvPr>
          <p:cNvSpPr txBox="1"/>
          <p:nvPr/>
        </p:nvSpPr>
        <p:spPr>
          <a:xfrm>
            <a:off x="8363527" y="549658"/>
            <a:ext cx="1413849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marL="0" lvl="0" indent="0" algn="r" defTabSz="914400" rtl="0" eaLnBrk="1" latinLnBrk="1" hangingPunct="1">
              <a:spcBef>
                <a:spcPts val="0"/>
              </a:spcBef>
              <a:buFontTx/>
              <a:buNone/>
              <a:defRPr sz="1100" kern="1200" baseline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lvl="0">
              <a:defRPr>
                <a:latin typeface="Arial Narrow"/>
                <a:ea typeface="LG Smart Regular"/>
                <a:cs typeface="Arial Narrow"/>
              </a:defRPr>
            </a:pPr>
            <a:r>
              <a:rPr lang="ko-KR" altLang="en-US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업데이트 시간 : 10/4 8시</a:t>
            </a:r>
            <a:endParaRPr lang="ko-KR" sz="1100" dirty="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17" name="author">
            <a:extLst>
              <a:ext uri="{FF2B5EF4-FFF2-40B4-BE49-F238E27FC236}">
                <a16:creationId xmlns:a16="http://schemas.microsoft.com/office/drawing/2014/main" id="{7178FAE9-DDAC-36A6-95D7-1CCF93D6F62A}"/>
              </a:ext>
            </a:extLst>
          </p:cNvPr>
          <p:cNvSpPr txBox="1">
            <a:spLocks/>
          </p:cNvSpPr>
          <p:nvPr/>
        </p:nvSpPr>
        <p:spPr>
          <a:xfrm>
            <a:off x="8804947" y="380381"/>
            <a:ext cx="984245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lvl="0">
              <a:spcBef>
                <a:spcPts val="0"/>
              </a:spcBef>
              <a:defRPr>
                <a:latin typeface="Arial Narrow"/>
                <a:ea typeface="LG Smart Regular"/>
                <a:cs typeface="Arial Narrow"/>
              </a:defRPr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작성자 : tester</a:t>
            </a:r>
            <a:endParaRPr lang="ko-KR" sz="1100" dirty="0">
              <a:latin typeface="+mn-lt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0118244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main_table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2296"/>
              </p:ext>
            </p:extLst>
          </p:nvPr>
        </p:nvGraphicFramePr>
        <p:xfrm>
          <a:off x="125047" y="866775"/>
          <a:ext cx="9644176" cy="5708566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대상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FFFF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금주 진행사항 (W39)  (9/21~9/27)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5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[합성 예시] 자동보정 로직 개선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MEB·조립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불량률 0.180% → 0.150% 확인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'26.09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tester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0246"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97985"/>
                  </a:ext>
                </a:extLst>
              </a:tr>
            </a:tbl>
          </a:graphicData>
        </a:graphic>
      </p:graphicFrame>
      <p:sp>
        <p:nvSpPr>
          <p:cNvPr id="5" name="pjt_header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685800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■ [합성 예시] 자동보정 로직 개선 (1/5)</a:t>
            </a:r>
            <a:endParaRPr lang="ko-KR" sz="14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4" name="slide_title"/>
          <p:cNvSpPr txBox="1">
            <a:spLocks/>
          </p:cNvSpPr>
          <p:nvPr/>
        </p:nvSpPr>
        <p:spPr>
          <a:xfrm>
            <a:off x="124961" y="132021"/>
            <a:ext cx="4406976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8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1. 과제 진행 현황_검증팀</a:t>
            </a:r>
            <a:endParaRPr lang="ko-KR" sz="18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7" name="updated_at">
            <a:extLst>
              <a:ext uri="{FF2B5EF4-FFF2-40B4-BE49-F238E27FC236}">
                <a16:creationId xmlns:a16="http://schemas.microsoft.com/office/drawing/2014/main" id="{2849E3CD-BC1D-4B95-8A4F-2BD9E660BDE3}"/>
              </a:ext>
            </a:extLst>
          </p:cNvPr>
          <p:cNvSpPr txBox="1"/>
          <p:nvPr/>
        </p:nvSpPr>
        <p:spPr>
          <a:xfrm>
            <a:off x="8355374" y="572550"/>
            <a:ext cx="1413849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Arial Narrow"/>
                <a:ea typeface="LG Smart Regular"/>
                <a:cs typeface="Arial Narrow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Arial Narrow"/>
                <a:ea typeface="LG Smart Regular"/>
                <a:cs typeface="Arial Narrow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Arial Narrow"/>
                <a:ea typeface="LG Smart Regular"/>
                <a:cs typeface="Arial Narrow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Arial Narrow"/>
                <a:ea typeface="LG Smart Regular"/>
                <a:cs typeface="Arial Narrow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업데이트 시간 : 10/4 8시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7178FAE9-DDAC-36A6-95D7-1CCF93D6F62A}"/>
              </a:ext>
            </a:extLst>
          </p:cNvPr>
          <p:cNvSpPr txBox="1">
            <a:spLocks/>
          </p:cNvSpPr>
          <p:nvPr/>
        </p:nvSpPr>
        <p:spPr>
          <a:xfrm>
            <a:off x="8756721" y="403273"/>
            <a:ext cx="1024318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작성자 : tester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5" name="body_top"/>
          <p:cNvSpPr txBox="1"/>
          <p:nvPr/>
        </p:nvSpPr>
        <p:spPr>
          <a:xfrm>
            <a:off x="1670334" y="1284290"/>
            <a:ext cx="6970747" cy="26746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[배경/목표]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보고 자동화 검증을 위한 합성 과제. 실제 업무 데이터 없이 파이프라인 검증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  <p:graphicFrame>
        <p:nvGraphicFramePr>
          <p:cNvPr id="66" name="m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321968"/>
              </p:ext>
            </p:extLst>
          </p:nvPr>
        </p:nvGraphicFramePr>
        <p:xfrm>
          <a:off x="1670334" y="1579184"/>
          <a:ext cx="6970743" cy="14996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6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2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단계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적용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범위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Baseline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계획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실적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상태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비고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현황 분석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개선 방안 도출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로직 개발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기능 검증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양산 적용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수평전개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효과 산출·종료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" name="body_main"/>
          <p:cNvSpPr txBox="1"/>
          <p:nvPr/>
        </p:nvSpPr>
        <p:spPr>
          <a:xfrm>
            <a:off x="1670334" y="3106232"/>
            <a:ext cx="6970747" cy="339515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누적 요약]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불량률 0.180% → 0.150% 확인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금주 변경]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불량률 0.180% → 0.150% 확인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[향후 계획]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향후 계획은 해당 사항이 없습니다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[이슈·지원 요청]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금주에는 특이사항이 없습니다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main_table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2296"/>
              </p:ext>
            </p:extLst>
          </p:nvPr>
        </p:nvGraphicFramePr>
        <p:xfrm>
          <a:off x="125047" y="866775"/>
          <a:ext cx="9644176" cy="5708566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대상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FFFF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금주 진행사항 (W39)  (9/21~9/27)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5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[합성 예시] 수율 개선 분석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MEB·조립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수율 95.0% → 96.0% 확인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'26.09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tester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0246"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97985"/>
                  </a:ext>
                </a:extLst>
              </a:tr>
            </a:tbl>
          </a:graphicData>
        </a:graphic>
      </p:graphicFrame>
      <p:sp>
        <p:nvSpPr>
          <p:cNvPr id="5" name="pjt_header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685800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■ [합성 예시] 수율 개선 분석 (2/5)</a:t>
            </a:r>
            <a:endParaRPr lang="ko-KR" sz="14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4" name="slide_title"/>
          <p:cNvSpPr txBox="1">
            <a:spLocks/>
          </p:cNvSpPr>
          <p:nvPr/>
        </p:nvSpPr>
        <p:spPr>
          <a:xfrm>
            <a:off x="124961" y="132021"/>
            <a:ext cx="4406976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8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1. 과제 진행 현황_검증팀</a:t>
            </a:r>
            <a:endParaRPr lang="ko-KR" sz="18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7" name="updated_at">
            <a:extLst>
              <a:ext uri="{FF2B5EF4-FFF2-40B4-BE49-F238E27FC236}">
                <a16:creationId xmlns:a16="http://schemas.microsoft.com/office/drawing/2014/main" id="{2849E3CD-BC1D-4B95-8A4F-2BD9E660BDE3}"/>
              </a:ext>
            </a:extLst>
          </p:cNvPr>
          <p:cNvSpPr txBox="1"/>
          <p:nvPr/>
        </p:nvSpPr>
        <p:spPr>
          <a:xfrm>
            <a:off x="8355374" y="572550"/>
            <a:ext cx="1413849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Arial Narrow"/>
                <a:ea typeface="LG Smart Regular"/>
                <a:cs typeface="Arial Narrow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Arial Narrow"/>
                <a:ea typeface="LG Smart Regular"/>
                <a:cs typeface="Arial Narrow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Arial Narrow"/>
                <a:ea typeface="LG Smart Regular"/>
                <a:cs typeface="Arial Narrow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Arial Narrow"/>
                <a:ea typeface="LG Smart Regular"/>
                <a:cs typeface="Arial Narrow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업데이트 시간 : 10/4 8시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7178FAE9-DDAC-36A6-95D7-1CCF93D6F62A}"/>
              </a:ext>
            </a:extLst>
          </p:cNvPr>
          <p:cNvSpPr txBox="1">
            <a:spLocks/>
          </p:cNvSpPr>
          <p:nvPr/>
        </p:nvSpPr>
        <p:spPr>
          <a:xfrm>
            <a:off x="8756721" y="403273"/>
            <a:ext cx="1024318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작성자 : tester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5" name="body_top"/>
          <p:cNvSpPr txBox="1"/>
          <p:nvPr/>
        </p:nvSpPr>
        <p:spPr>
          <a:xfrm>
            <a:off x="1670334" y="1284290"/>
            <a:ext cx="6970747" cy="26746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[배경/목표]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보고 자동화 검증을 위한 합성 과제. 실제 업무 데이터 없이 파이프라인 검증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  <p:graphicFrame>
        <p:nvGraphicFramePr>
          <p:cNvPr id="66" name="m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321968"/>
              </p:ext>
            </p:extLst>
          </p:nvPr>
        </p:nvGraphicFramePr>
        <p:xfrm>
          <a:off x="1670334" y="1579184"/>
          <a:ext cx="6970743" cy="13121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6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2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단계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적용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범위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Baseline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계획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실적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상태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비고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문제 정의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데이터 수집·정제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분석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개선안 도출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효과 검증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결과 공유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" name="body_main"/>
          <p:cNvSpPr txBox="1"/>
          <p:nvPr/>
        </p:nvSpPr>
        <p:spPr>
          <a:xfrm>
            <a:off x="1670334" y="2918780"/>
            <a:ext cx="6970747" cy="358260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누적 요약]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수율 95.0% → 96.0% 확인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금주 변경]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수율 95.0% → 96.0% 확인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[향후 계획]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향후 계획은 해당 사항이 없습니다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[이슈·지원 요청]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금주에는 특이사항이 없습니다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main_table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2296"/>
              </p:ext>
            </p:extLst>
          </p:nvPr>
        </p:nvGraphicFramePr>
        <p:xfrm>
          <a:off x="125047" y="866775"/>
          <a:ext cx="9644176" cy="5708566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대상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FFFF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금주 진행사항 (W39)  (9/21~9/27)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5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[합성 예시] 설비 투자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MEB·조립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투자 심의 9/22 완료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'26.09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tester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0246"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97985"/>
                  </a:ext>
                </a:extLst>
              </a:tr>
            </a:tbl>
          </a:graphicData>
        </a:graphic>
      </p:graphicFrame>
      <p:sp>
        <p:nvSpPr>
          <p:cNvPr id="5" name="pjt_header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685800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■ [합성 예시] 설비 투자 (3/5)</a:t>
            </a:r>
            <a:endParaRPr lang="ko-KR" sz="14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4" name="slide_title"/>
          <p:cNvSpPr txBox="1">
            <a:spLocks/>
          </p:cNvSpPr>
          <p:nvPr/>
        </p:nvSpPr>
        <p:spPr>
          <a:xfrm>
            <a:off x="124961" y="132021"/>
            <a:ext cx="4406976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8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1. 과제 진행 현황_검증팀</a:t>
            </a:r>
            <a:endParaRPr lang="ko-KR" sz="18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7" name="updated_at">
            <a:extLst>
              <a:ext uri="{FF2B5EF4-FFF2-40B4-BE49-F238E27FC236}">
                <a16:creationId xmlns:a16="http://schemas.microsoft.com/office/drawing/2014/main" id="{2849E3CD-BC1D-4B95-8A4F-2BD9E660BDE3}"/>
              </a:ext>
            </a:extLst>
          </p:cNvPr>
          <p:cNvSpPr txBox="1"/>
          <p:nvPr/>
        </p:nvSpPr>
        <p:spPr>
          <a:xfrm>
            <a:off x="8355374" y="572550"/>
            <a:ext cx="1413849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Arial Narrow"/>
                <a:ea typeface="LG Smart Regular"/>
                <a:cs typeface="Arial Narrow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Arial Narrow"/>
                <a:ea typeface="LG Smart Regular"/>
                <a:cs typeface="Arial Narrow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Arial Narrow"/>
                <a:ea typeface="LG Smart Regular"/>
                <a:cs typeface="Arial Narrow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Arial Narrow"/>
                <a:ea typeface="LG Smart Regular"/>
                <a:cs typeface="Arial Narrow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업데이트 시간 : 10/4 8시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7178FAE9-DDAC-36A6-95D7-1CCF93D6F62A}"/>
              </a:ext>
            </a:extLst>
          </p:cNvPr>
          <p:cNvSpPr txBox="1">
            <a:spLocks/>
          </p:cNvSpPr>
          <p:nvPr/>
        </p:nvSpPr>
        <p:spPr>
          <a:xfrm>
            <a:off x="8756721" y="403273"/>
            <a:ext cx="1024318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작성자 : tester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5" name="body_top"/>
          <p:cNvSpPr txBox="1"/>
          <p:nvPr/>
        </p:nvSpPr>
        <p:spPr>
          <a:xfrm>
            <a:off x="1670334" y="1284290"/>
            <a:ext cx="6970747" cy="26746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[배경/목표]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보고 자동화 검증을 위한 합성 과제. 실제 업무 데이터 없이 파이프라인 검증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  <p:graphicFrame>
        <p:nvGraphicFramePr>
          <p:cNvPr id="66" name="m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321968"/>
              </p:ext>
            </p:extLst>
          </p:nvPr>
        </p:nvGraphicFramePr>
        <p:xfrm>
          <a:off x="1670334" y="1579184"/>
          <a:ext cx="6970743" cy="16870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6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2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단계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적용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범위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Baseline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계획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실적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상태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비고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투자 기획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투자비 검토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심의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승인·품의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발주·계약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설치·시운전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검수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완료·정산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" name="body_main"/>
          <p:cNvSpPr txBox="1"/>
          <p:nvPr/>
        </p:nvSpPr>
        <p:spPr>
          <a:xfrm>
            <a:off x="1670334" y="3293684"/>
            <a:ext cx="6970747" cy="32077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누적 요약]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투자 심의 9/22 완료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금주 변경]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투자 심의 9/22 완료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[향후 계획]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향후 계획은 해당 사항이 없습니다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[이슈·지원 요청]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금주에는 특이사항이 없습니다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main_table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2296"/>
              </p:ext>
            </p:extLst>
          </p:nvPr>
        </p:nvGraphicFramePr>
        <p:xfrm>
          <a:off x="125047" y="866775"/>
          <a:ext cx="9644176" cy="5708566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대상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FFFF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금주 진행사항 (W39)  (9/21~9/27)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5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[합성 예시] 검증 로직 수평전개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MEB·조립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적용 일정 9/25 → 9/30 변경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'26.09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tester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0246"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97985"/>
                  </a:ext>
                </a:extLst>
              </a:tr>
            </a:tbl>
          </a:graphicData>
        </a:graphic>
      </p:graphicFrame>
      <p:sp>
        <p:nvSpPr>
          <p:cNvPr id="5" name="pjt_header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685800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■ [합성 예시] 검증 로직 수평전개 (4/5)</a:t>
            </a:r>
            <a:endParaRPr lang="ko-KR" sz="14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4" name="slide_title"/>
          <p:cNvSpPr txBox="1">
            <a:spLocks/>
          </p:cNvSpPr>
          <p:nvPr/>
        </p:nvSpPr>
        <p:spPr>
          <a:xfrm>
            <a:off x="124961" y="132021"/>
            <a:ext cx="4406976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8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1. 과제 진행 현황_검증팀</a:t>
            </a:r>
            <a:endParaRPr lang="ko-KR" sz="18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7" name="updated_at">
            <a:extLst>
              <a:ext uri="{FF2B5EF4-FFF2-40B4-BE49-F238E27FC236}">
                <a16:creationId xmlns:a16="http://schemas.microsoft.com/office/drawing/2014/main" id="{2849E3CD-BC1D-4B95-8A4F-2BD9E660BDE3}"/>
              </a:ext>
            </a:extLst>
          </p:cNvPr>
          <p:cNvSpPr txBox="1"/>
          <p:nvPr/>
        </p:nvSpPr>
        <p:spPr>
          <a:xfrm>
            <a:off x="8355374" y="572550"/>
            <a:ext cx="1413849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Arial Narrow"/>
                <a:ea typeface="LG Smart Regular"/>
                <a:cs typeface="Arial Narrow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Arial Narrow"/>
                <a:ea typeface="LG Smart Regular"/>
                <a:cs typeface="Arial Narrow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Arial Narrow"/>
                <a:ea typeface="LG Smart Regular"/>
                <a:cs typeface="Arial Narrow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Arial Narrow"/>
                <a:ea typeface="LG Smart Regular"/>
                <a:cs typeface="Arial Narrow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업데이트 시간 : 10/4 8시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7178FAE9-DDAC-36A6-95D7-1CCF93D6F62A}"/>
              </a:ext>
            </a:extLst>
          </p:cNvPr>
          <p:cNvSpPr txBox="1">
            <a:spLocks/>
          </p:cNvSpPr>
          <p:nvPr/>
        </p:nvSpPr>
        <p:spPr>
          <a:xfrm>
            <a:off x="8756721" y="403273"/>
            <a:ext cx="1024318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작성자 : tester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5" name="body_top"/>
          <p:cNvSpPr txBox="1"/>
          <p:nvPr/>
        </p:nvSpPr>
        <p:spPr>
          <a:xfrm>
            <a:off x="1670334" y="1284290"/>
            <a:ext cx="6970747" cy="26746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[배경/목표]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보고 자동화 검증을 위한 합성 과제. 실제 업무 데이터 없이 파이프라인 검증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  <p:graphicFrame>
        <p:nvGraphicFramePr>
          <p:cNvPr id="66" name="m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321968"/>
              </p:ext>
            </p:extLst>
          </p:nvPr>
        </p:nvGraphicFramePr>
        <p:xfrm>
          <a:off x="1670334" y="1579184"/>
          <a:ext cx="6970743" cy="197281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6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2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단계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적용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범위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Baseline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계획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실적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상태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비고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사이트 적용 완료 4개 사이트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WA·조립, MI_HL·조립, HD·조립, OT·조립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09/22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사이트 적용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NB·조립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09/30 (+5)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사이트 적용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PW·조립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사이트 적용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HG·조립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사이트 적용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AZ·조립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사이트 적용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EP2·조립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사이트 적용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OC·조립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사이트 적용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MI_LS·조립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사이트 적용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GM_TN·조립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" name="body_main"/>
          <p:cNvSpPr txBox="1"/>
          <p:nvPr/>
        </p:nvSpPr>
        <p:spPr>
          <a:xfrm>
            <a:off x="1670334" y="3579434"/>
            <a:ext cx="6970747" cy="292195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누적 요약]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WA 적용 일정 9/25 → 9/30 변경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금주 변경]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WA 적용 일정 9/25 → 9/30 변경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[향후 계획]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향후 계획은 해당 사항이 없습니다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[이슈·지원 요청]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금주에는 특이사항이 없습니다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main_table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2296"/>
              </p:ext>
            </p:extLst>
          </p:nvPr>
        </p:nvGraphicFramePr>
        <p:xfrm>
          <a:off x="125047" y="866775"/>
          <a:ext cx="9644176" cy="5708566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대상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FFFF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금주 진행사항 (W39)  (9/21~9/27)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5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[합성 예시] 대시보드 시스템 구축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MEB·조립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대시보드 개발 9/22 완료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'26.09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tester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0246"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97985"/>
                  </a:ext>
                </a:extLst>
              </a:tr>
            </a:tbl>
          </a:graphicData>
        </a:graphic>
      </p:graphicFrame>
      <p:sp>
        <p:nvSpPr>
          <p:cNvPr id="5" name="pjt_header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685800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■ [합성 예시] 대시보드 시스템 구축 (5/5)</a:t>
            </a:r>
            <a:endParaRPr lang="ko-KR" sz="14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4" name="slide_title"/>
          <p:cNvSpPr txBox="1">
            <a:spLocks/>
          </p:cNvSpPr>
          <p:nvPr/>
        </p:nvSpPr>
        <p:spPr>
          <a:xfrm>
            <a:off x="124961" y="132021"/>
            <a:ext cx="4406976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8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1. 과제 진행 현황_검증팀</a:t>
            </a:r>
            <a:endParaRPr lang="ko-KR" sz="18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7" name="updated_at">
            <a:extLst>
              <a:ext uri="{FF2B5EF4-FFF2-40B4-BE49-F238E27FC236}">
                <a16:creationId xmlns:a16="http://schemas.microsoft.com/office/drawing/2014/main" id="{2849E3CD-BC1D-4B95-8A4F-2BD9E660BDE3}"/>
              </a:ext>
            </a:extLst>
          </p:cNvPr>
          <p:cNvSpPr txBox="1"/>
          <p:nvPr/>
        </p:nvSpPr>
        <p:spPr>
          <a:xfrm>
            <a:off x="8355374" y="572550"/>
            <a:ext cx="1413849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Arial Narrow"/>
                <a:ea typeface="LG Smart Regular"/>
                <a:cs typeface="Arial Narrow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Arial Narrow"/>
                <a:ea typeface="LG Smart Regular"/>
                <a:cs typeface="Arial Narrow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Arial Narrow"/>
                <a:ea typeface="LG Smart Regular"/>
                <a:cs typeface="Arial Narrow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Arial Narrow"/>
                <a:ea typeface="LG Smart Regular"/>
                <a:cs typeface="Arial Narrow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업데이트 시간 : 10/4 8시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7178FAE9-DDAC-36A6-95D7-1CCF93D6F62A}"/>
              </a:ext>
            </a:extLst>
          </p:cNvPr>
          <p:cNvSpPr txBox="1">
            <a:spLocks/>
          </p:cNvSpPr>
          <p:nvPr/>
        </p:nvSpPr>
        <p:spPr>
          <a:xfrm>
            <a:off x="8756721" y="403273"/>
            <a:ext cx="1024318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작성자 : tester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5" name="body_top"/>
          <p:cNvSpPr txBox="1"/>
          <p:nvPr/>
        </p:nvSpPr>
        <p:spPr>
          <a:xfrm>
            <a:off x="1670334" y="1284290"/>
            <a:ext cx="6970747" cy="26746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[배경/목표]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보고 자동화 검증을 위한 합성 과제. 실제 업무 데이터 없이 파이프라인 검증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  <p:graphicFrame>
        <p:nvGraphicFramePr>
          <p:cNvPr id="66" name="m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321968"/>
              </p:ext>
            </p:extLst>
          </p:nvPr>
        </p:nvGraphicFramePr>
        <p:xfrm>
          <a:off x="1670334" y="1579184"/>
          <a:ext cx="6970743" cy="13121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6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2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단계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적용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범위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Baseline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계획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실적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상태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비고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요구사항 정의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설계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개발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테스트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배포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안정화·운영 인계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" name="body_main"/>
          <p:cNvSpPr txBox="1"/>
          <p:nvPr/>
        </p:nvSpPr>
        <p:spPr>
          <a:xfrm>
            <a:off x="1670334" y="2918780"/>
            <a:ext cx="6970747" cy="358260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누적 요약]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대시보드 개발 9/22 완료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금주 변경]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대시보드 개발 9/22 완료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[향후 계획]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향후 계획은 해당 사항이 없습니다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[이슈·지원 요청]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금주에는 특이사항이 없습니다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우기글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F98EDD61FBD840A846F9616B640187" ma:contentTypeVersion="11" ma:contentTypeDescription="새 문서를 만듭니다." ma:contentTypeScope="" ma:versionID="7be988a8e383971f83bec4a52f73ea19">
  <xsd:schema xmlns:xsd="http://www.w3.org/2001/XMLSchema" xmlns:xs="http://www.w3.org/2001/XMLSchema" xmlns:p="http://schemas.microsoft.com/office/2006/metadata/properties" xmlns:ns2="69aacc19-8f48-4ba8-bfc1-057a6d56306d" targetNamespace="http://schemas.microsoft.com/office/2006/metadata/properties" ma:root="true" ma:fieldsID="5d646965da1011b145afbe7625822147" ns2:_="">
    <xsd:import namespace="69aacc19-8f48-4ba8-bfc1-057a6d563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acc19-8f48-4ba8-bfc1-057a6d563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D34513-0D7B-41A5-9E76-90939F4105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A04347-BDD7-4B80-97C4-8F8F989971D4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69aacc19-8f48-4ba8-bfc1-057a6d56306d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AD5ADC-6E65-4768-877A-6E3F82ED129D}">
  <ds:schemaRefs>
    <ds:schemaRef ds:uri="69aacc19-8f48-4ba8-bfc1-057a6d5630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1251</TotalTime>
  <Words>1573</Words>
  <Application>Microsoft Office PowerPoint</Application>
  <PresentationFormat>A4 용지(210x297mm)</PresentationFormat>
  <Paragraphs>178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LG Smart Regular</vt:lpstr>
      <vt:lpstr>LG스마트체 Regular</vt:lpstr>
      <vt:lpstr>Malgun Gothic Semilight</vt:lpstr>
      <vt:lpstr>맑은 고딕</vt:lpstr>
      <vt:lpstr>Arial</vt:lpstr>
      <vt:lpstr>Arial Narrow</vt:lpstr>
      <vt:lpstr>Wingdings</vt:lpstr>
      <vt:lpstr>4_Office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parkjonghyun@lgensol.com</dc:creator>
  <cp:lastModifiedBy>jaehu</cp:lastModifiedBy>
  <cp:revision>53</cp:revision>
  <cp:lastPrinted>2022-03-03T00:02:18Z</cp:lastPrinted>
  <dcterms:modified xsi:type="dcterms:W3CDTF">2026-10-06T02:54:40Z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0x0101003FF98EDD61FBD840A846F9616B640187</vt:lpwstr>
  </property>
  <property fmtid="{D5CDD505-2E9C-101B-9397-08002B2CF9AE}" pid="3" name="MediaServiceImageTags">
    <vt:lpwstr/>
  </property>
</Properties>
</file>