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80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7E7E7"/>
    <a:srgbClr val="FFFF00"/>
    <a:srgbClr val="92D050"/>
    <a:srgbClr val="339933"/>
    <a:srgbClr val="1414FE"/>
    <a:srgbClr val="006600"/>
    <a:srgbClr val="7F7F7F"/>
    <a:srgbClr val="D9D9D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>
        <p:scale>
          <a:sx n="100" d="100"/>
          <a:sy n="100" d="100"/>
        </p:scale>
        <p:origin x="1836" y="28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156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740567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1" dirty="0" smtClean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금주 진행사항 </a:t>
                      </a:r>
                      <a:r>
                        <a:rPr lang="en-US" altLang="ko-KR" sz="900" b="1" dirty="0" smtClean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(W39)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ESWA </a:t>
                      </a:r>
                      <a:r>
                        <a:rPr lang="ko-KR" altLang="en-US" sz="900" b="0" dirty="0" err="1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재료교체</a:t>
                      </a: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불량 개선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ESWA Cell / 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MEB E77 18</a:t>
                      </a: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 </a:t>
                      </a: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/ </a:t>
                      </a: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ESMI1 #2-2·3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금주</a:t>
                      </a:r>
                      <a:r>
                        <a:rPr lang="en-US" altLang="ko-KR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(W39)</a:t>
                      </a:r>
                      <a:r>
                        <a:rPr lang="ko-KR" altLang="en-US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에는 </a:t>
                      </a:r>
                      <a:r>
                        <a:rPr lang="ko-KR" altLang="en-US" sz="900" b="0" dirty="0" err="1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로직</a:t>
                      </a:r>
                      <a:r>
                        <a:rPr lang="ko-KR" altLang="en-US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개선 효과 모니터링 </a:t>
                      </a:r>
                      <a:r>
                        <a:rPr lang="en-US" altLang="ko-KR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– ESWA 0.144%, ESMI1 0.230%</a:t>
                      </a:r>
                      <a:r>
                        <a:rPr lang="ko-KR" altLang="en-US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로 단기 개선 확인했습니다</a:t>
                      </a:r>
                      <a:r>
                        <a:rPr lang="en-US" altLang="ko-KR" sz="900" b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.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'26.09 / </a:t>
                      </a:r>
                      <a:b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</a:b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</a:t>
                      </a: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북미 </a:t>
                      </a: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10</a:t>
                      </a: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월초</a:t>
                      </a: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lang="ko-KR" altLang="en-US" sz="900" b="0" dirty="0" err="1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이제희</a:t>
                      </a:r>
                      <a:endParaRPr lang="en-US" altLang="ko-KR" sz="900" b="0" dirty="0" smtClean="0">
                        <a:solidFill>
                          <a:srgbClr val="000000"/>
                        </a:solidFill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김형원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lvl="0" algn="l">
              <a:spcBef>
                <a:spcPts val="0"/>
              </a:spcBef>
              <a:defRPr>
                <a:latin typeface="Arial Narrow"/>
                <a:ea typeface="LG Smart Regular"/>
                <a:cs typeface="Arial Narrow"/>
              </a:defRPr>
            </a:pPr>
            <a:r>
              <a:rPr sz="1400" b="1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■ </a:t>
            </a:r>
            <a:r>
              <a:rPr lang="en-US" altLang="ko-KR" sz="1400" b="1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ESWA </a:t>
            </a:r>
            <a:r>
              <a:rPr lang="ko-KR" altLang="en-US" sz="1400" b="1" dirty="0" err="1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재료교체</a:t>
            </a:r>
            <a:r>
              <a:rPr lang="ko-KR" altLang="en-US" sz="1400" b="1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 불량 개선 </a:t>
            </a:r>
            <a:r>
              <a:rPr lang="en-US" altLang="ko-KR" sz="1400" b="1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(1/1)</a:t>
            </a:r>
            <a:endParaRPr lang="ko-KR" sz="14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068743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  <a:defRPr>
                <a:latin typeface="Arial Narrow"/>
                <a:ea typeface="LG Smart Regular"/>
                <a:cs typeface="Arial Narrow"/>
              </a:defRPr>
            </a:pPr>
            <a:r>
              <a:rPr lang="en-US" altLang="ko-KR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1. </a:t>
            </a:r>
            <a:r>
              <a:rPr lang="ko-KR" altLang="en-US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과제 진행 현황</a:t>
            </a:r>
            <a:r>
              <a:rPr lang="en-US" altLang="ko-KR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_</a:t>
            </a:r>
            <a:r>
              <a:rPr lang="ko-KR" altLang="en-US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조립자동보정팀 </a:t>
            </a:r>
            <a:r>
              <a:rPr lang="en-US" altLang="ko-KR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(</a:t>
            </a:r>
            <a:r>
              <a:rPr lang="ko-KR" altLang="en-US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자동차</a:t>
            </a:r>
            <a:r>
              <a:rPr lang="en-US" altLang="ko-KR" sz="1800" b="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)</a:t>
            </a:r>
            <a:endParaRPr lang="ko-KR" sz="18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lvl="0">
              <a:defRPr>
                <a:latin typeface="Arial Narrow"/>
                <a:ea typeface="LG Smart Regular"/>
                <a:cs typeface="Arial Narrow"/>
              </a:defRPr>
            </a:pPr>
            <a:r>
              <a:rPr lang="ko-KR" altLang="en-US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업데이트 시간 </a:t>
            </a:r>
            <a:r>
              <a:rPr lang="en-US" altLang="ko-KR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: 9/22 11</a:t>
            </a:r>
            <a:r>
              <a:rPr lang="ko-KR" altLang="en-US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시</a:t>
            </a:r>
            <a:endParaRPr lang="ko-KR" sz="11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825649" y="403273"/>
            <a:ext cx="955390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lvl="0">
              <a:spcBef>
                <a:spcPts val="0"/>
              </a:spcBef>
              <a:defRPr>
                <a:latin typeface="Arial Narrow"/>
                <a:ea typeface="LG Smart Regular"/>
                <a:cs typeface="Arial Narrow"/>
              </a:defRPr>
            </a:pPr>
            <a:r>
              <a:rPr lang="ko-KR" altLang="en-US" sz="110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작성자 </a:t>
            </a:r>
            <a:r>
              <a:rPr lang="en-US" altLang="ko-KR" sz="110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: </a:t>
            </a:r>
            <a:r>
              <a:rPr lang="ko-KR" altLang="en-US" sz="1100" dirty="0" err="1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이제희</a:t>
            </a:r>
            <a:r>
              <a:rPr lang="ko-KR" altLang="en-US" sz="110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P</a:t>
            </a:r>
            <a:endParaRPr lang="ko-KR" sz="1100" dirty="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93434"/>
            <a:ext cx="6970747" cy="55399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배경</a:t>
            </a: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/</a:t>
            </a:r>
            <a:r>
              <a:rPr sz="900" b="1" dirty="0" err="1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목표</a:t>
            </a: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 </a:t>
            </a:r>
            <a: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/>
            </a:r>
            <a:b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조립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공정에서 전극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·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분리막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재료를 교체하는 구간은 새 롤과 기존 롤이 이어지는 이음매가 지나가면서 재료의 폭 방향 위치가 순간적으로 흔들리는 사행이 발생한다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호기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·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모델별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품질 편차와 이상 발생 선제 대응 미흡으로 수율 손실 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지속되고 있으며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재료교체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구간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Y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축 불량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사행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·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이음매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을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EPC·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예측 보정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로직으로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개선하고자 한다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.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30301"/>
              </p:ext>
            </p:extLst>
          </p:nvPr>
        </p:nvGraphicFramePr>
        <p:xfrm>
          <a:off x="1670334" y="1846538"/>
          <a:ext cx="6970743" cy="1874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현황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07/24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현황 분석 </a:t>
                      </a: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</a:t>
                      </a: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상세</a:t>
                      </a: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07/31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 smtClean="0">
                          <a:solidFill>
                            <a:schemeClr val="tx1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07/31</a:t>
                      </a:r>
                      <a:endParaRPr lang="ko-KR" sz="900" dirty="0">
                        <a:solidFill>
                          <a:schemeClr val="tx1"/>
                        </a:solidFill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실적일 </a:t>
                      </a: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미기재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개선 방안 도출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공통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08/07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08/07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실적일 </a:t>
                      </a: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미기재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73306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로직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보완 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(1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차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WA MEB·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조립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08/31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08/31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08/23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98839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로직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보완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검증 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(2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차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 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WA MEB·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조립</a:t>
                      </a:r>
                      <a:endParaRPr lang="ko-KR" altLang="ko-KR" sz="900" dirty="0" smtClean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09/18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09/18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대표호기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4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0673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WA MEB·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조립</a:t>
                      </a:r>
                      <a:endParaRPr lang="ko-KR" altLang="ko-KR" sz="900" dirty="0" smtClean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E77 18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33733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MI_HL·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조립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09/16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#2-2,3</a:t>
                      </a:r>
                      <a:r>
                        <a:rPr lang="en-US" altLang="ko-KR" sz="900" baseline="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(2</a:t>
                      </a:r>
                      <a:r>
                        <a:rPr lang="ko-KR" altLang="en-US" sz="900" baseline="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</a:t>
                      </a:r>
                      <a:r>
                        <a:rPr lang="en-US" altLang="ko-KR" sz="900" baseline="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75186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Normal·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조립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09/30 (+5)</a:t>
                      </a:r>
                      <a:endParaRPr lang="ko-KR" sz="900" dirty="0">
                        <a:solidFill>
                          <a:srgbClr val="0000FF"/>
                        </a:solidFill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WA·MI_HL Normal</a:t>
                      </a:r>
                      <a:r>
                        <a:rPr lang="en-US" altLang="ko-KR" sz="900" baseline="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Line</a:t>
                      </a:r>
                      <a:endParaRPr lang="ko-KR" sz="900" dirty="0">
                        <a:solidFill>
                          <a:srgbClr val="0000FF"/>
                        </a:solidFill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43098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err="1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수평전개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북미</a:t>
                      </a: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·</a:t>
                      </a: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조립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09/25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10</a:t>
                      </a:r>
                      <a:r>
                        <a:rPr lang="ko-KR" altLang="en-US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월초</a:t>
                      </a:r>
                      <a:endParaRPr lang="ko-KR" sz="900" dirty="0">
                        <a:solidFill>
                          <a:srgbClr val="0000FF"/>
                        </a:solidFill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 smtClean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예정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 기한</a:t>
                      </a:r>
                      <a:r>
                        <a:rPr lang="en-US" altLang="ko-KR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(‘26.09) </a:t>
                      </a:r>
                      <a:r>
                        <a:rPr lang="ko-KR" altLang="en-US" sz="900" dirty="0" smtClean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초과</a:t>
                      </a:r>
                      <a:endParaRPr lang="ko-KR" sz="900" dirty="0">
                        <a:solidFill>
                          <a:srgbClr val="0000FF"/>
                        </a:solidFill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328488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3721058"/>
            <a:ext cx="6970747" cy="2769989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진행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현황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–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누적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요약</a:t>
            </a: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</a:t>
            </a:r>
            <a: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/>
            </a:r>
            <a:b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현황 분석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(7/24~7/30):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재료교체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구간 불량 원인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3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가지 도출 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(EPC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미보정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구간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보정량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부족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이음매 예측 보정 부재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 err="1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호기별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편차 분석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: E77 18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 위치 불량률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0.13~0.32%,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대표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4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 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선정</a:t>
            </a:r>
            <a:endParaRPr lang="en-US" altLang="ko-KR" sz="900" dirty="0" smtClean="0">
              <a:solidFill>
                <a:srgbClr val="000000"/>
              </a:solidFill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- 1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차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로직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(8/13): EPC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미보정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·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보정량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부족 개선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예측 보정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2→3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회 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세분화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1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차 </a:t>
            </a:r>
            <a:r>
              <a:rPr lang="ko-KR" altLang="en-US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적용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: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E77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위치 불량률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0.189% → 0.164%- 18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 중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12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 감소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6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 증가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(#13-1 0.272% → 0.318%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등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b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2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차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로직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(9/4~):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예측 보정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Limit ±0.35mm, 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이음매 이후 즉시 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Feedback,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2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차 대표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4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대 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0.270% → 0.185%, MEB·ESMI1 #2-2·3 </a:t>
            </a:r>
            <a:r>
              <a:rPr lang="ko-KR" altLang="en-US" sz="90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수평전개</a:t>
            </a:r>
            <a:r>
              <a:rPr lang="ko-KR" altLang="en-US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완료</a:t>
            </a:r>
            <a:r>
              <a:rPr lang="en-US" altLang="ko-KR" sz="90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(9/16</a:t>
            </a:r>
            <a:r>
              <a:rPr lang="en-US" altLang="ko-KR" sz="900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진행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현황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–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금주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변경</a:t>
            </a: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</a:t>
            </a:r>
            <a: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/>
            </a:r>
            <a:b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ESWA(MEB E77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전호기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 0.171% → 0.144% (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적용 전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·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후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4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일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단기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), 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ESMI1 #2-2·3 0.367% → 0.230% (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단기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장기 모니터링 필요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b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재료교체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후 안정화 구간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30m → 18m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단축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(MEB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대표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4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대 기준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b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1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차 증가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6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대 중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#13-1·#13-2 2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차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로직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후 감소 전환 </a:t>
            </a:r>
            <a:r>
              <a:rPr lang="ko-KR" altLang="en-US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확인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/>
            </a:r>
            <a:b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6-3 Normal Line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수평전개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9/25 → 9/30 (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라인 가동 일정 협의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),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6-4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북미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Site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수평전개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9/25 → 10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월초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(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현지 가동 일정 대기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b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수평전개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누적 적용 호기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20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대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/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목표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24</a:t>
            </a:r>
            <a:r>
              <a:rPr lang="ko-KR" altLang="en-US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대</a:t>
            </a:r>
            <a:endParaRPr lang="en-US" altLang="ko-KR" sz="900" dirty="0" smtClean="0">
              <a:solidFill>
                <a:srgbClr val="0000FF"/>
              </a:solidFill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solidFill>
                <a:srgbClr val="0000FF"/>
              </a:solidFill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향후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계획</a:t>
            </a: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</a:t>
            </a:r>
            <a: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/>
            </a:r>
            <a:br>
              <a:rPr lang="en-US"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Normal Line(WA·MI_HL)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수평전개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완료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(~9/30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b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북미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Site </a:t>
            </a:r>
            <a:r>
              <a:rPr lang="ko-KR" altLang="en-US" sz="90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수평전개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일정 확정 후 적용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(~10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월초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),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추석 이후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2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주 데이터로 최종 효과 산출 및 완료 회고 작성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(~10/16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solidFill>
                <a:srgbClr val="0000FF"/>
              </a:solidFill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이슈·지원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요청</a:t>
            </a:r>
            <a:r>
              <a:rPr sz="900" b="1" dirty="0" smtClean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</a:t>
            </a:r>
            <a:r>
              <a:rPr lang="en-US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/>
            </a:r>
            <a:br>
              <a:rPr lang="en-US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</a:b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- 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효과 수치가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4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일 단기 기준 →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2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주 이상 데이터로 재확인 필요 </a:t>
            </a:r>
            <a:r>
              <a:rPr lang="en-US" altLang="ko-KR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(</a:t>
            </a:r>
            <a:r>
              <a:rPr lang="ko-KR" altLang="en-US" sz="90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판단</a:t>
            </a:r>
            <a:r>
              <a:rPr lang="en-US" altLang="ko-KR" sz="900" dirty="0" smtClean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endParaRPr lang="ko-KR" sz="900" dirty="0">
              <a:solidFill>
                <a:srgbClr val="0000FF"/>
              </a:solidFill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546250837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 Smart Regular"/>
        <a:cs typeface=""/>
      </a:majorFont>
      <a:minorFont>
        <a:latin typeface="Arial Narrow"/>
        <a:ea typeface="LG Smart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</TotalTime>
  <Words>600</Words>
  <Application>Microsoft Office PowerPoint</Application>
  <PresentationFormat>A4 용지(210x297mm)</PresentationFormat>
  <Paragraphs>95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 Smart Regular</vt:lpstr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LG</cp:lastModifiedBy>
  <cp:revision>53</cp:revision>
  <cp:lastPrinted>2022-03-03T00:02:18Z</cp:lastPrinted>
  <dcterms:modified xsi:type="dcterms:W3CDTF">2026-10-03T11:54:53Z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