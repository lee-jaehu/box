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9"/>
  </p:notesMasterIdLst>
  <p:handoutMasterIdLst>
    <p:handoutMasterId r:id="rId10"/>
  </p:handoutMasterIdLst>
  <p:sldIdLst>
    <p:sldId id="2147482081" r:id="rId5"/>
    <p:sldId id="2147483567" r:id="rId6"/>
    <p:sldId id="2147482079" r:id="rId7"/>
    <p:sldId id="2147482080" r:id="rId8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7E7E7"/>
    <a:srgbClr val="FFFF00"/>
    <a:srgbClr val="92D050"/>
    <a:srgbClr val="339933"/>
    <a:srgbClr val="1414FE"/>
    <a:srgbClr val="006600"/>
    <a:srgbClr val="7F7F7F"/>
    <a:srgbClr val="D9D9D9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93" d="100"/>
          <a:sy n="93" d="100"/>
        </p:scale>
        <p:origin x="3738" y="90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3262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89700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4156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20">
            <a:extLst>
              <a:ext uri="{FF2B5EF4-FFF2-40B4-BE49-F238E27FC236}">
                <a16:creationId xmlns:a16="http://schemas.microsoft.com/office/drawing/2014/main" id="{B0E343B9-F6C3-5E42-4368-851E1FDBBF11}"/>
              </a:ext>
            </a:extLst>
          </p:cNvPr>
          <p:cNvSpPr txBox="1">
            <a:spLocks/>
          </p:cNvSpPr>
          <p:nvPr userDrawn="1"/>
        </p:nvSpPr>
        <p:spPr>
          <a:xfrm>
            <a:off x="8128372" y="327727"/>
            <a:ext cx="1572824" cy="33855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  <a:defRPr/>
            </a:pPr>
            <a:r>
              <a:rPr lang="ko-KR" altLang="en-US" sz="1100">
                <a:solidFill>
                  <a:srgbClr val="000000"/>
                </a:solidFill>
                <a:latin typeface="Arial Narrow"/>
                <a:ea typeface="LG스마트체 Regular"/>
              </a:rPr>
              <a:t>작성자 </a:t>
            </a:r>
            <a:r>
              <a:rPr lang="en-US" altLang="ko-KR" sz="1100">
                <a:solidFill>
                  <a:srgbClr val="000000"/>
                </a:solidFill>
                <a:latin typeface="Arial Narrow"/>
                <a:ea typeface="LG스마트체 Regular"/>
              </a:rPr>
              <a:t>:  </a:t>
            </a:r>
          </a:p>
          <a:p>
            <a:pPr algn="l">
              <a:spcBef>
                <a:spcPts val="0"/>
              </a:spcBef>
              <a:defRPr/>
            </a:pPr>
            <a:r>
              <a:rPr lang="ko-KR" altLang="en-US" sz="1100">
                <a:solidFill>
                  <a:srgbClr val="000000"/>
                </a:solidFill>
                <a:latin typeface="Arial Narrow"/>
                <a:ea typeface="LG스마트체 Regular"/>
              </a:rPr>
              <a:t>업데이트 시간 </a:t>
            </a:r>
            <a:r>
              <a:rPr lang="en-US" altLang="ko-KR" sz="1100">
                <a:solidFill>
                  <a:srgbClr val="000000"/>
                </a:solidFill>
                <a:latin typeface="Arial Narrow"/>
                <a:ea typeface="LG스마트체 Regular"/>
              </a:rPr>
              <a:t>:  </a:t>
            </a:r>
            <a:endParaRPr lang="ko-KR" altLang="en-US" sz="1100">
              <a:solidFill>
                <a:srgbClr val="000000"/>
              </a:solidFill>
              <a:latin typeface="Arial Narrow"/>
              <a:ea typeface="LG스마트체 Regular"/>
            </a:endParaRPr>
          </a:p>
        </p:txBody>
      </p:sp>
      <p:sp>
        <p:nvSpPr>
          <p:cNvPr id="3" name="텍스트 개체 틀 40">
            <a:extLst>
              <a:ext uri="{FF2B5EF4-FFF2-40B4-BE49-F238E27FC236}">
                <a16:creationId xmlns:a16="http://schemas.microsoft.com/office/drawing/2014/main" id="{A3223B7F-EA9A-E6E3-208B-F0A75FD6DB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67548" y="336192"/>
            <a:ext cx="1259847" cy="110397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0" indent="0">
              <a:buNone/>
              <a:defRPr sz="1100">
                <a:latin typeface="LG스마트체 Regular" panose="020B0600000101010101" pitchFamily="50" charset="-127"/>
                <a:ea typeface="LG스마트체 Regular" panose="020B0600000101010101" pitchFamily="50" charset="-127"/>
              </a:defRPr>
            </a:lvl1pPr>
          </a:lstStyle>
          <a:p>
            <a:pPr lvl="0"/>
            <a:r>
              <a:rPr lang="ko-KR" altLang="en-US"/>
              <a:t>이름</a:t>
            </a:r>
          </a:p>
        </p:txBody>
      </p:sp>
      <p:sp>
        <p:nvSpPr>
          <p:cNvPr id="4" name="텍스트 개체 틀 40">
            <a:extLst>
              <a:ext uri="{FF2B5EF4-FFF2-40B4-BE49-F238E27FC236}">
                <a16:creationId xmlns:a16="http://schemas.microsoft.com/office/drawing/2014/main" id="{268511CE-FCEF-B049-351E-43FCBE5B51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68014" y="511301"/>
            <a:ext cx="917665" cy="169965"/>
          </a:xfrm>
          <a:prstGeom prst="rect">
            <a:avLst/>
          </a:prstGeom>
          <a:ln>
            <a:noFill/>
          </a:ln>
        </p:spPr>
        <p:txBody>
          <a:bodyPr lIns="0" tIns="0" rIns="0" bIns="0"/>
          <a:lstStyle>
            <a:lvl1pPr marL="0" indent="0">
              <a:buNone/>
              <a:defRPr sz="1100">
                <a:latin typeface="LG스마트체 Regular" panose="020B0600000101010101" pitchFamily="50" charset="-127"/>
                <a:ea typeface="LG스마트체 Regular" panose="020B0600000101010101" pitchFamily="50" charset="-127"/>
              </a:defRPr>
            </a:lvl1pPr>
          </a:lstStyle>
          <a:p>
            <a:pPr lvl="0"/>
            <a:r>
              <a:rPr lang="en-US" altLang="ko-KR"/>
              <a:t>yy.mm.dd</a:t>
            </a:r>
            <a:r>
              <a:rPr lang="ko-KR" altLang="en-US"/>
              <a:t> </a:t>
            </a:r>
            <a:r>
              <a:rPr lang="en-US" altLang="ko-KR" err="1"/>
              <a:t>hh</a:t>
            </a:r>
            <a:r>
              <a:rPr lang="ko-KR" altLang="en-US"/>
              <a:t>시</a:t>
            </a:r>
          </a:p>
        </p:txBody>
      </p:sp>
    </p:spTree>
    <p:extLst>
      <p:ext uri="{BB962C8B-B14F-4D97-AF65-F5344CB8AC3E}">
        <p14:creationId xmlns:p14="http://schemas.microsoft.com/office/powerpoint/2010/main" val="24404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  <p:sldLayoutId id="214748393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16808" y="862399"/>
            <a:ext cx="9660567" cy="412420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defPPr>
              <a:defRPr lang="ko-KR"/>
            </a:defPPr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1. </a:t>
            </a:r>
            <a:r>
              <a:rPr lang="ko-KR" altLang="en-US" b="1" dirty="0" err="1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과제명</a:t>
            </a:r>
            <a:r>
              <a:rPr lang="ko-KR" altLang="en-US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 </a:t>
            </a:r>
            <a:r>
              <a:rPr lang="en-US" altLang="ko-KR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(ESWA </a:t>
            </a:r>
            <a:r>
              <a:rPr lang="ko-KR" altLang="en-US" b="1" dirty="0" err="1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재료교체</a:t>
            </a:r>
            <a:r>
              <a:rPr lang="ko-KR" altLang="en-US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 불량 개선</a:t>
            </a:r>
            <a:r>
              <a:rPr lang="en-US" altLang="ko-KR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)</a:t>
            </a:r>
            <a:br>
              <a:rPr lang="en-US" altLang="ko-KR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</a:br>
            <a:r>
              <a:rPr lang="en-US" altLang="ko-KR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배경</a:t>
            </a:r>
            <a:r>
              <a:rPr lang="en-US" altLang="ko-KR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/</a:t>
            </a: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목적</a:t>
            </a:r>
            <a:endParaRPr lang="en-US" altLang="ko-KR" sz="1100" dirty="0">
              <a:solidFill>
                <a:srgbClr val="000000"/>
              </a:solidFill>
              <a:latin typeface="+mn-lt"/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latin typeface="+mn-lt"/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latin typeface="+mn-lt"/>
                <a:ea typeface="LG스마트체 Regular" panose="020B0600000101010101" pitchFamily="50" charset="-127"/>
              </a:rPr>
              <a:t>진행 현황</a:t>
            </a:r>
            <a:endParaRPr lang="en-US" altLang="ko-KR" sz="1100" dirty="0">
              <a:latin typeface="+mn-lt"/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latin typeface="+mn-lt"/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latin typeface="+mn-lt"/>
                <a:ea typeface="LG스마트체 Regular" panose="020B0600000101010101" pitchFamily="50" charset="-127"/>
              </a:rPr>
              <a:t>이슈</a:t>
            </a:r>
            <a:r>
              <a:rPr lang="en-US" altLang="ko-KR" sz="1100" dirty="0">
                <a:latin typeface="+mn-lt"/>
                <a:ea typeface="LG스마트체 Regular" panose="020B0600000101010101" pitchFamily="50" charset="-127"/>
              </a:rPr>
              <a:t>, </a:t>
            </a:r>
            <a:r>
              <a:rPr lang="ko-KR" altLang="en-US" sz="1100" dirty="0" err="1">
                <a:latin typeface="+mn-lt"/>
                <a:ea typeface="LG스마트체 Regular" panose="020B0600000101010101" pitchFamily="50" charset="-127"/>
              </a:rPr>
              <a:t>잘한점</a:t>
            </a:r>
            <a:br>
              <a:rPr lang="en-US" altLang="ko-KR" sz="1100" dirty="0">
                <a:latin typeface="+mn-lt"/>
                <a:ea typeface="LG스마트체 Regular" panose="020B0600000101010101" pitchFamily="50" charset="-127"/>
              </a:rPr>
            </a:br>
            <a:r>
              <a:rPr lang="en-US" altLang="ko-KR" sz="1100" dirty="0">
                <a:latin typeface="+mn-lt"/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latin typeface="+mn-lt"/>
                <a:ea typeface="LG스마트체 Regular" panose="020B0600000101010101" pitchFamily="50" charset="-127"/>
              </a:rPr>
              <a:t>향후 계획</a:t>
            </a:r>
            <a:endParaRPr lang="en-US" altLang="ko-KR" sz="1100" dirty="0">
              <a:latin typeface="+mn-lt"/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endParaRPr lang="en-US" altLang="ko-KR" sz="1100" dirty="0">
              <a:latin typeface="+mn-lt"/>
              <a:ea typeface="LG스마트체 Regular" panose="020B0600000101010101" pitchFamily="50" charset="-127"/>
            </a:endParaRPr>
          </a:p>
          <a:p>
            <a:pPr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b="1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2. </a:t>
            </a:r>
            <a:r>
              <a:rPr lang="ko-KR" altLang="en-US" b="1" dirty="0" err="1">
                <a:solidFill>
                  <a:srgbClr val="000000"/>
                </a:solidFill>
                <a:ea typeface="LG스마트체 Regular" panose="020B0600000101010101" pitchFamily="50" charset="-127"/>
              </a:rPr>
              <a:t>과제명</a:t>
            </a:r>
            <a:r>
              <a:rPr lang="ko-KR" altLang="en-US" b="1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 </a:t>
            </a:r>
            <a:br>
              <a:rPr lang="en-US" altLang="ko-KR" b="1" dirty="0">
                <a:solidFill>
                  <a:srgbClr val="000000"/>
                </a:solidFill>
                <a:ea typeface="LG스마트체 Regular" panose="020B0600000101010101" pitchFamily="50" charset="-127"/>
              </a:rPr>
            </a:br>
            <a:r>
              <a:rPr lang="en-US" altLang="ko-KR" b="1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 </a:t>
            </a:r>
            <a:r>
              <a:rPr lang="en-US" altLang="ko-KR" sz="1100" dirty="0">
                <a:ea typeface="LG스마트체 Regular" panose="020B0600000101010101" pitchFamily="50" charset="-127"/>
              </a:rPr>
              <a:t>- </a:t>
            </a:r>
            <a:r>
              <a:rPr lang="ko-KR" altLang="en-US" sz="1100" dirty="0">
                <a:ea typeface="LG스마트체 Regular" panose="020B0600000101010101" pitchFamily="50" charset="-127"/>
              </a:rPr>
              <a:t>배경</a:t>
            </a:r>
            <a:r>
              <a:rPr lang="en-US" altLang="ko-KR" sz="1100" dirty="0">
                <a:ea typeface="LG스마트체 Regular" panose="020B0600000101010101" pitchFamily="50" charset="-127"/>
              </a:rPr>
              <a:t>/</a:t>
            </a:r>
            <a:r>
              <a:rPr lang="ko-KR" altLang="en-US" sz="1100" dirty="0">
                <a:ea typeface="LG스마트체 Regular" panose="020B0600000101010101" pitchFamily="50" charset="-127"/>
              </a:rPr>
              <a:t>목적</a:t>
            </a: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진행 현황</a:t>
            </a: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이슈</a:t>
            </a:r>
            <a:r>
              <a:rPr lang="en-US" altLang="ko-KR" sz="1100" dirty="0">
                <a:ea typeface="LG스마트체 Regular" panose="020B0600000101010101" pitchFamily="50" charset="-127"/>
              </a:rPr>
              <a:t>, </a:t>
            </a:r>
            <a:r>
              <a:rPr lang="ko-KR" altLang="en-US" sz="1100" dirty="0" err="1">
                <a:ea typeface="LG스마트체 Regular" panose="020B0600000101010101" pitchFamily="50" charset="-127"/>
              </a:rPr>
              <a:t>잘한점</a:t>
            </a:r>
            <a:br>
              <a:rPr lang="en-US" altLang="ko-KR" sz="1100" dirty="0">
                <a:ea typeface="LG스마트체 Regular" panose="020B0600000101010101" pitchFamily="50" charset="-127"/>
              </a:rPr>
            </a:b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향후 계획</a:t>
            </a: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b="1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3. </a:t>
            </a:r>
            <a:r>
              <a:rPr lang="ko-KR" altLang="en-US" b="1" dirty="0" err="1">
                <a:solidFill>
                  <a:srgbClr val="000000"/>
                </a:solidFill>
                <a:ea typeface="LG스마트체 Regular" panose="020B0600000101010101" pitchFamily="50" charset="-127"/>
              </a:rPr>
              <a:t>과제명</a:t>
            </a:r>
            <a:br>
              <a:rPr lang="en-US" altLang="ko-KR" b="1" dirty="0">
                <a:solidFill>
                  <a:srgbClr val="000000"/>
                </a:solidFill>
                <a:ea typeface="LG스마트체 Regular" panose="020B0600000101010101" pitchFamily="50" charset="-127"/>
              </a:rPr>
            </a:br>
            <a:r>
              <a:rPr lang="en-US" altLang="ko-KR" sz="1100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배경</a:t>
            </a:r>
            <a:r>
              <a:rPr lang="en-US" altLang="ko-KR" sz="1100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/</a:t>
            </a:r>
            <a:r>
              <a:rPr lang="ko-KR" altLang="en-US" sz="1100" dirty="0">
                <a:solidFill>
                  <a:srgbClr val="000000"/>
                </a:solidFill>
                <a:ea typeface="LG스마트체 Regular" panose="020B0600000101010101" pitchFamily="50" charset="-127"/>
              </a:rPr>
              <a:t>목적</a:t>
            </a:r>
            <a:endParaRPr lang="en-US" altLang="ko-KR" sz="1100" dirty="0">
              <a:solidFill>
                <a:srgbClr val="000000"/>
              </a:solidFill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진행 현황</a:t>
            </a:r>
            <a:br>
              <a:rPr lang="en-US" altLang="ko-KR" sz="1100" dirty="0">
                <a:ea typeface="LG스마트체 Regular" panose="020B0600000101010101" pitchFamily="50" charset="-127"/>
              </a:rPr>
            </a:b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이슈</a:t>
            </a:r>
            <a:r>
              <a:rPr lang="en-US" altLang="ko-KR" sz="1100" dirty="0">
                <a:ea typeface="LG스마트체 Regular" panose="020B0600000101010101" pitchFamily="50" charset="-127"/>
              </a:rPr>
              <a:t>, </a:t>
            </a:r>
            <a:r>
              <a:rPr lang="ko-KR" altLang="en-US" sz="1100" dirty="0" err="1">
                <a:ea typeface="LG스마트체 Regular" panose="020B0600000101010101" pitchFamily="50" charset="-127"/>
              </a:rPr>
              <a:t>잘한점</a:t>
            </a:r>
            <a:br>
              <a:rPr lang="en-US" altLang="ko-KR" sz="1100" dirty="0">
                <a:ea typeface="LG스마트체 Regular" panose="020B0600000101010101" pitchFamily="50" charset="-127"/>
              </a:rPr>
            </a:br>
            <a:r>
              <a:rPr lang="en-US" altLang="ko-KR" sz="1100" dirty="0">
                <a:ea typeface="LG스마트체 Regular" panose="020B0600000101010101" pitchFamily="50" charset="-127"/>
              </a:rPr>
              <a:t> - </a:t>
            </a:r>
            <a:r>
              <a:rPr lang="ko-KR" altLang="en-US" sz="1100" dirty="0">
                <a:ea typeface="LG스마트체 Regular" panose="020B0600000101010101" pitchFamily="50" charset="-127"/>
              </a:rPr>
              <a:t>향후 계획</a:t>
            </a: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ko-KR" altLang="en-US" sz="1100" dirty="0">
                <a:ea typeface="LG스마트체 Regular" panose="020B0600000101010101" pitchFamily="50" charset="-127"/>
              </a:rPr>
              <a:t>등등</a:t>
            </a:r>
            <a:r>
              <a:rPr lang="en-US" altLang="ko-KR" sz="1100" dirty="0">
                <a:ea typeface="LG스마트체 Regular" panose="020B0600000101010101" pitchFamily="50" charset="-127"/>
              </a:rPr>
              <a:t>…</a:t>
            </a:r>
            <a:endParaRPr lang="ko-KR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endParaRPr lang="en-US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ea typeface="LG스마트체 Regular" panose="020B0600000101010101" pitchFamily="50" charset="-127"/>
              </a:rPr>
              <a:t>- </a:t>
            </a:r>
            <a:r>
              <a:rPr lang="ko-KR" altLang="en-US" sz="1100" dirty="0">
                <a:ea typeface="LG스마트체 Regular" panose="020B0600000101010101" pitchFamily="50" charset="-127"/>
              </a:rPr>
              <a:t>각 과제별로 요약을 해줘 </a:t>
            </a:r>
            <a:r>
              <a:rPr lang="en-US" altLang="ko-KR" sz="1100" dirty="0">
                <a:ea typeface="LG스마트체 Regular" panose="020B0600000101010101" pitchFamily="50" charset="-127"/>
              </a:rPr>
              <a:t>(</a:t>
            </a:r>
            <a:r>
              <a:rPr lang="ko-KR" altLang="en-US" sz="1100" dirty="0">
                <a:ea typeface="LG스마트체 Regular" panose="020B0600000101010101" pitchFamily="50" charset="-127"/>
              </a:rPr>
              <a:t>카테고리별로</a:t>
            </a:r>
            <a:r>
              <a:rPr lang="en-US" altLang="ko-KR" sz="1100" dirty="0">
                <a:ea typeface="LG스마트체 Regular" panose="020B0600000101010101" pitchFamily="50" charset="-127"/>
              </a:rPr>
              <a:t>)</a:t>
            </a: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100" dirty="0">
                <a:ea typeface="LG스마트체 Regular" panose="020B0600000101010101" pitchFamily="50" charset="-127"/>
              </a:rPr>
              <a:t>- </a:t>
            </a:r>
            <a:r>
              <a:rPr lang="ko-KR" altLang="en-US" sz="1100" dirty="0">
                <a:ea typeface="LG스마트체 Regular" panose="020B0600000101010101" pitchFamily="50" charset="-127"/>
              </a:rPr>
              <a:t>기존에 설명한 것과 같이</a:t>
            </a:r>
            <a:r>
              <a:rPr lang="en-US" altLang="ko-KR" sz="1100" dirty="0">
                <a:ea typeface="LG스마트체 Regular" panose="020B0600000101010101" pitchFamily="50" charset="-127"/>
              </a:rPr>
              <a:t>,</a:t>
            </a:r>
            <a:r>
              <a:rPr lang="ko-KR" altLang="en-US" sz="1100" dirty="0">
                <a:ea typeface="LG스마트체 Regular" panose="020B0600000101010101" pitchFamily="50" charset="-127"/>
              </a:rPr>
              <a:t> 기존 내용은 검정색 </a:t>
            </a:r>
            <a:r>
              <a:rPr lang="en-US" altLang="ko-KR" sz="1100" dirty="0">
                <a:ea typeface="LG스마트체 Regular" panose="020B0600000101010101" pitchFamily="50" charset="-127"/>
              </a:rPr>
              <a:t>(</a:t>
            </a:r>
            <a:r>
              <a:rPr lang="ko-KR" altLang="en-US" sz="1100" dirty="0">
                <a:ea typeface="LG스마트체 Regular" panose="020B0600000101010101" pitchFamily="50" charset="-127"/>
              </a:rPr>
              <a:t>내용이 길면 요약</a:t>
            </a:r>
            <a:r>
              <a:rPr lang="en-US" altLang="ko-KR" sz="1100" dirty="0">
                <a:ea typeface="LG스마트체 Regular" panose="020B0600000101010101" pitchFamily="50" charset="-127"/>
              </a:rPr>
              <a:t>), </a:t>
            </a:r>
            <a:r>
              <a:rPr lang="ko-KR" altLang="en-US" sz="1100" dirty="0">
                <a:ea typeface="LG스마트체 Regular" panose="020B0600000101010101" pitchFamily="50" charset="-127"/>
              </a:rPr>
              <a:t>신규 내용은 파란색으로 </a:t>
            </a:r>
            <a:r>
              <a:rPr lang="ko-KR" altLang="en-US" sz="1100" dirty="0" err="1">
                <a:ea typeface="LG스마트체 Regular" panose="020B0600000101010101" pitchFamily="50" charset="-127"/>
              </a:rPr>
              <a:t>ㅈ가성</a:t>
            </a:r>
            <a:br>
              <a:rPr lang="en-US" altLang="ko-KR" sz="1100" dirty="0">
                <a:ea typeface="LG스마트체 Regular" panose="020B0600000101010101" pitchFamily="50" charset="-127"/>
              </a:rPr>
            </a:br>
            <a:r>
              <a:rPr lang="en-US" altLang="ko-KR" sz="1100" dirty="0">
                <a:ea typeface="LG스마트체 Regular" panose="020B0600000101010101" pitchFamily="50" charset="-127"/>
              </a:rPr>
              <a:t>- </a:t>
            </a:r>
            <a:r>
              <a:rPr lang="ko-KR" altLang="en-US" sz="1100" dirty="0">
                <a:ea typeface="LG스마트체 Regular" panose="020B0600000101010101" pitchFamily="50" charset="-127"/>
              </a:rPr>
              <a:t>특히</a:t>
            </a:r>
            <a:r>
              <a:rPr lang="en-US" altLang="ko-KR" sz="1100" dirty="0">
                <a:ea typeface="LG스마트체 Regular" panose="020B0600000101010101" pitchFamily="50" charset="-127"/>
              </a:rPr>
              <a:t>, </a:t>
            </a:r>
            <a:r>
              <a:rPr lang="ko-KR" altLang="en-US" sz="1100" dirty="0">
                <a:ea typeface="LG스마트체 Regular" panose="020B0600000101010101" pitchFamily="50" charset="-127"/>
              </a:rPr>
              <a:t>항목별로 이슈</a:t>
            </a:r>
            <a:r>
              <a:rPr lang="en-US" altLang="ko-KR" sz="1100" dirty="0">
                <a:ea typeface="LG스마트체 Regular" panose="020B0600000101010101" pitchFamily="50" charset="-127"/>
              </a:rPr>
              <a:t>, </a:t>
            </a:r>
            <a:r>
              <a:rPr lang="ko-KR" altLang="en-US" sz="1100" dirty="0" err="1">
                <a:ea typeface="LG스마트체 Regular" panose="020B0600000101010101" pitchFamily="50" charset="-127"/>
              </a:rPr>
              <a:t>잘한점에</a:t>
            </a:r>
            <a:r>
              <a:rPr lang="ko-KR" altLang="en-US" sz="1100" dirty="0">
                <a:ea typeface="LG스마트체 Regular" panose="020B0600000101010101" pitchFamily="50" charset="-127"/>
              </a:rPr>
              <a:t> 대해 타 카테고리 대비 상세하게 작성</a:t>
            </a:r>
            <a:r>
              <a:rPr lang="en-US" altLang="ko-KR" sz="1100" dirty="0">
                <a:ea typeface="LG스마트체 Regular" panose="020B0600000101010101" pitchFamily="50" charset="-127"/>
              </a:rPr>
              <a:t> </a:t>
            </a:r>
            <a:endParaRPr lang="ko-KR" altLang="ko-KR" sz="1100" dirty="0">
              <a:ea typeface="LG스마트체 Regular" panose="020B0600000101010101" pitchFamily="50" charset="-127"/>
            </a:endParaRPr>
          </a:p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endParaRPr lang="ko-KR" sz="11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15" name="slide_title">
            <a:extLst>
              <a:ext uri="{FF2B5EF4-FFF2-40B4-BE49-F238E27FC236}">
                <a16:creationId xmlns:a16="http://schemas.microsoft.com/office/drawing/2014/main" id="{369933B1-2707-440A-8807-70DB0265AAE4}"/>
              </a:ext>
            </a:extLst>
          </p:cNvPr>
          <p:cNvSpPr txBox="1">
            <a:spLocks/>
          </p:cNvSpPr>
          <p:nvPr/>
        </p:nvSpPr>
        <p:spPr>
          <a:xfrm>
            <a:off x="133114" y="109129"/>
            <a:ext cx="1532792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marL="0" lvl="0" algn="l" defTabSz="914400" rtl="0" eaLnBrk="1" fontAlgn="base" latinLnBrk="0" hangingPunct="1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1. TF </a:t>
            </a:r>
            <a:r>
              <a:rPr lang="ko-KR" altLang="en-US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담당 </a:t>
            </a: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(1/1)</a:t>
            </a:r>
            <a:endParaRPr lang="ko-KR" sz="18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16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63527" y="549658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marL="0" lvl="0" indent="0" algn="r" defTabSz="914400" rtl="0" eaLnBrk="1" latinLnBrk="1" hangingPunct="1">
              <a:spcBef>
                <a:spcPts val="0"/>
              </a:spcBef>
              <a:buFontTx/>
              <a:buNone/>
              <a:defRPr sz="1100" kern="12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lvl="0">
              <a:defRPr>
                <a:latin typeface="Arial Narrow"/>
                <a:ea typeface="LG Smart Regular"/>
                <a:cs typeface="Arial Narrow"/>
              </a:defRPr>
            </a:pPr>
            <a:r>
              <a:rPr lang="ko-KR" altLang="en-US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업데이트 시간 </a:t>
            </a:r>
            <a:r>
              <a:rPr lang="en-US" altLang="ko-KR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: 9/22 11</a:t>
            </a:r>
            <a:r>
              <a:rPr lang="ko-KR" altLang="en-US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시</a:t>
            </a:r>
            <a:endParaRPr lang="ko-KR" sz="11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17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804947" y="380381"/>
            <a:ext cx="984245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/>
            </a:defPPr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lvl="0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작성자 </a:t>
            </a:r>
            <a:r>
              <a:rPr lang="en-US" altLang="ko-KR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: XXX </a:t>
            </a: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팀장</a:t>
            </a:r>
            <a:endParaRPr lang="ko-KR" sz="1100" dirty="0">
              <a:latin typeface="+mn-lt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011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실행 단추: 홈으로 이동 11">
            <a:hlinkClick r:id="rId3" action="ppaction://hlinksldjump" highlightClick="1"/>
            <a:extLst>
              <a:ext uri="{FF2B5EF4-FFF2-40B4-BE49-F238E27FC236}">
                <a16:creationId xmlns:a16="http://schemas.microsoft.com/office/drawing/2014/main" id="{3F98626B-21E5-453F-AA26-8FF0187612AA}"/>
              </a:ext>
            </a:extLst>
          </p:cNvPr>
          <p:cNvSpPr/>
          <p:nvPr/>
        </p:nvSpPr>
        <p:spPr>
          <a:xfrm>
            <a:off x="9513455" y="132021"/>
            <a:ext cx="292852" cy="292852"/>
          </a:xfrm>
          <a:prstGeom prst="actionButtonHome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4715419D-4217-40C2-A8D7-9ABA23F57BBE}"/>
              </a:ext>
            </a:extLst>
          </p:cNvPr>
          <p:cNvSpPr txBox="1">
            <a:spLocks/>
          </p:cNvSpPr>
          <p:nvPr/>
        </p:nvSpPr>
        <p:spPr>
          <a:xfrm>
            <a:off x="124961" y="132021"/>
            <a:ext cx="2550698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defRPr>
            </a:lvl1pPr>
          </a:lstStyle>
          <a:p>
            <a:pPr>
              <a:defRPr/>
            </a:pPr>
            <a:r>
              <a:rPr lang="ko-KR" altLang="en-US" sz="1800">
                <a:solidFill>
                  <a:schemeClr val="tx1"/>
                </a:solidFill>
                <a:cs typeface="Malgun Gothic Semilight"/>
              </a:rPr>
              <a:t>1.자동보정선행개발팀</a:t>
            </a:r>
            <a:r>
              <a:rPr lang="en-US" altLang="ko-KR" sz="1800">
                <a:solidFill>
                  <a:schemeClr val="tx1"/>
                </a:solidFill>
                <a:cs typeface="Malgun Gothic Semilight"/>
              </a:rPr>
              <a:t>(1/1)</a:t>
            </a:r>
            <a:endParaRPr lang="ko-KR">
              <a:solidFill>
                <a:schemeClr val="tx1"/>
              </a:solidFill>
            </a:endParaRPr>
          </a:p>
        </p:txBody>
      </p:sp>
      <p:sp>
        <p:nvSpPr>
          <p:cNvPr id="2" name="텍스트 개체 틀 5">
            <a:extLst>
              <a:ext uri="{FF2B5EF4-FFF2-40B4-BE49-F238E27FC236}">
                <a16:creationId xmlns:a16="http://schemas.microsoft.com/office/drawing/2014/main" id="{8E4A5F9E-00A5-7918-2EE4-DE1807638E2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567548" y="336192"/>
            <a:ext cx="1259847" cy="110397"/>
          </a:xfrm>
        </p:spPr>
        <p:txBody>
          <a:bodyPr/>
          <a:lstStyle/>
          <a:p>
            <a:r>
              <a:rPr lang="ko-KR" altLang="en-US"/>
              <a:t>김기백 팀장</a:t>
            </a:r>
          </a:p>
        </p:txBody>
      </p:sp>
      <p:sp>
        <p:nvSpPr>
          <p:cNvPr id="3" name="텍스트 개체 틀 6">
            <a:extLst>
              <a:ext uri="{FF2B5EF4-FFF2-40B4-BE49-F238E27FC236}">
                <a16:creationId xmlns:a16="http://schemas.microsoft.com/office/drawing/2014/main" id="{CF7DF637-B763-9B8A-71B0-2646E19C7B8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968014" y="511301"/>
            <a:ext cx="917665" cy="169965"/>
          </a:xfrm>
        </p:spPr>
        <p:txBody>
          <a:bodyPr/>
          <a:lstStyle/>
          <a:p>
            <a:r>
              <a:rPr lang="en-US" altLang="ko-KR">
                <a:latin typeface="Arial Narrow" panose="020B0606020202030204" pitchFamily="34" charset="0"/>
              </a:rPr>
              <a:t>26.09.30 17</a:t>
            </a:r>
            <a:r>
              <a:rPr lang="ko-KR" altLang="en-US">
                <a:latin typeface="Arial Narrow" panose="020B0606020202030204" pitchFamily="34" charset="0"/>
              </a:rPr>
              <a:t>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80FE02-97A7-A1B4-3694-7503FDA3AD1B}"/>
              </a:ext>
            </a:extLst>
          </p:cNvPr>
          <p:cNvSpPr txBox="1"/>
          <p:nvPr/>
        </p:nvSpPr>
        <p:spPr>
          <a:xfrm>
            <a:off x="124961" y="572275"/>
            <a:ext cx="9781038" cy="14465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n-US" altLang="ko-KR" sz="1100" b="1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1. [</a:t>
            </a:r>
            <a:r>
              <a:rPr lang="ko-KR" altLang="en-US" sz="1100" b="1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담당 </a:t>
            </a:r>
            <a:r>
              <a:rPr lang="en-US" altLang="ko-KR" sz="1100" b="1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KPI] AI-Agent </a:t>
            </a:r>
            <a:r>
              <a:rPr lang="ko-KR" altLang="en-US" sz="1100" b="1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기반 자동보정 업무 효율화</a:t>
            </a:r>
            <a:endParaRPr lang="en-US" altLang="ko-KR" sz="1100" b="1" dirty="0">
              <a:latin typeface="Arial Narrow" panose="020B0606020202030204" pitchFamily="34" charset="0"/>
              <a:ea typeface="LG스마트체 Regular" panose="020B0600000101010101" pitchFamily="50" charset="-127"/>
              <a:cs typeface="Malgun Gothic Semilight"/>
            </a:endParaRPr>
          </a:p>
          <a:p>
            <a:pPr>
              <a:defRPr/>
            </a:pP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-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현재 다수의 조직에서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Agent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를 만들고 있는 상황이므로 중복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개발로 인한 비효율이 발생하지 않고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,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자동보정 관련 업무를 수행하는 각 담당자별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Needs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를 충족하기 위해</a:t>
            </a:r>
            <a:b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자동보정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AI Agent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에서 필요한 요건을 재정의하고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,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로드맵을 수립 중에 있습니다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.(10/2)(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그룹장님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10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월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19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일 대면보고 예정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)</a:t>
            </a:r>
            <a:b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 .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이상감지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Agent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를 개발하여 문제 발생 호기에 대한 정보와 조치 방안 제공 가능토록 온톨로지 기반의 자동보정 이상감지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Agent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개발 검토</a:t>
            </a:r>
            <a:endParaRPr lang="en-US" altLang="ko-KR" sz="1100" dirty="0">
              <a:latin typeface="Arial Narrow" panose="020B0606020202030204" pitchFamily="34" charset="0"/>
              <a:ea typeface="LG스마트체 Regular" panose="020B0600000101010101" pitchFamily="50" charset="-127"/>
              <a:cs typeface="Malgun Gothic Semilight"/>
            </a:endParaRPr>
          </a:p>
          <a:p>
            <a:pPr>
              <a:defRPr/>
            </a:pP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-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데일리 활용률 리포트의 현장 활용성을 높이기 위해 본사 엔지니어와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WA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법인 엔지니어의 피드백을 취합하였으며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,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이를 바탕으로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Daily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리포트를 개선하였습니다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.(9/15)</a:t>
            </a:r>
          </a:p>
          <a:p>
            <a:pPr>
              <a:defRPr/>
            </a:pP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 . </a:t>
            </a:r>
            <a:r>
              <a:rPr lang="ko-KR" altLang="en-US" sz="1100" dirty="0" err="1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전호기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활용률 저하 호기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,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불량률 높은 호기 기준으로 자동보정 상세 분석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가능토록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Report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보완</a:t>
            </a:r>
            <a:b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 .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자동보정 로직 기준의 </a:t>
            </a:r>
            <a: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Boxplot </a:t>
            </a:r>
            <a:r>
              <a:rPr lang="ko-KR" altLang="en-US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추가하여 정상 작동여부 모니터링</a:t>
            </a:r>
            <a:b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- WA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법인에서 법인장님께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AI BP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사례로 자동보정 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AI Agent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보고 하였으며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,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중장기적으로 원인 분석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</a:t>
            </a:r>
            <a:r>
              <a:rPr lang="ko-KR" altLang="en-US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파악을 통한 조치까지 되면 좋겠다는 피드백이 있었습니다</a:t>
            </a: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480D0D-C7D6-057A-0CC9-E380AAEF2911}"/>
              </a:ext>
            </a:extLst>
          </p:cNvPr>
          <p:cNvSpPr txBox="1"/>
          <p:nvPr/>
        </p:nvSpPr>
        <p:spPr>
          <a:xfrm>
            <a:off x="124961" y="2433827"/>
            <a:ext cx="9781039" cy="127727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kumimoji="1" lang="en-US" altLang="ko-KR" sz="1100" b="1" kern="0" dirty="0">
                <a:latin typeface="Arial Narrow"/>
                <a:ea typeface="LG스마트체 Regular"/>
                <a:cs typeface="Malgun Gothic Semilight"/>
              </a:rPr>
              <a:t>2. </a:t>
            </a:r>
            <a:r>
              <a:rPr lang="ko-KR" altLang="en-US" sz="1100" b="1" dirty="0">
                <a:latin typeface="Arial Narrow"/>
                <a:ea typeface="LG스마트체 Regular"/>
                <a:cs typeface="Malgun Gothic Semilight"/>
              </a:rPr>
              <a:t>모듈</a:t>
            </a:r>
            <a:r>
              <a:rPr lang="en-US" altLang="ko-KR" sz="1100" b="1" dirty="0">
                <a:latin typeface="Arial Narrow"/>
                <a:ea typeface="LG스마트체 Regular"/>
                <a:cs typeface="Malgun Gothic Semilight"/>
              </a:rPr>
              <a:t>/</a:t>
            </a:r>
            <a:r>
              <a:rPr lang="ko-KR" altLang="en-US" sz="1100" b="1" dirty="0">
                <a:latin typeface="Arial Narrow"/>
                <a:ea typeface="LG스마트체 Regular"/>
                <a:cs typeface="Malgun Gothic Semilight"/>
              </a:rPr>
              <a:t>팩 공정 자동보정 </a:t>
            </a:r>
            <a:r>
              <a:rPr lang="en-US" altLang="ko-KR" sz="1100" b="1" dirty="0">
                <a:latin typeface="Arial Narrow"/>
                <a:ea typeface="LG스마트체 Regular"/>
                <a:cs typeface="Malgun Gothic Semilight"/>
              </a:rPr>
              <a:t>Coverage </a:t>
            </a:r>
            <a:r>
              <a:rPr lang="ko-KR" altLang="en-US" sz="1100" b="1" dirty="0">
                <a:latin typeface="Arial Narrow"/>
                <a:ea typeface="LG스마트체 Regular"/>
                <a:cs typeface="Malgun Gothic Semilight"/>
              </a:rPr>
              <a:t>확대</a:t>
            </a:r>
            <a:br>
              <a:rPr lang="en-US" altLang="ko-KR" sz="1100" b="1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- Global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법인으로 레진 도포 자동보정 수평전개 진행 중 입니다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.</a:t>
            </a:r>
            <a:br>
              <a:rPr lang="en-US" altLang="ko-KR" sz="1100" dirty="0">
                <a:latin typeface="Arial Narrow"/>
                <a:ea typeface="LG스마트체 Regular"/>
                <a:cs typeface="Malgun Gothic Semilight"/>
              </a:rPr>
            </a:b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 WA, MI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: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원격 대응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(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완료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) / OT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: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원격 대응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(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완료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) / </a:t>
            </a:r>
            <a:r>
              <a:rPr lang="ko-KR" altLang="en-US" sz="1100" dirty="0" err="1">
                <a:latin typeface="Arial Narrow"/>
                <a:ea typeface="LG스마트체 Regular"/>
                <a:cs typeface="Malgun Gothic Semilight"/>
              </a:rPr>
              <a:t>피플웍스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: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출장 대응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(’26.11) / HD :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원격 대응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(‘26.11)</a:t>
            </a:r>
            <a:br>
              <a:rPr lang="en-US" altLang="ko-KR" sz="110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10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  <a:t>  . [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WA] 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모델 변경에 따른 형교환이 잦아 </a:t>
            </a:r>
            <a:r>
              <a:rPr lang="ko-KR" altLang="en-US" sz="1100" dirty="0" err="1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모델별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 자동보정 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Config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를 구분할 수 있도록 개발하였습니다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.(9/30)</a:t>
            </a:r>
            <a:br>
              <a:rPr lang="en-US" altLang="ko-KR" sz="1100" dirty="0">
                <a:latin typeface="Arial Narrow"/>
                <a:ea typeface="LG스마트체 Regular"/>
                <a:cs typeface="Malgun Gothic Semilight"/>
              </a:rPr>
            </a:b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  . [MI]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양산 중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Vision Data </a:t>
            </a:r>
            <a:r>
              <a:rPr lang="ko-KR" altLang="en-US" sz="1100" dirty="0" err="1">
                <a:latin typeface="Arial Narrow"/>
                <a:ea typeface="LG스마트체 Regular"/>
                <a:cs typeface="Malgun Gothic Semilight"/>
              </a:rPr>
              <a:t>미수집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, </a:t>
            </a:r>
            <a:r>
              <a:rPr lang="ko-KR" altLang="en-US" sz="1100" dirty="0" err="1">
                <a:latin typeface="Arial Narrow"/>
                <a:ea typeface="LG스마트체 Regular"/>
                <a:cs typeface="Malgun Gothic Semilight"/>
              </a:rPr>
              <a:t>보정값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</a:t>
            </a:r>
            <a:r>
              <a:rPr lang="ko-KR" altLang="en-US" sz="1100" dirty="0" err="1">
                <a:latin typeface="Arial Narrow"/>
                <a:ea typeface="LG스마트체 Regular"/>
                <a:cs typeface="Malgun Gothic Semilight"/>
              </a:rPr>
              <a:t>미반영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현상이 발생하여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 Vision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 업체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S/W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및 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PLC 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수정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/</a:t>
            </a:r>
            <a:r>
              <a:rPr lang="ko-KR" altLang="en-US" sz="1100" dirty="0">
                <a:latin typeface="Arial Narrow"/>
                <a:ea typeface="LG스마트체 Regular"/>
                <a:cs typeface="Malgun Gothic Semilight"/>
              </a:rPr>
              <a:t>조치 하였습니다</a:t>
            </a:r>
            <a:r>
              <a:rPr lang="en-US" altLang="ko-KR" sz="1100" dirty="0">
                <a:latin typeface="Arial Narrow"/>
                <a:ea typeface="LG스마트체 Regular"/>
                <a:cs typeface="Malgun Gothic Semilight"/>
              </a:rPr>
              <a:t>.</a:t>
            </a:r>
            <a:br>
              <a:rPr lang="en-US" altLang="ko-KR" sz="1100" dirty="0">
                <a:latin typeface="Arial Narrow"/>
                <a:ea typeface="LG스마트체 Regular"/>
                <a:cs typeface="Malgun Gothic Semilight"/>
              </a:rPr>
            </a:b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           OT 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법인에 적용하여 정상 작동여부 검증 완료하였습니다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.</a:t>
            </a:r>
          </a:p>
          <a:p>
            <a:r>
              <a:rPr 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- Pack 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공정기술팀에서 자동보정 관련 데이터 분석 요청이 많아 데이터 시각화 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Tool</a:t>
            </a:r>
            <a:r>
              <a:rPr lang="ko-KR" altLang="en-US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 개발 후 제공하였습니다</a:t>
            </a:r>
            <a:r>
              <a:rPr lang="en-US" altLang="ko-KR" sz="110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.(9/29)</a:t>
            </a:r>
            <a:endParaRPr lang="en-US" sz="1100" dirty="0">
              <a:solidFill>
                <a:srgbClr val="1414FE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6CCCE4-4218-92D7-8E0D-496C79C6F620}"/>
              </a:ext>
            </a:extLst>
          </p:cNvPr>
          <p:cNvSpPr txBox="1"/>
          <p:nvPr/>
        </p:nvSpPr>
        <p:spPr>
          <a:xfrm>
            <a:off x="124961" y="3894118"/>
            <a:ext cx="9781039" cy="15465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sz="1050" b="1" dirty="0">
                <a:latin typeface="Arial Narrow"/>
                <a:ea typeface="LG스마트체 Regular"/>
                <a:cs typeface="Malgun Gothic Semilight"/>
              </a:rPr>
              <a:t>3. </a:t>
            </a:r>
            <a:r>
              <a:rPr lang="ko-KR" altLang="en-US" sz="1050" b="1" dirty="0">
                <a:latin typeface="Arial Narrow"/>
                <a:ea typeface="LG스마트체 Regular"/>
                <a:cs typeface="Malgun Gothic Semilight"/>
              </a:rPr>
              <a:t>통합 </a:t>
            </a:r>
            <a:r>
              <a:rPr lang="ko-KR" altLang="en-US" sz="1050" b="1" dirty="0" err="1">
                <a:latin typeface="Arial Narrow"/>
                <a:ea typeface="LG스마트체 Regular"/>
                <a:cs typeface="Malgun Gothic Semilight"/>
              </a:rPr>
              <a:t>슬러리</a:t>
            </a:r>
            <a:r>
              <a:rPr lang="ko-KR" altLang="en-US" sz="1050" b="1" dirty="0">
                <a:latin typeface="Arial Narrow"/>
                <a:ea typeface="LG스마트체 Regular"/>
                <a:cs typeface="Malgun Gothic Semilight"/>
              </a:rPr>
              <a:t> 온도 관리 시스템</a:t>
            </a:r>
            <a:br>
              <a:rPr lang="en-US" altLang="ko-KR" sz="1050" dirty="0"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050" dirty="0">
                <a:solidFill>
                  <a:srgbClr val="1414FE"/>
                </a:solidFill>
              </a:rPr>
              <a:t>- </a:t>
            </a:r>
            <a:r>
              <a:rPr lang="ko-KR" altLang="en-US" sz="1050" dirty="0" err="1">
                <a:solidFill>
                  <a:srgbClr val="1414FE"/>
                </a:solidFill>
              </a:rPr>
              <a:t>통합슬러리</a:t>
            </a:r>
            <a:r>
              <a:rPr lang="ko-KR" altLang="en-US" sz="1050" dirty="0">
                <a:solidFill>
                  <a:srgbClr val="1414FE"/>
                </a:solidFill>
              </a:rPr>
              <a:t> 온도 관리 시스템 양산 적용 결과 </a:t>
            </a:r>
            <a:r>
              <a:rPr lang="ko-KR" altLang="en-US" sz="1050" dirty="0" err="1">
                <a:solidFill>
                  <a:srgbClr val="1414FE"/>
                </a:solidFill>
              </a:rPr>
              <a:t>슬러리온도</a:t>
            </a:r>
            <a:r>
              <a:rPr lang="en-US" altLang="ko-KR" sz="1050" dirty="0">
                <a:solidFill>
                  <a:srgbClr val="1414FE"/>
                </a:solidFill>
              </a:rPr>
              <a:t>SV </a:t>
            </a:r>
            <a:r>
              <a:rPr lang="ko-KR" altLang="en-US" sz="1050" dirty="0">
                <a:solidFill>
                  <a:srgbClr val="1414FE"/>
                </a:solidFill>
              </a:rPr>
              <a:t>수동조작건수는 </a:t>
            </a:r>
            <a:r>
              <a:rPr lang="en-US" altLang="ko-KR" sz="1050" dirty="0">
                <a:solidFill>
                  <a:srgbClr val="1414FE"/>
                </a:solidFill>
              </a:rPr>
              <a:t>1</a:t>
            </a:r>
            <a:r>
              <a:rPr lang="ko-KR" altLang="en-US" sz="1050" dirty="0">
                <a:solidFill>
                  <a:srgbClr val="1414FE"/>
                </a:solidFill>
              </a:rPr>
              <a:t>월</a:t>
            </a:r>
            <a:r>
              <a:rPr lang="en-US" altLang="ko-KR" sz="1050" dirty="0">
                <a:solidFill>
                  <a:srgbClr val="1414FE"/>
                </a:solidFill>
              </a:rPr>
              <a:t> 0.497</a:t>
            </a:r>
            <a:r>
              <a:rPr lang="ko-KR" altLang="en-US" sz="1050" dirty="0">
                <a:solidFill>
                  <a:srgbClr val="1414FE"/>
                </a:solidFill>
              </a:rPr>
              <a:t>회</a:t>
            </a:r>
            <a:r>
              <a:rPr lang="en-US" altLang="ko-KR" sz="1050" dirty="0">
                <a:solidFill>
                  <a:srgbClr val="1414FE"/>
                </a:solidFill>
              </a:rPr>
              <a:t>/10km</a:t>
            </a:r>
            <a:r>
              <a:rPr lang="ko-KR" altLang="en-US" sz="1050" dirty="0">
                <a:solidFill>
                  <a:srgbClr val="1414FE"/>
                </a:solidFill>
              </a:rPr>
              <a:t>에서 </a:t>
            </a:r>
            <a:r>
              <a:rPr lang="en-US" altLang="ko-KR" sz="1050" dirty="0">
                <a:solidFill>
                  <a:srgbClr val="1414FE"/>
                </a:solidFill>
              </a:rPr>
              <a:t>8</a:t>
            </a:r>
            <a:r>
              <a:rPr lang="ko-KR" altLang="en-US" sz="1050" dirty="0">
                <a:solidFill>
                  <a:srgbClr val="1414FE"/>
                </a:solidFill>
              </a:rPr>
              <a:t>월</a:t>
            </a:r>
            <a:r>
              <a:rPr lang="en-US" altLang="ko-KR" sz="1050" dirty="0">
                <a:solidFill>
                  <a:srgbClr val="1414FE"/>
                </a:solidFill>
              </a:rPr>
              <a:t> 0.053</a:t>
            </a:r>
            <a:r>
              <a:rPr lang="ko-KR" altLang="en-US" sz="1050" dirty="0">
                <a:solidFill>
                  <a:srgbClr val="1414FE"/>
                </a:solidFill>
              </a:rPr>
              <a:t>회</a:t>
            </a:r>
            <a:r>
              <a:rPr lang="en-US" altLang="ko-KR" sz="1050" dirty="0">
                <a:solidFill>
                  <a:srgbClr val="1414FE"/>
                </a:solidFill>
              </a:rPr>
              <a:t>/10km</a:t>
            </a:r>
            <a:r>
              <a:rPr lang="ko-KR" altLang="en-US" sz="1050" dirty="0">
                <a:solidFill>
                  <a:srgbClr val="1414FE"/>
                </a:solidFill>
              </a:rPr>
              <a:t>건으로 </a:t>
            </a:r>
            <a:r>
              <a:rPr lang="en-US" altLang="ko-KR" sz="1050" dirty="0">
                <a:solidFill>
                  <a:srgbClr val="1414FE"/>
                </a:solidFill>
              </a:rPr>
              <a:t>90% </a:t>
            </a:r>
            <a:r>
              <a:rPr lang="ko-KR" altLang="en-US" sz="1050" dirty="0">
                <a:solidFill>
                  <a:srgbClr val="1414FE"/>
                </a:solidFill>
              </a:rPr>
              <a:t>감소하였고</a:t>
            </a:r>
            <a:r>
              <a:rPr lang="en-US" altLang="ko-KR" sz="1050" dirty="0">
                <a:solidFill>
                  <a:srgbClr val="1414FE"/>
                </a:solidFill>
              </a:rPr>
              <a:t>,</a:t>
            </a:r>
            <a:br>
              <a:rPr lang="en-US" altLang="ko-KR" sz="1050" dirty="0">
                <a:solidFill>
                  <a:srgbClr val="1414FE"/>
                </a:solidFill>
              </a:rPr>
            </a:br>
            <a:r>
              <a:rPr lang="en-US" altLang="ko-KR" sz="1050" dirty="0">
                <a:solidFill>
                  <a:srgbClr val="1414FE"/>
                </a:solidFill>
              </a:rPr>
              <a:t>  </a:t>
            </a:r>
            <a:r>
              <a:rPr lang="ko-KR" altLang="en-US" sz="1050" dirty="0">
                <a:solidFill>
                  <a:srgbClr val="1414FE"/>
                </a:solidFill>
              </a:rPr>
              <a:t>로딩</a:t>
            </a:r>
            <a:r>
              <a:rPr lang="en-US" altLang="ko-KR" sz="1050" dirty="0" err="1">
                <a:solidFill>
                  <a:srgbClr val="1414FE"/>
                </a:solidFill>
              </a:rPr>
              <a:t>Cpk</a:t>
            </a:r>
            <a:r>
              <a:rPr lang="ko-KR" altLang="en-US" sz="1050" dirty="0">
                <a:solidFill>
                  <a:srgbClr val="1414FE"/>
                </a:solidFill>
              </a:rPr>
              <a:t>는</a:t>
            </a:r>
            <a:r>
              <a:rPr lang="en-US" altLang="ko-KR" sz="1050" dirty="0">
                <a:solidFill>
                  <a:srgbClr val="1414FE"/>
                </a:solidFill>
              </a:rPr>
              <a:t> 9% </a:t>
            </a:r>
            <a:r>
              <a:rPr lang="ko-KR" altLang="en-US" sz="1050" dirty="0">
                <a:solidFill>
                  <a:srgbClr val="1414FE"/>
                </a:solidFill>
              </a:rPr>
              <a:t>상승</a:t>
            </a:r>
            <a:r>
              <a:rPr lang="en-US" altLang="ko-KR" sz="1050" dirty="0">
                <a:solidFill>
                  <a:srgbClr val="1414FE"/>
                </a:solidFill>
              </a:rPr>
              <a:t> , </a:t>
            </a:r>
            <a:r>
              <a:rPr lang="ko-KR" altLang="en-US" sz="1050" dirty="0" err="1">
                <a:solidFill>
                  <a:srgbClr val="1414FE"/>
                </a:solidFill>
              </a:rPr>
              <a:t>로딩좌우</a:t>
            </a:r>
            <a:r>
              <a:rPr lang="en-US" altLang="ko-KR" sz="1050" dirty="0">
                <a:solidFill>
                  <a:srgbClr val="1414FE"/>
                </a:solidFill>
              </a:rPr>
              <a:t>-</a:t>
            </a:r>
            <a:r>
              <a:rPr lang="ko-KR" altLang="en-US" sz="1050" dirty="0">
                <a:solidFill>
                  <a:srgbClr val="1414FE"/>
                </a:solidFill>
              </a:rPr>
              <a:t>평균 편차는</a:t>
            </a:r>
            <a:r>
              <a:rPr lang="en-US" altLang="ko-KR" sz="1050" dirty="0">
                <a:solidFill>
                  <a:srgbClr val="1414FE"/>
                </a:solidFill>
              </a:rPr>
              <a:t> 47% </a:t>
            </a:r>
            <a:r>
              <a:rPr lang="ko-KR" altLang="en-US" sz="1050" dirty="0">
                <a:solidFill>
                  <a:srgbClr val="1414FE"/>
                </a:solidFill>
              </a:rPr>
              <a:t>및</a:t>
            </a:r>
            <a:r>
              <a:rPr lang="en-US" altLang="ko-KR" sz="1050" dirty="0">
                <a:solidFill>
                  <a:srgbClr val="1414FE"/>
                </a:solidFill>
              </a:rPr>
              <a:t> </a:t>
            </a:r>
            <a:r>
              <a:rPr lang="ko-KR" altLang="en-US" sz="1050" dirty="0" err="1">
                <a:solidFill>
                  <a:srgbClr val="1414FE"/>
                </a:solidFill>
              </a:rPr>
              <a:t>슬러리온도</a:t>
            </a:r>
            <a:r>
              <a:rPr lang="ko-KR" altLang="en-US" sz="1050" dirty="0">
                <a:solidFill>
                  <a:srgbClr val="1414FE"/>
                </a:solidFill>
              </a:rPr>
              <a:t> 산포는</a:t>
            </a:r>
            <a:r>
              <a:rPr lang="en-US" altLang="ko-KR" sz="1050" dirty="0">
                <a:solidFill>
                  <a:srgbClr val="1414FE"/>
                </a:solidFill>
              </a:rPr>
              <a:t> 44% </a:t>
            </a:r>
            <a:r>
              <a:rPr lang="ko-KR" altLang="en-US" sz="1050" dirty="0">
                <a:solidFill>
                  <a:srgbClr val="1414FE"/>
                </a:solidFill>
              </a:rPr>
              <a:t>개선되었습니다</a:t>
            </a:r>
            <a:r>
              <a:rPr lang="en-US" altLang="ko-KR" sz="1050" dirty="0">
                <a:solidFill>
                  <a:srgbClr val="1414FE"/>
                </a:solidFill>
              </a:rPr>
              <a:t>.</a:t>
            </a:r>
            <a:br>
              <a:rPr lang="en-US" altLang="ko-KR" sz="1050" dirty="0">
                <a:solidFill>
                  <a:srgbClr val="1414FE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Malgun Gothic Semilight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-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</a:rPr>
              <a:t>재조건조정 자동보정 신규개발</a:t>
            </a:r>
            <a:b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 .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코팅 생산 시작 시 다이온도와 </a:t>
            </a:r>
            <a:r>
              <a:rPr lang="ko-KR" altLang="en-US" sz="1050" dirty="0" err="1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슬러리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온도의 차이가 로딩 프로파일에 영향을 미친다는 가설을 수립하여 데이터 분석을 통해 검증하였습니다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.</a:t>
            </a:r>
            <a:b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  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검증 결과를 생산팀에 공유하고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,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수동보정을 통해 부동 발생 후 생산 시작 시 설정 온도를 가이드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(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탑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/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백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23.1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℃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, 23.6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℃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)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하여 수동보정을 통해 양산하였습니다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.</a:t>
            </a:r>
            <a:b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  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그 결과 온도 대기로 인한 조건조정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Loss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는 발생하지 않으며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,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조건조정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Loss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가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0.10%p(0.23%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→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0.13%)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개선된 결과를 확인하였습니다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.</a:t>
            </a:r>
            <a:b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 .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수동보정 결과를 기반으로 자동보정 로직 구체화 진행 중 입니다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.(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부동발생 시 온도 설정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+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조건조정 구간에서 온도 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SV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변경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)</a:t>
            </a:r>
            <a:b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</a:b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  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초기조건조정 구간 및 재조건조정 구간 온도 거동 및 </a:t>
            </a:r>
            <a:r>
              <a:rPr lang="ko-KR" altLang="en-US" sz="1050" dirty="0" err="1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로딩편차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 분석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(10/12) </a:t>
            </a:r>
            <a:r>
              <a:rPr lang="ko-KR" altLang="en-US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후 로직 개발</a:t>
            </a:r>
            <a:r>
              <a:rPr lang="en-US" altLang="ko-KR" sz="1050" dirty="0">
                <a:solidFill>
                  <a:srgbClr val="1414FE"/>
                </a:solidFill>
                <a:latin typeface="Arial Narrow"/>
                <a:ea typeface="LG스마트체 Regular"/>
                <a:cs typeface="Malgun Gothic Semilight"/>
                <a:sym typeface="Wingdings" panose="05000000000000000000" pitchFamily="2" charset="2"/>
              </a:rPr>
              <a:t>(10/18)</a:t>
            </a:r>
            <a:endParaRPr lang="en-US" altLang="ko-KR" sz="1050" dirty="0">
              <a:solidFill>
                <a:srgbClr val="1414FE"/>
              </a:solidFill>
              <a:latin typeface="Arial Narrow"/>
              <a:ea typeface="LG스마트체 Regular"/>
              <a:cs typeface="Malgun Gothic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722830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금주 진행사항 (WOO)  (M/D~M/D)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 법인,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라인, 호기,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모델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금주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(WOO)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에는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XXX - 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현황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요약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(1줄, 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최대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50자) 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※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매주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새로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작성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→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파란색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완료 목표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(변경 시 파란색)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1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■ 과제명 (n/N)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1. 과제 진행 현황_OOOO팀 (과제 구분 및 팀명)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업데이트 시간 : M/D HH시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작성자 : 이름 직급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93434"/>
            <a:ext cx="6970747" cy="41549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배경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/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목표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기준정보에서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자동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입력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최대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3줄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검정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과제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배경과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목적을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한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줄씩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가로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최대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50자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60397"/>
          <a:ext cx="6970743" cy="66751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단계명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유형별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템플릿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공통 (법인 무관 단계)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MM/DD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MM/DD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MM/DD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단계명-하위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사이트별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반복</a:t>
                      </a: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법인·공정 코드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MM/DD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MM/DD (+n)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변경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사유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(</a:t>
                      </a:r>
                      <a:r>
                        <a:rPr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파란색</a:t>
                      </a:r>
                      <a:r>
                        <a:rPr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490383"/>
            <a:ext cx="6970747" cy="166199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진행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–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누적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누적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요약본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· 6~8줄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검정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-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지난주까지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확정된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누적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요약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(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고정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사실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목록의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핵심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수치·결정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포함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진행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–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금주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변경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이번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주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확정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기록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· 5~7줄 ·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파란색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-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근거가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이번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주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기록이거나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지난주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스냅샷과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달라진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문장은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자동으로</a:t>
            </a:r>
            <a:r>
              <a:rPr sz="900" b="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파란색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향후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계획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다음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행동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· 3줄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변경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시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파란색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이슈·지원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요청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2줄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없으면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"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특이사항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없음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" ·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변경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시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파란색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※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적용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범위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: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법인·공정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코드표에서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선택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법인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무관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단계는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"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공통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",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사이트별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반복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단계는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하위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행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자동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생성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※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분량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예산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(9pt):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배경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/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목표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3줄 +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마일스톤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표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최대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8~9행 +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진행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현황·계획·이슈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≒ 36줄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이내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초과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시 (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계속</a:t>
            </a:r>
            <a:r>
              <a:rPr sz="900" b="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) </a:t>
            </a:r>
            <a:r>
              <a:rPr sz="900" b="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슬라이드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740567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금주 진행사항 </a:t>
                      </a:r>
                      <a:r>
                        <a:rPr lang="en-US" altLang="ko-KR"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(W39)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ESWA </a:t>
                      </a: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재료교체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ESWA Cell / 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MEB E77 18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/ </a:t>
                      </a: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ESMI1 #2-2·3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금주</a:t>
                      </a:r>
                      <a:r>
                        <a:rPr lang="en-US" altLang="ko-KR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(W39)</a:t>
                      </a:r>
                      <a:r>
                        <a:rPr lang="ko-KR" altLang="en-US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에는 </a:t>
                      </a:r>
                      <a:r>
                        <a:rPr lang="ko-KR" altLang="en-US" sz="900" b="0" dirty="0" err="1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로직</a:t>
                      </a:r>
                      <a:r>
                        <a:rPr lang="ko-KR" altLang="en-US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개선 효과 모니터링 </a:t>
                      </a:r>
                      <a:r>
                        <a:rPr lang="en-US" altLang="ko-KR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 ESWA 0.144%, ESMI1 0.230%</a:t>
                      </a:r>
                      <a:r>
                        <a:rPr lang="ko-KR" altLang="en-US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로 단기 개선 확인했습니다</a:t>
                      </a:r>
                      <a:r>
                        <a:rPr lang="en-US" altLang="ko-KR" sz="900" b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.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'26.09 / </a:t>
                      </a:r>
                      <a:b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북미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10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월초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lang="ko-KR" altLang="en-US"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en-US" altLang="ko-KR" sz="900" b="0" dirty="0">
                        <a:solidFill>
                          <a:srgbClr val="000000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lvl="0" algn="l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sz="1400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■ </a:t>
            </a:r>
            <a:r>
              <a:rPr lang="en-US" altLang="ko-KR" sz="1400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ESWA </a:t>
            </a:r>
            <a:r>
              <a:rPr lang="ko-KR" altLang="en-US" sz="1400" b="1" dirty="0" err="1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재료교체</a:t>
            </a:r>
            <a:r>
              <a:rPr lang="ko-KR" altLang="en-US" sz="1400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 불량 개선 </a:t>
            </a:r>
            <a:r>
              <a:rPr lang="en-US" altLang="ko-KR" sz="1400" b="1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(1/1)</a:t>
            </a:r>
            <a:endParaRPr lang="ko-KR" sz="14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068743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  <a:defRPr>
                <a:latin typeface="Arial Narrow"/>
                <a:ea typeface="LG Smart Regular"/>
                <a:cs typeface="Arial Narrow"/>
              </a:defRPr>
            </a:pP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1. </a:t>
            </a:r>
            <a:r>
              <a:rPr lang="ko-KR" altLang="en-US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과제 진행 현황</a:t>
            </a: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_</a:t>
            </a:r>
            <a:r>
              <a:rPr lang="ko-KR" altLang="en-US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조립자동보정팀 </a:t>
            </a: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(</a:t>
            </a:r>
            <a:r>
              <a:rPr lang="ko-KR" altLang="en-US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자동차</a:t>
            </a:r>
            <a:r>
              <a:rPr lang="en-US" altLang="ko-KR" sz="1800" b="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)</a:t>
            </a:r>
            <a:endParaRPr lang="ko-KR" sz="18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lvl="0">
              <a:defRPr>
                <a:latin typeface="Arial Narrow"/>
                <a:ea typeface="LG Smart Regular"/>
                <a:cs typeface="Arial Narrow"/>
              </a:defRPr>
            </a:pPr>
            <a:r>
              <a:rPr lang="ko-KR" altLang="en-US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업데이트 시간 </a:t>
            </a:r>
            <a:r>
              <a:rPr lang="en-US" altLang="ko-KR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: 9/22 11</a:t>
            </a:r>
            <a:r>
              <a:rPr lang="ko-KR" altLang="en-US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시</a:t>
            </a:r>
            <a:endParaRPr lang="ko-KR" sz="11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825649" y="403273"/>
            <a:ext cx="955390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lvl="0">
              <a:spcBef>
                <a:spcPts val="0"/>
              </a:spcBef>
              <a:defRPr>
                <a:latin typeface="Arial Narrow"/>
                <a:ea typeface="LG Smart Regular"/>
                <a:cs typeface="Arial Narrow"/>
              </a:defRPr>
            </a:pP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작성자 </a:t>
            </a:r>
            <a:r>
              <a:rPr lang="en-US" altLang="ko-KR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: </a:t>
            </a:r>
            <a:r>
              <a:rPr lang="ko-KR" altLang="en-US" sz="1100" dirty="0" err="1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이제희</a:t>
            </a:r>
            <a:r>
              <a:rPr lang="ko-KR" altLang="en-US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 </a:t>
            </a:r>
            <a:r>
              <a:rPr lang="en-US" altLang="ko-KR" sz="1100" dirty="0">
                <a:solidFill>
                  <a:srgbClr val="000000"/>
                </a:solidFill>
                <a:latin typeface="+mn-lt"/>
                <a:ea typeface="LG스마트체 Regular" panose="020B0600000101010101" pitchFamily="50" charset="-127"/>
              </a:rPr>
              <a:t>P</a:t>
            </a:r>
            <a:endParaRPr lang="ko-KR" sz="1100" dirty="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93434"/>
            <a:ext cx="6970747" cy="55399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배경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/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목표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 </a:t>
            </a:r>
            <a:br>
              <a:rPr lang="en-US"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조립 공정에서 전극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·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분리막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재료를 교체하는 구간은 새 롤과 기존 롤이 이어지는 이음매가 지나가면서 재료의 폭 방향 위치가 순간적으로 흔들리는 사행이 발생한다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.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호기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·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모델별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품질 편차와 이상 발생 선제 대응 미흡으로 수율 손실 지속되고 있으며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재료교체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구간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Y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축 불량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사행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·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이음매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을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EPC·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예측 보정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로직으로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개선하고자 한다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.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330301"/>
              </p:ext>
            </p:extLst>
          </p:nvPr>
        </p:nvGraphicFramePr>
        <p:xfrm>
          <a:off x="1670334" y="1846538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현황 분석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solidFill>
                            <a:schemeClr val="tx1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 dirty="0">
                        <a:solidFill>
                          <a:schemeClr val="tx1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실적일 </a:t>
                      </a: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미기재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실적일 </a:t>
                      </a: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미기재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73306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로직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보완 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(1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차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WA MEB·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198839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로직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보완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검증 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(2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차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 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WA MEB·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alt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대표호기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4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0673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WA MEB·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alt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E77 18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33733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MI_HL·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#2-2,3</a:t>
                      </a:r>
                      <a:r>
                        <a:rPr lang="en-US" altLang="ko-KR" sz="900" baseline="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(2</a:t>
                      </a:r>
                      <a:r>
                        <a:rPr lang="ko-KR" altLang="en-US" sz="900" baseline="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</a:t>
                      </a:r>
                      <a:r>
                        <a:rPr lang="en-US" altLang="ko-KR" sz="900" baseline="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75186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Normal·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 dirty="0">
                        <a:solidFill>
                          <a:srgbClr val="0000FF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WA·MI_HL Normal</a:t>
                      </a:r>
                      <a:r>
                        <a:rPr lang="en-US" altLang="ko-KR" sz="900" baseline="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Line</a:t>
                      </a:r>
                      <a:endParaRPr lang="ko-KR" sz="900" dirty="0">
                        <a:solidFill>
                          <a:srgbClr val="0000FF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43098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 err="1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북미</a:t>
                      </a: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·</a:t>
                      </a: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조립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10</a:t>
                      </a:r>
                      <a:r>
                        <a:rPr lang="ko-KR" altLang="en-US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월초</a:t>
                      </a:r>
                      <a:endParaRPr lang="ko-KR" sz="900" dirty="0">
                        <a:solidFill>
                          <a:srgbClr val="0000FF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 기한</a:t>
                      </a:r>
                      <a:r>
                        <a:rPr lang="en-US" altLang="ko-KR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(‘26.09) </a:t>
                      </a:r>
                      <a:r>
                        <a:rPr lang="ko-KR" altLang="en-US" sz="900" dirty="0">
                          <a:solidFill>
                            <a:srgbClr val="0000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초과</a:t>
                      </a:r>
                      <a:endParaRPr lang="ko-KR" sz="900" dirty="0">
                        <a:solidFill>
                          <a:srgbClr val="0000FF"/>
                        </a:solidFill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328488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721058"/>
            <a:ext cx="6970747" cy="2769989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진행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–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누적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</a:t>
            </a:r>
            <a:br>
              <a:rPr lang="en-US"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 분석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(7/24~7/30):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재료교체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구간 불량 원인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3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가지 도출 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(EPC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미보정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구간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보정량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부족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이음매 예측 보정 부재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호기별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편차 분석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: E77 18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위치 불량률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0.13~0.32%,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대표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4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선정</a:t>
            </a:r>
            <a:endParaRPr lang="en-US" altLang="ko-KR" sz="900" dirty="0">
              <a:solidFill>
                <a:srgbClr val="000000"/>
              </a:solidFill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- 1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차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로직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(8/13): EPC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미보정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·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보정량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부족 개선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예측 보정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2→3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회 세분화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1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차 적용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: E77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위치 불량률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0.189% → 0.164%- 18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중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12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감소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, 6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증가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(#13-1 0.272% → 0.318%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등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b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- 2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차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로직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(9/4~):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예측 보정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Limit ±0.35mm, 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이음매 이후 즉시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Feedback, 2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차 대표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4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대 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0.270% → 0.185%, MEB·ESMI1 #2-2·3 </a:t>
            </a:r>
            <a:r>
              <a:rPr lang="ko-KR" altLang="en-US" sz="900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완료</a:t>
            </a:r>
            <a:r>
              <a:rPr lang="en-US" altLang="ko-KR" sz="900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(9/16)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진행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현황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–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금주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변경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</a:t>
            </a:r>
            <a:br>
              <a:rPr lang="en-US"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ESWA(MEB E77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전호기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 0.171% → 0.144% (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적용 전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·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후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4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일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단기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),  ESMI1 #2-2·3 0.367% → 0.230% (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단기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,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장기 모니터링 필요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b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재료교체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후 안정화 구간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30m → 18m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단축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(MEB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대표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4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대 기준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b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- 1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차 증가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6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대 중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#13-1·#13-2 2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차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로직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후 감소 전환 확인</a:t>
            </a:r>
            <a:b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- 6-3 Normal Line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9/25 → 9/30 (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라인 가동 일정 협의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), 6-4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북미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Site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9/25 → 10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월초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현지 가동 일정 대기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b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누적 적용 호기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20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대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/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목표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24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대</a:t>
            </a:r>
            <a:endParaRPr lang="en-US" altLang="ko-KR" sz="900" dirty="0">
              <a:solidFill>
                <a:srgbClr val="0000FF"/>
              </a:solidFill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solidFill>
                <a:srgbClr val="0000FF"/>
              </a:solidFill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향후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계획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</a:t>
            </a:r>
            <a:br>
              <a:rPr lang="en-US"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Normal Line(WA·MI_HL)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완료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(~9/30)</a:t>
            </a:r>
            <a:b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북미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Site </a:t>
            </a:r>
            <a:r>
              <a:rPr lang="ko-KR" altLang="en-US" sz="900" dirty="0" err="1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수평전개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 일정 확정 후 적용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(~10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월초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),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추석 이후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2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주 데이터로 최종 효과 산출 및 완료 회고 작성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(~10/16)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solidFill>
                <a:srgbClr val="0000FF"/>
              </a:solidFill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[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이슈·지원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 </a:t>
            </a:r>
            <a:r>
              <a:rPr sz="900" b="1" dirty="0" err="1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요청</a:t>
            </a:r>
            <a:r>
              <a:rPr sz="900" b="1" dirty="0">
                <a:solidFill>
                  <a:srgbClr val="000000"/>
                </a:solidFill>
                <a:ea typeface="LG스마트체 Regular" panose="020B0600000101010101" pitchFamily="50" charset="-127"/>
                <a:cs typeface="Arial Narrow"/>
              </a:rPr>
              <a:t>]</a:t>
            </a:r>
            <a:br>
              <a:rPr 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</a:b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- 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효과 수치가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4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일 단기 기준 →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2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주 이상 데이터로 재확인 필요 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(</a:t>
            </a:r>
            <a:r>
              <a:rPr lang="ko-KR" altLang="en-US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판단</a:t>
            </a:r>
            <a:r>
              <a:rPr lang="en-US" altLang="ko-KR" sz="900" dirty="0">
                <a:solidFill>
                  <a:srgbClr val="0000FF"/>
                </a:solidFill>
                <a:ea typeface="LG스마트체 Regular" panose="020B0600000101010101" pitchFamily="50" charset="-127"/>
                <a:cs typeface="Arial Narrow"/>
              </a:rPr>
              <a:t>)</a:t>
            </a:r>
            <a:endParaRPr lang="ko-KR" sz="900" dirty="0">
              <a:solidFill>
                <a:srgbClr val="0000FF"/>
              </a:solidFill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54625083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 Smart Regular"/>
        <a:cs typeface=""/>
      </a:majorFont>
      <a:minorFont>
        <a:latin typeface="Arial Narrow"/>
        <a:ea typeface="LG Smart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1251</TotalTime>
  <Words>1573</Words>
  <Application>Microsoft Office PowerPoint</Application>
  <PresentationFormat>A4 용지(210x297mm)</PresentationFormat>
  <Paragraphs>178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LG Smart Regular</vt:lpstr>
      <vt:lpstr>LG스마트체 Regular</vt:lpstr>
      <vt:lpstr>Malgun Gothic Semilight</vt:lpstr>
      <vt:lpstr>맑은 고딕</vt:lpstr>
      <vt:lpstr>Arial</vt:lpstr>
      <vt:lpstr>Arial Narrow</vt:lpstr>
      <vt:lpstr>Wingdings</vt:lpstr>
      <vt:lpstr>4_Office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jaehu</cp:lastModifiedBy>
  <cp:revision>53</cp:revision>
  <cp:lastPrinted>2022-03-03T00:02:18Z</cp:lastPrinted>
  <dcterms:modified xsi:type="dcterms:W3CDTF">2026-10-06T02:54:40Z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